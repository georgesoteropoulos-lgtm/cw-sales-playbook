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07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8B5CF6"/>
                </a:solidFill>
                <a:latin typeface="Segoe UI"/>
              </a:defRPr>
            </a:pPr>
            <a:r>
              <a:t>COVER WHALE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Christopher Hayes - Agency Portfolio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C4B5FD"/>
                </a:solidFill>
                <a:latin typeface="Segoe UI"/>
              </a:defRPr>
            </a:pPr>
            <a:r>
              <a:t>Jan–May 2026  |  Generated May 30, 2026  |  45 Agencies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Christopher Hayes - Portfolio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45 Total Agencies  |  45 Active  |  0 Inactive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Agencies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4708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(YTD)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57016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$19,662,957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66944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$13,445,266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76872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$3,082,084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$3,135,607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39672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$-7,663,791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716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8372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Submissions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4708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763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Binds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57016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9.1%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66944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557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76872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Binds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7815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Subs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39672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716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Binds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716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$42,276,318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4708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$45,175,762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57016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$50,731,581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Annual Goal (40%)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266944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39%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976872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$4,221,017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68680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$14,344,316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Bound Prem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39672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28.7%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Retention Rate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2514600"/>
            <a:ext cx="7863840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53288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TOP AGENCIES BY YTD GWP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2862072"/>
            <a:ext cx="2560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26079" y="2862072"/>
            <a:ext cx="1005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31920" y="2862072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 $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46320" y="2862072"/>
            <a:ext cx="8229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Renewals $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0" y="2862072"/>
            <a:ext cx="548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12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3026664"/>
            <a:ext cx="7498079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308152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Commercial Trucking Insurance Agenc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926079" y="3081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$4,257,165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31920" y="3081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$1,213,554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46320" y="3081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$1,832,274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0" y="308152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563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1792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12280" y="308152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27.2%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327355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328269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Dnis Inc.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926079" y="328269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$3,651,032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28269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$3,233,599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46320" y="328269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80" y="328269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1581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1792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1177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12280" y="328269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7.6%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5760" y="348386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Velocity Insurance Multiservices Ll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926079" y="348386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$2,017,395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931920" y="348386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$2,340,403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846320" y="348386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$13,759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669280" y="348386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1792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12280" y="348386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31520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20.1%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675888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65760" y="368503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Specialty Coverage Insurance Agency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926079" y="368503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$1,100,950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368503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$839,040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846320" y="368503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$149,347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669280" y="368503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551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1792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446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812280" y="368503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31520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10.3%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65760" y="388620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Safer Haul Inc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926079" y="388620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$898,210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931920" y="388620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$473,081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846320" y="388620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$39,527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669280" y="388620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544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21792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399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812280" y="388620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31520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6.6%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65760" y="4078224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65760" y="408736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Cover Me Insurance Agency Of Nj, In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926079" y="408736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$869,216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08736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$673,994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846320" y="408736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$17,594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669280" y="408736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684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21792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469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812280" y="408736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31520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8.0%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65760" y="428853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Get Logan Inc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926079" y="428853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$833,413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931920" y="428853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$621,895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46320" y="428853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669280" y="428853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21792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217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812280" y="428853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31520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4.7%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365760" y="4480560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365760" y="448970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Statewide Risk Management I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926079" y="448970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$515,312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448970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$251,327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846320" y="448970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$109,746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669280" y="448970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21792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149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812280" y="448970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31520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65760" y="469087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Executive Insurance Group Llc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926079" y="469087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$351,137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931920" y="469087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$313,124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46320" y="469087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669280" y="469087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21792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120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812280" y="469087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31520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7.4%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365760" y="4882896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365760" y="489204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Partlow Insurance Agency Inc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926079" y="489204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$332,748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489204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$248,281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846320" y="489204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$52,907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669280" y="489204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172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21792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812280" y="489204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731520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8.7%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365760" y="509320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Streetsmart Risk Managers Inc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926079" y="509320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$317,765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931920" y="509320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$284,374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846320" y="509320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$10,152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669280" y="509320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379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21792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281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812280" y="509320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731520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365760" y="528523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365760" y="529437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Tr Insurance Agency Inc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2926079" y="529437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$291,819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931920" y="529437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46320" y="529437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$283,908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669280" y="529437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21792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812280" y="529437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731520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8229600" y="2514600"/>
            <a:ext cx="3749039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8321040" y="253288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MONTHLY SUMMARY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827532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732520" y="2862072"/>
            <a:ext cx="7772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9509760" y="2862072"/>
            <a:ext cx="7315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241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74420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120140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8275320" y="3026664"/>
            <a:ext cx="3566160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827532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8732520" y="308152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$9,807,676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9509760" y="308152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$2,867,727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024128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1668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74420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286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120140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17.1%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827532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8732520" y="3337560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$8,361,678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9509760" y="3337560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$2,118,461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024128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1891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074420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273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120140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14.4%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27532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8732520" y="3593592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$9,901,734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509760" y="3593592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$2,853,344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24128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2071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074420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309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120140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14.9%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827532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8732520" y="3849624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$9,623,256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9509760" y="3849624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$2,587,873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24128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2103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74420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282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20140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13.4%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27532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8732520" y="4105656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$7,200,067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509760" y="4105656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$3,017,860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24128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1901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74420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20140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13.2%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8275320" y="4325112"/>
            <a:ext cx="356616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827532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8732520" y="436168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$19,662,957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509760" y="436168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$13,445,266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24128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8372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74420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763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20140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9.1%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OKR Scoreboard — Christopher Hayes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BDM OKRs  |  Q2 measure (paced where applicable)  |  Matches BD Rep Scoreboard numbers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0" y="960120"/>
            <a:ext cx="3200400" cy="1371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0" y="1033271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59669"/>
                </a:solidFill>
                <a:latin typeface="Segoe UI"/>
              </a:defRPr>
            </a:pPr>
            <a:r>
              <a:t>75.0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159105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B7280"/>
                </a:solidFill>
                <a:latin typeface="Segoe UI"/>
              </a:defRPr>
            </a:pPr>
            <a:r>
              <a:t>COMPOSITE SCORE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186537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B7280"/>
                </a:solidFill>
                <a:latin typeface="Segoe UI"/>
              </a:defRPr>
            </a:pPr>
            <a:r>
              <a:t>Green ≥ 70  |  Amber 45-69  |  Red &lt; 45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96012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960120"/>
            <a:ext cx="91440" cy="11887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075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Subs YoY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16733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≥+100%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114300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97706"/>
                </a:solidFill>
                <a:latin typeface="Segoe UI"/>
              </a:defRPr>
            </a:pPr>
            <a:r>
              <a:t>+64%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24028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2240280"/>
            <a:ext cx="91440" cy="11887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23317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258775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Activity Compliance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295351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 100% (40/wk)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42316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97706"/>
                </a:solidFill>
                <a:latin typeface="Segoe UI"/>
              </a:defRPr>
            </a:pPr>
            <a:r>
              <a:t>86%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52044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5760" y="3520440"/>
            <a:ext cx="91440" cy="118872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36118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386791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Portfolio Active 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423367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45 of 45 agencies  |  Goal 100%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370332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100%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480060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65760" y="4800600"/>
            <a:ext cx="91440" cy="11887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48920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" y="514807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New Producing Agencies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" y="551383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Q2 Activated Won  |  Goal ≥ 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0" y="498348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97706"/>
                </a:solidFill>
                <a:latin typeface="Segoe UI"/>
              </a:defRPr>
            </a:pPr>
            <a:r>
              <a:t>2 of 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OKR 1: Q2 paced subs YoY — current Q2-YTD subs ÷ days-elapsed × 91 vs prior full Q2 (Apr–Jun 2025)  |  OKR 2: Q2 avg weekly calls + meetings vs 40/wk goal (outbound calls + meetings only, matches scoreboard)  |  OKR 3: % of HubSpot book with ≥1 submission in 2026  |  OKR 4: Q2 Activated-Won NNA deals with `Appointed - ` prefix, owned by this BDM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BD Activity  —  Christopher Hayes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 |  Calls + Meetings  |  Weekly goal: 40 activities  |  Colored arrow = month-over-month trend vs prior complete month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423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Calls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28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Meetings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451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Activity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21.1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/ Week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53%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 (40/wk)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1–11  (Jan–Mar)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928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243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930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24528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01768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37160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46888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1/5–1/11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928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24328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0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24528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38%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01768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37160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37160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46888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1/12–1/18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928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24328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30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24528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18%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01768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37160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37160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6888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1/19–1/25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928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24328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930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24528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38%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01768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37160" y="289407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37160" y="289407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46888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1/26–2/1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8928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624328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930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42%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01768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37160" y="313639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37160" y="313639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2/2–2/8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8928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624328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4930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224528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25%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001768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37160" y="337870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37160" y="337870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6888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2/9–2/15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8928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624328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4930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224528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32%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01768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37160" y="362102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37160" y="362102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46888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2/16–2/22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8928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624328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4930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24528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52%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001768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37160" y="386334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37160" y="386334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46888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2/23–3/1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8928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624328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4930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25%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001768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37160" y="410565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37160" y="410565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3/2–3/8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928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624328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4930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224528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25%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001768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37160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37160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46888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3/9–3/15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8928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624328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4930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224528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28%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001768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9" name="Rectangle 98"/>
          <p:cNvSpPr/>
          <p:nvPr/>
        </p:nvSpPr>
        <p:spPr>
          <a:xfrm>
            <a:off x="137160" y="459028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37160" y="459028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246888" y="460857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3/16–3/22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892808" y="460857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2624328" y="460857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3493008" y="460857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224528" y="460857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10%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001768" y="460857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6199632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6309360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12–21  (Mar–May)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309360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9552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686800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5554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287000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1064240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6245352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6199632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6199632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6309360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3/23–3/29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9552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686800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5554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287000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52%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1064240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6199632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6199632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3/30–4/5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686800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287000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65%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1064240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199632" y="2651760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6199632" y="2651760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6309360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4/6–4/12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9552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686800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95554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287000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98%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064240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6199632" y="2894076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6199632" y="2894076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6309360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4/13–4/19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9552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686800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554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287000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105%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064240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199632" y="313639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6199632" y="313639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6309360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4/20–4/26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79552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8686800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95554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287000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62%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1064240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6199632" y="3378708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6199632" y="3378708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6309360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4/27–5/3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9552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686800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5554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287000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100%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1064240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6199632" y="362102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6199632" y="362102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309360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5/4–5/10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9552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8686800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5554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287000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38%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064240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6199632" y="3863340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6199632" y="3863340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6309360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5/11–5/17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9552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8686800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5554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287000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112%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11064240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6199632" y="4105656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6199632" y="4105656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6309360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5/18–5/24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79552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8686800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95554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10287000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88%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11064240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6199632" y="4347972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6199632" y="4347972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6309360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5/25–5/30*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79552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8686800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5554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287000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75%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1064240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HubSpot CRM  |  Calls + meetings only (emails excluded)  |  * = current/partial week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Submission Growth  —  Christopher Hayes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vs 2025  |  Green = growth  |  Red = decline  |  Hit ratio = binds / submissions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7444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Submissions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734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Binds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9.9% ▼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-3.3%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Subs YOY vs 2025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-45.5%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 YOY vs 2025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21208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MONTHLY BREAKDOWN  —  2026 vs 2025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56692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Subs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19656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Binds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34056" y="1938528"/>
            <a:ext cx="62179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55848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2025 Subs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70248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 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0566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57984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203704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1,092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19656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34056" y="2203704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55848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1,260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70248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-13%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519172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816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1,283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19656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34056" y="2519172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9.4%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55848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1,413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70248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-9%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788920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834640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3816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1,445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19656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34056" y="2834640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8.9%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55848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1,679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70248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-14%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3150108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3816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1,830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19656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734056" y="3150108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55848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1,648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70248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+11%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419856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465576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3816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1,794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819656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734056" y="3465576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12.3%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355848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1,701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70248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+5%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82880" y="3717036"/>
            <a:ext cx="5120640" cy="914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762756"/>
            <a:ext cx="5669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13816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7,444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819656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734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34056" y="3762756"/>
            <a:ext cx="6217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9.9%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355848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7,701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270248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-3%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623560" y="1600200"/>
            <a:ext cx="64008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733288" y="1636776"/>
            <a:ext cx="6217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AGENCIES BY SUBMISSION VOLUME  —  YTD Ranked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733288" y="1938528"/>
            <a:ext cx="2834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5679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YTD Subs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436608" y="1938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25956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991088" y="1938528"/>
            <a:ext cx="685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280" y="2112264"/>
            <a:ext cx="59710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623560" y="216712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733288" y="218541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Dnis Inc.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567928" y="218541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1,581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436608" y="218541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120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259568" y="218541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7.6%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991088" y="218541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+1,404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733288" y="244144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Cover Me Insurance Agency Of Nj, Inc.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67928" y="244144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684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436608" y="244144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259568" y="244144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8.0%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991088" y="244144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+182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623560" y="267919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733288" y="269748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Commercial Trucking Insurance Agency L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567928" y="269748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563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436608" y="269748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153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259568" y="269748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27.2%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991088" y="269748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-563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733288" y="295351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Specialty Coverage Insurance Agency, L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567928" y="295351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551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436608" y="295351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259568" y="295351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10.3%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991088" y="295351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+19</a:t>
            </a:r>
          </a:p>
        </p:txBody>
      </p:sp>
      <p:sp>
        <p:nvSpPr>
          <p:cNvPr id="89" name="Rectangle 88"/>
          <p:cNvSpPr/>
          <p:nvPr/>
        </p:nvSpPr>
        <p:spPr>
          <a:xfrm>
            <a:off x="5623560" y="319125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733288" y="320954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Safer Haul Inc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567928" y="320954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544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436608" y="320954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259568" y="320954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6.6%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991088" y="320954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-11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733288" y="346557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Streetsmart Risk Managers Inc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567928" y="346557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379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436608" y="346557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259568" y="346557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991088" y="346557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-138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623560" y="3703320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733288" y="372160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Cornerstone Insurance Services Inc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567928" y="372160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337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436608" y="372160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259568" y="372160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991088" y="372160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-79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733288" y="397764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Get Logan Inc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567928" y="397764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299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436608" y="397764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259568" y="397764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4.7%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991088" y="397764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+245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5623560" y="4215384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5733288" y="423367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Velocity Insurance Multiservices Llc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567928" y="423367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273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436608" y="423367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259568" y="423367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20.1%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991088" y="423367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+166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733288" y="448970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Statewide Risk Management I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567928" y="448970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214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436608" y="448970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0259568" y="448970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991088" y="448970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-52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5623560" y="472744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5733288" y="474573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Rpk Professional Group Llc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567928" y="474573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207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436608" y="474573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0259568" y="474573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0991088" y="474573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+69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5733288" y="500176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Tamarez Group Inc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567928" y="500176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193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436608" y="500176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259568" y="500176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4.7%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0991088" y="500176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+90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5623560" y="523951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5733288" y="525780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Partlow Insurance Agency Inc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567928" y="525780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172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9436608" y="525780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0259568" y="525780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8.7%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991088" y="525780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-34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5733288" y="551383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Executive Insurance Group Llc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8567928" y="551383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163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436608" y="551383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259568" y="551383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7.4%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0991088" y="551383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+75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5623560" y="575157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5733288" y="576986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Insurnet Insurance Agency LLC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8567928" y="576986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162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436608" y="576986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259568" y="576986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14.2%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991088" y="576986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+19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5733288" y="602589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Great Agency Inc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8567928" y="602589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146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9436608" y="602589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259568" y="602589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991088" y="602589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-171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Totals match Sales Scoreboard: Q1 → Q1 owner, Q2+ → current owner, 2025 baseline → current owner  |  Hit ratio = binds / submissions  |  Right-panel agency table shows current portfolio  |  Green ≥ 8%  Red &lt; 5%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Monthly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Christopher Hayes  |  45 Total Agencies  |  Jan–May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10424160" cy="32918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430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11430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37560" y="11430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11430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97879" y="11430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Cancel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865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09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153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29799" y="11430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1499616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1499616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$9,807,676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37560" y="1499616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$2,867,727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1499616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$498,689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97879" y="149961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$-1,317,535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5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1,668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009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1,251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153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286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29799" y="1499616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17.1%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1773936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18288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20240" y="18288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$8,361,678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37560" y="18288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$2,118,461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3440" y="18288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$509,155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97879" y="18288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$-1,137,238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5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1,891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009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1,375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153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273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29799" y="18288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14.4%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2157984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20240" y="2157984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$9,901,734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37560" y="2157984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$2,853,344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2157984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$675,775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97879" y="215798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$-2,083,943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865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2,071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009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1,427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153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309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829799" y="215798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14.9%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60" y="2432303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7200" y="248716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20240" y="2487168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$9,623,256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37560" y="2487168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$2,587,873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63440" y="2487168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$606,274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897879" y="248716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$-1,795,029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865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2,103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009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1,546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9153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282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829799" y="2487168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13.4%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7200" y="2816351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920240" y="2816351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$7,200,067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37560" y="2816351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$3,017,860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2816351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$792,192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897879" y="2816351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$-1,330,046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0865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1,901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0009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1,434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9153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250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829799" y="2816351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13.2%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090671"/>
            <a:ext cx="10424160" cy="36576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7200" y="3163823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920240" y="3163823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$44,894,410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37560" y="3163823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$13,445,266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663440" y="3163823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$3,082,084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897879" y="3163823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$-7,663,791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0865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9,634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0009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7,033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9153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1,400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829799" y="3163823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14.5%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65760" y="3611879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Green = up vs prior month  |  Red = down vs prior month or negative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DSG In My Portfolio — Christopher Hayes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Dirt, Sand &amp; Gravel program performance across this bdm's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334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DSG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BOUND ACCOUNTS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$248,338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GROSS WRITTEN PREM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059669"/>
                </a:solidFill>
                <a:latin typeface="Segoe UI"/>
              </a:defRPr>
            </a:pPr>
            <a:r>
              <a:t>4.5%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 RATE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113385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11155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DSG ACTIVITY BY AGENCY (top 8 by submissions)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4206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Declined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0" y="267004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944368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2980944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DNIS Inc.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5.2%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0" y="298094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$158,292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329183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Cover Me Insurance Agency of NJ, Inc.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344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2.5%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0" y="329183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$1,650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3566159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360273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Executive Insurance Group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6344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2376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84080" y="360273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$38,234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3913631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Safer Haul Inc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376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0392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84080" y="3913631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$20,898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4187951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4224527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Rpk Professional Group LLC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6344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4360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2376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0392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784080" y="4224527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4535423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CDL Associates Insurance Agency LLC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66344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4360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22376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50392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784080" y="4535423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200" y="4809743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57200" y="484631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Velocity Insurance Multiservices LLC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66344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94360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22376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50392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784080" y="484631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$15,577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7200" y="515721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Cornerstone Insurance Services Inc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66344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94360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22376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0392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784080" y="515721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594360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States with DSG bound business in this book: CA, CO, LA, MD, MO, PA, TX, VA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Fleet In My Portfolio — Christopher Hayes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Fleet business (4+ power units) across this bdm's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1,108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363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$41,677,140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GWP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UNITS / SUB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69494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67665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BY AGENCY (top 8)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944368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98094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Commercial Trucking Insurance Agency LLC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39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778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67.2%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$15,239,641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29183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DNIS Inc.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778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16.8%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$1,355,382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566159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360273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Get Logan Inc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49039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634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778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21.3%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$2,634,609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3913631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Rpk Professional Group LLC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49039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634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778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27.4%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922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$3,201,353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4187951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42245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Safer Haul Inc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49039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634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5778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28.4%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922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$1,487,416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4535423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Diamante Insurance Brokerage Inc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749039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634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5778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40.6%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922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$2,611,696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" y="4809743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7200" y="484631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Statewide Risk Management I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749039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6634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5778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20.5%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922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$622,090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7200" y="515721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Streetsmart Risk Managers Inc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749039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5778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3.0%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922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$63,256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589520" y="2286000"/>
            <a:ext cx="42062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699248" y="2322576"/>
            <a:ext cx="40233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SIZE MIX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680960" y="267004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4-5 units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098280" y="26700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618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104120" y="267004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(56%)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680960" y="303580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6-10 units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098280" y="303580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348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104120" y="303580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(31%)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680960" y="340156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11-25 units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098280" y="340156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138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104120" y="340156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(12%)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80960" y="376732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26-50 units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098280" y="37673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104120" y="376732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(0%)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680960" y="413308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51+ units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098280" y="413308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104120" y="4133087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(0%)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612648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Bind rate on fleet: 32.8%  ·  Declined: 166  ·  Source: cw_rep.transportation_submissions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Agency Producers — Christopher Hayes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Individual agents ranked by YTD submissions  |  Agent = broker_contact on submission  |  Trend = MoM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2880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8372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Subs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9464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763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Binds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56048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9.1%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Portfolio Hit Ratio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42631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102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Agents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729215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41%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5 Agent Share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AGENTS BY SUBMISSIONS  —  Ranked 1–18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1368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016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2452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1888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13248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David Rodriguez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01368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Dnis Inc.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3016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1557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2452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110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1888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13248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Gurashish Bedi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01368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Commercial Trucking Insurance 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3016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563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2452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153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1888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27.2%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13248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Michael Poller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01368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Cover Me Insurance Agency Of 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3016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461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2452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1888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13248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Scott Procops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801368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Specialty Coverage Insurance 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3016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440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2452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1888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12.3%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13248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Jason Seeger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801368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Safer Haul Inc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3016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415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1888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6.0%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13248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46888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Nicole Keller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01368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Cornerstone Insurance Services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3016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311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2452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81888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1.6%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13248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37160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46888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Zebo Karim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01368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Get Logan Inc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63016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299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22452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1888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4.7%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413248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46888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Jake Ferrara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801368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Streetsmart Risk Managers Inc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3016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298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22452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1888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413248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37160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46888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Jesus Peralta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801368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Cover Me Insurance Agency Of N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63016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223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22452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1888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413248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46888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SALMAN ARZU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801368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Statewide Risk Management I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3016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214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81888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413248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37160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Roman Kovinatsky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01368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Rpk Professional Group Llc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63016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207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22452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81888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413248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46888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Aileen Ogaldez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801368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Velocity Insurance Multiservic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63016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203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22452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81888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19.7%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413248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37160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246888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Ramon Tamarez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801368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Tamarez Group Inc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63016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191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22452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81888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4.7%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13248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46888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Philip Goldberg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01368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Executive Insurance Group Llc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63016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163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22452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1888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7.4%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413248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137160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246888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Samer Alzayed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801368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Insurnet Insurance Agency LLC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63016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162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22452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81888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14.2%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413248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246888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DMITRY ZHERNOVSKY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801368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Great Agency Inc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63016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146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22452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1888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413248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137160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246888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Sergio Bolanos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801368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Bolanos Commercial Enterprise,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63016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135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422452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481888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13.3%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413248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246888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Freddie Tabares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801368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One Stop Insurance Agency LLC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363016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132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22452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1888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3.0%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413248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6245352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355080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CONTINUED  —  Ranked 19–36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355080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7909560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973836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33272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92708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1521440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6291072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6245352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355080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Justin Angle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7909560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Angle Associates Llc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73836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33272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092708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5.4%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1521440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355080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Jordan Curmi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7909560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Safer Haul Inc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973836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124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033272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092708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1521440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245352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355080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Trevor Murgio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909560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Specialty Coverage Insurance A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73836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105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33272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92708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1521440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355080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irina rozenblum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7909560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Diamante Insurance Brokerage I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973836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99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33272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92708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12.1%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1521440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6245352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6355080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Pavneet Singh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7909560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Sammy Brokerage Inc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73836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96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33272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92708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5.2%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521440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6355080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Clara Wojtuszkiewicz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7909560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Kai Strategic Insurance Partne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973836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1033272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92708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1521440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6245352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6355080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Teresa Sanchez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7909560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OMEGA INSURANCE AGENCY LLC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73836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033272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1092708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11.5%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1521440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6355080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ZHIBEK MARALOVA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909560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My General Agent Inc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73836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33272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092708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13.1%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1521440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6245352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6355080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Danielle Moore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7909560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Legacy Insurance Solutions Llc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973836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1033272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1092708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11521440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6355080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Igor Sekuloski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7909560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Insurox Group, Inc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973836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1033272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1092708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11521440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10" name="Rectangle 209"/>
          <p:cNvSpPr/>
          <p:nvPr/>
        </p:nvSpPr>
        <p:spPr>
          <a:xfrm>
            <a:off x="6245352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6355080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Gurpreet Singh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7909560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Truczone Insurance Agency Llc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973836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1033272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1092708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15.3%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11521440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6355080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Victor Lange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7909560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CDL Associates Insurance Agenc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973836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1033272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1092708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11521440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6245352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6355080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David Partlow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7909560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Partlow Insurance Agency Inc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973836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1033272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1092708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11521440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6355080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XIOMARA CEDENO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7909560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Velocity Insurance Multiservic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973836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1033272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1092708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28.0%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11521440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6245352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6355080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Shannon Lair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7909560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CDL Associates Insurance Agenc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973836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1033272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1092708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11521440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43" name="TextBox 242"/>
          <p:cNvSpPr txBox="1"/>
          <p:nvPr/>
        </p:nvSpPr>
        <p:spPr>
          <a:xfrm>
            <a:off x="6355080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Andrea Jackson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7909560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Source One Insurance Agency Ll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973836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246" name="TextBox 245"/>
          <p:cNvSpPr txBox="1"/>
          <p:nvPr/>
        </p:nvSpPr>
        <p:spPr>
          <a:xfrm>
            <a:off x="1033272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247" name="TextBox 246"/>
          <p:cNvSpPr txBox="1"/>
          <p:nvPr/>
        </p:nvSpPr>
        <p:spPr>
          <a:xfrm>
            <a:off x="1092708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11521440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49" name="Rectangle 248"/>
          <p:cNvSpPr/>
          <p:nvPr/>
        </p:nvSpPr>
        <p:spPr>
          <a:xfrm>
            <a:off x="6245352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6355080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Alba Ruiz</a:t>
            </a:r>
          </a:p>
        </p:txBody>
      </p:sp>
      <p:sp>
        <p:nvSpPr>
          <p:cNvPr id="251" name="TextBox 250"/>
          <p:cNvSpPr txBox="1"/>
          <p:nvPr/>
        </p:nvSpPr>
        <p:spPr>
          <a:xfrm>
            <a:off x="7909560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V Insurance Professionals LLC</a:t>
            </a:r>
          </a:p>
        </p:txBody>
      </p:sp>
      <p:sp>
        <p:nvSpPr>
          <p:cNvPr id="252" name="TextBox 251"/>
          <p:cNvSpPr txBox="1"/>
          <p:nvPr/>
        </p:nvSpPr>
        <p:spPr>
          <a:xfrm>
            <a:off x="973836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253" name="TextBox 252"/>
          <p:cNvSpPr txBox="1"/>
          <p:nvPr/>
        </p:nvSpPr>
        <p:spPr>
          <a:xfrm>
            <a:off x="1033272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1092708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27.7%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11521440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6355080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Mike Tierney</a:t>
            </a:r>
          </a:p>
        </p:txBody>
      </p:sp>
      <p:sp>
        <p:nvSpPr>
          <p:cNvPr id="257" name="TextBox 256"/>
          <p:cNvSpPr txBox="1"/>
          <p:nvPr/>
        </p:nvSpPr>
        <p:spPr>
          <a:xfrm>
            <a:off x="7909560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Cornerstone Agency Services</a:t>
            </a:r>
          </a:p>
        </p:txBody>
      </p:sp>
      <p:sp>
        <p:nvSpPr>
          <p:cNvPr id="258" name="TextBox 257"/>
          <p:cNvSpPr txBox="1"/>
          <p:nvPr/>
        </p:nvSpPr>
        <p:spPr>
          <a:xfrm>
            <a:off x="973836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259" name="TextBox 258"/>
          <p:cNvSpPr txBox="1"/>
          <p:nvPr/>
        </p:nvSpPr>
        <p:spPr>
          <a:xfrm>
            <a:off x="1033272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260" name="TextBox 259"/>
          <p:cNvSpPr txBox="1"/>
          <p:nvPr/>
        </p:nvSpPr>
        <p:spPr>
          <a:xfrm>
            <a:off x="1092708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13.0%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11521440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274320" y="6510528"/>
            <a:ext cx="11704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Agent = broker_contact_user_id on submission record  |  Hit ratio = binds / subs  |  MoM = month-over-month  |  34 subs had no agent mapped (broker_contact_user_id not set)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Top Performers vs Underperformers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Standouts and agencies needing attention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29184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EXCEEDING — Top 5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6792" y="914400"/>
            <a:ext cx="5486400" cy="329184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3952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— Bottom 5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37160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Commercial Trucking Insurance Agency LLC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$4,257,165  |  Subs 563  |  Binds 153  |  HR 27.2%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27.2% (portfolio avg: 9.1%)  |  $4,257,165 YTD GWP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237744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Dnis Inc.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$3,651,032  |  Subs 1581  |  Binds 120  |  HR 7.6%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$3,651,032 YTD GWP  |  120 binds in Q1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38328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Velocity Insurance Multiservices Llc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$2,017,395  |  Subs 273  |  Binds 55  |  HR 20.1%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20.1% (portfolio avg: 9.1%)  |  $2,017,395 YTD GWP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438912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Specialty Coverage Insurance Agency, LLC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$1,100,950  |  Subs 551  |  Binds 57  |  HR 10.3%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10.3% (portfolio avg: 9.1%)  |  $1,100,950 YTD GWP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539496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Cover Me Insurance Agency Of Nj, Inc.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$869,216  |  Subs 684  |  Binds 55  |  HR 8.0%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$869,216 YTD GWP  |  55 binds in Q1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82512" y="137160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39712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Cornerstone Insurance Services Inc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39712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$20,388  |  Subs 337  |  Binds 11  |  HR 3.3%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39712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Cancellations are 1142% of new business ($203,053 vs $17,780)  |  Submissions dropped 61% MoM (94 -&gt; 37)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82512" y="237744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39712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Legacy Insurance Solutions Llc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39712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$80,746  |  Subs 60  |  Binds 5  |  HR 8.3%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39712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Cancellations are 616% of new business ($168,970 vs $27,450)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82512" y="338328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39712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One Stop Insurance Agency LLC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39712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$40,445  |  Subs 132  |  Binds 4  |  HR 3.0%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39712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Cancellations are 389% of new business ($58,920 vs $15,160)  |  Submissions dropped 60% MoM (45 -&gt; 18)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82512" y="438912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39712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YZ Financial Services and Insurance LLC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39712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$57,864  |  Subs 26  |  Binds 2  |  HR 7.7%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39712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Cancellations are 416% of new business ($132,149 vs $31,735)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82512" y="539496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39712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Rpk Professional Group Llc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39712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$147,884  |  Subs 207  |  Binds 5  |  HR 2.4%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39712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Hit ratio only 2.4% on 207 subs  |  Cancellations are 251% of new business ($289,370 vs $115,496)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Agencies I Appointed — Christopher Hayes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OKR 4 progress  |  Q2 goal: 4 new producing agencies  |  Source: HubSpot Net New Agency / Activated Won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59E0B"/>
                </a:solidFill>
                <a:latin typeface="Segoe UI"/>
              </a:defRPr>
            </a:pPr>
            <a:r>
              <a:t>2 of 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Q2 OKR 4 PROGRESS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APPOINTED YTD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SUB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BIND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SUBS POST-APPT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2024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11827"/>
                </a:solidFill>
                <a:latin typeface="Segoe UI"/>
              </a:defRPr>
            </a:pPr>
            <a:r>
              <a:t>Activation: 0/6 appointed agencies have submitted (0%)  •  0/6 have bound (0%)  •  Total bound: 0  •  Total GWP: $0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240280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22768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APPOINTED AGENCIES (newest first)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2606040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2606040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Appointed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23560" y="260604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Sub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0372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Bind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880360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916936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HGC Group Inc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2916936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54880" y="291693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23560" y="2916936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03720" y="291693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0" y="29169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0" y="29169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3227832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Old Kentucky Insurance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0" y="3227832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54880" y="322783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23560" y="322783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03720" y="322783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0" y="32278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0" y="32278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3502151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5760" y="35387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All Fronts Insurance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0" y="35387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2026-05-19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754880" y="3538727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23560" y="35387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03720" y="3538727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0" y="353872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0" y="353872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5760" y="384962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Insurance Brokers of Maryland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57600" y="384962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2026-04-16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754880" y="3849624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23560" y="384962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903720" y="3849624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772400" y="384962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44000" y="384962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65760" y="4123944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65760" y="416052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Crotty Insurance Agency Inc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657600" y="41605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2026-04-16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754880" y="4160520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623560" y="416052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903720" y="4160520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772400" y="4160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144000" y="4160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65760" y="4471416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Seubert &amp; Associates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657600" y="4471416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2026-02-19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754880" y="447141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623560" y="4471416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903720" y="447141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772400" y="447141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144000" y="447141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OKR 4 source: HubSpot Net New Agency Prospect Pipeline · Activated Won stage · only 'Appointed - ' prefix deals count (matches BD Rep Scoreboard). BDMs scored on count vs goal of 4/quarter.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Strategic Assessment &amp; Priorities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Christopher Hayes Portfolio  |  Jan–May 2026  |  Strengths, gaps, and ranked action items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65760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Top 3 (Commercial Trucking Insur, Dnis Inc., Velocity Insurance Multis) drive $9,925,591 (50%) of portfolio YTD GWP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Strong hit ratios: Maximus Insurance Br (28.9%), V Insurance Professi (27.7%), Commercial Trucking  (27.2%)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 agencies converting submissions to bound business in Jan–May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0428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304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8,372 total submissions across 45 active agencies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914400"/>
            <a:ext cx="5486400" cy="365760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- Areas for Improvement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59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 agencies submitting but 0 binds (5 subs): The Dorfman Organiza (5)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59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Low hit ratios need coaching: Insurox Group, Inc (1.6%), Rpk Professional Gro (2.4%), Merit Insurance Serv (2.8%)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2926080"/>
            <a:ext cx="1143000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2971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TOP STRATEGIC PRIORITIES — Ranked by Estimated Impact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342900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341071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Diversify Revenue Base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363931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Top 3 agencies drive 50% of premium. Develop mid-tier: Specialty Coverage Insura, Safer Haul Inc, Cover Me Insurance Agency. Target 25-50% growth each.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406908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40507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Reduce Cancellation Rates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42793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25 agencies with cancellations &gt;40% of new biz: Commercial Trucking Insur, Safer Haul Inc, Cover Me Insurance Agency. $5,450,041 total cancellations - investigate retention.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4320" y="470916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469087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Scale Top Performers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491947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Double down on high-converting agencies: Commercial Trucking Insur, Dnis Inc., Velocity Insurance Multis. Increase submission volume 20% through marketing support and referral incentives.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" y="534924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" y="533095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Develop High-Volume Growth Candidates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55595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12 agencies with 30+ subs and some binds but &lt;5% HR: Streetsmart Risk Man (379s/12b), Cornerstone Insuranc (337s/11b), Get Logan Inc (299s/14b). Small HR improvements on large volume = significant premium lift.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4320" y="598932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" y="597103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Protect Renewal Book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" y="61996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$3,082,084 in Q1 renewal premium. Proactively engage renewal agencies 60 days pre-expiration to maximize retention.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Recently Bound Submissions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Christopher Hayes  |  Last 25 Bound Submissions  |  763 Total Bound in Portfolio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#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05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005840"/>
            <a:ext cx="2971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1005840"/>
            <a:ext cx="2834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 (Account)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1005840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12680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Premium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59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Date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1207008"/>
            <a:ext cx="111556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28016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28016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253640787366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128016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Commercial Trucking Insurance Agen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128016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AIR X TRANSPORTATION INC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35240" y="128016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Gurashish Bedi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12680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$21,991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59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29, 2026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146304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148132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148132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265855844260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148132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Commercial Trucking Insurance Agen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00600" y="148132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BARWAR TRANSPORT INC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35240" y="148132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Gurashish Bedi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$22,345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59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29,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168249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168249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264476595102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168249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Cover Me Insurance Agency Of Nj, 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00600" y="168249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NEALTICAN EXPRESS LLC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35240" y="168249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Jesus Peralta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12680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$38,512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59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29, 2026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186537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188366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188366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267124853207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28800" y="188366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Cover Me Insurance Agency Of Nj, I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00600" y="188366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JSW LOGISTICS &amp; TRANSPORTERS LLC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35240" y="188366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Michael Poller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12680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$21,037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59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29, 2026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208483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208483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250500388281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828800" y="208483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Legacy Insurance Solutions Llc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00600" y="208483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SALAR TRANSPORT INC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35240" y="208483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Danielle Moore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12680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$10,378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59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29, 2026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200" y="226771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8640" y="228600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4400" y="228600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260867129150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28800" y="228600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Velocity Insurance Multiservices L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800600" y="228600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GIM TRANSPORT AND SERVICES LLC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635240" y="228600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Aileen Ogaldez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12680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$15,187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338559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29, 2026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48640" y="248716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14400" y="248716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265286484792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28800" y="248716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Anthony DeBellis Agency Inc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800600" y="248716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PRIMEWAY TRUCKING LLC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635240" y="248716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ANKAURY CAMIILO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012680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$14,382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338559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29, 2026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200" y="267004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48640" y="268833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14400" y="268833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260174687707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828800" y="268833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OMEGA INSURANCE AGENCY LLC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00600" y="268833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 L FAMILY FREIGHT SOLUTION LLC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35240" y="268833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Teresa Sanchez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012680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$14,765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338559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29, 2026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48640" y="288950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14400" y="288950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265679562996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828800" y="288950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Namarta Tirath Llc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00600" y="288950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PAWAR KING06 INC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635240" y="288950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Ram Tirath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012680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$22,478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338559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29, 2026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57200" y="307238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48640" y="309067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14400" y="309067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253700508834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828800" y="309067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Diamante Insurance Brokerage Inc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800600" y="309067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GLOTI LLC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635240" y="309067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irina rozenblum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012680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$23,537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1338559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29, 2026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" y="329184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14400" y="329184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252867846901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828800" y="329184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Merit Insurance Services, Llc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00600" y="32918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SELLERS TRANSPORT SERVICES LLC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635240" y="329184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Laura Marcheski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012680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$34,336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1338559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29, 2026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57200" y="347472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48640" y="349300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14400" y="349300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255870960912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828800" y="349300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Truczone Insurance Agency Llc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800600" y="349300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YAMPURA TRANSPORT CORPORATION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635240" y="349300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Gurpreet Singh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012680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$41,676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1338559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29, 2026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8640" y="369417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14400" y="369417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255389917290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28800" y="369417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Safer Haul Inc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800600" y="369417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TBAY CARRIER SERVICES LLC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635240" y="369417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Jason Seeger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012680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$61,744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338559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28, 2026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457200" y="387705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48640" y="389534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14400" y="389534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253009267279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828800" y="389534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Velocity Insurance Multiservices L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800600" y="389534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JAMES R MACAULEY INC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635240" y="389534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Aileen Ogaldez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012680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$68,545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1338559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28, 2026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48640" y="409651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14400" y="409651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268888679032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828800" y="409651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Streetsmart Risk Managers Inc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00600" y="409651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CARLSTADT EXPRESS LLC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7635240" y="409651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Jake Ferrara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012680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$41,583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1338559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28, 2026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457200" y="427939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548640" y="429768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914400" y="429768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260418120954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828800" y="429768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Partlow Insurance Agency Inc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800600" y="429768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HOOVERHAULINGLLC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29768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Shelly Walther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012680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$1,376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1338559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28, 2026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48640" y="449884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14400" y="449884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262927373238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828800" y="449884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Cavallino Risk Management Inc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800600" y="449884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JP ROBERTS TRUCKING LLC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635240" y="449884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Maria Theresa Primiani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012680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$3,112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338559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28, 2026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457200" y="468172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548640" y="470001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914400" y="470001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259760051224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828800" y="470001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ASAP Insurance Brokerage Inc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800600" y="470001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RADWAN TRUCKING INC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7635240" y="470001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Suzanne Prato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012680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$17,217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338559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28, 2026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548640" y="490118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914400" y="490118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255135656386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828800" y="490118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Commercial Trucking Insurance Agen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800600" y="490118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WAHEGURU G TRANSPORT INC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7635240" y="490118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Gurashish Bedi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012680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$6,120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1338559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27, 2026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457200" y="508406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548640" y="510235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914400" y="510235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256677737511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828800" y="510235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Commercial Trucking Insurance Agen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4800600" y="510235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RDR TRANSPORT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635240" y="510235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Gurashish Bedi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0012680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$34,894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1338559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27, 2026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548640" y="530352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914400" y="530352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257013780192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828800" y="530352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Commercial Trucking Insurance Agen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800600" y="530352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WAHEGURU G TRANSPORT INC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635240" y="53035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Gurashish Bedi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012680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$15,534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1338559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27, 2026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457200" y="548640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548640" y="550468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914400" y="550468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263151645271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828800" y="550468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Commercial Trucking Insurance Agen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4800600" y="550468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ALG FREIGHT INC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635240" y="550468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Gurashish Bedi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012680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$21,626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338559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27, 2026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548640" y="570585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914400" y="570585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259740126118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1828800" y="570585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Commercial Trucking Insurance Agen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800600" y="570585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VMC TRANSPORT INC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7635240" y="570585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Gurashish Bedi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012680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$14,169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338559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27, 2026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457200" y="588873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548640" y="590702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14400" y="590702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250786477657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828800" y="590702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Commercial Trucking Insurance Agen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4800600" y="590702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LAHA TRUCKING INC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7635240" y="590702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Gurashish Bedi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10012680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$15,129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11338559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27, 2026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548640" y="610819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914400" y="610819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256564018842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828800" y="610819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Commercial Trucking Insurance Agen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4800600" y="610819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RDR TRANSPORT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7635240" y="610819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Gurashish Bedi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10012680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11338559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27, 2026</a:t>
            </a:r>
          </a:p>
        </p:txBody>
      </p:sp>
      <p:sp>
        <p:nvSpPr>
          <p:cNvPr id="200" name="Rectangle 199"/>
          <p:cNvSpPr/>
          <p:nvPr/>
        </p:nvSpPr>
        <p:spPr>
          <a:xfrm>
            <a:off x="548640" y="6345936"/>
            <a:ext cx="1115568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548640" y="6400800"/>
            <a:ext cx="7863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Total (Last 25 Submissions)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8412480" y="640080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$582,218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Renewal Watch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Christopher Hayes  |  Active in-force policies expiring through Aug 28,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UP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$2,465,291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DC2626"/>
                </a:solidFill>
                <a:latin typeface="Segoe UI"/>
              </a:defRPr>
            </a:pPr>
            <a:r>
              <a:t>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EXPIRE ≤30 DAYS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31-60 DAYS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61-90 DAYS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POLICIES EXPIRING (sorted by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359152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2359152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Exp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2359152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Coverage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55480" y="2359152"/>
            <a:ext cx="1325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5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633472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6700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Commercial Trucking Insurance 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2670048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258034441004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1920" y="2670048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BG TRANSPORT SERVICES LLC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26700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7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267004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55480" y="2670048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$22,403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5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29809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Maximus Insurance Brokerage LL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2980944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258042609443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31920" y="2980944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JCC EXPRESS LLC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49440" y="298094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5527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58200" y="298094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55480" y="2980944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$17,075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8135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NJ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325526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329183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Get Logan Inc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43200" y="329183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252356839510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931920" y="329183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LEGACY LINE TRANSPORT LLC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0" y="329183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5527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58200" y="329183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55480" y="329183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$60,975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8135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" y="360273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Maximus Insurance Brokerage LL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743200" y="360273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253688498571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60273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TANTU GLOBAL LOGISTICS LLC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360273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95527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458200" y="360273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555480" y="360273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$963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88135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PA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77055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91363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Commercial Trucking Insurance 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43200" y="391363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250872682645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931920" y="391363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DHANDA XPRESS INC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949440" y="391363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95527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58200" y="391363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555480" y="391363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$18,223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88135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5760" y="422452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Executive Insurance Group Llc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743200" y="422452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250864778007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422452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ANTHONY TRUCKING 1 LLC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949440" y="422452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95527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458200" y="42245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555480" y="422452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$1,382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88135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MD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65760" y="4498847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65760" y="453542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Legacy Insurance Solutions Llc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743200" y="453542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252886532201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931920" y="453542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RICHMAN TRUCKING LLC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949440" y="453542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95527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458200" y="453542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555480" y="453542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$8,696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88135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VA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5760" y="484631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Commercial Trucking Insurance 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743200" y="484631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250606687251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84631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FATEH TRANS LOGISTICS INC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949440" y="484631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2026-06-04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95527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458200" y="484631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555480" y="484631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$17,485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88135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88" name="Rectangle 87"/>
          <p:cNvSpPr/>
          <p:nvPr/>
        </p:nvSpPr>
        <p:spPr>
          <a:xfrm>
            <a:off x="365760" y="5120639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65760" y="515721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Cover Me Insurance Agency Of N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743200" y="515721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255617363549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931920" y="515721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IN ROUTE ENTERPRISES LLC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949440" y="515721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95527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5d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458200" y="515721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555480" y="515721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$1,725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88135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NJ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65760" y="546811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Bolanos Commercial Enterprise,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743200" y="546811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254037798321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546811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TAINO TRUCKING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949440" y="546811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95527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6d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458200" y="546811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555480" y="546811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$11,687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88135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MD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365760" y="5742431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365760" y="577900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My Compass Group Inc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743200" y="577900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258549325487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931920" y="577900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RELIABLE DELIVERY TRANSPORT LLC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949440" y="577900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95527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6d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458200" y="577900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555480" y="577900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$18,383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88135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GA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65760" y="608990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Partlow Insurance Agency Inc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743200" y="608990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254942631341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608990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PANTHER LOGISTICS CORP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949440" y="608990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2026-06-06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795527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7d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8458200" y="608990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9555480" y="608990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$3,168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88135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WV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365760" y="636422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65760" y="640079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Prestige Insurance Services In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2743200" y="640079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250472063805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931920" y="640079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MDW INC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949440" y="640079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2026-06-08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7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9d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458200" y="640079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640079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$668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88135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IL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13 of 201 upcoming renewals  |  Source: dw_reader.policy_premium  |  Active in-force only  |  Sorted by expiration date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Pending Cancellations — Save List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Christopher Hayes  |  Policies with cancellation_date on or before Aug 28, 2026  |  Sorted by urgency — call these agencies first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PENDING CANCEL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05966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DAYS (URGENT)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 PREMIUM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REASON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PENDING CANCELS (sorted by cancel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35915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Cancel Date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2359152"/>
            <a:ext cx="2606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2359152"/>
            <a:ext cx="2057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523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LOB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095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359152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Reason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65760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59669"/>
                </a:solidFill>
                <a:latin typeface="Segoe UI"/>
              </a:defRPr>
            </a:pPr>
            <a:r>
              <a:t>No pending cancellations in the next 90 days for this book. 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0 of 0 pending cancels  |  Source: dw_reader.policy_premium  |  Non-payment = green (most savable), Insured-requested = red, Days ≤14 = red  |  Action: contact agency, confirm reinstatement plan, escalate non-payment cases for billing fix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Commercial Trucking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Northeast  |  State: NJ  |  City: Sayreville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$4,257,165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$1,213,554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$1,832,274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$1,211,337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$-1,617,200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$13,030,311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$11,479,495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27.2%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$1,311,394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$3,325,608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$926,740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$174,111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$373,806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$378,824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$-321,911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$838,984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$211,094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$357,916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$269,974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$-341,788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$880,757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$196,942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$374,286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$309,529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$-436,578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$860,554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$260,354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$403,491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$196,709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$-423,082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$750,130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$371,054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$322,775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$56,301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$-93,842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$4,257,165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$1,213,554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$1,832,274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$1,211,337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$-1,617,200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46.2%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34.2%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30.9%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34.5%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563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523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27.2%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840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$755K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$927K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$988K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$839K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$1.4M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$881K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$1.1M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$861K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$1.5M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$750K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$5.8M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$4.3M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$4,257,165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$1,213,554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133% of new business ($1,617,200)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$1,213,554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$1,617,200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Dnis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KY  |  City: Louisville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$3,651,032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$3,233,599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$417,432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$-823,412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$812,791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$4,417,946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374%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$408,083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$2,261,523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$309,420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$268,873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$40,547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$-58,465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$385,999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$351,246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$34,753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$-63,926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$1,070,919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$949,793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$121,126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$-178,588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$848,606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$702,314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$146,292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$-262,852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$1,036,088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$961,374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$74,714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$-259,580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$3,651,032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$3,233,599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$417,432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$-823,412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443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412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421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1581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1493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443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435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1731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$309K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$386K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$1.1M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$379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$849K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$1.0M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$3.7M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$3,651,032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$3,233,599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$3,233,599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Momentum is building - premium grew MoM. Keep the energy going: "Things are moving in the right direction. What do you need from me to keep this pace up?"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Velocity Insurance Multiservices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Northeast  |  State: NJ  |  City: North Bergen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$2,017,395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$2,340,403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$13,759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$-336,767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$-741,132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$1,640,288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$3,189,978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102%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20.1%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$1,490,840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$1,234,267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$1,205,301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$28,966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$-49,950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$468,255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$428,031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$40,224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$-66,282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$124,159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$304,031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$-179,871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$-228,044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$192,478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$182,781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$13,759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$-4,062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$-199,310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$-1,765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$220,259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$-222,024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$-197,546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$2,017,395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$2,340,403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$13,759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$-336,767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$-741,132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23.4%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273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258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373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$1.2M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$468K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$124K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$192K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$-1,765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$468K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$2.0M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$2,017,395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$2,340,403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101%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$2,340,403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$741,132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Specialty Coverage Insurance Agency,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Northeast  |  State: CT  |  City: Mystic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$1,100,950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$839,040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$149,347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$112,563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$-262,158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$3,498,767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$3,024,812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$65,908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$867,517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$175,369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$158,417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$16,952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$-55,174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$165,755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$88,736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$76,671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$348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$-10,426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$244,482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$184,345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$31,145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$28,992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$-61,907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$339,087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$258,451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$40,980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$39,656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$-59,540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$176,256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$149,091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$26,615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$-75,111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$1,100,950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$839,040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$149,347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$112,563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$-262,158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21.8%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18.8%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551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533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532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668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$175K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$166K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$244K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$546K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$339K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$176K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$1.6M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$1.1M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$1,100,950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$839,040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$839,040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$262,158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Safer Haul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Northeast  |  State: DE  |  City: Claymont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$898,210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$473,081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$39,527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$385,602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$-569,847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$1,436,230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$1,985,801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$61,744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$519,841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$169,912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$85,067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$84,845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$-102,689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$170,446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$160,734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$9,712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$-2,149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$228,897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$90,924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$16,253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$121,720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$-178,737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$191,762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$70,373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$3,007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$118,383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$-144,221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$137,192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$65,982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$20,268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$50,943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$-142,051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$898,210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$473,081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$39,527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$385,602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$-569,847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10.9%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544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522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555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612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$170K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$61K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$170K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$68K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$229K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$192K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$137K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$349K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$898K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$898,210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$473,081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120% of new business ($569,847)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$473,081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$569,847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Cover Me Insurance Agency Of Nj,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NJ  |  City: Linden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$869,216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$673,994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$17,594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$177,629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$-525,620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$2,245,198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$2,564,078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$3,796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$892,842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$176,227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$152,273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$23,953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$-101,712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$91,831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$79,631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$12,200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$-55,985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$258,467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$204,288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$54,179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$-144,457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$152,883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$70,581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$82,303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$-179,730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$189,808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$167,221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$17,594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$4,994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$-43,736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$869,216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$673,994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$17,594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$177,629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$-525,620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8.4%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14.9%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6.9%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9.8%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684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668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502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738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$92K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$126K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$258K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$153K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$190K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$550K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$869K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$869,216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$673,994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78% of new business ($525,620)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$673,994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$525,620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Get Logan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Northeast  |  State: PA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$833,413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$621,895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$211,518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$-313,820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$498,086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$1,309,199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139%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$344,606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$418,401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$195,089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$140,631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$54,458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$-126,804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$123,048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$57,013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$66,034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$-74,435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$163,699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$130,400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$33,299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$-81,763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$266,129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$224,870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$41,259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$-25,939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$85,448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$68,981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$16,467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$-4,880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$833,413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$621,895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$211,518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$-313,820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15.6%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8.9%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7.2%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299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330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$195K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$85K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$833K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$833,413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$621,895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50% of new business ($313,820)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68%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$621,895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$313,820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Statewide Risk Management 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NY  |  City: Hauppauge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$515,312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$251,327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$109,746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$154,239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$-168,091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$840,097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$981,126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$149,778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$224,366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$38,330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$12,384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$25,946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$-4,335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$122,291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$96,375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$25,917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$-53,794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$50,253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$49,147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$1,106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$177,632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$43,799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$14,172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$119,661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$-78,849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$126,805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$49,622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$69,628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$7,555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$-31,112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$515,312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$251,327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$109,746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$154,239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$-168,091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11.6%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8.9%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11.9%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214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266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240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$122K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$178K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$127K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$374K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$515K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$515,312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$251,327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67% of new business ($168,091)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$251,327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$168,091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Executive Insurance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VA  |  City: Fairfax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$351,137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$313,124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$38,013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$-179,144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$523,801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$637,864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$187,900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$60,268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$38,905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$21,363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$-35,229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$55,132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$39,380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$15,751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$-41,517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$157,381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$154,614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$2,767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$-36,718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$-783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$78,619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$80,225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$-1,605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$-64,898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$351,137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$313,124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$38,013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$-179,144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4.9%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19.2%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$55K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$109K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$157K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$-264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$433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$79K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$237K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$351K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$351,137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$313,124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57% of new business ($179,144)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$313,124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$179,144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Partlow Insurance Agency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Northeast  |  State: Virginia  |  City: Winchester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$332,748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$248,281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$52,907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$31,559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$-17,654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$842,178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$803,768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$207,043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$281,452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$21,145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$19,979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$1,167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$107,655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$106,870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$785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$68,917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$44,528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$23,277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$1,112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$10,624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$10,624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$-17,654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$124,408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$76,905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$29,631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$17,872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$332,748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$248,281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$52,907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$31,559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$-17,654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15.4%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4.9%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18.8%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$108K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$124K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$371K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$333K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$332,748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$248,281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$248,281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Strong $52,907 renewal book. Use this as proof of value: "Your retention shows we're delivering - let's find more accounts like these in your pipeline."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Streetsmart Risk Managers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Northeast  |  State: New Jersey  |  City: Freehold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$317,765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$284,374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$10,152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$23,239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$-70,918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$1,382,794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$1,102,101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$317,033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$29,295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$51,459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$-22,164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$-26,198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$70,734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$50,157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$20,577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$-25,407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$21,955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$21,955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$-9,438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$26,299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$13,687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$10,152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$2,459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$-9,875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$169,481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$169,070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$411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$317,765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$284,374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$10,152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$23,239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$-70,918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6.6%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379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348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517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413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$71K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$169K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$598K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$318K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$317,765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$284,374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$284,374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Momentum is building - premium grew MoM. Keep the energy going: "Things are moving in the right direction. What do you need from me to keep this pace up?"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Tr Insurance Agency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NY  |  City: Elmsford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$291,819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$283,908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$7,910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$378,766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$424,928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64%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$524,577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$8,722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$8,722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$-321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$-321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$-460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$-460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$283,877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$283,908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$291,819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$283,908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$7,910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$-293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$-321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$-460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$284K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$246K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$292K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$291,819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$283,908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Their $283,908 in renewals shows they trust our product. Ask: "What's holding back new submissions?" They may need updated appetite info or a refresher on our quoting process.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Insurnet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KY  |  City: Louisville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$291,489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$217,183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$74,306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$-144,164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$423,425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$559,078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$9,470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$207,579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$51,428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$36,809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$14,619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$-1,758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$107,008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$107,900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$-892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$67,912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$24,658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$43,254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$-61,218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$61,625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$39,000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$22,625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$-78,199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$3,515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$8,816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$-5,300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$-2,989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$291,489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$217,183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$74,306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$-144,164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192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$-203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$107K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$68K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$83K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$156K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$291K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$291,489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$217,183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66% of new business ($144,164)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94%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$217,183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$144,164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Diamante Insurance Brokerage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NY  |  City: Grand Prairie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$290,326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$195,097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$42,345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$52,884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$-34,512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$716,025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$804,586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$141,372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$239,138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$6,230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$5,680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$-26,183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$15,457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$19,677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$-4,220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$55,199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$3,229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$42,345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$9,625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$-8,329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$172,488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$153,122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$19,365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$40,952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$18,519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$22,433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$290,326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$195,097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$42,345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$52,884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$-34,512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17.4%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$172K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$202K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$290K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$290,326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$195,097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76%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$195,097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Insurox Group,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NJ  |  City: Garfield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$273,967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$275,035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$-1,068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$-20,503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$525,650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$517,728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$275,035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$-1,068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$-1,068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$-4,713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$-906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$-12,714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$275,035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$275,035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$-2,170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$273,967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$275,035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$-1,068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$-20,503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$-1,068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$59K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$275K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$282K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$274K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$273,967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$275,035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1.6% hit ratio on 64 subs - needs coaching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(64 subs, only 1 binds). Ask: "What are the top 2 reasons your clients go elsewhere?" Use answers to tailor appetite and pricing discussions.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$275,035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V Insurance Professionals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NJ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$231,384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$95,646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$76,355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$59,383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$-135,683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$794,732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$468,583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27.7%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$52,136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$179,029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$60,076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$42,760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$17,315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$-60,447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$28,499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$3,537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$13,821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$11,141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$62,077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$42,670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$19,407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$-62,077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$69,265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$49,439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$19,774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$11,468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$11,468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$-13,159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$231,384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$95,646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$76,355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$59,383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$-135,683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38.5%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27.7%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$220K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$147K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$28K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$95K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$558K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$231K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$231,384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$95,646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142% of new business ($135,683)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83%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$95,646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$135,683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Maximus Insurance Brokerage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NY  |  City: Brooklyn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$223,424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$162,057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$28,280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$33,087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$-46,808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$430,105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$506,288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28.9%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$176,824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$177,180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$13,170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$13,170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$41,509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$19,180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$22,330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$-21,615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$75,605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$75,761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$-3,807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$72,317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$45,786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$28,280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$-1,748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$-21,386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$20,822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$21,331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$-509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$223,424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$162,057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$28,280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$33,087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$-46,808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28.9%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$42K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$75K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$147K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$223,424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$162,057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71%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$162,057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Truczone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NJ  |  City: Burlington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$201,164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$161,601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$12,163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$27,400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$-23,747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$323,654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$472,759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$179,322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$257,464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$1,051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$1,051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$19,077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$12,163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$6,914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$62,695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$62,841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$-2,760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$69,001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$62,785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$6,216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$-20,988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$49,340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$35,975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$13,365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$201,164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$161,601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$12,163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$27,400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$-23,747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$-1,185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$-172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$63K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$201K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$201,164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$161,601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$161,601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OMEGA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NJ  |  City: Clark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$198,365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$105,555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$92,810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$-70,222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$309,728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$394,706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$162,151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$37,200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$37,200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$-36,593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$33,629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$33,629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$-33,629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$44,287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$36,353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$7,934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$49,393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$49,079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$33,856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$20,123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$13,733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$198,365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$105,555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$92,810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$-70,222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$269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$198K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$198,365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$105,555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67% of new business ($70,222)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$105,555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$70,222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Kai Strategic Insurance Partners Llc Dba Strategic Insurance Partners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NJ  |  City: Nutley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$194,691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$168,835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$9,400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$16,456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$-56,841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$373,823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$430,651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$134,110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$17,333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$17,333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$18,977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$18,977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$-14,068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$62,812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$54,289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$9,400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$-878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$66,966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$66,966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$-16,585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$28,602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$28,602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$-26,187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$194,691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$168,835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$9,400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$16,456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$-56,841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$63K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$67K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$195K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$194,691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$168,835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57%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$168,835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$56,841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Cornerstone Agency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PA  |  City: Lancaster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$192,645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$114,224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$41,532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$36,889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$-154,757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$378,175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$331,482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$155,950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$61,864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$35,648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$11,108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$15,108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$-15,418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$12,698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$11,561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$1,138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$-324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$60,267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$29,843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$30,423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$-56,472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$38,714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$37,173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$1,541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$-12,379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$19,102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$19,102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$-70,165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$192,645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$114,224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$41,532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$36,889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$-154,757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$62K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$239K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$193K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$192,645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$114,224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135% of new business ($154,757)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51%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$114,224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$154,757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CDL Associates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NY  |  City: Northville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$180,550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$213,450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$-32,900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$-28,509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$243,131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$333,786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62%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$188,502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$161,794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$161,794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$30,859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$30,859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$22,407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$20,796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$1,611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$-8,483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$-34,510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$-34,510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$-20,026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$180,550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$213,450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$-32,900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$-28,509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$-192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$162K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$-34,510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$181K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$180,550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$213,450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254%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$213,450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My General Agent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NY  |  City: Brooklyn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$179,277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$123,271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$56,006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$-2,016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$317,777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$378,165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$167,466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$46,674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$17,778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$28,896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$75,560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$25,782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$49,777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$-470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$39,246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$18,887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$20,359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$13,686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$34,332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$-20,646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$-1,546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$4,111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$26,492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$-22,380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$179,277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$123,271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$56,006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$-2,016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30.8%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$179K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$179,277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$123,271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70%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$123,271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Sammy Brokerage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NY  |  City: Astoria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$177,241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$127,294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$19,748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$30,198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$-73,817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$269,001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$268,346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$110,429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$77,524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$77,524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$-37,836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$10,216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$10,216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$33,936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$33,936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$-35,981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$34,522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$28,728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$19,748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$-13,954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$21,043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$21,043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$177,241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$127,294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$19,748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$30,198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$-73,817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11.8%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$-11,888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$-257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$109K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$178K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$177K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$177,241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$127,294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58% of new business ($73,817)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$127,294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$73,817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Tamarez Group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Northeast  |  State: PA  |  City: Philadelphia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$165,989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$98,131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$27,652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$40,207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$-176,158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$861,891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$959,241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$155,084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$30,437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$17,740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$12,697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$-23,024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$30,600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$27,652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$2,948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$-35,018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$86,474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$64,892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$21,582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$-21,095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$18,573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$15,499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$3,074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$-51,601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$-45,420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$165,989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$98,131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$27,652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$40,207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$-176,158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15.4%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18.8%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227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$-7,923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$-12,614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$-93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$166K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$165,989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$98,131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180% of new business ($176,158)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101%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$98,131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$176,158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Angle Associates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PA  |  City: Philadelphia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$152,780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$103,624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$49,156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$-95,071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$126,954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$279,734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100%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$79,830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$22,973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$18,162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$4,810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$-16,356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$54,997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$35,433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$19,564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$1,295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$1,295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$26,136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$26,136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$-5,908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$47,380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$23,894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$23,486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$-72,807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$152,780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$103,624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$49,156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$-95,071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13.6%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$153K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$152,780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$103,624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92% of new business ($95,071)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$103,624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$95,071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Rpk Professional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Northeast  |  State: NY  |  City: Brooklyn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$147,884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$115,496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$37,270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$-4,882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$-289,370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$1,332,358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$922,221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$124,737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$10,739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$43,526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$-32,787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$-15,404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$119,469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$71,970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$18,457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$29,041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$-18,457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$-23,474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$-23,474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$-165,549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$23,527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$23,527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$-50,677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$17,624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$18,813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$-1,189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$-39,283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$147,884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$115,496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$37,270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$-4,882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$-289,370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10.9%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235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$119K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$216K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$-23,474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$558K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$148K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$147,884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$115,496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2.4% hit ratio on 207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251% of new business ($289,370)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(207 subs, only 5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$115,496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Bolanos Commercial Enterprise,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Northeast  |  State: MD  |  City: Frederick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$136,838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$89,017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$39,690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$8,131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$-110,906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$1,014,499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$659,474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$173,512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$44,214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$32,156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$19,029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$-6,971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$-15,459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$45,755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$47,125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$2,475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$-3,845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$-22,818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$11,568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$11,568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$-34,637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$37,861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$9,737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$18,186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$9,939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$-37,991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$-2,560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$-2,560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$136,838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$89,017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$39,690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$8,131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$-110,906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12.9%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252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$91K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$-2,560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$492K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$136,838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$89,017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125% of new business ($110,906)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107%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$89,017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$110,906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Namarta Tirath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PA  |  City: Upper Darby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$120,794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$81,529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$39,265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$-39,714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$379,856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$376,622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$76,358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$17,866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$16,913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$953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$22,719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$22,699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$40,889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$19,497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$21,393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$-21,393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$39,320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$22,421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$16,899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$-18,321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$120,794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$81,529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$39,265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$-39,714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$39K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$124K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$121K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$120,794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$81,529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49% of new business ($39,714)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$81,529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$39,714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Anthony DeBellis Agency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NJ  |  City: Hackensack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$117,999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$38,500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$51,211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$28,287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$-115,524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$518,680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$340,242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$14,382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$30,031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$16,924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$4,864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$12,060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$-13,196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$16,582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$16,606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$-885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$62,665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$14,010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$46,146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$2,509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$-49,922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$13,743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$13,743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$8,086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$3,020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$5,066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$-51,521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$117,999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$38,500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$51,211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$28,287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$-115,524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21.4%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18.2%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$110K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$88K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$63K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$296K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$117,999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$38,500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300% of new business ($115,524)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$38,500 in new business. Ask what made those deals work and how you can help replicate that success with similar accounts in their pipeline.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$115,524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The Hilb Group of New Jersey,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NJ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$103,607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$106,541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$-2,934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$-16,592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$161,901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$224,514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$81,021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$41,481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$41,481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$-16,592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$66,301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$65,061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$1,240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$-3,964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$-3,964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$103,607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$106,541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$-2,934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$-16,592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$107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$-210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$-3,964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$103,607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$106,541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106%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$106,541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Great Agency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NY  |  City: Brooklyn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$87,734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$24,467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$49,617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$13,651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$-22,858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$351,379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$181,770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$135,114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$69,860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$37,649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$24,467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$13,182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$33,956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$33,625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$-22,858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$15,992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$15,992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$87,734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$24,467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$49,617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$13,651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$-22,858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317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$138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$57K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$98K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$257K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$87,734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$24,467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93% of new business ($22,858)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53%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$24,467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$22,858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Legacy Insurance Solutions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VA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$80,746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$27,450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$53,296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$-168,970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$670,132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$651,043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$37,812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$12,969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$65,291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$27,450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$37,841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$-35,227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$-35,289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$9,931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$9,931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$-85,711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$1,148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$1,148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$-8,367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$4,376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$4,376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$-4,376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$80,746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$27,450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$53,296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$-168,970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$65K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$80,746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$27,450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616% of new business ($168,970)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$27,450 in new business. Ask what made those deals work and how you can help replicate that success with similar accounts in their pipeline.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$168,970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Source One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MD  |  City: Glen Burnie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$80,200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$74,358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$5,842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$-7,780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$230,065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$132,404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$68,935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$-3,997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$9,168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$9,168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$-478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$22,229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$18,924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$3,305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$-3,305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$48,253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$45,716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$2,537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$80,200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$74,358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$5,842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$-7,780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15.8%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$178K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$80,200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$74,358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$74,358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Momentum is building - premium grew MoM. Keep the energy going: "Things are moving in the right direction. What do you need from me to keep this pace up?"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Jezaj Enterprise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VA  |  City: Fairfax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$73,389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$76,867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$-3,478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$-32,961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$189,370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$262,759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$45,489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$21,714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$24,549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$-2,835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$-427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$-427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$-20,850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$51,552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$51,768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$-12,112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$73,389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$76,867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$-3,478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$-32,961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$-427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$73,389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$76,867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43% of new business ($32,961)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$76,867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$32,961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ASAP Insurance Brokerage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NY  |  City: Melville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$70,104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$72,222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$-2,118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$-23,042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$194,438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$101,135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$50,582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$25,853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$26,039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$46,184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$46,184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$-23,042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$-1,932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$-1,932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$70,104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$72,222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$-2,118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$-23,042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$-1,932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$163K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$70,104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$72,222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104%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Their $72,222 in renewals shows they trust our product. Ask: "What's holding back new submissions?" They may need updated appetite info or a refresher on our quoting process.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YZ Financial Services and Insurance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NY  |  City: Melville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$57,864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$31,735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$26,128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$-132,149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$189,833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$241,560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$31,735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$29,857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$17,581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$12,276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$-88,700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$-15,606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$28,006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$14,154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$13,852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$-27,843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$57,864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$31,735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$26,128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$-132,149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$57,864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$31,735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416% of new business ($132,149)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$31,735 in new business. Ask what made those deals work and how you can help replicate that success with similar accounts in their pipeline.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$132,149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Merit Insurance Services,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NJ  |  City: Marlton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$57,851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$53,623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$4,228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$-6,027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$345,672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$156,026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$103,282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$-2,538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$-2,538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$53,692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$53,623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$6,027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$6,027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$-6,027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$682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$682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$57,851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$53,623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$4,228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$-6,027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$-12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$-2,538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$682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$247K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$57,851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$53,623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2.8% hit ratio on 109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89%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(109 subs, only 3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$53,623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One Stop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NJ  |  City: Edgewater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$40,445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$15,160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$25,285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$-58,920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$391,385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$313,656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$104,470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$18,817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$15,160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$3,657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$-14,666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$894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$894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$20,734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$20,734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$-38,975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$-3,736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$-1,543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$40,445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$15,160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$25,285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$-58,920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9.4%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$894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$74K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$40,445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$15,160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389% of new business ($58,920)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45 to 18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$15,160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$58,920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Cavallino Risk Management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NY  |  City: Huntington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$37,885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$30,204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$7,681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$-28,385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$388,331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$249,226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$12,226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$68,501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$18,430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$7,548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$10,882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$-7,977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$-7,977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$-28,385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$11,038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$11,038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$12,406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$17,505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$-5,099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$3,987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$5,151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$-1,164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$37,885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$30,204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$7,681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$-28,385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11.9%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224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$-7,977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$177K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$37,885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$30,204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94% of new business ($28,385)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68%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$30,204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$28,385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My Compass Group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New York  |  City: Bohemia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$34,966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$34,940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$-32,097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$513,043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$155,523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$22,363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$34,940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$34,940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$-21,106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$-2,051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$-8,940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$34,966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$34,940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$-32,097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233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$97K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$110K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$-56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$82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$392K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$34,966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$34,940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Cornerstone Insurance Services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NY  |  City: Lincoln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$20,388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$17,780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$7,969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$-5,361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$-203,053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$1,353,382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$893,695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$107,645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$227,914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$-2,844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$4,025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$-6,869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$-26,090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$-1,699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$-1,699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$-167,362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$-2,601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$3,236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$3,236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$-7,000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$21,724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$13,755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$7,969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$20,388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$17,780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$7,969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$-5,361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$-203,053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1.4%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337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416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346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$104K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$-2,844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$-1,699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$-30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$480K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$20,388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$17,780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1142% of new business ($203,053)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94 to 37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$17,780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$203,053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Njh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NJ  |  City: Clifton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$10,401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$8,862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$1,100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$-23,636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$134,101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$46,731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22.2%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$2,750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$6,112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$5,500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$5,500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$-23,209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$2,089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$1,100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$439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$2,262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$2,262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$-426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$10,401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$8,862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$1,100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$439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$-23,636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$10,401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$8,862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267% of new business ($23,636)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$8,862 in new business. Ask what made those deals work and how you can help replicate that success with similar accounts in their pipeline.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$23,636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The Dorfman Organization, Ltd.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NY  |  City: Brooklyn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$3,701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$21,377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$-17,675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$501,611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$479,794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$7,728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$7,728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$14,097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$21,377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$-7,279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$-18,124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$-18,124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$3,701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$21,377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$-17,675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$-18,124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$3,701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$21,377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229%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5 recent quotes and review together. Ask: "Which of these were closest to binding?" Offer to re-quote or adjust terms on the most promising ones.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Prestige Insurance Services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Virginia  |  City: Sterling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$-9,291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$-9,291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$192,903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$161,139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-4%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$45,210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$-6,780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$-6,780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$-2,511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$-2,511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$-9,291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$-9,291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$-6,780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$-3,919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$-2,511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$-9,291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9.1% hit ratio - above average conversion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 submissions - highly active agency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Negative written premium ($-9,291) - cancellations exceed production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