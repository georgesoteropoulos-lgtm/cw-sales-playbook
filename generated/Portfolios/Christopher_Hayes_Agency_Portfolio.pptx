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Christopher Hayes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23,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Christopher Hayes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45 Total Agencies  |  45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$19,116,378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$12,985,804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$3,030,142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$3,100,432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$-7,416,037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7567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$42,276,318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$44,629,183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$50,731,581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$4,318,090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$13,555,817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29.0%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$4,096,310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$1,135,520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$1,792,841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24.0%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$3,597,990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$3,200,072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1142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$2,092,281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$2,325,216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$1,062,507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$800,334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$849,324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$473,081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$27,017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$784,764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$573,246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$772,849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$590,004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$515,312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$334,396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$296,384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$291,819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$291,216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$217,183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$290,653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$206,186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$9,808,412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$8,330,028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$9,329,257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2071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$9,540,102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2104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279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$5,905,067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$2,558,399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$19,116,378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$12,985,804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8109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76.7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+71%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45 of 45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2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393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421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20.3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5/18–5/23*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7174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703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9.8%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1,260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1,289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1,458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1,851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1,485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1,701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7,174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7,701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-7%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1,537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+1,360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Commercial Trucking Insurance Agency 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24.0%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-575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Specialty Coverage Insurance Agency, 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+0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+234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-181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45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$9,808,412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$498,689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$-1,317,535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1,668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1,252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$8,330,028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$509,155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$-1,137,238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1,374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$9,329,257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$675,775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$-2,083,943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2,071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$9,540,102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$606,274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$-1,795,029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2,104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1,546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$5,905,067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$2,558,399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$740,249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$-1,082,291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1,587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1,182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$42,912,866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$12,985,804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$3,030,142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$-7,416,037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9,321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6,781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1,342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$248,338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$158,292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$38,234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$15,577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LA, MD, MO, PA,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$41,148,196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$14,888,624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$1,355,382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$2,634,609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$3,201,353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$1,425,673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$2,509,895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$622,090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$63,256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599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(56%)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339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(31%)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(13%)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33.1%  ·  Declined: 161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24.0%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Poller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Keller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Cornerstone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Zebo Karim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Jake Ferrara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Jesus Peralta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SALMAN ARZU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Roman Kovinatsky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Ramon Tamarez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Goldberg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Samer Alzayed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DMITRY ZHERNOVSKY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Sergio Bolanos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Bolanos Commercial Enterprise,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Freddie Tabares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Angle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Curmi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Trevor Murgio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Pavneet Singh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Diamante Insurance Brokerage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Clara Wojtuszkiewicz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Kai Strategic Insurance Partne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Danielle Moore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Teresa Sanchez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Igor Sekuloski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ZHIBEK MARALOVA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Gurpreet Singh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Victor Lange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XIOMARA CEDENO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Partlow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Alba Ruiz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29.8%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Shannon Lair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Gus Campisano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Hilb Group of New Jersey, 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Hanadi Tubal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Njh Agency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33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$4,096,310  |  Subs 551  |  Binds 132  |  HR 24.0%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24.0% (portfolio avg: 9.1%)  |  $4,096,310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$3,597,990  |  Subs 1537  |  Binds 121  |  HR 7.9%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$3,597,990 YTD GWP  |  121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$2,092,281  |  Subs 271  |  Binds 53  |  HR 19.6%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19.6% (portfolio avg: 9.1%)  |  $2,092,281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$1,062,507  |  Subs 532  |  Binds 62  |  HR 11.7%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11.7% (portfolio avg: 9.1%)  |  $1,062,507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$772,849  |  Subs 669  |  Binds 51  |  HR 7.6%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$772,849 YTD GWP  |  51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$20,388  |  Subs 328  |  Binds 11  |  HR 3.4%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1142% of new business ($203,053 vs $17,780)  |  Submissions dropped 70% MoM (94 -&gt; 28)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$80,746  |  Subs 60  |  Binds 7  |  HR 11.7%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616% of new business ($168,970 vs $27,450)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$40,445  |  Subs 130  |  Binds 4  |  HR 3.1%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378% of new business ($57,376 vs $15,160)  |  Submissions dropped 64% MoM (45 -&gt; 16)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$147,884  |  Subs 200  |  Binds 4  |  HR 2.0%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2.0% on 200 subs  |  Cancellations are 251% of new business ($289,370 vs $115,496)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$44,175  |  Subs 26  |  Binds 2  |  HR 7.7%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372% of new business ($117,995 vs $31,735)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2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0/6 appointed agencies have submitted (0%)  •  0/6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HGC Group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Old Kentucky Insurance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Fronts Insurance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Brokers of Maryland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Crotty Insurance Agency Inc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Seubert &amp; Associates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(Commercial Trucking Insur, Dnis Inc., Velocity Insurance Multis) drive $9,786,581 (51%)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V Insurance Professi (29.8%), Maximus Insurance Br (29.7%), Commercial Trucking  (24.0%)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8,109 total submissions across 45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submitting but 0 binds (5 subs): The Dorfman Organiza (5)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Insurox Group, Inc (1.6%), Rpk Professional Gro (2.0%), Merit Insurance Serv (2.8%)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51% of premium. Develop mid-tier: Specialty Coverage Insura, Safer Haul Inc, Get Logan Inc. Target 25-50% growth each.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24 agencies with cancellations &gt;40% of new biz: Commercial Trucking Insur, Safer Haul Inc, Cover Me Insurance Agency. $5,331,557 total cancellations - investigate retention.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Commercial Trucking Insur, Dnis Inc., Velocity Insurance Multis. Increase submission volume 20% through marketing support and referral incentives.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with 30+ subs and some binds but &lt;5% HR: Streetsmart Risk Man (363s/12b), Cornerstone Insuranc (328s/11b), Get Logan Inc (288s/13b). Small HR improvements on large volume = significant premium lift.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$3,030,142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Last 25 Bound Submissions  |  737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264285716050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EXPRESS FREIGHT SYSTEMS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SALMAN ARZU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$100,156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262500155035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CROCODILE CARGO CORP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Shelly Walther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$48,018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256279354368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PEREGRINE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$155,487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265680734402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ANASHE CORP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256354874073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PHANG CHIN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$43,941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268994313351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HAGREEN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260141676542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JERSEY LOGISTICS SERVICES CORP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$51,060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260302902232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GREEN DIAMOND LOGISTICS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$64,810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259264168462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KAYILI M GROUP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Zebo Karim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265353772557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Source One Insurance Agency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PREMIER E-Z LOGISTICS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Andrea Jackson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252296277535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DVS EXPRESS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$58,945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258409608722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DEEP STAR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$20,186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268883876992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ONWAY FREIGHTLINES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257456185771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FAST LANE EXPRESS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$13,077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263559403302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BG SERVICES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$15,369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269349331818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BLACK EAGLE TRUCKING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265847824397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LG GLOBAL TRANSPORT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Peralta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$20,266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267046669460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RHODES TO GLORY TRANSPORTATION L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Peralta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$18,232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265949553679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NACARTRUCKING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$10,068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254026108709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ARYANA FREIGHT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Tina Harwood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$60,905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265669782624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Maximus Insurance Brokerage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JCC EXPRESS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Jay Lin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$18,797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252932534865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CORDERO LOGISTICS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$25,563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259872379081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EVANS CORE SOLUTIONS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$1,499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265696661362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J&amp;J ON THE WAY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$19,847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250500388281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SALAR TRANSPORT INC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Danielle Moore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$10,378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$810,146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Active in-force policies expiring through Aug 21,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$2,389,714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258965332197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ASSEGIE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253302581561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HAWA LOGISTICS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252954331889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MALWA TRANSPORTATION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$30,318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250989637595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NITYA FREIGHT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$14,563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253629531143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GUARANTEED CARRIERS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257360720892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RANA TRANSPORTS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$15,583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258912949173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BEDI LOGISTICS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$49,300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257303483366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FOREVER YOUNG MANAGEMENT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247019825976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COAST TO COAST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252219453421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MADAD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$13,653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252293293546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RBMJD CARGO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$3,451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254128573155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HDL TRANSPORT LLLP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$2,005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256101361523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PAWAR TRANSPORT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$27,475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196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Policies with cancellation_date on or before Aug 21,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$3,959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Insured Broker Req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262179532051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JB HAULING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255893596647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HZ &amp; A TRUCKING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Insurnet Insurance Agency 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255893596647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HZ &amp; A TRUCKING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Insurnet Insurance Agency 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$1,364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262179532051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JB HAULING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262179532051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JB HAULING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$2,118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5 of 5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Sayreville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$4,096,310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$1,135,520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$1,792,841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$1,167,949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$-1,602,874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$13,030,311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$11,318,640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$1,002,702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$2,867,153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$926,740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$174,111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$373,806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$378,824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$-321,911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$838,984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$211,094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$357,916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$269,974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$-341,788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$880,757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$196,942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$374,286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$309,529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$-436,578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$860,554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$260,354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$403,491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$196,709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$-423,082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$589,275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$293,019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$283,342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$-79,516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$4,096,310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$1,135,520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$1,792,841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$1,167,949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$-1,602,874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$589K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$4,096,310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$1,135,520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141% of new business ($1,602,874)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$1,135,520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$1,602,874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$3,597,990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$3,200,072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$397,919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$-757,958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$812,791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$4,364,904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$403,141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$2,316,936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$309,420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$268,873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$40,547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$-58,465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$385,999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$351,246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$-63,926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$1,070,919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$949,793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$121,126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$-178,588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$848,606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$702,314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$-262,852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$983,046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$927,847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$55,200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$-194,126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$3,597,990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$3,200,072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$397,919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$-757,958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1685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$983K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$3,597,990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$3,200,072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$3,200,072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North Bergen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$2,325,216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$-246,694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$-674,944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$1,640,288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$3,264,864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$1,409,322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$1,234,267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$1,205,301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$28,966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$468,255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$428,031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$40,224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$-66,282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$124,159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$304,031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$-179,871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$-228,044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$192,478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$-199,310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$73,122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$205,073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$-131,951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$-131,358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$2,092,281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$2,325,216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$-246,694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$-674,944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$2,092,281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$2,325,216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$2,325,216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CT  |  City: Mystic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$1,062,507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$800,334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$112,826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$-253,306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$3,498,767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$2,986,369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$956,869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$175,369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$158,417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$-55,174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$166,559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$88,736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$76,671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$244,482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$184,345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$-61,907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$339,087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$-59,540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$137,010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$110,385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$26,075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$-66,259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$1,062,507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$800,334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$112,826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$-253,306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$1,062,507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$800,334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$800,334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$253,306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DE  |  City: Claymont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$849,324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$349,226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$-540,799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$1,436,230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$1,936,915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$520,024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$169,912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$85,067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$84,845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$-102,689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$170,446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$160,734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$228,897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$90,924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$16,253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$121,720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$191,762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$70,373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$118,383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$-144,221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$88,306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$65,982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$-113,003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$849,324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$473,081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$27,017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$349,226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$-540,799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$849,324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$473,081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114% of new business ($540,799)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$473,081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$540,799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$784,764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$573,246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$211,518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$-313,820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$498,086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$1,260,550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$365,948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$195,089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$140,631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$54,458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$-126,804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$123,048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$66,034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$-74,435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$163,699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$130,400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$33,299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$-81,763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$266,129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$224,870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$-25,939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$20,332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$784,764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$573,246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$211,518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$-313,820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$785K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$784,764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$573,246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55% of new business ($313,820)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86%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$573,246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$313,820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Linden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$772,849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$590,004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$-525,620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$2,245,198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$2,467,710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$727,467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$152,273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$79,631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$-55,985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$204,288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$-144,457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$152,883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$82,303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$-179,730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$93,441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$83,230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$-43,736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$772,849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$590,004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$165,251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$-525,620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$772,849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$590,004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89% of new business ($525,620)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$590,004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$525,620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Hauppauge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$515,312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$-168,091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$981,126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$272,523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$38,330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$122,291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$96,375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$177,632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$119,661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$-78,849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$126,805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$49,622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$69,628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$515,312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$154,239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$-168,091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$515,312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($168,091)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26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$251,327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$168,091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$334,396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$-179,144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$523,801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$621,124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$226,508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$60,268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$21,363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$55,132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$-41,517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$154,614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$61,879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$63,485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$-64,898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$334,396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$296,384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$38,013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$-179,144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$296,384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($179,144)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$296,384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$179,144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Elmsford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$291,819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$424,928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$524,577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$283,877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$291,819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$-293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$291,819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$283,908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$283,908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$291,216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$-144,164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$423,425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$558,805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$201,789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$107,900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$67,912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$-78,199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$8,816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$-2,989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$291,216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$74,034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$-144,164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$291,216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$217,183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($144,164)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$217,183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$144,164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Virginia  |  City: Winchester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$206,186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$842,178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$207,043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$241,543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$107,655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$44,528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$23,277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$82,312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$34,809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$17,872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$290,653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$206,186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$290,653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$206,186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$206,186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$52,907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Garfield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$525,650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$-12,714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$-20,503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$273,967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$275,035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61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(61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$275,035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Grand Prairie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$271,689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$176,578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$716,025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$398,524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$160,415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$9,625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$172,488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$153,122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$22,315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$271,689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$176,578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$52,766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$271,689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$176,578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$176,578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New Jersey  |  City: Freehold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$260,293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$226,902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$1,382,794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$1,044,629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$352,715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$70,734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$50,157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$26,299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$-9,875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$112,010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$111,599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$260,293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$226,902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$260,293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$226,902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$226,902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$70,918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$-133,203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$794,732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$192,851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$42,760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$-60,447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$28,499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$3,537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$62,077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$42,670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$-62,077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$49,439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$-10,678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$-133,203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$231,384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$95,646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139% of new business ($133,203)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$95,646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$133,203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Maximus Insurance Brokerage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$226,670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$509,533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$-21,615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$75,761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$24,067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$2,736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$226,670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$162,057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$36,332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$226,670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$162,057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$162,057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Northville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$215,060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$-27,281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$368,296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$105,372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$20,796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$-18,798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$215,060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$-27,281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$215,060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$213,450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$199,160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$395,501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$-33,629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$36,353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$7,934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$34,651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$199,160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$105,555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$93,605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$199,160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$105,555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($70,222)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$105,555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$70,222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Kai Strategic Insurance Partners Llc Dba Strategic Insurance Partners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Nutley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$-16,585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$168,835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$168,835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$56,841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$192,645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$-154,757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$331,482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$167,511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$61,864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$60,267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$30,423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$19,102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$-70,165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$192,645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$-154,757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$192,645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$114,224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($154,757)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$114,224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$154,757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Burlington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$191,031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$323,654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$462,625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$6,914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$62,785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$6,216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$-20,988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$39,207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$35,975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$3,232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$191,031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$17,266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$-1,185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$191,031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$161,601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$161,601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Astoria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$152,388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$-35,981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$28,728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$-11,888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$177,241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$127,294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($73,817)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$127,294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$73,817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$122,721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$317,777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$367,105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$173,359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$75,560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$49,777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$39,246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$18,887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$20,359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$34,332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$-20,646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$-32,891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$168,217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$122,721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$45,496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$-6,949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$168,217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$122,721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151%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$122,721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$166,069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$-152,584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$861,891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$959,320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$187,682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$30,437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$-35,018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$64,892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$18,573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$-51,601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$-21,846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$166,069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$40,286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$-152,584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$-7,923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$-12,614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$166,069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$98,131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155% of new business ($152,584)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$98,131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$152,584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$-94,675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$126,954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$22,973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$-5,908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$47,380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$23,486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$-72,411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$152,780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$103,624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$49,156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$-94,675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$103,624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91% of new business ($94,675)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$103,624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$94,675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$147,884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$1,332,358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$922,221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$43,526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$-32,787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$119,469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$18,457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$-165,549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$-50,677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$-39,283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$147,884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$37,270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$147,884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$115,496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200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251% of new business ($289,370)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(200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$115,496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Bolanos Commercial Enterprise,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MD  |  City: Frederick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$1,014,499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$657,439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$44,214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$32,156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$-15,459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$45,755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$-34,637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$37,861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$134,803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$134,803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$89,017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125% of new business ($110,906)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$89,017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$110,906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Anthony DeBellis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Hackensack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$114,979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$-115,524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$518,680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$337,221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$-13,196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$46,146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$5,066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$-51,521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$114,979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$35,480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$-115,524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$114,979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$35,480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326% of new business ($115,524)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$35,480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$115,524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Hilb Group of New Jersey,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$-2,934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$224,514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$81,021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$65,061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$103,607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$-2,934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$103,607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$106,541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$106,541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$181,770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$37,649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$33,625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($22,858)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$24,467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$22,858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Namarta Tirath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Upper Darby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$379,856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$337,302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$40,889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$81,474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$59,108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$81,474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$59,108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($39,714)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$59,108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$39,714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$670,132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$651,043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$65,291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$37,841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$-35,289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$-85,711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$80,746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616% of new business ($168,970)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$27,450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$168,970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Source 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MD  |  City: Glen Burnie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$230,065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$-3,997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$3,305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$47,703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$45,166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$79,650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$73,808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$79,650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$73,808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$73,808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Jezaj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$262,759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$-20,850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$51,552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$51,768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$73,389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$-3,478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$-21,392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$73,389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$76,867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$76,867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ASAP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$25,853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$72,036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$72,036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$72,222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$72,222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Merit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Marlton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$155,265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$57,089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$3,466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$57,089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$53,623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108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(108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$53,623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$-117,995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$-88,700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$-15,606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$14,317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$-13,689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$-117,995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$44,175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$31,735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372% of new business ($117,995)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$31,735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$117,995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Edgewater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$313,656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$3,657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$-14,666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$-38,975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$-57,376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$40,445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378% of new business ($57,376)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$15,160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$57,376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Cavallino Risk Management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Huntington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$388,331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$249,226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$12,406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$-5,099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$5,151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$37,885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$30,204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$7,681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$37,885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$30,204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($28,385)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$30,204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$28,385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Compass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New York  |  City: Bohemia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$34,940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Lincoln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$1,353,382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$893,695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$227,914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$-6,869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$-26,090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$-167,362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$-7,000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$17,780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1142% of new business ($203,053)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94 to 28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$17,780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$203,053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Njh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Clifton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$46,731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$-23,209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$10,401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$8,862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267% of new business ($23,636)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$8,862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$23,636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Dorfman Organization, Ltd.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$479,794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$21,377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229%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Virginia  |  City: Sterling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$-3,919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($-9,291)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