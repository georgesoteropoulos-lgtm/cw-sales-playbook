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  <a:latin typeface="Segoe UI"/>
              </a:defRPr>
            </a:pPr>
            <a:r>
              <a:t>COVER WHALE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Christopher Hayes - Agency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B5FD"/>
                </a:solidFill>
                <a:latin typeface="Segoe UI"/>
              </a:defRPr>
            </a:pPr>
            <a:r>
              <a:t>Jan–May 2026  |  Generated May 25, 2026  |  45 Agencies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Christopher Hayes - 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45 Total Agencies  |  45 Active  |  0 Inactive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Agencies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08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(YTD)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$19,115,671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66944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$12,985,804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76872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$3,030,142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$3,099,725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$-7,495,662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8118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734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Binds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6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9.0%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66944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543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6872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Binds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7575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Subs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685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Binds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$42,276,318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$44,628,475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6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$50,731,581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Annual Goal (40%)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6944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38%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$4,323,032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$13,494,252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Bound Prem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9672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28.8%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Retention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14600"/>
            <a:ext cx="786384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532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TOP AGENCIES BY YTD GWP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6207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286207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 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6207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Renewals 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8620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26664"/>
            <a:ext cx="7498079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08152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Commercial Trucking Insurance Agenc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79" y="3081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$4,096,310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081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$1,135,520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081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$1,792,841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3081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552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081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23.9%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27355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28269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Dnis Inc.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79" y="328269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$3,597,990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28269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$3,200,072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328269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28269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1537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1142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2826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4838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Velocity Insurance Multiservices 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79" y="34838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$2,092,281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34838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$2,325,216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34838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$13,759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48386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348386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19.6%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675888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368503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Specialty Coverage Insurance Agency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79" y="36850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$1,062,507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36850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$800,334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36850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$149,347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36850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532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36850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11.5%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38862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Safer Haul Inc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79" y="38862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$849,324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0" y="3886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$473,081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38862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$27,017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0" y="38862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2280" y="38862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6.8%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078224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40873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Get Logan Inc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79" y="40873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$784,764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0873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$573,246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6320" y="40873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0" y="40873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12280" y="40873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428853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Cover Me Insurance Agency Of Nj, In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26079" y="42885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$772,849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31920" y="42885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$590,004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428853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$17,594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0" y="42885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673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463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12280" y="428853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480560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44897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Statewide Risk Management 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26079" y="44897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$515,312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44897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$251,327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46320" y="448970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$109,746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9280" y="44897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12280" y="448970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469087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Executive Insurance Group Llc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26079" y="469087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$334,396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31920" y="46908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$296,384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46320" y="46908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0" y="46908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1792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12280" y="469087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520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8.1%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4882896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4892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Tr Insurance Agency Inc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26079" y="48920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$291,819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4892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463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$283,908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0" y="48920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12280" y="48920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1520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" y="509320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Partlow Insurance Agency Inc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926079" y="50932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$290,653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31920" y="5093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$206,186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46320" y="50932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$52,907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0" y="50932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1792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12280" y="509320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5760" y="528523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65760" y="52943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Insurnet Insurance Agency LLC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26079" y="529437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$290,509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31920" y="52943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$217,183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46320" y="5294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0" y="529437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1792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12280" y="5294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1520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14.0%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229600" y="2514600"/>
            <a:ext cx="3749039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21040" y="2532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MONTHLY SUMMARY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7532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2862072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509760" y="286207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241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74420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20140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275320" y="3026664"/>
            <a:ext cx="3566160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7532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732520" y="30815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$9,810,694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09760" y="3081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$2,867,727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24128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1668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74420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20140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17.2%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27532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32520" y="33375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$8,326,920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509760" y="33375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$2,118,461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24128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1891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74420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271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0140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7532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32520" y="359359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$9,329,009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09760" y="35935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$2,853,344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24128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2071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74420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305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20140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14.7%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27532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32520" y="384962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$9,538,491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509760" y="38496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$2,587,873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24128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2104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74420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279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20140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13.3%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7532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732520" y="410565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$5,926,791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509760" y="41056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$2,558,399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24128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1597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4420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20140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275320" y="4325112"/>
            <a:ext cx="356616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27532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732520" y="436168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$19,115,671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509760" y="4361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$12,985,804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24128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8118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4420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734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20140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OKR Scoreboard — Christopher Hayes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BDM OKRs  |  Q2 measure (paced where applicable)  |  Matches BD Rep Scoreboard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960120"/>
            <a:ext cx="3200400" cy="1371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03327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Segoe UI"/>
              </a:defRPr>
            </a:pPr>
            <a:r>
              <a:t>75.4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910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Segoe UI"/>
              </a:defRPr>
            </a:pPr>
            <a:r>
              <a:t>COMPOSITE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65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Segoe UI"/>
              </a:defRPr>
            </a:pPr>
            <a:r>
              <a:t>Green ≥ 70  |  Amber 45-69  |  Red &lt;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07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Subs YoY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73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≥+100%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97706"/>
                </a:solidFill>
                <a:latin typeface="Segoe UI"/>
              </a:defRPr>
            </a:pPr>
            <a:r>
              <a:t>+65%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028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240280"/>
            <a:ext cx="9144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587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Activity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9535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 100% (40/wk)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23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97706"/>
                </a:solidFill>
                <a:latin typeface="Segoe UI"/>
              </a:defRPr>
            </a:pPr>
            <a:r>
              <a:t>86%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2044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520440"/>
            <a:ext cx="91440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679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Portfolio Active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33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45 of 45 agencies  |  Goal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703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0060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800600"/>
            <a:ext cx="9144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148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New Producing Agencies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5138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Q2 Activated Won  |  Goal ≥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983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97706"/>
                </a:solidFill>
                <a:latin typeface="Segoe UI"/>
              </a:defRPr>
            </a:pPr>
            <a:r>
              <a:t>2 of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OKR 1: Q2 paced subs YoY — current Q2-YTD subs ÷ days-elapsed × 91 vs prior full Q2 (Apr–Jun 2025)  |  OKR 2: Q2 avg weekly calls + meetings vs 40/wk goal (outbound calls + meetings only, matches scoreboard)  |  OKR 3: % of HubSpot book with ≥1 submission in 2026  |  OKR 4: Q2 Activated-Won NNA deals with `Appointed - ` prefix, owned by this BDM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BD Activity  —  Christopher Hayes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 |  Calls + Meetings  |  Weekly goal: 40 activities  |  Colored arrow = month-over-month trend vs prior complete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393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28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Meetings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421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21.1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/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53%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 (40/wk)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1–11  (Jan–Mar)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1/5–1/11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1/12–1/18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4328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1/19–1/25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28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4328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4528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1768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7160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1/26–2/1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928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24328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30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1768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37160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2/2–2/8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928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4328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1768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7160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888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2/9–2/15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928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24328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930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528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32%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01768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7160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7160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888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2/16–2/22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928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4328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30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24528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52%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1768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" y="386334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" y="386334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6888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2/23–3/1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24328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930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25%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01768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410565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7160" y="410565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3/2–3/8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928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4328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930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4528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25%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01768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7160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7160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6888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3/9–3/15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928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24328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930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24528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28%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01768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" y="459028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37160" y="459028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6888" y="460857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3/16–3/22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928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24328" y="460857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930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24528" y="460857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01768" y="460857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99632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09360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12–21  (Mar–May)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60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86800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287000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64240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45352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199632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99632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09360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3/23–3/29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552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6800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554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87000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52%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064240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99632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199632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09360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3/30–4/5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800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87000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65%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064240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99632" y="2651760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199632" y="2651760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09360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4/6–4/12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552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86800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5554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287000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98%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64240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99632" y="2894076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199632" y="2894076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09360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4/13–4/19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9552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0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554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287000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105%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064240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99632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199632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09360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4/20–4/26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9552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686800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554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287000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62%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064240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99632" y="3378708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99632" y="3378708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09360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4/27–5/3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552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86800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87000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064240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199632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199632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09360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5/4–5/10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9552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86800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5554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287000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38%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064240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199632" y="386334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199632" y="386334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309360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5/11–5/17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9552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686800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5554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287000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112%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1064240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199632" y="4105656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199632" y="4105656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309360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5/18–5/24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9552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686800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5554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287000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88%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064240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199632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199632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309360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5/25–5/25*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9552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686800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5554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287000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064240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HubSpot CRM  |  Calls + meetings only (emails excluded)  |  * = current/partial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Submission Growth  —  Christopher Hayes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vs 2025  |  Green = growth  |  Red = decline  |  Hit ratio = binds / submissions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7183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Submissions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700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Binds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9.7% ▼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-6.7%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Subs YOY vs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-48.2%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 YOY vs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21208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MONTHLY BREAKDOWN  —  2026 vs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Subs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Binds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193852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2025 Subs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0566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57984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2037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1,091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20370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1,260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51917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1,288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9656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251917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1,413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-9%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788920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83464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1,457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9656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4056" y="283464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1,679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31501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1,849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4056" y="31501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1,648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+12%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419856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46557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1,498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9656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4056" y="34655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1,701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3717036"/>
            <a:ext cx="5120640" cy="9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76275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7,183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9656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34056" y="3762756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9.7%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7,701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0248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-7%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1600200"/>
            <a:ext cx="64008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33288" y="16367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AGENCIES BY SUBMISSION VOLUME  —  YTD Ranked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33288" y="19385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79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YTD Subs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36608" y="1938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5956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91088" y="193852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2112264"/>
            <a:ext cx="59710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23560" y="216712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33288" y="21854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Dnis Inc.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67928" y="218541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1,537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36608" y="218541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59568" y="218541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91088" y="218541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+1,360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33288" y="24414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Cover Me Insurance Agency Of Nj, Inc.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67928" y="244144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673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36608" y="244144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59568" y="24414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91088" y="244144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+171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23560" y="267919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33288" y="269748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Commercial Trucking Insurance Agency 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67928" y="269748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552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36608" y="269748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59568" y="269748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23.9%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26974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-574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33288" y="295351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Specialty Coverage Insurance Agency, 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67928" y="295351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532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36608" y="29535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59568" y="29535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11.5%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91088" y="295351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+0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23560" y="319125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33288" y="320954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Safer Haul Inc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67928" y="320954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531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36608" y="32095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59568" y="3209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6.8%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91088" y="320954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33288" y="34655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Streetsmart Risk Managers Inc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67928" y="346557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363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36608" y="346557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59568" y="346557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91088" y="346557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-154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23560" y="3703320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33288" y="3721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Cornerstone Insurance Services Inc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67928" y="37216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328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36608" y="37216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59568" y="372160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3.4%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91088" y="372160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-88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33288" y="39776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Get Logan Inc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67928" y="397764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288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36608" y="39776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59568" y="397764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91088" y="39776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+234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23560" y="4215384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33288" y="423367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Velocity Insurance Multiservices Llc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67928" y="42336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271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36608" y="42336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59568" y="423367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19.6%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91088" y="423367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+164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33288" y="44897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Statewide Risk Management I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67928" y="448970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204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36608" y="448970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59568" y="448970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991088" y="448970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-62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23560" y="472744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733288" y="4745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Rpk Professional Group Llc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67928" y="47457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200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36608" y="47457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59568" y="47457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91088" y="474573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+62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33288" y="50017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Tamarez Group Inc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67928" y="500176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36608" y="50017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59568" y="50017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5.4%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991088" y="500176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+81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23560" y="523951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733288" y="52578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Partlow Insurance Agency Inc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67928" y="525780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163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436608" y="52578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259568" y="525780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991088" y="525780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-43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733288" y="55138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Executive Insurance Group Llc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67928" y="551383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161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36608" y="55138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59568" y="551383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8.1%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991088" y="551383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+73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23560" y="575157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733288" y="576986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Insurnet Insurance Agency LLC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67928" y="576986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436608" y="576986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259568" y="576986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14.0%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991088" y="576986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733288" y="60258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Great Agency Inc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567928" y="602589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436608" y="602589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259568" y="60258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91088" y="602589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-181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Totals match Sales Scoreboard: Q1 → Q1 owner, Q2+ → current owner, 2025 baseline → current owner  |  Hit ratio = binds / submissions  |  Right-panel agency table shows current portfolio  |  Green ≥ 8%  Red &lt; 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Christopher Hayes  |  45 Total Agencies  |  Jan–May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0424160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1430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1430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430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1143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Cancel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5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9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3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799" y="11430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99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4996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$9,810,694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499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$2,867,727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49961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$498,689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1499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$-1,317,535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1,668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1,252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799" y="14996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17.2%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773936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828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18288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$8,326,920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18288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$2,118,461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18288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$509,155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$-1,137,238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5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1,891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9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1,374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3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271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9" y="18288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157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21579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$9,329,009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$2,853,344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157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$675,775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79" y="21579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$-2,083,943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2,071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9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1,427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3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305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799" y="215798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14.7%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432303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2487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2487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$9,538,491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24871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$2,587,873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48716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$606,274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79" y="24871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$-1,795,029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5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2,104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09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1,546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3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279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799" y="24871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13.3%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2816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281635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$5,926,791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281635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$2,558,399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2816351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$740,249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79" y="281635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$-1,161,917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5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1,597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09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1,192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3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799" y="2816351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090671"/>
            <a:ext cx="10424160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316382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316382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$42,931,905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37560" y="316382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$12,985,804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3163823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$3,030,142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97879" y="31638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$-7,495,662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5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9,331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09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6,791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153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1,342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9799" y="3163823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14.4%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3611879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Green = up vs prior month  |  Red = down vs prior month or negative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DSG In My Portfolio — Christopher Hayes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Dirt, Sand &amp; Gravel program performance across this bdm's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324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DSG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BOUND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$248,338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GROSS WRITTEN PREM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59669"/>
                </a:solidFill>
                <a:latin typeface="Segoe UI"/>
              </a:defRPr>
            </a:pPr>
            <a:r>
              <a:t>4.6%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3385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DSG ACTIVITY BY AGENCY (top 8 by submissions)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Declined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70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44368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809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DNIS Inc.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980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$158,292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3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Cover Me Insurance Agency of NJ, Inc.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2918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$1,650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66159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0273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Executive Insurance Group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0273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$38,234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1363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Safer Haul Inc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9136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$20,898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87951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2452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CDL Associates Insurance Agency LLC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53542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Rpk Professional Group LLC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53542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809743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84631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Velocity Insurance Multiservices LLC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8463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$15,577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15721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Cornerstone Insurance Services Inc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15721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9436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States with DSG bound business in this book: CA, CO, LA, MD, MO, PA, TX, 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Fleet In My Portfolio — Christopher Hayes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Fleet business (4+ power units) across this bdm's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1,079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357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$41,148,196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GWP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UNITS / SUB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69494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6766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BY AGENCY (top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44368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809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Commercial Trucking Insurance Agency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66.3%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$14,888,624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DNIS Inc.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$1,355,382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66159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0273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Get Logan Inc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$2,634,609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13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Rpk Professional Group LLC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$3,201,353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87951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245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Safer Haul Inc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$1,425,673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53542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Diamante Insurance Brokerage Inc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$2,509,895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09743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8463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Statewide Risk Management 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$622,090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15721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Streetsmart Risk Managers Inc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$63,256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0" y="2286000"/>
            <a:ext cx="42062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99248" y="2322576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SIZE MIX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4-5 units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600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4120" y="26700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(56%)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6-10 units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3035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339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30358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(31%)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3401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11-25 units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828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34015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(13%)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0" y="3767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26-50 units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98280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04120" y="3767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51+ units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41330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413308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1264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Bind rate on fleet: 33.1%  ·  Declined: 161  ·  Source: cw_rep.transportation_submissions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Agency Producers — Christopher Hayes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Individual agents ranked by YTD submissions  |  Agent = broker_contact on submission  |  Trend = MoM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8118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Subs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9464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734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Binds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9.0%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Portfolio Hit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2631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102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9215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41%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5 Agent 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AGENTS BY SUBMISSIONS  —  Ranked 1–18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David Rodriguez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1368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Dnis Inc.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Gurashish Bedi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8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Commercial Trucking Insurance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23.9%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Michael Poller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1368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Cover Me Insurance Agency Of 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457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Scott Procops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1368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Specialty Coverage Insurance 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13.4%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3248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Jason Seeger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1368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Safer Haul Inc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016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888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3248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Nicole Keller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1368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Cornerstone Insurance Services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016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452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888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3248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6888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Zebo Karim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1368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Get Logan Inc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3016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288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452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888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13248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Jake Ferrara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1368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Streetsmart Risk Managers Inc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016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287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2452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1888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13248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6888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Jesus Peralta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01368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Cover Me Insurance Agency Of 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3016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216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2452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1888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14.4%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13248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6888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SALMAN ARZU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01368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Statewide Risk Management 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3016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1888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13248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7160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Aileen Ogaldez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01368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Velocity Insurance Multiservic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3016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2452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1888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18.9%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13248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6888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Roman Kovinatsky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01368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Rpk Professional Group Llc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3016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2452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1888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13248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7160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46888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Ramon Tamarez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01368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Tamarez Group Inc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3016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2452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1888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5.5%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13248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6888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Philip Goldberg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01368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Executive Insurance Group Llc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3016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161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2452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1888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8.1%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13248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37160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6888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Samer Alzayed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01368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Insurnet Insurance Agency LLC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3016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2452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1888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14.0%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13248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6888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DMITRY ZHERNOVSKY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01368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Great Agency Inc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3016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2452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1888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13248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6888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Sergio Bolanos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01368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Bolanos Commercial Enterprise,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3016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2452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1888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12.8%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13248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46888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Freddie Tabares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01368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One Stop Insurance Agency LLC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3016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2452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1888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13248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45352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355080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CONTINUED  —  Ranked 19–36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55080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909560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3836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3272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2708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521440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291072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45352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80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Justin Angle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09560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Angle Associates Llc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3836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126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33272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92708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521440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55080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Jordan Curmi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909560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Safer Haul Inc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73836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124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3272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2708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7.3%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521440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245352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355080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Trevor Murgio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909560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Specialty Coverage Insurance A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73836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33272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2708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521440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355080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Pavneet Singh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909560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Sammy Brokerage Inc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73836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33272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92708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521440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245352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55080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irina rozenblum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09560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Diamante Insurance Brokerage I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73836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33272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92708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13.8%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521440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55080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Clara Wojtuszkiewicz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909560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Kai Strategic Insurance Partne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73836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33272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92708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5.5%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521440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245352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55080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Danielle Moore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909560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Legacy Insurance Solutions Llc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73836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33272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92708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11.7%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521440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355080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Teresa Sanchez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909560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OMEGA INSURANCE AGENCY LLC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73836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33272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92708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521440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245352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355080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Igor Sekuloski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909560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Insurox Group, Inc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73836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33272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92708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521440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355080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ZHIBEK MARALOVA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909560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My General Agent Inc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73836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33272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92708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14.0%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521440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245352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355080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Gurpreet Singh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909560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Truczone Insurance Agency Llc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3836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33272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92708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16.1%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1521440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355080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Victor Lange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909560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CDL Associates Insurance Agenc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73836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33272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92708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521440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245352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355080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XIOMARA CEDENO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909560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Velocity Insurance Multiservic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73836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33272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92708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28.0%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1521440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355080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David Partlow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909560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Partlow Insurance Agency Inc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973836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033272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92708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1521440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245352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355080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Alba Ruiz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909560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V Insurance Professionals LLC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73836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33272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092708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29.8%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521440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355080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Shannon Lair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909560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CDL Associates Insurance Agenc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73836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33272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92708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1521440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245352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355080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Gus Campisano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09560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The Hilb Group of New Jersey, 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73836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033272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92708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1521440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355080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Hanadi Tubal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909560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Njh Agency Llc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73836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33272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92708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521440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74320" y="6510528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Agent = broker_contact_user_id on submission record  |  Hit ratio = binds / subs  |  MoM = month-over-month  |  33 subs had no agent mapped (broker_contact_user_id not set)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Top Performers vs Underperformers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Standouts and agencies needing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EXCEEDING — Top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6792" y="914400"/>
            <a:ext cx="548640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— Bottom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Commercial Trucking Insurance Agency LLC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$4,096,310  |  Subs 552  |  Binds 132  |  HR 23.9%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23.9% (portfolio avg: 9.0%)  |  $4,096,310 YTD GWP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7744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Dnis Inc.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$3,597,990  |  Subs 1537  |  Binds 120  |  HR 7.8%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$3,597,990 YTD GWP  |  120 binds in Q1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8328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Velocity Insurance Multiservices Llc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$2,092,281  |  Subs 271  |  Binds 53  |  HR 19.6%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19.6% (portfolio avg: 9.0%)  |  $2,092,281 YTD GWP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8912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Specialty Coverage Insurance Agency, LLC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$1,062,507  |  Subs 532  |  Binds 61  |  HR 11.5%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11.5% (portfolio avg: 9.0%)  |  $1,062,507 YTD GWP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9496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Cover Me Insurance Agency Of Nj, Inc.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$772,849  |  Subs 673  |  Binds 51  |  HR 7.6%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$772,849 YTD GWP  |  51 binds in Q1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137160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Cornerstone Insurance Services Inc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$20,388  |  Subs 328  |  Binds 11  |  HR 3.4%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1142% of new business ($203,053 vs $17,780)  |  Submissions dropped 70% MoM (94 -&gt; 28)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237744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Legacy Insurance Solutions Llc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$80,746  |  Subs 60  |  Binds 7  |  HR 11.7%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616% of new business ($168,970 vs $27,450)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338328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One Stop Insurance Agency LLC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$40,445  |  Subs 130  |  Binds 4  |  HR 3.1%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389% of new business ($58,920 vs $15,160)  |  Submissions dropped 64% MoM (45 -&gt; 16)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438912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Rpk Professional Group Llc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$147,884  |  Subs 200  |  Binds 4  |  HR 2.0%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Hit ratio only 2.0% on 200 subs  |  Cancellations are 251% of new business ($289,370 vs $115,496)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2512" y="539496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YZ Financial Services and Insurance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$44,175  |  Subs 26  |  Binds 2  |  HR 7.7%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372% of new business ($117,995 vs $31,735)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Agencies I Appointed — Christopher Hayes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OKR 4 progress  |  Q2 goal: 4 new producing agencies  |  Source: HubSpot Net New Agency / Activated Won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2 of 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Q2 OKR 4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YTD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SUB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BIND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SUBS POST-APPT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Segoe UI"/>
              </a:defRPr>
            </a:pPr>
            <a:r>
              <a:t>Activation: 0/6 appointed agencies have submitted (0%)  •  0/6 have bound (0%)  •  Total bound: 0  •  Total GWP: $0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768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APPOINTED AGENCIES (newest first)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Appointed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6060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Bind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80360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169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HGC Group Inc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9169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916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9169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916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2278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Old Kentucky Insurance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227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2278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02151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5387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All Fronts Insurance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35387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53872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35387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53872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5387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5387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38496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Insurance Brokers of Maryland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3849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2026-04-16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38496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38496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38496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38496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38496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123944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160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Crotty Insurance Agency Inc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2026-04-16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41605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60" y="4160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41605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44714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Seubert &amp; Associates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0" y="4471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2026-02-19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0" y="44714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60" y="44714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3720" y="44714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44714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0" y="44714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OKR 4 source: HubSpot Net New Agency Prospect Pipeline · Activated Won stage · only 'Appointed - ' prefix deals count (matches BD Rep Scoreboard). BDMs scored on count vs goal of 4/quarter.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Strategic Assessment &amp;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Christopher Hayes Portfolio  |  Jan–May 2026  |  Strengths, gaps, and ranked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Top 3 (Commercial Trucking Insur, Dnis Inc., Velocity Insurance Multis) drive $9,786,581 (51%) of portfolio YTD GWP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Strong hit ratios: V Insurance Professi (29.8%), Maximus Insurance Br (29.7%), Commercial Trucking  (23.9%)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 agencies converting submissions to bound business in Jan–May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8,118 total submissions across 45 active agencies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- Areas for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 agencies submitting but 0 binds (5 subs): The Dorfman Organiza (5)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Low hit ratios need coaching: Insurox Group, Inc (1.6%), Rpk Professional Gro (2.0%), Merit Insurance Serv (2.8%)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71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TOP STRATEGIC PRIORITIES — Ranked by Estimated Impact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2900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4107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Diversify Revenue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Top 3 agencies drive 51% of premium. Develop mid-tier: Specialty Coverage Insura, Safer Haul Inc, Get Logan Inc. Target 25-50% growth each.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06908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050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Reduce Cancellation Rates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279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24 agencies with cancellations &gt;40% of new biz: Commercial Trucking Insur, Safer Haul Inc, Cover Me Insurance Agency. $5,340,781 total cancellations - investigate retention.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70916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6908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Scale Top Performers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919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Double down on high-converting agencies: Commercial Trucking Insur, Dnis Inc., Velocity Insurance Multis. Increase submission volume 20% through marketing support and referral incentives.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4924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30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Develop High-Volume Growth Candidates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559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12 agencies with 30+ subs and some binds but &lt;5% HR: Streetsmart Risk Man (363s/12b), Cornerstone Insuranc (328s/11b), Get Logan Inc (288s/13b). Small HR improvements on large volume = significant premium lift.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9710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Protect Renewal 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$3,030,142 in Q1 renewal premium. Proactively engage renewal agencies 60 days pre-expiration to maximize retention.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Recently Bound Submissions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Christopher Hayes  |  Last 25 Bound Submissions  |  734 Total Bound in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058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0058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 (Account)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005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59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207008"/>
            <a:ext cx="111556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265353772557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280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Source One Insurance Agency Llc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2801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PREMIER E-Z LOGISTICS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Andrea Jackson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59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24,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46304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4813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481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266752731168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14813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Insurnet Insurance Agency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4813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CLEARPATH TRANSPORTS LLC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481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Samer Alzayed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$21,723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59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23,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16824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6824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264285716050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168249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Statewide Risk Management 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168249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EXPRESS FREIGHT SYSTEMS INC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6824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SALMAN ARZU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$100,156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59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22,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186537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88366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8836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262500155035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188366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Partlow Insurance Agency Inc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18836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CROCODILE CARGO CORP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88366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Shelly Walther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$48,018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59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22,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20848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0848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256279354368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208483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Diamante Insurance Brokerage Inc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20848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PEREGRINE INC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0848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irina rozenblum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$155,487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59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22,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226771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286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265680734402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22860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Safer Haul Inc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22860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ANASHE CORP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Jason Seeger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$13,272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59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24871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256354874073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48716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Specialty Coverage Insurance Agenc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0600" y="24871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PHANG CHIN INC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248716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Scott Procops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$43,941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59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67004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26883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26883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268994313351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268833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Dnis Inc.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268833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HAGREEN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268833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David Rodriguez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12680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$16,792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59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288950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28895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260141676542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288950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Dnis Inc.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288950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JERSEY LOGISTICS SERVICES CORP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28895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David Rodriguez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$51,060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8559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07238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30906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3090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260302902232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0" y="309067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Velocity Insurance Multiservices 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600" y="309067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GREEN DIAMOND LOGISTICS LLC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30906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Aileen Ogaldez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2680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$64,810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38559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291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" y="3291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259264168462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0" y="329184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Get Logan Inc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0" y="3291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KAYILI M GROUP LLC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3524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Zebo Karim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12680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$21,829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338559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347472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34930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" y="34930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252296277535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2880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Commercial Trucking Insurance Agen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00600" y="34930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DVS EXPRESS INC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35240" y="34930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Gurashish Bedi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12680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$58,945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338559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36941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3694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258409608722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28800" y="369417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Commercial Trucking Insurance Agen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36941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DEEP STAR INC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369417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Gurashish Bedi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12680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$20,186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38559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387705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389534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3895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268883876992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28800" y="389534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Commercial Trucking Insurance Agen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00600" y="389534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ONWAY FREIGHTLINES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389534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Gurashish Bedi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12680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59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40965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" y="4096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257456185771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28800" y="409651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Safer Haul Inc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00600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FAST LANE EXPRESS LLC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35240" y="409651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Jason Seeger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12680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$13,077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38559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427939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8640" y="4297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263559403302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28800" y="429768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Safer Haul Inc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00600" y="42976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BG SERVICES LLC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Jason Seeger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12680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$15,369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338559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44988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269349331818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8800" y="449884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Specialty Coverage Insurance Agenc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00600" y="4498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BLACK EAGLE TRUCKING LLC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35240" y="44988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Scott Procops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12680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338559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57200" y="468172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8640" y="47000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14400" y="4700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265847824397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28800" y="470001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Cover Me Insurance Agency Of Nj, I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800600" y="47000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LG GLOBAL TRANSPORT LLC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635240" y="470001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Jesus Peralta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12680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$20,266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338559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490118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4400" y="49011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267046669460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828800" y="490118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Cover Me Insurance Agency Of Nj, I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800600" y="490118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RHODES TO GLORY TRANSPORTATION L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35240" y="49011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Jesus Peralta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12680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$18,232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338559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508406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8640" y="51023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51023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265949553679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28800" y="510235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Dnis Inc.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800600" y="51023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NACARTRUCKING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635240" y="5102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David Rodriguez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012680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$10,068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338559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5303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1440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254026108709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28800" y="53035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Partlow Insurance Agency Inc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00600" y="5303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ARYANA FREIGHT INC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35240" y="5303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Tina Harwood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012680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$60,905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338559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57200" y="548640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48640" y="55046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5504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265669782624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828800" y="550468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Maximus Insurance Brokerage LLC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800600" y="55046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JCC EXPRESS LLC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635240" y="55046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Jay Lin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012680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$18,797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338559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48640" y="570585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14400" y="57058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252932534865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828800" y="570585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Specialty Coverage Insurance Agenc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800600" y="570585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CORDERO LOGISTICS LLC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635240" y="570585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Scott Procops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012680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$25,563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338559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57200" y="588873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48640" y="590702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14400" y="59070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259872379081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828800" y="590702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Specialty Coverage Insurance Agenc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800600" y="590702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EVANS CORE SOLUTIONS LLC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635240" y="59070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Scott Procops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012680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$1,499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1338559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48640" y="61081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14400" y="6108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265696661362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828800" y="610819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Specialty Coverage Insurance Agenc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00600" y="61081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J&amp;J ON THE WAY LLC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635240" y="61081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Scott Procops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012680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$19,847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1338559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48640" y="6345936"/>
            <a:ext cx="1115568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Total (Last 25 Submissions)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412480" y="6400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$821,492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Renewal Watch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Christopher Hayes  |  Active in-force policies expiring through Aug 23,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$2,617,140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EXPIRE ≤30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31-60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61-90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POLICIES EXPIRING (sorted by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59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Exp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59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3591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5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33472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Commercial Trucking Insurance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6700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250989637595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6700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NITYA FREIGHT INC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670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700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$14,563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5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980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Commercial Trucking Insurance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9809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252954331889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29809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MALWA TRANSPORTATION INC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980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98094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$3,737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5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5526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Cornerstone Agency Services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2918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253629531143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2918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GUARANTEED CARRIERS LLC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2918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2918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5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Commercial Trucking Insurance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360273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258912949173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60273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BEDI LOGISTICS LLC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60273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360273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$49,300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5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77055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Cover Me Insurance Agency Of 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39136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257303483366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3913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FOREVER YOUNG MANAGEMENT 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39136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39136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391363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5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4224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Commercial Trucking Insurance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422452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257360720892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422452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RANA TRANSPORTS INC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4224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42245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55480" y="422452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$15,583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5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498847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53542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Safer Haul Inc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453542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247019825976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0" y="453542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COAST TO COAST TRUCKING LLC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453542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58200" y="453542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453542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8135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48463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Commercial Trucking Insurance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8463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255174397762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8463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ALX TRANSPORT INC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49440" y="48463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58200" y="48463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55480" y="48463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$25,443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8135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120639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1572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Commercial Trucking Insurance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0" y="515721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256101361523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31920" y="515721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PAWAR TRANSPORT INC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49440" y="51572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58200" y="51572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55480" y="515721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$7,662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8135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54681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Truczone Insurance Agency Llc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46811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252219453421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54681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MADAD INC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49440" y="546811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5527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58200" y="546811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55480" y="546811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$13,653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8135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OH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5742431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5760" y="57790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Streetsmart Risk Managers Inc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43200" y="577900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252293293546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31920" y="57790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RBMJD CARGO LLC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9440" y="577900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7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58200" y="57790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577900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8135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NC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608990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Safer Haul Inc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43200" y="6089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254128573155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60899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HDL TRANSPORT LLLP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49440" y="608990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5527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58200" y="60899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555480" y="608990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$26,624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8135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65760" y="636422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5760" y="64007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Commercial Trucking Insurance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43200" y="640079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258034441004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931920" y="640079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BG TRANSPORT SERVICES LLC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49440" y="640079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7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58200" y="64007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640079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$22,403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88135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13 of 197 upcoming renewals  |  Source: dw_reader.policy_premium  |  Active in-force only  |  Sorted by expiration 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Pending Cancellations — Save List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Christopher Hayes  |  Policies with cancellation_date on or before Aug 23, 2026  |  Sorted by urgency — call these agencies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PENDING CANCEL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$40,487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DAYS (URGENT)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2626"/>
                </a:solidFill>
                <a:latin typeface="Segoe UI"/>
              </a:defRPr>
            </a:pPr>
            <a:r>
              <a:t>$40,487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 PREMIUM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D28D9"/>
                </a:solidFill>
                <a:latin typeface="Segoe UI"/>
              </a:defRPr>
            </a:pPr>
            <a:r>
              <a:t>Material Changes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PENDING CANCELS (sorted by cancel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Cancel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5915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3591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LOB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91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633472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253745062837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26700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JIREH TRUCKING TRANSPORT LLC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67004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One Stop Insurance Agency 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670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2670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67004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$9,142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Material Changes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256800512094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298094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FASTHAUL LLC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298094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My Compass Group Inc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29809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29809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NJ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98094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$2,409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2980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55263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8308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256800512094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3291839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FASTHAUL LLC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3291839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My Compass Group Inc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32918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32918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NJ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3291839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3080" y="360273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256650406994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602735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 &amp; H CARRIERS INC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4960" y="3602735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Commercial Trucking Insuran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60" y="360273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9560" y="360273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602735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$20,995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Material Changes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3877055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83080" y="39136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253745062837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3913631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JIREH TRUCKING TRANSPORT LLC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94960" y="3913631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One Stop Insurance Agency 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52360" y="391363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09560" y="391363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NJ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3913631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$1,522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2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Material Changes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83080" y="4224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253745062837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88920" y="4224527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JIREH TRUCKING TRANSPORT LLC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94960" y="4224527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One Stop Insurance Agency 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52360" y="422452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09560" y="422452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NJ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66760" y="4224527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$893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18320" y="4224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Material Changes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4498847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83080" y="453542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256650406994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88920" y="4535423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 &amp; H CARRIERS INC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94960" y="4535423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Commercial Trucking Insuran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52360" y="453542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60" y="453542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66760" y="4535423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$5,346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18320" y="453542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Material Changes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7 of 7 pending cancels  |  Source: dw_reader.policy_premium  |  Non-payment = green (most savable), Insured-requested = red, Days ≤14 = red  |  Action: contact agency, confirm reinstatement plan, escalate non-payment cases for billing fix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Commercial Trucking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Northeast  |  State: NJ  |  City: Sayreville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$4,096,310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$1,135,520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$1,792,841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$1,167,949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$-1,610,554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$13,030,311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$11,318,640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23.9%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$1,002,702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$2,869,435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$926,740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$174,111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$373,806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$378,824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$-321,911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$838,984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$211,094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$357,916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$269,974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$-341,788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$880,757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$196,942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$374,286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$309,529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$-436,578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$860,554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$260,354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$403,491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$196,709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$-423,082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$589,275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$293,019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$283,342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$12,913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$-87,197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$4,096,310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$1,135,520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$1,792,841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$1,167,949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$-1,610,554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46.8%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43.3%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552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511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23.9%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1126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813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$755K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$927K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$988K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$839K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$1.4M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$881K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$1.1M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$861K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$1.5M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$589K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$5.8M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$4.1M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$4,096,310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$1,135,520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142% of new business ($1,610,554)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$1,135,520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$1,610,554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Dnis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KY  |  City: Louisville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$3,597,990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$3,200,072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$397,919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$-819,419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$812,791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$4,364,904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369%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$408,083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$2,303,060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$309,420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$268,873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$40,547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$-58,465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$385,999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$351,246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$34,753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$-63,926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$1,070,919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$949,793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$121,126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$-178,588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$848,606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$702,314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$146,292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$-262,852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$983,046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$927,847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$55,200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$-255,588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$3,597,990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$3,200,072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$397,919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$-819,419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443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435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421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13.9%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1452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1685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$309K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$386K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$1.1M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$379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$849K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$983K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$3.6M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$3,597,990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$3,200,072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$3,200,072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Velocity Insurance Multiservices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Northeast  |  State: NJ  |  City: North Bergen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$2,092,281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$2,325,216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$13,759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$-246,694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$-674,944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$1,640,288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$3,264,864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106%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19.6%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$1,409,322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$1,234,267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$1,205,301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$28,966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$-49,950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$468,255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$428,031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$40,224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$-66,282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$124,159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$304,031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$-179,871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$-228,044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$192,478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$182,781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$13,759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$-4,062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$-199,310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$73,122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$205,073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$-131,951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$-131,358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$2,092,281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$2,325,216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$13,759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$-246,694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$-674,944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271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369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$1.2M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$468K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$124K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$192K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$468K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$2.1M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$2,092,281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$2,325,216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62%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$2,325,216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Specialty Coverage Insurance Agency,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Northeast  |  State: CT  |  City: Mystic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$1,062,507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$800,334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$149,347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$112,826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$-253,306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$3,498,767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$2,986,369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$65,908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$935,232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$175,369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$158,417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$16,952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$-55,174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$166,559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$88,736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$76,671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$-10,426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$244,482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$184,345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$31,145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$28,992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$-61,907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$339,087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$258,451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$40,980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$39,656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$-59,540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$137,010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$110,385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$26,075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$-66,259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$1,062,507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$800,334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$149,347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$112,826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$-253,306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18.8%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15.4%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532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515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532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645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$175K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$167K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$244K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$546K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$339K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$137K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$1.6M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$1.1M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$1,062,507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$800,334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60%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$800,334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$253,306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Safer Haul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Northeast  |  State: DE  |  City: Claymont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$849,324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$473,081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$27,017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$349,226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$-540,799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$1,436,230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$1,936,915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$81,245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$520,024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$169,912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$85,067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$84,845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$-102,689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$170,446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$160,734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$9,712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$-2,149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$228,897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$90,924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$16,253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$121,720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$-178,737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$191,762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$70,373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$3,007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$118,383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$-144,221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$88,306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$65,982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$7,758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$14,567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$-113,003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$849,324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$473,081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$27,017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$349,226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$-540,799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531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510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555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595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$170K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$170K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$68K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$229K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$192K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$88K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$349K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$849K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$849,324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$473,081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114% of new business ($540,799)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54%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$473,081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$540,799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Get Logan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Northeast  |  State: PA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$784,764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$573,246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$211,518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$-313,820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$498,086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$1,260,550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131%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$344,606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$365,948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$195,089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$140,631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$54,458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$-126,804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$123,048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$57,013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$66,034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$-74,435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$163,699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$130,400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$33,299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$-81,763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$266,129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$224,870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$41,259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$-25,939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$36,799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$20,332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$16,467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$-4,880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$784,764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$573,246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$211,518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$-313,820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8.9%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6.9%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215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319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$195K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$785K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$784,764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$573,246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55% of new business ($313,820)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86%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$573,246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$313,820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Cover Me Insurance Agency Of Nj,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NJ  |  City: Linden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$772,849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$590,004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$17,594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$165,251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$-525,620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$2,245,198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$2,467,710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$3,796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$727,467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$176,227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$152,273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$23,953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$-101,712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$91,831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$79,631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$-55,985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$258,467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$204,288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$54,179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$-144,457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$152,883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$70,581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$82,303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$-179,730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$93,441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$83,230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$17,594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$-7,384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$-43,736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$772,849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$590,004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$17,594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$165,251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$-525,620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6.9%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673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657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502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725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$92K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$258K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$153K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$93K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$550K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$773K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$772,849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$590,004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89% of new business ($525,620)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$590,004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$525,620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Statewide Risk Management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NY  |  City: Hauppauge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$515,312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$251,327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$109,746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$154,239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$-168,091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$840,097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$981,126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$149,778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$272,523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$38,330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$12,384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$25,946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$-4,335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$122,291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$96,375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$25,917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$-53,794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$50,253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$49,147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$177,632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$43,799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$14,172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$119,661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$-78,849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$126,805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$49,622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$69,628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$7,555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$-31,112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$515,312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$251,327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$109,746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$154,239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$-168,091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8.9%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266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228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$122K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$178K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$127K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$374K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$515K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$515,312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$251,327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67% of new business ($168,091)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59 to 26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$251,327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$168,091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Executive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VA  |  City: Fairfax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$334,396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$296,384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$38,013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$-179,144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$523,801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$621,124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$226,508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$60,268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$38,905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$21,363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$-35,229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$55,132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$39,380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$15,751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$-41,517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$157,381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$154,614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$2,767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$-36,718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$-783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$61,879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$63,485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$-1,605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$-64,898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$334,396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$296,384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$38,013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$-179,144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$109K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$157K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$-264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$237K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$334K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$334,396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$296,384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60% of new business ($179,144)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$296,384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$179,144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 Insurance Agency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NY  |  City: Elmsford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$291,819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$283,908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$7,910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$378,766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$424,928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64%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$524,577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$8,722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$8,722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$-460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$283,877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$283,908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$291,819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$283,908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$7,910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$-293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$-321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$-460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$284K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$292K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$291,819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$283,908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Their $283,908 in renewals shows they trust our product. Ask: "What's holding back new submissions?" They may need updated appetite info or a refresher on our quoting process.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Partlow Insurance Agency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Northeast  |  State: Virginia  |  City: Winchester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$290,653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$206,186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$52,907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$31,559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$-17,654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$842,178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$761,672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$207,043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$241,543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$21,145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$19,979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$107,655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$106,870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$785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$68,917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$44,528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$23,277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$1,112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$10,624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$10,624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$-17,654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$82,312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$34,809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$29,631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$17,872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$290,653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$206,186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$52,907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$31,559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$-17,654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15.4%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$108K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$82K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$371K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$291K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$290,653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$206,186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$206,186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Strong $52,907 renewal book. Use this as proof of value: "Your retention shows we're delivering - let's find more accounts like these in your pipeline."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Insurnet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KY  |  City: Louisville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$290,509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$217,183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$73,326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$-144,164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$423,425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$558,098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$9,470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$200,788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$51,428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$36,809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$14,619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$-1,758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$107,008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$107,900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$-892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$67,912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$24,658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$43,254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$-61,218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$61,625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$39,000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$22,625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$-78,199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$2,536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$8,816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$-6,280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$-2,989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$290,509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$217,183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$73,326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$-144,164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15.9%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$-203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$83K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$156K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$291K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$290,509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$217,183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66% of new business ($144,164)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96%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$217,183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$144,164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Insurox Group,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NJ  |  City: Garfield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$273,967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$275,035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$-1,068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$-20,503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$525,650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$517,728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$275,035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$-1,068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$-1,068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$-4,713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$-12,714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$275,035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$275,035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$-2,170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$273,967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$275,035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$-1,068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$-20,503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$-1,068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$275K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$282K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$274K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$273,967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$275,035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1.6% hit ratio on 61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(61 subs, only 1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$275,035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Diamante Insurance Brokerage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NY  |  City: Grand Prairie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$271,689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$176,578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$42,345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$52,766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$-34,512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$716,025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$785,949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$398,524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$160,415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$6,230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$5,680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$-26,183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$15,457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$19,677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$-4,220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$55,199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$3,229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$42,345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$9,625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$-8,329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$172,488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$153,122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$19,365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$22,315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$22,315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$271,689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$176,578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$42,345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$52,766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$-34,512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$172K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$272K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$271,689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$176,578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87%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$176,578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Streetsmart Risk Managers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Northeast  |  State: New Jersey  |  City: Freehold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$260,293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$226,902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$10,152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$23,239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$-70,918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$1,382,794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$1,044,629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$352,715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$29,295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$51,459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$-22,164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$-26,198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$70,734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$50,157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$20,577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$-25,407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$21,955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$21,955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$-9,438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$26,299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$13,687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$10,152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$2,459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$-9,875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$112,010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$111,599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$260,293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$226,902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$10,152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$23,239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$-70,918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333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517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394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$112K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$598K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$260K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$260,293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$226,902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$226,902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$70,918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 Insurance Professionals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NJ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$231,384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$95,646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$76,355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$59,383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$-133,203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$794,732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$468,583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29.8%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$52,136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$192,851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$60,076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$42,760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$17,315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$-60,447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$28,499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$3,537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$13,821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$11,141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$62,077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$42,670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$19,407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$-62,077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$69,265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$49,439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$19,774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$11,468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$11,468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$-10,678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$231,384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$95,646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$76,355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$59,383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$-133,203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38.5%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$220K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$147K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$28K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$95K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$558K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$231K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$231,384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$95,646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139% of new business ($133,203)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83%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$95,646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$133,203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Maximus Insurance Brokerage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NY  |  City: Brooklyn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$226,670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$162,057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$28,280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$36,332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$-46,808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$430,105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$509,533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29.7%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$176,824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$177,180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$13,170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$13,170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$41,509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$19,180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$22,330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$-21,615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$75,605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$75,761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$-3,807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$72,317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$45,786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$28,280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$-1,748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$-21,386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$24,067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$21,331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$2,736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$226,670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$162,057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$28,280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$36,332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$-46,808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36.4%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$42K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$76K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$75K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$147K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$226,670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$162,057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67%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$162,057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CDL Associates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NY  |  City: Northville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$215,060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$213,450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$1,611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$-27,281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$243,131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$368,296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74%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$105,372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$161,794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$161,794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$30,859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$30,859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$22,407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$20,796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$1,611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$-8,483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$-18,798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$215,060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$213,450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$1,611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$-27,281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$-192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$215K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$215,060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$213,450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$213,450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OMEGA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NJ  |  City: Clark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$199,160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$105,555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$93,605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$-70,222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$309,728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$395,501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$147,386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$37,200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$37,200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$-36,593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$33,629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$33,629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$-33,629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$44,287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$36,353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$7,934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$49,393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$49,079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$34,651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$20,123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$14,528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$199,160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$105,555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$93,605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$-70,222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$199K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$199,160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$105,555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67% of new business ($70,222)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$105,555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$70,222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Kai Strategic Insurance Partners Llc Dba Strategic Insurance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NJ  |  City: Nutley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$194,691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$168,835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$9,400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$16,456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$-56,841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$373,823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$430,651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$135,378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$17,333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$17,333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$18,977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$18,977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$-14,068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$62,812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$54,289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$9,400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$-878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$66,966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$66,966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$-16,585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$28,602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$28,602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$-26,187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$194,691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$168,835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$9,400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$16,456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$-56,841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$195K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$194,691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$168,835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57%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$168,835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$56,841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Cornerstone Agency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PA  |  City: Lancaster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$192,645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$114,224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$41,532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$36,889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$-154,757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$378,175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$331,482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17.5%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$167,511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$61,864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$35,648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$11,108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$15,108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$-15,418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$12,698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$11,561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$-324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$60,267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$29,843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$30,423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$-56,472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$38,714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$37,173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$1,541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$-12,379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$19,102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$19,102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$-70,165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$192,645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$114,224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$41,532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$36,889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$-154,757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31.2%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$239K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$193K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$192,645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$114,224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135% of new business ($154,757)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51%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$114,224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$154,757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Truczone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NJ  |  City: Burlington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$191,031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$161,601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$12,163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$17,266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$-23,747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$323,654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$462,625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$179,322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$229,540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$1,051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$1,051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$19,077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$12,163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$6,914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$62,695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$62,841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$-2,760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$69,001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$62,785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$6,216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$-20,988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$39,207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$35,975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$3,232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$191,031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$161,601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$12,163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$17,266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$-23,747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45.5%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$-1,185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$-172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$39K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$191K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$191,031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$161,601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$161,601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Sammy Brokerage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NY  |  City: Astoria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$177,241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$127,294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$19,748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$30,198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$-73,817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$269,001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$268,346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$46,181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$152,388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$77,524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$77,524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$-37,836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$10,216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$10,216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$33,936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$33,936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$-35,981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$34,522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$28,728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$19,748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$-13,954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$21,043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$21,043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$177,241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$127,294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$19,748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$30,198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$-73,817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$-11,888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$-257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$109K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$177,241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$127,294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58% of new business ($73,817)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$127,294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$73,817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My General Agent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NY  |  City: Brooklyn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$168,217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$122,721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$45,496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$-2,016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$317,777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$367,105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$173,359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$46,674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$17,778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$28,896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$75,560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$25,782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$49,777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$-470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$39,246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$18,887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$20,359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$13,686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$34,332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$-20,646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$-1,546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$-6,949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$25,942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$-32,891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$168,217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$122,721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$45,496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$-2,016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30.8%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17.6%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$-6,949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$168,217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$122,721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151%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$122,721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Tamarez Group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Northeast  |  State: PA  |  City: Philadelphia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$166,069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$98,131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$27,652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$40,286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$-152,584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$861,891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$959,320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$187,682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$30,437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$17,740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$12,697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$-23,024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$30,600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$27,652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$2,948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$-35,018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$86,474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$64,892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$21,582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$-21,095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$18,573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$15,499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$3,074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$-51,601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$-21,846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$166,069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$98,131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$27,652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$40,286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$-152,584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15.4%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216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$-7,923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$86K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$-12,614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$166,069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$98,131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155% of new business ($152,584)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$98,131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$152,584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Angle Associates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PA  |  City: Philadelphia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$152,780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$103,624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$49,156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$-94,675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$126,954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$279,734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100%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$62,868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$22,973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$18,162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$4,810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$-16,356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$54,997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$35,433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$19,564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$1,295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$1,295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$26,136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$26,136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$-5,908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$47,380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$23,894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$23,486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$-72,411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$152,780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$103,624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$49,156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$-94,675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$153K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$152,780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$103,624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91% of new business ($94,675)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$103,624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$94,675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Rpk Professional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Northeast  |  State: NY  |  City: Brooklyn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$147,884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$115,496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$37,270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$-4,882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$-289,370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$1,332,358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$922,221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$103,272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$10,739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$43,526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$-32,787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$-15,404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$119,469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$71,970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$18,457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$29,041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$-18,457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$-23,474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$-23,474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$-165,549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$23,527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$23,527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$-50,677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$17,624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$18,813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$-1,189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$-39,283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$147,884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$115,496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$37,270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$-4,882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$-289,370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10.9%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228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$119K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$-23,474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$558K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$148K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$147,884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$115,496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2.0% hit ratio on 200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251% of new business ($289,370)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(200 subs, only 4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$115,496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Bolanos Commercial Enterprise,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Northeast  |  State: MD  |  City: Frederick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$134,803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$89,017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$39,690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$6,096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$-110,906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$1,014,499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$657,439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$67,449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$137,231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$44,214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$32,156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$19,029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$-6,971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$-15,459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$45,755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$47,125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$2,475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$-3,845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$-22,818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$11,568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$11,568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$-34,637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$37,861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$9,737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$18,186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$9,939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$-37,991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$-4,595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$-4,595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$134,803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$89,017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$39,690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$6,096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$-110,906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12.9%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252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$91K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$-4,595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$492K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$134,803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$89,017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125% of new business ($110,906)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112%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$89,017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$110,906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Anthony DeBellis Agency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NJ  |  City: Hackensack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$114,979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$35,480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$51,211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$28,287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$-115,524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$518,680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$337,221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$14,382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$27,235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$16,924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$4,864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$12,060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$-13,196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$16,582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$16,606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$-885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$62,665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$14,010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$46,146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$2,509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$-49,922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$13,743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$13,743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$5,066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$5,066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$-51,521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$114,979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$35,480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$51,211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$28,287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$-115,524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$110K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$88K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$296K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$114,979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$35,480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326% of new business ($115,524)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63%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$35,480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$115,524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Hilb Group of New Jersey,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NJ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$103,607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$106,541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$-2,934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$-16,592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$161,901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$224,514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$81,021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$41,481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$41,481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$-16,592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$66,301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$65,061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$1,240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$-3,964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$-3,964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$103,607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$106,541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$-2,934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$-16,592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$107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$-210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$-3,964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$103,607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$106,541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106%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$106,541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Great Agency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NY  |  City: Brooklyn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$87,734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$24,467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$49,617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$13,651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$-22,858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$351,379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$181,770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$135,114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$69,860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$37,649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$24,467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$13,182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$33,956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$33,625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$-22,858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$15,992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$15,992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$87,734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$24,467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$49,617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$13,651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$-22,858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317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$138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$57K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$98K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$257K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$87,734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$24,467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93% of new business ($22,858)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53%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$24,467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$22,858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Namarta Tirath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PA  |  City: Upper Darby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$81,474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$59,108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$22,366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$-39,714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$379,856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$337,302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$48,872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$17,866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$16,913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$953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$22,719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$22,699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$40,889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$19,497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$21,393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$-21,393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$-18,321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$81,474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$59,108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$22,366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$-39,714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$124K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$81,474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$59,108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67% of new business ($39,714)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$59,108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$39,714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Legacy Insurance Solutions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VA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$80,746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$27,450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$53,296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$-168,970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$670,132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$651,043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$37,812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$34,665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$65,291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$27,450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$37,841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$-35,227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$-35,289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$9,931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$9,931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$-85,711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$1,148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$1,148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$-8,367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$4,376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$4,376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$-4,376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$80,746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$27,450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$53,296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$-168,970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$65K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$80,746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$27,450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616% of new business ($168,970)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$27,450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$168,970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Source One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MD  |  City: Glen Burnie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$79,650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$73,808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$5,842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$-7,780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$230,065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$131,854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$24,996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$-3,997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$9,168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$9,168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$-478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$22,229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$18,924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$3,305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$-3,305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$47,703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$45,166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$2,537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$79,650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$73,808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$5,842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$-7,780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15.4%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$48K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$79,650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$73,808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$73,808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Momentum is building - premium grew MoM. Keep the energy going: "Things are moving in the right direction. What do you need from me to keep this pace up?"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Jezaj Enterprise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VA  |  City: Fairfax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$73,389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$76,867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$-3,478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$-21,392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$189,370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$262,759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$45,101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$21,714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$24,549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$-2,835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$-20,850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$51,552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$51,768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$-542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$73,389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$76,867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$-3,478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$-21,392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$-427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$73,389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$76,867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$76,867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Momentum is building - premium grew MoM. Keep the energy going: "Things are moving in the right direction. What do you need from me to keep this pace up?"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ASAP Insurance Brokerage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NY  |  City: Melville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$72,036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$72,222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$-23,042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$194,438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$103,067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$33,365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$25,853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$26,039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$46,184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$46,184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$-23,042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$72,036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$72,222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$-186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$-23,042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$72,036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$72,222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Their $72,222 in renewals shows they trust our product. Ask: "What's holding back new submissions?" They may need updated appetite info or a refresher on our quoting process.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Merit Insurance Services,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NJ  |  City: Marlton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$57,089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$53,623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$3,466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$-6,027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$345,672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$155,265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$20,424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$68,946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$-2,538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$-2,538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$53,692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$53,623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$6,027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$6,027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$-6,027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$57,089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$53,623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$3,466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$-6,027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$-2,538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$-80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$57,089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$53,623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2.8% hit ratio on 108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101%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(108 subs, only 3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$53,623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YZ Financial Services and Insurance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NY  |  City: Melville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$44,175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$31,735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$12,439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$-117,995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$189,833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$227,872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$31,735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$29,857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$17,581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$12,276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$-88,700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$-15,606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$14,317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$14,154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$-13,689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$44,175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$31,735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$12,439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$-117,995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$44,175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$31,735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372% of new business ($117,995)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$31,735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$117,995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One Stop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NJ  |  City: Edgewater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$40,445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$15,160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$25,285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$-58,920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$391,385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$313,656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$104,470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$18,817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$15,160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$3,657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$-14,666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$894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$894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$20,734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$20,734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$-38,975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$-3,736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$-1,543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$40,445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$15,160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$25,285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$-58,920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$894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$74K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$40,445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$15,160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389% of new business ($58,920)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45 to 16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$15,160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$58,920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Cavallino Risk Management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NY  |  City: Huntington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$37,885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$30,204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$7,681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$-28,385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$388,331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$249,226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$12,226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$65,389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$18,430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$7,548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$10,882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$-7,977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$-7,977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$-28,385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$11,038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$11,038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$12,406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$17,505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$-5,099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$3,987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$5,151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$-1,164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$37,885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$30,204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$7,681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$-28,385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224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$-7,977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$37,885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$30,204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94% of new business ($28,385)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68%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$30,204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$28,385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My Compass Group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New York  |  City: Bohemia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$34,966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$34,940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$-32,097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$513,043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$155,523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$22,363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$34,940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$34,940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$-21,106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$-2,051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$-8,940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$34,966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$34,940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$-32,097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233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$110K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$-56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$392K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$34,966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$34,940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Cornerstone Insurance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NY  |  City: Lincoln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$20,388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$17,780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$7,969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$-5,361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$-203,053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$1,353,382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$893,695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$107,645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$227,914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$-2,844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$-6,869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$-26,090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$-1,699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$-1,699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$-167,362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$-2,601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$3,236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$3,236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$21,724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$13,755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$7,969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$20,388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$17,780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$7,969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$-5,361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$-203,053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309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416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337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$104K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$-2,844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$-1,699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$-30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$480K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$20,388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$17,780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1142% of new business ($203,053)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94 to 28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$17,780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$203,053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Njh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NJ  |  City: Clifton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$10,401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$8,862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$1,100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$-23,636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$134,101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$46,731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22.2%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$2,750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$6,112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$-23,209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$2,089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$1,100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$439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$2,262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$2,262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$-426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$10,401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$8,862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$1,100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$439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$-23,636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$10,401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$8,862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267% of new business ($23,636)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$8,862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$23,636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Dorfman Organization, Ltd.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NY  |  City: Brooklyn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$3,701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$21,377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$-17,675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$501,611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$479,794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$7,728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$7,728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$14,097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$21,377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$-7,279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$-18,124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$-18,124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$3,701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$21,377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$-17,675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$-18,124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$3,701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$21,377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229%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5 recent quotes and review together. Ask: "Which of these were closest to binding?" Offer to re-quote or adjust terms on the most promising ones.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Prestige Insurance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Northeast  |  State: Virginia  |  City: Sterling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$-9,291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$-9,291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$192,903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$161,139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-4%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$45,210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$-6,780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$-6,780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$-2,511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$-2,511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$-9,291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$-9,291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$-6,780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$-3,919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$-2,511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$-9,291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9.1% hit ratio - above average conversion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 submissions - highly active agency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Negative written premium ($-9,291) - cancellations exceed production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