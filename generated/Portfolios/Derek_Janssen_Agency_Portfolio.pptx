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5CF6"/>
                </a:solidFill>
                <a:latin typeface="Segoe UI"/>
              </a:defRPr>
            </a:pPr>
            <a:r>
              <a:t>COVER WHALE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Derek Janssen - Agency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B5FD"/>
                </a:solidFill>
                <a:latin typeface="Segoe UI"/>
              </a:defRPr>
            </a:pPr>
            <a:r>
              <a:t>Jan–May 2026  |  Generated May 19, 2026  |  53 Agencies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Derek Janssen - Portfolio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53 Total Agencies  |  53 Active  |  0 Inactive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Agencies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4708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(YTD)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6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$31,132,602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66944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$16,485,118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76872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$7,892,389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$6,755,095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9672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$-10,978,985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17270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708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996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Binds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57016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5.8%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66944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2087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76872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Binds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15183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Subs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851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Binds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$74,968,705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08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$74,669,682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57016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$89,962,446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Annual Goal (40%)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66944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35%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$14,979,325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$18,100,067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Bound Prem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9672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41.8%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Retention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514600"/>
            <a:ext cx="7863840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5328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TOP AGENCIES BY YTD GWP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862072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79" y="2862072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286207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 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862072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Renewals $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8620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26664"/>
            <a:ext cx="7498079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08152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Safeline Insurance Agency, Inc.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79" y="3081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$4,326,352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3081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$2,401,876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081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$694,897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3081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649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463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081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10.2%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27355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28269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79" y="328269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$3,698,958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28269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$2,278,791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328269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$688,050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328269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6038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3897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328269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1.9%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48386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United Advantage Insurance Services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79" y="348386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$3,575,165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31920" y="348386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$2,288,670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348386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$386,654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348386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2887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348386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5.5%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675888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368503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Cascade Insurance Services Inc Dba: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6079" y="368503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$2,849,761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36850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$1,309,751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6320" y="36850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$1,016,562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0" y="36850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644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2280" y="368503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11.0%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38862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Jagdeep Singh Insurance Agency, Inc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26079" y="38862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$2,715,667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31920" y="38862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$845,078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46320" y="388620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$1,374,237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0" y="38862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974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12280" y="388620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6.5%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4078224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408736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Vintage Insurance Agency Inc (The)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6079" y="408736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$1,780,809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0873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$554,806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46320" y="408736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$682,819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0" y="408736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1792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12280" y="40873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25.7%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428853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Sedge Insurance Agency Llc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26079" y="428853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$1,108,449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31920" y="428853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$784,882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46320" y="428853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0" y="428853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12280" y="428853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1520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7.2%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4480560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60" y="44897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Ewall Insurance Company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26079" y="448970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$987,921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448970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$560,643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46320" y="448970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$339,381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69280" y="44897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839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1792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12280" y="448970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1520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10.5%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469087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Surefire Insurance Agency Corp.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926079" y="469087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$843,963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31920" y="46908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$225,531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46320" y="46908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$260,234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69280" y="46908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1792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12280" y="469087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1520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23.6%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60" y="4882896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5760" y="48920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Call Patty Insurance Services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26079" y="489204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$738,293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48920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$238,000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463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$437,382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69280" y="48920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1792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12280" y="48920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1520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7.8%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5760" y="509320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Limosa Insurance Services Inc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926079" y="509320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$617,079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931920" y="50932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$567,496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46320" y="509320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69280" y="509320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21792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12280" y="509320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1520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4.7%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65760" y="528523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65760" y="52943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Dts Insurance Services Inc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926079" y="529437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$510,624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31920" y="529437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$264,235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46320" y="529437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$147,797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69280" y="529437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1792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12280" y="52943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31520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9.9%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229600" y="2514600"/>
            <a:ext cx="3749039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321040" y="25328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MONTHLY SUMMARY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27532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732520" y="2862072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509760" y="286207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241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74420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20140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275320" y="3026664"/>
            <a:ext cx="3566160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27532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732520" y="308152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$19,845,658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509760" y="3081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$4,479,627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24128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4326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74420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472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20140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10.9%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27532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732520" y="333756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$18,191,022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509760" y="33375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$3,037,254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24128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3888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74420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424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20140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10.9%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7532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732520" y="3593592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$19,883,786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509760" y="359359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$3,175,810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24128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4102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74420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456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20140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27532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732520" y="3849624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$17,891,147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509760" y="384962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$3,653,804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24128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4338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74420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442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20140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10.2%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27532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732520" y="410565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$9,188,275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509760" y="41056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$2,138,622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24128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2375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74420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216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20140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275320" y="4325112"/>
            <a:ext cx="356616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27532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732520" y="436168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$31,132,602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509760" y="43616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$16,485,118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24128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17270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74420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996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20140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OKR Scoreboard — Derek Janssen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BDM OKRs  |  Q2 measure (paced where applicable)  |  Matches BD Rep Scoreboard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960120"/>
            <a:ext cx="3200400" cy="1371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033271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  <a:latin typeface="Segoe UI"/>
              </a:defRPr>
            </a:pPr>
            <a:r>
              <a:t>85.6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5910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7280"/>
                </a:solidFill>
                <a:latin typeface="Segoe UI"/>
              </a:defRPr>
            </a:pPr>
            <a:r>
              <a:t>COMPOSITE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8653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Segoe UI"/>
              </a:defRPr>
            </a:pPr>
            <a:r>
              <a:t>Green ≥ 70  |  Amber 45-69  |  Red &lt; 45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60120"/>
            <a:ext cx="91440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051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07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Subs YoY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733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≥+100%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C2626"/>
                </a:solidFill>
                <a:latin typeface="Segoe UI"/>
              </a:defRPr>
            </a:pPr>
            <a:r>
              <a:t>+43%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4028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240280"/>
            <a:ext cx="91440" cy="1188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587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Activity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9535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 100% (40/wk)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4231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59669"/>
                </a:solidFill>
                <a:latin typeface="Segoe UI"/>
              </a:defRPr>
            </a:pPr>
            <a:r>
              <a:t>155%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2044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520440"/>
            <a:ext cx="91440" cy="1188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611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8679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Portfolio Active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233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53 of 53 agencies  |  Goal 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703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59669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0060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800600"/>
            <a:ext cx="91440" cy="1188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1480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New Producing Agencies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5138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Q2 Activated Won  |  Goal ≥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983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59669"/>
                </a:solidFill>
                <a:latin typeface="Segoe UI"/>
              </a:defRPr>
            </a:pPr>
            <a:r>
              <a:t>5 of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OKR 1: Q2 paced subs YoY — current Q2-YTD subs ÷ days-elapsed × 91 vs prior full Q2 (Apr–Jun 2025)  |  OKR 2: Q2 avg weekly calls + meetings vs 40/wk goal (outbound calls + meetings only, matches scoreboard)  |  OKR 3: % of HubSpot book with ≥1 submission in 2026  |  OKR 4: Q2 Activated-Won NNA deals with `Appointed - ` prefix, owned by this BDM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BD Activity  —  Derek Janssen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 |  Calls + Meetings  |  Weekly goal: 40 activities  |  Colored arrow = month-over-month trend vs prior complete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671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112 ▼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Meetings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783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40.7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/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102%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 (40/wk)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1–10  (Jan–Mar)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1/5–1/11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4328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52%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1/12–1/18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28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24328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68%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01768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" y="265176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160" y="265176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1/19–1/25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928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24328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930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4528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01768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" y="2894076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7160" y="2894076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1/26–2/1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928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24328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930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145%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01768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" y="313639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37160" y="313639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2/2–2/8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928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24328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930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24528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68%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01768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" y="337870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7160" y="337870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6888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2/9–2/15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928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24328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930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4528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5%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01768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37160" y="362102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7160" y="362102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6888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2/16–2/22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928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24328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30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24528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8%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01768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7160" y="386334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" y="386334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46888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2/23–3/1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928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24328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930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32%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01768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7160" y="410565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7160" y="410565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3/2–3/8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928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24328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930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24528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45%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01768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37160" y="434797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37160" y="434797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6888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3/9–3/15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928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24328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930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24528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50%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01768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99632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09360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11–20  (Mar–May)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09360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9552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686800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5554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287000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064240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245352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199632" y="2167128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199632" y="2167128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09360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3/16–3/22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9552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686800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5554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287000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90%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064240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199632" y="2409444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199632" y="2409444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309360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3/23–3/29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552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86800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5554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70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287000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175%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064240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199632" y="2651760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199632" y="2651760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09360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3/30–4/5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86800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87000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225%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064240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99632" y="2894076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199632" y="2894076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309360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4/6–4/12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9552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86800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5554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89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287000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222%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064240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199632" y="3136392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199632" y="3136392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309360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4/13–4/19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9552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686800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554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287000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145%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064240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199632" y="3378708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199632" y="3378708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309360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4/20–4/26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9552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686800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5554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287000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168%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064240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99632" y="3621024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99632" y="3621024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309360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4/27–5/3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9552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686800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5554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287000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158%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064240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199632" y="3863340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199632" y="3863340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09360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5/4–5/10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9552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686800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5554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287000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108%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064240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199632" y="4105656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199632" y="4105656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309360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5/11–5/17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9552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686800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5554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287000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132%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1064240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199632" y="434797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199632" y="434797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309360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5/18–5/19*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9552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686800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5554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287000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25%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1064240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HubSpot CRM  |  Calls + meetings only (emails excluded)  |  * = current/partial 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Submission Growth  —  Derek Janssen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vs 2025  |  Green = growth  |  Red = decline  |  Hit ratio = binds / submissions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16090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Submissions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993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Binds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6.2%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-14.4%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Subs YOY vs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-58.3%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 YOY vs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21208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MONTHLY BREAKDOWN  —  2026 vs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Subs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656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Binds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4056" y="193852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2025 Subs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0566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57984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20370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3,447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9656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4056" y="2203704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3,240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51917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3,010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9656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4056" y="2519172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3,164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788920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83464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3,308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19656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34056" y="283464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4,146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-20%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315010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4,033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19656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34056" y="31501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6.6%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4,203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419856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46557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2,292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19656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4056" y="346557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8.5%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4,040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0248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-43%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" y="3717036"/>
            <a:ext cx="5120640" cy="914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76275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16,090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9656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993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34056" y="3762756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5848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18,793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0248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-14%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23560" y="1600200"/>
            <a:ext cx="64008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33288" y="1636776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AGENCIES BY SUBMISSION VOLUME  —  YTD Ranked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33288" y="193852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679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YTD Subs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36608" y="1938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5956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91088" y="193852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0" y="2112264"/>
            <a:ext cx="59710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23560" y="216712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33288" y="218541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67928" y="218541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6,038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36608" y="218541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113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59568" y="218541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1.9%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91088" y="218541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-477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33288" y="24414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United Advantage Insurance Services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67928" y="244144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2,887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36608" y="244144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158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59568" y="24414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5.5%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91088" y="244144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+907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23560" y="267919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33288" y="269748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Jagdeep Singh Insurance Agency, Inc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67928" y="269748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1,231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36608" y="269748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59568" y="269748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6.5%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269748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-362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33288" y="295351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Ewall Insurance Company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67928" y="295351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839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36608" y="29535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88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59568" y="29535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10.5%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91088" y="295351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-432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23560" y="319125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33288" y="320954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Safeline Insurance Agency, Inc.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67928" y="320954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649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436608" y="320954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59568" y="320954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10.2%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91088" y="320954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+35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33288" y="346557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Cascade Insurance Services Inc Dba: Ca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67928" y="346557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644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436608" y="346557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259568" y="346557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11.0%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991088" y="346557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+61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623560" y="3703320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733288" y="372160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Call Patty Insurance Services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67928" y="372160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411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436608" y="37216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259568" y="372160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7.8%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91088" y="372160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-286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733288" y="397764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All Solutions Insurance Agency, L.l.c.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67928" y="397764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303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436608" y="397764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59568" y="397764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16.2%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991088" y="397764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+209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23560" y="4215384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33288" y="423367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Limosa Insurance Services Inc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67928" y="423367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255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36608" y="423367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259568" y="423367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4.7%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91088" y="423367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+255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33288" y="448970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Patriot Financial Services Inc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567928" y="448970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36608" y="448970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259568" y="448970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991088" y="448970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+7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623560" y="472744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733288" y="47457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Lion Insurance Services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67928" y="474573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225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36608" y="47457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259568" y="474573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4.4%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91088" y="474573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-50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733288" y="500176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Sedge Insurance Agency Llc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567928" y="500176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223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436608" y="500176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259568" y="500176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7.2%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991088" y="500176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+220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623560" y="523951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733288" y="525780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Insuremart Inc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67928" y="525780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211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436608" y="525780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259568" y="525780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3.3%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991088" y="525780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-12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733288" y="551383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Power Commercial Insurance Brokers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567928" y="551383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208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436608" y="551383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259568" y="551383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991088" y="551383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-333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623560" y="575157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733288" y="576986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Vintage Insurance Agency Inc (The)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567928" y="576986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191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436608" y="576986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259568" y="576986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25.7%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991088" y="576986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+13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733288" y="60258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Saint George Insurance Brokerage, Inc.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567928" y="602589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190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436608" y="602589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259568" y="60258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3.7%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91088" y="602589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+58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Totals match Sales Scoreboard: Q1 → Q1 owner, Q2+ → current owner, 2025 baseline → current owner  |  Hit ratio = binds / submissions  |  Right-panel agency table shows current portfolio  |  Green ≥ 8%  Red &lt; 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Derek Janssen  |  53 Total Agencies  |  Jan–May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0424160" cy="3291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1430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1430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1430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79" y="11430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Cancel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5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9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3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799" y="11430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499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149961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$19,845,658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49961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$4,479,627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499616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$528,182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14996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$-2,236,465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4,326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9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3,141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799" y="149961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10.9%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773936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1828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18288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$18,191,022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18288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$3,037,254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18288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$1,245,496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79" y="1828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$-2,562,773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5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3,888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09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2,807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3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424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799" y="18288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10.9%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1579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21579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$19,883,786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215798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$3,175,810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215798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$1,928,146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79" y="21579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$-2,576,798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5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4,102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09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2,916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3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456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799" y="215798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432303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24871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24871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$17,891,147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24871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$3,653,804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248716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$2,744,075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79" y="24871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$-2,672,897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5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4,338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09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3,241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3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442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799" y="248716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10.2%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281635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2816351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$9,188,275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281635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$2,138,622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2816351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$1,446,490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79" y="281635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$-930,052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5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2,375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09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1,742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3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216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799" y="2816351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090671"/>
            <a:ext cx="10424160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316382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0240" y="316382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$84,999,888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37560" y="3163823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$16,485,118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3163823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$7,892,389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97879" y="316382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$-10,978,985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865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19,029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009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13,847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153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2,010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29799" y="3163823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10.6%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3611879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Green = up vs prior month  |  Red = down vs prior month or negative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DSG In My Portfolio — Derek Janssen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Dirt, Sand &amp; Gravel program performance across this bdm's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586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DSG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BOUND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$796,297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GROSS WRITTEN PREM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59669"/>
                </a:solidFill>
                <a:latin typeface="Segoe UI"/>
              </a:defRPr>
            </a:pPr>
            <a:r>
              <a:t>3.9%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13385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DSG ACTIVITY BY AGENCY (top 8 by submissions)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Declined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6700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44368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8094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United Advantage Insurance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9809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$96,590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9183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2918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66159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60273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Safeline Insurance Agency, Inc.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0273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$136,077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13631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Saint George Insurance Brokerage, Inc.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9136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$11,691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87951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224527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Ewall Insurance Company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22452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$3,719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535423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Call Patty Insurance Services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53542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$57,066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809743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84631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SBS Insurance Services Inc dba Smarter Truck Insurance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48463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15721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Infinite Risk Management And Insurance Solutions Inc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376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0392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515721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9436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States with DSG bound business in this book: CA, NV, PA, TX, 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Fleet In My Portfolio — Derek Janssen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Fleet business (4+ power units) across this bdm's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3,634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947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$127,582,236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GWP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UNITS / SUB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69494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6766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BY AGENCY (top 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44368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809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1,272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$17,616,845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Safeline Insurance Agency, Inc.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40.8%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$24,783,534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66159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0273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Jagdeep Singh Insurance Agency, Inc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369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$21,051,281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9136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United Advantage Insurance 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$6,032,087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187951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2245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CASCADE INSURANCE SERVICES INC DBA: CASCAD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32.9%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$7,306,859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53542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Surefire Insurance Agency Corp.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$14,979,080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809743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8463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Sedge Insurance Agency LLC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45.7%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$8,556,284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15721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Ewall Insurance Company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26.4%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$839,410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89520" y="2286000"/>
            <a:ext cx="42062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99248" y="2322576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SIZE MIX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2670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4-5 units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2670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1679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04120" y="26700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(46%)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8096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6-10 units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3035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1308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4120" y="30358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(36%)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0" y="3401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11-25 units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98280" y="3401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621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04120" y="34015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(17%)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80960" y="3767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26-50 units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98280" y="3767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04120" y="37673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(1%)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13308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51+ units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98280" y="413308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04120" y="413308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(0%)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12648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Bind rate on fleet: 26.1%  ·  Declined: 776  ·  Source: cw_rep.transportation_submissions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Agency Producers — Derek Janssen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Individual agents ranked by YTD submissions  |  Agent = broker_contact on submission  |  Trend = MoM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17270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Subs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9464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996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Binds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8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5.8%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Portfolio Hit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42631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269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29215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40%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5 Agent Share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AGENTS BY SUBMISSIONS  —  Ranked 1–18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Cecile Awad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1368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United Advantage Insurance 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2627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API_USER API_USER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1368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Insurabrite Insurance 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2041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3248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Ateetpal Bansal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1368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Jagdeep Singh Insurance Agency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016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866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88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3248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Raul Fernandez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01368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Ewall Insurance Company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016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671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452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10.6%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13248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Anahit Grigoryan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01368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Cascade Insurance Services Inc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3016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642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888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13248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Patricia Galindoparedes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01368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Call Patty Insurance Services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3016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2452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1888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7.6%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13248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6888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ARUNDEEP SINGH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01368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Jagdeep Singh Insurance Agency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3016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2452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1888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13248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888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LARISA DAVTYAN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01368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Safeline Insurance Agency, Inc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3016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318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2452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1888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11.9%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13248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7160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6888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RAJNI KAPUR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01368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All Solutions Insurance Agency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3016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2452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1888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16.0%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13248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6888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Gayane Yeghiazaryan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01368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Limosa Insurance Services Inc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3016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255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1888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4.7%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13248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7160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Christopher Murphy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01368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3016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2452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1888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13248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6888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Tigran Vardanyan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01368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Lion Insurance Services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3016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225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2452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1888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4.4%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13248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37160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46888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Stephen Morgan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01368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3016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223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2452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1888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1.3%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13248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46888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Sapna Kharbanda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01368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Sedge Insurance Agency Llc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3016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223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2452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1888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7.2%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13248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37160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46888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Ryan Johnson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801368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3016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213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2452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1888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0.5%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13248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46888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Hakim Kabir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01368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Power Commercial Insurance Bro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3016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208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2452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1888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13248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37160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46888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Khalid Salama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801368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United Advantage Insurance Ser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63016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197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22452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81888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7.6%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413248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46888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No Name Given Ankush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801368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Vintage Insurance Agency Inc (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63016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191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22452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1888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25.7%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13248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245352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355080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CONTINUED  —  Ranked 19–36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55080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909560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3836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33272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92708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521440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291072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245352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55080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Marie Borja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909560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Patriot Financial Services Inc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73836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188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33272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92708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521440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355080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Harmeet Singh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909560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Northdale Insurance Agency, In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73836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159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33272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92708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6.3%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521440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245352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355080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John Leichner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909560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73836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137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33272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2708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0.7%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521440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355080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Spencer DuBose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909560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73836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134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33272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92708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0.7%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521440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245352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355080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IBRAHIM MAMMO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909560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Surefire Insurance Agency Corp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73836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131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33272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92708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24.4%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521440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355080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Michelle Malkhasyan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909560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Truck Secure Insurance Service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73836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130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33272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92708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521440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245352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355080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Clifton Waterbury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909560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3321 Group L.l.c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73836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129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33272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92708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8.5%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1521440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355080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Harman Tiwana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909560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Tiwana Insurance Solutions, In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73836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125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33272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092708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9.6%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1521440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245352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355080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Erik Zargaryan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909560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Safeline Insurance Agency, Inc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973836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121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33272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92708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1521440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355080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Elizabeth Rodriguez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909560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Elizabeth'S Insurance Services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73836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121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33272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92708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4.1%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1521440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6245352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6355080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Luiza Ter-Abramyan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909560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Safeline Insurance Agency, Inc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73836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118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033272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092708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9.3%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1521440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355080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Benjamin Zimunya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909560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973836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114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33272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92708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0.9%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1521440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245352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355080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Damandeep Khokhar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909560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Dts Insurance Services Inc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73836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033272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092708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9.9%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1521440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355080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NICOLE GUINN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909560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973836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105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033272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92708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1.9%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1521440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6245352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355080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Josh Seaton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909560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973836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033272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092708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1521440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355080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Christina Hinson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909560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973836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033272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092708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1521440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245352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355080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Muhammad Ali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909560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973836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033272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092708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3.3%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1521440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6355080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Jessica Gonzalez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909560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Ewall Insurance Company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73836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87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33272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092708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14.9%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1521440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74320" y="6510528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Agent = broker_contact_user_id on submission record  |  Hit ratio = binds / subs  |  MoM = month-over-month  |  4 subs had no agent mapped (broker_contact_user_id not set)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Top Performers vs Underperformers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Standouts and agencies needing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EXCEEDING — Top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6792" y="914400"/>
            <a:ext cx="548640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— Bottom 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United Advantage Insurance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$3,575,165  |  Subs 2887  |  Binds 158  |  HR 5.5%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$3,575,165 YTD GWP  |  158 binds in 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7744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$3,698,958  |  Subs 6038  |  Binds 113  |  HR 1.9%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$3,698,958 YTD GWP  |  113 binds in Q1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38328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Safeline Insurance Agency, Inc.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$4,326,352  |  Subs 649  |  Binds 66  |  HR 10.2%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10.2% (portfolio avg: 5.8%)  |  $4,326,352 YTD GWP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8912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Jagdeep Singh Insurance Agency, Inc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$2,715,667  |  Subs 1231  |  Binds 80  |  HR 6.5%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6.5% (portfolio avg: 5.8%)  |  $2,715,667 YTD GWP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39496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Cascade Insurance Services Inc Dba: Cascad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$2,849,761  |  Subs 644  |  Binds 71  |  HR 11.0%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11.0% (portfolio avg: 5.8%)  |  $2,849,761 YTD GWP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82512" y="137160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Insurabrite Insurance Services Llc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$81,186  |  Subs 22  |  Binds 2  |  HR 9.1%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Cancellations are 3956% of new business ($177,887 vs $4,497)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82512" y="237744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Davis &amp; Associates Insurance Agency LLC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$-821  |  Subs 92  |  Binds 0  |  HR 0.0%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92 submissions with 0 binds - zero conversion  |  Negative net written premium: $-821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338328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Beehive Insurance Agency Inc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$96,353  |  Subs 36  |  Binds 0  |  HR 0.0%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36 submissions with 0 binds - zero conversion  |  Submissions dropped 75% MoM (8 -&gt; 2)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438912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SBS Insurance Services Inc dba Smarter Tru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$67,738  |  Subs 167  |  Binds 9  |  HR 5.4%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Cancellations are 286% of new business ($42,102 vs $14,701)  |  Submissions dropped 68% MoM (65 -&gt; 21)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2512" y="539496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Surefire Insurance Agency Corp.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9712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$843,963  |  Subs 140  |  Binds 33  |  HR 23.6%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Cancellations are 151% of new business ($339,569 vs $225,531)  |  Submissions dropped 77% MoM (66 -&gt; 15)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Agencies I Appointed — Derek Janssen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OKR 4 progress  |  Q2 goal: 4 new producing agencies  |  Source: HubSpot Net New Agency / Activated Won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59669"/>
                </a:solidFill>
                <a:latin typeface="Segoe UI"/>
              </a:defRPr>
            </a:pPr>
            <a:r>
              <a:t>5 of 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Q2 OKR 4 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APPOINTED YTD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SUB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BIND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SUBS POST-APPT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Segoe UI"/>
              </a:defRPr>
            </a:pPr>
            <a:r>
              <a:t>Activation: 0/9 appointed agencies have submitted (0%)  •  0/9 have bound (0%)  •  Total bound: 0  •  Total GWP: $0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2768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APPOINTED AGENCIES (newest first)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060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060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Appointed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6060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Sub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Bind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80360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9169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Jd Fulwiler &amp; Co Insurance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9169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9169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29169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1B1B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9169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2278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Melara Insurance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2278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2026-04-29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22783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32278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1B1B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22783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227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27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502151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5387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Tec Equipment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35387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2026-04-26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3538727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35387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1B1B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538727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5387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5387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38496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Amk Insurance Agency, Inc.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3849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2026-04-26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384962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38496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1B1B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384962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38496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38496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123944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4160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Mcdonald &amp; Assoc Ins Agcy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0" y="4160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2026-04-26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0" y="416052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3560" y="4160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1B1B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3720" y="416052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0" y="4160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4160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447141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WHA Insurance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0" y="44714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2026-04-01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0" y="44714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23560" y="44714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1B1B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03720" y="44714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0" y="44714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0" y="44714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745736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47823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Coremark Insurance Services Inc.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0" y="47823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2026-03-18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54880" y="478231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23560" y="47823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1B1B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03720" y="478231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2400" y="4782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0" y="4782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" y="509320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RVA Insurance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0" y="50932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2026-03-16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54880" y="5093207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23560" y="509320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1B1B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03720" y="5093207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0" y="509320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44000" y="509320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5367527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5760" y="540410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Nova Coverage LLC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57600" y="540410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2026-02-26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4880" y="5404103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23560" y="540410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1B1B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03720" y="5404103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72400" y="540410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44000" y="540410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OKR 4 source: HubSpot Net New Agency Prospect Pipeline · Activated Won stage · only 'Appointed - ' prefix deals count (matches BD Rep Scoreboard). BDMs scored on count vs goal of 4/quarter.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Strategic Assessment &amp;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Derek Janssen Portfolio  |  Jan–May 2026  |  Strengths, gaps, and ranked action items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Top 3 (Safeline Insurance Agency, Reliance Partners, Llc, United Advantage Insuranc) drive $11,600,475 (37%) of portfolio YTD GWP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Strong hit ratios: Vintage Insurance Ag (25.7%), Swan Insurance Sales (24.1%), Surefire Insurance A (23.6%)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51 agencies converting submissions to bound business in Jan–May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042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04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17,270 total submissions across 53 active agencies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- Areas for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 agencies submitting but 0 binds (128 subs): Davis &amp; Associates I (92), Beehive Insurance Ag (36)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Low hit ratios need coaching: Reliance Partners, L (1.9%)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26080"/>
            <a:ext cx="1143000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971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TOP STRATEGIC PRIORITIES — Ranked by Estimated Impact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42900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4107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Reduce Cancellation Rates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639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29 agencies with cancellations &gt;40% of new biz: Safeline Insurance Agency, Reliance Partners, Llc, United Advantage Insuranc. $10,101,020 total cancellations - investigate retention.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06908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0507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Improve Low Hit Ratio Agencies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279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 agencies with 20+ subs but &lt;3% HR: Reliance Partners, L (1.9%). Conduct submission quality training to lift conversion 2-3 points.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70916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6908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Develop High-Volume Growth Candidates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919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11 agencies with 30+ subs and some binds but &lt;5% HR: Reliance Partners, L (6038s/113b), Limosa Insurance Ser (255s/12b), Patriot Financial Se (236s/9b). Small HR improvements on large volume = significant premium lift.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34924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330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Scale Top Performers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559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Double down on high-converting agencies: Safeline Insurance Agency, United Advantage Insuranc, Cascade Insurance Service. Increase submission volume 20% through marketing support and referral incentives.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9710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Protect Renewal Book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$7,892,389 in Q1 renewal premium. Proactively engage renewal agencies 60 days pre-expiration to maximize retention.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Recently Bound Submissions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Derek Janssen  |  Last 25 Bound Submissions  |  996 Total Bound in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00584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00584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 (Account)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0058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59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207008"/>
            <a:ext cx="111556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2801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250394801074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280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2801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LOS FREIGHTS LLC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280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Skyler Rogers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$94,020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59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46304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4813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4813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264649095541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148132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Safeline Insurance Agency, Inc.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48132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VERGARA AG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14813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Luiza Ter-Abramyan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$84,430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59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168249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16824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269284363360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168249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Safeline Insurance Agency, Inc.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168249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MISSION HAUL INC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168249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LARISA DAVTYAN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$78,640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59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186537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188366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18836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258489578842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188366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United Advantage Insurance Service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188366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MYX LOGISTICS LLC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188366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Cecile Awad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$131,028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59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20848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20848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265180259284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208483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United Advantage Insurance Service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20848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G&amp;Z TRANSPORTATION INC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0848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Cecile Awad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$43,913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59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226771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2286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2286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251187197916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228600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United Advantage Insurance Service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22860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HUSKY TRANSPORTATION LLC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2286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Cecile Awad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80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$40,679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59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24871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2487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264668598865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248716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United Advantage Insurance Service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00600" y="24871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INNOVATE EXPRESS LLC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248716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Cecile Awad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12680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$48,813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59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267004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26883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268833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252244371732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28800" y="268833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0600" y="268833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A&amp;A TRUCKLINE AND LOGISTICS INC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268833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Jackson Brock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12680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$24,617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338559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288950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288950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251067949048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0" y="288950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California Heritage Insurance Serv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0600" y="288950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GRAND PRIX TRANSPORTATION LLC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28895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DANIEL ZUNIGA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12680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$41,869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38559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07238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309067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3090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267962806649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28800" y="309067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Ewall Insurance Company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600" y="309067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YPV FREIGHT INC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309067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Raul Fernandez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12680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$2,918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338559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3291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400" y="3291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255260771361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28800" y="329184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Call Patty Insurance Services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00600" y="3291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PROUD TO SERVE TRANSPORT INC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35240" y="3291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Patricia Galindoparedes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12680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$15,706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338559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347472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" y="34930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" y="34930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268297213250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28800" y="349300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Empire Company Insurance Services,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800600" y="349300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DIAMOND LANE TRUCKING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35240" y="349300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Jennifer Reimers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12680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$18,213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338559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36941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4400" y="36941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253609647028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28800" y="369417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Freedom Insurance Services Pc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369417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GVS TRUCKING INC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35240" y="369417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Karl Kalantaryan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12680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$48,592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338559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387705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48640" y="389534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" y="38953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252744544566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828800" y="389534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Strong Tie Insurance Services, Inc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800600" y="389534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 D R TRANSPORT LLC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35240" y="389534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MARIA MEZA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12680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$15,163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59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" y="40965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4400" y="40965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254528056730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828800" y="409651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All Solutions Insurance Agency, L.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00600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RAJPUT FREIGHTWAYS INC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35240" y="409651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RAJNI KAPUR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012680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$3,821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338559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16, 2026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" y="427939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48640" y="4297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4400" y="4297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269993111550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28800" y="429768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Sedge Insurance Agency Llc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00600" y="42976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BELTRANS MVP INC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297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Sapna Kharbanda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12680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$59,801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338559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16, 2026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8640" y="44988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261296565874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828800" y="449884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Sedge Insurance Agency Llc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00600" y="44988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BELTRANS MVP INC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635240" y="449884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Sapna Kharbanda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012680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$277,214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338559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16, 2026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57200" y="468172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48640" y="470001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14400" y="47000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263149804016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828800" y="470001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United Advantage Insurance Service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800600" y="470001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ETHAN AND TRANSPORT LLC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635240" y="470001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Cecile Awad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12680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$14,647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338559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15, 2026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490118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14400" y="49011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251029669910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828800" y="490118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United Advantage Insurance Service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800600" y="490118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HAMZA TRUCKING LLC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35240" y="490118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Khalid Salama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012680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$147,612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338559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15, 2026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7200" y="508406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48640" y="51023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14400" y="51023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261714193662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828800" y="510235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United Advantage Insurance Service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800600" y="51023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PEAK TRUCK LINES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635240" y="51023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Cecile Awad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012680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$14,773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338559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15, 2026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48640" y="5303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14400" y="5303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257027768689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828800" y="530352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00600" y="53035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DRIVEN FAMILY BUSINESS LLC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635240" y="53035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Jimmy Deperi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012680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$19,346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1338559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15, 2026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57200" y="548640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48640" y="55046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14400" y="55046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266701178736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828800" y="550468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800600" y="550468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EXPERT TRANSPORTATION LLC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635240" y="55046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Emily Tompkins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012680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$104,554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338559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15, 2026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48640" y="570585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14400" y="570585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254382433576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828800" y="570585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Cascade Insurance Services Inc Dba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800600" y="570585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BIG RIGS LLC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635240" y="570585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Anahit Grigoryan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012680" y="57058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$112,626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338559" y="57058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15, 2026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457200" y="588873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48640" y="590702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14400" y="59070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261118066392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828800" y="590702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Surefire Insurance Agency Corp.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800600" y="590702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USK LLC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635240" y="590702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IBRAHIM MAMMO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012680" y="59070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$28,977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1338559" y="59070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15, 2026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48640" y="61081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14400" y="61081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261025671264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828800" y="610819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Ewall Insurance Company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800600" y="610819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LVS COMPANY LLC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635240" y="610819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Raul Fernandez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012680" y="61081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$949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1338559" y="61081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15, 2026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48640" y="6345936"/>
            <a:ext cx="1115568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48640" y="640080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Total (Last 25 Submissions)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412480" y="6400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$1,472,922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Renewal Watch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Derek Janssen  |  Active in-force policies expiring through Aug 17,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395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$7,312,345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C2626"/>
                </a:solidFill>
                <a:latin typeface="Segoe UI"/>
              </a:defRPr>
            </a:pPr>
            <a:r>
              <a:t>115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EXPIRE ≤30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31-60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61-90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POLICIES EXPIRING (sorted by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591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Exp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591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35915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5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33472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700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Surefire Insurance Agency Corp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6700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255006626940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26700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MXW FREIGHT INC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670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670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6700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$2,747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5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29809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Jagdeep Singh Insurance Agency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9809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253574769325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29809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RBJ FREIGHTWAY LLC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9809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2980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298094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$16,094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5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25526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2918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Jagdeep Singh Insurance Agency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2918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250443968973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32918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PATHAK TRANSPORTATION INC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2918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32918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329183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$226,991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5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360273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360273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251990426945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60273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HEAVENLY TRANSPORT LOGISTICS INC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360273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360273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360273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$13,034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5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VA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77055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91363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Jagdeep Singh Insurance Agency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391363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257884129039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39136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SAILOR FREIGHT INC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391363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391363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5480" y="391363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$19,390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5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42245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Vintage Insurance Agency Inc (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0" y="422452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254238460451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422452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MATHANA TRANSPORT INC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422452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42245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55480" y="422452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$43,642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8135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498847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453542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Insurabrite Insurance Services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0" y="453542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250653147212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31920" y="453542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WMK TRANSLINK INC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0" y="453542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7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58200" y="453542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55480" y="453542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$1,333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88135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484631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0" y="484631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251902237569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8463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FRESH OUT PRODUCE LLC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49440" y="484631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5527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58200" y="48463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55480" y="484631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$13,533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8135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NC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5120639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515721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Power Commercial Insurance Bro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43200" y="515721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250047382626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31920" y="515721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DOUGLAS LOGISTICS LLC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49440" y="515721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5527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58200" y="515721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555480" y="515721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$475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8135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" y="546811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Vintage Insurance Agency Inc (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0" y="546811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258355452621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546811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STAR FREIGHT INC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49440" y="546811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5527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58200" y="546811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55480" y="546811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$45,811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8135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5742431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5760" y="577900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Jagdeep Singh Insurance Agency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43200" y="577900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257308296576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31920" y="577900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JAAP CARRIER INC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49440" y="577900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55279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58200" y="57790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55480" y="577900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$15,694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881359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5760" y="608990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Safeline Insurance Agency, Inc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743200" y="60899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258666162770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608990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SUKHMANI ROADLINE INC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49440" y="608990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955279" y="608990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458200" y="608990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555480" y="608990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$22,345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881359" y="608990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IN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65760" y="636422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65760" y="64007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Call Patty Insurance Services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743200" y="640079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250134896068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931920" y="640079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ALEXIS CASTANEDA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949440" y="640079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79" y="640079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458200" y="64007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640079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$7,726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881359" y="640079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13 of 395 upcoming renewals  |  Source: dw_reader.policy_premium  |  Active in-force only  |  Sorted by expiration date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Pending Cancellations — Save List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Derek Janssen  |  Policies with cancellation_date on or before Aug 17, 2026  |  Sorted by urgency — call these agencies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PENDING CANCEL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$68,514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C2626"/>
                </a:solidFill>
                <a:latin typeface="Segoe UI"/>
              </a:defRPr>
            </a:pPr>
            <a:r>
              <a:t>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DAYS (URGENT)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C2626"/>
                </a:solidFill>
                <a:latin typeface="Segoe UI"/>
              </a:defRPr>
            </a:pPr>
            <a:r>
              <a:t>$68,514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 PREMIUM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D28D9"/>
                </a:solidFill>
                <a:latin typeface="Segoe UI"/>
              </a:defRPr>
            </a:pPr>
            <a:r>
              <a:t>Non Payment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REASON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PENDING CANCELS (sorted by cancel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591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Cancel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35915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3591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LOB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5915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Reason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633472"/>
            <a:ext cx="1143000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670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2670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265679058572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267004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BG CALI TRANSPORT INC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67004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Lion Insurance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670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2670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67004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$4,016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6700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29809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254849369400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2980944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GET LOADED TRUCKING LLC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298094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United Advantage Insurance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29809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29809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PA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298094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$895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29809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55263"/>
            <a:ext cx="1143000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83080" y="32918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256744147851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8920" y="3291839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ALFARHAN TRANSPORTATION LLC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3291839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United Advantage Insurance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329183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329183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3291839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$489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32918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Payment,Insured Broker Reque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83080" y="360273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256744147851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8920" y="3602735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ALFARHAN TRANSPORTATION LLC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4960" y="3602735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United Advantage Insurance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52360" y="3602735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TGL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09560" y="3602735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602735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20" y="360273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Payment,Insured Broker Reque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3877055"/>
            <a:ext cx="1143000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2026-05-19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83080" y="391363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254849369400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88920" y="3913631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GET LOADED TRUCKING LLC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94960" y="3913631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United Advantage Insurance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52360" y="391363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TGL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09560" y="391363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PA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66760" y="3913631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18320" y="391363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2026-05-19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83080" y="422452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256963686127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88920" y="4224527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FURKAN CAN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94960" y="4224527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52360" y="422452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NTL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09560" y="422452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66760" y="4224527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18320" y="42245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4498847"/>
            <a:ext cx="1143000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868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2026-05-19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83080" y="453542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256744147851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88920" y="4535423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ALFARHAN TRANSPORTATION LLC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94960" y="4535423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United Advantage Insurance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52360" y="453542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09560" y="453542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MI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66760" y="4535423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$3,782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418320" y="453542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Payment,Insured Broker Reque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68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2026-05-19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783080" y="484631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254849369400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88920" y="4846319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GET LOADED TRUCKING LLC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94960" y="4846319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United Advantage Insurance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52360" y="484631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909560" y="484631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PA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366760" y="4846319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$5,937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418320" y="484631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65760" y="5120639"/>
            <a:ext cx="1143000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65760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6868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2026-05-19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783080" y="515721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257701081078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788920" y="5157215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 REHMAN BROTHERS TRANS INC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94960" y="5157215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Vintage Insurance Agency In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52360" y="5157215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909560" y="5157215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366760" y="5157215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$51,657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418320" y="515721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Segoe UI"/>
              </a:defRPr>
            </a:pPr>
            <a:r>
              <a:t>Insured Broker Request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65760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68680" y="546811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2026-05-19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783080" y="546811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256963686127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788920" y="5468111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FURKAN CAN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394960" y="5468111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452360" y="546811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909560" y="546811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366760" y="5468111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$848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418320" y="546811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65760" y="5742431"/>
            <a:ext cx="1143000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65760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68680" y="577900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2026-05-19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783080" y="577900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265679058572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788920" y="5779007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BG CALI TRANSPORT INC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394960" y="5779007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Lion Insurance Services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452360" y="577900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909560" y="577900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366760" y="5779007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18320" y="577900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11 of 11 pending cancels  |  Source: dw_reader.policy_premium  |  Non-payment = green (most savable), Insured-requested = red, Days ≤14 = red  |  Action: contact agency, confirm reinstatement plan, escalate non-payment cases for billing fix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Safeline Insurance Agency,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Southwest  |  State: California  |  City: Burbank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$4,326,352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$2,401,876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$694,897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$1,229,580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$-1,712,163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$5,475,695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$8,175,840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66%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$1,088,303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$1,329,756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$2,056,544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$1,581,567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$474,977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$-602,525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$728,018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$409,602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$134,041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$184,375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$-326,252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$564,631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$148,205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$176,137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$240,289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$-295,352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$686,498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$214,611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$366,458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$105,429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$-270,298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$290,662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$47,891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$18,260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$224,510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$-217,736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$4,326,352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$2,401,876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$694,897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$1,229,580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$-1,712,163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19.7%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17.4%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649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579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614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807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$111K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$2.1M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$124K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$728K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$565K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$501K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$686K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$291K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$1.6M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$4.3M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$4,326,352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$2,401,876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71% of new business ($1,712,163)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58%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$2,401,876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$1,712,163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Reliance Partners,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Southwest  |  State: TN  |  City: Chattanooga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$3,698,958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$2,278,791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$688,050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$732,116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$-1,589,482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$11,296,746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$10,700,427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6038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$2,800,682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$2,555,694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$447,696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$148,058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$29,222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$270,417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$-318,333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$556,470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$315,091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$87,096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$154,282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$-236,871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$882,650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$744,194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$65,019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$73,436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$-437,887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$1,322,951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$734,967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$432,382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$155,602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$-475,958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$489,191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$336,481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$74,331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$78,379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$-120,433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$3,698,958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$2,278,791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$688,050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$732,116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$-1,589,482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1255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3.6%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1285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1096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1444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1186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1315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1080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695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584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6038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1010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5028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1124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1510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1000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1285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1430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1444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1499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1315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1462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695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6515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6249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$446K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$448K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$380K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$556K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$997K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$883K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$1.2M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$1.3M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$1.3M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$489K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$4.3M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$3.7M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$3,698,958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$2,278,791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1.9% hit ratio on 6038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70% of new business ($1,589,482)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(6038 subs, only 113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$2,278,791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United Advantage Insurance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Southwest  |  State: CA  |  City: Fountain Valley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$3,575,165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$2,288,670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$386,654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$899,841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$-1,069,749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$5,313,122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$6,974,132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56%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2887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$860,012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$2,319,436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$619,222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$547,989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$16,681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$54,552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$-177,485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$544,314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$336,280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$58,445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$149,589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$-240,020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$843,770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$483,530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$58,483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$301,757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$-272,683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$975,519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$503,838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$197,217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$274,464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$-262,704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$592,341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$417,033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$55,828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$119,480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$-116,857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$3,575,165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$2,288,670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$386,654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$899,841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$-1,069,749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689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651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676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656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689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654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722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680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10.8%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422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10.9%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2887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2750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689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676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689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722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422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1980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3198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$115K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$619K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$282K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$544K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$288K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$844K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$710K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$976K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$592K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$1.9M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$3.6M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$3,575,165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$2,288,670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47% of new business ($1,069,749)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$2,288,670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$1,069,749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Cascade Insurance Services Inc Dba: Cascade Mutual Insurance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Southwest  |  State: CA  |  City: Glendale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$2,849,761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$1,309,751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$1,016,562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$523,448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$-913,829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$1,687,026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$4,488,978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141%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$1,245,629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$1,375,367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$627,994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$521,605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$106,390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$-131,010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$322,340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$55,416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$192,025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$74,899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$-231,953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$830,466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$296,058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$394,147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$140,261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$-217,631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$747,546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$211,464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$305,376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$230,707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$-281,220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$321,415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$225,209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$125,014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$-28,808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$-52,016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$2,849,761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$1,309,751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$1,016,562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$523,448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$-913,829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20.5%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644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542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583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758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$628K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$322K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$830K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$748K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$321K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$2.8M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$2,849,761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$1,309,751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70% of new business ($913,829)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57%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$1,309,751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$913,829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Jagdeep Singh Insurance Agency,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Southwest  |  State: California  |  City: Fresno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$2,715,667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$845,078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$1,374,237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$496,352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$-754,328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$12,058,763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$8,139,482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$2,775,343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$1,625,637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$432,807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$263,996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$54,912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$113,899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$-267,673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$531,294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$339,606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$27,022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$164,666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$-164,691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$620,357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$82,482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$473,942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$63,933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$-151,086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$546,436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$112,699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$339,678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$94,059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$-144,553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$584,774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$46,295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$478,683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$59,796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$-26,325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$2,715,667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$845,078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$1,374,237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$496,352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$-754,328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13.7%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287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13.9%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327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1231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1025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1593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1369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$726K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$433K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$526K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$531K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$1.7M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$620K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$1.1M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$546K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$2.6M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$585K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$6.6M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$2.7M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$2,715,667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$845,078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89% of new business ($754,328)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$845,078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$754,328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Vintage Insurance Agency Inc (The)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Southwest  |  State: CA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$1,780,809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$554,806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$682,819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$543,185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$-575,086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$3,326,706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$3,635,516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25.7%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$387,009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$1,052,887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$335,743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$102,876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$174,683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$58,183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$-86,035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$449,702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$255,825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$132,066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$61,810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$-162,772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$389,615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$58,208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$167,077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$164,330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$-162,968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$456,301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$44,916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$162,866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$248,519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$-133,926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$149,449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$92,980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$46,128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$10,342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$-29,385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$1,780,809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$554,806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$682,819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$543,185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$-575,086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46.8%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41.7%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18.4%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25.7%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283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$214K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$336K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$450K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$390K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$597K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$456K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$246K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$149K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$1.5M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$1.8M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$1,780,809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$554,806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104% of new business ($575,086)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67%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$554,806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$575,086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Sedge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Southwest  |  State: N/A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$1,108,449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$784,882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$323,566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$-393,568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$608,954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$1,717,403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152%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$588,176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$263,822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$329,058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$235,804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$93,254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$-47,714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$98,874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$47,348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$51,526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$-54,408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$281,165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$220,351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$60,814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$-243,003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$313,298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$220,560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$92,738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$-30,624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$86,053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$60,820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$25,234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$-17,820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$1,108,449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$784,882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$323,566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$-393,568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15.4%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223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268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$329K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$281K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$313K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$86K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$1.1M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$1,108,449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$784,882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50% of new business ($393,568)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73%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$784,882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$393,568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Ewall Insurance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Southwest  |  State: NV  |  City: Las Vegas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$987,921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$560,643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$339,381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$87,896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$-468,880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$5,582,230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$3,775,394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$219,964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$1,236,097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$157,976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$64,264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$82,684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$11,028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$-173,320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$71,058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$38,646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$20,807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$11,605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$-32,380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$296,715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$113,101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$122,185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$61,429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$-94,557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$270,070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$212,437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$45,540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$12,094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$-89,996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$192,101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$132,195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$68,165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$-8,260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$-78,627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$987,921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$560,643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$339,381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$87,896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$-468,880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16.4%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17.5%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839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808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1271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975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$647K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$158K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$449K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$71K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$761K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$297K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$351K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$270K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$587K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$192K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$2.8M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$988K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$987,921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$560,643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84% of new business ($468,880)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$560,643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$468,880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Surefire Insurance Agency Corp.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Southwest  |  State: CA  |  City: Encino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$843,963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$225,531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$260,234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$358,198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$-339,569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$3,442,404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$3,420,096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23.6%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$1,179,502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$487,098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$120,916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$72,959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$47,957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$-18,384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$148,084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$70,541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$77,543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$-30,497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$260,980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$67,624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$37,799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$155,557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$-103,129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$209,576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$14,406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$135,102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$60,068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$-90,166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$104,407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$87,333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$17,074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$-97,392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$843,963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$225,531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$260,234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$358,198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$-339,569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35.4%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44.0%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43.1%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34.8%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23.6%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280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230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$28K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$121K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$99K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$148K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$261K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$308K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$210K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$104K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$866K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$844K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$843,963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$225,531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151% of new business ($339,569)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50%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$225,531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$339,569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Call Patty Insurance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Southwest  |  State: CA  |  City: Point Roberts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$738,293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$238,000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$437,382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$62,911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$-134,658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$2,749,090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$2,202,647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$472,807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$533,226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$102,936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$81,485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$17,263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$4,188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$-24,269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$136,217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$37,968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$79,914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$18,335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$-31,367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$136,366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$34,579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$72,197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$29,591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$-68,437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$219,982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$62,684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$162,447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$-5,149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$-290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$142,791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$21,283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$105,562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$15,946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$-10,294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$738,293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$238,000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$437,382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$62,911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$-134,658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17.4%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411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399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697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453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$103K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$136K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$323K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$136K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$465K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$220K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$240K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$143K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$1.3M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$738K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$738,293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$238,000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57% of new business ($134,658)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$238,000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$134,658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Limosa Insurance Services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Irvine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$617,079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$567,496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$49,582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$-80,465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$179,840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$796,918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286%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255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$161,385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$254,038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$97,407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$96,887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$-7,662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$45,371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$25,047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$20,324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$-19,103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$47,106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$20,658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$26,448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$-16,359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$207,730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$206,862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$868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$-37,341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$219,465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$218,042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$1,423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$617,079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$567,496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$49,582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$-80,465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6.4%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255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225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269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$97K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$45K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$47K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$208K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$219K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$617K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$617,079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$567,496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80 to 31 MoM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$567,496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Dts Insurance Services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Southwest  |  State: CA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$510,624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$264,235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$147,797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$98,593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$-44,197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$907,582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$995,928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$70,519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$298,032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$70,217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$66,897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$3,320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$24,174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$24,174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$-12,440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$231,006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$88,313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$67,405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$75,288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$80,905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$60,825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$29,406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$-9,327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$-31,757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$104,322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$48,200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$50,986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$5,137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$510,624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$264,235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$147,797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$98,593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$-44,197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29.2%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37.0%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$231K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$81K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$48K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$104K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$422K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$511K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$510,624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$264,235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$264,235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Strong $147,797 renewal book. Use this as proof of value: "Your retention shows we're delivering - let's find more accounts like these in your pipeline."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Lion Insurance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Southwest  |  State: CA  |  City: Glendale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$479,756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$220,653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$169,911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$89,192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$-108,371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$345,901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$805,489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116%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$102,693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$191,543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$78,474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$19,370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$57,631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$-18,310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$43,258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$20,495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$22,763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$-33,408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$127,755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$102,693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$19,083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$5,979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$-5,979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$166,671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$57,443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$56,536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$52,693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$-34,389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$63,599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$20,652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$36,662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$6,284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$-16,284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$479,756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$220,653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$169,911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$89,192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$-108,371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5.9%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225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275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247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$78K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$128K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$167K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$64K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$480K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$479,756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$220,653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49% of new business ($108,371)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62%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$220,653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$108,371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Jtc Insurance Agency,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City of Industry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$468,467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$99,918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$347,151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$21,398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$631,747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$764,235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62%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$318,335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$141,643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$26,433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$26,097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$16,470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$16,470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$94,399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$73,822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$20,578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$331,195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$330,680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$468,467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$99,918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$347,151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$21,398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22.2%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$637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$94K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$331K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$-30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$336K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$468K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$468,467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$99,918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$99,918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Strong $347,151 renewal book. Use this as proof of value: "Your retention shows we're delivering - let's find more accounts like these in your pipeline."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Power Commercial Insurance Brokers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Southwest  |  State: CA  |  City: Corona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$441,569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$148,640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$160,155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$132,774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$-121,673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$2,372,091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$1,028,738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$59,611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$404,434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$122,134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$18,082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$63,144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$40,908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$-27,298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$55,693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$15,480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$42,863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$121,320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$38,541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$54,148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$28,630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$-20,427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$97,253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$59,708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$37,545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$-73,947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$45,169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$16,828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$28,341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$441,569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$148,640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$160,155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$132,774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$-121,673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7.6%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12.2%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541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231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$396K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$122K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$506K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$56K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$121K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$97K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$114K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$45K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$1.8M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$442K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$441,569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$148,640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82% of new business ($121,673)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54%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$148,640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$121,673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Truck Secure Insurance Services,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Santa Clarita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$420,296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$232,523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$187,773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$-259,668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$38,432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$458,728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911%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$136,676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$-9,983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$40,906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$40,906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$-10,665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$78,730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$40,738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$37,992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$-37,992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$250,771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$135,975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$114,796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$-151,635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$49,888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$14,903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$34,985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$-49,393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$420,296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$232,523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$187,773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$-259,668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5.7%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9.4%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11.9%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303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$41K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$50K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$420K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$420,296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$232,523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112% of new business ($259,668)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80%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$232,523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$259,668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Elizabeth'S Insurance Services,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Moreno Valley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$415,496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$290,352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$125,144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$-262,232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$319,292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$734,789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108%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$83,803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$97,010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$158,059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$160,406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$-2,347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$-1,249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$114,529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$93,063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$21,466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$-95,007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$86,985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$86,985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$-86,985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$56,283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$36,884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$19,399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$-60,999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$-359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$-359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$-17,992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$415,496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$290,352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$125,144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$-262,232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9.8%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$115K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$87K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$-359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$415K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$415,496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$290,352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90% of new business ($262,232)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101%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$290,352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$262,232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Paramount Exclusive Insurance Services,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Encino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$401,662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$205,197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$169,896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$26,568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$-205,197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$165,365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$399,698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202%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$379,741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$-884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$375,178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$205,197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$169,896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$-205,197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$11,250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$11,250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$16,117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$16,117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$401,662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$205,197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$169,896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$26,568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$-205,197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$-884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$199K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$375K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$-28,438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$-1,277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$-1,542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$167K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$402K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$401,662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$205,197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100% of new business ($205,197)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9 to 2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$205,197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$205,197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Noel Cajinas Insurance Agency,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Huntington Park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$393,882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$242,871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$57,123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$93,888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$-75,834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$511,170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$600,516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64%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18.4%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$120,771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$224,670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$20,907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$20,907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$-11,139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$121,214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$102,846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$18,368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$-33,764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$164,539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$39,394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$57,123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$68,023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$-30,932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$14,994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$12,049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$2,945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$72,227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$67,675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$4,552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$393,882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$242,871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$57,123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$93,888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$-75,834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22.2%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42.9%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$73K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$121K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$148K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$165K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$72K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$305K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$394K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$393,882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$242,871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$242,871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$75,834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Western Truck Insurance Services,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Inglewood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$360,386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$348,621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$11,765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$-206,178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$174,364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$439,391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172%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$255,717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$26,460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$23,613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$23,613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$-4,223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$41,288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$41,288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$79,410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$79,410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$195,344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$183,579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$11,765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$-183,579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$20,730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$20,730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$-18,375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$360,386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$348,621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$11,765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$-206,178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$41K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$79K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$49K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$195K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$360K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$360,386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$348,621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59% of new business ($206,178)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89%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$348,621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$206,178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All Solutions Insurance Agency, L.l.c.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Moreno Valley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$320,604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$300,129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$10,374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$10,101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$-43,238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$506,042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$735,424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53%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16.2%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$349,951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$13,788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$13,220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$567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$-10,726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$65,839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$62,715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$3,124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$-10,260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$77,758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$86,341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$-8,583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$-12,699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$121,868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$102,765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$10,374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$8,729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$-5,466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$41,352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$35,088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$6,264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$-4,088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$320,604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$300,129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$10,374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$10,101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$-43,238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15.2%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31.3%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303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282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348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$66K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$78K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$122K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$41K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$321K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$320,604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$300,129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66%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$300,129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Checkers Truck Insurance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California  |  City: Ontario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$246,104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$87,714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$157,818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$-8,497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$496,756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$501,646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41%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$309,520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$89,483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$6,283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$6,283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$-7,380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$-7,380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$19,606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$19,032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$574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$-3,761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$22,660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$21,564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$1,096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$-4,736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$204,935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$47,117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$157,818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$246,104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$87,714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$157,818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$573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$-8,497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$-7,380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$135K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$205K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$241K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$246K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$246,104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$87,714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$87,714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Strong $157,818 renewal book. Use this as proof of value: "Your retention shows we're delivering - let's find more accounts like these in your pipeline."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Empire Company Insurance Services,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California  |  City: Rancho Cucamonga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$228,982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$140,492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$77,616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$10,874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$-16,900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$355,551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$454,214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54%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16.7%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$7,986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$211,739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$1,963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$1,898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$50,035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$39,724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$10,311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$-5,439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$31,402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$19,063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$12,339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$-11,461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$46,112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$46,795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$-683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$99,471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$79,808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$20,510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$-847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$228,982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$140,492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$77,616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$10,874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$-16,900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45.5%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35.7%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$-5,367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$50K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$99K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$130K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$229K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$228,982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$140,492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$140,492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Strong $77,616 renewal book. Use this as proof of value: "Your retention shows we're delivering - let's find more accounts like these in your pipeline."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Insuremart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NV  |  City: Las Vegas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$223,786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$190,314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$16,970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$16,503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$-147,389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$825,532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$370,058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$177,656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$19,854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$19,854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$-26,444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$89,002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$74,249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$16,970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$-2,218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$-74,249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$36,761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$37,905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$-1,144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$78,170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$78,160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$-46,696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$223,786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$190,314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$16,970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$16,503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$-147,389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3.6%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7.9%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211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223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219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$59K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$303K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$89K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$78K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$214K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$679K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$224K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$223,786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$190,314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77% of new business ($147,389)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66 to 20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$190,314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$147,389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Alparslan Enterprise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N/A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$205,282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$205,594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$-41,512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$263,734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$469,016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65%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14.3%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$142,503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$87,580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$117,631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$89,020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$28,611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$-36,771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$108,906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$116,574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$-7,668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$-17,397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$-17,397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$1,007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$1,007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$-4,864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$-4,864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$-4,741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$205,282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$205,594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$-41,512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$-17,397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$-4,864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$205K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$205,282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$205,594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583%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$205,594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Northdale Insurance Agency,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Southwest  |  State: CA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$201,522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$123,130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$78,392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$-153,029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$1,118,229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$1,203,838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$145,012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$212,581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$57,807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$57,807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$-64,445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$42,169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$14,717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$27,452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$-88,584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$15,035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$22,406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$-7,371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$86,511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$86,007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$201,522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$123,130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$78,392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$-153,029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13.6%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11.6%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17.9%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$42K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$116K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$87K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$116K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$202K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$201,522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$123,130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124% of new business ($153,029)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$123,130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$153,029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Freedom Insurance Services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NV  |  City: Las Vegas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$200,914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$130,097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$17,157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$53,660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$-59,867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$467,093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$637,439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15.3%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$71,411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$206,469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$37,357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$36,761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$596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$60,351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$21,057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$17,157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$22,137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$-22,137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$60,187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$36,530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$23,657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$-19,788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$43,019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$35,748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$7,271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$-17,942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$200,914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$130,097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$17,157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$53,660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$-59,867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21.4%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$60K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$201K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$200,914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$130,097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46% of new business ($59,867)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$130,097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$59,867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Swan Insurance Sales,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Southwest  |  State: California  |  City: San Diego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$194,187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$59,124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$30,091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$104,973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$-35,578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$919,466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$850,381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24.1%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$277,221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$99,803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$49,438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$25,432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$10,312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$13,694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$53,366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$3,849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$19,779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$29,738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$-24,666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$43,611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$29,842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$13,769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$-10,912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$53,580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$53,580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$-5,808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$-5,808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$194,187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$59,124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$30,091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$104,973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$-35,578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45.5%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44.4%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24.1%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$49K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$84K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$50K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$54K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$-5,808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$263K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$194K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$194,187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$59,124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60% of new business ($35,578)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111%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$59,124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$35,578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Patriot Financial Services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Chino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$179,056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$149,332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$42,299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$-12,576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$-57,018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$725,289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$513,427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$175,192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$47,154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$47,154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$-4,680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$43,759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$20,780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$22,980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$53,545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$52,289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$1,256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$-34,213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$14,414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$2,061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$12,353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$-18,125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$20,183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$29,109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$17,258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$-26,184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$179,056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$149,332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$42,299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$-12,576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$-57,018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236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235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229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249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$47K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$101K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$114K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$158K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$391K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$179K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$179,056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$149,332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$149,332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$57,018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Tiwana Insurance Solutions,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Clovis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$161,790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$142,722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$19,068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$200,523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$281,846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67%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$31,628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$110,590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$128,742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$113,743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$14,998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$13,838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$14,078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$17,834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$13,525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$4,310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$-516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$1,376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$1,376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$161,790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$142,722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$19,068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$-516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5.9%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18.5%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14.8%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15.8%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$129K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$-5,870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$162K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$161,790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$142,722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92%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$142,722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DISCOVERY PRO INSURANCE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Los Angeles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$160,446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$154,078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$6,369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$-147,203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$352,815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$301,327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$42,061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$153,528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$153,528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$-146,798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$6,571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$6,571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$-405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$160,446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$154,078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$6,369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$-147,203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66.7%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$110K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$154K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$66K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$-203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$212K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$160K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$160,446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$154,078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Their $154,078 in renewals shows they trust our product. Ask: "What's holding back new submissions?" They may need updated appetite info or a refresher on our quoting process.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Mohsen Ins.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$155,071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$161,275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$-6,204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$-13,636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$115,746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$270,817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112%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$118,781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$46,217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$14,511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$31,706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$-13,636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$57,971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$58,604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$-632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$87,610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$87,610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$-36,727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$-37,277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$155,071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$161,275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$-6,204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$-13,636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$58K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$88K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$-36,727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$155K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$155,071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$161,275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142%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$161,275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Total Global Solutions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$148,004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$136,938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$11,067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$-18,584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$91,020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$195,591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136%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$106,167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$102,518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$103,831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$99,158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$4,673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$23,541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$18,999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$4,542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$-18,584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$20,576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$18,781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$1,795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$148,004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$136,938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$11,067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$-18,584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28.6%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$56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$148K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$148,004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$136,938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14 to 2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$136,938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Saint George Insurance Brokerage,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Southwest  |  State: CA  |  City: Commerce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$145,883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$69,823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$76,059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$-116,832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$1,098,550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$909,249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$251,489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$76,204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$6,994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$6,994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$54,426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$54,426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$-68,987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$30,247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$30,167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$-31,311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$53,372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$39,656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$13,715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$-16,534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$844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$844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$145,883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$69,823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$76,059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$-116,832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201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$118K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$53K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$844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$335K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$146K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$145,883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$69,823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167% of new business ($116,832)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98%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$69,823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$116,832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3321 Group L.l.c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Southwest  |  State: AZ  |  City: Scottsdale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$136,699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$71,205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$65,494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$-148,891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$2,228,376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$823,368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$194,357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$34,967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$12,326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$22,641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$-21,968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$22,843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$9,962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$12,881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$-19,695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$12,012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$12,012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$-31,582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$66,846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$48,916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$17,930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$-75,646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$136,699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$71,205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$65,494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$-148,891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15.6%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700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$359K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$35K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$287K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$422K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$67K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$248K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$1.5M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$137K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$136,699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$71,205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18 to 6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Their $71,205 in renewals shows they trust our product. Ask: "What's holding back new submissions?" They may need updated appetite info or a refresher on our quoting process.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Strong Tie Insurance Services,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Downey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$129,903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$129,430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$-58,866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$630,459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$434,289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$125,937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$64,792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$64,792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$77,299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$64,638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$12,661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$-3,153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$-12,471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$-43,241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$-11,676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$-11,676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$129,903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$129,430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$472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$-58,866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27.6%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21.4%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$119K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$65K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$77K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$-512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$56K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$-11,676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$326K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$130K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$129,903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$129,430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45% of new business ($58,866)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$129,430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$58,866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All Ways Insurance Services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Camarillo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$123,479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$18,671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$104,807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$-102,483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$599,280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$587,917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17.4%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$32,737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$113,658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$3,167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$3,167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$-2,613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$985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$985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$61,298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$61,298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$-61,231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$58,050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$18,671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$39,379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$-38,640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$123,479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$18,671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$104,807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$-102,483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28.6%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$-5,827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$985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$61K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$58K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$74K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$-22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$135K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$123K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$123,479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$18,671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California Heritage Insurance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California  |  City: Arroyo Grande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$114,768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$57,091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$16,284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$41,393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$-76,921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$1,016,247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$693,480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$208,220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$89,118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$20,063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$20,489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$-24,781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$12,825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$12,825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$36,110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$15,734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$20,376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$-9,454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$5,493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$5,493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$-42,686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$40,277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$36,602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$3,125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$114,768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$57,091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$16,284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$41,393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$-76,921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10.2%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38.5%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201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$198K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$53K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$40K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$438K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$115K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$114,768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$57,091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135% of new business ($76,921)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$57,091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$76,921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Jaikar Insurance Services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Corona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$99,632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$38,741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$42,933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$17,957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$-31,706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$805,169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$435,826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$112,953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$16,012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$16,012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$-30,169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$57,824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$38,741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$18,924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$1,786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$1,786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$-1,537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$24,009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$24,009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$99,632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$38,741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$42,933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$17,957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$-31,706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383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$-206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$91K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$58K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$158K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$53K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$469K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$99,632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$38,741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82% of new business ($31,706)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$38,741 in new business. Ask what made those deals work and how you can help replicate that success with similar accounts in their pipeline.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$31,706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Beehive Insurance Agency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Utah  |  City: Salt Lake 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$96,353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$94,802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$1,551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$223,108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$83,796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$1,064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$1,064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$2,058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$2,058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$94,802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$94,802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$-1,570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$-1,570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$96,353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$94,802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$1,551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$114K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$95K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$118K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$-1,570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$236K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$96,353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$94,802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102%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36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33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Kaluga Premium Insurance Solutions,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$92,748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$51,536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$35,709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$5,503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$90,616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$122,819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85%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16.7%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$86,956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$91,983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$51,536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$35,709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$4,738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$765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$765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$92,748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$51,536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$35,709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$5,503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22.2%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$92K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$765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$92,748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$51,536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99%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$51,536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Insurabrite Insurance Services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Southwest  |  State: CA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$81,186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$4,497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$76,689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$-177,887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$1,177,487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$943,121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$38,769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$15,348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$4,497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$10,852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$-22,092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$56,586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$56,586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$-139,247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$9,252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$9,252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$-16,549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$81,186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$4,497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$76,689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$-177,887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$75K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$57K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$150K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$316K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$81,186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$4,497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3956% of new business ($177,887)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84%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$4,497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$177,887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Nextco Insurance Agency,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N/A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$79,006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$20,708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$65,820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$-7,521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$758,389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$583,462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$124,742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$-7,439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$-7,439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$20,708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$20,708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$65,737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$65,820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$79,006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$20,708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$65,820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$-7,521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$28K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$-7,439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$74K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$-112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$108K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$66K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$254K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$79,006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$20,708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$20,708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Strong $65,820 renewal book. Use this as proof of value: "Your retention shows we're delivering - let's find more accounts like these in your pipeline."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SBS Insurance Services Inc dba Smarter Truck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Riverside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$67,738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$14,701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$57,755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$-4,719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$-42,102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$640,325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$461,429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$186,169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$13,122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$8,774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$4,348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$-14,192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$26,056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$14,701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$11,580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$-878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$-878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$-21,941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$17,102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$17,257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$-5,970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$12,335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$20,145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$-7,809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$67,738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$14,701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$57,755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$-4,719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$-42,102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4.6%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9.5%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184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$90K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$-878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$48K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$247K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$67,738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$14,701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286% of new business ($42,102)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65 to 21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$14,701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$42,102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Transtar Insurance Brokers,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AZ  |  City: Phoenix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$61,016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$106,293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$-45,277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$194,602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$193,398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$104,493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$100,541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$10,087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$10,087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$51,995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$106,293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$-54,298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$61,016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$106,293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$-45,277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224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$-5,342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$-900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$-750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$-157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$64K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$52K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$-16,230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$-9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$61,016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$106,293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41 to 13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$106,293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Infinite Risk Management And Insurance Solutions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Los Angeles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$54,426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$19,900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$34,526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$-17,416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$397,569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$383,069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$80,426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$19,900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$14,262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$14,262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$-17,416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$19,900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$19,900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$19,877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$19,877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$54,426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$19,900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$34,526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$-17,416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22.2%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$387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$69K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$54,426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$19,900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88% of new business ($17,416)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$19,900 in new business. Ask what made those deals work and how you can help replicate that success with similar accounts in their pipeline.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$17,416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West Coast Truck Insurance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UT  |  City: Lancaster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$47,336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$32,009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$17,437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$-2,110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$-60,086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$239,538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$245,838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$69,047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$32,009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$32,009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$-30,606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$-12,623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$-5,550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$-5,550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$3,440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$3,440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$17,437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$17,437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$-16,857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$47,336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$32,009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$17,437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$-2,110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$-60,086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66.7%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$32K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$-5,550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$41K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$47,336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$32,009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188% of new business ($60,086)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$32,009 in new business. Ask what made those deals work and how you can help replicate that success with similar accounts in their pipeline.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$60,086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PCF Insurance Services of the West LLC DBA: Good's Insurance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Woodland Hills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$31,849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$12,303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$19,545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$-9,231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$236,689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$172,857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$126,357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$-9,231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$31,909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$12,303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$19,606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$31,849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$12,303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$19,545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$-9,231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$-390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$-61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$32K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$45K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$31,849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$12,303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Insurance Professionals,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NV  |  City: Pahrump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$11,304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$11,304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$-14,131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$191,089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$111,635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$40,510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$4,302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$4,302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$7,001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$7,001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$-14,131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$11,304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$11,304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$-14,131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$69K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$11,304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 submissions - highly active agency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Momentum is building - premium grew MoM. Keep the energy going: "Things are moving in the right direction. What do you need from me to keep this pace up?"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MV Destiny Insurance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Fresno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$6,534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$6,534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$-15,471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$162,597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$60,604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$72,087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$6,534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$6,534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$-15,471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$6,534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$6,534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$-15,471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$129K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$-19,994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$109K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$6,534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9.1% hit ratio - above average conversion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Cornerstone Insurance Solutions Inc. Dba: Cornerstone Premier Insurance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Covina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$4,995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$4,995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$-8,710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$144,555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$70,936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16.7%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$3,345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$-8,710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$4,995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$4,995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$4,995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$4,995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$-8,710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$79K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$4,995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$4,995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174% of new business ($8,710)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$4,995 in new business. Ask what made those deals work and how you can help replicate that success with similar accounts in their pipeline.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$8,710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Davis &amp; Associates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NV  |  City: Las Vegas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$-821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$-821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$-21,595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$340,383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$178,975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-0%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$-11,137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$-10,458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$-821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$-821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$-821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$-21,595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159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$-821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$101K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$161K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$-821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92 submissions - highly active agency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69 quotes generated - active in pipeline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Negative written premium ($-821) - cancellations exceed production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92 submissions with zero binds - zero conversion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92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69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Century One Insurance Services,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Southwest  |  State: CA  |  City: Studio 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$-11,735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$20,817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$-32,552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$-18,560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$169,362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$134,244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-6%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$21,996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$-18,462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$-18,462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$21,858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$20,817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$1,041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$-15,309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$-15,309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$-1,064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$-17,496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$-11,735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$20,817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$-32,552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$-18,560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$-18,462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$-16,543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$178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$-15,309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$347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$-11,735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$20,817 in renewals - strong retention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5.9% hit ratio - above average conversion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Negative written premium ($-11,735) - cancellations exceed production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