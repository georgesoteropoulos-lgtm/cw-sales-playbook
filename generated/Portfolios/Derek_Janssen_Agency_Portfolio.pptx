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</p:sldIdLst>
  <p:sldSz cy="6858000" cx="12191675"/>
  <p:notesSz cx="6858000" cy="9144000"/>
  <p:embeddedFontLst>
    <p:embeddedFont>
      <p:font typeface="Quattrocento Sans"/>
      <p:regular r:id="rId74"/>
      <p:bold r:id="rId75"/>
      <p:italic r:id="rId76"/>
      <p:boldItalic r:id="rId7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78" roundtripDataSignature="AMtx7miVae5V+oXvxs9G2UGZ5olOO6HF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31" Type="http://schemas.openxmlformats.org/officeDocument/2006/relationships/slide" Target="slides/slide26.xml"/><Relationship Id="rId75" Type="http://schemas.openxmlformats.org/officeDocument/2006/relationships/font" Target="fonts/QuattrocentoSans-bold.fntdata"/><Relationship Id="rId30" Type="http://schemas.openxmlformats.org/officeDocument/2006/relationships/slide" Target="slides/slide25.xml"/><Relationship Id="rId74" Type="http://schemas.openxmlformats.org/officeDocument/2006/relationships/font" Target="fonts/QuattrocentoSans-regular.fntdata"/><Relationship Id="rId33" Type="http://schemas.openxmlformats.org/officeDocument/2006/relationships/slide" Target="slides/slide28.xml"/><Relationship Id="rId77" Type="http://schemas.openxmlformats.org/officeDocument/2006/relationships/font" Target="fonts/QuattrocentoSans-boldItalic.fntdata"/><Relationship Id="rId32" Type="http://schemas.openxmlformats.org/officeDocument/2006/relationships/slide" Target="slides/slide27.xml"/><Relationship Id="rId76" Type="http://schemas.openxmlformats.org/officeDocument/2006/relationships/font" Target="fonts/QuattrocentoSans-italic.fntdata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8" Type="http://customschemas.google.com/relationships/presentationmetadata" Target="metadata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slide" Target="slides/slide63.xml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slide" Target="slides/slide6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9" name="Google Shape;66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4" name="Google Shape;74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5" name="Google Shape;81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2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7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9" name="Google Shape;115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8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Google Shape;120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0" name="Google Shape;121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9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1" name="Google Shape;130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9" name="Shape 1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Google Shape;134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1" name="Google Shape;134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4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Google Shape;154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6" name="Google Shape;154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0" name="Google Shape;1680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6" name="Shape 1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Google Shape;1827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8" name="Google Shape;1828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3" name="Shape 2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4" name="Google Shape;2004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5" name="Google Shape;2005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2" name="Shape 2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3" name="Google Shape;2183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4" name="Google Shape;2184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9" name="Shape 2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0" name="Google Shape;2360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1" name="Google Shape;2361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6" name="Shape 2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7" name="Google Shape;2537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8" name="Google Shape;2538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5" name="Google Shape;2715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2" name="Shape 2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3" name="Google Shape;2893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4" name="Google Shape;2894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9" name="Shape 3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0" name="Google Shape;3070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1" name="Google Shape;3071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6" name="Shape 3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7" name="Google Shape;3247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8" name="Google Shape;3248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5" name="Shape 3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6" name="Google Shape;3426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7" name="Google Shape;3427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2" name="Shape 3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3" name="Google Shape;3603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4" name="Google Shape;3604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7" name="Shape 3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8" name="Google Shape;3778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9" name="Google Shape;3779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6" name="Shape 3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7" name="Google Shape;3957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8" name="Google Shape;3958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3" name="Shape 4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4" name="Google Shape;4134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5" name="Google Shape;4135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0" name="Shape 4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1" name="Google Shape;4311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2" name="Google Shape;4312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9" name="Shape 4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0" name="Google Shape;4490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1" name="Google Shape;4491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8" name="Shape 4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9" name="Google Shape;4669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0" name="Google Shape;4670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47" name="Shape 4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8" name="Google Shape;4848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9" name="Google Shape;4849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6" name="Shape 5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7" name="Google Shape;5027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8" name="Google Shape;5028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5" name="Shape 5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6" name="Google Shape;5206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7" name="Google Shape;5207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4" name="Shape 5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5" name="Google Shape;5385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6" name="Google Shape;5386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1" name="Shape 5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2" name="Google Shape;5562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3" name="Google Shape;5563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38" name="Shape 5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9" name="Google Shape;5739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0" name="Google Shape;5740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17" name="Shape 5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8" name="Google Shape;5918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9" name="Google Shape;5919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96" name="Shape 6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7" name="Google Shape;6097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8" name="Google Shape;6098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75" name="Shape 6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6" name="Google Shape;6276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7" name="Google Shape;6277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2" name="Shape 6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3" name="Google Shape;6453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4" name="Google Shape;6454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9" name="Shape 6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0" name="Google Shape;6630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1" name="Google Shape;6631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08" name="Shape 6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9" name="Google Shape;6809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0" name="Google Shape;6810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87" name="Shape 6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8" name="Google Shape;6988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9" name="Google Shape;6989;p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64" name="Shape 7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5" name="Google Shape;7165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66" name="Google Shape;7166;p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9" name="Shape 7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0" name="Google Shape;7340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41" name="Google Shape;7341;p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6" name="Shape 7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7" name="Google Shape;7517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18" name="Google Shape;7518;p4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95" name="Shape 7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6" name="Google Shape;7696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97" name="Google Shape;7697;p4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74" name="Shape 7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5" name="Google Shape;7875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76" name="Google Shape;7876;p5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53" name="Shape 8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4" name="Google Shape;8054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55" name="Google Shape;8055;p5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30" name="Shape 8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1" name="Google Shape;8231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32" name="Google Shape;8232;p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07" name="Shape 8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8" name="Google Shape;8408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09" name="Google Shape;8409;p5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84" name="Shape 8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5" name="Google Shape;8585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86" name="Google Shape;8586;p5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3" name="Shape 8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4" name="Google Shape;8764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65" name="Google Shape;8765;p5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42" name="Shape 8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3" name="Google Shape;8943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4" name="Google Shape;8944;p5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19" name="Shape 9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0" name="Google Shape;9120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21" name="Google Shape;9121;p5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98" name="Shape 9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9" name="Google Shape;9299;p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00" name="Google Shape;9300;p5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77" name="Shape 9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8" name="Google Shape;9478;p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79" name="Google Shape;9479;p5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56" name="Shape 9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7" name="Google Shape;9657;p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58" name="Google Shape;9658;p6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33" name="Shape 9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4" name="Google Shape;9834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35" name="Google Shape;9835;p6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10" name="Shape 10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1" name="Google Shape;10011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12" name="Google Shape;10012;p6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87" name="Shape 10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8" name="Google Shape;10188;p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89" name="Google Shape;10189;p6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66" name="Shape 10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7" name="Google Shape;10367;p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68" name="Google Shape;10368;p6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41" name="Shape 10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2" name="Google Shape;10542;p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43" name="Google Shape;10543;p6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18" name="Shape 10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9" name="Google Shape;10719;p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20" name="Google Shape;10720;p6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95" name="Shape 10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6" name="Google Shape;10896;p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97" name="Google Shape;10897;p6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74" name="Shape 1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5" name="Google Shape;11075;p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76" name="Google Shape;11076;p6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7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7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7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7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7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7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7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7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7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7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7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7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7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7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7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7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7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7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7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7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7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7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7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7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7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8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8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8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8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8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Generated May 28, 2026  |  53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53 Total Agencies  |  53 Active  |  0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$32,646,652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$17,333,121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$8,257,339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$7,056,192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$-11,570,641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18130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$74,968,705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$76,183,732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$89,962,446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$15,945,782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$18,763,227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Inc.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$4,503,943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$2,424,917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$811,152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680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484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$3,898,602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$2,418,714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$706,270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6339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4110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Services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$3,647,587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$2,316,113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$413,911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3003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2420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Dba: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$3,118,067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$1,528,663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$1,037,821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675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481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Inc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$2,799,445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$883,804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$1,423,807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1287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1022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(The)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$1,858,096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$554,806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$714,307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175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23.9%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Sedge Insurance Agency Llc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$1,257,558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$954,533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240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$1,007,082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$567,710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$349,807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885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657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Corp.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$902,116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$225,531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$260,234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114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21.3%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 Patty Insurance Services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$737,836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$240,050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$437,382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433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336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7.9%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Limosa Insurance Services Inc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$617,079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$567,496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206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Dts Insurance Services Inc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$573,209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$264,235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$179,010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12.3%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$19,896,019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$4,479,627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4326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472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10.9%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$18,480,097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$3,037,254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3888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435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11.2%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$20,068,641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$3,175,810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4097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462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11.3%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$18,231,850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$3,653,804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4338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445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$13,527,020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$2,986,626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3382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310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9.2%</a:t>
            </a:r>
            <a:endParaRPr/>
          </a:p>
        </p:txBody>
      </p:sp>
      <p:sp>
        <p:nvSpPr>
          <p:cNvPr id="267" name="Google Shape;267;p2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$32,646,652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$17,333,121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18130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1029</a:t>
            </a:r>
            <a:endParaRPr/>
          </a:p>
        </p:txBody>
      </p:sp>
      <p:sp>
        <p:nvSpPr>
          <p:cNvPr id="273" name="Google Shape;273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Derek Janssen</a:t>
            </a:r>
            <a:endParaRPr/>
          </a:p>
        </p:txBody>
      </p:sp>
      <p:sp>
        <p:nvSpPr>
          <p:cNvPr id="280" name="Google Shape;280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BDM OKRs  |  Q2 measure (paced where applicable)  |  Matches BD Rep Scoreboard numbers</a:t>
            </a:r>
            <a:endParaRPr/>
          </a:p>
        </p:txBody>
      </p:sp>
      <p:sp>
        <p:nvSpPr>
          <p:cNvPr id="281" name="Google Shape;281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84.4</a:t>
            </a:r>
            <a:endParaRPr/>
          </a:p>
        </p:txBody>
      </p:sp>
      <p:sp>
        <p:nvSpPr>
          <p:cNvPr id="283" name="Google Shape;283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84" name="Google Shape;284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85" name="Google Shape;285;p3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3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88" name="Google Shape;288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89" name="Google Shape;289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≥+100%</a:t>
            </a:r>
            <a:endParaRPr/>
          </a:p>
        </p:txBody>
      </p:sp>
      <p:sp>
        <p:nvSpPr>
          <p:cNvPr id="290" name="Google Shape;290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+38%</a:t>
            </a:r>
            <a:endParaRPr/>
          </a:p>
        </p:txBody>
      </p:sp>
      <p:sp>
        <p:nvSpPr>
          <p:cNvPr id="291" name="Google Shape;291;p3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294" name="Google Shape;294;p3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295" name="Google Shape;295;p3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(40/wk)</a:t>
            </a:r>
            <a:endParaRPr/>
          </a:p>
        </p:txBody>
      </p:sp>
      <p:sp>
        <p:nvSpPr>
          <p:cNvPr id="296" name="Google Shape;296;p3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150%</a:t>
            </a:r>
            <a:endParaRPr/>
          </a:p>
        </p:txBody>
      </p:sp>
      <p:sp>
        <p:nvSpPr>
          <p:cNvPr id="297" name="Google Shape;297;p3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0" name="Google Shape;300;p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01" name="Google Shape;301;p3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 of 53 agencies  |  Goal 100%</a:t>
            </a:r>
            <a:endParaRPr/>
          </a:p>
        </p:txBody>
      </p:sp>
      <p:sp>
        <p:nvSpPr>
          <p:cNvPr id="302" name="Google Shape;302;p3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100%</a:t>
            </a:r>
            <a:endParaRPr/>
          </a:p>
        </p:txBody>
      </p:sp>
      <p:sp>
        <p:nvSpPr>
          <p:cNvPr id="303" name="Google Shape;303;p3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3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</a:t>
            </a:r>
            <a:endParaRPr/>
          </a:p>
        </p:txBody>
      </p:sp>
      <p:sp>
        <p:nvSpPr>
          <p:cNvPr id="306" name="Google Shape;306;p3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Producing Agencies</a:t>
            </a:r>
            <a:endParaRPr/>
          </a:p>
        </p:txBody>
      </p:sp>
      <p:sp>
        <p:nvSpPr>
          <p:cNvPr id="307" name="Google Shape;307;p3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Q2 Activated Won  |  Goal ≥ 4</a:t>
            </a:r>
            <a:endParaRPr/>
          </a:p>
        </p:txBody>
      </p:sp>
      <p:sp>
        <p:nvSpPr>
          <p:cNvPr id="308" name="Google Shape;308;p3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of 4</a:t>
            </a:r>
            <a:endParaRPr/>
          </a:p>
        </p:txBody>
      </p:sp>
      <p:sp>
        <p:nvSpPr>
          <p:cNvPr id="309" name="Google Shape;309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Derek Janssen</a:t>
            </a:r>
            <a:endParaRPr/>
          </a:p>
        </p:txBody>
      </p:sp>
      <p:sp>
        <p:nvSpPr>
          <p:cNvPr id="316" name="Google Shape;316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Calls + Meetings  |  Weekly goal: 40 activities  |  Colored arrow = month-over-month trend vs prior complete month</a:t>
            </a:r>
            <a:endParaRPr/>
          </a:p>
        </p:txBody>
      </p:sp>
      <p:sp>
        <p:nvSpPr>
          <p:cNvPr id="317" name="Google Shape;317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728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18" name="Google Shape;318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112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19" name="Google Shape;319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840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20" name="Google Shape;320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41.0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21" name="Google Shape;321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(40/wk)</a:t>
            </a:r>
            <a:endParaRPr/>
          </a:p>
        </p:txBody>
      </p:sp>
      <p:sp>
        <p:nvSpPr>
          <p:cNvPr id="322" name="Google Shape;322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1–11  (Jan–Mar)</a:t>
            </a:r>
            <a:endParaRPr/>
          </a:p>
        </p:txBody>
      </p:sp>
      <p:sp>
        <p:nvSpPr>
          <p:cNvPr id="324" name="Google Shape;324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25" name="Google Shape;325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6" name="Google Shape;326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27" name="Google Shape;327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28" name="Google Shape;328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29" name="Google Shape;329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30" name="Google Shape;330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34" name="Google Shape;334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35" name="Google Shape;335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6" name="Google Shape;336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37" name="Google Shape;337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52%</a:t>
            </a:r>
            <a:endParaRPr/>
          </a:p>
        </p:txBody>
      </p:sp>
      <p:sp>
        <p:nvSpPr>
          <p:cNvPr id="338" name="Google Shape;338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39" name="Google Shape;339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42" name="Google Shape;342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43" name="Google Shape;343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44" name="Google Shape;344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45" name="Google Shape;345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68%</a:t>
            </a:r>
            <a:endParaRPr/>
          </a:p>
        </p:txBody>
      </p:sp>
      <p:sp>
        <p:nvSpPr>
          <p:cNvPr id="346" name="Google Shape;346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7" name="Google Shape;347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50" name="Google Shape;350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51" name="Google Shape;351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2" name="Google Shape;352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53" name="Google Shape;353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38%</a:t>
            </a:r>
            <a:endParaRPr/>
          </a:p>
        </p:txBody>
      </p:sp>
      <p:sp>
        <p:nvSpPr>
          <p:cNvPr id="354" name="Google Shape;354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55" name="Google Shape;355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58" name="Google Shape;358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359" name="Google Shape;359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60" name="Google Shape;360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361" name="Google Shape;361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145%</a:t>
            </a:r>
            <a:endParaRPr/>
          </a:p>
        </p:txBody>
      </p:sp>
      <p:sp>
        <p:nvSpPr>
          <p:cNvPr id="362" name="Google Shape;362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63" name="Google Shape;363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6" name="Google Shape;366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67" name="Google Shape;367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68" name="Google Shape;368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69" name="Google Shape;369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68%</a:t>
            </a:r>
            <a:endParaRPr/>
          </a:p>
        </p:txBody>
      </p:sp>
      <p:sp>
        <p:nvSpPr>
          <p:cNvPr id="370" name="Google Shape;370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1" name="Google Shape;371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74" name="Google Shape;374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5" name="Google Shape;375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6" name="Google Shape;376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7" name="Google Shape;377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</p:txBody>
      </p:sp>
      <p:sp>
        <p:nvSpPr>
          <p:cNvPr id="378" name="Google Shape;378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9" name="Google Shape;379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82" name="Google Shape;382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4" name="Google Shape;384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5" name="Google Shape;385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8%</a:t>
            </a:r>
            <a:endParaRPr/>
          </a:p>
        </p:txBody>
      </p:sp>
      <p:sp>
        <p:nvSpPr>
          <p:cNvPr id="386" name="Google Shape;386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7" name="Google Shape;387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90" name="Google Shape;390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91" name="Google Shape;391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92" name="Google Shape;392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93" name="Google Shape;393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32%</a:t>
            </a:r>
            <a:endParaRPr/>
          </a:p>
        </p:txBody>
      </p:sp>
      <p:sp>
        <p:nvSpPr>
          <p:cNvPr id="394" name="Google Shape;394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95" name="Google Shape;395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398" name="Google Shape;398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99" name="Google Shape;399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0" name="Google Shape;400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01" name="Google Shape;401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45%</a:t>
            </a:r>
            <a:endParaRPr/>
          </a:p>
        </p:txBody>
      </p:sp>
      <p:sp>
        <p:nvSpPr>
          <p:cNvPr id="402" name="Google Shape;402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3" name="Google Shape;403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6" name="Google Shape;406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07" name="Google Shape;407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08" name="Google Shape;408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09" name="Google Shape;409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50%</a:t>
            </a:r>
            <a:endParaRPr/>
          </a:p>
        </p:txBody>
      </p:sp>
      <p:sp>
        <p:nvSpPr>
          <p:cNvPr id="410" name="Google Shape;410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11" name="Google Shape;411;p4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4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4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14" name="Google Shape;414;p4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15" name="Google Shape;415;p4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6" name="Google Shape;416;p4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17" name="Google Shape;417;p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90%</a:t>
            </a:r>
            <a:endParaRPr/>
          </a:p>
        </p:txBody>
      </p:sp>
      <p:sp>
        <p:nvSpPr>
          <p:cNvPr id="418" name="Google Shape;418;p4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19" name="Google Shape;419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12–21  (Mar–May)</a:t>
            </a:r>
            <a:endParaRPr/>
          </a:p>
        </p:txBody>
      </p:sp>
      <p:sp>
        <p:nvSpPr>
          <p:cNvPr id="421" name="Google Shape;421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22" name="Google Shape;422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23" name="Google Shape;423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24" name="Google Shape;424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25" name="Google Shape;425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26" name="Google Shape;426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27" name="Google Shape;427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31" name="Google Shape;431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432" name="Google Shape;432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3" name="Google Shape;433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434" name="Google Shape;434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175%</a:t>
            </a:r>
            <a:endParaRPr/>
          </a:p>
        </p:txBody>
      </p:sp>
      <p:sp>
        <p:nvSpPr>
          <p:cNvPr id="435" name="Google Shape;435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36" name="Google Shape;436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39" name="Google Shape;439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440" name="Google Shape;440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" name="Google Shape;441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442" name="Google Shape;442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225%</a:t>
            </a:r>
            <a:endParaRPr/>
          </a:p>
        </p:txBody>
      </p:sp>
      <p:sp>
        <p:nvSpPr>
          <p:cNvPr id="443" name="Google Shape;443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44" name="Google Shape;444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47" name="Google Shape;447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448" name="Google Shape;448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49" name="Google Shape;449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450" name="Google Shape;450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222%</a:t>
            </a:r>
            <a:endParaRPr/>
          </a:p>
        </p:txBody>
      </p:sp>
      <p:sp>
        <p:nvSpPr>
          <p:cNvPr id="451" name="Google Shape;451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52" name="Google Shape;452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55" name="Google Shape;455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56" name="Google Shape;456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57" name="Google Shape;457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58" name="Google Shape;458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145%</a:t>
            </a:r>
            <a:endParaRPr/>
          </a:p>
        </p:txBody>
      </p:sp>
      <p:sp>
        <p:nvSpPr>
          <p:cNvPr id="459" name="Google Shape;459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60" name="Google Shape;460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63" name="Google Shape;463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464" name="Google Shape;464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65" name="Google Shape;465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466" name="Google Shape;466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168%</a:t>
            </a:r>
            <a:endParaRPr/>
          </a:p>
        </p:txBody>
      </p:sp>
      <p:sp>
        <p:nvSpPr>
          <p:cNvPr id="467" name="Google Shape;467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68" name="Google Shape;468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71" name="Google Shape;471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472" name="Google Shape;472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3" name="Google Shape;473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474" name="Google Shape;474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158%</a:t>
            </a:r>
            <a:endParaRPr/>
          </a:p>
        </p:txBody>
      </p:sp>
      <p:sp>
        <p:nvSpPr>
          <p:cNvPr id="475" name="Google Shape;475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76" name="Google Shape;476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79" name="Google Shape;479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80" name="Google Shape;480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81" name="Google Shape;481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82" name="Google Shape;482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</p:txBody>
      </p:sp>
      <p:sp>
        <p:nvSpPr>
          <p:cNvPr id="483" name="Google Shape;483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84" name="Google Shape;484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87" name="Google Shape;487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88" name="Google Shape;488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9" name="Google Shape;489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90" name="Google Shape;490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132%</a:t>
            </a:r>
            <a:endParaRPr/>
          </a:p>
        </p:txBody>
      </p:sp>
      <p:sp>
        <p:nvSpPr>
          <p:cNvPr id="491" name="Google Shape;491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92" name="Google Shape;492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5/18–5/24</a:t>
            </a:r>
            <a:endParaRPr/>
          </a:p>
        </p:txBody>
      </p:sp>
      <p:sp>
        <p:nvSpPr>
          <p:cNvPr id="495" name="Google Shape;495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96" name="Google Shape;496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" name="Google Shape;497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98" name="Google Shape;498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120%</a:t>
            </a:r>
            <a:endParaRPr/>
          </a:p>
        </p:txBody>
      </p:sp>
      <p:sp>
        <p:nvSpPr>
          <p:cNvPr id="499" name="Google Shape;499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500" name="Google Shape;500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5/25–5/28*</a:t>
            </a:r>
            <a:endParaRPr/>
          </a:p>
        </p:txBody>
      </p:sp>
      <p:sp>
        <p:nvSpPr>
          <p:cNvPr id="503" name="Google Shape;503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04" name="Google Shape;504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5" name="Google Shape;505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06" name="Google Shape;506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48%</a:t>
            </a:r>
            <a:endParaRPr/>
          </a:p>
        </p:txBody>
      </p:sp>
      <p:sp>
        <p:nvSpPr>
          <p:cNvPr id="507" name="Google Shape;507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508" name="Google Shape;508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Derek Janssen</a:t>
            </a:r>
            <a:endParaRPr/>
          </a:p>
        </p:txBody>
      </p:sp>
      <p:sp>
        <p:nvSpPr>
          <p:cNvPr id="515" name="Google Shape;515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vs 2025  |  Green = growth  |  Red = decline  |  Hit ratio = binds / submissions</a:t>
            </a:r>
            <a:endParaRPr/>
          </a:p>
        </p:txBody>
      </p:sp>
      <p:sp>
        <p:nvSpPr>
          <p:cNvPr id="516" name="Google Shape;516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16952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17" name="Google Shape;517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1026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18" name="Google Shape;518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6.1%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9" name="Google Shape;519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-9.8%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20" name="Google Shape;520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-57.0%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21" name="Google Shape;521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23" name="Google Shape;523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4" name="Google Shape;524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25" name="Google Shape;525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26" name="Google Shape;526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27" name="Google Shape;527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28" name="Google Shape;528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29" name="Google Shape;529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32" name="Google Shape;532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3,444</a:t>
            </a:r>
            <a:endParaRPr/>
          </a:p>
        </p:txBody>
      </p:sp>
      <p:sp>
        <p:nvSpPr>
          <p:cNvPr id="533" name="Google Shape;533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185</a:t>
            </a:r>
            <a:endParaRPr/>
          </a:p>
        </p:txBody>
      </p:sp>
      <p:sp>
        <p:nvSpPr>
          <p:cNvPr id="534" name="Google Shape;534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535" name="Google Shape;535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3,240</a:t>
            </a:r>
            <a:endParaRPr/>
          </a:p>
        </p:txBody>
      </p:sp>
      <p:sp>
        <p:nvSpPr>
          <p:cNvPr id="536" name="Google Shape;536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+6%</a:t>
            </a:r>
            <a:endParaRPr/>
          </a:p>
        </p:txBody>
      </p:sp>
      <p:sp>
        <p:nvSpPr>
          <p:cNvPr id="537" name="Google Shape;537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38" name="Google Shape;538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2,990</a:t>
            </a:r>
            <a:endParaRPr/>
          </a:p>
        </p:txBody>
      </p:sp>
      <p:sp>
        <p:nvSpPr>
          <p:cNvPr id="539" name="Google Shape;539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160</a:t>
            </a:r>
            <a:endParaRPr/>
          </a:p>
        </p:txBody>
      </p:sp>
      <p:sp>
        <p:nvSpPr>
          <p:cNvPr id="540" name="Google Shape;540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541" name="Google Shape;541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3,164</a:t>
            </a:r>
            <a:endParaRPr/>
          </a:p>
        </p:txBody>
      </p:sp>
      <p:sp>
        <p:nvSpPr>
          <p:cNvPr id="542" name="Google Shape;542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-5%</a:t>
            </a:r>
            <a:endParaRPr/>
          </a:p>
        </p:txBody>
      </p:sp>
      <p:sp>
        <p:nvSpPr>
          <p:cNvPr id="543" name="Google Shape;543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45" name="Google Shape;545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3,292</a:t>
            </a:r>
            <a:endParaRPr/>
          </a:p>
        </p:txBody>
      </p:sp>
      <p:sp>
        <p:nvSpPr>
          <p:cNvPr id="546" name="Google Shape;546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183</a:t>
            </a:r>
            <a:endParaRPr/>
          </a:p>
        </p:txBody>
      </p:sp>
      <p:sp>
        <p:nvSpPr>
          <p:cNvPr id="547" name="Google Shape;547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548" name="Google Shape;548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4,146</a:t>
            </a:r>
            <a:endParaRPr/>
          </a:p>
        </p:txBody>
      </p:sp>
      <p:sp>
        <p:nvSpPr>
          <p:cNvPr id="549" name="Google Shape;549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-21%</a:t>
            </a:r>
            <a:endParaRPr/>
          </a:p>
        </p:txBody>
      </p:sp>
      <p:sp>
        <p:nvSpPr>
          <p:cNvPr id="550" name="Google Shape;550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51" name="Google Shape;551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3,968</a:t>
            </a:r>
            <a:endParaRPr/>
          </a:p>
        </p:txBody>
      </p:sp>
      <p:sp>
        <p:nvSpPr>
          <p:cNvPr id="552" name="Google Shape;552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236</a:t>
            </a:r>
            <a:endParaRPr/>
          </a:p>
        </p:txBody>
      </p:sp>
      <p:sp>
        <p:nvSpPr>
          <p:cNvPr id="553" name="Google Shape;553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554" name="Google Shape;554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4,203</a:t>
            </a:r>
            <a:endParaRPr/>
          </a:p>
        </p:txBody>
      </p:sp>
      <p:sp>
        <p:nvSpPr>
          <p:cNvPr id="555" name="Google Shape;555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-6%</a:t>
            </a:r>
            <a:endParaRPr/>
          </a:p>
        </p:txBody>
      </p:sp>
      <p:sp>
        <p:nvSpPr>
          <p:cNvPr id="556" name="Google Shape;556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8" name="Google Shape;558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3,258</a:t>
            </a:r>
            <a:endParaRPr/>
          </a:p>
        </p:txBody>
      </p:sp>
      <p:sp>
        <p:nvSpPr>
          <p:cNvPr id="559" name="Google Shape;559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</a:t>
            </a:r>
            <a:endParaRPr/>
          </a:p>
        </p:txBody>
      </p:sp>
      <p:sp>
        <p:nvSpPr>
          <p:cNvPr id="560" name="Google Shape;560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8.0%</a:t>
            </a:r>
            <a:endParaRPr/>
          </a:p>
        </p:txBody>
      </p:sp>
      <p:sp>
        <p:nvSpPr>
          <p:cNvPr id="561" name="Google Shape;561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4,040</a:t>
            </a:r>
            <a:endParaRPr/>
          </a:p>
        </p:txBody>
      </p:sp>
      <p:sp>
        <p:nvSpPr>
          <p:cNvPr id="562" name="Google Shape;562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-19%</a:t>
            </a:r>
            <a:endParaRPr/>
          </a:p>
        </p:txBody>
      </p:sp>
      <p:sp>
        <p:nvSpPr>
          <p:cNvPr id="563" name="Google Shape;563;p5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5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65" name="Google Shape;565;p5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16,952</a:t>
            </a:r>
            <a:endParaRPr/>
          </a:p>
        </p:txBody>
      </p:sp>
      <p:sp>
        <p:nvSpPr>
          <p:cNvPr id="566" name="Google Shape;566;p5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1026</a:t>
            </a:r>
            <a:endParaRPr/>
          </a:p>
        </p:txBody>
      </p:sp>
      <p:sp>
        <p:nvSpPr>
          <p:cNvPr id="567" name="Google Shape;567;p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6.1%</a:t>
            </a:r>
            <a:endParaRPr/>
          </a:p>
        </p:txBody>
      </p:sp>
      <p:sp>
        <p:nvSpPr>
          <p:cNvPr id="568" name="Google Shape;568;p5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18,793</a:t>
            </a:r>
            <a:endParaRPr/>
          </a:p>
        </p:txBody>
      </p:sp>
      <p:sp>
        <p:nvSpPr>
          <p:cNvPr id="569" name="Google Shape;569;p5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-10%</a:t>
            </a:r>
            <a:endParaRPr/>
          </a:p>
        </p:txBody>
      </p:sp>
      <p:sp>
        <p:nvSpPr>
          <p:cNvPr id="570" name="Google Shape;570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72" name="Google Shape;572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73" name="Google Shape;573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74" name="Google Shape;574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77" name="Google Shape;577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580" name="Google Shape;580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6,339</a:t>
            </a:r>
            <a:endParaRPr/>
          </a:p>
        </p:txBody>
      </p:sp>
      <p:sp>
        <p:nvSpPr>
          <p:cNvPr id="581" name="Google Shape;581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582" name="Google Shape;582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583" name="Google Shape;583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-176</a:t>
            </a:r>
            <a:endParaRPr/>
          </a:p>
        </p:txBody>
      </p:sp>
      <p:sp>
        <p:nvSpPr>
          <p:cNvPr id="584" name="Google Shape;584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Services</a:t>
            </a:r>
            <a:endParaRPr/>
          </a:p>
        </p:txBody>
      </p:sp>
      <p:sp>
        <p:nvSpPr>
          <p:cNvPr id="585" name="Google Shape;585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3,003</a:t>
            </a:r>
            <a:endParaRPr/>
          </a:p>
        </p:txBody>
      </p:sp>
      <p:sp>
        <p:nvSpPr>
          <p:cNvPr id="586" name="Google Shape;586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</p:txBody>
      </p:sp>
      <p:sp>
        <p:nvSpPr>
          <p:cNvPr id="587" name="Google Shape;587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588" name="Google Shape;588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+1,023</a:t>
            </a:r>
            <a:endParaRPr/>
          </a:p>
        </p:txBody>
      </p:sp>
      <p:sp>
        <p:nvSpPr>
          <p:cNvPr id="589" name="Google Shape;589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Inc</a:t>
            </a:r>
            <a:endParaRPr/>
          </a:p>
        </p:txBody>
      </p:sp>
      <p:sp>
        <p:nvSpPr>
          <p:cNvPr id="591" name="Google Shape;591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1,287</a:t>
            </a:r>
            <a:endParaRPr/>
          </a:p>
        </p:txBody>
      </p:sp>
      <p:sp>
        <p:nvSpPr>
          <p:cNvPr id="592" name="Google Shape;592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593" name="Google Shape;593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594" name="Google Shape;594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-306</a:t>
            </a:r>
            <a:endParaRPr/>
          </a:p>
        </p:txBody>
      </p:sp>
      <p:sp>
        <p:nvSpPr>
          <p:cNvPr id="595" name="Google Shape;595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596" name="Google Shape;596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885</a:t>
            </a:r>
            <a:endParaRPr/>
          </a:p>
        </p:txBody>
      </p:sp>
      <p:sp>
        <p:nvSpPr>
          <p:cNvPr id="597" name="Google Shape;597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598" name="Google Shape;598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-386</a:t>
            </a:r>
            <a:endParaRPr/>
          </a:p>
        </p:txBody>
      </p:sp>
      <p:sp>
        <p:nvSpPr>
          <p:cNvPr id="600" name="Google Shape;600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Inc.</a:t>
            </a:r>
            <a:endParaRPr/>
          </a:p>
        </p:txBody>
      </p:sp>
      <p:sp>
        <p:nvSpPr>
          <p:cNvPr id="602" name="Google Shape;602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680</a:t>
            </a:r>
            <a:endParaRPr/>
          </a:p>
        </p:txBody>
      </p:sp>
      <p:sp>
        <p:nvSpPr>
          <p:cNvPr id="603" name="Google Shape;603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604" name="Google Shape;604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605" name="Google Shape;605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+66</a:t>
            </a:r>
            <a:endParaRPr/>
          </a:p>
        </p:txBody>
      </p:sp>
      <p:sp>
        <p:nvSpPr>
          <p:cNvPr id="606" name="Google Shape;606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Dba: Ca</a:t>
            </a:r>
            <a:endParaRPr/>
          </a:p>
        </p:txBody>
      </p:sp>
      <p:sp>
        <p:nvSpPr>
          <p:cNvPr id="607" name="Google Shape;607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675</a:t>
            </a:r>
            <a:endParaRPr/>
          </a:p>
        </p:txBody>
      </p:sp>
      <p:sp>
        <p:nvSpPr>
          <p:cNvPr id="608" name="Google Shape;608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609" name="Google Shape;609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+92</a:t>
            </a:r>
            <a:endParaRPr/>
          </a:p>
        </p:txBody>
      </p:sp>
      <p:sp>
        <p:nvSpPr>
          <p:cNvPr id="611" name="Google Shape;611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 Patty Insurance Services</a:t>
            </a:r>
            <a:endParaRPr/>
          </a:p>
        </p:txBody>
      </p:sp>
      <p:sp>
        <p:nvSpPr>
          <p:cNvPr id="613" name="Google Shape;613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433</a:t>
            </a:r>
            <a:endParaRPr/>
          </a:p>
        </p:txBody>
      </p:sp>
      <p:sp>
        <p:nvSpPr>
          <p:cNvPr id="614" name="Google Shape;614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615" name="Google Shape;615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7.9%</a:t>
            </a:r>
            <a:endParaRPr/>
          </a:p>
        </p:txBody>
      </p:sp>
      <p:sp>
        <p:nvSpPr>
          <p:cNvPr id="616" name="Google Shape;616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-264</a:t>
            </a:r>
            <a:endParaRPr/>
          </a:p>
        </p:txBody>
      </p:sp>
      <p:sp>
        <p:nvSpPr>
          <p:cNvPr id="617" name="Google Shape;617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Solutions Insurance Agency, L.l.c.</a:t>
            </a:r>
            <a:endParaRPr/>
          </a:p>
        </p:txBody>
      </p:sp>
      <p:sp>
        <p:nvSpPr>
          <p:cNvPr id="618" name="Google Shape;618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316</a:t>
            </a:r>
            <a:endParaRPr/>
          </a:p>
        </p:txBody>
      </p:sp>
      <p:sp>
        <p:nvSpPr>
          <p:cNvPr id="619" name="Google Shape;619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620" name="Google Shape;620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16.5%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+222</a:t>
            </a:r>
            <a:endParaRPr/>
          </a:p>
        </p:txBody>
      </p:sp>
      <p:sp>
        <p:nvSpPr>
          <p:cNvPr id="622" name="Google Shape;622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Limosa Insurance Services Inc</a:t>
            </a:r>
            <a:endParaRPr/>
          </a:p>
        </p:txBody>
      </p:sp>
      <p:sp>
        <p:nvSpPr>
          <p:cNvPr id="624" name="Google Shape;624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625" name="Google Shape;625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26" name="Google Shape;626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627" name="Google Shape;627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+261</a:t>
            </a:r>
            <a:endParaRPr/>
          </a:p>
        </p:txBody>
      </p:sp>
      <p:sp>
        <p:nvSpPr>
          <p:cNvPr id="628" name="Google Shape;628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Lion Insurance Services</a:t>
            </a:r>
            <a:endParaRPr/>
          </a:p>
        </p:txBody>
      </p:sp>
      <p:sp>
        <p:nvSpPr>
          <p:cNvPr id="629" name="Google Shape;629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247</a:t>
            </a:r>
            <a:endParaRPr/>
          </a:p>
        </p:txBody>
      </p:sp>
      <p:sp>
        <p:nvSpPr>
          <p:cNvPr id="630" name="Google Shape;630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31" name="Google Shape;631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-28</a:t>
            </a:r>
            <a:endParaRPr/>
          </a:p>
        </p:txBody>
      </p:sp>
      <p:sp>
        <p:nvSpPr>
          <p:cNvPr id="633" name="Google Shape;633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Patriot Financial Services Inc</a:t>
            </a:r>
            <a:endParaRPr/>
          </a:p>
        </p:txBody>
      </p:sp>
      <p:sp>
        <p:nvSpPr>
          <p:cNvPr id="635" name="Google Shape;635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</a:t>
            </a:r>
            <a:endParaRPr/>
          </a:p>
        </p:txBody>
      </p:sp>
      <p:sp>
        <p:nvSpPr>
          <p:cNvPr id="636" name="Google Shape;636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37" name="Google Shape;637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638" name="Google Shape;638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+13</a:t>
            </a:r>
            <a:endParaRPr/>
          </a:p>
        </p:txBody>
      </p:sp>
      <p:sp>
        <p:nvSpPr>
          <p:cNvPr id="639" name="Google Shape;639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Sedge Insurance Agency Llc</a:t>
            </a:r>
            <a:endParaRPr/>
          </a:p>
        </p:txBody>
      </p:sp>
      <p:sp>
        <p:nvSpPr>
          <p:cNvPr id="640" name="Google Shape;640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240</a:t>
            </a:r>
            <a:endParaRPr/>
          </a:p>
        </p:txBody>
      </p:sp>
      <p:sp>
        <p:nvSpPr>
          <p:cNvPr id="641" name="Google Shape;641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42" name="Google Shape;642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+237</a:t>
            </a:r>
            <a:endParaRPr/>
          </a:p>
        </p:txBody>
      </p:sp>
      <p:sp>
        <p:nvSpPr>
          <p:cNvPr id="644" name="Google Shape;644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Power Commercial Insurance Brokers</a:t>
            </a:r>
            <a:endParaRPr/>
          </a:p>
        </p:txBody>
      </p:sp>
      <p:sp>
        <p:nvSpPr>
          <p:cNvPr id="646" name="Google Shape;646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647" name="Google Shape;647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48" name="Google Shape;648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649" name="Google Shape;649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-318</a:t>
            </a:r>
            <a:endParaRPr/>
          </a:p>
        </p:txBody>
      </p:sp>
      <p:sp>
        <p:nvSpPr>
          <p:cNvPr id="650" name="Google Shape;650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Insuremart Inc</a:t>
            </a:r>
            <a:endParaRPr/>
          </a:p>
        </p:txBody>
      </p:sp>
      <p:sp>
        <p:nvSpPr>
          <p:cNvPr id="651" name="Google Shape;651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218</a:t>
            </a:r>
            <a:endParaRPr/>
          </a:p>
        </p:txBody>
      </p:sp>
      <p:sp>
        <p:nvSpPr>
          <p:cNvPr id="652" name="Google Shape;652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3" name="Google Shape;653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</a:t>
            </a:r>
            <a:endParaRPr/>
          </a:p>
        </p:txBody>
      </p:sp>
      <p:sp>
        <p:nvSpPr>
          <p:cNvPr id="655" name="Google Shape;655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(The)</a:t>
            </a:r>
            <a:endParaRPr/>
          </a:p>
        </p:txBody>
      </p:sp>
      <p:sp>
        <p:nvSpPr>
          <p:cNvPr id="657" name="Google Shape;657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</p:txBody>
      </p:sp>
      <p:sp>
        <p:nvSpPr>
          <p:cNvPr id="658" name="Google Shape;658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659" name="Google Shape;659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23.9%</a:t>
            </a:r>
            <a:endParaRPr/>
          </a:p>
        </p:txBody>
      </p:sp>
      <p:sp>
        <p:nvSpPr>
          <p:cNvPr id="660" name="Google Shape;660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+23</a:t>
            </a:r>
            <a:endParaRPr/>
          </a:p>
        </p:txBody>
      </p:sp>
      <p:sp>
        <p:nvSpPr>
          <p:cNvPr id="661" name="Google Shape;661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Saint George Insurance Brokerage, Inc.</a:t>
            </a:r>
            <a:endParaRPr/>
          </a:p>
        </p:txBody>
      </p:sp>
      <p:sp>
        <p:nvSpPr>
          <p:cNvPr id="662" name="Google Shape;662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</p:txBody>
      </p:sp>
      <p:sp>
        <p:nvSpPr>
          <p:cNvPr id="663" name="Google Shape;663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64" name="Google Shape;664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</a:t>
            </a:r>
            <a:endParaRPr/>
          </a:p>
        </p:txBody>
      </p:sp>
      <p:sp>
        <p:nvSpPr>
          <p:cNvPr id="665" name="Google Shape;665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+67</a:t>
            </a:r>
            <a:endParaRPr/>
          </a:p>
        </p:txBody>
      </p:sp>
      <p:sp>
        <p:nvSpPr>
          <p:cNvPr id="666" name="Google Shape;666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73" name="Google Shape;673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 |  53 Total Agencies  |  Jan–May 2026</a:t>
            </a:r>
            <a:endParaRPr/>
          </a:p>
        </p:txBody>
      </p:sp>
      <p:sp>
        <p:nvSpPr>
          <p:cNvPr id="674" name="Google Shape;674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6" name="Google Shape;676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77" name="Google Shape;677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78" name="Google Shape;678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9" name="Google Shape;679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80" name="Google Shape;680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81" name="Google Shape;681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82" name="Google Shape;682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3" name="Google Shape;683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4" name="Google Shape;684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5" name="Google Shape;685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$19,896,019</a:t>
            </a:r>
            <a:endParaRPr/>
          </a:p>
        </p:txBody>
      </p:sp>
      <p:sp>
        <p:nvSpPr>
          <p:cNvPr id="686" name="Google Shape;686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$4,479,627</a:t>
            </a:r>
            <a:endParaRPr/>
          </a:p>
        </p:txBody>
      </p:sp>
      <p:sp>
        <p:nvSpPr>
          <p:cNvPr id="687" name="Google Shape;687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$528,182</a:t>
            </a:r>
            <a:endParaRPr/>
          </a:p>
        </p:txBody>
      </p:sp>
      <p:sp>
        <p:nvSpPr>
          <p:cNvPr id="688" name="Google Shape;688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$-2,236,465</a:t>
            </a:r>
            <a:endParaRPr/>
          </a:p>
        </p:txBody>
      </p:sp>
      <p:sp>
        <p:nvSpPr>
          <p:cNvPr id="689" name="Google Shape;689;p6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4,326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3,140</a:t>
            </a:r>
            <a:endParaRPr/>
          </a:p>
        </p:txBody>
      </p:sp>
      <p:sp>
        <p:nvSpPr>
          <p:cNvPr id="691" name="Google Shape;691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472</a:t>
            </a:r>
            <a:endParaRPr/>
          </a:p>
        </p:txBody>
      </p:sp>
      <p:sp>
        <p:nvSpPr>
          <p:cNvPr id="692" name="Google Shape;692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10.9%</a:t>
            </a:r>
            <a:endParaRPr/>
          </a:p>
        </p:txBody>
      </p:sp>
      <p:sp>
        <p:nvSpPr>
          <p:cNvPr id="693" name="Google Shape;693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5" name="Google Shape;695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$18,480,097</a:t>
            </a:r>
            <a:endParaRPr/>
          </a:p>
        </p:txBody>
      </p:sp>
      <p:sp>
        <p:nvSpPr>
          <p:cNvPr id="696" name="Google Shape;696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$3,037,254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$1,245,496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$-2,562,773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3,888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2,807</a:t>
            </a:r>
            <a:endParaRPr/>
          </a:p>
        </p:txBody>
      </p:sp>
      <p:sp>
        <p:nvSpPr>
          <p:cNvPr id="701" name="Google Shape;701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435</a:t>
            </a:r>
            <a:endParaRPr/>
          </a:p>
        </p:txBody>
      </p:sp>
      <p:sp>
        <p:nvSpPr>
          <p:cNvPr id="702" name="Google Shape;702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11.2%</a:t>
            </a:r>
            <a:endParaRPr/>
          </a:p>
        </p:txBody>
      </p:sp>
      <p:sp>
        <p:nvSpPr>
          <p:cNvPr id="703" name="Google Shape;703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4" name="Google Shape;704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$20,068,641</a:t>
            </a:r>
            <a:endParaRPr/>
          </a:p>
        </p:txBody>
      </p:sp>
      <p:sp>
        <p:nvSpPr>
          <p:cNvPr id="705" name="Google Shape;705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$3,175,810</a:t>
            </a:r>
            <a:endParaRPr/>
          </a:p>
        </p:txBody>
      </p:sp>
      <p:sp>
        <p:nvSpPr>
          <p:cNvPr id="706" name="Google Shape;706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$1,928,146</a:t>
            </a:r>
            <a:endParaRPr/>
          </a:p>
        </p:txBody>
      </p:sp>
      <p:sp>
        <p:nvSpPr>
          <p:cNvPr id="707" name="Google Shape;707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$-2,576,798</a:t>
            </a:r>
            <a:endParaRPr/>
          </a:p>
        </p:txBody>
      </p:sp>
      <p:sp>
        <p:nvSpPr>
          <p:cNvPr id="708" name="Google Shape;708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4,097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2,912</a:t>
            </a:r>
            <a:endParaRPr/>
          </a:p>
        </p:txBody>
      </p:sp>
      <p:sp>
        <p:nvSpPr>
          <p:cNvPr id="710" name="Google Shape;710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462</a:t>
            </a:r>
            <a:endParaRPr/>
          </a:p>
        </p:txBody>
      </p:sp>
      <p:sp>
        <p:nvSpPr>
          <p:cNvPr id="711" name="Google Shape;711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11.3%</a:t>
            </a:r>
            <a:endParaRPr/>
          </a:p>
        </p:txBody>
      </p:sp>
      <p:sp>
        <p:nvSpPr>
          <p:cNvPr id="712" name="Google Shape;712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4" name="Google Shape;714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$18,231,850</a:t>
            </a:r>
            <a:endParaRPr/>
          </a:p>
        </p:txBody>
      </p:sp>
      <p:sp>
        <p:nvSpPr>
          <p:cNvPr id="715" name="Google Shape;715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$3,653,804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$2,744,075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$-2,704,366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4,338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3,241</a:t>
            </a:r>
            <a:endParaRPr/>
          </a:p>
        </p:txBody>
      </p:sp>
      <p:sp>
        <p:nvSpPr>
          <p:cNvPr id="720" name="Google Shape;720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445</a:t>
            </a:r>
            <a:endParaRPr/>
          </a:p>
        </p:txBody>
      </p:sp>
      <p:sp>
        <p:nvSpPr>
          <p:cNvPr id="721" name="Google Shape;721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722" name="Google Shape;722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3" name="Google Shape;723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$13,527,020</a:t>
            </a:r>
            <a:endParaRPr/>
          </a:p>
        </p:txBody>
      </p:sp>
      <p:sp>
        <p:nvSpPr>
          <p:cNvPr id="724" name="Google Shape;724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$2,986,626</a:t>
            </a:r>
            <a:endParaRPr/>
          </a:p>
        </p:txBody>
      </p:sp>
      <p:sp>
        <p:nvSpPr>
          <p:cNvPr id="725" name="Google Shape;725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$1,811,440</a:t>
            </a:r>
            <a:endParaRPr/>
          </a:p>
        </p:txBody>
      </p:sp>
      <p:sp>
        <p:nvSpPr>
          <p:cNvPr id="726" name="Google Shape;726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$-1,490,239</a:t>
            </a:r>
            <a:endParaRPr/>
          </a:p>
        </p:txBody>
      </p:sp>
      <p:sp>
        <p:nvSpPr>
          <p:cNvPr id="727" name="Google Shape;727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3,382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2,551</a:t>
            </a:r>
            <a:endParaRPr/>
          </a:p>
        </p:txBody>
      </p:sp>
      <p:sp>
        <p:nvSpPr>
          <p:cNvPr id="729" name="Google Shape;729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310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9.2%</a:t>
            </a:r>
            <a:endParaRPr/>
          </a:p>
        </p:txBody>
      </p:sp>
      <p:sp>
        <p:nvSpPr>
          <p:cNvPr id="731" name="Google Shape;731;p6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6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33" name="Google Shape;733;p6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$90,203,627</a:t>
            </a:r>
            <a:endParaRPr/>
          </a:p>
        </p:txBody>
      </p:sp>
      <p:sp>
        <p:nvSpPr>
          <p:cNvPr id="734" name="Google Shape;734;p6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$17,333,121</a:t>
            </a:r>
            <a:endParaRPr/>
          </a:p>
        </p:txBody>
      </p:sp>
      <p:sp>
        <p:nvSpPr>
          <p:cNvPr id="735" name="Google Shape;735;p6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$8,257,339</a:t>
            </a:r>
            <a:endParaRPr/>
          </a:p>
        </p:txBody>
      </p:sp>
      <p:sp>
        <p:nvSpPr>
          <p:cNvPr id="736" name="Google Shape;736;p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$-11,570,641</a:t>
            </a:r>
            <a:endParaRPr/>
          </a:p>
        </p:txBody>
      </p:sp>
      <p:sp>
        <p:nvSpPr>
          <p:cNvPr id="737" name="Google Shape;737;p6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20,031</a:t>
            </a:r>
            <a:endParaRPr/>
          </a:p>
        </p:txBody>
      </p:sp>
      <p:sp>
        <p:nvSpPr>
          <p:cNvPr id="738" name="Google Shape;738;p6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14,651</a:t>
            </a:r>
            <a:endParaRPr/>
          </a:p>
        </p:txBody>
      </p:sp>
      <p:sp>
        <p:nvSpPr>
          <p:cNvPr id="739" name="Google Shape;739;p6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2,124</a:t>
            </a:r>
            <a:endParaRPr/>
          </a:p>
        </p:txBody>
      </p:sp>
      <p:sp>
        <p:nvSpPr>
          <p:cNvPr id="740" name="Google Shape;740;p6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10.6%</a:t>
            </a:r>
            <a:endParaRPr/>
          </a:p>
        </p:txBody>
      </p:sp>
      <p:sp>
        <p:nvSpPr>
          <p:cNvPr id="741" name="Google Shape;741;p6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Derek Janssen</a:t>
            </a:r>
            <a:endParaRPr/>
          </a:p>
        </p:txBody>
      </p:sp>
      <p:sp>
        <p:nvSpPr>
          <p:cNvPr id="747" name="Google Shape;747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bdm's agencies  |  2026 YTD</a:t>
            </a:r>
            <a:endParaRPr/>
          </a:p>
        </p:txBody>
      </p:sp>
      <p:sp>
        <p:nvSpPr>
          <p:cNvPr id="748" name="Google Shape;748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49" name="Google Shape;749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50" name="Google Shape;750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$796,297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51" name="Google Shape;751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52" name="Google Shape;752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54" name="Google Shape;754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55" name="Google Shape;755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56" name="Google Shape;756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57" name="Google Shape;757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58" name="Google Shape;758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59" name="Google Shape;759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60" name="Google Shape;760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Services</a:t>
            </a:r>
            <a:endParaRPr/>
          </a:p>
        </p:txBody>
      </p:sp>
      <p:sp>
        <p:nvSpPr>
          <p:cNvPr id="762" name="Google Shape;762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213</a:t>
            </a:r>
            <a:endParaRPr/>
          </a:p>
        </p:txBody>
      </p:sp>
      <p:sp>
        <p:nvSpPr>
          <p:cNvPr id="763" name="Google Shape;763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764" name="Google Shape;764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65" name="Google Shape;765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766" name="Google Shape;766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$96,590</a:t>
            </a:r>
            <a:endParaRPr/>
          </a:p>
        </p:txBody>
      </p:sp>
      <p:sp>
        <p:nvSpPr>
          <p:cNvPr id="767" name="Google Shape;767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768" name="Google Shape;768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769" name="Google Shape;769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770" name="Google Shape;770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1" name="Google Shape;771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2" name="Google Shape;772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73" name="Google Shape;773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Inc.</a:t>
            </a:r>
            <a:endParaRPr/>
          </a:p>
        </p:txBody>
      </p:sp>
      <p:sp>
        <p:nvSpPr>
          <p:cNvPr id="775" name="Google Shape;775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76" name="Google Shape;776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77" name="Google Shape;777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8" name="Google Shape;778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</p:txBody>
      </p:sp>
      <p:sp>
        <p:nvSpPr>
          <p:cNvPr id="779" name="Google Shape;779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$136,077</a:t>
            </a:r>
            <a:endParaRPr/>
          </a:p>
        </p:txBody>
      </p:sp>
      <p:sp>
        <p:nvSpPr>
          <p:cNvPr id="780" name="Google Shape;780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781" name="Google Shape;781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782" name="Google Shape;782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6.1%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$3,719</a:t>
            </a:r>
            <a:endParaRPr/>
          </a:p>
        </p:txBody>
      </p:sp>
      <p:sp>
        <p:nvSpPr>
          <p:cNvPr id="786" name="Google Shape;786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Saint George Insurance Brokerage, Inc.</a:t>
            </a:r>
            <a:endParaRPr/>
          </a:p>
        </p:txBody>
      </p:sp>
      <p:sp>
        <p:nvSpPr>
          <p:cNvPr id="788" name="Google Shape;788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89" name="Google Shape;789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90" name="Google Shape;790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1" name="Google Shape;791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792" name="Google Shape;792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$11,691</a:t>
            </a:r>
            <a:endParaRPr/>
          </a:p>
        </p:txBody>
      </p:sp>
      <p:sp>
        <p:nvSpPr>
          <p:cNvPr id="793" name="Google Shape;793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 Patty Insurance Services</a:t>
            </a:r>
            <a:endParaRPr/>
          </a:p>
        </p:txBody>
      </p:sp>
      <p:sp>
        <p:nvSpPr>
          <p:cNvPr id="794" name="Google Shape;794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95" name="Google Shape;795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10.7%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$57,066</a:t>
            </a:r>
            <a:endParaRPr/>
          </a:p>
        </p:txBody>
      </p:sp>
      <p:sp>
        <p:nvSpPr>
          <p:cNvPr id="799" name="Google Shape;799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SBS Insurance Services Inc dba Smarter Truck Insurance</a:t>
            </a:r>
            <a:endParaRPr/>
          </a:p>
        </p:txBody>
      </p:sp>
      <p:sp>
        <p:nvSpPr>
          <p:cNvPr id="801" name="Google Shape;801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802" name="Google Shape;802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03" name="Google Shape;803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4" name="Google Shape;804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5" name="Google Shape;805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06" name="Google Shape;806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Western Truck Insurance Services, Inc.</a:t>
            </a:r>
            <a:endParaRPr/>
          </a:p>
        </p:txBody>
      </p:sp>
      <p:sp>
        <p:nvSpPr>
          <p:cNvPr id="807" name="Google Shape;807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08" name="Google Shape;808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09" name="Google Shape;809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0" name="Google Shape;810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811" name="Google Shape;811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$43,370</a:t>
            </a:r>
            <a:endParaRPr/>
          </a:p>
        </p:txBody>
      </p:sp>
      <p:sp>
        <p:nvSpPr>
          <p:cNvPr id="812" name="Google Shape;812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CA, NV, PA, TX, UT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Derek Janssen</a:t>
            </a:r>
            <a:endParaRPr/>
          </a:p>
        </p:txBody>
      </p:sp>
      <p:sp>
        <p:nvSpPr>
          <p:cNvPr id="818" name="Google Shape;818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bdm's agencies  |  2026 YTD</a:t>
            </a:r>
            <a:endParaRPr/>
          </a:p>
        </p:txBody>
      </p:sp>
      <p:sp>
        <p:nvSpPr>
          <p:cNvPr id="819" name="Google Shape;819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3,866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20" name="Google Shape;820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21" name="Google Shape;821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$136,630,825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22" name="Google Shape;822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23" name="Google Shape;823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25" name="Google Shape;825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26" name="Google Shape;826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27" name="Google Shape;827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28" name="Google Shape;828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29" name="Google Shape;829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30" name="Google Shape;830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832" name="Google Shape;832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1,348</a:t>
            </a:r>
            <a:endParaRPr/>
          </a:p>
        </p:txBody>
      </p:sp>
      <p:sp>
        <p:nvSpPr>
          <p:cNvPr id="833" name="Google Shape;833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</a:t>
            </a:r>
            <a:endParaRPr/>
          </a:p>
        </p:txBody>
      </p:sp>
      <p:sp>
        <p:nvSpPr>
          <p:cNvPr id="834" name="Google Shape;834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9.7%</a:t>
            </a:r>
            <a:endParaRPr/>
          </a:p>
        </p:txBody>
      </p:sp>
      <p:sp>
        <p:nvSpPr>
          <p:cNvPr id="835" name="Google Shape;835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$18,385,780</a:t>
            </a:r>
            <a:endParaRPr/>
          </a:p>
        </p:txBody>
      </p:sp>
      <p:sp>
        <p:nvSpPr>
          <p:cNvPr id="836" name="Google Shape;836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Inc</a:t>
            </a:r>
            <a:endParaRPr/>
          </a:p>
        </p:txBody>
      </p:sp>
      <p:sp>
        <p:nvSpPr>
          <p:cNvPr id="837" name="Google Shape;837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395</a:t>
            </a:r>
            <a:endParaRPr/>
          </a:p>
        </p:txBody>
      </p:sp>
      <p:sp>
        <p:nvSpPr>
          <p:cNvPr id="838" name="Google Shape;838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839" name="Google Shape;839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31.9%</a:t>
            </a:r>
            <a:endParaRPr/>
          </a:p>
        </p:txBody>
      </p:sp>
      <p:sp>
        <p:nvSpPr>
          <p:cNvPr id="840" name="Google Shape;840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$22,569,576</a:t>
            </a:r>
            <a:endParaRPr/>
          </a:p>
        </p:txBody>
      </p:sp>
      <p:sp>
        <p:nvSpPr>
          <p:cNvPr id="841" name="Google Shape;841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Inc.</a:t>
            </a:r>
            <a:endParaRPr/>
          </a:p>
        </p:txBody>
      </p:sp>
      <p:sp>
        <p:nvSpPr>
          <p:cNvPr id="843" name="Google Shape;843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389</a:t>
            </a:r>
            <a:endParaRPr/>
          </a:p>
        </p:txBody>
      </p:sp>
      <p:sp>
        <p:nvSpPr>
          <p:cNvPr id="844" name="Google Shape;844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164</a:t>
            </a:r>
            <a:endParaRPr/>
          </a:p>
        </p:txBody>
      </p:sp>
      <p:sp>
        <p:nvSpPr>
          <p:cNvPr id="845" name="Google Shape;845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42.2%</a:t>
            </a:r>
            <a:endParaRPr/>
          </a:p>
        </p:txBody>
      </p:sp>
      <p:sp>
        <p:nvSpPr>
          <p:cNvPr id="846" name="Google Shape;846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$27,394,704</a:t>
            </a:r>
            <a:endParaRPr/>
          </a:p>
        </p:txBody>
      </p:sp>
      <p:sp>
        <p:nvSpPr>
          <p:cNvPr id="847" name="Google Shape;847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Services</a:t>
            </a:r>
            <a:endParaRPr/>
          </a:p>
        </p:txBody>
      </p:sp>
      <p:sp>
        <p:nvSpPr>
          <p:cNvPr id="848" name="Google Shape;848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301</a:t>
            </a:r>
            <a:endParaRPr/>
          </a:p>
        </p:txBody>
      </p:sp>
      <p:sp>
        <p:nvSpPr>
          <p:cNvPr id="849" name="Google Shape;849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850" name="Google Shape;850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27.9%</a:t>
            </a:r>
            <a:endParaRPr/>
          </a:p>
        </p:txBody>
      </p:sp>
      <p:sp>
        <p:nvSpPr>
          <p:cNvPr id="851" name="Google Shape;851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$6,212,559</a:t>
            </a:r>
            <a:endParaRPr/>
          </a:p>
        </p:txBody>
      </p:sp>
      <p:sp>
        <p:nvSpPr>
          <p:cNvPr id="852" name="Google Shape;852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DBA: CASCAD</a:t>
            </a:r>
            <a:endParaRPr/>
          </a:p>
        </p:txBody>
      </p:sp>
      <p:sp>
        <p:nvSpPr>
          <p:cNvPr id="854" name="Google Shape;854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233</a:t>
            </a:r>
            <a:endParaRPr/>
          </a:p>
        </p:txBody>
      </p:sp>
      <p:sp>
        <p:nvSpPr>
          <p:cNvPr id="855" name="Google Shape;855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856" name="Google Shape;856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33.5%</a:t>
            </a:r>
            <a:endParaRPr/>
          </a:p>
        </p:txBody>
      </p:sp>
      <p:sp>
        <p:nvSpPr>
          <p:cNvPr id="857" name="Google Shape;857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$8,260,209</a:t>
            </a:r>
            <a:endParaRPr/>
          </a:p>
        </p:txBody>
      </p:sp>
      <p:sp>
        <p:nvSpPr>
          <p:cNvPr id="858" name="Google Shape;858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Corp.</a:t>
            </a:r>
            <a:endParaRPr/>
          </a:p>
        </p:txBody>
      </p:sp>
      <p:sp>
        <p:nvSpPr>
          <p:cNvPr id="859" name="Google Shape;859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213</a:t>
            </a:r>
            <a:endParaRPr/>
          </a:p>
        </p:txBody>
      </p:sp>
      <p:sp>
        <p:nvSpPr>
          <p:cNvPr id="860" name="Google Shape;860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861" name="Google Shape;861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49.3%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$15,623,661</a:t>
            </a:r>
            <a:endParaRPr/>
          </a:p>
        </p:txBody>
      </p:sp>
      <p:sp>
        <p:nvSpPr>
          <p:cNvPr id="863" name="Google Shape;863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Sedge Insurance Agency LLC</a:t>
            </a:r>
            <a:endParaRPr/>
          </a:p>
        </p:txBody>
      </p:sp>
      <p:sp>
        <p:nvSpPr>
          <p:cNvPr id="865" name="Google Shape;865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134</a:t>
            </a:r>
            <a:endParaRPr/>
          </a:p>
        </p:txBody>
      </p:sp>
      <p:sp>
        <p:nvSpPr>
          <p:cNvPr id="866" name="Google Shape;866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867" name="Google Shape;867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44.8%</a:t>
            </a:r>
            <a:endParaRPr/>
          </a:p>
        </p:txBody>
      </p:sp>
      <p:sp>
        <p:nvSpPr>
          <p:cNvPr id="868" name="Google Shape;868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$8,745,166</a:t>
            </a:r>
            <a:endParaRPr/>
          </a:p>
        </p:txBody>
      </p:sp>
      <p:sp>
        <p:nvSpPr>
          <p:cNvPr id="869" name="Google Shape;869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870" name="Google Shape;870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871" name="Google Shape;871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72" name="Google Shape;872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29.8%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$951,914</a:t>
            </a:r>
            <a:endParaRPr/>
          </a:p>
        </p:txBody>
      </p:sp>
      <p:sp>
        <p:nvSpPr>
          <p:cNvPr id="874" name="Google Shape;874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876" name="Google Shape;876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877" name="Google Shape;877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1804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(47%)</a:t>
            </a:r>
            <a:endParaRPr/>
          </a:p>
        </p:txBody>
      </p:sp>
      <p:sp>
        <p:nvSpPr>
          <p:cNvPr id="879" name="Google Shape;879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880" name="Google Shape;880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1374</a:t>
            </a:r>
            <a:endParaRPr/>
          </a:p>
        </p:txBody>
      </p:sp>
      <p:sp>
        <p:nvSpPr>
          <p:cNvPr id="881" name="Google Shape;881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(36%)</a:t>
            </a:r>
            <a:endParaRPr/>
          </a:p>
        </p:txBody>
      </p:sp>
      <p:sp>
        <p:nvSpPr>
          <p:cNvPr id="882" name="Google Shape;882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883" name="Google Shape;883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659</a:t>
            </a:r>
            <a:endParaRPr/>
          </a:p>
        </p:txBody>
      </p:sp>
      <p:sp>
        <p:nvSpPr>
          <p:cNvPr id="884" name="Google Shape;884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(17%)</a:t>
            </a:r>
            <a:endParaRPr/>
          </a:p>
        </p:txBody>
      </p:sp>
      <p:sp>
        <p:nvSpPr>
          <p:cNvPr id="885" name="Google Shape;885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886" name="Google Shape;886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887" name="Google Shape;887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(1%)</a:t>
            </a:r>
            <a:endParaRPr/>
          </a:p>
        </p:txBody>
      </p:sp>
      <p:sp>
        <p:nvSpPr>
          <p:cNvPr id="888" name="Google Shape;888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889" name="Google Shape;889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0" name="Google Shape;890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91" name="Google Shape;891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26.3%  ·  Declined: 802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5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Derek Janssen</a:t>
            </a:r>
            <a:endParaRPr/>
          </a:p>
        </p:txBody>
      </p:sp>
      <p:sp>
        <p:nvSpPr>
          <p:cNvPr id="898" name="Google Shape;898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Individual agents ranked by YTD submissions  |  Agent = broker_contact on submission  |  Trend = MoM</a:t>
            </a:r>
            <a:endParaRPr/>
          </a:p>
        </p:txBody>
      </p:sp>
      <p:sp>
        <p:nvSpPr>
          <p:cNvPr id="899" name="Google Shape;899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18130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900" name="Google Shape;900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901" name="Google Shape;901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902" name="Google Shape;902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903" name="Google Shape;903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904" name="Google Shape;904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906" name="Google Shape;906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907" name="Google Shape;907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908" name="Google Shape;908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09" name="Google Shape;909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0" name="Google Shape;910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11" name="Google Shape;911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12" name="Google Shape;912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" name="Google Shape;914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Cecile Awad</a:t>
            </a:r>
            <a:endParaRPr/>
          </a:p>
        </p:txBody>
      </p:sp>
      <p:sp>
        <p:nvSpPr>
          <p:cNvPr id="915" name="Google Shape;915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</a:t>
            </a:r>
            <a:endParaRPr/>
          </a:p>
        </p:txBody>
      </p:sp>
      <p:sp>
        <p:nvSpPr>
          <p:cNvPr id="916" name="Google Shape;916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2740</a:t>
            </a:r>
            <a:endParaRPr/>
          </a:p>
        </p:txBody>
      </p:sp>
      <p:sp>
        <p:nvSpPr>
          <p:cNvPr id="917" name="Google Shape;917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</a:t>
            </a:r>
            <a:endParaRPr/>
          </a:p>
        </p:txBody>
      </p:sp>
      <p:sp>
        <p:nvSpPr>
          <p:cNvPr id="918" name="Google Shape;918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919" name="Google Shape;919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20" name="Google Shape;920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API_USER API_USER</a:t>
            </a:r>
            <a:endParaRPr/>
          </a:p>
        </p:txBody>
      </p:sp>
      <p:sp>
        <p:nvSpPr>
          <p:cNvPr id="921" name="Google Shape;921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Insurabrite Insurance Services</a:t>
            </a:r>
            <a:endParaRPr/>
          </a:p>
        </p:txBody>
      </p:sp>
      <p:sp>
        <p:nvSpPr>
          <p:cNvPr id="922" name="Google Shape;922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2130</a:t>
            </a:r>
            <a:endParaRPr/>
          </a:p>
        </p:txBody>
      </p:sp>
      <p:sp>
        <p:nvSpPr>
          <p:cNvPr id="923" name="Google Shape;923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4" name="Google Shape;924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0.2%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26" name="Google Shape;926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Ateetpal Bansal</a:t>
            </a:r>
            <a:endParaRPr/>
          </a:p>
        </p:txBody>
      </p:sp>
      <p:sp>
        <p:nvSpPr>
          <p:cNvPr id="928" name="Google Shape;928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</a:t>
            </a:r>
            <a:endParaRPr/>
          </a:p>
        </p:txBody>
      </p:sp>
      <p:sp>
        <p:nvSpPr>
          <p:cNvPr id="929" name="Google Shape;929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898</a:t>
            </a:r>
            <a:endParaRPr/>
          </a:p>
        </p:txBody>
      </p:sp>
      <p:sp>
        <p:nvSpPr>
          <p:cNvPr id="930" name="Google Shape;930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931" name="Google Shape;931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5.8%</a:t>
            </a:r>
            <a:endParaRPr/>
          </a:p>
        </p:txBody>
      </p:sp>
      <p:sp>
        <p:nvSpPr>
          <p:cNvPr id="932" name="Google Shape;932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33" name="Google Shape;933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Raul Fernandez</a:t>
            </a:r>
            <a:endParaRPr/>
          </a:p>
        </p:txBody>
      </p:sp>
      <p:sp>
        <p:nvSpPr>
          <p:cNvPr id="934" name="Google Shape;934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935" name="Google Shape;935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713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10.8%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39" name="Google Shape;939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Anahit Grigoryan</a:t>
            </a:r>
            <a:endParaRPr/>
          </a:p>
        </p:txBody>
      </p:sp>
      <p:sp>
        <p:nvSpPr>
          <p:cNvPr id="941" name="Google Shape;941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</a:t>
            </a:r>
            <a:endParaRPr/>
          </a:p>
        </p:txBody>
      </p:sp>
      <p:sp>
        <p:nvSpPr>
          <p:cNvPr id="942" name="Google Shape;942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673</a:t>
            </a:r>
            <a:endParaRPr/>
          </a:p>
        </p:txBody>
      </p:sp>
      <p:sp>
        <p:nvSpPr>
          <p:cNvPr id="943" name="Google Shape;943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944" name="Google Shape;944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945" name="Google Shape;945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46" name="Google Shape;946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Patricia Galindoparedes</a:t>
            </a:r>
            <a:endParaRPr/>
          </a:p>
        </p:txBody>
      </p:sp>
      <p:sp>
        <p:nvSpPr>
          <p:cNvPr id="947" name="Google Shape;947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 Patty Insurance Services</a:t>
            </a:r>
            <a:endParaRPr/>
          </a:p>
        </p:txBody>
      </p:sp>
      <p:sp>
        <p:nvSpPr>
          <p:cNvPr id="948" name="Google Shape;948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428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2" name="Google Shape;952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ARUNDEEP SINGH</a:t>
            </a:r>
            <a:endParaRPr/>
          </a:p>
        </p:txBody>
      </p:sp>
      <p:sp>
        <p:nvSpPr>
          <p:cNvPr id="954" name="Google Shape;954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</a:t>
            </a:r>
            <a:endParaRPr/>
          </a:p>
        </p:txBody>
      </p:sp>
      <p:sp>
        <p:nvSpPr>
          <p:cNvPr id="955" name="Google Shape;955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372</a:t>
            </a:r>
            <a:endParaRPr/>
          </a:p>
        </p:txBody>
      </p:sp>
      <p:sp>
        <p:nvSpPr>
          <p:cNvPr id="956" name="Google Shape;956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957" name="Google Shape;957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958" name="Google Shape;958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9" name="Google Shape;959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LARISA DAVTYAN</a:t>
            </a:r>
            <a:endParaRPr/>
          </a:p>
        </p:txBody>
      </p:sp>
      <p:sp>
        <p:nvSpPr>
          <p:cNvPr id="960" name="Google Shape;960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</a:t>
            </a:r>
            <a:endParaRPr/>
          </a:p>
        </p:txBody>
      </p:sp>
      <p:sp>
        <p:nvSpPr>
          <p:cNvPr id="961" name="Google Shape;961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336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13.7%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65" name="Google Shape;965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RAJNI KAPUR</a:t>
            </a:r>
            <a:endParaRPr/>
          </a:p>
        </p:txBody>
      </p:sp>
      <p:sp>
        <p:nvSpPr>
          <p:cNvPr id="967" name="Google Shape;967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Solutions Insurance Agency</a:t>
            </a:r>
            <a:endParaRPr/>
          </a:p>
        </p:txBody>
      </p:sp>
      <p:sp>
        <p:nvSpPr>
          <p:cNvPr id="968" name="Google Shape;968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313</a:t>
            </a:r>
            <a:endParaRPr/>
          </a:p>
        </p:txBody>
      </p:sp>
      <p:sp>
        <p:nvSpPr>
          <p:cNvPr id="969" name="Google Shape;969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970" name="Google Shape;970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16.3%</a:t>
            </a:r>
            <a:endParaRPr/>
          </a:p>
        </p:txBody>
      </p:sp>
      <p:sp>
        <p:nvSpPr>
          <p:cNvPr id="971" name="Google Shape;971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972" name="Google Shape;972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Gayane Yeghiazaryan</a:t>
            </a:r>
            <a:endParaRPr/>
          </a:p>
        </p:txBody>
      </p:sp>
      <p:sp>
        <p:nvSpPr>
          <p:cNvPr id="973" name="Google Shape;973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Limosa Insurance Services Inc</a:t>
            </a:r>
            <a:endParaRPr/>
          </a:p>
        </p:txBody>
      </p:sp>
      <p:sp>
        <p:nvSpPr>
          <p:cNvPr id="974" name="Google Shape;974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8" name="Google Shape;978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Christopher Murphy</a:t>
            </a:r>
            <a:endParaRPr/>
          </a:p>
        </p:txBody>
      </p:sp>
      <p:sp>
        <p:nvSpPr>
          <p:cNvPr id="980" name="Google Shape;980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981" name="Google Shape;981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</a:t>
            </a:r>
            <a:endParaRPr/>
          </a:p>
        </p:txBody>
      </p:sp>
      <p:sp>
        <p:nvSpPr>
          <p:cNvPr id="982" name="Google Shape;982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3" name="Google Shape;983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84" name="Google Shape;984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5" name="Google Shape;985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Tigran Vardanyan</a:t>
            </a:r>
            <a:endParaRPr/>
          </a:p>
        </p:txBody>
      </p:sp>
      <p:sp>
        <p:nvSpPr>
          <p:cNvPr id="986" name="Google Shape;986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Lion Insurance Services</a:t>
            </a:r>
            <a:endParaRPr/>
          </a:p>
        </p:txBody>
      </p:sp>
      <p:sp>
        <p:nvSpPr>
          <p:cNvPr id="987" name="Google Shape;987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247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1" name="Google Shape;991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Sapna Kharbanda</a:t>
            </a:r>
            <a:endParaRPr/>
          </a:p>
        </p:txBody>
      </p:sp>
      <p:sp>
        <p:nvSpPr>
          <p:cNvPr id="993" name="Google Shape;993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Sedge Insurance Agency Llc</a:t>
            </a:r>
            <a:endParaRPr/>
          </a:p>
        </p:txBody>
      </p:sp>
      <p:sp>
        <p:nvSpPr>
          <p:cNvPr id="994" name="Google Shape;994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240</a:t>
            </a:r>
            <a:endParaRPr/>
          </a:p>
        </p:txBody>
      </p:sp>
      <p:sp>
        <p:nvSpPr>
          <p:cNvPr id="995" name="Google Shape;995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996" name="Google Shape;996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997" name="Google Shape;997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8" name="Google Shape;998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Stephen Morgan</a:t>
            </a:r>
            <a:endParaRPr/>
          </a:p>
        </p:txBody>
      </p:sp>
      <p:sp>
        <p:nvSpPr>
          <p:cNvPr id="999" name="Google Shape;999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000" name="Google Shape;1000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234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04" name="Google Shape;1004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" name="Google Shape;1005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Ryan Johnson</a:t>
            </a:r>
            <a:endParaRPr/>
          </a:p>
        </p:txBody>
      </p:sp>
      <p:sp>
        <p:nvSpPr>
          <p:cNvPr id="1006" name="Google Shape;1006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007" name="Google Shape;1007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231</a:t>
            </a:r>
            <a:endParaRPr/>
          </a:p>
        </p:txBody>
      </p:sp>
      <p:sp>
        <p:nvSpPr>
          <p:cNvPr id="1008" name="Google Shape;1008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9" name="Google Shape;1009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0" name="Google Shape;1010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11" name="Google Shape;1011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Hakim Kabir</a:t>
            </a:r>
            <a:endParaRPr/>
          </a:p>
        </p:txBody>
      </p:sp>
      <p:sp>
        <p:nvSpPr>
          <p:cNvPr id="1012" name="Google Shape;1012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Power Commercial Insurance Bro</a:t>
            </a:r>
            <a:endParaRPr/>
          </a:p>
        </p:txBody>
      </p:sp>
      <p:sp>
        <p:nvSpPr>
          <p:cNvPr id="1013" name="Google Shape;1013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17" name="Google Shape;1017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Name Given Ankush</a:t>
            </a:r>
            <a:endParaRPr/>
          </a:p>
        </p:txBody>
      </p:sp>
      <p:sp>
        <p:nvSpPr>
          <p:cNvPr id="1019" name="Google Shape;1019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</a:t>
            </a:r>
            <a:endParaRPr/>
          </a:p>
        </p:txBody>
      </p:sp>
      <p:sp>
        <p:nvSpPr>
          <p:cNvPr id="1020" name="Google Shape;1020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</p:txBody>
      </p:sp>
      <p:sp>
        <p:nvSpPr>
          <p:cNvPr id="1021" name="Google Shape;1021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1022" name="Google Shape;1022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23.9%</a:t>
            </a:r>
            <a:endParaRPr/>
          </a:p>
        </p:txBody>
      </p:sp>
      <p:sp>
        <p:nvSpPr>
          <p:cNvPr id="1023" name="Google Shape;1023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24" name="Google Shape;1024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Khalid Salama</a:t>
            </a:r>
            <a:endParaRPr/>
          </a:p>
        </p:txBody>
      </p:sp>
      <p:sp>
        <p:nvSpPr>
          <p:cNvPr id="1025" name="Google Shape;1025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</a:t>
            </a:r>
            <a:endParaRPr/>
          </a:p>
        </p:txBody>
      </p:sp>
      <p:sp>
        <p:nvSpPr>
          <p:cNvPr id="1026" name="Google Shape;1026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</p:txBody>
      </p:sp>
      <p:sp>
        <p:nvSpPr>
          <p:cNvPr id="1027" name="Google Shape;1027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28" name="Google Shape;1028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1029" name="Google Shape;1029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30" name="Google Shape;1030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32" name="Google Shape;1032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33" name="Google Shape;1033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34" name="Google Shape;1034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35" name="Google Shape;1035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38" name="Google Shape;1038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Marie Borja</a:t>
            </a:r>
            <a:endParaRPr/>
          </a:p>
        </p:txBody>
      </p:sp>
      <p:sp>
        <p:nvSpPr>
          <p:cNvPr id="1041" name="Google Shape;1041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Patriot Financial Services Inc</a:t>
            </a:r>
            <a:endParaRPr/>
          </a:p>
        </p:txBody>
      </p:sp>
      <p:sp>
        <p:nvSpPr>
          <p:cNvPr id="1042" name="Google Shape;1042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192</a:t>
            </a:r>
            <a:endParaRPr/>
          </a:p>
        </p:txBody>
      </p:sp>
      <p:sp>
        <p:nvSpPr>
          <p:cNvPr id="1043" name="Google Shape;1043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4" name="Google Shape;1044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5" name="Google Shape;1045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46" name="Google Shape;1046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Harmeet Singh</a:t>
            </a:r>
            <a:endParaRPr/>
          </a:p>
        </p:txBody>
      </p:sp>
      <p:sp>
        <p:nvSpPr>
          <p:cNvPr id="1047" name="Google Shape;1047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Northdale Insurance Agency, In</a:t>
            </a:r>
            <a:endParaRPr/>
          </a:p>
        </p:txBody>
      </p:sp>
      <p:sp>
        <p:nvSpPr>
          <p:cNvPr id="1048" name="Google Shape;1048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165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52" name="Google Shape;1052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" name="Google Shape;1053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Leichner</a:t>
            </a:r>
            <a:endParaRPr/>
          </a:p>
        </p:txBody>
      </p:sp>
      <p:sp>
        <p:nvSpPr>
          <p:cNvPr id="1054" name="Google Shape;1054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055" name="Google Shape;1055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145</a:t>
            </a:r>
            <a:endParaRPr/>
          </a:p>
        </p:txBody>
      </p:sp>
      <p:sp>
        <p:nvSpPr>
          <p:cNvPr id="1056" name="Google Shape;1056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7" name="Google Shape;1057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1058" name="Google Shape;1058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59" name="Google Shape;1059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Spencer DuBose</a:t>
            </a:r>
            <a:endParaRPr/>
          </a:p>
        </p:txBody>
      </p:sp>
      <p:sp>
        <p:nvSpPr>
          <p:cNvPr id="1060" name="Google Shape;1060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061" name="Google Shape;1061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65" name="Google Shape;1065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Michelle Malkhasyan</a:t>
            </a:r>
            <a:endParaRPr/>
          </a:p>
        </p:txBody>
      </p:sp>
      <p:sp>
        <p:nvSpPr>
          <p:cNvPr id="1067" name="Google Shape;1067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 Secure Insurance Service</a:t>
            </a:r>
            <a:endParaRPr/>
          </a:p>
        </p:txBody>
      </p:sp>
      <p:sp>
        <p:nvSpPr>
          <p:cNvPr id="1068" name="Google Shape;1068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</a:t>
            </a:r>
            <a:endParaRPr/>
          </a:p>
        </p:txBody>
      </p:sp>
      <p:sp>
        <p:nvSpPr>
          <p:cNvPr id="1069" name="Google Shape;1069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70" name="Google Shape;1070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</p:txBody>
      </p:sp>
      <p:sp>
        <p:nvSpPr>
          <p:cNvPr id="1071" name="Google Shape;1071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72" name="Google Shape;1072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Clifton Waterbury</a:t>
            </a:r>
            <a:endParaRPr/>
          </a:p>
        </p:txBody>
      </p:sp>
      <p:sp>
        <p:nvSpPr>
          <p:cNvPr id="1073" name="Google Shape;1073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3321 Group L.l.c</a:t>
            </a:r>
            <a:endParaRPr/>
          </a:p>
        </p:txBody>
      </p:sp>
      <p:sp>
        <p:nvSpPr>
          <p:cNvPr id="1074" name="Google Shape;1074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135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78" name="Google Shape;1078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" name="Google Shape;1079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IBRAHIM MAMMO</a:t>
            </a:r>
            <a:endParaRPr/>
          </a:p>
        </p:txBody>
      </p:sp>
      <p:sp>
        <p:nvSpPr>
          <p:cNvPr id="1080" name="Google Shape;1080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</a:t>
            </a:r>
            <a:endParaRPr/>
          </a:p>
        </p:txBody>
      </p:sp>
      <p:sp>
        <p:nvSpPr>
          <p:cNvPr id="1081" name="Google Shape;1081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1082" name="Google Shape;1082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083" name="Google Shape;1083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21.2%</a:t>
            </a:r>
            <a:endParaRPr/>
          </a:p>
        </p:txBody>
      </p:sp>
      <p:sp>
        <p:nvSpPr>
          <p:cNvPr id="1084" name="Google Shape;1084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5" name="Google Shape;1085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Harman Tiwana</a:t>
            </a:r>
            <a:endParaRPr/>
          </a:p>
        </p:txBody>
      </p:sp>
      <p:sp>
        <p:nvSpPr>
          <p:cNvPr id="1086" name="Google Shape;1086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Tiwana Insurance Solutions, In</a:t>
            </a:r>
            <a:endParaRPr/>
          </a:p>
        </p:txBody>
      </p:sp>
      <p:sp>
        <p:nvSpPr>
          <p:cNvPr id="1087" name="Google Shape;1087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91" name="Google Shape;1091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" name="Google Shape;1092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Elizabeth Rodriguez</a:t>
            </a:r>
            <a:endParaRPr/>
          </a:p>
        </p:txBody>
      </p:sp>
      <p:sp>
        <p:nvSpPr>
          <p:cNvPr id="1093" name="Google Shape;1093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Elizabeth'S Insurance Services</a:t>
            </a:r>
            <a:endParaRPr/>
          </a:p>
        </p:txBody>
      </p:sp>
      <p:sp>
        <p:nvSpPr>
          <p:cNvPr id="1094" name="Google Shape;1094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1095" name="Google Shape;1095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96" name="Google Shape;1096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1097" name="Google Shape;1097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98" name="Google Shape;1098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Erik Zargaryan</a:t>
            </a:r>
            <a:endParaRPr/>
          </a:p>
        </p:txBody>
      </p:sp>
      <p:sp>
        <p:nvSpPr>
          <p:cNvPr id="1099" name="Google Shape;1099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</a:t>
            </a:r>
            <a:endParaRPr/>
          </a:p>
        </p:txBody>
      </p:sp>
      <p:sp>
        <p:nvSpPr>
          <p:cNvPr id="1100" name="Google Shape;1100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9.8%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04" name="Google Shape;1104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" name="Google Shape;1105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Damandeep Khokhar</a:t>
            </a:r>
            <a:endParaRPr/>
          </a:p>
        </p:txBody>
      </p:sp>
      <p:sp>
        <p:nvSpPr>
          <p:cNvPr id="1106" name="Google Shape;1106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Dts Insurance Services Inc</a:t>
            </a:r>
            <a:endParaRPr/>
          </a:p>
        </p:txBody>
      </p:sp>
      <p:sp>
        <p:nvSpPr>
          <p:cNvPr id="1107" name="Google Shape;1107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1108" name="Google Shape;1108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109" name="Google Shape;1109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12.3%</a:t>
            </a:r>
            <a:endParaRPr/>
          </a:p>
        </p:txBody>
      </p:sp>
      <p:sp>
        <p:nvSpPr>
          <p:cNvPr id="1110" name="Google Shape;1110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1" name="Google Shape;1111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Luiza Ter-Abramyan</a:t>
            </a:r>
            <a:endParaRPr/>
          </a:p>
        </p:txBody>
      </p:sp>
      <p:sp>
        <p:nvSpPr>
          <p:cNvPr id="1112" name="Google Shape;1112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</a:t>
            </a:r>
            <a:endParaRPr/>
          </a:p>
        </p:txBody>
      </p:sp>
      <p:sp>
        <p:nvSpPr>
          <p:cNvPr id="1113" name="Google Shape;1113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121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7" name="Google Shape;1117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" name="Google Shape;1118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Benjamin Zimunya</a:t>
            </a:r>
            <a:endParaRPr/>
          </a:p>
        </p:txBody>
      </p:sp>
      <p:sp>
        <p:nvSpPr>
          <p:cNvPr id="1119" name="Google Shape;1119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120" name="Google Shape;1120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118</a:t>
            </a:r>
            <a:endParaRPr/>
          </a:p>
        </p:txBody>
      </p:sp>
      <p:sp>
        <p:nvSpPr>
          <p:cNvPr id="1121" name="Google Shape;1121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22" name="Google Shape;1122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</p:txBody>
      </p:sp>
      <p:sp>
        <p:nvSpPr>
          <p:cNvPr id="1123" name="Google Shape;1123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24" name="Google Shape;1124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NICOLE GUINN</a:t>
            </a:r>
            <a:endParaRPr/>
          </a:p>
        </p:txBody>
      </p:sp>
      <p:sp>
        <p:nvSpPr>
          <p:cNvPr id="1125" name="Google Shape;1125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126" name="Google Shape;1126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109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30" name="Google Shape;1130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1" name="Google Shape;1131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Josh Seaton</a:t>
            </a:r>
            <a:endParaRPr/>
          </a:p>
        </p:txBody>
      </p:sp>
      <p:sp>
        <p:nvSpPr>
          <p:cNvPr id="1132" name="Google Shape;1132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133" name="Google Shape;1133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1134" name="Google Shape;1134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5" name="Google Shape;1135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36" name="Google Shape;1136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37" name="Google Shape;1137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Jorge Daniel Tarquini</a:t>
            </a:r>
            <a:endParaRPr/>
          </a:p>
        </p:txBody>
      </p:sp>
      <p:sp>
        <p:nvSpPr>
          <p:cNvPr id="1138" name="Google Shape;1138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Saint George Insurance Brokera</a:t>
            </a:r>
            <a:endParaRPr/>
          </a:p>
        </p:txBody>
      </p:sp>
      <p:sp>
        <p:nvSpPr>
          <p:cNvPr id="1139" name="Google Shape;1139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43" name="Google Shape;1143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Kenny Palmer</a:t>
            </a:r>
            <a:endParaRPr/>
          </a:p>
        </p:txBody>
      </p:sp>
      <p:sp>
        <p:nvSpPr>
          <p:cNvPr id="1145" name="Google Shape;1145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Transtar Insurance Brokers, In</a:t>
            </a:r>
            <a:endParaRPr/>
          </a:p>
        </p:txBody>
      </p:sp>
      <p:sp>
        <p:nvSpPr>
          <p:cNvPr id="1146" name="Google Shape;1146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1147" name="Google Shape;1147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48" name="Google Shape;1148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1.1%</a:t>
            </a:r>
            <a:endParaRPr/>
          </a:p>
        </p:txBody>
      </p:sp>
      <p:sp>
        <p:nvSpPr>
          <p:cNvPr id="1149" name="Google Shape;1149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50" name="Google Shape;1150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Christina Hinson</a:t>
            </a:r>
            <a:endParaRPr/>
          </a:p>
        </p:txBody>
      </p:sp>
      <p:sp>
        <p:nvSpPr>
          <p:cNvPr id="1151" name="Google Shape;1151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152" name="Google Shape;1152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</a:t>
            </a:r>
            <a:endParaRPr/>
          </a:p>
        </p:txBody>
      </p:sp>
      <p:sp>
        <p:nvSpPr>
          <p:cNvPr id="1153" name="Google Shape;1153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54" name="Google Shape;1154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55" name="Google Shape;1155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56" name="Google Shape;1156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5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60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2" name="Google Shape;1162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63" name="Google Shape;1163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Standouts and agencies needing attention</a:t>
            </a:r>
            <a:endParaRPr/>
          </a:p>
        </p:txBody>
      </p:sp>
      <p:sp>
        <p:nvSpPr>
          <p:cNvPr id="1164" name="Google Shape;1164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5" name="Google Shape;1165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66" name="Google Shape;1166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7" name="Google Shape;1167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68" name="Google Shape;1168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69" name="Google Shape;1169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170" name="Google Shape;1170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$3,898,602  |  Subs 6339  |  Binds 116  |  HR 1.8%</a:t>
            </a:r>
            <a:endParaRPr/>
          </a:p>
        </p:txBody>
      </p:sp>
      <p:sp>
        <p:nvSpPr>
          <p:cNvPr id="1171" name="Google Shape;1171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$3,898,602 YTD GWP  |  116 binds in Q1</a:t>
            </a:r>
            <a:endParaRPr/>
          </a:p>
        </p:txBody>
      </p:sp>
      <p:sp>
        <p:nvSpPr>
          <p:cNvPr id="1172" name="Google Shape;1172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73" name="Google Shape;1173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Services</a:t>
            </a:r>
            <a:endParaRPr/>
          </a:p>
        </p:txBody>
      </p:sp>
      <p:sp>
        <p:nvSpPr>
          <p:cNvPr id="1174" name="Google Shape;1174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$3,647,587  |  Subs 3003  |  Binds 158  |  HR 5.3%</a:t>
            </a:r>
            <a:endParaRPr/>
          </a:p>
        </p:txBody>
      </p:sp>
      <p:sp>
        <p:nvSpPr>
          <p:cNvPr id="1175" name="Google Shape;1175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$3,647,587 YTD GWP  |  158 binds in Q1</a:t>
            </a:r>
            <a:endParaRPr/>
          </a:p>
        </p:txBody>
      </p:sp>
      <p:sp>
        <p:nvSpPr>
          <p:cNvPr id="1176" name="Google Shape;1176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77" name="Google Shape;1177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Inc.</a:t>
            </a:r>
            <a:endParaRPr/>
          </a:p>
        </p:txBody>
      </p:sp>
      <p:sp>
        <p:nvSpPr>
          <p:cNvPr id="1178" name="Google Shape;1178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$4,503,943  |  Subs 680  |  Binds 70  |  HR 10.3%</a:t>
            </a:r>
            <a:endParaRPr/>
          </a:p>
        </p:txBody>
      </p:sp>
      <p:sp>
        <p:nvSpPr>
          <p:cNvPr id="1179" name="Google Shape;1179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10.3% (portfolio avg: 5.7%)  |  $4,503,943 YTD GWP</a:t>
            </a:r>
            <a:endParaRPr/>
          </a:p>
        </p:txBody>
      </p:sp>
      <p:sp>
        <p:nvSpPr>
          <p:cNvPr id="1180" name="Google Shape;1180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81" name="Google Shape;1181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Inc</a:t>
            </a:r>
            <a:endParaRPr/>
          </a:p>
        </p:txBody>
      </p:sp>
      <p:sp>
        <p:nvSpPr>
          <p:cNvPr id="1182" name="Google Shape;1182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$2,799,445  |  Subs 1287  |  Binds 87  |  HR 6.8%</a:t>
            </a:r>
            <a:endParaRPr/>
          </a:p>
        </p:txBody>
      </p:sp>
      <p:sp>
        <p:nvSpPr>
          <p:cNvPr id="1183" name="Google Shape;1183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6.8% (portfolio avg: 5.7%)  |  $2,799,445 YTD GWP</a:t>
            </a:r>
            <a:endParaRPr/>
          </a:p>
        </p:txBody>
      </p:sp>
      <p:sp>
        <p:nvSpPr>
          <p:cNvPr id="1184" name="Google Shape;1184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85" name="Google Shape;1185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Dba: Cascad</a:t>
            </a:r>
            <a:endParaRPr/>
          </a:p>
        </p:txBody>
      </p:sp>
      <p:sp>
        <p:nvSpPr>
          <p:cNvPr id="1186" name="Google Shape;1186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$3,118,067  |  Subs 675  |  Binds 69  |  HR 10.2%</a:t>
            </a:r>
            <a:endParaRPr/>
          </a:p>
        </p:txBody>
      </p:sp>
      <p:sp>
        <p:nvSpPr>
          <p:cNvPr id="1187" name="Google Shape;1187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10.2% (portfolio avg: 5.7%)  |  $3,118,067 YTD GWP</a:t>
            </a:r>
            <a:endParaRPr/>
          </a:p>
        </p:txBody>
      </p:sp>
      <p:sp>
        <p:nvSpPr>
          <p:cNvPr id="1188" name="Google Shape;1188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89" name="Google Shape;1189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Insurabrite Insurance Services Llc</a:t>
            </a:r>
            <a:endParaRPr/>
          </a:p>
        </p:txBody>
      </p:sp>
      <p:sp>
        <p:nvSpPr>
          <p:cNvPr id="1190" name="Google Shape;1190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$81,186  |  Subs 22  |  Binds 2  |  HR 9.1%</a:t>
            </a:r>
            <a:endParaRPr/>
          </a:p>
        </p:txBody>
      </p:sp>
      <p:sp>
        <p:nvSpPr>
          <p:cNvPr id="1191" name="Google Shape;1191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are 3956% of new business ($177,887 vs $4,497)</a:t>
            </a:r>
            <a:endParaRPr/>
          </a:p>
        </p:txBody>
      </p:sp>
      <p:sp>
        <p:nvSpPr>
          <p:cNvPr id="1192" name="Google Shape;1192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93" name="Google Shape;1193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Davis &amp; Associates Insurance Agency LLC</a:t>
            </a:r>
            <a:endParaRPr/>
          </a:p>
        </p:txBody>
      </p:sp>
      <p:sp>
        <p:nvSpPr>
          <p:cNvPr id="1194" name="Google Shape;1194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$-821  |  Subs 99  |  Binds 0  |  HR 0.0%</a:t>
            </a:r>
            <a:endParaRPr/>
          </a:p>
        </p:txBody>
      </p:sp>
      <p:sp>
        <p:nvSpPr>
          <p:cNvPr id="1195" name="Google Shape;1195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 submissions with 0 binds - zero conversion  |  Negative net written premium: $-821</a:t>
            </a:r>
            <a:endParaRPr/>
          </a:p>
        </p:txBody>
      </p:sp>
      <p:sp>
        <p:nvSpPr>
          <p:cNvPr id="1196" name="Google Shape;1196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97" name="Google Shape;1197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Beehive Insurance Agency Inc</a:t>
            </a:r>
            <a:endParaRPr/>
          </a:p>
        </p:txBody>
      </p:sp>
      <p:sp>
        <p:nvSpPr>
          <p:cNvPr id="1198" name="Google Shape;1198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$96,353  |  Subs 37  |  Binds 0  |  HR 0.0%</a:t>
            </a:r>
            <a:endParaRPr/>
          </a:p>
        </p:txBody>
      </p:sp>
      <p:sp>
        <p:nvSpPr>
          <p:cNvPr id="1199" name="Google Shape;1199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 submissions with 0 binds - zero conversion  |  Submissions dropped 62% MoM (8 -&gt; 3)</a:t>
            </a:r>
            <a:endParaRPr/>
          </a:p>
        </p:txBody>
      </p:sp>
      <p:sp>
        <p:nvSpPr>
          <p:cNvPr id="1200" name="Google Shape;1200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01" name="Google Shape;1201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SBS Insurance Services Inc dba Smarter Tru</a:t>
            </a:r>
            <a:endParaRPr/>
          </a:p>
        </p:txBody>
      </p:sp>
      <p:sp>
        <p:nvSpPr>
          <p:cNvPr id="1202" name="Google Shape;1202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$67,738  |  Subs 170  |  Binds 8  |  HR 4.7%</a:t>
            </a:r>
            <a:endParaRPr/>
          </a:p>
        </p:txBody>
      </p:sp>
      <p:sp>
        <p:nvSpPr>
          <p:cNvPr id="1203" name="Google Shape;1203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are 344% of new business ($50,518 vs $14,701)  |  Submissions dropped 60% MoM (65 -&gt; 26)</a:t>
            </a:r>
            <a:endParaRPr/>
          </a:p>
        </p:txBody>
      </p:sp>
      <p:sp>
        <p:nvSpPr>
          <p:cNvPr id="1204" name="Google Shape;1204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05" name="Google Shape;1205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Corp.</a:t>
            </a:r>
            <a:endParaRPr/>
          </a:p>
        </p:txBody>
      </p:sp>
      <p:sp>
        <p:nvSpPr>
          <p:cNvPr id="1206" name="Google Shape;1206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$902,116  |  Subs 141  |  Binds 30  |  HR 21.3%</a:t>
            </a:r>
            <a:endParaRPr/>
          </a:p>
        </p:txBody>
      </p:sp>
      <p:sp>
        <p:nvSpPr>
          <p:cNvPr id="1207" name="Google Shape;1207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are 168% of new business ($379,535 vs $225,531)  |  Submissions dropped 68% MoM (66 -&gt; 21)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3" name="Google Shape;1213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I Appointed — Derek Janssen</a:t>
            </a:r>
            <a:endParaRPr/>
          </a:p>
        </p:txBody>
      </p:sp>
      <p:sp>
        <p:nvSpPr>
          <p:cNvPr id="1214" name="Google Shape;1214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 progress  |  Q2 goal: 4 new producing agencies  |  Source: HubSpot Net New Agency / Activated Won</a:t>
            </a:r>
            <a:endParaRPr/>
          </a:p>
        </p:txBody>
      </p:sp>
      <p:sp>
        <p:nvSpPr>
          <p:cNvPr id="1215" name="Google Shape;1215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of 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Q2 OKR 4 PROGRESS</a:t>
            </a:r>
            <a:endParaRPr/>
          </a:p>
        </p:txBody>
      </p:sp>
      <p:sp>
        <p:nvSpPr>
          <p:cNvPr id="1216" name="Google Shape;1216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17" name="Google Shape;1217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18" name="Google Shape;1218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19" name="Google Shape;1219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20" name="Google Shape;1220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0/9 appointed agencies have submitted (0%)  •  0/9 have bound (0%)  •  Total bound: 0  •  Total GWP: $0</a:t>
            </a:r>
            <a:endParaRPr/>
          </a:p>
        </p:txBody>
      </p:sp>
      <p:sp>
        <p:nvSpPr>
          <p:cNvPr id="1221" name="Google Shape;1221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2" name="Google Shape;1222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23" name="Google Shape;1223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24" name="Google Shape;1224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25" name="Google Shape;1225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6" name="Google Shape;1226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27" name="Google Shape;1227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28" name="Google Shape;1228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29" name="Google Shape;1229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30" name="Google Shape;1230;p11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1" name="Google Shape;1231;p11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Jd Fulwiler &amp; Co Insurance</a:t>
            </a:r>
            <a:endParaRPr/>
          </a:p>
        </p:txBody>
      </p:sp>
      <p:sp>
        <p:nvSpPr>
          <p:cNvPr id="1232" name="Google Shape;1232;p1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2026-05-13</a:t>
            </a:r>
            <a:endParaRPr/>
          </a:p>
        </p:txBody>
      </p:sp>
      <p:sp>
        <p:nvSpPr>
          <p:cNvPr id="1233" name="Google Shape;1233;p11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34" name="Google Shape;1234;p11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5" name="Google Shape;1235;p11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36" name="Google Shape;1236;p11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7" name="Google Shape;1237;p11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8" name="Google Shape;1238;p11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Melara Insurance Services</a:t>
            </a:r>
            <a:endParaRPr/>
          </a:p>
        </p:txBody>
      </p:sp>
      <p:sp>
        <p:nvSpPr>
          <p:cNvPr id="1239" name="Google Shape;1239;p11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2026-04-29</a:t>
            </a:r>
            <a:endParaRPr/>
          </a:p>
        </p:txBody>
      </p:sp>
      <p:sp>
        <p:nvSpPr>
          <p:cNvPr id="1240" name="Google Shape;1240;p11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1" name="Google Shape;1241;p11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2" name="Google Shape;1242;p1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3" name="Google Shape;1243;p11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4" name="Google Shape;1244;p11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5" name="Google Shape;1245;p11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6" name="Google Shape;1246;p11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Tec Equipment</a:t>
            </a:r>
            <a:endParaRPr/>
          </a:p>
        </p:txBody>
      </p:sp>
      <p:sp>
        <p:nvSpPr>
          <p:cNvPr id="1247" name="Google Shape;1247;p11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2026-04-26</a:t>
            </a:r>
            <a:endParaRPr/>
          </a:p>
        </p:txBody>
      </p:sp>
      <p:sp>
        <p:nvSpPr>
          <p:cNvPr id="1248" name="Google Shape;1248;p11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9" name="Google Shape;1249;p11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0" name="Google Shape;1250;p11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1" name="Google Shape;1251;p11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2" name="Google Shape;1252;p1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3" name="Google Shape;1253;p11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Amk Insurance Agency, Inc.</a:t>
            </a:r>
            <a:endParaRPr/>
          </a:p>
        </p:txBody>
      </p:sp>
      <p:sp>
        <p:nvSpPr>
          <p:cNvPr id="1254" name="Google Shape;1254;p11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2026-04-26</a:t>
            </a:r>
            <a:endParaRPr/>
          </a:p>
        </p:txBody>
      </p:sp>
      <p:sp>
        <p:nvSpPr>
          <p:cNvPr id="1255" name="Google Shape;1255;p11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6" name="Google Shape;1256;p11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7" name="Google Shape;1257;p11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8" name="Google Shape;1258;p11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9" name="Google Shape;1259;p11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0" name="Google Shape;1260;p11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1" name="Google Shape;1261;p11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Mcdonald &amp; Assoc Ins Agcy</a:t>
            </a:r>
            <a:endParaRPr/>
          </a:p>
        </p:txBody>
      </p:sp>
      <p:sp>
        <p:nvSpPr>
          <p:cNvPr id="1262" name="Google Shape;1262;p1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2026-04-26</a:t>
            </a:r>
            <a:endParaRPr/>
          </a:p>
        </p:txBody>
      </p:sp>
      <p:sp>
        <p:nvSpPr>
          <p:cNvPr id="1263" name="Google Shape;1263;p11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64" name="Google Shape;1264;p11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5" name="Google Shape;1265;p11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66" name="Google Shape;1266;p11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7" name="Google Shape;1267;p11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8" name="Google Shape;1268;p11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269" name="Google Shape;1269;p11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2026-04-01</a:t>
            </a:r>
            <a:endParaRPr/>
          </a:p>
        </p:txBody>
      </p:sp>
      <p:sp>
        <p:nvSpPr>
          <p:cNvPr id="1270" name="Google Shape;1270;p11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71" name="Google Shape;1271;p11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72" name="Google Shape;1272;p1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73" name="Google Shape;1273;p11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74" name="Google Shape;1274;p11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75" name="Google Shape;1275;p11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6" name="Google Shape;1276;p11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Coremark Insurance Services Inc.</a:t>
            </a:r>
            <a:endParaRPr/>
          </a:p>
        </p:txBody>
      </p:sp>
      <p:sp>
        <p:nvSpPr>
          <p:cNvPr id="1277" name="Google Shape;1277;p11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2026-03-18</a:t>
            </a:r>
            <a:endParaRPr/>
          </a:p>
        </p:txBody>
      </p:sp>
      <p:sp>
        <p:nvSpPr>
          <p:cNvPr id="1278" name="Google Shape;1278;p11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79" name="Google Shape;1279;p11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80" name="Google Shape;1280;p11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81" name="Google Shape;1281;p11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82" name="Google Shape;1282;p1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83" name="Google Shape;1283;p11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RVA Insurance</a:t>
            </a:r>
            <a:endParaRPr/>
          </a:p>
        </p:txBody>
      </p:sp>
      <p:sp>
        <p:nvSpPr>
          <p:cNvPr id="1284" name="Google Shape;1284;p11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2026-03-16</a:t>
            </a:r>
            <a:endParaRPr/>
          </a:p>
        </p:txBody>
      </p:sp>
      <p:sp>
        <p:nvSpPr>
          <p:cNvPr id="1285" name="Google Shape;1285;p11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86" name="Google Shape;1286;p11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87" name="Google Shape;1287;p11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88" name="Google Shape;1288;p11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89" name="Google Shape;1289;p11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90" name="Google Shape;1290;p11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1" name="Google Shape;1291;p11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Nova Coverage LLC</a:t>
            </a:r>
            <a:endParaRPr/>
          </a:p>
        </p:txBody>
      </p:sp>
      <p:sp>
        <p:nvSpPr>
          <p:cNvPr id="1292" name="Google Shape;1292;p1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2026-02-26</a:t>
            </a:r>
            <a:endParaRPr/>
          </a:p>
        </p:txBody>
      </p:sp>
      <p:sp>
        <p:nvSpPr>
          <p:cNvPr id="1293" name="Google Shape;1293;p11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94" name="Google Shape;1294;p11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95" name="Google Shape;1295;p11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96" name="Google Shape;1296;p11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97" name="Google Shape;1297;p11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98" name="Google Shape;1298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 source: HubSpot Net New Agency Prospect Pipeline · Activated Won stage · only 'Appointed - ' prefix deals count (matches BD Rep Scoreboard). BDMs scored on count vs goal of 4/quarter.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2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4" name="Google Shape;1304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305" name="Google Shape;1305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Portfolio  |  Jan–May 2026  |  Strengths, gaps, and ranked action items</a:t>
            </a:r>
            <a:endParaRPr/>
          </a:p>
        </p:txBody>
      </p:sp>
      <p:sp>
        <p:nvSpPr>
          <p:cNvPr id="1306" name="Google Shape;1306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7" name="Google Shape;1307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308" name="Google Shape;1308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309" name="Google Shape;1309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(Safeline Insurance Agency, Reliance Partners, Llc, United Advantage Insuranc) drive $12,050,132 (37%) of portfolio YTD GWP</a:t>
            </a:r>
            <a:endParaRPr/>
          </a:p>
        </p:txBody>
      </p:sp>
      <p:sp>
        <p:nvSpPr>
          <p:cNvPr id="1310" name="Google Shape;1310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311" name="Google Shape;1311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Cornerstone Insuranc (33.3%), Vintage Insurance Ag (23.9%), Surefire Insurance A (21.3%)</a:t>
            </a:r>
            <a:endParaRPr/>
          </a:p>
        </p:txBody>
      </p:sp>
      <p:sp>
        <p:nvSpPr>
          <p:cNvPr id="1312" name="Google Shape;1312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313" name="Google Shape;1313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 agencies converting submissions to bound business in Jan–May 2026</a:t>
            </a:r>
            <a:endParaRPr/>
          </a:p>
        </p:txBody>
      </p:sp>
      <p:sp>
        <p:nvSpPr>
          <p:cNvPr id="1314" name="Google Shape;1314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315" name="Google Shape;1315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18,130 total submissions across 53 active agencies</a:t>
            </a:r>
            <a:endParaRPr/>
          </a:p>
        </p:txBody>
      </p:sp>
      <p:sp>
        <p:nvSpPr>
          <p:cNvPr id="1316" name="Google Shape;1316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7" name="Google Shape;1317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318" name="Google Shape;1318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319" name="Google Shape;1319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agencies submitting but 0 binds (136 subs): Davis &amp; Associates I (99), Beehive Insurance Ag (37)</a:t>
            </a:r>
            <a:endParaRPr/>
          </a:p>
        </p:txBody>
      </p:sp>
      <p:sp>
        <p:nvSpPr>
          <p:cNvPr id="1320" name="Google Shape;1320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321" name="Google Shape;1321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Reliance Partners, L (1.8%), PCF Insurance Servic (2.5%)</a:t>
            </a:r>
            <a:endParaRPr/>
          </a:p>
        </p:txBody>
      </p:sp>
      <p:sp>
        <p:nvSpPr>
          <p:cNvPr id="1322" name="Google Shape;1322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3" name="Google Shape;1323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324" name="Google Shape;1324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325" name="Google Shape;1325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Reduce Cancellation Rates</a:t>
            </a:r>
            <a:endParaRPr/>
          </a:p>
        </p:txBody>
      </p:sp>
      <p:sp>
        <p:nvSpPr>
          <p:cNvPr id="1326" name="Google Shape;1326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 agencies with cancellations &gt;40% of new biz: Safeline Insurance Agency, Reliance Partners, Llc, United Advantage Insuranc. $10,618,603 total cancellations - investigate retention.</a:t>
            </a:r>
            <a:endParaRPr/>
          </a:p>
        </p:txBody>
      </p:sp>
      <p:sp>
        <p:nvSpPr>
          <p:cNvPr id="1327" name="Google Shape;1327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328" name="Google Shape;1328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329" name="Google Shape;1329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agencies with 20+ subs but &lt;3% HR: Reliance Partners, L (1.8%), PCF Insurance Servic (2.5%). Conduct submission quality training to lift conversion 2-3 points.</a:t>
            </a:r>
            <a:endParaRPr/>
          </a:p>
        </p:txBody>
      </p:sp>
      <p:sp>
        <p:nvSpPr>
          <p:cNvPr id="1330" name="Google Shape;1330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331" name="Google Shape;1331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Develop High-Volume Growth Candidates</a:t>
            </a:r>
            <a:endParaRPr/>
          </a:p>
        </p:txBody>
      </p:sp>
      <p:sp>
        <p:nvSpPr>
          <p:cNvPr id="1332" name="Google Shape;1332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 agencies with 30+ subs and some binds but &lt;5% HR: Reliance Partners, L (6339s/116b), Limosa Insurance Ser (261s/12b), Lion Insurance Servi (247s/11b). Small HR improvements on large volume = significant premium lift.</a:t>
            </a:r>
            <a:endParaRPr/>
          </a:p>
        </p:txBody>
      </p:sp>
      <p:sp>
        <p:nvSpPr>
          <p:cNvPr id="1333" name="Google Shape;1333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334" name="Google Shape;1334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Scale Top Performers</a:t>
            </a:r>
            <a:endParaRPr/>
          </a:p>
        </p:txBody>
      </p:sp>
      <p:sp>
        <p:nvSpPr>
          <p:cNvPr id="1335" name="Google Shape;1335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Double down on high-converting agencies: Safeline Insurance Agency, United Advantage Insuranc, Cascade Insurance Service. Increase submission volume 20% through marketing support and referral incentives.</a:t>
            </a:r>
            <a:endParaRPr/>
          </a:p>
        </p:txBody>
      </p:sp>
      <p:sp>
        <p:nvSpPr>
          <p:cNvPr id="1336" name="Google Shape;1336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337" name="Google Shape;1337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Protect Renewal Book</a:t>
            </a:r>
            <a:endParaRPr/>
          </a:p>
        </p:txBody>
      </p:sp>
      <p:sp>
        <p:nvSpPr>
          <p:cNvPr id="1338" name="Google Shape;1338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$8,257,339 in Q1 renewal premium. Proactively engage renewal agencies 60 days pre-expiration to maximize retention.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2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Google Shape;1343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4" name="Google Shape;1344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345" name="Google Shape;1345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 |  Last 25 Bound Submissions  |  1029 Total Bound in Portfolio</a:t>
            </a:r>
            <a:endParaRPr/>
          </a:p>
        </p:txBody>
      </p:sp>
      <p:sp>
        <p:nvSpPr>
          <p:cNvPr id="1346" name="Google Shape;1346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347" name="Google Shape;1347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348" name="Google Shape;1348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349" name="Google Shape;1349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350" name="Google Shape;1350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351" name="Google Shape;1351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352" name="Google Shape;1352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353" name="Google Shape;1353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4" name="Google Shape;1354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355" name="Google Shape;1355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256837802809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SIROHI TRANZ INC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Ateetpal Bansal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$22,387</a:t>
            </a:r>
            <a:endParaRPr/>
          </a:p>
        </p:txBody>
      </p:sp>
      <p:sp>
        <p:nvSpPr>
          <p:cNvPr id="1360" name="Google Shape;1360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28, 2026</a:t>
            </a:r>
            <a:endParaRPr/>
          </a:p>
        </p:txBody>
      </p:sp>
      <p:sp>
        <p:nvSpPr>
          <p:cNvPr id="1361" name="Google Shape;1361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2" name="Google Shape;1362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363" name="Google Shape;1363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257218756224</a:t>
            </a:r>
            <a:endParaRPr/>
          </a:p>
        </p:txBody>
      </p:sp>
      <p:sp>
        <p:nvSpPr>
          <p:cNvPr id="1364" name="Google Shape;1364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365" name="Google Shape;1365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RR SONS LOGISTICS LLC</a:t>
            </a:r>
            <a:endParaRPr/>
          </a:p>
        </p:txBody>
      </p:sp>
      <p:sp>
        <p:nvSpPr>
          <p:cNvPr id="1366" name="Google Shape;1366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Jake Campbell</a:t>
            </a:r>
            <a:endParaRPr/>
          </a:p>
        </p:txBody>
      </p:sp>
      <p:sp>
        <p:nvSpPr>
          <p:cNvPr id="1367" name="Google Shape;1367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$28,193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369" name="Google Shape;1369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370" name="Google Shape;1370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254382433576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BIG RIGS LLC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Anahit Grigoryan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$111,703</a:t>
            </a:r>
            <a:endParaRPr/>
          </a:p>
        </p:txBody>
      </p:sp>
      <p:sp>
        <p:nvSpPr>
          <p:cNvPr id="1375" name="Google Shape;1375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376" name="Google Shape;1376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7" name="Google Shape;1377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78" name="Google Shape;1378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257816768660</a:t>
            </a:r>
            <a:endParaRPr/>
          </a:p>
        </p:txBody>
      </p:sp>
      <p:sp>
        <p:nvSpPr>
          <p:cNvPr id="1379" name="Google Shape;1379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</a:t>
            </a:r>
            <a:endParaRPr/>
          </a:p>
        </p:txBody>
      </p:sp>
      <p:sp>
        <p:nvSpPr>
          <p:cNvPr id="1380" name="Google Shape;1380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AIR ROADLINE</a:t>
            </a:r>
            <a:endParaRPr/>
          </a:p>
        </p:txBody>
      </p:sp>
      <p:sp>
        <p:nvSpPr>
          <p:cNvPr id="1381" name="Google Shape;1381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Anahit Grigoryan</a:t>
            </a:r>
            <a:endParaRPr/>
          </a:p>
        </p:txBody>
      </p:sp>
      <p:sp>
        <p:nvSpPr>
          <p:cNvPr id="1382" name="Google Shape;1382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$1,384</a:t>
            </a:r>
            <a:endParaRPr/>
          </a:p>
        </p:txBody>
      </p:sp>
      <p:sp>
        <p:nvSpPr>
          <p:cNvPr id="1383" name="Google Shape;1383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384" name="Google Shape;1384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85" name="Google Shape;1385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255995840756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IDL TRUCKING INC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Ateetpal Bansal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$322,639</a:t>
            </a:r>
            <a:endParaRPr/>
          </a:p>
        </p:txBody>
      </p:sp>
      <p:sp>
        <p:nvSpPr>
          <p:cNvPr id="1390" name="Google Shape;1390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391" name="Google Shape;1391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2" name="Google Shape;1392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93" name="Google Shape;1393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253667657353</a:t>
            </a:r>
            <a:endParaRPr/>
          </a:p>
        </p:txBody>
      </p:sp>
      <p:sp>
        <p:nvSpPr>
          <p:cNvPr id="1394" name="Google Shape;1394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</a:t>
            </a:r>
            <a:endParaRPr/>
          </a:p>
        </p:txBody>
      </p:sp>
      <p:sp>
        <p:nvSpPr>
          <p:cNvPr id="1395" name="Google Shape;1395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RAJA TRANSPORT INC</a:t>
            </a:r>
            <a:endParaRPr/>
          </a:p>
        </p:txBody>
      </p:sp>
      <p:sp>
        <p:nvSpPr>
          <p:cNvPr id="1396" name="Google Shape;1396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Ateetpal Bansal</a:t>
            </a:r>
            <a:endParaRPr/>
          </a:p>
        </p:txBody>
      </p:sp>
      <p:sp>
        <p:nvSpPr>
          <p:cNvPr id="1397" name="Google Shape;1397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$19,934</a:t>
            </a:r>
            <a:endParaRPr/>
          </a:p>
        </p:txBody>
      </p:sp>
      <p:sp>
        <p:nvSpPr>
          <p:cNvPr id="1398" name="Google Shape;1398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399" name="Google Shape;1399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400" name="Google Shape;1400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265679058572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Lion Insurance Services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BG CALI TRANSPORT INC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Tigran Vardanyan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$20,214</a:t>
            </a:r>
            <a:endParaRPr/>
          </a:p>
        </p:txBody>
      </p:sp>
      <p:sp>
        <p:nvSpPr>
          <p:cNvPr id="1405" name="Google Shape;1405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406" name="Google Shape;1406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7" name="Google Shape;1407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408" name="Google Shape;1408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257764604596</a:t>
            </a:r>
            <a:endParaRPr/>
          </a:p>
        </p:txBody>
      </p:sp>
      <p:sp>
        <p:nvSpPr>
          <p:cNvPr id="1409" name="Google Shape;1409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Sedge Insurance Agency Llc</a:t>
            </a:r>
            <a:endParaRPr/>
          </a:p>
        </p:txBody>
      </p:sp>
      <p:sp>
        <p:nvSpPr>
          <p:cNvPr id="1410" name="Google Shape;1410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PHOENIX FREIGHT &amp; LOGISTICS LLC</a:t>
            </a:r>
            <a:endParaRPr/>
          </a:p>
        </p:txBody>
      </p:sp>
      <p:sp>
        <p:nvSpPr>
          <p:cNvPr id="1411" name="Google Shape;1411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Sapna Kharbanda</a:t>
            </a:r>
            <a:endParaRPr/>
          </a:p>
        </p:txBody>
      </p:sp>
      <p:sp>
        <p:nvSpPr>
          <p:cNvPr id="1412" name="Google Shape;1412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$33,833</a:t>
            </a:r>
            <a:endParaRPr/>
          </a:p>
        </p:txBody>
      </p:sp>
      <p:sp>
        <p:nvSpPr>
          <p:cNvPr id="1413" name="Google Shape;1413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414" name="Google Shape;1414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415" name="Google Shape;1415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257485376329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Saint George Insurance Brokerage, 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AGUILAR NATIONAL CARRIERS INC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Jorge Daniel Tarquini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$98,511</a:t>
            </a:r>
            <a:endParaRPr/>
          </a:p>
        </p:txBody>
      </p:sp>
      <p:sp>
        <p:nvSpPr>
          <p:cNvPr id="1420" name="Google Shape;1420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421" name="Google Shape;1421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2" name="Google Shape;1422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423" name="Google Shape;1423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269806063079</a:t>
            </a:r>
            <a:endParaRPr/>
          </a:p>
        </p:txBody>
      </p:sp>
      <p:sp>
        <p:nvSpPr>
          <p:cNvPr id="1424" name="Google Shape;1424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Saint George Insurance Brokerage, </a:t>
            </a:r>
            <a:endParaRPr/>
          </a:p>
        </p:txBody>
      </p:sp>
      <p:sp>
        <p:nvSpPr>
          <p:cNvPr id="1425" name="Google Shape;1425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DENESSE GROUP INC</a:t>
            </a:r>
            <a:endParaRPr/>
          </a:p>
        </p:txBody>
      </p:sp>
      <p:sp>
        <p:nvSpPr>
          <p:cNvPr id="1426" name="Google Shape;1426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Jorge Daniel Tarquini</a:t>
            </a:r>
            <a:endParaRPr/>
          </a:p>
        </p:txBody>
      </p:sp>
      <p:sp>
        <p:nvSpPr>
          <p:cNvPr id="1427" name="Google Shape;1427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$17,181</a:t>
            </a:r>
            <a:endParaRPr/>
          </a:p>
        </p:txBody>
      </p:sp>
      <p:sp>
        <p:nvSpPr>
          <p:cNvPr id="1428" name="Google Shape;1428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429" name="Google Shape;1429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430" name="Google Shape;1430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260284854194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(The)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HANUMAN LOGISTICS INC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Name Given Ankush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$96,489</a:t>
            </a:r>
            <a:endParaRPr/>
          </a:p>
        </p:txBody>
      </p:sp>
      <p:sp>
        <p:nvSpPr>
          <p:cNvPr id="1435" name="Google Shape;1435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436" name="Google Shape;1436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7" name="Google Shape;1437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438" name="Google Shape;1438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252131985268</a:t>
            </a:r>
            <a:endParaRPr/>
          </a:p>
        </p:txBody>
      </p:sp>
      <p:sp>
        <p:nvSpPr>
          <p:cNvPr id="1439" name="Google Shape;1439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(The)</a:t>
            </a:r>
            <a:endParaRPr/>
          </a:p>
        </p:txBody>
      </p:sp>
      <p:sp>
        <p:nvSpPr>
          <p:cNvPr id="1440" name="Google Shape;1440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SINGHANA TRANSPORT INC</a:t>
            </a:r>
            <a:endParaRPr/>
          </a:p>
        </p:txBody>
      </p:sp>
      <p:sp>
        <p:nvSpPr>
          <p:cNvPr id="1441" name="Google Shape;1441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Name Given Ankush</a:t>
            </a:r>
            <a:endParaRPr/>
          </a:p>
        </p:txBody>
      </p:sp>
      <p:sp>
        <p:nvSpPr>
          <p:cNvPr id="1442" name="Google Shape;1442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$28,269</a:t>
            </a:r>
            <a:endParaRPr/>
          </a:p>
        </p:txBody>
      </p:sp>
      <p:sp>
        <p:nvSpPr>
          <p:cNvPr id="1443" name="Google Shape;1443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444" name="Google Shape;1444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445" name="Google Shape;1445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262933952846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(The)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GORA EXPRESS LLC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Name Given Ankush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$75,200</a:t>
            </a:r>
            <a:endParaRPr/>
          </a:p>
        </p:txBody>
      </p:sp>
      <p:sp>
        <p:nvSpPr>
          <p:cNvPr id="1450" name="Google Shape;1450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451" name="Google Shape;1451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2" name="Google Shape;1452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453" name="Google Shape;1453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268969918596</a:t>
            </a:r>
            <a:endParaRPr/>
          </a:p>
        </p:txBody>
      </p:sp>
      <p:sp>
        <p:nvSpPr>
          <p:cNvPr id="1454" name="Google Shape;1454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Noel Cajinas Insurance Agency, Inc</a:t>
            </a:r>
            <a:endParaRPr/>
          </a:p>
        </p:txBody>
      </p:sp>
      <p:sp>
        <p:nvSpPr>
          <p:cNvPr id="1455" name="Google Shape;1455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HIFO''S TRANSPORT LLC</a:t>
            </a:r>
            <a:endParaRPr/>
          </a:p>
        </p:txBody>
      </p:sp>
      <p:sp>
        <p:nvSpPr>
          <p:cNvPr id="1456" name="Google Shape;1456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Kenneth Cajina</a:t>
            </a:r>
            <a:endParaRPr/>
          </a:p>
        </p:txBody>
      </p:sp>
      <p:sp>
        <p:nvSpPr>
          <p:cNvPr id="1457" name="Google Shape;1457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$23,558</a:t>
            </a:r>
            <a:endParaRPr/>
          </a:p>
        </p:txBody>
      </p:sp>
      <p:sp>
        <p:nvSpPr>
          <p:cNvPr id="1458" name="Google Shape;1458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459" name="Google Shape;1459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460" name="Google Shape;1460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266285175910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Jaikar Insurance Services Inc.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GURFATEH XPRESS INC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MANJIT KAUR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$22,729</a:t>
            </a:r>
            <a:endParaRPr/>
          </a:p>
        </p:txBody>
      </p:sp>
      <p:sp>
        <p:nvSpPr>
          <p:cNvPr id="1465" name="Google Shape;1465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466" name="Google Shape;1466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7" name="Google Shape;1467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468" name="Google Shape;1468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267274086782</a:t>
            </a:r>
            <a:endParaRPr/>
          </a:p>
        </p:txBody>
      </p:sp>
      <p:sp>
        <p:nvSpPr>
          <p:cNvPr id="1469" name="Google Shape;1469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Jaikar Insurance Services Inc.</a:t>
            </a:r>
            <a:endParaRPr/>
          </a:p>
        </p:txBody>
      </p:sp>
      <p:sp>
        <p:nvSpPr>
          <p:cNvPr id="1470" name="Google Shape;1470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VIRK FREIGHT XPRESS INC</a:t>
            </a:r>
            <a:endParaRPr/>
          </a:p>
        </p:txBody>
      </p:sp>
      <p:sp>
        <p:nvSpPr>
          <p:cNvPr id="1471" name="Google Shape;1471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MANJIT KAUR</a:t>
            </a:r>
            <a:endParaRPr/>
          </a:p>
        </p:txBody>
      </p:sp>
      <p:sp>
        <p:nvSpPr>
          <p:cNvPr id="1472" name="Google Shape;1472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$38,969</a:t>
            </a:r>
            <a:endParaRPr/>
          </a:p>
        </p:txBody>
      </p:sp>
      <p:sp>
        <p:nvSpPr>
          <p:cNvPr id="1473" name="Google Shape;1473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474" name="Google Shape;1474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75" name="Google Shape;1475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268406603998</a:t>
            </a:r>
            <a:endParaRPr/>
          </a:p>
        </p:txBody>
      </p:sp>
      <p:sp>
        <p:nvSpPr>
          <p:cNvPr id="1476" name="Google Shape;1476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Inc.</a:t>
            </a:r>
            <a:endParaRPr/>
          </a:p>
        </p:txBody>
      </p:sp>
      <p:sp>
        <p:nvSpPr>
          <p:cNvPr id="1477" name="Google Shape;1477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GOLDEN GLOBE TRANSPORT CORP</a:t>
            </a:r>
            <a:endParaRPr/>
          </a:p>
        </p:txBody>
      </p:sp>
      <p:sp>
        <p:nvSpPr>
          <p:cNvPr id="1478" name="Google Shape;1478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LARISA DAVTYAN</a:t>
            </a:r>
            <a:endParaRPr/>
          </a:p>
        </p:txBody>
      </p:sp>
      <p:sp>
        <p:nvSpPr>
          <p:cNvPr id="1479" name="Google Shape;1479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$314,941</a:t>
            </a:r>
            <a:endParaRPr/>
          </a:p>
        </p:txBody>
      </p:sp>
      <p:sp>
        <p:nvSpPr>
          <p:cNvPr id="1480" name="Google Shape;1480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481" name="Google Shape;1481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2" name="Google Shape;1482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83" name="Google Shape;1483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255219373799</a:t>
            </a:r>
            <a:endParaRPr/>
          </a:p>
        </p:txBody>
      </p:sp>
      <p:sp>
        <p:nvSpPr>
          <p:cNvPr id="1484" name="Google Shape;1484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</a:t>
            </a:r>
            <a:endParaRPr/>
          </a:p>
        </p:txBody>
      </p:sp>
      <p:sp>
        <p:nvSpPr>
          <p:cNvPr id="1485" name="Google Shape;1485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SAMCO TRUCKING INC</a:t>
            </a:r>
            <a:endParaRPr/>
          </a:p>
        </p:txBody>
      </p:sp>
      <p:sp>
        <p:nvSpPr>
          <p:cNvPr id="1486" name="Google Shape;1486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Cecile Awad</a:t>
            </a:r>
            <a:endParaRPr/>
          </a:p>
        </p:txBody>
      </p:sp>
      <p:sp>
        <p:nvSpPr>
          <p:cNvPr id="1487" name="Google Shape;1487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$6,742</a:t>
            </a:r>
            <a:endParaRPr/>
          </a:p>
        </p:txBody>
      </p:sp>
      <p:sp>
        <p:nvSpPr>
          <p:cNvPr id="1488" name="Google Shape;1488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489" name="Google Shape;1489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90" name="Google Shape;1490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269483676873</a:t>
            </a:r>
            <a:endParaRPr/>
          </a:p>
        </p:txBody>
      </p:sp>
      <p:sp>
        <p:nvSpPr>
          <p:cNvPr id="1491" name="Google Shape;1491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</a:t>
            </a:r>
            <a:endParaRPr/>
          </a:p>
        </p:txBody>
      </p:sp>
      <p:sp>
        <p:nvSpPr>
          <p:cNvPr id="1492" name="Google Shape;1492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ZC TRUCKING LLC</a:t>
            </a:r>
            <a:endParaRPr/>
          </a:p>
        </p:txBody>
      </p:sp>
      <p:sp>
        <p:nvSpPr>
          <p:cNvPr id="1493" name="Google Shape;1493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Khalid Salama</a:t>
            </a:r>
            <a:endParaRPr/>
          </a:p>
        </p:txBody>
      </p:sp>
      <p:sp>
        <p:nvSpPr>
          <p:cNvPr id="1494" name="Google Shape;1494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$38,590</a:t>
            </a:r>
            <a:endParaRPr/>
          </a:p>
        </p:txBody>
      </p:sp>
      <p:sp>
        <p:nvSpPr>
          <p:cNvPr id="1495" name="Google Shape;1495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496" name="Google Shape;1496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7" name="Google Shape;1497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98" name="Google Shape;1498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268795197676</a:t>
            </a:r>
            <a:endParaRPr/>
          </a:p>
        </p:txBody>
      </p:sp>
      <p:sp>
        <p:nvSpPr>
          <p:cNvPr id="1499" name="Google Shape;1499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</a:t>
            </a:r>
            <a:endParaRPr/>
          </a:p>
        </p:txBody>
      </p:sp>
      <p:sp>
        <p:nvSpPr>
          <p:cNvPr id="1500" name="Google Shape;1500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RUDER TRANSPORT INC</a:t>
            </a:r>
            <a:endParaRPr/>
          </a:p>
        </p:txBody>
      </p:sp>
      <p:sp>
        <p:nvSpPr>
          <p:cNvPr id="1501" name="Google Shape;1501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Anahit Grigoryan</a:t>
            </a:r>
            <a:endParaRPr/>
          </a:p>
        </p:txBody>
      </p:sp>
      <p:sp>
        <p:nvSpPr>
          <p:cNvPr id="1502" name="Google Shape;1502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$65,200</a:t>
            </a:r>
            <a:endParaRPr/>
          </a:p>
        </p:txBody>
      </p:sp>
      <p:sp>
        <p:nvSpPr>
          <p:cNvPr id="1503" name="Google Shape;1503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504" name="Google Shape;1504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505" name="Google Shape;1505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259522174229</a:t>
            </a:r>
            <a:endParaRPr/>
          </a:p>
        </p:txBody>
      </p:sp>
      <p:sp>
        <p:nvSpPr>
          <p:cNvPr id="1506" name="Google Shape;1506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 Patty Insurance Services</a:t>
            </a:r>
            <a:endParaRPr/>
          </a:p>
        </p:txBody>
      </p:sp>
      <p:sp>
        <p:nvSpPr>
          <p:cNvPr id="1507" name="Google Shape;1507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LMS TRUCKING LLC</a:t>
            </a:r>
            <a:endParaRPr/>
          </a:p>
        </p:txBody>
      </p:sp>
      <p:sp>
        <p:nvSpPr>
          <p:cNvPr id="1508" name="Google Shape;1508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Patricia Galindoparedes</a:t>
            </a:r>
            <a:endParaRPr/>
          </a:p>
        </p:txBody>
      </p:sp>
      <p:sp>
        <p:nvSpPr>
          <p:cNvPr id="1509" name="Google Shape;1509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$40,456</a:t>
            </a:r>
            <a:endParaRPr/>
          </a:p>
        </p:txBody>
      </p:sp>
      <p:sp>
        <p:nvSpPr>
          <p:cNvPr id="1510" name="Google Shape;1510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511" name="Google Shape;1511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2" name="Google Shape;1512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513" name="Google Shape;1513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251568023229</a:t>
            </a:r>
            <a:endParaRPr/>
          </a:p>
        </p:txBody>
      </p:sp>
      <p:sp>
        <p:nvSpPr>
          <p:cNvPr id="1514" name="Google Shape;1514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</a:t>
            </a:r>
            <a:endParaRPr/>
          </a:p>
        </p:txBody>
      </p:sp>
      <p:sp>
        <p:nvSpPr>
          <p:cNvPr id="1515" name="Google Shape;1515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KSN TRANS INC</a:t>
            </a:r>
            <a:endParaRPr/>
          </a:p>
        </p:txBody>
      </p:sp>
      <p:sp>
        <p:nvSpPr>
          <p:cNvPr id="1516" name="Google Shape;1516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Ateetpal Bansal</a:t>
            </a:r>
            <a:endParaRPr/>
          </a:p>
        </p:txBody>
      </p:sp>
      <p:sp>
        <p:nvSpPr>
          <p:cNvPr id="1517" name="Google Shape;1517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$216,891</a:t>
            </a:r>
            <a:endParaRPr/>
          </a:p>
        </p:txBody>
      </p:sp>
      <p:sp>
        <p:nvSpPr>
          <p:cNvPr id="1518" name="Google Shape;1518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519" name="Google Shape;1519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520" name="Google Shape;1520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250744220029</a:t>
            </a:r>
            <a:endParaRPr/>
          </a:p>
        </p:txBody>
      </p:sp>
      <p:sp>
        <p:nvSpPr>
          <p:cNvPr id="1521" name="Google Shape;1521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</a:t>
            </a:r>
            <a:endParaRPr/>
          </a:p>
        </p:txBody>
      </p:sp>
      <p:sp>
        <p:nvSpPr>
          <p:cNvPr id="1522" name="Google Shape;1522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VR CARGO INC</a:t>
            </a:r>
            <a:endParaRPr/>
          </a:p>
        </p:txBody>
      </p:sp>
      <p:sp>
        <p:nvSpPr>
          <p:cNvPr id="1523" name="Google Shape;1523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Ateetpal Bansal</a:t>
            </a:r>
            <a:endParaRPr/>
          </a:p>
        </p:txBody>
      </p:sp>
      <p:sp>
        <p:nvSpPr>
          <p:cNvPr id="1524" name="Google Shape;1524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$16,146</a:t>
            </a:r>
            <a:endParaRPr/>
          </a:p>
        </p:txBody>
      </p:sp>
      <p:sp>
        <p:nvSpPr>
          <p:cNvPr id="1525" name="Google Shape;1525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526" name="Google Shape;1526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7" name="Google Shape;1527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528" name="Google Shape;1528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263064159421</a:t>
            </a:r>
            <a:endParaRPr/>
          </a:p>
        </p:txBody>
      </p:sp>
      <p:sp>
        <p:nvSpPr>
          <p:cNvPr id="1529" name="Google Shape;1529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Sedge Insurance Agency Llc</a:t>
            </a:r>
            <a:endParaRPr/>
          </a:p>
        </p:txBody>
      </p:sp>
      <p:sp>
        <p:nvSpPr>
          <p:cNvPr id="1530" name="Google Shape;1530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DAIMOXK LLC</a:t>
            </a:r>
            <a:endParaRPr/>
          </a:p>
        </p:txBody>
      </p:sp>
      <p:sp>
        <p:nvSpPr>
          <p:cNvPr id="1531" name="Google Shape;1531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Sapna Kharbanda</a:t>
            </a:r>
            <a:endParaRPr/>
          </a:p>
        </p:txBody>
      </p:sp>
      <p:sp>
        <p:nvSpPr>
          <p:cNvPr id="1532" name="Google Shape;1532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$102,769</a:t>
            </a:r>
            <a:endParaRPr/>
          </a:p>
        </p:txBody>
      </p:sp>
      <p:sp>
        <p:nvSpPr>
          <p:cNvPr id="1533" name="Google Shape;1533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534" name="Google Shape;1534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535" name="Google Shape;1535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258692446610</a:t>
            </a:r>
            <a:endParaRPr/>
          </a:p>
        </p:txBody>
      </p:sp>
      <p:sp>
        <p:nvSpPr>
          <p:cNvPr id="1536" name="Google Shape;1536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(The)</a:t>
            </a:r>
            <a:endParaRPr/>
          </a:p>
        </p:txBody>
      </p:sp>
      <p:sp>
        <p:nvSpPr>
          <p:cNvPr id="1537" name="Google Shape;1537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SOUNTA LOGISTICS INC</a:t>
            </a:r>
            <a:endParaRPr/>
          </a:p>
        </p:txBody>
      </p:sp>
      <p:sp>
        <p:nvSpPr>
          <p:cNvPr id="1538" name="Google Shape;1538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Name Given Ankush</a:t>
            </a:r>
            <a:endParaRPr/>
          </a:p>
        </p:txBody>
      </p:sp>
      <p:sp>
        <p:nvSpPr>
          <p:cNvPr id="1539" name="Google Shape;1539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$30,952</a:t>
            </a:r>
            <a:endParaRPr/>
          </a:p>
        </p:txBody>
      </p:sp>
      <p:sp>
        <p:nvSpPr>
          <p:cNvPr id="1540" name="Google Shape;1540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541" name="Google Shape;1541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2" name="Google Shape;1542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543" name="Google Shape;1543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$1,793,881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7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9" name="Google Shape;1549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 |  Active in-force policies expiring through Aug 26, 2026</a:t>
            </a:r>
            <a:endParaRPr/>
          </a:p>
        </p:txBody>
      </p:sp>
      <p:sp>
        <p:nvSpPr>
          <p:cNvPr id="1551" name="Google Shape;1551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552" name="Google Shape;1552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$7,989,062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553" name="Google Shape;1553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554" name="Google Shape;1554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555" name="Google Shape;1555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556" name="Google Shape;1556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7" name="Google Shape;1557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559" name="Google Shape;1559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560" name="Google Shape;1560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561" name="Google Shape;1561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562" name="Google Shape;1562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563" name="Google Shape;1563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564" name="Google Shape;1564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565" name="Google Shape;1565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566" name="Google Shape;1566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7" name="Google Shape;1567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Power Commercial Insurance Bro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259502146902</a:t>
            </a:r>
            <a:endParaRPr/>
          </a:p>
        </p:txBody>
      </p:sp>
      <p:sp>
        <p:nvSpPr>
          <p:cNvPr id="1569" name="Google Shape;1569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NOOR TRANSIT LLC</a:t>
            </a:r>
            <a:endParaRPr/>
          </a:p>
        </p:txBody>
      </p:sp>
      <p:sp>
        <p:nvSpPr>
          <p:cNvPr id="1570" name="Google Shape;1570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571" name="Google Shape;1571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1d</a:t>
            </a:r>
            <a:endParaRPr/>
          </a:p>
        </p:txBody>
      </p:sp>
      <p:sp>
        <p:nvSpPr>
          <p:cNvPr id="1572" name="Google Shape;1572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73" name="Google Shape;1573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$3,343</a:t>
            </a:r>
            <a:endParaRPr/>
          </a:p>
        </p:txBody>
      </p:sp>
      <p:sp>
        <p:nvSpPr>
          <p:cNvPr id="1574" name="Google Shape;1574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OH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</a:t>
            </a:r>
            <a:endParaRPr/>
          </a:p>
        </p:txBody>
      </p:sp>
      <p:sp>
        <p:nvSpPr>
          <p:cNvPr id="1576" name="Google Shape;1576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254743247756</a:t>
            </a:r>
            <a:endParaRPr/>
          </a:p>
        </p:txBody>
      </p:sp>
      <p:sp>
        <p:nvSpPr>
          <p:cNvPr id="1577" name="Google Shape;1577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SADAN LOGISTIC LLC</a:t>
            </a:r>
            <a:endParaRPr/>
          </a:p>
        </p:txBody>
      </p:sp>
      <p:sp>
        <p:nvSpPr>
          <p:cNvPr id="1578" name="Google Shape;1578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579" name="Google Shape;1579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1d</a:t>
            </a:r>
            <a:endParaRPr/>
          </a:p>
        </p:txBody>
      </p:sp>
      <p:sp>
        <p:nvSpPr>
          <p:cNvPr id="1580" name="Google Shape;1580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581" name="Google Shape;1581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1582" name="Google Shape;1582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583" name="Google Shape;1583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4" name="Google Shape;1584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257162855398</a:t>
            </a:r>
            <a:endParaRPr/>
          </a:p>
        </p:txBody>
      </p:sp>
      <p:sp>
        <p:nvSpPr>
          <p:cNvPr id="1586" name="Google Shape;1586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FKDG EXPRESS INC</a:t>
            </a:r>
            <a:endParaRPr/>
          </a:p>
        </p:txBody>
      </p:sp>
      <p:sp>
        <p:nvSpPr>
          <p:cNvPr id="1587" name="Google Shape;1587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588" name="Google Shape;1588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1d</a:t>
            </a:r>
            <a:endParaRPr/>
          </a:p>
        </p:txBody>
      </p:sp>
      <p:sp>
        <p:nvSpPr>
          <p:cNvPr id="1589" name="Google Shape;1589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90" name="Google Shape;1590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$4,415</a:t>
            </a:r>
            <a:endParaRPr/>
          </a:p>
        </p:txBody>
      </p:sp>
      <p:sp>
        <p:nvSpPr>
          <p:cNvPr id="1591" name="Google Shape;1591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92" name="Google Shape;1592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1593" name="Google Shape;1593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250480741793</a:t>
            </a:r>
            <a:endParaRPr/>
          </a:p>
        </p:txBody>
      </p:sp>
      <p:sp>
        <p:nvSpPr>
          <p:cNvPr id="1594" name="Google Shape;1594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VOSS TRANSPORT LLC</a:t>
            </a:r>
            <a:endParaRPr/>
          </a:p>
        </p:txBody>
      </p:sp>
      <p:sp>
        <p:nvSpPr>
          <p:cNvPr id="1595" name="Google Shape;1595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2026-05-30</a:t>
            </a:r>
            <a:endParaRPr/>
          </a:p>
        </p:txBody>
      </p:sp>
      <p:sp>
        <p:nvSpPr>
          <p:cNvPr id="1596" name="Google Shape;1596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597" name="Google Shape;1597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98" name="Google Shape;1598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</a:t>
            </a:r>
            <a:endParaRPr/>
          </a:p>
        </p:txBody>
      </p:sp>
      <p:sp>
        <p:nvSpPr>
          <p:cNvPr id="1599" name="Google Shape;1599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00" name="Google Shape;1600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1" name="Google Shape;1601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</a:t>
            </a:r>
            <a:endParaRPr/>
          </a:p>
        </p:txBody>
      </p:sp>
      <p:sp>
        <p:nvSpPr>
          <p:cNvPr id="1602" name="Google Shape;1602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258777740743</a:t>
            </a:r>
            <a:endParaRPr/>
          </a:p>
        </p:txBody>
      </p:sp>
      <p:sp>
        <p:nvSpPr>
          <p:cNvPr id="1603" name="Google Shape;1603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NAVDEEP SINGH</a:t>
            </a:r>
            <a:endParaRPr/>
          </a:p>
        </p:txBody>
      </p:sp>
      <p:sp>
        <p:nvSpPr>
          <p:cNvPr id="1604" name="Google Shape;1604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2026-05-30</a:t>
            </a:r>
            <a:endParaRPr/>
          </a:p>
        </p:txBody>
      </p:sp>
      <p:sp>
        <p:nvSpPr>
          <p:cNvPr id="1605" name="Google Shape;1605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606" name="Google Shape;1606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07" name="Google Shape;1607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$14,095</a:t>
            </a:r>
            <a:endParaRPr/>
          </a:p>
        </p:txBody>
      </p:sp>
      <p:sp>
        <p:nvSpPr>
          <p:cNvPr id="1608" name="Google Shape;1608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09" name="Google Shape;1609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3321 Group L.l.c</a:t>
            </a:r>
            <a:endParaRPr/>
          </a:p>
        </p:txBody>
      </p:sp>
      <p:sp>
        <p:nvSpPr>
          <p:cNvPr id="1610" name="Google Shape;1610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254708784506</a:t>
            </a:r>
            <a:endParaRPr/>
          </a:p>
        </p:txBody>
      </p:sp>
      <p:sp>
        <p:nvSpPr>
          <p:cNvPr id="1611" name="Google Shape;1611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EXPRESS GLOBAL LLC</a:t>
            </a:r>
            <a:endParaRPr/>
          </a:p>
        </p:txBody>
      </p:sp>
      <p:sp>
        <p:nvSpPr>
          <p:cNvPr id="1612" name="Google Shape;1612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2026-05-30</a:t>
            </a:r>
            <a:endParaRPr/>
          </a:p>
        </p:txBody>
      </p:sp>
      <p:sp>
        <p:nvSpPr>
          <p:cNvPr id="1613" name="Google Shape;1613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614" name="Google Shape;1614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15" name="Google Shape;1615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16" name="Google Shape;1616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617" name="Google Shape;1617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8" name="Google Shape;1618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</a:t>
            </a:r>
            <a:endParaRPr/>
          </a:p>
        </p:txBody>
      </p:sp>
      <p:sp>
        <p:nvSpPr>
          <p:cNvPr id="1619" name="Google Shape;1619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250849153543</a:t>
            </a:r>
            <a:endParaRPr/>
          </a:p>
        </p:txBody>
      </p:sp>
      <p:sp>
        <p:nvSpPr>
          <p:cNvPr id="1620" name="Google Shape;1620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BHINDER TRANS CARRIER INC</a:t>
            </a:r>
            <a:endParaRPr/>
          </a:p>
        </p:txBody>
      </p:sp>
      <p:sp>
        <p:nvSpPr>
          <p:cNvPr id="1621" name="Google Shape;1621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2026-05-30</a:t>
            </a:r>
            <a:endParaRPr/>
          </a:p>
        </p:txBody>
      </p:sp>
      <p:sp>
        <p:nvSpPr>
          <p:cNvPr id="1622" name="Google Shape;1622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623" name="Google Shape;1623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24" name="Google Shape;1624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$19,901</a:t>
            </a:r>
            <a:endParaRPr/>
          </a:p>
        </p:txBody>
      </p:sp>
      <p:sp>
        <p:nvSpPr>
          <p:cNvPr id="1625" name="Google Shape;1625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26" name="Google Shape;1626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627" name="Google Shape;1627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256806597572</a:t>
            </a:r>
            <a:endParaRPr/>
          </a:p>
        </p:txBody>
      </p:sp>
      <p:sp>
        <p:nvSpPr>
          <p:cNvPr id="1628" name="Google Shape;1628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 EXPRESS TRUCKING INC</a:t>
            </a:r>
            <a:endParaRPr/>
          </a:p>
        </p:txBody>
      </p:sp>
      <p:sp>
        <p:nvSpPr>
          <p:cNvPr id="1629" name="Google Shape;1629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2026-05-31</a:t>
            </a:r>
            <a:endParaRPr/>
          </a:p>
        </p:txBody>
      </p:sp>
      <p:sp>
        <p:nvSpPr>
          <p:cNvPr id="1630" name="Google Shape;1630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631" name="Google Shape;1631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32" name="Google Shape;1632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$17,000</a:t>
            </a:r>
            <a:endParaRPr/>
          </a:p>
        </p:txBody>
      </p:sp>
      <p:sp>
        <p:nvSpPr>
          <p:cNvPr id="1633" name="Google Shape;1633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</a:t>
            </a:r>
            <a:endParaRPr/>
          </a:p>
        </p:txBody>
      </p:sp>
      <p:sp>
        <p:nvSpPr>
          <p:cNvPr id="1634" name="Google Shape;1634;p14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5" name="Google Shape;1635;p14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</a:t>
            </a:r>
            <a:endParaRPr/>
          </a:p>
        </p:txBody>
      </p:sp>
      <p:sp>
        <p:nvSpPr>
          <p:cNvPr id="1636" name="Google Shape;1636;p14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253561442963</a:t>
            </a:r>
            <a:endParaRPr/>
          </a:p>
        </p:txBody>
      </p:sp>
      <p:sp>
        <p:nvSpPr>
          <p:cNvPr id="1637" name="Google Shape;1637;p14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CHEEMA TRANSPORT CA INC</a:t>
            </a:r>
            <a:endParaRPr/>
          </a:p>
        </p:txBody>
      </p:sp>
      <p:sp>
        <p:nvSpPr>
          <p:cNvPr id="1638" name="Google Shape;1638;p14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2026-05-31</a:t>
            </a:r>
            <a:endParaRPr/>
          </a:p>
        </p:txBody>
      </p:sp>
      <p:sp>
        <p:nvSpPr>
          <p:cNvPr id="1639" name="Google Shape;1639;p14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640" name="Google Shape;1640;p14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41" name="Google Shape;1641;p1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$11,887</a:t>
            </a:r>
            <a:endParaRPr/>
          </a:p>
        </p:txBody>
      </p:sp>
      <p:sp>
        <p:nvSpPr>
          <p:cNvPr id="1642" name="Google Shape;1642;p14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</a:t>
            </a:r>
            <a:endParaRPr/>
          </a:p>
        </p:txBody>
      </p:sp>
      <p:sp>
        <p:nvSpPr>
          <p:cNvPr id="1643" name="Google Shape;1643;p14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SBS Insurance Services Inc dba</a:t>
            </a:r>
            <a:endParaRPr/>
          </a:p>
        </p:txBody>
      </p:sp>
      <p:sp>
        <p:nvSpPr>
          <p:cNvPr id="1644" name="Google Shape;1644;p14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251734290824</a:t>
            </a:r>
            <a:endParaRPr/>
          </a:p>
        </p:txBody>
      </p:sp>
      <p:sp>
        <p:nvSpPr>
          <p:cNvPr id="1645" name="Google Shape;1645;p14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 THE RIGHT WAY LLC</a:t>
            </a:r>
            <a:endParaRPr/>
          </a:p>
        </p:txBody>
      </p:sp>
      <p:sp>
        <p:nvSpPr>
          <p:cNvPr id="1646" name="Google Shape;1646;p14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2026-06-01</a:t>
            </a:r>
            <a:endParaRPr/>
          </a:p>
        </p:txBody>
      </p:sp>
      <p:sp>
        <p:nvSpPr>
          <p:cNvPr id="1647" name="Google Shape;1647;p14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648" name="Google Shape;1648;p14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49" name="Google Shape;1649;p14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$15,209</a:t>
            </a:r>
            <a:endParaRPr/>
          </a:p>
        </p:txBody>
      </p:sp>
      <p:sp>
        <p:nvSpPr>
          <p:cNvPr id="1650" name="Google Shape;1650;p14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51" name="Google Shape;1651;p1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2" name="Google Shape;1652;p14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1653" name="Google Shape;1653;p14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251382710924</a:t>
            </a:r>
            <a:endParaRPr/>
          </a:p>
        </p:txBody>
      </p:sp>
      <p:sp>
        <p:nvSpPr>
          <p:cNvPr id="1654" name="Google Shape;1654;p14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MC EXPRESS LLC</a:t>
            </a:r>
            <a:endParaRPr/>
          </a:p>
        </p:txBody>
      </p:sp>
      <p:sp>
        <p:nvSpPr>
          <p:cNvPr id="1655" name="Google Shape;1655;p14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2026-06-01</a:t>
            </a:r>
            <a:endParaRPr/>
          </a:p>
        </p:txBody>
      </p:sp>
      <p:sp>
        <p:nvSpPr>
          <p:cNvPr id="1656" name="Google Shape;1656;p14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657" name="Google Shape;1657;p14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58" name="Google Shape;1658;p14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$957</a:t>
            </a:r>
            <a:endParaRPr/>
          </a:p>
        </p:txBody>
      </p:sp>
      <p:sp>
        <p:nvSpPr>
          <p:cNvPr id="1659" name="Google Shape;1659;p14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NV</a:t>
            </a:r>
            <a:endParaRPr/>
          </a:p>
        </p:txBody>
      </p:sp>
      <p:sp>
        <p:nvSpPr>
          <p:cNvPr id="1660" name="Google Shape;1660;p14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</a:t>
            </a:r>
            <a:endParaRPr/>
          </a:p>
        </p:txBody>
      </p:sp>
      <p:sp>
        <p:nvSpPr>
          <p:cNvPr id="1661" name="Google Shape;1661;p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257284047400</a:t>
            </a:r>
            <a:endParaRPr/>
          </a:p>
        </p:txBody>
      </p:sp>
      <p:sp>
        <p:nvSpPr>
          <p:cNvPr id="1662" name="Google Shape;1662;p14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ABM LOGISTICS INC</a:t>
            </a:r>
            <a:endParaRPr/>
          </a:p>
        </p:txBody>
      </p:sp>
      <p:sp>
        <p:nvSpPr>
          <p:cNvPr id="1663" name="Google Shape;1663;p14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2026-06-01</a:t>
            </a:r>
            <a:endParaRPr/>
          </a:p>
        </p:txBody>
      </p:sp>
      <p:sp>
        <p:nvSpPr>
          <p:cNvPr id="1664" name="Google Shape;1664;p14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665" name="Google Shape;1665;p14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66" name="Google Shape;1666;p14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$16,697</a:t>
            </a:r>
            <a:endParaRPr/>
          </a:p>
        </p:txBody>
      </p:sp>
      <p:sp>
        <p:nvSpPr>
          <p:cNvPr id="1667" name="Google Shape;1667;p14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68" name="Google Shape;1668;p14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9" name="Google Shape;1669;p14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</a:t>
            </a:r>
            <a:endParaRPr/>
          </a:p>
        </p:txBody>
      </p:sp>
      <p:sp>
        <p:nvSpPr>
          <p:cNvPr id="1670" name="Google Shape;1670;p14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254464366365</a:t>
            </a:r>
            <a:endParaRPr/>
          </a:p>
        </p:txBody>
      </p:sp>
      <p:sp>
        <p:nvSpPr>
          <p:cNvPr id="1671" name="Google Shape;1671;p1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TS ROADLINES INC</a:t>
            </a:r>
            <a:endParaRPr/>
          </a:p>
        </p:txBody>
      </p:sp>
      <p:sp>
        <p:nvSpPr>
          <p:cNvPr id="1672" name="Google Shape;1672;p14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2026-06-01</a:t>
            </a:r>
            <a:endParaRPr/>
          </a:p>
        </p:txBody>
      </p:sp>
      <p:sp>
        <p:nvSpPr>
          <p:cNvPr id="1673" name="Google Shape;1673;p14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674" name="Google Shape;1674;p14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75" name="Google Shape;1675;p14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$47,551</a:t>
            </a:r>
            <a:endParaRPr/>
          </a:p>
        </p:txBody>
      </p:sp>
      <p:sp>
        <p:nvSpPr>
          <p:cNvPr id="1676" name="Google Shape;1676;p14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77" name="Google Shape;1677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13 of 408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81" name="Shape 1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2" name="Google Shape;1682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3" name="Google Shape;1683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684" name="Google Shape;1684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Derek Janssen  |  Policies with cancellation_date on or before Aug 26, 2026  |  Sorted by urgency — call these agencies first</a:t>
            </a:r>
            <a:endParaRPr/>
          </a:p>
        </p:txBody>
      </p:sp>
      <p:sp>
        <p:nvSpPr>
          <p:cNvPr id="1685" name="Google Shape;1685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686" name="Google Shape;1686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$168,638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87" name="Google Shape;1687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88" name="Google Shape;1688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$168,638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89" name="Google Shape;1689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90" name="Google Shape;1690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1" name="Google Shape;1691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92" name="Google Shape;1692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93" name="Google Shape;1693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94" name="Google Shape;1694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95" name="Google Shape;1695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96" name="Google Shape;1696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97" name="Google Shape;1697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98" name="Google Shape;1698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99" name="Google Shape;1699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700" name="Google Shape;1700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701" name="Google Shape;1701;p15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2" name="Google Shape;1702;p15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03" name="Google Shape;1703;p15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04" name="Google Shape;1704;p15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257185243238</a:t>
            </a:r>
            <a:endParaRPr/>
          </a:p>
        </p:txBody>
      </p:sp>
      <p:sp>
        <p:nvSpPr>
          <p:cNvPr id="1705" name="Google Shape;1705;p15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LABELLA EXPRESS INC</a:t>
            </a:r>
            <a:endParaRPr/>
          </a:p>
        </p:txBody>
      </p:sp>
      <p:sp>
        <p:nvSpPr>
          <p:cNvPr id="1706" name="Google Shape;1706;p1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SBS Insurance Services Inc </a:t>
            </a:r>
            <a:endParaRPr/>
          </a:p>
        </p:txBody>
      </p:sp>
      <p:sp>
        <p:nvSpPr>
          <p:cNvPr id="1707" name="Google Shape;1707;p15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708" name="Google Shape;1708;p15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709" name="Google Shape;1709;p15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$2,694</a:t>
            </a:r>
            <a:endParaRPr/>
          </a:p>
        </p:txBody>
      </p:sp>
      <p:sp>
        <p:nvSpPr>
          <p:cNvPr id="1710" name="Google Shape;1710;p15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711" name="Google Shape;1711;p15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12" name="Google Shape;1712;p15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13" name="Google Shape;1713;p15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250401279231</a:t>
            </a:r>
            <a:endParaRPr/>
          </a:p>
        </p:txBody>
      </p:sp>
      <p:sp>
        <p:nvSpPr>
          <p:cNvPr id="1714" name="Google Shape;1714;p15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BIROS TRUCKING AND LOGISTICS LLC</a:t>
            </a:r>
            <a:endParaRPr/>
          </a:p>
        </p:txBody>
      </p:sp>
      <p:sp>
        <p:nvSpPr>
          <p:cNvPr id="1715" name="Google Shape;1715;p15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</a:t>
            </a:r>
            <a:endParaRPr/>
          </a:p>
        </p:txBody>
      </p:sp>
      <p:sp>
        <p:nvSpPr>
          <p:cNvPr id="1716" name="Google Shape;1716;p1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717" name="Google Shape;1717;p15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718" name="Google Shape;1718;p15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$1,261</a:t>
            </a:r>
            <a:endParaRPr/>
          </a:p>
        </p:txBody>
      </p:sp>
      <p:sp>
        <p:nvSpPr>
          <p:cNvPr id="1719" name="Google Shape;1719;p15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720" name="Google Shape;1720;p15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1" name="Google Shape;1721;p15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22" name="Google Shape;1722;p15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23" name="Google Shape;1723;p15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267423063888</a:t>
            </a:r>
            <a:endParaRPr/>
          </a:p>
        </p:txBody>
      </p:sp>
      <p:sp>
        <p:nvSpPr>
          <p:cNvPr id="1724" name="Google Shape;1724;p15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GROOVE FOREVER TIRE CO LTD</a:t>
            </a:r>
            <a:endParaRPr/>
          </a:p>
        </p:txBody>
      </p:sp>
      <p:sp>
        <p:nvSpPr>
          <p:cNvPr id="1725" name="Google Shape;1725;p15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Jtc Insurance Agency, Inc.</a:t>
            </a:r>
            <a:endParaRPr/>
          </a:p>
        </p:txBody>
      </p:sp>
      <p:sp>
        <p:nvSpPr>
          <p:cNvPr id="1726" name="Google Shape;1726;p1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727" name="Google Shape;1727;p15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728" name="Google Shape;1728;p15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$995</a:t>
            </a:r>
            <a:endParaRPr/>
          </a:p>
        </p:txBody>
      </p:sp>
      <p:sp>
        <p:nvSpPr>
          <p:cNvPr id="1729" name="Google Shape;1729;p15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730" name="Google Shape;1730;p15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31" name="Google Shape;1731;p15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32" name="Google Shape;1732;p15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253677887588</a:t>
            </a:r>
            <a:endParaRPr/>
          </a:p>
        </p:txBody>
      </p:sp>
      <p:sp>
        <p:nvSpPr>
          <p:cNvPr id="1733" name="Google Shape;1733;p15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NAVDIP PANNU</a:t>
            </a:r>
            <a:endParaRPr/>
          </a:p>
        </p:txBody>
      </p:sp>
      <p:sp>
        <p:nvSpPr>
          <p:cNvPr id="1734" name="Google Shape;1734;p15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 Secure Insurance Serv</a:t>
            </a:r>
            <a:endParaRPr/>
          </a:p>
        </p:txBody>
      </p:sp>
      <p:sp>
        <p:nvSpPr>
          <p:cNvPr id="1735" name="Google Shape;1735;p15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736" name="Google Shape;1736;p1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737" name="Google Shape;1737;p15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$1,660</a:t>
            </a:r>
            <a:endParaRPr/>
          </a:p>
        </p:txBody>
      </p:sp>
      <p:sp>
        <p:nvSpPr>
          <p:cNvPr id="1738" name="Google Shape;1738;p15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Broker Request</a:t>
            </a:r>
            <a:endParaRPr/>
          </a:p>
        </p:txBody>
      </p:sp>
      <p:sp>
        <p:nvSpPr>
          <p:cNvPr id="1739" name="Google Shape;1739;p15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0" name="Google Shape;1740;p15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41" name="Google Shape;1741;p15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42" name="Google Shape;1742;p15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257257222182</a:t>
            </a:r>
            <a:endParaRPr/>
          </a:p>
        </p:txBody>
      </p:sp>
      <p:sp>
        <p:nvSpPr>
          <p:cNvPr id="1743" name="Google Shape;1743;p15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 FLORES TRANSPORT LLC</a:t>
            </a:r>
            <a:endParaRPr/>
          </a:p>
        </p:txBody>
      </p:sp>
      <p:sp>
        <p:nvSpPr>
          <p:cNvPr id="1744" name="Google Shape;1744;p15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Swan Insurance Sales, Llc</a:t>
            </a:r>
            <a:endParaRPr/>
          </a:p>
        </p:txBody>
      </p:sp>
      <p:sp>
        <p:nvSpPr>
          <p:cNvPr id="1745" name="Google Shape;1745;p15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746" name="Google Shape;1746;p1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747" name="Google Shape;1747;p15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$765</a:t>
            </a:r>
            <a:endParaRPr/>
          </a:p>
        </p:txBody>
      </p:sp>
      <p:sp>
        <p:nvSpPr>
          <p:cNvPr id="1748" name="Google Shape;1748;p15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749" name="Google Shape;1749;p15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50" name="Google Shape;1750;p15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51" name="Google Shape;1751;p15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250401279231</a:t>
            </a:r>
            <a:endParaRPr/>
          </a:p>
        </p:txBody>
      </p:sp>
      <p:sp>
        <p:nvSpPr>
          <p:cNvPr id="1752" name="Google Shape;1752;p15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BIROS TRUCKING AND LOGISTICS LLC</a:t>
            </a:r>
            <a:endParaRPr/>
          </a:p>
        </p:txBody>
      </p:sp>
      <p:sp>
        <p:nvSpPr>
          <p:cNvPr id="1753" name="Google Shape;1753;p15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</a:t>
            </a:r>
            <a:endParaRPr/>
          </a:p>
        </p:txBody>
      </p:sp>
      <p:sp>
        <p:nvSpPr>
          <p:cNvPr id="1754" name="Google Shape;1754;p15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755" name="Google Shape;1755;p15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756" name="Google Shape;1756;p1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$333</a:t>
            </a:r>
            <a:endParaRPr/>
          </a:p>
        </p:txBody>
      </p:sp>
      <p:sp>
        <p:nvSpPr>
          <p:cNvPr id="1757" name="Google Shape;1757;p15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758" name="Google Shape;1758;p15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9" name="Google Shape;1759;p15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60" name="Google Shape;1760;p15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61" name="Google Shape;1761;p15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260468108126</a:t>
            </a:r>
            <a:endParaRPr/>
          </a:p>
        </p:txBody>
      </p:sp>
      <p:sp>
        <p:nvSpPr>
          <p:cNvPr id="1762" name="Google Shape;1762;p15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ABC VISIONS INC</a:t>
            </a:r>
            <a:endParaRPr/>
          </a:p>
        </p:txBody>
      </p:sp>
      <p:sp>
        <p:nvSpPr>
          <p:cNvPr id="1763" name="Google Shape;1763;p15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</a:t>
            </a:r>
            <a:endParaRPr/>
          </a:p>
        </p:txBody>
      </p:sp>
      <p:sp>
        <p:nvSpPr>
          <p:cNvPr id="1764" name="Google Shape;1764;p15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765" name="Google Shape;1765;p15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766" name="Google Shape;1766;p1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</a:t>
            </a:r>
            <a:endParaRPr/>
          </a:p>
        </p:txBody>
      </p:sp>
      <p:sp>
        <p:nvSpPr>
          <p:cNvPr id="1767" name="Google Shape;1767;p15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768" name="Google Shape;1768;p15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69" name="Google Shape;1769;p15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70" name="Google Shape;1770;p15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257185243238</a:t>
            </a:r>
            <a:endParaRPr/>
          </a:p>
        </p:txBody>
      </p:sp>
      <p:sp>
        <p:nvSpPr>
          <p:cNvPr id="1771" name="Google Shape;1771;p15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LABELLA EXPRESS INC</a:t>
            </a:r>
            <a:endParaRPr/>
          </a:p>
        </p:txBody>
      </p:sp>
      <p:sp>
        <p:nvSpPr>
          <p:cNvPr id="1772" name="Google Shape;1772;p15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SBS Insurance Services Inc </a:t>
            </a:r>
            <a:endParaRPr/>
          </a:p>
        </p:txBody>
      </p:sp>
      <p:sp>
        <p:nvSpPr>
          <p:cNvPr id="1773" name="Google Shape;1773;p15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774" name="Google Shape;1774;p15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775" name="Google Shape;1775;p15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$481</a:t>
            </a:r>
            <a:endParaRPr/>
          </a:p>
        </p:txBody>
      </p:sp>
      <p:sp>
        <p:nvSpPr>
          <p:cNvPr id="1776" name="Google Shape;1776;p1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777" name="Google Shape;1777;p15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8" name="Google Shape;1778;p15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79" name="Google Shape;1779;p15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80" name="Google Shape;1780;p15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257130503454</a:t>
            </a:r>
            <a:endParaRPr/>
          </a:p>
        </p:txBody>
      </p:sp>
      <p:sp>
        <p:nvSpPr>
          <p:cNvPr id="1781" name="Google Shape;1781;p15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LIPELINE TRUCKING INC</a:t>
            </a:r>
            <a:endParaRPr/>
          </a:p>
        </p:txBody>
      </p:sp>
      <p:sp>
        <p:nvSpPr>
          <p:cNvPr id="1782" name="Google Shape;1782;p15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1783" name="Google Shape;1783;p15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784" name="Google Shape;1784;p15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785" name="Google Shape;1785;p15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$507</a:t>
            </a:r>
            <a:endParaRPr/>
          </a:p>
        </p:txBody>
      </p:sp>
      <p:sp>
        <p:nvSpPr>
          <p:cNvPr id="1786" name="Google Shape;1786;p1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787" name="Google Shape;1787;p15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88" name="Google Shape;1788;p15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89" name="Google Shape;1789;p15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253677887588</a:t>
            </a:r>
            <a:endParaRPr/>
          </a:p>
        </p:txBody>
      </p:sp>
      <p:sp>
        <p:nvSpPr>
          <p:cNvPr id="1790" name="Google Shape;1790;p15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NAVDIP PANNU</a:t>
            </a:r>
            <a:endParaRPr/>
          </a:p>
        </p:txBody>
      </p:sp>
      <p:sp>
        <p:nvSpPr>
          <p:cNvPr id="1791" name="Google Shape;1791;p15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 Secure Insurance Serv</a:t>
            </a:r>
            <a:endParaRPr/>
          </a:p>
        </p:txBody>
      </p:sp>
      <p:sp>
        <p:nvSpPr>
          <p:cNvPr id="1792" name="Google Shape;1792;p15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NTL</a:t>
            </a:r>
            <a:endParaRPr/>
          </a:p>
        </p:txBody>
      </p:sp>
      <p:sp>
        <p:nvSpPr>
          <p:cNvPr id="1793" name="Google Shape;1793;p15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794" name="Google Shape;1794;p15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$393</a:t>
            </a:r>
            <a:endParaRPr/>
          </a:p>
        </p:txBody>
      </p:sp>
      <p:sp>
        <p:nvSpPr>
          <p:cNvPr id="1795" name="Google Shape;1795;p15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Broker Request</a:t>
            </a:r>
            <a:endParaRPr/>
          </a:p>
        </p:txBody>
      </p:sp>
      <p:sp>
        <p:nvSpPr>
          <p:cNvPr id="1796" name="Google Shape;1796;p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7" name="Google Shape;1797;p15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98" name="Google Shape;1798;p15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99" name="Google Shape;1799;p15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268599772018</a:t>
            </a:r>
            <a:endParaRPr/>
          </a:p>
        </p:txBody>
      </p:sp>
      <p:sp>
        <p:nvSpPr>
          <p:cNvPr id="1800" name="Google Shape;1800;p15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AURELIA RIVERA</a:t>
            </a:r>
            <a:endParaRPr/>
          </a:p>
        </p:txBody>
      </p:sp>
      <p:sp>
        <p:nvSpPr>
          <p:cNvPr id="1801" name="Google Shape;1801;p15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Noel Cajinas Insurance Agen</a:t>
            </a:r>
            <a:endParaRPr/>
          </a:p>
        </p:txBody>
      </p:sp>
      <p:sp>
        <p:nvSpPr>
          <p:cNvPr id="1802" name="Google Shape;1802;p15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803" name="Google Shape;1803;p15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804" name="Google Shape;1804;p15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05" name="Google Shape;1805;p15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Broker Request</a:t>
            </a:r>
            <a:endParaRPr/>
          </a:p>
        </p:txBody>
      </p:sp>
      <p:sp>
        <p:nvSpPr>
          <p:cNvPr id="1806" name="Google Shape;1806;p1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807" name="Google Shape;1807;p15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808" name="Google Shape;1808;p15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260468108126</a:t>
            </a:r>
            <a:endParaRPr/>
          </a:p>
        </p:txBody>
      </p:sp>
      <p:sp>
        <p:nvSpPr>
          <p:cNvPr id="1809" name="Google Shape;1809;p15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ABC VISIONS INC</a:t>
            </a:r>
            <a:endParaRPr/>
          </a:p>
        </p:txBody>
      </p:sp>
      <p:sp>
        <p:nvSpPr>
          <p:cNvPr id="1810" name="Google Shape;1810;p15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</a:t>
            </a:r>
            <a:endParaRPr/>
          </a:p>
        </p:txBody>
      </p:sp>
      <p:sp>
        <p:nvSpPr>
          <p:cNvPr id="1811" name="Google Shape;1811;p15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812" name="Google Shape;1812;p15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813" name="Google Shape;1813;p15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</a:t>
            </a:r>
            <a:endParaRPr/>
          </a:p>
        </p:txBody>
      </p:sp>
      <p:sp>
        <p:nvSpPr>
          <p:cNvPr id="1814" name="Google Shape;1814;p15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815" name="Google Shape;1815;p15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6" name="Google Shape;1816;p1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817" name="Google Shape;1817;p15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818" name="Google Shape;1818;p15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267423063888</a:t>
            </a:r>
            <a:endParaRPr/>
          </a:p>
        </p:txBody>
      </p:sp>
      <p:sp>
        <p:nvSpPr>
          <p:cNvPr id="1819" name="Google Shape;1819;p15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GROOVE FOREVER TIRE CO LTD</a:t>
            </a:r>
            <a:endParaRPr/>
          </a:p>
        </p:txBody>
      </p:sp>
      <p:sp>
        <p:nvSpPr>
          <p:cNvPr id="1820" name="Google Shape;1820;p15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Jtc Insurance Agency, Inc.</a:t>
            </a:r>
            <a:endParaRPr/>
          </a:p>
        </p:txBody>
      </p:sp>
      <p:sp>
        <p:nvSpPr>
          <p:cNvPr id="1821" name="Google Shape;1821;p15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822" name="Google Shape;1822;p15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823" name="Google Shape;1823;p15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$182</a:t>
            </a:r>
            <a:endParaRPr/>
          </a:p>
        </p:txBody>
      </p:sp>
      <p:sp>
        <p:nvSpPr>
          <p:cNvPr id="1824" name="Google Shape;1824;p15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825" name="Google Shape;1825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13 of 27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29" name="Shape 1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Google Shape;1830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1" name="Google Shape;1831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Safeline Insurance Agency, Inc.</a:t>
            </a:r>
            <a:endParaRPr/>
          </a:p>
        </p:txBody>
      </p:sp>
      <p:sp>
        <p:nvSpPr>
          <p:cNvPr id="1832" name="Google Shape;1832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California  |  City: Burbank</a:t>
            </a:r>
            <a:endParaRPr/>
          </a:p>
        </p:txBody>
      </p:sp>
      <p:sp>
        <p:nvSpPr>
          <p:cNvPr id="1833" name="Google Shape;1833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$4,503,943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834" name="Google Shape;1834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$2,424,917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35" name="Google Shape;1835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$811,152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36" name="Google Shape;1836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$1,267,873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37" name="Google Shape;1837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$-1,783,938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38" name="Google Shape;1838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$5,475,695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839" name="Google Shape;1839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$8,353,430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840" name="Google Shape;1840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841" name="Google Shape;1841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42" name="Google Shape;1842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43" name="Google Shape;1843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44" name="Google Shape;1844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$1,947,749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845" name="Google Shape;1845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$1,376,106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846" name="Google Shape;1846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7" name="Google Shape;1847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848" name="Google Shape;1848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49" name="Google Shape;1849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850" name="Google Shape;1850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51" name="Google Shape;1851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52" name="Google Shape;1852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53" name="Google Shape;1853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54" name="Google Shape;1854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5" name="Google Shape;1855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56" name="Google Shape;1856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$2,056,544</a:t>
            </a:r>
            <a:endParaRPr/>
          </a:p>
        </p:txBody>
      </p:sp>
      <p:sp>
        <p:nvSpPr>
          <p:cNvPr id="1857" name="Google Shape;1857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$1,581,567</a:t>
            </a:r>
            <a:endParaRPr/>
          </a:p>
        </p:txBody>
      </p:sp>
      <p:sp>
        <p:nvSpPr>
          <p:cNvPr id="1858" name="Google Shape;1858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59" name="Google Shape;1859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$474,977</a:t>
            </a:r>
            <a:endParaRPr/>
          </a:p>
        </p:txBody>
      </p:sp>
      <p:sp>
        <p:nvSpPr>
          <p:cNvPr id="1860" name="Google Shape;1860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$-602,525</a:t>
            </a:r>
            <a:endParaRPr/>
          </a:p>
        </p:txBody>
      </p:sp>
      <p:sp>
        <p:nvSpPr>
          <p:cNvPr id="1861" name="Google Shape;1861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2" name="Google Shape;1862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63" name="Google Shape;1863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$728,018</a:t>
            </a:r>
            <a:endParaRPr/>
          </a:p>
        </p:txBody>
      </p:sp>
      <p:sp>
        <p:nvSpPr>
          <p:cNvPr id="1864" name="Google Shape;1864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$409,602</a:t>
            </a:r>
            <a:endParaRPr/>
          </a:p>
        </p:txBody>
      </p:sp>
      <p:sp>
        <p:nvSpPr>
          <p:cNvPr id="1865" name="Google Shape;1865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$134,041</a:t>
            </a:r>
            <a:endParaRPr/>
          </a:p>
        </p:txBody>
      </p:sp>
      <p:sp>
        <p:nvSpPr>
          <p:cNvPr id="1866" name="Google Shape;1866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$184,375</a:t>
            </a:r>
            <a:endParaRPr/>
          </a:p>
        </p:txBody>
      </p:sp>
      <p:sp>
        <p:nvSpPr>
          <p:cNvPr id="1867" name="Google Shape;1867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$-326,252</a:t>
            </a:r>
            <a:endParaRPr/>
          </a:p>
        </p:txBody>
      </p:sp>
      <p:sp>
        <p:nvSpPr>
          <p:cNvPr id="1868" name="Google Shape;1868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9" name="Google Shape;1869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70" name="Google Shape;1870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$564,631</a:t>
            </a:r>
            <a:endParaRPr/>
          </a:p>
        </p:txBody>
      </p:sp>
      <p:sp>
        <p:nvSpPr>
          <p:cNvPr id="1871" name="Google Shape;1871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$148,205</a:t>
            </a:r>
            <a:endParaRPr/>
          </a:p>
        </p:txBody>
      </p:sp>
      <p:sp>
        <p:nvSpPr>
          <p:cNvPr id="1872" name="Google Shape;1872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$176,137</a:t>
            </a:r>
            <a:endParaRPr/>
          </a:p>
        </p:txBody>
      </p:sp>
      <p:sp>
        <p:nvSpPr>
          <p:cNvPr id="1873" name="Google Shape;1873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$240,289</a:t>
            </a:r>
            <a:endParaRPr/>
          </a:p>
        </p:txBody>
      </p:sp>
      <p:sp>
        <p:nvSpPr>
          <p:cNvPr id="1874" name="Google Shape;1874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$-295,352</a:t>
            </a:r>
            <a:endParaRPr/>
          </a:p>
        </p:txBody>
      </p:sp>
      <p:sp>
        <p:nvSpPr>
          <p:cNvPr id="1875" name="Google Shape;1875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6" name="Google Shape;1876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77" name="Google Shape;1877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$686,498</a:t>
            </a:r>
            <a:endParaRPr/>
          </a:p>
        </p:txBody>
      </p:sp>
      <p:sp>
        <p:nvSpPr>
          <p:cNvPr id="1878" name="Google Shape;1878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$214,611</a:t>
            </a:r>
            <a:endParaRPr/>
          </a:p>
        </p:txBody>
      </p:sp>
      <p:sp>
        <p:nvSpPr>
          <p:cNvPr id="1879" name="Google Shape;1879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$366,458</a:t>
            </a:r>
            <a:endParaRPr/>
          </a:p>
        </p:txBody>
      </p:sp>
      <p:sp>
        <p:nvSpPr>
          <p:cNvPr id="1880" name="Google Shape;1880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$105,429</a:t>
            </a:r>
            <a:endParaRPr/>
          </a:p>
        </p:txBody>
      </p:sp>
      <p:sp>
        <p:nvSpPr>
          <p:cNvPr id="1881" name="Google Shape;1881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$-301,767</a:t>
            </a:r>
            <a:endParaRPr/>
          </a:p>
        </p:txBody>
      </p:sp>
      <p:sp>
        <p:nvSpPr>
          <p:cNvPr id="1882" name="Google Shape;1882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3" name="Google Shape;1883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884" name="Google Shape;1884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$468,252</a:t>
            </a:r>
            <a:endParaRPr/>
          </a:p>
        </p:txBody>
      </p:sp>
      <p:sp>
        <p:nvSpPr>
          <p:cNvPr id="1885" name="Google Shape;1885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$70,933</a:t>
            </a:r>
            <a:endParaRPr/>
          </a:p>
        </p:txBody>
      </p:sp>
      <p:sp>
        <p:nvSpPr>
          <p:cNvPr id="1886" name="Google Shape;1886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$134,515</a:t>
            </a:r>
            <a:endParaRPr/>
          </a:p>
        </p:txBody>
      </p:sp>
      <p:sp>
        <p:nvSpPr>
          <p:cNvPr id="1887" name="Google Shape;1887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$262,804</a:t>
            </a:r>
            <a:endParaRPr/>
          </a:p>
        </p:txBody>
      </p:sp>
      <p:sp>
        <p:nvSpPr>
          <p:cNvPr id="1888" name="Google Shape;1888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$-258,041</a:t>
            </a:r>
            <a:endParaRPr/>
          </a:p>
        </p:txBody>
      </p:sp>
      <p:sp>
        <p:nvSpPr>
          <p:cNvPr id="1889" name="Google Shape;1889;p1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0" name="Google Shape;1890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891" name="Google Shape;1891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$4,503,943</a:t>
            </a:r>
            <a:endParaRPr/>
          </a:p>
        </p:txBody>
      </p:sp>
      <p:sp>
        <p:nvSpPr>
          <p:cNvPr id="1892" name="Google Shape;1892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$2,424,917</a:t>
            </a:r>
            <a:endParaRPr/>
          </a:p>
        </p:txBody>
      </p:sp>
      <p:sp>
        <p:nvSpPr>
          <p:cNvPr id="1893" name="Google Shape;1893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$811,152</a:t>
            </a:r>
            <a:endParaRPr/>
          </a:p>
        </p:txBody>
      </p:sp>
      <p:sp>
        <p:nvSpPr>
          <p:cNvPr id="1894" name="Google Shape;1894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$1,267,873</a:t>
            </a:r>
            <a:endParaRPr/>
          </a:p>
        </p:txBody>
      </p:sp>
      <p:sp>
        <p:nvSpPr>
          <p:cNvPr id="1895" name="Google Shape;1895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$-1,783,938</a:t>
            </a:r>
            <a:endParaRPr/>
          </a:p>
        </p:txBody>
      </p:sp>
      <p:sp>
        <p:nvSpPr>
          <p:cNvPr id="1896" name="Google Shape;1896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7" name="Google Shape;1897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898" name="Google Shape;1898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99" name="Google Shape;1899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900" name="Google Shape;1900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901" name="Google Shape;1901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902" name="Google Shape;1902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03" name="Google Shape;1903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04" name="Google Shape;1904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5" name="Google Shape;1905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906" name="Google Shape;1906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</p:txBody>
      </p:sp>
      <p:sp>
        <p:nvSpPr>
          <p:cNvPr id="1907" name="Google Shape;1907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908" name="Google Shape;1908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170</a:t>
            </a:r>
            <a:endParaRPr/>
          </a:p>
        </p:txBody>
      </p:sp>
      <p:sp>
        <p:nvSpPr>
          <p:cNvPr id="1909" name="Google Shape;1909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1910" name="Google Shape;1910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23.1%</a:t>
            </a:r>
            <a:endParaRPr/>
          </a:p>
        </p:txBody>
      </p:sp>
      <p:sp>
        <p:nvSpPr>
          <p:cNvPr id="1911" name="Google Shape;1911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2" name="Google Shape;1912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913" name="Google Shape;1913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1914" name="Google Shape;1914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1915" name="Google Shape;1915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</a:t>
            </a:r>
            <a:endParaRPr/>
          </a:p>
        </p:txBody>
      </p:sp>
      <p:sp>
        <p:nvSpPr>
          <p:cNvPr id="1916" name="Google Shape;1916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917" name="Google Shape;1917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20.2%</a:t>
            </a:r>
            <a:endParaRPr/>
          </a:p>
        </p:txBody>
      </p:sp>
      <p:sp>
        <p:nvSpPr>
          <p:cNvPr id="1918" name="Google Shape;1918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9" name="Google Shape;1919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20" name="Google Shape;1920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</a:t>
            </a:r>
            <a:endParaRPr/>
          </a:p>
        </p:txBody>
      </p:sp>
      <p:sp>
        <p:nvSpPr>
          <p:cNvPr id="1921" name="Google Shape;1921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922" name="Google Shape;1922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147</a:t>
            </a:r>
            <a:endParaRPr/>
          </a:p>
        </p:txBody>
      </p:sp>
      <p:sp>
        <p:nvSpPr>
          <p:cNvPr id="1923" name="Google Shape;1923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1924" name="Google Shape;1924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18.0%</a:t>
            </a:r>
            <a:endParaRPr/>
          </a:p>
        </p:txBody>
      </p:sp>
      <p:sp>
        <p:nvSpPr>
          <p:cNvPr id="1925" name="Google Shape;1925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6" name="Google Shape;1926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27" name="Google Shape;1927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</a:t>
            </a:r>
            <a:endParaRPr/>
          </a:p>
        </p:txBody>
      </p:sp>
      <p:sp>
        <p:nvSpPr>
          <p:cNvPr id="1928" name="Google Shape;1928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929" name="Google Shape;1929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</a:t>
            </a:r>
            <a:endParaRPr/>
          </a:p>
        </p:txBody>
      </p:sp>
      <p:sp>
        <p:nvSpPr>
          <p:cNvPr id="1930" name="Google Shape;1930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931" name="Google Shape;1931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18.9%</a:t>
            </a:r>
            <a:endParaRPr/>
          </a:p>
        </p:txBody>
      </p:sp>
      <p:sp>
        <p:nvSpPr>
          <p:cNvPr id="1932" name="Google Shape;1932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3" name="Google Shape;1933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34" name="Google Shape;1934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</a:t>
            </a:r>
            <a:endParaRPr/>
          </a:p>
        </p:txBody>
      </p:sp>
      <p:sp>
        <p:nvSpPr>
          <p:cNvPr id="1935" name="Google Shape;1935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936" name="Google Shape;1936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121</a:t>
            </a:r>
            <a:endParaRPr/>
          </a:p>
        </p:txBody>
      </p:sp>
      <p:sp>
        <p:nvSpPr>
          <p:cNvPr id="1937" name="Google Shape;1937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938" name="Google Shape;1938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14.0%</a:t>
            </a:r>
            <a:endParaRPr/>
          </a:p>
        </p:txBody>
      </p:sp>
      <p:sp>
        <p:nvSpPr>
          <p:cNvPr id="1939" name="Google Shape;1939;p1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0" name="Google Shape;1940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41" name="Google Shape;1941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680</a:t>
            </a:r>
            <a:endParaRPr/>
          </a:p>
        </p:txBody>
      </p:sp>
      <p:sp>
        <p:nvSpPr>
          <p:cNvPr id="1942" name="Google Shape;1942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1943" name="Google Shape;1943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606</a:t>
            </a:r>
            <a:endParaRPr/>
          </a:p>
        </p:txBody>
      </p:sp>
      <p:sp>
        <p:nvSpPr>
          <p:cNvPr id="1944" name="Google Shape;1944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1945" name="Google Shape;1945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1946" name="Google Shape;1946;p1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7" name="Google Shape;1947;p1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948" name="Google Shape;1948;p1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49" name="Google Shape;1949;p1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950" name="Google Shape;1950;p1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951" name="Google Shape;1951;p1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952" name="Google Shape;1952;p1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953" name="Google Shape;1953;p1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954" name="Google Shape;1954;p1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955" name="Google Shape;1955;p1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956" name="Google Shape;1956;p1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957" name="Google Shape;1957;p1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958" name="Google Shape;1958;p1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959" name="Google Shape;1959;p1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960" name="Google Shape;1960;p1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961" name="Google Shape;1961;p1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62" name="Google Shape;1962;p1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97</a:t>
            </a:r>
            <a:endParaRPr/>
          </a:p>
        </p:txBody>
      </p:sp>
      <p:sp>
        <p:nvSpPr>
          <p:cNvPr id="1963" name="Google Shape;1963;p1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</p:txBody>
      </p:sp>
      <p:sp>
        <p:nvSpPr>
          <p:cNvPr id="1964" name="Google Shape;1964;p1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1965" name="Google Shape;1965;p1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1966" name="Google Shape;1966;p1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1967" name="Google Shape;1967;p1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</a:t>
            </a:r>
            <a:endParaRPr/>
          </a:p>
        </p:txBody>
      </p:sp>
      <p:sp>
        <p:nvSpPr>
          <p:cNvPr id="1968" name="Google Shape;1968;p1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</a:t>
            </a:r>
            <a:endParaRPr/>
          </a:p>
        </p:txBody>
      </p:sp>
      <p:sp>
        <p:nvSpPr>
          <p:cNvPr id="1969" name="Google Shape;1969;p1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</a:t>
            </a:r>
            <a:endParaRPr/>
          </a:p>
        </p:txBody>
      </p:sp>
      <p:sp>
        <p:nvSpPr>
          <p:cNvPr id="1970" name="Google Shape;1970;p1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1971" name="Google Shape;1971;p1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</a:t>
            </a:r>
            <a:endParaRPr/>
          </a:p>
        </p:txBody>
      </p:sp>
      <p:sp>
        <p:nvSpPr>
          <p:cNvPr id="1972" name="Google Shape;1972;p1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614</a:t>
            </a:r>
            <a:endParaRPr/>
          </a:p>
        </p:txBody>
      </p:sp>
      <p:sp>
        <p:nvSpPr>
          <p:cNvPr id="1973" name="Google Shape;1973;p1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846</a:t>
            </a:r>
            <a:endParaRPr/>
          </a:p>
        </p:txBody>
      </p:sp>
      <p:sp>
        <p:nvSpPr>
          <p:cNvPr id="1974" name="Google Shape;1974;p1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975" name="Google Shape;1975;p1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$111K</a:t>
            </a:r>
            <a:endParaRPr/>
          </a:p>
        </p:txBody>
      </p:sp>
      <p:sp>
        <p:nvSpPr>
          <p:cNvPr id="1976" name="Google Shape;1976;p1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$2.1M</a:t>
            </a:r>
            <a:endParaRPr/>
          </a:p>
        </p:txBody>
      </p:sp>
      <p:sp>
        <p:nvSpPr>
          <p:cNvPr id="1977" name="Google Shape;1977;p1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$124K</a:t>
            </a:r>
            <a:endParaRPr/>
          </a:p>
        </p:txBody>
      </p:sp>
      <p:sp>
        <p:nvSpPr>
          <p:cNvPr id="1978" name="Google Shape;1978;p1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$728K</a:t>
            </a:r>
            <a:endParaRPr/>
          </a:p>
        </p:txBody>
      </p:sp>
      <p:sp>
        <p:nvSpPr>
          <p:cNvPr id="1979" name="Google Shape;1979;p1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$441K</a:t>
            </a:r>
            <a:endParaRPr/>
          </a:p>
        </p:txBody>
      </p:sp>
      <p:sp>
        <p:nvSpPr>
          <p:cNvPr id="1980" name="Google Shape;1980;p1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$565K</a:t>
            </a:r>
            <a:endParaRPr/>
          </a:p>
        </p:txBody>
      </p:sp>
      <p:sp>
        <p:nvSpPr>
          <p:cNvPr id="1981" name="Google Shape;1981;p1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$501K</a:t>
            </a:r>
            <a:endParaRPr/>
          </a:p>
        </p:txBody>
      </p:sp>
      <p:sp>
        <p:nvSpPr>
          <p:cNvPr id="1982" name="Google Shape;1982;p1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$686K</a:t>
            </a:r>
            <a:endParaRPr/>
          </a:p>
        </p:txBody>
      </p:sp>
      <p:sp>
        <p:nvSpPr>
          <p:cNvPr id="1983" name="Google Shape;1983;p1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$449K</a:t>
            </a:r>
            <a:endParaRPr/>
          </a:p>
        </p:txBody>
      </p:sp>
      <p:sp>
        <p:nvSpPr>
          <p:cNvPr id="1984" name="Google Shape;1984;p1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$468K</a:t>
            </a:r>
            <a:endParaRPr/>
          </a:p>
        </p:txBody>
      </p:sp>
      <p:sp>
        <p:nvSpPr>
          <p:cNvPr id="1985" name="Google Shape;1985;p1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$1.6M</a:t>
            </a:r>
            <a:endParaRPr/>
          </a:p>
        </p:txBody>
      </p:sp>
      <p:sp>
        <p:nvSpPr>
          <p:cNvPr id="1986" name="Google Shape;1986;p1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$4.5M</a:t>
            </a:r>
            <a:endParaRPr/>
          </a:p>
        </p:txBody>
      </p:sp>
      <p:sp>
        <p:nvSpPr>
          <p:cNvPr id="1987" name="Google Shape;1987;p1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8" name="Google Shape;1988;p1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989" name="Google Shape;1989;p1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90" name="Google Shape;1990;p1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$4,503,943 YTD gross written premium</a:t>
            </a:r>
            <a:endParaRPr/>
          </a:p>
        </p:txBody>
      </p:sp>
      <p:sp>
        <p:nvSpPr>
          <p:cNvPr id="1991" name="Google Shape;1991;p1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92" name="Google Shape;1992;p1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$2,424,917 in new business production</a:t>
            </a:r>
            <a:endParaRPr/>
          </a:p>
        </p:txBody>
      </p:sp>
      <p:sp>
        <p:nvSpPr>
          <p:cNvPr id="1993" name="Google Shape;1993;p1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4" name="Google Shape;1994;p1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995" name="Google Shape;1995;p1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996" name="Google Shape;1996;p1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74% of new business ($1,783,938)</a:t>
            </a:r>
            <a:endParaRPr/>
          </a:p>
        </p:txBody>
      </p:sp>
      <p:sp>
        <p:nvSpPr>
          <p:cNvPr id="1997" name="Google Shape;1997;p1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8" name="Google Shape;1998;p1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999" name="Google Shape;1999;p1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000" name="Google Shape;2000;p1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$2,424,917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001" name="Google Shape;2001;p1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002" name="Google Shape;2002;p1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$1,783,938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06" name="Shape 2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" name="Google Shape;2007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8" name="Google Shape;2008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Reliance Partners, Llc</a:t>
            </a:r>
            <a:endParaRPr/>
          </a:p>
        </p:txBody>
      </p:sp>
      <p:sp>
        <p:nvSpPr>
          <p:cNvPr id="2009" name="Google Shape;2009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TN  |  City: Chattanooga</a:t>
            </a:r>
            <a:endParaRPr/>
          </a:p>
        </p:txBody>
      </p:sp>
      <p:sp>
        <p:nvSpPr>
          <p:cNvPr id="2010" name="Google Shape;2010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$3,898,602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011" name="Google Shape;2011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$2,418,714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12" name="Google Shape;2012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$706,270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13" name="Google Shape;2013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$773,618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14" name="Google Shape;2014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$-1,704,675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15" name="Google Shape;2015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$11,296,746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016" name="Google Shape;2016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$10,900,071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017" name="Google Shape;2017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018" name="Google Shape;2018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19" name="Google Shape;2019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20" name="Google Shape;2020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21" name="Google Shape;2021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$2,508,828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022" name="Google Shape;2022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$2,598,158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023" name="Google Shape;2023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4" name="Google Shape;2024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025" name="Google Shape;2025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26" name="Google Shape;2026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027" name="Google Shape;2027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28" name="Google Shape;2028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29" name="Google Shape;2029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30" name="Google Shape;2030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31" name="Google Shape;2031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2" name="Google Shape;2032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33" name="Google Shape;2033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$447,696</a:t>
            </a:r>
            <a:endParaRPr/>
          </a:p>
        </p:txBody>
      </p:sp>
      <p:sp>
        <p:nvSpPr>
          <p:cNvPr id="2034" name="Google Shape;2034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$148,058</a:t>
            </a:r>
            <a:endParaRPr/>
          </a:p>
        </p:txBody>
      </p:sp>
      <p:sp>
        <p:nvSpPr>
          <p:cNvPr id="2035" name="Google Shape;2035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$29,222</a:t>
            </a:r>
            <a:endParaRPr/>
          </a:p>
        </p:txBody>
      </p:sp>
      <p:sp>
        <p:nvSpPr>
          <p:cNvPr id="2036" name="Google Shape;2036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$270,417</a:t>
            </a:r>
            <a:endParaRPr/>
          </a:p>
        </p:txBody>
      </p:sp>
      <p:sp>
        <p:nvSpPr>
          <p:cNvPr id="2037" name="Google Shape;2037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$-318,333</a:t>
            </a:r>
            <a:endParaRPr/>
          </a:p>
        </p:txBody>
      </p:sp>
      <p:sp>
        <p:nvSpPr>
          <p:cNvPr id="2038" name="Google Shape;2038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9" name="Google Shape;2039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40" name="Google Shape;2040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$556,470</a:t>
            </a:r>
            <a:endParaRPr/>
          </a:p>
        </p:txBody>
      </p:sp>
      <p:sp>
        <p:nvSpPr>
          <p:cNvPr id="2041" name="Google Shape;2041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$315,091</a:t>
            </a:r>
            <a:endParaRPr/>
          </a:p>
        </p:txBody>
      </p:sp>
      <p:sp>
        <p:nvSpPr>
          <p:cNvPr id="2042" name="Google Shape;2042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$87,096</a:t>
            </a:r>
            <a:endParaRPr/>
          </a:p>
        </p:txBody>
      </p:sp>
      <p:sp>
        <p:nvSpPr>
          <p:cNvPr id="2043" name="Google Shape;2043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$154,282</a:t>
            </a:r>
            <a:endParaRPr/>
          </a:p>
        </p:txBody>
      </p:sp>
      <p:sp>
        <p:nvSpPr>
          <p:cNvPr id="2044" name="Google Shape;2044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$-236,871</a:t>
            </a:r>
            <a:endParaRPr/>
          </a:p>
        </p:txBody>
      </p:sp>
      <p:sp>
        <p:nvSpPr>
          <p:cNvPr id="2045" name="Google Shape;2045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6" name="Google Shape;2046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47" name="Google Shape;2047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$882,650</a:t>
            </a:r>
            <a:endParaRPr/>
          </a:p>
        </p:txBody>
      </p:sp>
      <p:sp>
        <p:nvSpPr>
          <p:cNvPr id="2048" name="Google Shape;2048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$744,194</a:t>
            </a:r>
            <a:endParaRPr/>
          </a:p>
        </p:txBody>
      </p:sp>
      <p:sp>
        <p:nvSpPr>
          <p:cNvPr id="2049" name="Google Shape;2049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$65,019</a:t>
            </a:r>
            <a:endParaRPr/>
          </a:p>
        </p:txBody>
      </p:sp>
      <p:sp>
        <p:nvSpPr>
          <p:cNvPr id="2050" name="Google Shape;2050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$73,436</a:t>
            </a:r>
            <a:endParaRPr/>
          </a:p>
        </p:txBody>
      </p:sp>
      <p:sp>
        <p:nvSpPr>
          <p:cNvPr id="2051" name="Google Shape;2051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$-437,887</a:t>
            </a:r>
            <a:endParaRPr/>
          </a:p>
        </p:txBody>
      </p:sp>
      <p:sp>
        <p:nvSpPr>
          <p:cNvPr id="2052" name="Google Shape;2052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3" name="Google Shape;2053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54" name="Google Shape;2054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$1,322,951</a:t>
            </a:r>
            <a:endParaRPr/>
          </a:p>
        </p:txBody>
      </p:sp>
      <p:sp>
        <p:nvSpPr>
          <p:cNvPr id="2055" name="Google Shape;2055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$734,967</a:t>
            </a:r>
            <a:endParaRPr/>
          </a:p>
        </p:txBody>
      </p:sp>
      <p:sp>
        <p:nvSpPr>
          <p:cNvPr id="2056" name="Google Shape;2056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$432,382</a:t>
            </a:r>
            <a:endParaRPr/>
          </a:p>
        </p:txBody>
      </p:sp>
      <p:sp>
        <p:nvSpPr>
          <p:cNvPr id="2057" name="Google Shape;2057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$155,602</a:t>
            </a:r>
            <a:endParaRPr/>
          </a:p>
        </p:txBody>
      </p:sp>
      <p:sp>
        <p:nvSpPr>
          <p:cNvPr id="2058" name="Google Shape;2058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$-475,958</a:t>
            </a:r>
            <a:endParaRPr/>
          </a:p>
        </p:txBody>
      </p:sp>
      <p:sp>
        <p:nvSpPr>
          <p:cNvPr id="2059" name="Google Shape;2059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0" name="Google Shape;2060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61" name="Google Shape;2061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$688,835</a:t>
            </a:r>
            <a:endParaRPr/>
          </a:p>
        </p:txBody>
      </p:sp>
      <p:sp>
        <p:nvSpPr>
          <p:cNvPr id="2062" name="Google Shape;2062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$476,404</a:t>
            </a:r>
            <a:endParaRPr/>
          </a:p>
        </p:txBody>
      </p:sp>
      <p:sp>
        <p:nvSpPr>
          <p:cNvPr id="2063" name="Google Shape;2063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$92,550</a:t>
            </a:r>
            <a:endParaRPr/>
          </a:p>
        </p:txBody>
      </p:sp>
      <p:sp>
        <p:nvSpPr>
          <p:cNvPr id="2064" name="Google Shape;2064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$119,881</a:t>
            </a:r>
            <a:endParaRPr/>
          </a:p>
        </p:txBody>
      </p:sp>
      <p:sp>
        <p:nvSpPr>
          <p:cNvPr id="2065" name="Google Shape;2065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$-235,626</a:t>
            </a:r>
            <a:endParaRPr/>
          </a:p>
        </p:txBody>
      </p:sp>
      <p:sp>
        <p:nvSpPr>
          <p:cNvPr id="2066" name="Google Shape;2066;p1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7" name="Google Shape;2067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68" name="Google Shape;2068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$3,898,602</a:t>
            </a:r>
            <a:endParaRPr/>
          </a:p>
        </p:txBody>
      </p:sp>
      <p:sp>
        <p:nvSpPr>
          <p:cNvPr id="2069" name="Google Shape;2069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$2,418,714</a:t>
            </a:r>
            <a:endParaRPr/>
          </a:p>
        </p:txBody>
      </p:sp>
      <p:sp>
        <p:nvSpPr>
          <p:cNvPr id="2070" name="Google Shape;2070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$706,270</a:t>
            </a:r>
            <a:endParaRPr/>
          </a:p>
        </p:txBody>
      </p:sp>
      <p:sp>
        <p:nvSpPr>
          <p:cNvPr id="2071" name="Google Shape;2071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$773,618</a:t>
            </a:r>
            <a:endParaRPr/>
          </a:p>
        </p:txBody>
      </p:sp>
      <p:sp>
        <p:nvSpPr>
          <p:cNvPr id="2072" name="Google Shape;2072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$-1,704,675</a:t>
            </a:r>
            <a:endParaRPr/>
          </a:p>
        </p:txBody>
      </p:sp>
      <p:sp>
        <p:nvSpPr>
          <p:cNvPr id="2073" name="Google Shape;2073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4" name="Google Shape;2074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075" name="Google Shape;2075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76" name="Google Shape;2076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077" name="Google Shape;2077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078" name="Google Shape;2078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079" name="Google Shape;2079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80" name="Google Shape;2080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81" name="Google Shape;2081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Google Shape;2082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83" name="Google Shape;2083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1510</a:t>
            </a:r>
            <a:endParaRPr/>
          </a:p>
        </p:txBody>
      </p:sp>
      <p:sp>
        <p:nvSpPr>
          <p:cNvPr id="2084" name="Google Shape;2084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</a:t>
            </a:r>
            <a:endParaRPr/>
          </a:p>
        </p:txBody>
      </p:sp>
      <p:sp>
        <p:nvSpPr>
          <p:cNvPr id="2085" name="Google Shape;2085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1255</a:t>
            </a:r>
            <a:endParaRPr/>
          </a:p>
        </p:txBody>
      </p:sp>
      <p:sp>
        <p:nvSpPr>
          <p:cNvPr id="2086" name="Google Shape;2086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2087" name="Google Shape;2087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2088" name="Google Shape;2088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9" name="Google Shape;2089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90" name="Google Shape;2090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1285</a:t>
            </a:r>
            <a:endParaRPr/>
          </a:p>
        </p:txBody>
      </p:sp>
      <p:sp>
        <p:nvSpPr>
          <p:cNvPr id="2091" name="Google Shape;2091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2092" name="Google Shape;2092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1096</a:t>
            </a:r>
            <a:endParaRPr/>
          </a:p>
        </p:txBody>
      </p:sp>
      <p:sp>
        <p:nvSpPr>
          <p:cNvPr id="2093" name="Google Shape;2093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2094" name="Google Shape;2094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2095" name="Google Shape;2095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6" name="Google Shape;2096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97" name="Google Shape;2097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1440</a:t>
            </a:r>
            <a:endParaRPr/>
          </a:p>
        </p:txBody>
      </p:sp>
      <p:sp>
        <p:nvSpPr>
          <p:cNvPr id="2098" name="Google Shape;2098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</a:t>
            </a:r>
            <a:endParaRPr/>
          </a:p>
        </p:txBody>
      </p:sp>
      <p:sp>
        <p:nvSpPr>
          <p:cNvPr id="2099" name="Google Shape;2099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1183</a:t>
            </a:r>
            <a:endParaRPr/>
          </a:p>
        </p:txBody>
      </p:sp>
      <p:sp>
        <p:nvSpPr>
          <p:cNvPr id="2100" name="Google Shape;2100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2101" name="Google Shape;2101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3.9%</a:t>
            </a:r>
            <a:endParaRPr/>
          </a:p>
        </p:txBody>
      </p:sp>
      <p:sp>
        <p:nvSpPr>
          <p:cNvPr id="2102" name="Google Shape;2102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3" name="Google Shape;2103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104" name="Google Shape;2104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1315</a:t>
            </a:r>
            <a:endParaRPr/>
          </a:p>
        </p:txBody>
      </p:sp>
      <p:sp>
        <p:nvSpPr>
          <p:cNvPr id="2105" name="Google Shape;2105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235</a:t>
            </a:r>
            <a:endParaRPr/>
          </a:p>
        </p:txBody>
      </p:sp>
      <p:sp>
        <p:nvSpPr>
          <p:cNvPr id="2106" name="Google Shape;2106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1080</a:t>
            </a:r>
            <a:endParaRPr/>
          </a:p>
        </p:txBody>
      </p:sp>
      <p:sp>
        <p:nvSpPr>
          <p:cNvPr id="2107" name="Google Shape;2107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108" name="Google Shape;2108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2109" name="Google Shape;2109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0" name="Google Shape;2110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111" name="Google Shape;2111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1014</a:t>
            </a:r>
            <a:endParaRPr/>
          </a:p>
        </p:txBody>
      </p:sp>
      <p:sp>
        <p:nvSpPr>
          <p:cNvPr id="2112" name="Google Shape;2112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171</a:t>
            </a:r>
            <a:endParaRPr/>
          </a:p>
        </p:txBody>
      </p:sp>
      <p:sp>
        <p:nvSpPr>
          <p:cNvPr id="2113" name="Google Shape;2113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843</a:t>
            </a:r>
            <a:endParaRPr/>
          </a:p>
        </p:txBody>
      </p:sp>
      <p:sp>
        <p:nvSpPr>
          <p:cNvPr id="2114" name="Google Shape;2114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2115" name="Google Shape;2115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2116" name="Google Shape;2116;p1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7" name="Google Shape;2117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118" name="Google Shape;2118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6339</a:t>
            </a:r>
            <a:endParaRPr/>
          </a:p>
        </p:txBody>
      </p:sp>
      <p:sp>
        <p:nvSpPr>
          <p:cNvPr id="2119" name="Google Shape;2119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1065</a:t>
            </a:r>
            <a:endParaRPr/>
          </a:p>
        </p:txBody>
      </p:sp>
      <p:sp>
        <p:nvSpPr>
          <p:cNvPr id="2120" name="Google Shape;2120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5274</a:t>
            </a:r>
            <a:endParaRPr/>
          </a:p>
        </p:txBody>
      </p:sp>
      <p:sp>
        <p:nvSpPr>
          <p:cNvPr id="2121" name="Google Shape;2121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2122" name="Google Shape;2122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2123" name="Google Shape;2123;p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4" name="Google Shape;2124;p1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125" name="Google Shape;2125;p1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126" name="Google Shape;2126;p1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127" name="Google Shape;2127;p1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128" name="Google Shape;2128;p1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129" name="Google Shape;2129;p1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130" name="Google Shape;2130;p1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131" name="Google Shape;2131;p1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132" name="Google Shape;2132;p1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133" name="Google Shape;2133;p1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134" name="Google Shape;2134;p1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135" name="Google Shape;2135;p1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136" name="Google Shape;2136;p1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137" name="Google Shape;2137;p1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138" name="Google Shape;2138;p1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39" name="Google Shape;2139;p1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1124</a:t>
            </a:r>
            <a:endParaRPr/>
          </a:p>
        </p:txBody>
      </p:sp>
      <p:sp>
        <p:nvSpPr>
          <p:cNvPr id="2140" name="Google Shape;2140;p1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1510</a:t>
            </a:r>
            <a:endParaRPr/>
          </a:p>
        </p:txBody>
      </p:sp>
      <p:sp>
        <p:nvSpPr>
          <p:cNvPr id="2141" name="Google Shape;2141;p1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1000</a:t>
            </a:r>
            <a:endParaRPr/>
          </a:p>
        </p:txBody>
      </p:sp>
      <p:sp>
        <p:nvSpPr>
          <p:cNvPr id="2142" name="Google Shape;2142;p1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1285</a:t>
            </a:r>
            <a:endParaRPr/>
          </a:p>
        </p:txBody>
      </p:sp>
      <p:sp>
        <p:nvSpPr>
          <p:cNvPr id="2143" name="Google Shape;2143;p1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1430</a:t>
            </a:r>
            <a:endParaRPr/>
          </a:p>
        </p:txBody>
      </p:sp>
      <p:sp>
        <p:nvSpPr>
          <p:cNvPr id="2144" name="Google Shape;2144;p1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1440</a:t>
            </a:r>
            <a:endParaRPr/>
          </a:p>
        </p:txBody>
      </p:sp>
      <p:sp>
        <p:nvSpPr>
          <p:cNvPr id="2145" name="Google Shape;2145;p1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1499</a:t>
            </a:r>
            <a:endParaRPr/>
          </a:p>
        </p:txBody>
      </p:sp>
      <p:sp>
        <p:nvSpPr>
          <p:cNvPr id="2146" name="Google Shape;2146;p1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1315</a:t>
            </a:r>
            <a:endParaRPr/>
          </a:p>
        </p:txBody>
      </p:sp>
      <p:sp>
        <p:nvSpPr>
          <p:cNvPr id="2147" name="Google Shape;2147;p1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1462</a:t>
            </a:r>
            <a:endParaRPr/>
          </a:p>
        </p:txBody>
      </p:sp>
      <p:sp>
        <p:nvSpPr>
          <p:cNvPr id="2148" name="Google Shape;2148;p1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1014</a:t>
            </a:r>
            <a:endParaRPr/>
          </a:p>
        </p:txBody>
      </p:sp>
      <p:sp>
        <p:nvSpPr>
          <p:cNvPr id="2149" name="Google Shape;2149;p1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6515</a:t>
            </a:r>
            <a:endParaRPr/>
          </a:p>
        </p:txBody>
      </p:sp>
      <p:sp>
        <p:nvSpPr>
          <p:cNvPr id="2150" name="Google Shape;2150;p1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6564</a:t>
            </a:r>
            <a:endParaRPr/>
          </a:p>
        </p:txBody>
      </p:sp>
      <p:sp>
        <p:nvSpPr>
          <p:cNvPr id="2151" name="Google Shape;2151;p1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152" name="Google Shape;2152;p1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$446K</a:t>
            </a:r>
            <a:endParaRPr/>
          </a:p>
        </p:txBody>
      </p:sp>
      <p:sp>
        <p:nvSpPr>
          <p:cNvPr id="2153" name="Google Shape;2153;p1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$448K</a:t>
            </a:r>
            <a:endParaRPr/>
          </a:p>
        </p:txBody>
      </p:sp>
      <p:sp>
        <p:nvSpPr>
          <p:cNvPr id="2154" name="Google Shape;2154;p1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$380K</a:t>
            </a:r>
            <a:endParaRPr/>
          </a:p>
        </p:txBody>
      </p:sp>
      <p:sp>
        <p:nvSpPr>
          <p:cNvPr id="2155" name="Google Shape;2155;p1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$556K</a:t>
            </a:r>
            <a:endParaRPr/>
          </a:p>
        </p:txBody>
      </p:sp>
      <p:sp>
        <p:nvSpPr>
          <p:cNvPr id="2156" name="Google Shape;2156;p1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$997K</a:t>
            </a:r>
            <a:endParaRPr/>
          </a:p>
        </p:txBody>
      </p:sp>
      <p:sp>
        <p:nvSpPr>
          <p:cNvPr id="2157" name="Google Shape;2157;p1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$883K</a:t>
            </a:r>
            <a:endParaRPr/>
          </a:p>
        </p:txBody>
      </p:sp>
      <p:sp>
        <p:nvSpPr>
          <p:cNvPr id="2158" name="Google Shape;2158;p1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$1.2M</a:t>
            </a:r>
            <a:endParaRPr/>
          </a:p>
        </p:txBody>
      </p:sp>
      <p:sp>
        <p:nvSpPr>
          <p:cNvPr id="2159" name="Google Shape;2159;p1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$1.3M</a:t>
            </a:r>
            <a:endParaRPr/>
          </a:p>
        </p:txBody>
      </p:sp>
      <p:sp>
        <p:nvSpPr>
          <p:cNvPr id="2160" name="Google Shape;2160;p1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$1.3M</a:t>
            </a:r>
            <a:endParaRPr/>
          </a:p>
        </p:txBody>
      </p:sp>
      <p:sp>
        <p:nvSpPr>
          <p:cNvPr id="2161" name="Google Shape;2161;p1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$689K</a:t>
            </a:r>
            <a:endParaRPr/>
          </a:p>
        </p:txBody>
      </p:sp>
      <p:sp>
        <p:nvSpPr>
          <p:cNvPr id="2162" name="Google Shape;2162;p1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$4.3M</a:t>
            </a:r>
            <a:endParaRPr/>
          </a:p>
        </p:txBody>
      </p:sp>
      <p:sp>
        <p:nvSpPr>
          <p:cNvPr id="2163" name="Google Shape;2163;p1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$3.9M</a:t>
            </a:r>
            <a:endParaRPr/>
          </a:p>
        </p:txBody>
      </p:sp>
      <p:sp>
        <p:nvSpPr>
          <p:cNvPr id="2164" name="Google Shape;2164;p1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5" name="Google Shape;2165;p1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166" name="Google Shape;2166;p1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67" name="Google Shape;2167;p1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$3,898,602 YTD gross written premium</a:t>
            </a:r>
            <a:endParaRPr/>
          </a:p>
        </p:txBody>
      </p:sp>
      <p:sp>
        <p:nvSpPr>
          <p:cNvPr id="2168" name="Google Shape;2168;p1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69" name="Google Shape;2169;p1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$2,418,714 in new business production</a:t>
            </a:r>
            <a:endParaRPr/>
          </a:p>
        </p:txBody>
      </p:sp>
      <p:sp>
        <p:nvSpPr>
          <p:cNvPr id="2170" name="Google Shape;2170;p1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1" name="Google Shape;2171;p1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172" name="Google Shape;2172;p1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73" name="Google Shape;2173;p1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1.8% hit ratio on 6339 subs - needs coaching</a:t>
            </a:r>
            <a:endParaRPr/>
          </a:p>
        </p:txBody>
      </p:sp>
      <p:sp>
        <p:nvSpPr>
          <p:cNvPr id="2174" name="Google Shape;2174;p1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75" name="Google Shape;2175;p1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70% of new business ($1,704,675)</a:t>
            </a:r>
            <a:endParaRPr/>
          </a:p>
        </p:txBody>
      </p:sp>
      <p:sp>
        <p:nvSpPr>
          <p:cNvPr id="2176" name="Google Shape;2176;p1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7" name="Google Shape;2177;p1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178" name="Google Shape;2178;p1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179" name="Google Shape;2179;p1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(6339 subs, only 116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180" name="Google Shape;2180;p1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181" name="Google Shape;2181;p1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$2,418,714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5" name="Shape 2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6" name="Google Shape;2186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7" name="Google Shape;2187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United Advantage Insurance Services</a:t>
            </a:r>
            <a:endParaRPr/>
          </a:p>
        </p:txBody>
      </p:sp>
      <p:sp>
        <p:nvSpPr>
          <p:cNvPr id="2188" name="Google Shape;2188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Fountain Valley</a:t>
            </a:r>
            <a:endParaRPr/>
          </a:p>
        </p:txBody>
      </p:sp>
      <p:sp>
        <p:nvSpPr>
          <p:cNvPr id="2189" name="Google Shape;2189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$3,647,587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190" name="Google Shape;2190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$2,316,113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91" name="Google Shape;2191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$413,911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92" name="Google Shape;2192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$917,563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93" name="Google Shape;2193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$-1,138,276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94" name="Google Shape;2194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$5,313,122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195" name="Google Shape;2195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$7,046,555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196" name="Google Shape;2196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197" name="Google Shape;2197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98" name="Google Shape;2198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199" name="Google Shape;2199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00" name="Google Shape;2200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$760,676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201" name="Google Shape;2201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$2,352,443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202" name="Google Shape;2202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3" name="Google Shape;2203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204" name="Google Shape;2204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05" name="Google Shape;2205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206" name="Google Shape;2206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07" name="Google Shape;2207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08" name="Google Shape;2208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09" name="Google Shape;2209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10" name="Google Shape;2210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1" name="Google Shape;2211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12" name="Google Shape;2212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$619,222</a:t>
            </a:r>
            <a:endParaRPr/>
          </a:p>
        </p:txBody>
      </p:sp>
      <p:sp>
        <p:nvSpPr>
          <p:cNvPr id="2213" name="Google Shape;2213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$547,989</a:t>
            </a:r>
            <a:endParaRPr/>
          </a:p>
        </p:txBody>
      </p:sp>
      <p:sp>
        <p:nvSpPr>
          <p:cNvPr id="2214" name="Google Shape;2214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$16,681</a:t>
            </a:r>
            <a:endParaRPr/>
          </a:p>
        </p:txBody>
      </p:sp>
      <p:sp>
        <p:nvSpPr>
          <p:cNvPr id="2215" name="Google Shape;2215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$54,552</a:t>
            </a:r>
            <a:endParaRPr/>
          </a:p>
        </p:txBody>
      </p:sp>
      <p:sp>
        <p:nvSpPr>
          <p:cNvPr id="2216" name="Google Shape;2216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$-177,485</a:t>
            </a:r>
            <a:endParaRPr/>
          </a:p>
        </p:txBody>
      </p:sp>
      <p:sp>
        <p:nvSpPr>
          <p:cNvPr id="2217" name="Google Shape;2217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8" name="Google Shape;2218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19" name="Google Shape;2219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$544,314</a:t>
            </a:r>
            <a:endParaRPr/>
          </a:p>
        </p:txBody>
      </p:sp>
      <p:sp>
        <p:nvSpPr>
          <p:cNvPr id="2220" name="Google Shape;2220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$336,280</a:t>
            </a:r>
            <a:endParaRPr/>
          </a:p>
        </p:txBody>
      </p:sp>
      <p:sp>
        <p:nvSpPr>
          <p:cNvPr id="2221" name="Google Shape;2221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$58,445</a:t>
            </a:r>
            <a:endParaRPr/>
          </a:p>
        </p:txBody>
      </p:sp>
      <p:sp>
        <p:nvSpPr>
          <p:cNvPr id="2222" name="Google Shape;2222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$149,589</a:t>
            </a:r>
            <a:endParaRPr/>
          </a:p>
        </p:txBody>
      </p:sp>
      <p:sp>
        <p:nvSpPr>
          <p:cNvPr id="2223" name="Google Shape;2223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$-240,020</a:t>
            </a:r>
            <a:endParaRPr/>
          </a:p>
        </p:txBody>
      </p:sp>
      <p:sp>
        <p:nvSpPr>
          <p:cNvPr id="2224" name="Google Shape;2224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5" name="Google Shape;2225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26" name="Google Shape;2226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$843,770</a:t>
            </a:r>
            <a:endParaRPr/>
          </a:p>
        </p:txBody>
      </p:sp>
      <p:sp>
        <p:nvSpPr>
          <p:cNvPr id="2227" name="Google Shape;2227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$483,530</a:t>
            </a:r>
            <a:endParaRPr/>
          </a:p>
        </p:txBody>
      </p:sp>
      <p:sp>
        <p:nvSpPr>
          <p:cNvPr id="2228" name="Google Shape;2228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$58,483</a:t>
            </a:r>
            <a:endParaRPr/>
          </a:p>
        </p:txBody>
      </p:sp>
      <p:sp>
        <p:nvSpPr>
          <p:cNvPr id="2229" name="Google Shape;2229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$301,757</a:t>
            </a:r>
            <a:endParaRPr/>
          </a:p>
        </p:txBody>
      </p:sp>
      <p:sp>
        <p:nvSpPr>
          <p:cNvPr id="2230" name="Google Shape;2230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$-272,683</a:t>
            </a:r>
            <a:endParaRPr/>
          </a:p>
        </p:txBody>
      </p:sp>
      <p:sp>
        <p:nvSpPr>
          <p:cNvPr id="2231" name="Google Shape;2231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2" name="Google Shape;2232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33" name="Google Shape;2233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$975,519</a:t>
            </a:r>
            <a:endParaRPr/>
          </a:p>
        </p:txBody>
      </p:sp>
      <p:sp>
        <p:nvSpPr>
          <p:cNvPr id="2234" name="Google Shape;2234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$503,838</a:t>
            </a:r>
            <a:endParaRPr/>
          </a:p>
        </p:txBody>
      </p:sp>
      <p:sp>
        <p:nvSpPr>
          <p:cNvPr id="2235" name="Google Shape;2235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$197,217</a:t>
            </a:r>
            <a:endParaRPr/>
          </a:p>
        </p:txBody>
      </p:sp>
      <p:sp>
        <p:nvSpPr>
          <p:cNvPr id="2236" name="Google Shape;2236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$274,464</a:t>
            </a:r>
            <a:endParaRPr/>
          </a:p>
        </p:txBody>
      </p:sp>
      <p:sp>
        <p:nvSpPr>
          <p:cNvPr id="2237" name="Google Shape;2237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$-262,704</a:t>
            </a:r>
            <a:endParaRPr/>
          </a:p>
        </p:txBody>
      </p:sp>
      <p:sp>
        <p:nvSpPr>
          <p:cNvPr id="2238" name="Google Shape;2238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9" name="Google Shape;2239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40" name="Google Shape;2240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$664,763</a:t>
            </a:r>
            <a:endParaRPr/>
          </a:p>
        </p:txBody>
      </p:sp>
      <p:sp>
        <p:nvSpPr>
          <p:cNvPr id="2241" name="Google Shape;2241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$444,477</a:t>
            </a:r>
            <a:endParaRPr/>
          </a:p>
        </p:txBody>
      </p:sp>
      <p:sp>
        <p:nvSpPr>
          <p:cNvPr id="2242" name="Google Shape;2242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$83,085</a:t>
            </a:r>
            <a:endParaRPr/>
          </a:p>
        </p:txBody>
      </p:sp>
      <p:sp>
        <p:nvSpPr>
          <p:cNvPr id="2243" name="Google Shape;2243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$137,202</a:t>
            </a:r>
            <a:endParaRPr/>
          </a:p>
        </p:txBody>
      </p:sp>
      <p:sp>
        <p:nvSpPr>
          <p:cNvPr id="2244" name="Google Shape;2244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$-185,385</a:t>
            </a:r>
            <a:endParaRPr/>
          </a:p>
        </p:txBody>
      </p:sp>
      <p:sp>
        <p:nvSpPr>
          <p:cNvPr id="2245" name="Google Shape;2245;p1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6" name="Google Shape;2246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47" name="Google Shape;2247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$3,647,587</a:t>
            </a:r>
            <a:endParaRPr/>
          </a:p>
        </p:txBody>
      </p:sp>
      <p:sp>
        <p:nvSpPr>
          <p:cNvPr id="2248" name="Google Shape;2248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$2,316,113</a:t>
            </a:r>
            <a:endParaRPr/>
          </a:p>
        </p:txBody>
      </p:sp>
      <p:sp>
        <p:nvSpPr>
          <p:cNvPr id="2249" name="Google Shape;2249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$413,911</a:t>
            </a:r>
            <a:endParaRPr/>
          </a:p>
        </p:txBody>
      </p:sp>
      <p:sp>
        <p:nvSpPr>
          <p:cNvPr id="2250" name="Google Shape;2250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$917,563</a:t>
            </a:r>
            <a:endParaRPr/>
          </a:p>
        </p:txBody>
      </p:sp>
      <p:sp>
        <p:nvSpPr>
          <p:cNvPr id="2251" name="Google Shape;2251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$-1,138,276</a:t>
            </a:r>
            <a:endParaRPr/>
          </a:p>
        </p:txBody>
      </p:sp>
      <p:sp>
        <p:nvSpPr>
          <p:cNvPr id="2252" name="Google Shape;2252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3" name="Google Shape;2253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254" name="Google Shape;2254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55" name="Google Shape;2255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256" name="Google Shape;2256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257" name="Google Shape;2257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258" name="Google Shape;2258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59" name="Google Shape;2259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60" name="Google Shape;2260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1" name="Google Shape;2261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62" name="Google Shape;2262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689</a:t>
            </a:r>
            <a:endParaRPr/>
          </a:p>
        </p:txBody>
      </p:sp>
      <p:sp>
        <p:nvSpPr>
          <p:cNvPr id="2263" name="Google Shape;2263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264" name="Google Shape;2264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651</a:t>
            </a:r>
            <a:endParaRPr/>
          </a:p>
        </p:txBody>
      </p:sp>
      <p:sp>
        <p:nvSpPr>
          <p:cNvPr id="2265" name="Google Shape;2265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2266" name="Google Shape;2266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9.7%</a:t>
            </a:r>
            <a:endParaRPr/>
          </a:p>
        </p:txBody>
      </p:sp>
      <p:sp>
        <p:nvSpPr>
          <p:cNvPr id="2267" name="Google Shape;2267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8" name="Google Shape;2268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69" name="Google Shape;2269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676</a:t>
            </a:r>
            <a:endParaRPr/>
          </a:p>
        </p:txBody>
      </p:sp>
      <p:sp>
        <p:nvSpPr>
          <p:cNvPr id="2270" name="Google Shape;2270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271" name="Google Shape;2271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656</a:t>
            </a:r>
            <a:endParaRPr/>
          </a:p>
        </p:txBody>
      </p:sp>
      <p:sp>
        <p:nvSpPr>
          <p:cNvPr id="2272" name="Google Shape;2272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2273" name="Google Shape;2273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10.1%</a:t>
            </a:r>
            <a:endParaRPr/>
          </a:p>
        </p:txBody>
      </p:sp>
      <p:sp>
        <p:nvSpPr>
          <p:cNvPr id="2274" name="Google Shape;2274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5" name="Google Shape;2275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76" name="Google Shape;2276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689</a:t>
            </a:r>
            <a:endParaRPr/>
          </a:p>
        </p:txBody>
      </p:sp>
      <p:sp>
        <p:nvSpPr>
          <p:cNvPr id="2277" name="Google Shape;2277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2278" name="Google Shape;2278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655</a:t>
            </a:r>
            <a:endParaRPr/>
          </a:p>
        </p:txBody>
      </p:sp>
      <p:sp>
        <p:nvSpPr>
          <p:cNvPr id="2279" name="Google Shape;2279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2280" name="Google Shape;2280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10.7%</a:t>
            </a:r>
            <a:endParaRPr/>
          </a:p>
        </p:txBody>
      </p:sp>
      <p:sp>
        <p:nvSpPr>
          <p:cNvPr id="2281" name="Google Shape;2281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2" name="Google Shape;2282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83" name="Google Shape;2283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722</a:t>
            </a:r>
            <a:endParaRPr/>
          </a:p>
        </p:txBody>
      </p:sp>
      <p:sp>
        <p:nvSpPr>
          <p:cNvPr id="2284" name="Google Shape;2284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285" name="Google Shape;2285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680</a:t>
            </a:r>
            <a:endParaRPr/>
          </a:p>
        </p:txBody>
      </p:sp>
      <p:sp>
        <p:nvSpPr>
          <p:cNvPr id="2286" name="Google Shape;2286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2287" name="Google Shape;2287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2288" name="Google Shape;2288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9" name="Google Shape;2289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90" name="Google Shape;2290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553</a:t>
            </a:r>
            <a:endParaRPr/>
          </a:p>
        </p:txBody>
      </p:sp>
      <p:sp>
        <p:nvSpPr>
          <p:cNvPr id="2291" name="Google Shape;2291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2292" name="Google Shape;2292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517</a:t>
            </a:r>
            <a:endParaRPr/>
          </a:p>
        </p:txBody>
      </p:sp>
      <p:sp>
        <p:nvSpPr>
          <p:cNvPr id="2293" name="Google Shape;2293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2294" name="Google Shape;2294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9.0%</a:t>
            </a:r>
            <a:endParaRPr/>
          </a:p>
        </p:txBody>
      </p:sp>
      <p:sp>
        <p:nvSpPr>
          <p:cNvPr id="2295" name="Google Shape;2295;p1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6" name="Google Shape;2296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97" name="Google Shape;2297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3003</a:t>
            </a:r>
            <a:endParaRPr/>
          </a:p>
        </p:txBody>
      </p:sp>
      <p:sp>
        <p:nvSpPr>
          <p:cNvPr id="2298" name="Google Shape;2298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140</a:t>
            </a:r>
            <a:endParaRPr/>
          </a:p>
        </p:txBody>
      </p:sp>
      <p:sp>
        <p:nvSpPr>
          <p:cNvPr id="2299" name="Google Shape;2299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2863</a:t>
            </a:r>
            <a:endParaRPr/>
          </a:p>
        </p:txBody>
      </p:sp>
      <p:sp>
        <p:nvSpPr>
          <p:cNvPr id="2300" name="Google Shape;2300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</p:txBody>
      </p:sp>
      <p:sp>
        <p:nvSpPr>
          <p:cNvPr id="2301" name="Google Shape;2301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2302" name="Google Shape;2302;p1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3" name="Google Shape;2303;p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304" name="Google Shape;2304;p1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05" name="Google Shape;2305;p1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306" name="Google Shape;2306;p1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307" name="Google Shape;2307;p1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308" name="Google Shape;2308;p1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309" name="Google Shape;2309;p1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310" name="Google Shape;2310;p1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311" name="Google Shape;2311;p1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312" name="Google Shape;2312;p1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313" name="Google Shape;2313;p1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314" name="Google Shape;2314;p1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315" name="Google Shape;2315;p1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316" name="Google Shape;2316;p1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317" name="Google Shape;2317;p1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18" name="Google Shape;2318;p1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346</a:t>
            </a:r>
            <a:endParaRPr/>
          </a:p>
        </p:txBody>
      </p:sp>
      <p:sp>
        <p:nvSpPr>
          <p:cNvPr id="2319" name="Google Shape;2319;p1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689</a:t>
            </a:r>
            <a:endParaRPr/>
          </a:p>
        </p:txBody>
      </p:sp>
      <p:sp>
        <p:nvSpPr>
          <p:cNvPr id="2320" name="Google Shape;2320;p1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386</a:t>
            </a:r>
            <a:endParaRPr/>
          </a:p>
        </p:txBody>
      </p:sp>
      <p:sp>
        <p:nvSpPr>
          <p:cNvPr id="2321" name="Google Shape;2321;p1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676</a:t>
            </a:r>
            <a:endParaRPr/>
          </a:p>
        </p:txBody>
      </p:sp>
      <p:sp>
        <p:nvSpPr>
          <p:cNvPr id="2322" name="Google Shape;2322;p1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343</a:t>
            </a:r>
            <a:endParaRPr/>
          </a:p>
        </p:txBody>
      </p:sp>
      <p:sp>
        <p:nvSpPr>
          <p:cNvPr id="2323" name="Google Shape;2323;p1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689</a:t>
            </a:r>
            <a:endParaRPr/>
          </a:p>
        </p:txBody>
      </p:sp>
      <p:sp>
        <p:nvSpPr>
          <p:cNvPr id="2324" name="Google Shape;2324;p1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490</a:t>
            </a:r>
            <a:endParaRPr/>
          </a:p>
        </p:txBody>
      </p:sp>
      <p:sp>
        <p:nvSpPr>
          <p:cNvPr id="2325" name="Google Shape;2325;p1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722</a:t>
            </a:r>
            <a:endParaRPr/>
          </a:p>
        </p:txBody>
      </p:sp>
      <p:sp>
        <p:nvSpPr>
          <p:cNvPr id="2326" name="Google Shape;2326;p1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415</a:t>
            </a:r>
            <a:endParaRPr/>
          </a:p>
        </p:txBody>
      </p:sp>
      <p:sp>
        <p:nvSpPr>
          <p:cNvPr id="2327" name="Google Shape;2327;p1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553</a:t>
            </a:r>
            <a:endParaRPr/>
          </a:p>
        </p:txBody>
      </p:sp>
      <p:sp>
        <p:nvSpPr>
          <p:cNvPr id="2328" name="Google Shape;2328;p1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1980</a:t>
            </a:r>
            <a:endParaRPr/>
          </a:p>
        </p:txBody>
      </p:sp>
      <p:sp>
        <p:nvSpPr>
          <p:cNvPr id="2329" name="Google Shape;2329;p1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3329</a:t>
            </a:r>
            <a:endParaRPr/>
          </a:p>
        </p:txBody>
      </p:sp>
      <p:sp>
        <p:nvSpPr>
          <p:cNvPr id="2330" name="Google Shape;2330;p1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331" name="Google Shape;2331;p1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$115K</a:t>
            </a:r>
            <a:endParaRPr/>
          </a:p>
        </p:txBody>
      </p:sp>
      <p:sp>
        <p:nvSpPr>
          <p:cNvPr id="2332" name="Google Shape;2332;p1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$619K</a:t>
            </a:r>
            <a:endParaRPr/>
          </a:p>
        </p:txBody>
      </p:sp>
      <p:sp>
        <p:nvSpPr>
          <p:cNvPr id="2333" name="Google Shape;2333;p1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$282K</a:t>
            </a:r>
            <a:endParaRPr/>
          </a:p>
        </p:txBody>
      </p:sp>
      <p:sp>
        <p:nvSpPr>
          <p:cNvPr id="2334" name="Google Shape;2334;p1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$544K</a:t>
            </a:r>
            <a:endParaRPr/>
          </a:p>
        </p:txBody>
      </p:sp>
      <p:sp>
        <p:nvSpPr>
          <p:cNvPr id="2335" name="Google Shape;2335;p1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$288K</a:t>
            </a:r>
            <a:endParaRPr/>
          </a:p>
        </p:txBody>
      </p:sp>
      <p:sp>
        <p:nvSpPr>
          <p:cNvPr id="2336" name="Google Shape;2336;p1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$844K</a:t>
            </a:r>
            <a:endParaRPr/>
          </a:p>
        </p:txBody>
      </p:sp>
      <p:sp>
        <p:nvSpPr>
          <p:cNvPr id="2337" name="Google Shape;2337;p1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$710K</a:t>
            </a:r>
            <a:endParaRPr/>
          </a:p>
        </p:txBody>
      </p:sp>
      <p:sp>
        <p:nvSpPr>
          <p:cNvPr id="2338" name="Google Shape;2338;p1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$976K</a:t>
            </a:r>
            <a:endParaRPr/>
          </a:p>
        </p:txBody>
      </p:sp>
      <p:sp>
        <p:nvSpPr>
          <p:cNvPr id="2339" name="Google Shape;2339;p1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$519K</a:t>
            </a:r>
            <a:endParaRPr/>
          </a:p>
        </p:txBody>
      </p:sp>
      <p:sp>
        <p:nvSpPr>
          <p:cNvPr id="2340" name="Google Shape;2340;p1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$665K</a:t>
            </a:r>
            <a:endParaRPr/>
          </a:p>
        </p:txBody>
      </p:sp>
      <p:sp>
        <p:nvSpPr>
          <p:cNvPr id="2341" name="Google Shape;2341;p1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$1.9M</a:t>
            </a:r>
            <a:endParaRPr/>
          </a:p>
        </p:txBody>
      </p:sp>
      <p:sp>
        <p:nvSpPr>
          <p:cNvPr id="2342" name="Google Shape;2342;p1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$3.6M</a:t>
            </a:r>
            <a:endParaRPr/>
          </a:p>
        </p:txBody>
      </p:sp>
      <p:sp>
        <p:nvSpPr>
          <p:cNvPr id="2343" name="Google Shape;2343;p1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4" name="Google Shape;2344;p1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345" name="Google Shape;2345;p1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46" name="Google Shape;2346;p1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$3,647,587 YTD gross written premium</a:t>
            </a:r>
            <a:endParaRPr/>
          </a:p>
        </p:txBody>
      </p:sp>
      <p:sp>
        <p:nvSpPr>
          <p:cNvPr id="2347" name="Google Shape;2347;p1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48" name="Google Shape;2348;p1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$2,316,113 in new business production</a:t>
            </a:r>
            <a:endParaRPr/>
          </a:p>
        </p:txBody>
      </p:sp>
      <p:sp>
        <p:nvSpPr>
          <p:cNvPr id="2349" name="Google Shape;2349;p1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0" name="Google Shape;2350;p1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351" name="Google Shape;2351;p1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52" name="Google Shape;2352;p1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49% of new business ($1,138,276)</a:t>
            </a:r>
            <a:endParaRPr/>
          </a:p>
        </p:txBody>
      </p:sp>
      <p:sp>
        <p:nvSpPr>
          <p:cNvPr id="2353" name="Google Shape;2353;p1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4" name="Google Shape;2354;p1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355" name="Google Shape;2355;p1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356" name="Google Shape;2356;p1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$2,316,113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357" name="Google Shape;2357;p1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358" name="Google Shape;2358;p1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$1,138,276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62" name="Shape 2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3" name="Google Shape;2363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4" name="Google Shape;2364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Cascade Insurance Services Inc Dba: Cascade Mutual Insurance Services</a:t>
            </a:r>
            <a:endParaRPr/>
          </a:p>
        </p:txBody>
      </p:sp>
      <p:sp>
        <p:nvSpPr>
          <p:cNvPr id="2365" name="Google Shape;2365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Glendale</a:t>
            </a:r>
            <a:endParaRPr/>
          </a:p>
        </p:txBody>
      </p:sp>
      <p:sp>
        <p:nvSpPr>
          <p:cNvPr id="2366" name="Google Shape;2366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$3,118,067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367" name="Google Shape;2367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$1,528,663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68" name="Google Shape;2368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$1,037,821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69" name="Google Shape;2369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$551,583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70" name="Google Shape;2370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$-950,097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71" name="Google Shape;2371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$1,687,026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372" name="Google Shape;2372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$4,757,284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373" name="Google Shape;2373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374" name="Google Shape;2374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75" name="Google Shape;2375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76" name="Google Shape;2376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77" name="Google Shape;2377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$1,418,142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378" name="Google Shape;2378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$1,303,682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379" name="Google Shape;2379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0" name="Google Shape;2380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381" name="Google Shape;2381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82" name="Google Shape;2382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383" name="Google Shape;2383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84" name="Google Shape;2384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85" name="Google Shape;2385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86" name="Google Shape;2386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87" name="Google Shape;2387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8" name="Google Shape;2388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389" name="Google Shape;2389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$627,994</a:t>
            </a:r>
            <a:endParaRPr/>
          </a:p>
        </p:txBody>
      </p:sp>
      <p:sp>
        <p:nvSpPr>
          <p:cNvPr id="2390" name="Google Shape;2390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$521,605</a:t>
            </a:r>
            <a:endParaRPr/>
          </a:p>
        </p:txBody>
      </p:sp>
      <p:sp>
        <p:nvSpPr>
          <p:cNvPr id="2391" name="Google Shape;2391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2" name="Google Shape;2392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$106,390</a:t>
            </a:r>
            <a:endParaRPr/>
          </a:p>
        </p:txBody>
      </p:sp>
      <p:sp>
        <p:nvSpPr>
          <p:cNvPr id="2393" name="Google Shape;2393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$-131,010</a:t>
            </a:r>
            <a:endParaRPr/>
          </a:p>
        </p:txBody>
      </p:sp>
      <p:sp>
        <p:nvSpPr>
          <p:cNvPr id="2394" name="Google Shape;2394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5" name="Google Shape;2395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396" name="Google Shape;2396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$322,340</a:t>
            </a:r>
            <a:endParaRPr/>
          </a:p>
        </p:txBody>
      </p:sp>
      <p:sp>
        <p:nvSpPr>
          <p:cNvPr id="2397" name="Google Shape;2397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$55,416</a:t>
            </a:r>
            <a:endParaRPr/>
          </a:p>
        </p:txBody>
      </p:sp>
      <p:sp>
        <p:nvSpPr>
          <p:cNvPr id="2398" name="Google Shape;2398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$192,025</a:t>
            </a:r>
            <a:endParaRPr/>
          </a:p>
        </p:txBody>
      </p:sp>
      <p:sp>
        <p:nvSpPr>
          <p:cNvPr id="2399" name="Google Shape;2399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$74,899</a:t>
            </a:r>
            <a:endParaRPr/>
          </a:p>
        </p:txBody>
      </p:sp>
      <p:sp>
        <p:nvSpPr>
          <p:cNvPr id="2400" name="Google Shape;2400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$-231,953</a:t>
            </a:r>
            <a:endParaRPr/>
          </a:p>
        </p:txBody>
      </p:sp>
      <p:sp>
        <p:nvSpPr>
          <p:cNvPr id="2401" name="Google Shape;2401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2" name="Google Shape;2402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03" name="Google Shape;2403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$830,466</a:t>
            </a:r>
            <a:endParaRPr/>
          </a:p>
        </p:txBody>
      </p:sp>
      <p:sp>
        <p:nvSpPr>
          <p:cNvPr id="2404" name="Google Shape;2404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$296,058</a:t>
            </a:r>
            <a:endParaRPr/>
          </a:p>
        </p:txBody>
      </p:sp>
      <p:sp>
        <p:nvSpPr>
          <p:cNvPr id="2405" name="Google Shape;2405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$394,147</a:t>
            </a:r>
            <a:endParaRPr/>
          </a:p>
        </p:txBody>
      </p:sp>
      <p:sp>
        <p:nvSpPr>
          <p:cNvPr id="2406" name="Google Shape;2406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$140,261</a:t>
            </a:r>
            <a:endParaRPr/>
          </a:p>
        </p:txBody>
      </p:sp>
      <p:sp>
        <p:nvSpPr>
          <p:cNvPr id="2407" name="Google Shape;2407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$-217,631</a:t>
            </a:r>
            <a:endParaRPr/>
          </a:p>
        </p:txBody>
      </p:sp>
      <p:sp>
        <p:nvSpPr>
          <p:cNvPr id="2408" name="Google Shape;2408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9" name="Google Shape;2409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10" name="Google Shape;2410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$747,546</a:t>
            </a:r>
            <a:endParaRPr/>
          </a:p>
        </p:txBody>
      </p:sp>
      <p:sp>
        <p:nvSpPr>
          <p:cNvPr id="2411" name="Google Shape;2411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$211,464</a:t>
            </a:r>
            <a:endParaRPr/>
          </a:p>
        </p:txBody>
      </p:sp>
      <p:sp>
        <p:nvSpPr>
          <p:cNvPr id="2412" name="Google Shape;2412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$305,376</a:t>
            </a:r>
            <a:endParaRPr/>
          </a:p>
        </p:txBody>
      </p:sp>
      <p:sp>
        <p:nvSpPr>
          <p:cNvPr id="2413" name="Google Shape;2413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$230,707</a:t>
            </a:r>
            <a:endParaRPr/>
          </a:p>
        </p:txBody>
      </p:sp>
      <p:sp>
        <p:nvSpPr>
          <p:cNvPr id="2414" name="Google Shape;2414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$-281,220</a:t>
            </a:r>
            <a:endParaRPr/>
          </a:p>
        </p:txBody>
      </p:sp>
      <p:sp>
        <p:nvSpPr>
          <p:cNvPr id="2415" name="Google Shape;2415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6" name="Google Shape;2416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17" name="Google Shape;2417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$589,721</a:t>
            </a:r>
            <a:endParaRPr/>
          </a:p>
        </p:txBody>
      </p:sp>
      <p:sp>
        <p:nvSpPr>
          <p:cNvPr id="2418" name="Google Shape;2418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$444,121</a:t>
            </a:r>
            <a:endParaRPr/>
          </a:p>
        </p:txBody>
      </p:sp>
      <p:sp>
        <p:nvSpPr>
          <p:cNvPr id="2419" name="Google Shape;2419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$146,273</a:t>
            </a:r>
            <a:endParaRPr/>
          </a:p>
        </p:txBody>
      </p:sp>
      <p:sp>
        <p:nvSpPr>
          <p:cNvPr id="2420" name="Google Shape;2420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$-673</a:t>
            </a:r>
            <a:endParaRPr/>
          </a:p>
        </p:txBody>
      </p:sp>
      <p:sp>
        <p:nvSpPr>
          <p:cNvPr id="2421" name="Google Shape;2421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$-88,283</a:t>
            </a:r>
            <a:endParaRPr/>
          </a:p>
        </p:txBody>
      </p:sp>
      <p:sp>
        <p:nvSpPr>
          <p:cNvPr id="2422" name="Google Shape;2422;p1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3" name="Google Shape;2423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24" name="Google Shape;2424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$3,118,067</a:t>
            </a:r>
            <a:endParaRPr/>
          </a:p>
        </p:txBody>
      </p:sp>
      <p:sp>
        <p:nvSpPr>
          <p:cNvPr id="2425" name="Google Shape;2425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$1,528,663</a:t>
            </a:r>
            <a:endParaRPr/>
          </a:p>
        </p:txBody>
      </p:sp>
      <p:sp>
        <p:nvSpPr>
          <p:cNvPr id="2426" name="Google Shape;2426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$1,037,821</a:t>
            </a:r>
            <a:endParaRPr/>
          </a:p>
        </p:txBody>
      </p:sp>
      <p:sp>
        <p:nvSpPr>
          <p:cNvPr id="2427" name="Google Shape;2427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$551,583</a:t>
            </a:r>
            <a:endParaRPr/>
          </a:p>
        </p:txBody>
      </p:sp>
      <p:sp>
        <p:nvSpPr>
          <p:cNvPr id="2428" name="Google Shape;2428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$-950,097</a:t>
            </a:r>
            <a:endParaRPr/>
          </a:p>
        </p:txBody>
      </p:sp>
      <p:sp>
        <p:nvSpPr>
          <p:cNvPr id="2429" name="Google Shape;2429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0" name="Google Shape;2430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431" name="Google Shape;2431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32" name="Google Shape;2432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433" name="Google Shape;2433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434" name="Google Shape;2434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435" name="Google Shape;2435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36" name="Google Shape;2436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37" name="Google Shape;2437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8" name="Google Shape;2438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39" name="Google Shape;2439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200</a:t>
            </a:r>
            <a:endParaRPr/>
          </a:p>
        </p:txBody>
      </p:sp>
      <p:sp>
        <p:nvSpPr>
          <p:cNvPr id="2440" name="Google Shape;2440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441" name="Google Shape;2441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171</a:t>
            </a:r>
            <a:endParaRPr/>
          </a:p>
        </p:txBody>
      </p:sp>
      <p:sp>
        <p:nvSpPr>
          <p:cNvPr id="2442" name="Google Shape;2442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443" name="Google Shape;2443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19.0%</a:t>
            </a:r>
            <a:endParaRPr/>
          </a:p>
        </p:txBody>
      </p:sp>
      <p:sp>
        <p:nvSpPr>
          <p:cNvPr id="2444" name="Google Shape;2444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5" name="Google Shape;2445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46" name="Google Shape;2446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138</a:t>
            </a:r>
            <a:endParaRPr/>
          </a:p>
        </p:txBody>
      </p:sp>
      <p:sp>
        <p:nvSpPr>
          <p:cNvPr id="2447" name="Google Shape;2447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448" name="Google Shape;2448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</a:t>
            </a:r>
            <a:endParaRPr/>
          </a:p>
        </p:txBody>
      </p:sp>
      <p:sp>
        <p:nvSpPr>
          <p:cNvPr id="2449" name="Google Shape;2449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450" name="Google Shape;2450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15.2%</a:t>
            </a:r>
            <a:endParaRPr/>
          </a:p>
        </p:txBody>
      </p:sp>
      <p:sp>
        <p:nvSpPr>
          <p:cNvPr id="2451" name="Google Shape;2451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2" name="Google Shape;2452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53" name="Google Shape;2453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153</a:t>
            </a:r>
            <a:endParaRPr/>
          </a:p>
        </p:txBody>
      </p:sp>
      <p:sp>
        <p:nvSpPr>
          <p:cNvPr id="2454" name="Google Shape;2454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455" name="Google Shape;2455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2456" name="Google Shape;2456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57" name="Google Shape;2457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16.3%</a:t>
            </a:r>
            <a:endParaRPr/>
          </a:p>
        </p:txBody>
      </p:sp>
      <p:sp>
        <p:nvSpPr>
          <p:cNvPr id="2458" name="Google Shape;2458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9" name="Google Shape;2459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60" name="Google Shape;2460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2461" name="Google Shape;2461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462" name="Google Shape;2462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151</a:t>
            </a:r>
            <a:endParaRPr/>
          </a:p>
        </p:txBody>
      </p:sp>
      <p:sp>
        <p:nvSpPr>
          <p:cNvPr id="2463" name="Google Shape;2463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464" name="Google Shape;2464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12.7%</a:t>
            </a:r>
            <a:endParaRPr/>
          </a:p>
        </p:txBody>
      </p:sp>
      <p:sp>
        <p:nvSpPr>
          <p:cNvPr id="2465" name="Google Shape;2465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6" name="Google Shape;2466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67" name="Google Shape;2467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</a:t>
            </a:r>
            <a:endParaRPr/>
          </a:p>
        </p:txBody>
      </p:sp>
      <p:sp>
        <p:nvSpPr>
          <p:cNvPr id="2468" name="Google Shape;2468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69" name="Google Shape;2469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2470" name="Google Shape;2470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471" name="Google Shape;2471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16.9%</a:t>
            </a:r>
            <a:endParaRPr/>
          </a:p>
        </p:txBody>
      </p:sp>
      <p:sp>
        <p:nvSpPr>
          <p:cNvPr id="2472" name="Google Shape;2472;p1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3" name="Google Shape;2473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74" name="Google Shape;2474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675</a:t>
            </a:r>
            <a:endParaRPr/>
          </a:p>
        </p:txBody>
      </p:sp>
      <p:sp>
        <p:nvSpPr>
          <p:cNvPr id="2475" name="Google Shape;2475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109</a:t>
            </a:r>
            <a:endParaRPr/>
          </a:p>
        </p:txBody>
      </p:sp>
      <p:sp>
        <p:nvSpPr>
          <p:cNvPr id="2476" name="Google Shape;2476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566</a:t>
            </a:r>
            <a:endParaRPr/>
          </a:p>
        </p:txBody>
      </p:sp>
      <p:sp>
        <p:nvSpPr>
          <p:cNvPr id="2477" name="Google Shape;2477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2478" name="Google Shape;2478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2479" name="Google Shape;2479;p1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0" name="Google Shape;2480;p1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481" name="Google Shape;2481;p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82" name="Google Shape;2482;p1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483" name="Google Shape;2483;p1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484" name="Google Shape;2484;p1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485" name="Google Shape;2485;p1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486" name="Google Shape;2486;p1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487" name="Google Shape;2487;p1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488" name="Google Shape;2488;p1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489" name="Google Shape;2489;p1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490" name="Google Shape;2490;p1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491" name="Google Shape;2491;p1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492" name="Google Shape;2492;p1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493" name="Google Shape;2493;p1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494" name="Google Shape;2494;p1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95" name="Google Shape;2495;p1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2496" name="Google Shape;2496;p1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200</a:t>
            </a:r>
            <a:endParaRPr/>
          </a:p>
        </p:txBody>
      </p:sp>
      <p:sp>
        <p:nvSpPr>
          <p:cNvPr id="2497" name="Google Shape;2497;p1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2498" name="Google Shape;2498;p1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138</a:t>
            </a:r>
            <a:endParaRPr/>
          </a:p>
        </p:txBody>
      </p:sp>
      <p:sp>
        <p:nvSpPr>
          <p:cNvPr id="2499" name="Google Shape;2499;p1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175</a:t>
            </a:r>
            <a:endParaRPr/>
          </a:p>
        </p:txBody>
      </p:sp>
      <p:sp>
        <p:nvSpPr>
          <p:cNvPr id="2500" name="Google Shape;2500;p1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153</a:t>
            </a:r>
            <a:endParaRPr/>
          </a:p>
        </p:txBody>
      </p:sp>
      <p:sp>
        <p:nvSpPr>
          <p:cNvPr id="2501" name="Google Shape;2501;p1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</a:t>
            </a:r>
            <a:endParaRPr/>
          </a:p>
        </p:txBody>
      </p:sp>
      <p:sp>
        <p:nvSpPr>
          <p:cNvPr id="2502" name="Google Shape;2502;p1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2503" name="Google Shape;2503;p1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2504" name="Google Shape;2504;p1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</a:t>
            </a:r>
            <a:endParaRPr/>
          </a:p>
        </p:txBody>
      </p:sp>
      <p:sp>
        <p:nvSpPr>
          <p:cNvPr id="2505" name="Google Shape;2505;p1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583</a:t>
            </a:r>
            <a:endParaRPr/>
          </a:p>
        </p:txBody>
      </p:sp>
      <p:sp>
        <p:nvSpPr>
          <p:cNvPr id="2506" name="Google Shape;2506;p1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804</a:t>
            </a:r>
            <a:endParaRPr/>
          </a:p>
        </p:txBody>
      </p:sp>
      <p:sp>
        <p:nvSpPr>
          <p:cNvPr id="2507" name="Google Shape;2507;p1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508" name="Google Shape;2508;p1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09" name="Google Shape;2509;p1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$628K</a:t>
            </a:r>
            <a:endParaRPr/>
          </a:p>
        </p:txBody>
      </p:sp>
      <p:sp>
        <p:nvSpPr>
          <p:cNvPr id="2510" name="Google Shape;2510;p1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2511" name="Google Shape;2511;p1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$322K</a:t>
            </a:r>
            <a:endParaRPr/>
          </a:p>
        </p:txBody>
      </p:sp>
      <p:sp>
        <p:nvSpPr>
          <p:cNvPr id="2512" name="Google Shape;2512;p1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3" name="Google Shape;2513;p1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$830K</a:t>
            </a:r>
            <a:endParaRPr/>
          </a:p>
        </p:txBody>
      </p:sp>
      <p:sp>
        <p:nvSpPr>
          <p:cNvPr id="2514" name="Google Shape;2514;p1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2515" name="Google Shape;2515;p1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$748K</a:t>
            </a:r>
            <a:endParaRPr/>
          </a:p>
        </p:txBody>
      </p:sp>
      <p:sp>
        <p:nvSpPr>
          <p:cNvPr id="2516" name="Google Shape;2516;p1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7" name="Google Shape;2517;p1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$590K</a:t>
            </a:r>
            <a:endParaRPr/>
          </a:p>
        </p:txBody>
      </p:sp>
      <p:sp>
        <p:nvSpPr>
          <p:cNvPr id="2518" name="Google Shape;2518;p1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2519" name="Google Shape;2519;p1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$3.1M</a:t>
            </a:r>
            <a:endParaRPr/>
          </a:p>
        </p:txBody>
      </p:sp>
      <p:sp>
        <p:nvSpPr>
          <p:cNvPr id="2520" name="Google Shape;2520;p1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1" name="Google Shape;2521;p1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522" name="Google Shape;2522;p1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23" name="Google Shape;2523;p1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$3,118,067 YTD gross written premium</a:t>
            </a:r>
            <a:endParaRPr/>
          </a:p>
        </p:txBody>
      </p:sp>
      <p:sp>
        <p:nvSpPr>
          <p:cNvPr id="2524" name="Google Shape;2524;p1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25" name="Google Shape;2525;p1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$1,528,663 in new business production</a:t>
            </a:r>
            <a:endParaRPr/>
          </a:p>
        </p:txBody>
      </p:sp>
      <p:sp>
        <p:nvSpPr>
          <p:cNvPr id="2526" name="Google Shape;2526;p1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7" name="Google Shape;2527;p1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528" name="Google Shape;2528;p1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29" name="Google Shape;2529;p1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62% of new business ($950,097)</a:t>
            </a:r>
            <a:endParaRPr/>
          </a:p>
        </p:txBody>
      </p:sp>
      <p:sp>
        <p:nvSpPr>
          <p:cNvPr id="2530" name="Google Shape;2530;p1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1" name="Google Shape;2531;p1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532" name="Google Shape;2532;p1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533" name="Google Shape;2533;p1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$1,528,663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534" name="Google Shape;2534;p1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535" name="Google Shape;2535;p1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$950,097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39" name="Shape 2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0" name="Google Shape;2540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1" name="Google Shape;2541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Jagdeep Singh Insurance Agency, Inc</a:t>
            </a:r>
            <a:endParaRPr/>
          </a:p>
        </p:txBody>
      </p:sp>
      <p:sp>
        <p:nvSpPr>
          <p:cNvPr id="2542" name="Google Shape;2542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California  |  City: Fresno</a:t>
            </a:r>
            <a:endParaRPr/>
          </a:p>
        </p:txBody>
      </p:sp>
      <p:sp>
        <p:nvSpPr>
          <p:cNvPr id="2543" name="Google Shape;2543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$2,799,445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544" name="Google Shape;2544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$883,804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45" name="Google Shape;2545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$1,423,807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46" name="Google Shape;2546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$491,834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47" name="Google Shape;2547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$-754,829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48" name="Google Shape;2548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$12,058,763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549" name="Google Shape;2549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$8,223,260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550" name="Google Shape;2550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551" name="Google Shape;2551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52" name="Google Shape;2552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53" name="Google Shape;2553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54" name="Google Shape;2554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$3,124,651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555" name="Google Shape;2555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$1,780,137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556" name="Google Shape;2556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7" name="Google Shape;2557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558" name="Google Shape;2558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59" name="Google Shape;2559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560" name="Google Shape;2560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61" name="Google Shape;2561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62" name="Google Shape;2562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63" name="Google Shape;2563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64" name="Google Shape;2564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5" name="Google Shape;2565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66" name="Google Shape;2566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$432,807</a:t>
            </a:r>
            <a:endParaRPr/>
          </a:p>
        </p:txBody>
      </p:sp>
      <p:sp>
        <p:nvSpPr>
          <p:cNvPr id="2567" name="Google Shape;2567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$263,996</a:t>
            </a:r>
            <a:endParaRPr/>
          </a:p>
        </p:txBody>
      </p:sp>
      <p:sp>
        <p:nvSpPr>
          <p:cNvPr id="2568" name="Google Shape;2568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$54,912</a:t>
            </a:r>
            <a:endParaRPr/>
          </a:p>
        </p:txBody>
      </p:sp>
      <p:sp>
        <p:nvSpPr>
          <p:cNvPr id="2569" name="Google Shape;2569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$113,899</a:t>
            </a:r>
            <a:endParaRPr/>
          </a:p>
        </p:txBody>
      </p:sp>
      <p:sp>
        <p:nvSpPr>
          <p:cNvPr id="2570" name="Google Shape;2570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$-267,673</a:t>
            </a:r>
            <a:endParaRPr/>
          </a:p>
        </p:txBody>
      </p:sp>
      <p:sp>
        <p:nvSpPr>
          <p:cNvPr id="2571" name="Google Shape;2571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2" name="Google Shape;2572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73" name="Google Shape;2573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$531,294</a:t>
            </a:r>
            <a:endParaRPr/>
          </a:p>
        </p:txBody>
      </p:sp>
      <p:sp>
        <p:nvSpPr>
          <p:cNvPr id="2574" name="Google Shape;2574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$339,606</a:t>
            </a:r>
            <a:endParaRPr/>
          </a:p>
        </p:txBody>
      </p:sp>
      <p:sp>
        <p:nvSpPr>
          <p:cNvPr id="2575" name="Google Shape;2575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$27,022</a:t>
            </a:r>
            <a:endParaRPr/>
          </a:p>
        </p:txBody>
      </p:sp>
      <p:sp>
        <p:nvSpPr>
          <p:cNvPr id="2576" name="Google Shape;2576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$164,666</a:t>
            </a:r>
            <a:endParaRPr/>
          </a:p>
        </p:txBody>
      </p:sp>
      <p:sp>
        <p:nvSpPr>
          <p:cNvPr id="2577" name="Google Shape;2577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$-164,691</a:t>
            </a:r>
            <a:endParaRPr/>
          </a:p>
        </p:txBody>
      </p:sp>
      <p:sp>
        <p:nvSpPr>
          <p:cNvPr id="2578" name="Google Shape;2578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9" name="Google Shape;2579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580" name="Google Shape;2580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$620,357</a:t>
            </a:r>
            <a:endParaRPr/>
          </a:p>
        </p:txBody>
      </p:sp>
      <p:sp>
        <p:nvSpPr>
          <p:cNvPr id="2581" name="Google Shape;2581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$82,482</a:t>
            </a:r>
            <a:endParaRPr/>
          </a:p>
        </p:txBody>
      </p:sp>
      <p:sp>
        <p:nvSpPr>
          <p:cNvPr id="2582" name="Google Shape;2582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$473,942</a:t>
            </a:r>
            <a:endParaRPr/>
          </a:p>
        </p:txBody>
      </p:sp>
      <p:sp>
        <p:nvSpPr>
          <p:cNvPr id="2583" name="Google Shape;2583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$63,933</a:t>
            </a:r>
            <a:endParaRPr/>
          </a:p>
        </p:txBody>
      </p:sp>
      <p:sp>
        <p:nvSpPr>
          <p:cNvPr id="2584" name="Google Shape;2584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$-151,086</a:t>
            </a:r>
            <a:endParaRPr/>
          </a:p>
        </p:txBody>
      </p:sp>
      <p:sp>
        <p:nvSpPr>
          <p:cNvPr id="2585" name="Google Shape;2585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6" name="Google Shape;2586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87" name="Google Shape;2587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$546,436</a:t>
            </a:r>
            <a:endParaRPr/>
          </a:p>
        </p:txBody>
      </p:sp>
      <p:sp>
        <p:nvSpPr>
          <p:cNvPr id="2588" name="Google Shape;2588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$112,699</a:t>
            </a:r>
            <a:endParaRPr/>
          </a:p>
        </p:txBody>
      </p:sp>
      <p:sp>
        <p:nvSpPr>
          <p:cNvPr id="2589" name="Google Shape;2589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$339,678</a:t>
            </a:r>
            <a:endParaRPr/>
          </a:p>
        </p:txBody>
      </p:sp>
      <p:sp>
        <p:nvSpPr>
          <p:cNvPr id="2590" name="Google Shape;2590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$94,059</a:t>
            </a:r>
            <a:endParaRPr/>
          </a:p>
        </p:txBody>
      </p:sp>
      <p:sp>
        <p:nvSpPr>
          <p:cNvPr id="2591" name="Google Shape;2591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$-144,553</a:t>
            </a:r>
            <a:endParaRPr/>
          </a:p>
        </p:txBody>
      </p:sp>
      <p:sp>
        <p:nvSpPr>
          <p:cNvPr id="2592" name="Google Shape;2592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3" name="Google Shape;2593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594" name="Google Shape;2594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$668,552</a:t>
            </a:r>
            <a:endParaRPr/>
          </a:p>
        </p:txBody>
      </p:sp>
      <p:sp>
        <p:nvSpPr>
          <p:cNvPr id="2595" name="Google Shape;2595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$85,021</a:t>
            </a:r>
            <a:endParaRPr/>
          </a:p>
        </p:txBody>
      </p:sp>
      <p:sp>
        <p:nvSpPr>
          <p:cNvPr id="2596" name="Google Shape;2596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$528,252</a:t>
            </a:r>
            <a:endParaRPr/>
          </a:p>
        </p:txBody>
      </p:sp>
      <p:sp>
        <p:nvSpPr>
          <p:cNvPr id="2597" name="Google Shape;2597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$55,279</a:t>
            </a:r>
            <a:endParaRPr/>
          </a:p>
        </p:txBody>
      </p:sp>
      <p:sp>
        <p:nvSpPr>
          <p:cNvPr id="2598" name="Google Shape;2598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$-26,826</a:t>
            </a:r>
            <a:endParaRPr/>
          </a:p>
        </p:txBody>
      </p:sp>
      <p:sp>
        <p:nvSpPr>
          <p:cNvPr id="2599" name="Google Shape;2599;p2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0" name="Google Shape;2600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01" name="Google Shape;2601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$2,799,445</a:t>
            </a:r>
            <a:endParaRPr/>
          </a:p>
        </p:txBody>
      </p:sp>
      <p:sp>
        <p:nvSpPr>
          <p:cNvPr id="2602" name="Google Shape;2602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$883,804</a:t>
            </a:r>
            <a:endParaRPr/>
          </a:p>
        </p:txBody>
      </p:sp>
      <p:sp>
        <p:nvSpPr>
          <p:cNvPr id="2603" name="Google Shape;2603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$1,423,807</a:t>
            </a:r>
            <a:endParaRPr/>
          </a:p>
        </p:txBody>
      </p:sp>
      <p:sp>
        <p:nvSpPr>
          <p:cNvPr id="2604" name="Google Shape;2604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$491,834</a:t>
            </a:r>
            <a:endParaRPr/>
          </a:p>
        </p:txBody>
      </p:sp>
      <p:sp>
        <p:nvSpPr>
          <p:cNvPr id="2605" name="Google Shape;2605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$-754,829</a:t>
            </a:r>
            <a:endParaRPr/>
          </a:p>
        </p:txBody>
      </p:sp>
      <p:sp>
        <p:nvSpPr>
          <p:cNvPr id="2606" name="Google Shape;2606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7" name="Google Shape;2607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608" name="Google Shape;2608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609" name="Google Shape;2609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610" name="Google Shape;2610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611" name="Google Shape;2611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612" name="Google Shape;2612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613" name="Google Shape;2613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614" name="Google Shape;2614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5" name="Google Shape;2615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616" name="Google Shape;2616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291</a:t>
            </a:r>
            <a:endParaRPr/>
          </a:p>
        </p:txBody>
      </p:sp>
      <p:sp>
        <p:nvSpPr>
          <p:cNvPr id="2617" name="Google Shape;2617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2618" name="Google Shape;2618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238</a:t>
            </a:r>
            <a:endParaRPr/>
          </a:p>
        </p:txBody>
      </p:sp>
      <p:sp>
        <p:nvSpPr>
          <p:cNvPr id="2619" name="Google Shape;2619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620" name="Google Shape;2620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13.7%</a:t>
            </a:r>
            <a:endParaRPr/>
          </a:p>
        </p:txBody>
      </p:sp>
      <p:sp>
        <p:nvSpPr>
          <p:cNvPr id="2621" name="Google Shape;2621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2" name="Google Shape;2622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623" name="Google Shape;2623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286</a:t>
            </a:r>
            <a:endParaRPr/>
          </a:p>
        </p:txBody>
      </p:sp>
      <p:sp>
        <p:nvSpPr>
          <p:cNvPr id="2624" name="Google Shape;2624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2625" name="Google Shape;2625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230</a:t>
            </a:r>
            <a:endParaRPr/>
          </a:p>
        </p:txBody>
      </p:sp>
      <p:sp>
        <p:nvSpPr>
          <p:cNvPr id="2626" name="Google Shape;2626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627" name="Google Shape;2627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15.0%</a:t>
            </a:r>
            <a:endParaRPr/>
          </a:p>
        </p:txBody>
      </p:sp>
      <p:sp>
        <p:nvSpPr>
          <p:cNvPr id="2628" name="Google Shape;2628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9" name="Google Shape;2629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30" name="Google Shape;2630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287</a:t>
            </a:r>
            <a:endParaRPr/>
          </a:p>
        </p:txBody>
      </p:sp>
      <p:sp>
        <p:nvSpPr>
          <p:cNvPr id="2631" name="Google Shape;2631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2632" name="Google Shape;2632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238</a:t>
            </a:r>
            <a:endParaRPr/>
          </a:p>
        </p:txBody>
      </p:sp>
      <p:sp>
        <p:nvSpPr>
          <p:cNvPr id="2633" name="Google Shape;2633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634" name="Google Shape;2634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13.9%</a:t>
            </a:r>
            <a:endParaRPr/>
          </a:p>
        </p:txBody>
      </p:sp>
      <p:sp>
        <p:nvSpPr>
          <p:cNvPr id="2635" name="Google Shape;2635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6" name="Google Shape;2636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37" name="Google Shape;2637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327</a:t>
            </a:r>
            <a:endParaRPr/>
          </a:p>
        </p:txBody>
      </p:sp>
      <p:sp>
        <p:nvSpPr>
          <p:cNvPr id="2638" name="Google Shape;2638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2639" name="Google Shape;2639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273</a:t>
            </a:r>
            <a:endParaRPr/>
          </a:p>
        </p:txBody>
      </p:sp>
      <p:sp>
        <p:nvSpPr>
          <p:cNvPr id="2640" name="Google Shape;2640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641" name="Google Shape;2641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9.2%</a:t>
            </a:r>
            <a:endParaRPr/>
          </a:p>
        </p:txBody>
      </p:sp>
      <p:sp>
        <p:nvSpPr>
          <p:cNvPr id="2642" name="Google Shape;2642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3" name="Google Shape;2643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44" name="Google Shape;2644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243</a:t>
            </a:r>
            <a:endParaRPr/>
          </a:p>
        </p:txBody>
      </p:sp>
      <p:sp>
        <p:nvSpPr>
          <p:cNvPr id="2645" name="Google Shape;2645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2646" name="Google Shape;2646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187</a:t>
            </a:r>
            <a:endParaRPr/>
          </a:p>
        </p:txBody>
      </p:sp>
      <p:sp>
        <p:nvSpPr>
          <p:cNvPr id="2647" name="Google Shape;2647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648" name="Google Shape;2648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9.5%</a:t>
            </a:r>
            <a:endParaRPr/>
          </a:p>
        </p:txBody>
      </p:sp>
      <p:sp>
        <p:nvSpPr>
          <p:cNvPr id="2649" name="Google Shape;2649;p2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0" name="Google Shape;2650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51" name="Google Shape;2651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1287</a:t>
            </a:r>
            <a:endParaRPr/>
          </a:p>
        </p:txBody>
      </p:sp>
      <p:sp>
        <p:nvSpPr>
          <p:cNvPr id="2652" name="Google Shape;2652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217</a:t>
            </a:r>
            <a:endParaRPr/>
          </a:p>
        </p:txBody>
      </p:sp>
      <p:sp>
        <p:nvSpPr>
          <p:cNvPr id="2653" name="Google Shape;2653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1070</a:t>
            </a:r>
            <a:endParaRPr/>
          </a:p>
        </p:txBody>
      </p:sp>
      <p:sp>
        <p:nvSpPr>
          <p:cNvPr id="2654" name="Google Shape;2654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2655" name="Google Shape;2655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2656" name="Google Shape;2656;p2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7" name="Google Shape;2657;p2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658" name="Google Shape;2658;p2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59" name="Google Shape;2659;p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660" name="Google Shape;2660;p2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661" name="Google Shape;2661;p2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662" name="Google Shape;2662;p2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663" name="Google Shape;2663;p2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664" name="Google Shape;2664;p2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665" name="Google Shape;2665;p2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666" name="Google Shape;2666;p2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667" name="Google Shape;2667;p2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668" name="Google Shape;2668;p2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669" name="Google Shape;2669;p2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670" name="Google Shape;2670;p2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671" name="Google Shape;2671;p2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72" name="Google Shape;2672;p2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234</a:t>
            </a:r>
            <a:endParaRPr/>
          </a:p>
        </p:txBody>
      </p:sp>
      <p:sp>
        <p:nvSpPr>
          <p:cNvPr id="2673" name="Google Shape;2673;p2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291</a:t>
            </a:r>
            <a:endParaRPr/>
          </a:p>
        </p:txBody>
      </p:sp>
      <p:sp>
        <p:nvSpPr>
          <p:cNvPr id="2674" name="Google Shape;2674;p2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</a:t>
            </a:r>
            <a:endParaRPr/>
          </a:p>
        </p:txBody>
      </p:sp>
      <p:sp>
        <p:nvSpPr>
          <p:cNvPr id="2675" name="Google Shape;2675;p2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286</a:t>
            </a:r>
            <a:endParaRPr/>
          </a:p>
        </p:txBody>
      </p:sp>
      <p:sp>
        <p:nvSpPr>
          <p:cNvPr id="2676" name="Google Shape;2676;p2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393</a:t>
            </a:r>
            <a:endParaRPr/>
          </a:p>
        </p:txBody>
      </p:sp>
      <p:sp>
        <p:nvSpPr>
          <p:cNvPr id="2677" name="Google Shape;2677;p2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287</a:t>
            </a:r>
            <a:endParaRPr/>
          </a:p>
        </p:txBody>
      </p:sp>
      <p:sp>
        <p:nvSpPr>
          <p:cNvPr id="2678" name="Google Shape;2678;p2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332</a:t>
            </a:r>
            <a:endParaRPr/>
          </a:p>
        </p:txBody>
      </p:sp>
      <p:sp>
        <p:nvSpPr>
          <p:cNvPr id="2679" name="Google Shape;2679;p2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327</a:t>
            </a:r>
            <a:endParaRPr/>
          </a:p>
        </p:txBody>
      </p:sp>
      <p:sp>
        <p:nvSpPr>
          <p:cNvPr id="2680" name="Google Shape;2680;p2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366</a:t>
            </a:r>
            <a:endParaRPr/>
          </a:p>
        </p:txBody>
      </p:sp>
      <p:sp>
        <p:nvSpPr>
          <p:cNvPr id="2681" name="Google Shape;2681;p2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243</a:t>
            </a:r>
            <a:endParaRPr/>
          </a:p>
        </p:txBody>
      </p:sp>
      <p:sp>
        <p:nvSpPr>
          <p:cNvPr id="2682" name="Google Shape;2682;p2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1593</a:t>
            </a:r>
            <a:endParaRPr/>
          </a:p>
        </p:txBody>
      </p:sp>
      <p:sp>
        <p:nvSpPr>
          <p:cNvPr id="2683" name="Google Shape;2683;p2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1434</a:t>
            </a:r>
            <a:endParaRPr/>
          </a:p>
        </p:txBody>
      </p:sp>
      <p:sp>
        <p:nvSpPr>
          <p:cNvPr id="2684" name="Google Shape;2684;p2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685" name="Google Shape;2685;p2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$726K</a:t>
            </a:r>
            <a:endParaRPr/>
          </a:p>
        </p:txBody>
      </p:sp>
      <p:sp>
        <p:nvSpPr>
          <p:cNvPr id="2686" name="Google Shape;2686;p2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$433K</a:t>
            </a:r>
            <a:endParaRPr/>
          </a:p>
        </p:txBody>
      </p:sp>
      <p:sp>
        <p:nvSpPr>
          <p:cNvPr id="2687" name="Google Shape;2687;p2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$526K</a:t>
            </a:r>
            <a:endParaRPr/>
          </a:p>
        </p:txBody>
      </p:sp>
      <p:sp>
        <p:nvSpPr>
          <p:cNvPr id="2688" name="Google Shape;2688;p2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$531K</a:t>
            </a:r>
            <a:endParaRPr/>
          </a:p>
        </p:txBody>
      </p:sp>
      <p:sp>
        <p:nvSpPr>
          <p:cNvPr id="2689" name="Google Shape;2689;p2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$1.7M</a:t>
            </a:r>
            <a:endParaRPr/>
          </a:p>
        </p:txBody>
      </p:sp>
      <p:sp>
        <p:nvSpPr>
          <p:cNvPr id="2690" name="Google Shape;2690;p2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$620K</a:t>
            </a:r>
            <a:endParaRPr/>
          </a:p>
        </p:txBody>
      </p:sp>
      <p:sp>
        <p:nvSpPr>
          <p:cNvPr id="2691" name="Google Shape;2691;p2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$1.1M</a:t>
            </a:r>
            <a:endParaRPr/>
          </a:p>
        </p:txBody>
      </p:sp>
      <p:sp>
        <p:nvSpPr>
          <p:cNvPr id="2692" name="Google Shape;2692;p2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$546K</a:t>
            </a:r>
            <a:endParaRPr/>
          </a:p>
        </p:txBody>
      </p:sp>
      <p:sp>
        <p:nvSpPr>
          <p:cNvPr id="2693" name="Google Shape;2693;p2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$2.6M</a:t>
            </a:r>
            <a:endParaRPr/>
          </a:p>
        </p:txBody>
      </p:sp>
      <p:sp>
        <p:nvSpPr>
          <p:cNvPr id="2694" name="Google Shape;2694;p2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$669K</a:t>
            </a:r>
            <a:endParaRPr/>
          </a:p>
        </p:txBody>
      </p:sp>
      <p:sp>
        <p:nvSpPr>
          <p:cNvPr id="2695" name="Google Shape;2695;p2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$6.6M</a:t>
            </a:r>
            <a:endParaRPr/>
          </a:p>
        </p:txBody>
      </p:sp>
      <p:sp>
        <p:nvSpPr>
          <p:cNvPr id="2696" name="Google Shape;2696;p2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$2.8M</a:t>
            </a:r>
            <a:endParaRPr/>
          </a:p>
        </p:txBody>
      </p:sp>
      <p:sp>
        <p:nvSpPr>
          <p:cNvPr id="2697" name="Google Shape;2697;p2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8" name="Google Shape;2698;p2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699" name="Google Shape;2699;p2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00" name="Google Shape;2700;p2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$2,799,445 YTD gross written premium</a:t>
            </a:r>
            <a:endParaRPr/>
          </a:p>
        </p:txBody>
      </p:sp>
      <p:sp>
        <p:nvSpPr>
          <p:cNvPr id="2701" name="Google Shape;2701;p2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02" name="Google Shape;2702;p2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$883,804 in new business production</a:t>
            </a:r>
            <a:endParaRPr/>
          </a:p>
        </p:txBody>
      </p:sp>
      <p:sp>
        <p:nvSpPr>
          <p:cNvPr id="2703" name="Google Shape;2703;p2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4" name="Google Shape;2704;p2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705" name="Google Shape;2705;p2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706" name="Google Shape;2706;p2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85% of new business ($754,829)</a:t>
            </a:r>
            <a:endParaRPr/>
          </a:p>
        </p:txBody>
      </p:sp>
      <p:sp>
        <p:nvSpPr>
          <p:cNvPr id="2707" name="Google Shape;2707;p2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8" name="Google Shape;2708;p2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709" name="Google Shape;2709;p2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710" name="Google Shape;2710;p2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$883,804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711" name="Google Shape;2711;p2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712" name="Google Shape;2712;p2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$754,829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7" name="Google Shape;2717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8" name="Google Shape;2718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Vintage Insurance Agency Inc (The)</a:t>
            </a:r>
            <a:endParaRPr/>
          </a:p>
        </p:txBody>
      </p:sp>
      <p:sp>
        <p:nvSpPr>
          <p:cNvPr id="2719" name="Google Shape;2719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N/A</a:t>
            </a:r>
            <a:endParaRPr/>
          </a:p>
        </p:txBody>
      </p:sp>
      <p:sp>
        <p:nvSpPr>
          <p:cNvPr id="2720" name="Google Shape;2720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$1,858,096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721" name="Google Shape;2721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$554,806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22" name="Google Shape;2722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$714,307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23" name="Google Shape;2723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$588,984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24" name="Google Shape;2724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$-575,525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25" name="Google Shape;2725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$3,326,706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726" name="Google Shape;2726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$3,712,803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727" name="Google Shape;2727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728" name="Google Shape;2728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29" name="Google Shape;2729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30" name="Google Shape;2730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31" name="Google Shape;2731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$462,642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732" name="Google Shape;2732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$1,014,179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733" name="Google Shape;2733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4" name="Google Shape;2734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735" name="Google Shape;2735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36" name="Google Shape;2736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737" name="Google Shape;2737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38" name="Google Shape;2738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39" name="Google Shape;2739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40" name="Google Shape;2740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41" name="Google Shape;2741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2" name="Google Shape;2742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43" name="Google Shape;2743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$335,743</a:t>
            </a:r>
            <a:endParaRPr/>
          </a:p>
        </p:txBody>
      </p:sp>
      <p:sp>
        <p:nvSpPr>
          <p:cNvPr id="2744" name="Google Shape;2744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$102,876</a:t>
            </a:r>
            <a:endParaRPr/>
          </a:p>
        </p:txBody>
      </p:sp>
      <p:sp>
        <p:nvSpPr>
          <p:cNvPr id="2745" name="Google Shape;2745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$174,683</a:t>
            </a:r>
            <a:endParaRPr/>
          </a:p>
        </p:txBody>
      </p:sp>
      <p:sp>
        <p:nvSpPr>
          <p:cNvPr id="2746" name="Google Shape;2746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$58,183</a:t>
            </a:r>
            <a:endParaRPr/>
          </a:p>
        </p:txBody>
      </p:sp>
      <p:sp>
        <p:nvSpPr>
          <p:cNvPr id="2747" name="Google Shape;2747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$-86,035</a:t>
            </a:r>
            <a:endParaRPr/>
          </a:p>
        </p:txBody>
      </p:sp>
      <p:sp>
        <p:nvSpPr>
          <p:cNvPr id="2748" name="Google Shape;2748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9" name="Google Shape;2749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50" name="Google Shape;2750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$449,702</a:t>
            </a:r>
            <a:endParaRPr/>
          </a:p>
        </p:txBody>
      </p:sp>
      <p:sp>
        <p:nvSpPr>
          <p:cNvPr id="2751" name="Google Shape;2751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$255,825</a:t>
            </a:r>
            <a:endParaRPr/>
          </a:p>
        </p:txBody>
      </p:sp>
      <p:sp>
        <p:nvSpPr>
          <p:cNvPr id="2752" name="Google Shape;2752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$132,066</a:t>
            </a:r>
            <a:endParaRPr/>
          </a:p>
        </p:txBody>
      </p:sp>
      <p:sp>
        <p:nvSpPr>
          <p:cNvPr id="2753" name="Google Shape;2753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$61,810</a:t>
            </a:r>
            <a:endParaRPr/>
          </a:p>
        </p:txBody>
      </p:sp>
      <p:sp>
        <p:nvSpPr>
          <p:cNvPr id="2754" name="Google Shape;2754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$-162,772</a:t>
            </a:r>
            <a:endParaRPr/>
          </a:p>
        </p:txBody>
      </p:sp>
      <p:sp>
        <p:nvSpPr>
          <p:cNvPr id="2755" name="Google Shape;2755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6" name="Google Shape;2756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57" name="Google Shape;2757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$389,615</a:t>
            </a:r>
            <a:endParaRPr/>
          </a:p>
        </p:txBody>
      </p:sp>
      <p:sp>
        <p:nvSpPr>
          <p:cNvPr id="2758" name="Google Shape;2758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$58,208</a:t>
            </a:r>
            <a:endParaRPr/>
          </a:p>
        </p:txBody>
      </p:sp>
      <p:sp>
        <p:nvSpPr>
          <p:cNvPr id="2759" name="Google Shape;2759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$167,077</a:t>
            </a:r>
            <a:endParaRPr/>
          </a:p>
        </p:txBody>
      </p:sp>
      <p:sp>
        <p:nvSpPr>
          <p:cNvPr id="2760" name="Google Shape;2760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$164,330</a:t>
            </a:r>
            <a:endParaRPr/>
          </a:p>
        </p:txBody>
      </p:sp>
      <p:sp>
        <p:nvSpPr>
          <p:cNvPr id="2761" name="Google Shape;2761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$-162,968</a:t>
            </a:r>
            <a:endParaRPr/>
          </a:p>
        </p:txBody>
      </p:sp>
      <p:sp>
        <p:nvSpPr>
          <p:cNvPr id="2762" name="Google Shape;2762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3" name="Google Shape;2763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64" name="Google Shape;2764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$456,301</a:t>
            </a:r>
            <a:endParaRPr/>
          </a:p>
        </p:txBody>
      </p:sp>
      <p:sp>
        <p:nvSpPr>
          <p:cNvPr id="2765" name="Google Shape;2765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$44,916</a:t>
            </a:r>
            <a:endParaRPr/>
          </a:p>
        </p:txBody>
      </p:sp>
      <p:sp>
        <p:nvSpPr>
          <p:cNvPr id="2766" name="Google Shape;2766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$162,866</a:t>
            </a:r>
            <a:endParaRPr/>
          </a:p>
        </p:txBody>
      </p:sp>
      <p:sp>
        <p:nvSpPr>
          <p:cNvPr id="2767" name="Google Shape;2767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$248,519</a:t>
            </a:r>
            <a:endParaRPr/>
          </a:p>
        </p:txBody>
      </p:sp>
      <p:sp>
        <p:nvSpPr>
          <p:cNvPr id="2768" name="Google Shape;2768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$-133,926</a:t>
            </a:r>
            <a:endParaRPr/>
          </a:p>
        </p:txBody>
      </p:sp>
      <p:sp>
        <p:nvSpPr>
          <p:cNvPr id="2769" name="Google Shape;2769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0" name="Google Shape;2770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71" name="Google Shape;2771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$226,737</a:t>
            </a:r>
            <a:endParaRPr/>
          </a:p>
        </p:txBody>
      </p:sp>
      <p:sp>
        <p:nvSpPr>
          <p:cNvPr id="2772" name="Google Shape;2772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$92,980</a:t>
            </a:r>
            <a:endParaRPr/>
          </a:p>
        </p:txBody>
      </p:sp>
      <p:sp>
        <p:nvSpPr>
          <p:cNvPr id="2773" name="Google Shape;2773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$77,615</a:t>
            </a:r>
            <a:endParaRPr/>
          </a:p>
        </p:txBody>
      </p:sp>
      <p:sp>
        <p:nvSpPr>
          <p:cNvPr id="2774" name="Google Shape;2774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$56,141</a:t>
            </a:r>
            <a:endParaRPr/>
          </a:p>
        </p:txBody>
      </p:sp>
      <p:sp>
        <p:nvSpPr>
          <p:cNvPr id="2775" name="Google Shape;2775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$-29,823</a:t>
            </a:r>
            <a:endParaRPr/>
          </a:p>
        </p:txBody>
      </p:sp>
      <p:sp>
        <p:nvSpPr>
          <p:cNvPr id="2776" name="Google Shape;2776;p2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7" name="Google Shape;2777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78" name="Google Shape;2778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$1,858,096</a:t>
            </a:r>
            <a:endParaRPr/>
          </a:p>
        </p:txBody>
      </p:sp>
      <p:sp>
        <p:nvSpPr>
          <p:cNvPr id="2779" name="Google Shape;2779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$554,806</a:t>
            </a:r>
            <a:endParaRPr/>
          </a:p>
        </p:txBody>
      </p:sp>
      <p:sp>
        <p:nvSpPr>
          <p:cNvPr id="2780" name="Google Shape;2780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$714,307</a:t>
            </a:r>
            <a:endParaRPr/>
          </a:p>
        </p:txBody>
      </p:sp>
      <p:sp>
        <p:nvSpPr>
          <p:cNvPr id="2781" name="Google Shape;2781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$588,984</a:t>
            </a:r>
            <a:endParaRPr/>
          </a:p>
        </p:txBody>
      </p:sp>
      <p:sp>
        <p:nvSpPr>
          <p:cNvPr id="2782" name="Google Shape;2782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$-575,525</a:t>
            </a:r>
            <a:endParaRPr/>
          </a:p>
        </p:txBody>
      </p:sp>
      <p:sp>
        <p:nvSpPr>
          <p:cNvPr id="2783" name="Google Shape;2783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4" name="Google Shape;2784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785" name="Google Shape;2785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86" name="Google Shape;2786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787" name="Google Shape;2787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788" name="Google Shape;2788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789" name="Google Shape;2789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90" name="Google Shape;2790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91" name="Google Shape;2791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2" name="Google Shape;2792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93" name="Google Shape;2793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794" name="Google Shape;2794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795" name="Google Shape;2795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2796" name="Google Shape;2796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797" name="Google Shape;2797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46.8%</a:t>
            </a:r>
            <a:endParaRPr/>
          </a:p>
        </p:txBody>
      </p:sp>
      <p:sp>
        <p:nvSpPr>
          <p:cNvPr id="2798" name="Google Shape;2798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9" name="Google Shape;2799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800" name="Google Shape;2800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2801" name="Google Shape;2801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02" name="Google Shape;2802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2803" name="Google Shape;2803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804" name="Google Shape;2804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45.0%</a:t>
            </a:r>
            <a:endParaRPr/>
          </a:p>
        </p:txBody>
      </p:sp>
      <p:sp>
        <p:nvSpPr>
          <p:cNvPr id="2805" name="Google Shape;2805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6" name="Google Shape;2806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807" name="Google Shape;2807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2808" name="Google Shape;2808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809" name="Google Shape;2809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2810" name="Google Shape;2810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811" name="Google Shape;2811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41.0%</a:t>
            </a:r>
            <a:endParaRPr/>
          </a:p>
        </p:txBody>
      </p:sp>
      <p:sp>
        <p:nvSpPr>
          <p:cNvPr id="2812" name="Google Shape;2812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3" name="Google Shape;2813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814" name="Google Shape;2814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815" name="Google Shape;2815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816" name="Google Shape;2816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2817" name="Google Shape;2817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818" name="Google Shape;2818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32.3%</a:t>
            </a:r>
            <a:endParaRPr/>
          </a:p>
        </p:txBody>
      </p:sp>
      <p:sp>
        <p:nvSpPr>
          <p:cNvPr id="2819" name="Google Shape;2819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0" name="Google Shape;2820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821" name="Google Shape;2821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2822" name="Google Shape;2822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823" name="Google Shape;2823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2824" name="Google Shape;2824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825" name="Google Shape;2825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22.4%</a:t>
            </a:r>
            <a:endParaRPr/>
          </a:p>
        </p:txBody>
      </p:sp>
      <p:sp>
        <p:nvSpPr>
          <p:cNvPr id="2826" name="Google Shape;2826;p2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7" name="Google Shape;2827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28" name="Google Shape;2828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</p:txBody>
      </p:sp>
      <p:sp>
        <p:nvSpPr>
          <p:cNvPr id="2829" name="Google Shape;2829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830" name="Google Shape;2830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188</a:t>
            </a:r>
            <a:endParaRPr/>
          </a:p>
        </p:txBody>
      </p:sp>
      <p:sp>
        <p:nvSpPr>
          <p:cNvPr id="2831" name="Google Shape;2831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832" name="Google Shape;2832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23.9%</a:t>
            </a:r>
            <a:endParaRPr/>
          </a:p>
        </p:txBody>
      </p:sp>
      <p:sp>
        <p:nvSpPr>
          <p:cNvPr id="2833" name="Google Shape;2833;p2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4" name="Google Shape;2834;p2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835" name="Google Shape;2835;p2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36" name="Google Shape;2836;p2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837" name="Google Shape;2837;p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838" name="Google Shape;2838;p2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839" name="Google Shape;2839;p2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840" name="Google Shape;2840;p2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841" name="Google Shape;2841;p2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842" name="Google Shape;2842;p2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843" name="Google Shape;2843;p2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844" name="Google Shape;2844;p2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845" name="Google Shape;2845;p2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846" name="Google Shape;2846;p2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847" name="Google Shape;2847;p2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848" name="Google Shape;2848;p2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49" name="Google Shape;2849;p2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850" name="Google Shape;2850;p2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851" name="Google Shape;2851;p2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852" name="Google Shape;2852;p2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2853" name="Google Shape;2853;p2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2854" name="Google Shape;2854;p2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2855" name="Google Shape;2855;p2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2856" name="Google Shape;2856;p2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857" name="Google Shape;2857;p2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858" name="Google Shape;2858;p2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2859" name="Google Shape;2859;p2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178</a:t>
            </a:r>
            <a:endParaRPr/>
          </a:p>
        </p:txBody>
      </p:sp>
      <p:sp>
        <p:nvSpPr>
          <p:cNvPr id="2860" name="Google Shape;2860;p2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312</a:t>
            </a:r>
            <a:endParaRPr/>
          </a:p>
        </p:txBody>
      </p:sp>
      <p:sp>
        <p:nvSpPr>
          <p:cNvPr id="2861" name="Google Shape;2861;p2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862" name="Google Shape;2862;p2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$214K</a:t>
            </a:r>
            <a:endParaRPr/>
          </a:p>
        </p:txBody>
      </p:sp>
      <p:sp>
        <p:nvSpPr>
          <p:cNvPr id="2863" name="Google Shape;2863;p2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$336K</a:t>
            </a:r>
            <a:endParaRPr/>
          </a:p>
        </p:txBody>
      </p:sp>
      <p:sp>
        <p:nvSpPr>
          <p:cNvPr id="2864" name="Google Shape;2864;p2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$192K</a:t>
            </a:r>
            <a:endParaRPr/>
          </a:p>
        </p:txBody>
      </p:sp>
      <p:sp>
        <p:nvSpPr>
          <p:cNvPr id="2865" name="Google Shape;2865;p2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$450K</a:t>
            </a:r>
            <a:endParaRPr/>
          </a:p>
        </p:txBody>
      </p:sp>
      <p:sp>
        <p:nvSpPr>
          <p:cNvPr id="2866" name="Google Shape;2866;p2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$223K</a:t>
            </a:r>
            <a:endParaRPr/>
          </a:p>
        </p:txBody>
      </p:sp>
      <p:sp>
        <p:nvSpPr>
          <p:cNvPr id="2867" name="Google Shape;2867;p2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$390K</a:t>
            </a:r>
            <a:endParaRPr/>
          </a:p>
        </p:txBody>
      </p:sp>
      <p:sp>
        <p:nvSpPr>
          <p:cNvPr id="2868" name="Google Shape;2868;p2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$597K</a:t>
            </a:r>
            <a:endParaRPr/>
          </a:p>
        </p:txBody>
      </p:sp>
      <p:sp>
        <p:nvSpPr>
          <p:cNvPr id="2869" name="Google Shape;2869;p2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$456K</a:t>
            </a:r>
            <a:endParaRPr/>
          </a:p>
        </p:txBody>
      </p:sp>
      <p:sp>
        <p:nvSpPr>
          <p:cNvPr id="2870" name="Google Shape;2870;p2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$246K</a:t>
            </a:r>
            <a:endParaRPr/>
          </a:p>
        </p:txBody>
      </p:sp>
      <p:sp>
        <p:nvSpPr>
          <p:cNvPr id="2871" name="Google Shape;2871;p2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$227K</a:t>
            </a:r>
            <a:endParaRPr/>
          </a:p>
        </p:txBody>
      </p:sp>
      <p:sp>
        <p:nvSpPr>
          <p:cNvPr id="2872" name="Google Shape;2872;p2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$1.5M</a:t>
            </a:r>
            <a:endParaRPr/>
          </a:p>
        </p:txBody>
      </p:sp>
      <p:sp>
        <p:nvSpPr>
          <p:cNvPr id="2873" name="Google Shape;2873;p2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$1.9M</a:t>
            </a:r>
            <a:endParaRPr/>
          </a:p>
        </p:txBody>
      </p:sp>
      <p:sp>
        <p:nvSpPr>
          <p:cNvPr id="2874" name="Google Shape;2874;p2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5" name="Google Shape;2875;p2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876" name="Google Shape;2876;p2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77" name="Google Shape;2877;p2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$1,858,096 YTD gross written premium</a:t>
            </a:r>
            <a:endParaRPr/>
          </a:p>
        </p:txBody>
      </p:sp>
      <p:sp>
        <p:nvSpPr>
          <p:cNvPr id="2878" name="Google Shape;2878;p2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79" name="Google Shape;2879;p2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$554,806 in new business production</a:t>
            </a:r>
            <a:endParaRPr/>
          </a:p>
        </p:txBody>
      </p:sp>
      <p:sp>
        <p:nvSpPr>
          <p:cNvPr id="2880" name="Google Shape;2880;p2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1" name="Google Shape;2881;p2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882" name="Google Shape;2882;p2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83" name="Google Shape;2883;p2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104% of new business ($575,525)</a:t>
            </a:r>
            <a:endParaRPr/>
          </a:p>
        </p:txBody>
      </p:sp>
      <p:sp>
        <p:nvSpPr>
          <p:cNvPr id="2884" name="Google Shape;2884;p2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85" name="Google Shape;2885;p2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50% month-over-month</a:t>
            </a:r>
            <a:endParaRPr/>
          </a:p>
        </p:txBody>
      </p:sp>
      <p:sp>
        <p:nvSpPr>
          <p:cNvPr id="2886" name="Google Shape;2886;p2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7" name="Google Shape;2887;p2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888" name="Google Shape;2888;p2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889" name="Google Shape;2889;p2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$554,806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890" name="Google Shape;2890;p2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891" name="Google Shape;2891;p2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$575,525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95" name="Shape 2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6" name="Google Shape;2896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7" name="Google Shape;2897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Sedge Insurance Agency Llc</a:t>
            </a:r>
            <a:endParaRPr/>
          </a:p>
        </p:txBody>
      </p:sp>
      <p:sp>
        <p:nvSpPr>
          <p:cNvPr id="2898" name="Google Shape;2898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N/A  |  City: N/A</a:t>
            </a:r>
            <a:endParaRPr/>
          </a:p>
        </p:txBody>
      </p:sp>
      <p:sp>
        <p:nvSpPr>
          <p:cNvPr id="2899" name="Google Shape;2899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$1,257,558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900" name="Google Shape;2900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$954,533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01" name="Google Shape;2901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02" name="Google Shape;2902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$303,024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03" name="Google Shape;2903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$-393,568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04" name="Google Shape;2904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$608,954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905" name="Google Shape;2905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$1,866,512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906" name="Google Shape;2906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907" name="Google Shape;2907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908" name="Google Shape;2908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09" name="Google Shape;2909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10" name="Google Shape;2910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$241,827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911" name="Google Shape;2911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$413,148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912" name="Google Shape;2912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3" name="Google Shape;2913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914" name="Google Shape;2914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15" name="Google Shape;2915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916" name="Google Shape;2916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17" name="Google Shape;2917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18" name="Google Shape;2918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19" name="Google Shape;2919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20" name="Google Shape;2920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1" name="Google Shape;2921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22" name="Google Shape;2922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$329,058</a:t>
            </a:r>
            <a:endParaRPr/>
          </a:p>
        </p:txBody>
      </p:sp>
      <p:sp>
        <p:nvSpPr>
          <p:cNvPr id="2923" name="Google Shape;2923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$235,804</a:t>
            </a:r>
            <a:endParaRPr/>
          </a:p>
        </p:txBody>
      </p:sp>
      <p:sp>
        <p:nvSpPr>
          <p:cNvPr id="2924" name="Google Shape;2924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5" name="Google Shape;2925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$93,254</a:t>
            </a:r>
            <a:endParaRPr/>
          </a:p>
        </p:txBody>
      </p:sp>
      <p:sp>
        <p:nvSpPr>
          <p:cNvPr id="2926" name="Google Shape;2926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$-47,714</a:t>
            </a:r>
            <a:endParaRPr/>
          </a:p>
        </p:txBody>
      </p:sp>
      <p:sp>
        <p:nvSpPr>
          <p:cNvPr id="2927" name="Google Shape;2927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8" name="Google Shape;2928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29" name="Google Shape;2929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$98,874</a:t>
            </a:r>
            <a:endParaRPr/>
          </a:p>
        </p:txBody>
      </p:sp>
      <p:sp>
        <p:nvSpPr>
          <p:cNvPr id="2930" name="Google Shape;2930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$47,348</a:t>
            </a:r>
            <a:endParaRPr/>
          </a:p>
        </p:txBody>
      </p:sp>
      <p:sp>
        <p:nvSpPr>
          <p:cNvPr id="2931" name="Google Shape;2931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2" name="Google Shape;2932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$51,526</a:t>
            </a:r>
            <a:endParaRPr/>
          </a:p>
        </p:txBody>
      </p:sp>
      <p:sp>
        <p:nvSpPr>
          <p:cNvPr id="2933" name="Google Shape;2933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$-54,408</a:t>
            </a:r>
            <a:endParaRPr/>
          </a:p>
        </p:txBody>
      </p:sp>
      <p:sp>
        <p:nvSpPr>
          <p:cNvPr id="2934" name="Google Shape;2934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5" name="Google Shape;2935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36" name="Google Shape;2936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$281,165</a:t>
            </a:r>
            <a:endParaRPr/>
          </a:p>
        </p:txBody>
      </p:sp>
      <p:sp>
        <p:nvSpPr>
          <p:cNvPr id="2937" name="Google Shape;2937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$220,351</a:t>
            </a:r>
            <a:endParaRPr/>
          </a:p>
        </p:txBody>
      </p:sp>
      <p:sp>
        <p:nvSpPr>
          <p:cNvPr id="2938" name="Google Shape;2938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9" name="Google Shape;2939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$60,814</a:t>
            </a:r>
            <a:endParaRPr/>
          </a:p>
        </p:txBody>
      </p:sp>
      <p:sp>
        <p:nvSpPr>
          <p:cNvPr id="2940" name="Google Shape;2940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$-243,003</a:t>
            </a:r>
            <a:endParaRPr/>
          </a:p>
        </p:txBody>
      </p:sp>
      <p:sp>
        <p:nvSpPr>
          <p:cNvPr id="2941" name="Google Shape;2941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2" name="Google Shape;2942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43" name="Google Shape;2943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$313,298</a:t>
            </a:r>
            <a:endParaRPr/>
          </a:p>
        </p:txBody>
      </p:sp>
      <p:sp>
        <p:nvSpPr>
          <p:cNvPr id="2944" name="Google Shape;2944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$220,560</a:t>
            </a:r>
            <a:endParaRPr/>
          </a:p>
        </p:txBody>
      </p:sp>
      <p:sp>
        <p:nvSpPr>
          <p:cNvPr id="2945" name="Google Shape;2945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6" name="Google Shape;2946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$92,738</a:t>
            </a:r>
            <a:endParaRPr/>
          </a:p>
        </p:txBody>
      </p:sp>
      <p:sp>
        <p:nvSpPr>
          <p:cNvPr id="2947" name="Google Shape;2947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$-30,624</a:t>
            </a:r>
            <a:endParaRPr/>
          </a:p>
        </p:txBody>
      </p:sp>
      <p:sp>
        <p:nvSpPr>
          <p:cNvPr id="2948" name="Google Shape;2948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9" name="Google Shape;2949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50" name="Google Shape;2950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$235,162</a:t>
            </a:r>
            <a:endParaRPr/>
          </a:p>
        </p:txBody>
      </p:sp>
      <p:sp>
        <p:nvSpPr>
          <p:cNvPr id="2951" name="Google Shape;2951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$230,471</a:t>
            </a:r>
            <a:endParaRPr/>
          </a:p>
        </p:txBody>
      </p:sp>
      <p:sp>
        <p:nvSpPr>
          <p:cNvPr id="2952" name="Google Shape;2952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3" name="Google Shape;2953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$4,692</a:t>
            </a:r>
            <a:endParaRPr/>
          </a:p>
        </p:txBody>
      </p:sp>
      <p:sp>
        <p:nvSpPr>
          <p:cNvPr id="2954" name="Google Shape;2954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$-17,820</a:t>
            </a:r>
            <a:endParaRPr/>
          </a:p>
        </p:txBody>
      </p:sp>
      <p:sp>
        <p:nvSpPr>
          <p:cNvPr id="2955" name="Google Shape;2955;p2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6" name="Google Shape;2956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57" name="Google Shape;2957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$1,257,558</a:t>
            </a:r>
            <a:endParaRPr/>
          </a:p>
        </p:txBody>
      </p:sp>
      <p:sp>
        <p:nvSpPr>
          <p:cNvPr id="2958" name="Google Shape;2958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$954,533</a:t>
            </a:r>
            <a:endParaRPr/>
          </a:p>
        </p:txBody>
      </p:sp>
      <p:sp>
        <p:nvSpPr>
          <p:cNvPr id="2959" name="Google Shape;2959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0" name="Google Shape;2960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$303,024</a:t>
            </a:r>
            <a:endParaRPr/>
          </a:p>
        </p:txBody>
      </p:sp>
      <p:sp>
        <p:nvSpPr>
          <p:cNvPr id="2961" name="Google Shape;2961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$-393,568</a:t>
            </a:r>
            <a:endParaRPr/>
          </a:p>
        </p:txBody>
      </p:sp>
      <p:sp>
        <p:nvSpPr>
          <p:cNvPr id="2962" name="Google Shape;2962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3" name="Google Shape;2963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964" name="Google Shape;2964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65" name="Google Shape;2965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966" name="Google Shape;2966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967" name="Google Shape;2967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968" name="Google Shape;2968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69" name="Google Shape;2969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70" name="Google Shape;2970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1" name="Google Shape;2971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72" name="Google Shape;2972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2973" name="Google Shape;2973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974" name="Google Shape;2974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2975" name="Google Shape;2975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976" name="Google Shape;2976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13.8%</a:t>
            </a:r>
            <a:endParaRPr/>
          </a:p>
        </p:txBody>
      </p:sp>
      <p:sp>
        <p:nvSpPr>
          <p:cNvPr id="2977" name="Google Shape;2977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8" name="Google Shape;2978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79" name="Google Shape;2979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2980" name="Google Shape;2980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981" name="Google Shape;2981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2982" name="Google Shape;2982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983" name="Google Shape;2983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2984" name="Google Shape;2984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5" name="Google Shape;2985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86" name="Google Shape;2986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987" name="Google Shape;2987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988" name="Google Shape;2988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989" name="Google Shape;2989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990" name="Google Shape;2990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25.7%</a:t>
            </a:r>
            <a:endParaRPr/>
          </a:p>
        </p:txBody>
      </p:sp>
      <p:sp>
        <p:nvSpPr>
          <p:cNvPr id="2991" name="Google Shape;2991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2" name="Google Shape;2992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93" name="Google Shape;2993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2994" name="Google Shape;2994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995" name="Google Shape;2995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2996" name="Google Shape;2996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997" name="Google Shape;2997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998" name="Google Shape;2998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9" name="Google Shape;2999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000" name="Google Shape;3000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3001" name="Google Shape;3001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002" name="Google Shape;3002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3003" name="Google Shape;3003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004" name="Google Shape;3004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14.1%</a:t>
            </a:r>
            <a:endParaRPr/>
          </a:p>
        </p:txBody>
      </p:sp>
      <p:sp>
        <p:nvSpPr>
          <p:cNvPr id="3005" name="Google Shape;3005;p2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6" name="Google Shape;3006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007" name="Google Shape;3007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240</a:t>
            </a:r>
            <a:endParaRPr/>
          </a:p>
        </p:txBody>
      </p:sp>
      <p:sp>
        <p:nvSpPr>
          <p:cNvPr id="3008" name="Google Shape;3008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3009" name="Google Shape;3009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195</a:t>
            </a:r>
            <a:endParaRPr/>
          </a:p>
        </p:txBody>
      </p:sp>
      <p:sp>
        <p:nvSpPr>
          <p:cNvPr id="3010" name="Google Shape;3010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011" name="Google Shape;3011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3012" name="Google Shape;3012;p2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3" name="Google Shape;3013;p2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014" name="Google Shape;3014;p2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15" name="Google Shape;3015;p2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016" name="Google Shape;3016;p2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017" name="Google Shape;3017;p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018" name="Google Shape;3018;p2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019" name="Google Shape;3019;p2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020" name="Google Shape;3020;p2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021" name="Google Shape;3021;p2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022" name="Google Shape;3022;p2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023" name="Google Shape;3023;p2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024" name="Google Shape;3024;p2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025" name="Google Shape;3025;p2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026" name="Google Shape;3026;p2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027" name="Google Shape;3027;p2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28" name="Google Shape;3028;p2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29" name="Google Shape;3029;p2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3030" name="Google Shape;3030;p2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31" name="Google Shape;3031;p2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3032" name="Google Shape;3032;p2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33" name="Google Shape;3033;p2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3034" name="Google Shape;3034;p2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35" name="Google Shape;3035;p2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3036" name="Google Shape;3036;p2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37" name="Google Shape;3037;p2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3038" name="Google Shape;3038;p2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39" name="Google Shape;3039;p2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287</a:t>
            </a:r>
            <a:endParaRPr/>
          </a:p>
        </p:txBody>
      </p:sp>
      <p:sp>
        <p:nvSpPr>
          <p:cNvPr id="3040" name="Google Shape;3040;p2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041" name="Google Shape;3041;p2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42" name="Google Shape;3042;p2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$329K</a:t>
            </a:r>
            <a:endParaRPr/>
          </a:p>
        </p:txBody>
      </p:sp>
      <p:sp>
        <p:nvSpPr>
          <p:cNvPr id="3043" name="Google Shape;3043;p2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44" name="Google Shape;3044;p2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$99K</a:t>
            </a:r>
            <a:endParaRPr/>
          </a:p>
        </p:txBody>
      </p:sp>
      <p:sp>
        <p:nvSpPr>
          <p:cNvPr id="3045" name="Google Shape;3045;p2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46" name="Google Shape;3046;p2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$281K</a:t>
            </a:r>
            <a:endParaRPr/>
          </a:p>
        </p:txBody>
      </p:sp>
      <p:sp>
        <p:nvSpPr>
          <p:cNvPr id="3047" name="Google Shape;3047;p2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48" name="Google Shape;3048;p2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$313K</a:t>
            </a:r>
            <a:endParaRPr/>
          </a:p>
        </p:txBody>
      </p:sp>
      <p:sp>
        <p:nvSpPr>
          <p:cNvPr id="3049" name="Google Shape;3049;p2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50" name="Google Shape;3050;p2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$235K</a:t>
            </a:r>
            <a:endParaRPr/>
          </a:p>
        </p:txBody>
      </p:sp>
      <p:sp>
        <p:nvSpPr>
          <p:cNvPr id="3051" name="Google Shape;3051;p2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52" name="Google Shape;3052;p2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$1.3M</a:t>
            </a:r>
            <a:endParaRPr/>
          </a:p>
        </p:txBody>
      </p:sp>
      <p:sp>
        <p:nvSpPr>
          <p:cNvPr id="3053" name="Google Shape;3053;p2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4" name="Google Shape;3054;p2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055" name="Google Shape;3055;p2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56" name="Google Shape;3056;p2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$1,257,558 YTD gross written premium</a:t>
            </a:r>
            <a:endParaRPr/>
          </a:p>
        </p:txBody>
      </p:sp>
      <p:sp>
        <p:nvSpPr>
          <p:cNvPr id="3057" name="Google Shape;3057;p2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58" name="Google Shape;3058;p2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$954,533 in new business production</a:t>
            </a:r>
            <a:endParaRPr/>
          </a:p>
        </p:txBody>
      </p:sp>
      <p:sp>
        <p:nvSpPr>
          <p:cNvPr id="3059" name="Google Shape;3059;p2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0" name="Google Shape;3060;p2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061" name="Google Shape;3061;p2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62" name="Google Shape;3062;p2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41% of new business ($393,568)</a:t>
            </a:r>
            <a:endParaRPr/>
          </a:p>
        </p:txBody>
      </p:sp>
      <p:sp>
        <p:nvSpPr>
          <p:cNvPr id="3063" name="Google Shape;3063;p2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4" name="Google Shape;3064;p2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065" name="Google Shape;3065;p2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066" name="Google Shape;3066;p2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$954,533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067" name="Google Shape;3067;p2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068" name="Google Shape;3068;p2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$393,568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72" name="Shape 3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Google Shape;3073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4" name="Google Shape;3074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Ewall Insurance Company</a:t>
            </a:r>
            <a:endParaRPr/>
          </a:p>
        </p:txBody>
      </p:sp>
      <p:sp>
        <p:nvSpPr>
          <p:cNvPr id="3075" name="Google Shape;3075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NV  |  City: Las Vegas</a:t>
            </a:r>
            <a:endParaRPr/>
          </a:p>
        </p:txBody>
      </p:sp>
      <p:sp>
        <p:nvSpPr>
          <p:cNvPr id="3076" name="Google Shape;3076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$1,007,082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077" name="Google Shape;3077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$567,710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78" name="Google Shape;3078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$349,807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79" name="Google Shape;3079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$89,565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80" name="Google Shape;3080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$-475,143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81" name="Google Shape;3081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$5,582,230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082" name="Google Shape;3082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$3,794,556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083" name="Google Shape;3083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084" name="Google Shape;3084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85" name="Google Shape;3085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086" name="Google Shape;3086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087" name="Google Shape;3087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$220,080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088" name="Google Shape;3088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$1,243,356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089" name="Google Shape;3089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0" name="Google Shape;3090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091" name="Google Shape;3091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092" name="Google Shape;3092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093" name="Google Shape;3093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94" name="Google Shape;3094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95" name="Google Shape;3095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96" name="Google Shape;3096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97" name="Google Shape;3097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8" name="Google Shape;3098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099" name="Google Shape;3099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$157,976</a:t>
            </a:r>
            <a:endParaRPr/>
          </a:p>
        </p:txBody>
      </p:sp>
      <p:sp>
        <p:nvSpPr>
          <p:cNvPr id="3100" name="Google Shape;3100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$64,264</a:t>
            </a:r>
            <a:endParaRPr/>
          </a:p>
        </p:txBody>
      </p:sp>
      <p:sp>
        <p:nvSpPr>
          <p:cNvPr id="3101" name="Google Shape;3101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$82,684</a:t>
            </a:r>
            <a:endParaRPr/>
          </a:p>
        </p:txBody>
      </p:sp>
      <p:sp>
        <p:nvSpPr>
          <p:cNvPr id="3102" name="Google Shape;3102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$11,028</a:t>
            </a:r>
            <a:endParaRPr/>
          </a:p>
        </p:txBody>
      </p:sp>
      <p:sp>
        <p:nvSpPr>
          <p:cNvPr id="3103" name="Google Shape;3103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$-173,320</a:t>
            </a:r>
            <a:endParaRPr/>
          </a:p>
        </p:txBody>
      </p:sp>
      <p:sp>
        <p:nvSpPr>
          <p:cNvPr id="3104" name="Google Shape;3104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5" name="Google Shape;3105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06" name="Google Shape;3106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$71,058</a:t>
            </a:r>
            <a:endParaRPr/>
          </a:p>
        </p:txBody>
      </p:sp>
      <p:sp>
        <p:nvSpPr>
          <p:cNvPr id="3107" name="Google Shape;3107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$38,646</a:t>
            </a:r>
            <a:endParaRPr/>
          </a:p>
        </p:txBody>
      </p:sp>
      <p:sp>
        <p:nvSpPr>
          <p:cNvPr id="3108" name="Google Shape;3108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$20,807</a:t>
            </a:r>
            <a:endParaRPr/>
          </a:p>
        </p:txBody>
      </p:sp>
      <p:sp>
        <p:nvSpPr>
          <p:cNvPr id="3109" name="Google Shape;3109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$11,605</a:t>
            </a:r>
            <a:endParaRPr/>
          </a:p>
        </p:txBody>
      </p:sp>
      <p:sp>
        <p:nvSpPr>
          <p:cNvPr id="3110" name="Google Shape;3110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$-32,380</a:t>
            </a:r>
            <a:endParaRPr/>
          </a:p>
        </p:txBody>
      </p:sp>
      <p:sp>
        <p:nvSpPr>
          <p:cNvPr id="3111" name="Google Shape;3111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2" name="Google Shape;3112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13" name="Google Shape;3113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$296,715</a:t>
            </a:r>
            <a:endParaRPr/>
          </a:p>
        </p:txBody>
      </p:sp>
      <p:sp>
        <p:nvSpPr>
          <p:cNvPr id="3114" name="Google Shape;3114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$113,101</a:t>
            </a:r>
            <a:endParaRPr/>
          </a:p>
        </p:txBody>
      </p:sp>
      <p:sp>
        <p:nvSpPr>
          <p:cNvPr id="3115" name="Google Shape;3115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$122,185</a:t>
            </a:r>
            <a:endParaRPr/>
          </a:p>
        </p:txBody>
      </p:sp>
      <p:sp>
        <p:nvSpPr>
          <p:cNvPr id="3116" name="Google Shape;3116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$61,429</a:t>
            </a:r>
            <a:endParaRPr/>
          </a:p>
        </p:txBody>
      </p:sp>
      <p:sp>
        <p:nvSpPr>
          <p:cNvPr id="3117" name="Google Shape;3117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$-94,557</a:t>
            </a:r>
            <a:endParaRPr/>
          </a:p>
        </p:txBody>
      </p:sp>
      <p:sp>
        <p:nvSpPr>
          <p:cNvPr id="3118" name="Google Shape;3118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9" name="Google Shape;3119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20" name="Google Shape;3120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$270,070</a:t>
            </a:r>
            <a:endParaRPr/>
          </a:p>
        </p:txBody>
      </p:sp>
      <p:sp>
        <p:nvSpPr>
          <p:cNvPr id="3121" name="Google Shape;3121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$212,437</a:t>
            </a:r>
            <a:endParaRPr/>
          </a:p>
        </p:txBody>
      </p:sp>
      <p:sp>
        <p:nvSpPr>
          <p:cNvPr id="3122" name="Google Shape;3122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$45,540</a:t>
            </a:r>
            <a:endParaRPr/>
          </a:p>
        </p:txBody>
      </p:sp>
      <p:sp>
        <p:nvSpPr>
          <p:cNvPr id="3123" name="Google Shape;3123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$12,094</a:t>
            </a:r>
            <a:endParaRPr/>
          </a:p>
        </p:txBody>
      </p:sp>
      <p:sp>
        <p:nvSpPr>
          <p:cNvPr id="3124" name="Google Shape;3124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$-89,996</a:t>
            </a:r>
            <a:endParaRPr/>
          </a:p>
        </p:txBody>
      </p:sp>
      <p:sp>
        <p:nvSpPr>
          <p:cNvPr id="3125" name="Google Shape;3125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6" name="Google Shape;3126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27" name="Google Shape;3127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$211,262</a:t>
            </a:r>
            <a:endParaRPr/>
          </a:p>
        </p:txBody>
      </p:sp>
      <p:sp>
        <p:nvSpPr>
          <p:cNvPr id="3128" name="Google Shape;3128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$139,262</a:t>
            </a:r>
            <a:endParaRPr/>
          </a:p>
        </p:txBody>
      </p:sp>
      <p:sp>
        <p:nvSpPr>
          <p:cNvPr id="3129" name="Google Shape;3129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$78,591</a:t>
            </a:r>
            <a:endParaRPr/>
          </a:p>
        </p:txBody>
      </p:sp>
      <p:sp>
        <p:nvSpPr>
          <p:cNvPr id="3130" name="Google Shape;3130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$-6,590</a:t>
            </a:r>
            <a:endParaRPr/>
          </a:p>
        </p:txBody>
      </p:sp>
      <p:sp>
        <p:nvSpPr>
          <p:cNvPr id="3131" name="Google Shape;3131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$-84,890</a:t>
            </a:r>
            <a:endParaRPr/>
          </a:p>
        </p:txBody>
      </p:sp>
      <p:sp>
        <p:nvSpPr>
          <p:cNvPr id="3132" name="Google Shape;3132;p2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3" name="Google Shape;3133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34" name="Google Shape;3134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$1,007,082</a:t>
            </a:r>
            <a:endParaRPr/>
          </a:p>
        </p:txBody>
      </p:sp>
      <p:sp>
        <p:nvSpPr>
          <p:cNvPr id="3135" name="Google Shape;3135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$567,710</a:t>
            </a:r>
            <a:endParaRPr/>
          </a:p>
        </p:txBody>
      </p:sp>
      <p:sp>
        <p:nvSpPr>
          <p:cNvPr id="3136" name="Google Shape;3136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$349,807</a:t>
            </a:r>
            <a:endParaRPr/>
          </a:p>
        </p:txBody>
      </p:sp>
      <p:sp>
        <p:nvSpPr>
          <p:cNvPr id="3137" name="Google Shape;3137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$89,565</a:t>
            </a:r>
            <a:endParaRPr/>
          </a:p>
        </p:txBody>
      </p:sp>
      <p:sp>
        <p:nvSpPr>
          <p:cNvPr id="3138" name="Google Shape;3138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$-475,143</a:t>
            </a:r>
            <a:endParaRPr/>
          </a:p>
        </p:txBody>
      </p:sp>
      <p:sp>
        <p:nvSpPr>
          <p:cNvPr id="3139" name="Google Shape;3139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0" name="Google Shape;3140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141" name="Google Shape;3141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42" name="Google Shape;3142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143" name="Google Shape;3143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144" name="Google Shape;3144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145" name="Google Shape;3145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46" name="Google Shape;3146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47" name="Google Shape;3147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8" name="Google Shape;3148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49" name="Google Shape;3149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214</a:t>
            </a:r>
            <a:endParaRPr/>
          </a:p>
        </p:txBody>
      </p:sp>
      <p:sp>
        <p:nvSpPr>
          <p:cNvPr id="3150" name="Google Shape;3150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151" name="Google Shape;3151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</a:t>
            </a:r>
            <a:endParaRPr/>
          </a:p>
        </p:txBody>
      </p:sp>
      <p:sp>
        <p:nvSpPr>
          <p:cNvPr id="3152" name="Google Shape;3152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3153" name="Google Shape;3153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16.4%</a:t>
            </a:r>
            <a:endParaRPr/>
          </a:p>
        </p:txBody>
      </p:sp>
      <p:sp>
        <p:nvSpPr>
          <p:cNvPr id="3154" name="Google Shape;3154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5" name="Google Shape;3155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56" name="Google Shape;3156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193</a:t>
            </a:r>
            <a:endParaRPr/>
          </a:p>
        </p:txBody>
      </p:sp>
      <p:sp>
        <p:nvSpPr>
          <p:cNvPr id="3157" name="Google Shape;3157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158" name="Google Shape;3158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185</a:t>
            </a:r>
            <a:endParaRPr/>
          </a:p>
        </p:txBody>
      </p:sp>
      <p:sp>
        <p:nvSpPr>
          <p:cNvPr id="3159" name="Google Shape;3159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3160" name="Google Shape;3160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19.2%</a:t>
            </a:r>
            <a:endParaRPr/>
          </a:p>
        </p:txBody>
      </p:sp>
      <p:sp>
        <p:nvSpPr>
          <p:cNvPr id="3161" name="Google Shape;3161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2" name="Google Shape;3162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63" name="Google Shape;3163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3164" name="Google Shape;3164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165" name="Google Shape;3165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184</a:t>
            </a:r>
            <a:endParaRPr/>
          </a:p>
        </p:txBody>
      </p:sp>
      <p:sp>
        <p:nvSpPr>
          <p:cNvPr id="3166" name="Google Shape;3166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3167" name="Google Shape;3167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18.0%</a:t>
            </a:r>
            <a:endParaRPr/>
          </a:p>
        </p:txBody>
      </p:sp>
      <p:sp>
        <p:nvSpPr>
          <p:cNvPr id="3168" name="Google Shape;3168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9" name="Google Shape;3169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70" name="Google Shape;3170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239</a:t>
            </a:r>
            <a:endParaRPr/>
          </a:p>
        </p:txBody>
      </p:sp>
      <p:sp>
        <p:nvSpPr>
          <p:cNvPr id="3171" name="Google Shape;3171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172" name="Google Shape;3172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230</a:t>
            </a:r>
            <a:endParaRPr/>
          </a:p>
        </p:txBody>
      </p:sp>
      <p:sp>
        <p:nvSpPr>
          <p:cNvPr id="3173" name="Google Shape;3173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3174" name="Google Shape;3174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17.2%</a:t>
            </a:r>
            <a:endParaRPr/>
          </a:p>
        </p:txBody>
      </p:sp>
      <p:sp>
        <p:nvSpPr>
          <p:cNvPr id="3175" name="Google Shape;3175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6" name="Google Shape;3176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77" name="Google Shape;3177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</a:t>
            </a:r>
            <a:endParaRPr/>
          </a:p>
        </p:txBody>
      </p:sp>
      <p:sp>
        <p:nvSpPr>
          <p:cNvPr id="3178" name="Google Shape;3178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179" name="Google Shape;3179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197</a:t>
            </a:r>
            <a:endParaRPr/>
          </a:p>
        </p:txBody>
      </p:sp>
      <p:sp>
        <p:nvSpPr>
          <p:cNvPr id="3180" name="Google Shape;3180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181" name="Google Shape;3181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15.3%</a:t>
            </a:r>
            <a:endParaRPr/>
          </a:p>
        </p:txBody>
      </p:sp>
      <p:sp>
        <p:nvSpPr>
          <p:cNvPr id="3182" name="Google Shape;3182;p2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3" name="Google Shape;3183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84" name="Google Shape;3184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885</a:t>
            </a:r>
            <a:endParaRPr/>
          </a:p>
        </p:txBody>
      </p:sp>
      <p:sp>
        <p:nvSpPr>
          <p:cNvPr id="3185" name="Google Shape;3185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186" name="Google Shape;3186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854</a:t>
            </a:r>
            <a:endParaRPr/>
          </a:p>
        </p:txBody>
      </p:sp>
      <p:sp>
        <p:nvSpPr>
          <p:cNvPr id="3187" name="Google Shape;3187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3188" name="Google Shape;3188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3189" name="Google Shape;3189;p2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0" name="Google Shape;3190;p2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191" name="Google Shape;3191;p2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92" name="Google Shape;3192;p2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193" name="Google Shape;3193;p2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194" name="Google Shape;3194;p2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195" name="Google Shape;3195;p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196" name="Google Shape;3196;p2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197" name="Google Shape;3197;p2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198" name="Google Shape;3198;p2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199" name="Google Shape;3199;p2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200" name="Google Shape;3200;p2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201" name="Google Shape;3201;p2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202" name="Google Shape;3202;p2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203" name="Google Shape;3203;p2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204" name="Google Shape;3204;p2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05" name="Google Shape;3205;p2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</a:t>
            </a:r>
            <a:endParaRPr/>
          </a:p>
        </p:txBody>
      </p:sp>
      <p:sp>
        <p:nvSpPr>
          <p:cNvPr id="3206" name="Google Shape;3206;p2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214</a:t>
            </a:r>
            <a:endParaRPr/>
          </a:p>
        </p:txBody>
      </p:sp>
      <p:sp>
        <p:nvSpPr>
          <p:cNvPr id="3207" name="Google Shape;3207;p2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216</a:t>
            </a:r>
            <a:endParaRPr/>
          </a:p>
        </p:txBody>
      </p:sp>
      <p:sp>
        <p:nvSpPr>
          <p:cNvPr id="3208" name="Google Shape;3208;p2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193</a:t>
            </a:r>
            <a:endParaRPr/>
          </a:p>
        </p:txBody>
      </p:sp>
      <p:sp>
        <p:nvSpPr>
          <p:cNvPr id="3209" name="Google Shape;3209;p2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289</a:t>
            </a:r>
            <a:endParaRPr/>
          </a:p>
        </p:txBody>
      </p:sp>
      <p:sp>
        <p:nvSpPr>
          <p:cNvPr id="3210" name="Google Shape;3210;p2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3211" name="Google Shape;3211;p2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3212" name="Google Shape;3212;p2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239</a:t>
            </a:r>
            <a:endParaRPr/>
          </a:p>
        </p:txBody>
      </p:sp>
      <p:sp>
        <p:nvSpPr>
          <p:cNvPr id="3213" name="Google Shape;3213;p2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</a:t>
            </a:r>
            <a:endParaRPr/>
          </a:p>
        </p:txBody>
      </p:sp>
      <p:sp>
        <p:nvSpPr>
          <p:cNvPr id="3214" name="Google Shape;3214;p2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</a:t>
            </a:r>
            <a:endParaRPr/>
          </a:p>
        </p:txBody>
      </p:sp>
      <p:sp>
        <p:nvSpPr>
          <p:cNvPr id="3215" name="Google Shape;3215;p2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1271</a:t>
            </a:r>
            <a:endParaRPr/>
          </a:p>
        </p:txBody>
      </p:sp>
      <p:sp>
        <p:nvSpPr>
          <p:cNvPr id="3216" name="Google Shape;3216;p2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1037</a:t>
            </a:r>
            <a:endParaRPr/>
          </a:p>
        </p:txBody>
      </p:sp>
      <p:sp>
        <p:nvSpPr>
          <p:cNvPr id="3217" name="Google Shape;3217;p2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218" name="Google Shape;3218;p2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$647K</a:t>
            </a:r>
            <a:endParaRPr/>
          </a:p>
        </p:txBody>
      </p:sp>
      <p:sp>
        <p:nvSpPr>
          <p:cNvPr id="3219" name="Google Shape;3219;p2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$158K</a:t>
            </a:r>
            <a:endParaRPr/>
          </a:p>
        </p:txBody>
      </p:sp>
      <p:sp>
        <p:nvSpPr>
          <p:cNvPr id="3220" name="Google Shape;3220;p2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$449K</a:t>
            </a:r>
            <a:endParaRPr/>
          </a:p>
        </p:txBody>
      </p:sp>
      <p:sp>
        <p:nvSpPr>
          <p:cNvPr id="3221" name="Google Shape;3221;p2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$71K</a:t>
            </a:r>
            <a:endParaRPr/>
          </a:p>
        </p:txBody>
      </p:sp>
      <p:sp>
        <p:nvSpPr>
          <p:cNvPr id="3222" name="Google Shape;3222;p2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$761K</a:t>
            </a:r>
            <a:endParaRPr/>
          </a:p>
        </p:txBody>
      </p:sp>
      <p:sp>
        <p:nvSpPr>
          <p:cNvPr id="3223" name="Google Shape;3223;p2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$297K</a:t>
            </a:r>
            <a:endParaRPr/>
          </a:p>
        </p:txBody>
      </p:sp>
      <p:sp>
        <p:nvSpPr>
          <p:cNvPr id="3224" name="Google Shape;3224;p2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$351K</a:t>
            </a:r>
            <a:endParaRPr/>
          </a:p>
        </p:txBody>
      </p:sp>
      <p:sp>
        <p:nvSpPr>
          <p:cNvPr id="3225" name="Google Shape;3225;p2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$270K</a:t>
            </a:r>
            <a:endParaRPr/>
          </a:p>
        </p:txBody>
      </p:sp>
      <p:sp>
        <p:nvSpPr>
          <p:cNvPr id="3226" name="Google Shape;3226;p2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$587K</a:t>
            </a:r>
            <a:endParaRPr/>
          </a:p>
        </p:txBody>
      </p:sp>
      <p:sp>
        <p:nvSpPr>
          <p:cNvPr id="3227" name="Google Shape;3227;p2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$211K</a:t>
            </a:r>
            <a:endParaRPr/>
          </a:p>
        </p:txBody>
      </p:sp>
      <p:sp>
        <p:nvSpPr>
          <p:cNvPr id="3228" name="Google Shape;3228;p2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$2.8M</a:t>
            </a:r>
            <a:endParaRPr/>
          </a:p>
        </p:txBody>
      </p:sp>
      <p:sp>
        <p:nvSpPr>
          <p:cNvPr id="3229" name="Google Shape;3229;p2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$1.0M</a:t>
            </a:r>
            <a:endParaRPr/>
          </a:p>
        </p:txBody>
      </p:sp>
      <p:sp>
        <p:nvSpPr>
          <p:cNvPr id="3230" name="Google Shape;3230;p2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1" name="Google Shape;3231;p2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232" name="Google Shape;3232;p2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33" name="Google Shape;3233;p2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$1,007,082 YTD gross written premium</a:t>
            </a:r>
            <a:endParaRPr/>
          </a:p>
        </p:txBody>
      </p:sp>
      <p:sp>
        <p:nvSpPr>
          <p:cNvPr id="3234" name="Google Shape;3234;p2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35" name="Google Shape;3235;p2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$567,710 in new business production</a:t>
            </a:r>
            <a:endParaRPr/>
          </a:p>
        </p:txBody>
      </p:sp>
      <p:sp>
        <p:nvSpPr>
          <p:cNvPr id="3236" name="Google Shape;3236;p2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7" name="Google Shape;3237;p2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238" name="Google Shape;3238;p2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39" name="Google Shape;3239;p2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84% of new business ($475,143)</a:t>
            </a:r>
            <a:endParaRPr/>
          </a:p>
        </p:txBody>
      </p:sp>
      <p:sp>
        <p:nvSpPr>
          <p:cNvPr id="3240" name="Google Shape;3240;p2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1" name="Google Shape;3241;p2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242" name="Google Shape;3242;p2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243" name="Google Shape;3243;p2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$567,710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244" name="Google Shape;3244;p2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245" name="Google Shape;3245;p2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$475,143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49" name="Shape 3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0" name="Google Shape;3250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1" name="Google Shape;3251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Surefire Insurance Agency Corp.</a:t>
            </a:r>
            <a:endParaRPr/>
          </a:p>
        </p:txBody>
      </p:sp>
      <p:sp>
        <p:nvSpPr>
          <p:cNvPr id="3252" name="Google Shape;3252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N/A  |  Region: Southwest  |  State: CA  |  City: Encino</a:t>
            </a:r>
            <a:endParaRPr/>
          </a:p>
        </p:txBody>
      </p:sp>
      <p:sp>
        <p:nvSpPr>
          <p:cNvPr id="3253" name="Google Shape;3253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$902,116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254" name="Google Shape;3254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$225,531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55" name="Google Shape;3255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$260,234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56" name="Google Shape;3256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$416,351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57" name="Google Shape;3257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$-379,535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58" name="Google Shape;3258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$3,442,404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259" name="Google Shape;3259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$3,478,250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260" name="Google Shape;3260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261" name="Google Shape;3261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62" name="Google Shape;3262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63" name="Google Shape;3263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64" name="Google Shape;3264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$907,912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265" name="Google Shape;3265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$497,834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266" name="Google Shape;3266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7" name="Google Shape;3267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268" name="Google Shape;3268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69" name="Google Shape;3269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270" name="Google Shape;3270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71" name="Google Shape;3271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72" name="Google Shape;3272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73" name="Google Shape;3273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74" name="Google Shape;3274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5" name="Google Shape;3275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76" name="Google Shape;3276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$120,916</a:t>
            </a:r>
            <a:endParaRPr/>
          </a:p>
        </p:txBody>
      </p:sp>
      <p:sp>
        <p:nvSpPr>
          <p:cNvPr id="3277" name="Google Shape;3277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$72,959</a:t>
            </a:r>
            <a:endParaRPr/>
          </a:p>
        </p:txBody>
      </p:sp>
      <p:sp>
        <p:nvSpPr>
          <p:cNvPr id="3278" name="Google Shape;3278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9" name="Google Shape;3279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$47,957</a:t>
            </a:r>
            <a:endParaRPr/>
          </a:p>
        </p:txBody>
      </p:sp>
      <p:sp>
        <p:nvSpPr>
          <p:cNvPr id="3280" name="Google Shape;3280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$-18,384</a:t>
            </a:r>
            <a:endParaRPr/>
          </a:p>
        </p:txBody>
      </p:sp>
      <p:sp>
        <p:nvSpPr>
          <p:cNvPr id="3281" name="Google Shape;3281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2" name="Google Shape;3282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283" name="Google Shape;3283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$148,084</a:t>
            </a:r>
            <a:endParaRPr/>
          </a:p>
        </p:txBody>
      </p:sp>
      <p:sp>
        <p:nvSpPr>
          <p:cNvPr id="3284" name="Google Shape;3284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$70,541</a:t>
            </a:r>
            <a:endParaRPr/>
          </a:p>
        </p:txBody>
      </p:sp>
      <p:sp>
        <p:nvSpPr>
          <p:cNvPr id="3285" name="Google Shape;3285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6" name="Google Shape;3286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$77,543</a:t>
            </a:r>
            <a:endParaRPr/>
          </a:p>
        </p:txBody>
      </p:sp>
      <p:sp>
        <p:nvSpPr>
          <p:cNvPr id="3287" name="Google Shape;3287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$-30,497</a:t>
            </a:r>
            <a:endParaRPr/>
          </a:p>
        </p:txBody>
      </p:sp>
      <p:sp>
        <p:nvSpPr>
          <p:cNvPr id="3288" name="Google Shape;3288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9" name="Google Shape;3289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290" name="Google Shape;3290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$260,980</a:t>
            </a:r>
            <a:endParaRPr/>
          </a:p>
        </p:txBody>
      </p:sp>
      <p:sp>
        <p:nvSpPr>
          <p:cNvPr id="3291" name="Google Shape;3291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$67,624</a:t>
            </a:r>
            <a:endParaRPr/>
          </a:p>
        </p:txBody>
      </p:sp>
      <p:sp>
        <p:nvSpPr>
          <p:cNvPr id="3292" name="Google Shape;3292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$37,799</a:t>
            </a:r>
            <a:endParaRPr/>
          </a:p>
        </p:txBody>
      </p:sp>
      <p:sp>
        <p:nvSpPr>
          <p:cNvPr id="3293" name="Google Shape;3293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$155,557</a:t>
            </a:r>
            <a:endParaRPr/>
          </a:p>
        </p:txBody>
      </p:sp>
      <p:sp>
        <p:nvSpPr>
          <p:cNvPr id="3294" name="Google Shape;3294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$-103,129</a:t>
            </a:r>
            <a:endParaRPr/>
          </a:p>
        </p:txBody>
      </p:sp>
      <p:sp>
        <p:nvSpPr>
          <p:cNvPr id="3295" name="Google Shape;3295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6" name="Google Shape;3296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297" name="Google Shape;3297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$209,576</a:t>
            </a:r>
            <a:endParaRPr/>
          </a:p>
        </p:txBody>
      </p:sp>
      <p:sp>
        <p:nvSpPr>
          <p:cNvPr id="3298" name="Google Shape;3298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$14,406</a:t>
            </a:r>
            <a:endParaRPr/>
          </a:p>
        </p:txBody>
      </p:sp>
      <p:sp>
        <p:nvSpPr>
          <p:cNvPr id="3299" name="Google Shape;3299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$135,102</a:t>
            </a:r>
            <a:endParaRPr/>
          </a:p>
        </p:txBody>
      </p:sp>
      <p:sp>
        <p:nvSpPr>
          <p:cNvPr id="3300" name="Google Shape;3300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$60,068</a:t>
            </a:r>
            <a:endParaRPr/>
          </a:p>
        </p:txBody>
      </p:sp>
      <p:sp>
        <p:nvSpPr>
          <p:cNvPr id="3301" name="Google Shape;3301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$-90,166</a:t>
            </a:r>
            <a:endParaRPr/>
          </a:p>
        </p:txBody>
      </p:sp>
      <p:sp>
        <p:nvSpPr>
          <p:cNvPr id="3302" name="Google Shape;3302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3" name="Google Shape;3303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04" name="Google Shape;3304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$162,560</a:t>
            </a:r>
            <a:endParaRPr/>
          </a:p>
        </p:txBody>
      </p:sp>
      <p:sp>
        <p:nvSpPr>
          <p:cNvPr id="3305" name="Google Shape;3305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6" name="Google Shape;3306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$87,333</a:t>
            </a:r>
            <a:endParaRPr/>
          </a:p>
        </p:txBody>
      </p:sp>
      <p:sp>
        <p:nvSpPr>
          <p:cNvPr id="3307" name="Google Shape;3307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$75,227</a:t>
            </a:r>
            <a:endParaRPr/>
          </a:p>
        </p:txBody>
      </p:sp>
      <p:sp>
        <p:nvSpPr>
          <p:cNvPr id="3308" name="Google Shape;3308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$-137,358</a:t>
            </a:r>
            <a:endParaRPr/>
          </a:p>
        </p:txBody>
      </p:sp>
      <p:sp>
        <p:nvSpPr>
          <p:cNvPr id="3309" name="Google Shape;3309;p2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0" name="Google Shape;3310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11" name="Google Shape;3311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$902,116</a:t>
            </a:r>
            <a:endParaRPr/>
          </a:p>
        </p:txBody>
      </p:sp>
      <p:sp>
        <p:nvSpPr>
          <p:cNvPr id="3312" name="Google Shape;3312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$225,531</a:t>
            </a:r>
            <a:endParaRPr/>
          </a:p>
        </p:txBody>
      </p:sp>
      <p:sp>
        <p:nvSpPr>
          <p:cNvPr id="3313" name="Google Shape;3313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$260,234</a:t>
            </a:r>
            <a:endParaRPr/>
          </a:p>
        </p:txBody>
      </p:sp>
      <p:sp>
        <p:nvSpPr>
          <p:cNvPr id="3314" name="Google Shape;3314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$416,351</a:t>
            </a:r>
            <a:endParaRPr/>
          </a:p>
        </p:txBody>
      </p:sp>
      <p:sp>
        <p:nvSpPr>
          <p:cNvPr id="3315" name="Google Shape;3315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$-379,535</a:t>
            </a:r>
            <a:endParaRPr/>
          </a:p>
        </p:txBody>
      </p:sp>
      <p:sp>
        <p:nvSpPr>
          <p:cNvPr id="3316" name="Google Shape;3316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7" name="Google Shape;3317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318" name="Google Shape;3318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19" name="Google Shape;3319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320" name="Google Shape;3320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321" name="Google Shape;3321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322" name="Google Shape;3322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23" name="Google Shape;3323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24" name="Google Shape;3324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5" name="Google Shape;3325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26" name="Google Shape;3326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327" name="Google Shape;3327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328" name="Google Shape;3328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3329" name="Google Shape;3329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330" name="Google Shape;3330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3331" name="Google Shape;3331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2" name="Google Shape;3332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33" name="Google Shape;3333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334" name="Google Shape;3334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335" name="Google Shape;3335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3336" name="Google Shape;3336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337" name="Google Shape;3337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44.0%</a:t>
            </a:r>
            <a:endParaRPr/>
          </a:p>
        </p:txBody>
      </p:sp>
      <p:sp>
        <p:nvSpPr>
          <p:cNvPr id="3338" name="Google Shape;3338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9" name="Google Shape;3339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40" name="Google Shape;3340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3341" name="Google Shape;3341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342" name="Google Shape;3342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343" name="Google Shape;3343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344" name="Google Shape;3344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43.1%</a:t>
            </a:r>
            <a:endParaRPr/>
          </a:p>
        </p:txBody>
      </p:sp>
      <p:sp>
        <p:nvSpPr>
          <p:cNvPr id="3345" name="Google Shape;3345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6" name="Google Shape;3346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47" name="Google Shape;3347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3348" name="Google Shape;3348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349" name="Google Shape;3349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3350" name="Google Shape;3350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351" name="Google Shape;3351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3352" name="Google Shape;3352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3" name="Google Shape;3353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54" name="Google Shape;3354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355" name="Google Shape;3355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356" name="Google Shape;3356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357" name="Google Shape;3357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358" name="Google Shape;3358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3359" name="Google Shape;3359;p2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0" name="Google Shape;3360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61" name="Google Shape;3361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3362" name="Google Shape;3362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3363" name="Google Shape;3363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3364" name="Google Shape;3364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365" name="Google Shape;3365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21.3%</a:t>
            </a:r>
            <a:endParaRPr/>
          </a:p>
        </p:txBody>
      </p:sp>
      <p:sp>
        <p:nvSpPr>
          <p:cNvPr id="3366" name="Google Shape;3366;p2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7" name="Google Shape;3367;p2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368" name="Google Shape;3368;p2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69" name="Google Shape;3369;p2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370" name="Google Shape;3370;p2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371" name="Google Shape;3371;p2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372" name="Google Shape;3372;p2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373" name="Google Shape;3373;p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374" name="Google Shape;3374;p2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375" name="Google Shape;3375;p2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376" name="Google Shape;3376;p2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377" name="Google Shape;3377;p2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378" name="Google Shape;3378;p2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379" name="Google Shape;3379;p2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380" name="Google Shape;3380;p2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381" name="Google Shape;3381;p2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382" name="Google Shape;3382;p2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3383" name="Google Shape;3383;p2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384" name="Google Shape;3384;p2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385" name="Google Shape;3385;p2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386" name="Google Shape;3386;p2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3387" name="Google Shape;3387;p2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3388" name="Google Shape;3388;p2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3389" name="Google Shape;3389;p2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3390" name="Google Shape;3390;p2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3391" name="Google Shape;3391;p2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392" name="Google Shape;3392;p2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280</a:t>
            </a:r>
            <a:endParaRPr/>
          </a:p>
        </p:txBody>
      </p:sp>
      <p:sp>
        <p:nvSpPr>
          <p:cNvPr id="3393" name="Google Shape;3393;p2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236</a:t>
            </a:r>
            <a:endParaRPr/>
          </a:p>
        </p:txBody>
      </p:sp>
      <p:sp>
        <p:nvSpPr>
          <p:cNvPr id="3394" name="Google Shape;3394;p2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395" name="Google Shape;3395;p2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3396" name="Google Shape;3396;p2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3397" name="Google Shape;3397;p2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$99K</a:t>
            </a:r>
            <a:endParaRPr/>
          </a:p>
        </p:txBody>
      </p:sp>
      <p:sp>
        <p:nvSpPr>
          <p:cNvPr id="3398" name="Google Shape;3398;p2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$148K</a:t>
            </a:r>
            <a:endParaRPr/>
          </a:p>
        </p:txBody>
      </p:sp>
      <p:sp>
        <p:nvSpPr>
          <p:cNvPr id="3399" name="Google Shape;3399;p2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$202K</a:t>
            </a:r>
            <a:endParaRPr/>
          </a:p>
        </p:txBody>
      </p:sp>
      <p:sp>
        <p:nvSpPr>
          <p:cNvPr id="3400" name="Google Shape;3400;p2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$261K</a:t>
            </a:r>
            <a:endParaRPr/>
          </a:p>
        </p:txBody>
      </p:sp>
      <p:sp>
        <p:nvSpPr>
          <p:cNvPr id="3401" name="Google Shape;3401;p2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$308K</a:t>
            </a:r>
            <a:endParaRPr/>
          </a:p>
        </p:txBody>
      </p:sp>
      <p:sp>
        <p:nvSpPr>
          <p:cNvPr id="3402" name="Google Shape;3402;p2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$210K</a:t>
            </a:r>
            <a:endParaRPr/>
          </a:p>
        </p:txBody>
      </p:sp>
      <p:sp>
        <p:nvSpPr>
          <p:cNvPr id="3403" name="Google Shape;3403;p2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$229K</a:t>
            </a:r>
            <a:endParaRPr/>
          </a:p>
        </p:txBody>
      </p:sp>
      <p:sp>
        <p:nvSpPr>
          <p:cNvPr id="3404" name="Google Shape;3404;p2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$163K</a:t>
            </a:r>
            <a:endParaRPr/>
          </a:p>
        </p:txBody>
      </p:sp>
      <p:sp>
        <p:nvSpPr>
          <p:cNvPr id="3405" name="Google Shape;3405;p2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$866K</a:t>
            </a:r>
            <a:endParaRPr/>
          </a:p>
        </p:txBody>
      </p:sp>
      <p:sp>
        <p:nvSpPr>
          <p:cNvPr id="3406" name="Google Shape;3406;p2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$902K</a:t>
            </a:r>
            <a:endParaRPr/>
          </a:p>
        </p:txBody>
      </p:sp>
      <p:sp>
        <p:nvSpPr>
          <p:cNvPr id="3407" name="Google Shape;3407;p2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8" name="Google Shape;3408;p2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409" name="Google Shape;3409;p2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10" name="Google Shape;3410;p2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$902,116 YTD gross written premium</a:t>
            </a:r>
            <a:endParaRPr/>
          </a:p>
        </p:txBody>
      </p:sp>
      <p:sp>
        <p:nvSpPr>
          <p:cNvPr id="3411" name="Google Shape;3411;p2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12" name="Google Shape;3412;p2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$225,531 in new business production</a:t>
            </a:r>
            <a:endParaRPr/>
          </a:p>
        </p:txBody>
      </p:sp>
      <p:sp>
        <p:nvSpPr>
          <p:cNvPr id="3413" name="Google Shape;3413;p2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4" name="Google Shape;3414;p2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415" name="Google Shape;3415;p2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16" name="Google Shape;3416;p2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168% of new business ($379,535)</a:t>
            </a:r>
            <a:endParaRPr/>
          </a:p>
        </p:txBody>
      </p:sp>
      <p:sp>
        <p:nvSpPr>
          <p:cNvPr id="3417" name="Google Shape;3417;p2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18" name="Google Shape;3418;p2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66 to 21 MoM</a:t>
            </a:r>
            <a:endParaRPr/>
          </a:p>
        </p:txBody>
      </p:sp>
      <p:sp>
        <p:nvSpPr>
          <p:cNvPr id="3419" name="Google Shape;3419;p2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0" name="Google Shape;3420;p2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421" name="Google Shape;3421;p2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422" name="Google Shape;3422;p2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$225,531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423" name="Google Shape;3423;p2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424" name="Google Shape;3424;p2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$379,535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28" name="Shape 3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9" name="Google Shape;3429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0" name="Google Shape;3430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 Patty Insurance Services</a:t>
            </a:r>
            <a:endParaRPr/>
          </a:p>
        </p:txBody>
      </p:sp>
      <p:sp>
        <p:nvSpPr>
          <p:cNvPr id="3431" name="Google Shape;3431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Point Roberts</a:t>
            </a:r>
            <a:endParaRPr/>
          </a:p>
        </p:txBody>
      </p:sp>
      <p:sp>
        <p:nvSpPr>
          <p:cNvPr id="3432" name="Google Shape;3432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$737,836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433" name="Google Shape;3433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$240,050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34" name="Google Shape;3434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$437,382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35" name="Google Shape;3435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$60,403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36" name="Google Shape;3436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$-136,903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37" name="Google Shape;3437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$2,749,090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438" name="Google Shape;3438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$2,202,190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439" name="Google Shape;3439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440" name="Google Shape;3440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41" name="Google Shape;3441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42" name="Google Shape;3442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43" name="Google Shape;3443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$498,381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444" name="Google Shape;3444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$577,640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445" name="Google Shape;3445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6" name="Google Shape;3446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447" name="Google Shape;3447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48" name="Google Shape;3448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449" name="Google Shape;3449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50" name="Google Shape;3450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51" name="Google Shape;3451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52" name="Google Shape;3452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53" name="Google Shape;3453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4" name="Google Shape;3454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55" name="Google Shape;3455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$102,936</a:t>
            </a:r>
            <a:endParaRPr/>
          </a:p>
        </p:txBody>
      </p:sp>
      <p:sp>
        <p:nvSpPr>
          <p:cNvPr id="3456" name="Google Shape;3456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$81,485</a:t>
            </a:r>
            <a:endParaRPr/>
          </a:p>
        </p:txBody>
      </p:sp>
      <p:sp>
        <p:nvSpPr>
          <p:cNvPr id="3457" name="Google Shape;3457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$17,263</a:t>
            </a:r>
            <a:endParaRPr/>
          </a:p>
        </p:txBody>
      </p:sp>
      <p:sp>
        <p:nvSpPr>
          <p:cNvPr id="3458" name="Google Shape;3458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$4,188</a:t>
            </a:r>
            <a:endParaRPr/>
          </a:p>
        </p:txBody>
      </p:sp>
      <p:sp>
        <p:nvSpPr>
          <p:cNvPr id="3459" name="Google Shape;3459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$-24,269</a:t>
            </a:r>
            <a:endParaRPr/>
          </a:p>
        </p:txBody>
      </p:sp>
      <p:sp>
        <p:nvSpPr>
          <p:cNvPr id="3460" name="Google Shape;3460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1" name="Google Shape;3461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62" name="Google Shape;3462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$136,217</a:t>
            </a:r>
            <a:endParaRPr/>
          </a:p>
        </p:txBody>
      </p:sp>
      <p:sp>
        <p:nvSpPr>
          <p:cNvPr id="3463" name="Google Shape;3463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$37,968</a:t>
            </a:r>
            <a:endParaRPr/>
          </a:p>
        </p:txBody>
      </p:sp>
      <p:sp>
        <p:nvSpPr>
          <p:cNvPr id="3464" name="Google Shape;3464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$79,914</a:t>
            </a:r>
            <a:endParaRPr/>
          </a:p>
        </p:txBody>
      </p:sp>
      <p:sp>
        <p:nvSpPr>
          <p:cNvPr id="3465" name="Google Shape;3465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$18,335</a:t>
            </a:r>
            <a:endParaRPr/>
          </a:p>
        </p:txBody>
      </p:sp>
      <p:sp>
        <p:nvSpPr>
          <p:cNvPr id="3466" name="Google Shape;3466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$-31,367</a:t>
            </a:r>
            <a:endParaRPr/>
          </a:p>
        </p:txBody>
      </p:sp>
      <p:sp>
        <p:nvSpPr>
          <p:cNvPr id="3467" name="Google Shape;3467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8" name="Google Shape;3468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69" name="Google Shape;3469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$136,366</a:t>
            </a:r>
            <a:endParaRPr/>
          </a:p>
        </p:txBody>
      </p:sp>
      <p:sp>
        <p:nvSpPr>
          <p:cNvPr id="3470" name="Google Shape;3470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$34,579</a:t>
            </a:r>
            <a:endParaRPr/>
          </a:p>
        </p:txBody>
      </p:sp>
      <p:sp>
        <p:nvSpPr>
          <p:cNvPr id="3471" name="Google Shape;3471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$72,197</a:t>
            </a:r>
            <a:endParaRPr/>
          </a:p>
        </p:txBody>
      </p:sp>
      <p:sp>
        <p:nvSpPr>
          <p:cNvPr id="3472" name="Google Shape;3472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$29,591</a:t>
            </a:r>
            <a:endParaRPr/>
          </a:p>
        </p:txBody>
      </p:sp>
      <p:sp>
        <p:nvSpPr>
          <p:cNvPr id="3473" name="Google Shape;3473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$-68,437</a:t>
            </a:r>
            <a:endParaRPr/>
          </a:p>
        </p:txBody>
      </p:sp>
      <p:sp>
        <p:nvSpPr>
          <p:cNvPr id="3474" name="Google Shape;3474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5" name="Google Shape;3475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76" name="Google Shape;3476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$219,982</a:t>
            </a:r>
            <a:endParaRPr/>
          </a:p>
        </p:txBody>
      </p:sp>
      <p:sp>
        <p:nvSpPr>
          <p:cNvPr id="3477" name="Google Shape;3477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$62,684</a:t>
            </a:r>
            <a:endParaRPr/>
          </a:p>
        </p:txBody>
      </p:sp>
      <p:sp>
        <p:nvSpPr>
          <p:cNvPr id="3478" name="Google Shape;3478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$162,447</a:t>
            </a:r>
            <a:endParaRPr/>
          </a:p>
        </p:txBody>
      </p:sp>
      <p:sp>
        <p:nvSpPr>
          <p:cNvPr id="3479" name="Google Shape;3479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$-5,149</a:t>
            </a:r>
            <a:endParaRPr/>
          </a:p>
        </p:txBody>
      </p:sp>
      <p:sp>
        <p:nvSpPr>
          <p:cNvPr id="3480" name="Google Shape;3480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$-290</a:t>
            </a:r>
            <a:endParaRPr/>
          </a:p>
        </p:txBody>
      </p:sp>
      <p:sp>
        <p:nvSpPr>
          <p:cNvPr id="3481" name="Google Shape;3481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2" name="Google Shape;3482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483" name="Google Shape;3483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$142,333</a:t>
            </a:r>
            <a:endParaRPr/>
          </a:p>
        </p:txBody>
      </p:sp>
      <p:sp>
        <p:nvSpPr>
          <p:cNvPr id="3484" name="Google Shape;3484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$23,334</a:t>
            </a:r>
            <a:endParaRPr/>
          </a:p>
        </p:txBody>
      </p:sp>
      <p:sp>
        <p:nvSpPr>
          <p:cNvPr id="3485" name="Google Shape;3485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$105,562</a:t>
            </a:r>
            <a:endParaRPr/>
          </a:p>
        </p:txBody>
      </p:sp>
      <p:sp>
        <p:nvSpPr>
          <p:cNvPr id="3486" name="Google Shape;3486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$13,438</a:t>
            </a:r>
            <a:endParaRPr/>
          </a:p>
        </p:txBody>
      </p:sp>
      <p:sp>
        <p:nvSpPr>
          <p:cNvPr id="3487" name="Google Shape;3487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$-12,539</a:t>
            </a:r>
            <a:endParaRPr/>
          </a:p>
        </p:txBody>
      </p:sp>
      <p:sp>
        <p:nvSpPr>
          <p:cNvPr id="3488" name="Google Shape;3488;p2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9" name="Google Shape;3489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490" name="Google Shape;3490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$737,836</a:t>
            </a:r>
            <a:endParaRPr/>
          </a:p>
        </p:txBody>
      </p:sp>
      <p:sp>
        <p:nvSpPr>
          <p:cNvPr id="3491" name="Google Shape;3491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$240,050</a:t>
            </a:r>
            <a:endParaRPr/>
          </a:p>
        </p:txBody>
      </p:sp>
      <p:sp>
        <p:nvSpPr>
          <p:cNvPr id="3492" name="Google Shape;3492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$437,382</a:t>
            </a:r>
            <a:endParaRPr/>
          </a:p>
        </p:txBody>
      </p:sp>
      <p:sp>
        <p:nvSpPr>
          <p:cNvPr id="3493" name="Google Shape;3493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$60,403</a:t>
            </a:r>
            <a:endParaRPr/>
          </a:p>
        </p:txBody>
      </p:sp>
      <p:sp>
        <p:nvSpPr>
          <p:cNvPr id="3494" name="Google Shape;3494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$-136,903</a:t>
            </a:r>
            <a:endParaRPr/>
          </a:p>
        </p:txBody>
      </p:sp>
      <p:sp>
        <p:nvSpPr>
          <p:cNvPr id="3495" name="Google Shape;3495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6" name="Google Shape;3496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497" name="Google Shape;3497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98" name="Google Shape;3498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499" name="Google Shape;3499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500" name="Google Shape;3500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501" name="Google Shape;3501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02" name="Google Shape;3502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03" name="Google Shape;3503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4" name="Google Shape;3504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505" name="Google Shape;3505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</a:t>
            </a:r>
            <a:endParaRPr/>
          </a:p>
        </p:txBody>
      </p:sp>
      <p:sp>
        <p:nvSpPr>
          <p:cNvPr id="3506" name="Google Shape;3506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07" name="Google Shape;3507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107</a:t>
            </a:r>
            <a:endParaRPr/>
          </a:p>
        </p:txBody>
      </p:sp>
      <p:sp>
        <p:nvSpPr>
          <p:cNvPr id="3508" name="Google Shape;3508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509" name="Google Shape;3509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3510" name="Google Shape;3510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1" name="Google Shape;3511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512" name="Google Shape;3512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3513" name="Google Shape;3513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514" name="Google Shape;3514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3515" name="Google Shape;3515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516" name="Google Shape;3516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17.4%</a:t>
            </a:r>
            <a:endParaRPr/>
          </a:p>
        </p:txBody>
      </p:sp>
      <p:sp>
        <p:nvSpPr>
          <p:cNvPr id="3517" name="Google Shape;3517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8" name="Google Shape;3518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19" name="Google Shape;3519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3520" name="Google Shape;3520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21" name="Google Shape;3521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3522" name="Google Shape;3522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523" name="Google Shape;3523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12.6%</a:t>
            </a:r>
            <a:endParaRPr/>
          </a:p>
        </p:txBody>
      </p:sp>
      <p:sp>
        <p:nvSpPr>
          <p:cNvPr id="3524" name="Google Shape;3524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5" name="Google Shape;3525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26" name="Google Shape;3526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3527" name="Google Shape;3527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528" name="Google Shape;3528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3529" name="Google Shape;3529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530" name="Google Shape;3530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11.4%</a:t>
            </a:r>
            <a:endParaRPr/>
          </a:p>
        </p:txBody>
      </p:sp>
      <p:sp>
        <p:nvSpPr>
          <p:cNvPr id="3531" name="Google Shape;3531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2" name="Google Shape;3532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33" name="Google Shape;3533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3534" name="Google Shape;3534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535" name="Google Shape;3535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3536" name="Google Shape;3536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537" name="Google Shape;3537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11.9%</a:t>
            </a:r>
            <a:endParaRPr/>
          </a:p>
        </p:txBody>
      </p:sp>
      <p:sp>
        <p:nvSpPr>
          <p:cNvPr id="3538" name="Google Shape;3538;p2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9" name="Google Shape;3539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40" name="Google Shape;3540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433</a:t>
            </a:r>
            <a:endParaRPr/>
          </a:p>
        </p:txBody>
      </p:sp>
      <p:sp>
        <p:nvSpPr>
          <p:cNvPr id="3541" name="Google Shape;3541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542" name="Google Shape;3542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420</a:t>
            </a:r>
            <a:endParaRPr/>
          </a:p>
        </p:txBody>
      </p:sp>
      <p:sp>
        <p:nvSpPr>
          <p:cNvPr id="3543" name="Google Shape;3543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3544" name="Google Shape;3544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7.9%</a:t>
            </a:r>
            <a:endParaRPr/>
          </a:p>
        </p:txBody>
      </p:sp>
      <p:sp>
        <p:nvSpPr>
          <p:cNvPr id="3545" name="Google Shape;3545;p2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6" name="Google Shape;3546;p2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547" name="Google Shape;3547;p2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48" name="Google Shape;3548;p2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549" name="Google Shape;3549;p2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550" name="Google Shape;3550;p2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551" name="Google Shape;3551;p2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552" name="Google Shape;3552;p2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553" name="Google Shape;3553;p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554" name="Google Shape;3554;p2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555" name="Google Shape;3555;p2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556" name="Google Shape;3556;p2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557" name="Google Shape;3557;p2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558" name="Google Shape;3558;p2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559" name="Google Shape;3559;p2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560" name="Google Shape;3560;p2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61" name="Google Shape;3561;p2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115</a:t>
            </a:r>
            <a:endParaRPr/>
          </a:p>
        </p:txBody>
      </p:sp>
      <p:sp>
        <p:nvSpPr>
          <p:cNvPr id="3562" name="Google Shape;3562;p2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</a:t>
            </a:r>
            <a:endParaRPr/>
          </a:p>
        </p:txBody>
      </p:sp>
      <p:sp>
        <p:nvSpPr>
          <p:cNvPr id="3563" name="Google Shape;3563;p2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</a:t>
            </a:r>
            <a:endParaRPr/>
          </a:p>
        </p:txBody>
      </p:sp>
      <p:sp>
        <p:nvSpPr>
          <p:cNvPr id="3564" name="Google Shape;3564;p2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3565" name="Google Shape;3565;p2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3566" name="Google Shape;3566;p2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3567" name="Google Shape;3567;p2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145</a:t>
            </a:r>
            <a:endParaRPr/>
          </a:p>
        </p:txBody>
      </p:sp>
      <p:sp>
        <p:nvSpPr>
          <p:cNvPr id="3568" name="Google Shape;3568;p2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3569" name="Google Shape;3569;p2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3570" name="Google Shape;3570;p2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3571" name="Google Shape;3571;p2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697</a:t>
            </a:r>
            <a:endParaRPr/>
          </a:p>
        </p:txBody>
      </p:sp>
      <p:sp>
        <p:nvSpPr>
          <p:cNvPr id="3572" name="Google Shape;3572;p2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479</a:t>
            </a:r>
            <a:endParaRPr/>
          </a:p>
        </p:txBody>
      </p:sp>
      <p:sp>
        <p:nvSpPr>
          <p:cNvPr id="3573" name="Google Shape;3573;p2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574" name="Google Shape;3574;p2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$55K</a:t>
            </a:r>
            <a:endParaRPr/>
          </a:p>
        </p:txBody>
      </p:sp>
      <p:sp>
        <p:nvSpPr>
          <p:cNvPr id="3575" name="Google Shape;3575;p2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$103K</a:t>
            </a:r>
            <a:endParaRPr/>
          </a:p>
        </p:txBody>
      </p:sp>
      <p:sp>
        <p:nvSpPr>
          <p:cNvPr id="3576" name="Google Shape;3576;p2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$202K</a:t>
            </a:r>
            <a:endParaRPr/>
          </a:p>
        </p:txBody>
      </p:sp>
      <p:sp>
        <p:nvSpPr>
          <p:cNvPr id="3577" name="Google Shape;3577;p2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$136K</a:t>
            </a:r>
            <a:endParaRPr/>
          </a:p>
        </p:txBody>
      </p:sp>
      <p:sp>
        <p:nvSpPr>
          <p:cNvPr id="3578" name="Google Shape;3578;p2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$323K</a:t>
            </a:r>
            <a:endParaRPr/>
          </a:p>
        </p:txBody>
      </p:sp>
      <p:sp>
        <p:nvSpPr>
          <p:cNvPr id="3579" name="Google Shape;3579;p2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$136K</a:t>
            </a:r>
            <a:endParaRPr/>
          </a:p>
        </p:txBody>
      </p:sp>
      <p:sp>
        <p:nvSpPr>
          <p:cNvPr id="3580" name="Google Shape;3580;p2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$465K</a:t>
            </a:r>
            <a:endParaRPr/>
          </a:p>
        </p:txBody>
      </p:sp>
      <p:sp>
        <p:nvSpPr>
          <p:cNvPr id="3581" name="Google Shape;3581;p2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$220K</a:t>
            </a:r>
            <a:endParaRPr/>
          </a:p>
        </p:txBody>
      </p:sp>
      <p:sp>
        <p:nvSpPr>
          <p:cNvPr id="3582" name="Google Shape;3582;p2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$240K</a:t>
            </a:r>
            <a:endParaRPr/>
          </a:p>
        </p:txBody>
      </p:sp>
      <p:sp>
        <p:nvSpPr>
          <p:cNvPr id="3583" name="Google Shape;3583;p2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$142K</a:t>
            </a:r>
            <a:endParaRPr/>
          </a:p>
        </p:txBody>
      </p:sp>
      <p:sp>
        <p:nvSpPr>
          <p:cNvPr id="3584" name="Google Shape;3584;p2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$1.3M</a:t>
            </a:r>
            <a:endParaRPr/>
          </a:p>
        </p:txBody>
      </p:sp>
      <p:sp>
        <p:nvSpPr>
          <p:cNvPr id="3585" name="Google Shape;3585;p2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$738K</a:t>
            </a:r>
            <a:endParaRPr/>
          </a:p>
        </p:txBody>
      </p:sp>
      <p:sp>
        <p:nvSpPr>
          <p:cNvPr id="3586" name="Google Shape;3586;p2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7" name="Google Shape;3587;p2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588" name="Google Shape;3588;p2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89" name="Google Shape;3589;p2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$737,836 YTD gross written premium</a:t>
            </a:r>
            <a:endParaRPr/>
          </a:p>
        </p:txBody>
      </p:sp>
      <p:sp>
        <p:nvSpPr>
          <p:cNvPr id="3590" name="Google Shape;3590;p2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91" name="Google Shape;3591;p2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$240,050 in new business production</a:t>
            </a:r>
            <a:endParaRPr/>
          </a:p>
        </p:txBody>
      </p:sp>
      <p:sp>
        <p:nvSpPr>
          <p:cNvPr id="3592" name="Google Shape;3592;p2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3" name="Google Shape;3593;p2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594" name="Google Shape;3594;p2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595" name="Google Shape;3595;p2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57% of new business ($136,903)</a:t>
            </a:r>
            <a:endParaRPr/>
          </a:p>
        </p:txBody>
      </p:sp>
      <p:sp>
        <p:nvSpPr>
          <p:cNvPr id="3596" name="Google Shape;3596;p2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7" name="Google Shape;3597;p2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598" name="Google Shape;3598;p2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599" name="Google Shape;3599;p2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$240,050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600" name="Google Shape;3600;p2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601" name="Google Shape;3601;p2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$136,903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05" name="Shape 3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6" name="Google Shape;3606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7" name="Google Shape;3607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Limosa Insurance Services Inc</a:t>
            </a:r>
            <a:endParaRPr/>
          </a:p>
        </p:txBody>
      </p:sp>
      <p:sp>
        <p:nvSpPr>
          <p:cNvPr id="3608" name="Google Shape;3608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Irvine</a:t>
            </a:r>
            <a:endParaRPr/>
          </a:p>
        </p:txBody>
      </p:sp>
      <p:sp>
        <p:nvSpPr>
          <p:cNvPr id="3609" name="Google Shape;3609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$617,079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610" name="Google Shape;3610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$567,496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11" name="Google Shape;3611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12" name="Google Shape;3612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$49,582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13" name="Google Shape;3613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$-118,660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14" name="Google Shape;3614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$179,840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615" name="Google Shape;3615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$796,918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616" name="Google Shape;3616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617" name="Google Shape;3617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618" name="Google Shape;3618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19" name="Google Shape;3619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20" name="Google Shape;3620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$161,385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621" name="Google Shape;3621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$291,417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622" name="Google Shape;3622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3" name="Google Shape;3623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624" name="Google Shape;3624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25" name="Google Shape;3625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626" name="Google Shape;3626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27" name="Google Shape;3627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28" name="Google Shape;3628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29" name="Google Shape;3629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30" name="Google Shape;3630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1" name="Google Shape;3631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32" name="Google Shape;3632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$97,407</a:t>
            </a:r>
            <a:endParaRPr/>
          </a:p>
        </p:txBody>
      </p:sp>
      <p:sp>
        <p:nvSpPr>
          <p:cNvPr id="3633" name="Google Shape;3633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$96,887</a:t>
            </a:r>
            <a:endParaRPr/>
          </a:p>
        </p:txBody>
      </p:sp>
      <p:sp>
        <p:nvSpPr>
          <p:cNvPr id="3634" name="Google Shape;3634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5" name="Google Shape;3635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</a:t>
            </a:r>
            <a:endParaRPr/>
          </a:p>
        </p:txBody>
      </p:sp>
      <p:sp>
        <p:nvSpPr>
          <p:cNvPr id="3636" name="Google Shape;3636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$-7,662</a:t>
            </a:r>
            <a:endParaRPr/>
          </a:p>
        </p:txBody>
      </p:sp>
      <p:sp>
        <p:nvSpPr>
          <p:cNvPr id="3637" name="Google Shape;3637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8" name="Google Shape;3638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39" name="Google Shape;3639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$45,371</a:t>
            </a:r>
            <a:endParaRPr/>
          </a:p>
        </p:txBody>
      </p:sp>
      <p:sp>
        <p:nvSpPr>
          <p:cNvPr id="3640" name="Google Shape;3640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$25,047</a:t>
            </a:r>
            <a:endParaRPr/>
          </a:p>
        </p:txBody>
      </p:sp>
      <p:sp>
        <p:nvSpPr>
          <p:cNvPr id="3641" name="Google Shape;3641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2" name="Google Shape;3642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$20,324</a:t>
            </a:r>
            <a:endParaRPr/>
          </a:p>
        </p:txBody>
      </p:sp>
      <p:sp>
        <p:nvSpPr>
          <p:cNvPr id="3643" name="Google Shape;3643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$-19,103</a:t>
            </a:r>
            <a:endParaRPr/>
          </a:p>
        </p:txBody>
      </p:sp>
      <p:sp>
        <p:nvSpPr>
          <p:cNvPr id="3644" name="Google Shape;3644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5" name="Google Shape;3645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46" name="Google Shape;3646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$47,106</a:t>
            </a:r>
            <a:endParaRPr/>
          </a:p>
        </p:txBody>
      </p:sp>
      <p:sp>
        <p:nvSpPr>
          <p:cNvPr id="3647" name="Google Shape;3647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$20,658</a:t>
            </a:r>
            <a:endParaRPr/>
          </a:p>
        </p:txBody>
      </p:sp>
      <p:sp>
        <p:nvSpPr>
          <p:cNvPr id="3648" name="Google Shape;3648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9" name="Google Shape;3649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$26,448</a:t>
            </a:r>
            <a:endParaRPr/>
          </a:p>
        </p:txBody>
      </p:sp>
      <p:sp>
        <p:nvSpPr>
          <p:cNvPr id="3650" name="Google Shape;3650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$-16,359</a:t>
            </a:r>
            <a:endParaRPr/>
          </a:p>
        </p:txBody>
      </p:sp>
      <p:sp>
        <p:nvSpPr>
          <p:cNvPr id="3651" name="Google Shape;3651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2" name="Google Shape;3652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53" name="Google Shape;3653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$207,730</a:t>
            </a:r>
            <a:endParaRPr/>
          </a:p>
        </p:txBody>
      </p:sp>
      <p:sp>
        <p:nvSpPr>
          <p:cNvPr id="3654" name="Google Shape;3654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$206,862</a:t>
            </a:r>
            <a:endParaRPr/>
          </a:p>
        </p:txBody>
      </p:sp>
      <p:sp>
        <p:nvSpPr>
          <p:cNvPr id="3655" name="Google Shape;3655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6" name="Google Shape;3656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$868</a:t>
            </a:r>
            <a:endParaRPr/>
          </a:p>
        </p:txBody>
      </p:sp>
      <p:sp>
        <p:nvSpPr>
          <p:cNvPr id="3657" name="Google Shape;3657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$-37,341</a:t>
            </a:r>
            <a:endParaRPr/>
          </a:p>
        </p:txBody>
      </p:sp>
      <p:sp>
        <p:nvSpPr>
          <p:cNvPr id="3658" name="Google Shape;3658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9" name="Google Shape;3659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60" name="Google Shape;3660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$219,465</a:t>
            </a:r>
            <a:endParaRPr/>
          </a:p>
        </p:txBody>
      </p:sp>
      <p:sp>
        <p:nvSpPr>
          <p:cNvPr id="3661" name="Google Shape;3661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$218,042</a:t>
            </a:r>
            <a:endParaRPr/>
          </a:p>
        </p:txBody>
      </p:sp>
      <p:sp>
        <p:nvSpPr>
          <p:cNvPr id="3662" name="Google Shape;3662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3" name="Google Shape;3663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$1,423</a:t>
            </a:r>
            <a:endParaRPr/>
          </a:p>
        </p:txBody>
      </p:sp>
      <p:sp>
        <p:nvSpPr>
          <p:cNvPr id="3664" name="Google Shape;3664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$-38,196</a:t>
            </a:r>
            <a:endParaRPr/>
          </a:p>
        </p:txBody>
      </p:sp>
      <p:sp>
        <p:nvSpPr>
          <p:cNvPr id="3665" name="Google Shape;3665;p2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6" name="Google Shape;3666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67" name="Google Shape;3667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$617,079</a:t>
            </a:r>
            <a:endParaRPr/>
          </a:p>
        </p:txBody>
      </p:sp>
      <p:sp>
        <p:nvSpPr>
          <p:cNvPr id="3668" name="Google Shape;3668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$567,496</a:t>
            </a:r>
            <a:endParaRPr/>
          </a:p>
        </p:txBody>
      </p:sp>
      <p:sp>
        <p:nvSpPr>
          <p:cNvPr id="3669" name="Google Shape;3669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0" name="Google Shape;3670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$49,582</a:t>
            </a:r>
            <a:endParaRPr/>
          </a:p>
        </p:txBody>
      </p:sp>
      <p:sp>
        <p:nvSpPr>
          <p:cNvPr id="3671" name="Google Shape;3671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$-118,660</a:t>
            </a:r>
            <a:endParaRPr/>
          </a:p>
        </p:txBody>
      </p:sp>
      <p:sp>
        <p:nvSpPr>
          <p:cNvPr id="3672" name="Google Shape;3672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3" name="Google Shape;3673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674" name="Google Shape;3674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75" name="Google Shape;3675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676" name="Google Shape;3676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677" name="Google Shape;3677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678" name="Google Shape;3678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79" name="Google Shape;3679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80" name="Google Shape;3680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1" name="Google Shape;3681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82" name="Google Shape;3682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683" name="Google Shape;3683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684" name="Google Shape;3684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3685" name="Google Shape;3685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686" name="Google Shape;3686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9.8%</a:t>
            </a:r>
            <a:endParaRPr/>
          </a:p>
        </p:txBody>
      </p:sp>
      <p:sp>
        <p:nvSpPr>
          <p:cNvPr id="3687" name="Google Shape;3687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8" name="Google Shape;3688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89" name="Google Shape;3689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3690" name="Google Shape;3690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91" name="Google Shape;3691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3692" name="Google Shape;3692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693" name="Google Shape;3693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3694" name="Google Shape;3694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5" name="Google Shape;3695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96" name="Google Shape;3696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697" name="Google Shape;3697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698" name="Google Shape;3698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3699" name="Google Shape;3699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00" name="Google Shape;3700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8.0%</a:t>
            </a:r>
            <a:endParaRPr/>
          </a:p>
        </p:txBody>
      </p:sp>
      <p:sp>
        <p:nvSpPr>
          <p:cNvPr id="3701" name="Google Shape;3701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2" name="Google Shape;3702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03" name="Google Shape;3703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3704" name="Google Shape;3704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705" name="Google Shape;3705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3706" name="Google Shape;3706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707" name="Google Shape;3707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3708" name="Google Shape;3708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9" name="Google Shape;3709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710" name="Google Shape;3710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711" name="Google Shape;3711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712" name="Google Shape;3712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713" name="Google Shape;3713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14" name="Google Shape;3714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3715" name="Google Shape;3715;p2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6" name="Google Shape;3716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17" name="Google Shape;3717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3718" name="Google Shape;3718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719" name="Google Shape;3719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231</a:t>
            </a:r>
            <a:endParaRPr/>
          </a:p>
        </p:txBody>
      </p:sp>
      <p:sp>
        <p:nvSpPr>
          <p:cNvPr id="3720" name="Google Shape;3720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721" name="Google Shape;3721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3722" name="Google Shape;3722;p2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3" name="Google Shape;3723;p2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724" name="Google Shape;3724;p2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25" name="Google Shape;3725;p2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726" name="Google Shape;3726;p2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727" name="Google Shape;3727;p2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728" name="Google Shape;3728;p2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729" name="Google Shape;3729;p2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730" name="Google Shape;3730;p2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731" name="Google Shape;3731;p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732" name="Google Shape;3732;p2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733" name="Google Shape;3733;p2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734" name="Google Shape;3734;p2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735" name="Google Shape;3735;p2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736" name="Google Shape;3736;p2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737" name="Google Shape;3737;p2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38" name="Google Shape;3738;p2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39" name="Google Shape;3739;p2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740" name="Google Shape;3740;p2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41" name="Google Shape;3741;p2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3742" name="Google Shape;3742;p2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43" name="Google Shape;3743;p2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744" name="Google Shape;3744;p2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45" name="Google Shape;3745;p2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3746" name="Google Shape;3746;p2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47" name="Google Shape;3747;p2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748" name="Google Shape;3748;p2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49" name="Google Shape;3749;p2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277</a:t>
            </a:r>
            <a:endParaRPr/>
          </a:p>
        </p:txBody>
      </p:sp>
      <p:sp>
        <p:nvSpPr>
          <p:cNvPr id="3750" name="Google Shape;3750;p2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751" name="Google Shape;3751;p2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2" name="Google Shape;3752;p2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$97K</a:t>
            </a:r>
            <a:endParaRPr/>
          </a:p>
        </p:txBody>
      </p:sp>
      <p:sp>
        <p:nvSpPr>
          <p:cNvPr id="3753" name="Google Shape;3753;p2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4" name="Google Shape;3754;p2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3755" name="Google Shape;3755;p2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6" name="Google Shape;3756;p2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3757" name="Google Shape;3757;p2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8" name="Google Shape;3758;p2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$208K</a:t>
            </a:r>
            <a:endParaRPr/>
          </a:p>
        </p:txBody>
      </p:sp>
      <p:sp>
        <p:nvSpPr>
          <p:cNvPr id="3759" name="Google Shape;3759;p2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60" name="Google Shape;3760;p2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$219K</a:t>
            </a:r>
            <a:endParaRPr/>
          </a:p>
        </p:txBody>
      </p:sp>
      <p:sp>
        <p:nvSpPr>
          <p:cNvPr id="3761" name="Google Shape;3761;p2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62" name="Google Shape;3762;p2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$617K</a:t>
            </a:r>
            <a:endParaRPr/>
          </a:p>
        </p:txBody>
      </p:sp>
      <p:sp>
        <p:nvSpPr>
          <p:cNvPr id="3763" name="Google Shape;3763;p2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4" name="Google Shape;3764;p2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765" name="Google Shape;3765;p2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66" name="Google Shape;3766;p2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$617,079 YTD gross written premium</a:t>
            </a:r>
            <a:endParaRPr/>
          </a:p>
        </p:txBody>
      </p:sp>
      <p:sp>
        <p:nvSpPr>
          <p:cNvPr id="3767" name="Google Shape;3767;p2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68" name="Google Shape;3768;p2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$567,496 in new business production</a:t>
            </a:r>
            <a:endParaRPr/>
          </a:p>
        </p:txBody>
      </p:sp>
      <p:sp>
        <p:nvSpPr>
          <p:cNvPr id="3769" name="Google Shape;3769;p2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0" name="Google Shape;3770;p2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771" name="Google Shape;3771;p2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72" name="Google Shape;3772;p2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80 to 39 MoM</a:t>
            </a:r>
            <a:endParaRPr/>
          </a:p>
        </p:txBody>
      </p:sp>
      <p:sp>
        <p:nvSpPr>
          <p:cNvPr id="3773" name="Google Shape;3773;p2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4" name="Google Shape;3774;p2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775" name="Google Shape;3775;p2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776" name="Google Shape;3776;p2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$567,496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80" name="Shape 3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1" name="Google Shape;3781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2" name="Google Shape;3782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Dts Insurance Services Inc</a:t>
            </a:r>
            <a:endParaRPr/>
          </a:p>
        </p:txBody>
      </p:sp>
      <p:sp>
        <p:nvSpPr>
          <p:cNvPr id="3783" name="Google Shape;3783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N/A</a:t>
            </a:r>
            <a:endParaRPr/>
          </a:p>
        </p:txBody>
      </p:sp>
      <p:sp>
        <p:nvSpPr>
          <p:cNvPr id="3784" name="Google Shape;3784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$573,209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785" name="Google Shape;3785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$264,235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786" name="Google Shape;3786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$179,010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787" name="Google Shape;3787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$129,965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88" name="Google Shape;3788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$-61,968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89" name="Google Shape;3789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$907,582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790" name="Google Shape;3790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$1,058,513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791" name="Google Shape;3791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792" name="Google Shape;3792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93" name="Google Shape;3793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94" name="Google Shape;3794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95" name="Google Shape;3795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$156,807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796" name="Google Shape;3796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$314,524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797" name="Google Shape;3797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8" name="Google Shape;3798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799" name="Google Shape;3799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00" name="Google Shape;3800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801" name="Google Shape;3801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02" name="Google Shape;3802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03" name="Google Shape;3803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04" name="Google Shape;3804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05" name="Google Shape;3805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6" name="Google Shape;3806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07" name="Google Shape;3807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$70,217</a:t>
            </a:r>
            <a:endParaRPr/>
          </a:p>
        </p:txBody>
      </p:sp>
      <p:sp>
        <p:nvSpPr>
          <p:cNvPr id="3808" name="Google Shape;3808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$66,897</a:t>
            </a:r>
            <a:endParaRPr/>
          </a:p>
        </p:txBody>
      </p:sp>
      <p:sp>
        <p:nvSpPr>
          <p:cNvPr id="3809" name="Google Shape;3809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0" name="Google Shape;3810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$3,320</a:t>
            </a:r>
            <a:endParaRPr/>
          </a:p>
        </p:txBody>
      </p:sp>
      <p:sp>
        <p:nvSpPr>
          <p:cNvPr id="3811" name="Google Shape;3811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2" name="Google Shape;3812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3" name="Google Shape;3813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14" name="Google Shape;3814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$24,174</a:t>
            </a:r>
            <a:endParaRPr/>
          </a:p>
        </p:txBody>
      </p:sp>
      <p:sp>
        <p:nvSpPr>
          <p:cNvPr id="3815" name="Google Shape;3815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6" name="Google Shape;3816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7" name="Google Shape;3817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$24,174</a:t>
            </a:r>
            <a:endParaRPr/>
          </a:p>
        </p:txBody>
      </p:sp>
      <p:sp>
        <p:nvSpPr>
          <p:cNvPr id="3818" name="Google Shape;3818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$-12,440</a:t>
            </a:r>
            <a:endParaRPr/>
          </a:p>
        </p:txBody>
      </p:sp>
      <p:sp>
        <p:nvSpPr>
          <p:cNvPr id="3819" name="Google Shape;3819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0" name="Google Shape;3820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21" name="Google Shape;3821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$231,006</a:t>
            </a:r>
            <a:endParaRPr/>
          </a:p>
        </p:txBody>
      </p:sp>
      <p:sp>
        <p:nvSpPr>
          <p:cNvPr id="3822" name="Google Shape;3822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$88,313</a:t>
            </a:r>
            <a:endParaRPr/>
          </a:p>
        </p:txBody>
      </p:sp>
      <p:sp>
        <p:nvSpPr>
          <p:cNvPr id="3823" name="Google Shape;3823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$67,405</a:t>
            </a:r>
            <a:endParaRPr/>
          </a:p>
        </p:txBody>
      </p:sp>
      <p:sp>
        <p:nvSpPr>
          <p:cNvPr id="3824" name="Google Shape;3824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$75,288</a:t>
            </a:r>
            <a:endParaRPr/>
          </a:p>
        </p:txBody>
      </p:sp>
      <p:sp>
        <p:nvSpPr>
          <p:cNvPr id="3825" name="Google Shape;3825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6" name="Google Shape;3826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7" name="Google Shape;3827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28" name="Google Shape;3828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$80,905</a:t>
            </a:r>
            <a:endParaRPr/>
          </a:p>
        </p:txBody>
      </p:sp>
      <p:sp>
        <p:nvSpPr>
          <p:cNvPr id="3829" name="Google Shape;3829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$60,825</a:t>
            </a:r>
            <a:endParaRPr/>
          </a:p>
        </p:txBody>
      </p:sp>
      <p:sp>
        <p:nvSpPr>
          <p:cNvPr id="3830" name="Google Shape;3830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$29,406</a:t>
            </a:r>
            <a:endParaRPr/>
          </a:p>
        </p:txBody>
      </p:sp>
      <p:sp>
        <p:nvSpPr>
          <p:cNvPr id="3831" name="Google Shape;3831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$-9,327</a:t>
            </a:r>
            <a:endParaRPr/>
          </a:p>
        </p:txBody>
      </p:sp>
      <p:sp>
        <p:nvSpPr>
          <p:cNvPr id="3832" name="Google Shape;3832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$-31,757</a:t>
            </a:r>
            <a:endParaRPr/>
          </a:p>
        </p:txBody>
      </p:sp>
      <p:sp>
        <p:nvSpPr>
          <p:cNvPr id="3833" name="Google Shape;3833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4" name="Google Shape;3834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35" name="Google Shape;3835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$166,907</a:t>
            </a:r>
            <a:endParaRPr/>
          </a:p>
        </p:txBody>
      </p:sp>
      <p:sp>
        <p:nvSpPr>
          <p:cNvPr id="3836" name="Google Shape;3836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$48,200</a:t>
            </a:r>
            <a:endParaRPr/>
          </a:p>
        </p:txBody>
      </p:sp>
      <p:sp>
        <p:nvSpPr>
          <p:cNvPr id="3837" name="Google Shape;3837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$82,199</a:t>
            </a:r>
            <a:endParaRPr/>
          </a:p>
        </p:txBody>
      </p:sp>
      <p:sp>
        <p:nvSpPr>
          <p:cNvPr id="3838" name="Google Shape;3838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$36,509</a:t>
            </a:r>
            <a:endParaRPr/>
          </a:p>
        </p:txBody>
      </p:sp>
      <p:sp>
        <p:nvSpPr>
          <p:cNvPr id="3839" name="Google Shape;3839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$-17,771</a:t>
            </a:r>
            <a:endParaRPr/>
          </a:p>
        </p:txBody>
      </p:sp>
      <p:sp>
        <p:nvSpPr>
          <p:cNvPr id="3840" name="Google Shape;3840;p2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1" name="Google Shape;3841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42" name="Google Shape;3842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$573,209</a:t>
            </a:r>
            <a:endParaRPr/>
          </a:p>
        </p:txBody>
      </p:sp>
      <p:sp>
        <p:nvSpPr>
          <p:cNvPr id="3843" name="Google Shape;3843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$264,235</a:t>
            </a:r>
            <a:endParaRPr/>
          </a:p>
        </p:txBody>
      </p:sp>
      <p:sp>
        <p:nvSpPr>
          <p:cNvPr id="3844" name="Google Shape;3844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$179,010</a:t>
            </a:r>
            <a:endParaRPr/>
          </a:p>
        </p:txBody>
      </p:sp>
      <p:sp>
        <p:nvSpPr>
          <p:cNvPr id="3845" name="Google Shape;3845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$129,965</a:t>
            </a:r>
            <a:endParaRPr/>
          </a:p>
        </p:txBody>
      </p:sp>
      <p:sp>
        <p:nvSpPr>
          <p:cNvPr id="3846" name="Google Shape;3846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$-61,968</a:t>
            </a:r>
            <a:endParaRPr/>
          </a:p>
        </p:txBody>
      </p:sp>
      <p:sp>
        <p:nvSpPr>
          <p:cNvPr id="3847" name="Google Shape;3847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8" name="Google Shape;3848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849" name="Google Shape;3849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50" name="Google Shape;3850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851" name="Google Shape;3851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852" name="Google Shape;3852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853" name="Google Shape;3853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54" name="Google Shape;3854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55" name="Google Shape;3855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6" name="Google Shape;3856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57" name="Google Shape;3857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858" name="Google Shape;3858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859" name="Google Shape;3859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860" name="Google Shape;3860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861" name="Google Shape;3861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3862" name="Google Shape;3862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3" name="Google Shape;3863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64" name="Google Shape;3864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865" name="Google Shape;3865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866" name="Google Shape;3866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867" name="Google Shape;3867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868" name="Google Shape;3868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3869" name="Google Shape;3869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0" name="Google Shape;3870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71" name="Google Shape;3871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3872" name="Google Shape;3872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873" name="Google Shape;3873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874" name="Google Shape;3874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75" name="Google Shape;3875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14.7%</a:t>
            </a:r>
            <a:endParaRPr/>
          </a:p>
        </p:txBody>
      </p:sp>
      <p:sp>
        <p:nvSpPr>
          <p:cNvPr id="3876" name="Google Shape;3876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7" name="Google Shape;3877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78" name="Google Shape;3878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879" name="Google Shape;3879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80" name="Google Shape;3880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881" name="Google Shape;3881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882" name="Google Shape;3882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37.0%</a:t>
            </a:r>
            <a:endParaRPr/>
          </a:p>
        </p:txBody>
      </p:sp>
      <p:sp>
        <p:nvSpPr>
          <p:cNvPr id="3883" name="Google Shape;3883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4" name="Google Shape;3884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85" name="Google Shape;3885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886" name="Google Shape;3886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87" name="Google Shape;3887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888" name="Google Shape;3888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889" name="Google Shape;3889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18.8%</a:t>
            </a:r>
            <a:endParaRPr/>
          </a:p>
        </p:txBody>
      </p:sp>
      <p:sp>
        <p:nvSpPr>
          <p:cNvPr id="3890" name="Google Shape;3890;p2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1" name="Google Shape;3891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92" name="Google Shape;3892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3893" name="Google Shape;3893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894" name="Google Shape;3894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107</a:t>
            </a:r>
            <a:endParaRPr/>
          </a:p>
        </p:txBody>
      </p:sp>
      <p:sp>
        <p:nvSpPr>
          <p:cNvPr id="3895" name="Google Shape;3895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896" name="Google Shape;3896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12.3%</a:t>
            </a:r>
            <a:endParaRPr/>
          </a:p>
        </p:txBody>
      </p:sp>
      <p:sp>
        <p:nvSpPr>
          <p:cNvPr id="3897" name="Google Shape;3897;p2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8" name="Google Shape;3898;p2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899" name="Google Shape;3899;p2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900" name="Google Shape;3900;p2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901" name="Google Shape;3901;p2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902" name="Google Shape;3902;p2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903" name="Google Shape;3903;p2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904" name="Google Shape;3904;p2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905" name="Google Shape;3905;p2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906" name="Google Shape;3906;p2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907" name="Google Shape;3907;p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908" name="Google Shape;3908;p2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909" name="Google Shape;3909;p2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910" name="Google Shape;3910;p2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911" name="Google Shape;3911;p2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912" name="Google Shape;3912;p2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13" name="Google Shape;3913;p2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14" name="Google Shape;3914;p2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915" name="Google Shape;3915;p2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916" name="Google Shape;3916;p2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917" name="Google Shape;3917;p2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918" name="Google Shape;3918;p2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3919" name="Google Shape;3919;p2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920" name="Google Shape;3920;p2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921" name="Google Shape;3921;p2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922" name="Google Shape;3922;p2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923" name="Google Shape;3923;p2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3924" name="Google Shape;3924;p2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147</a:t>
            </a:r>
            <a:endParaRPr/>
          </a:p>
        </p:txBody>
      </p:sp>
      <p:sp>
        <p:nvSpPr>
          <p:cNvPr id="3925" name="Google Shape;3925;p2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926" name="Google Shape;3926;p2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27" name="Google Shape;3927;p2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3928" name="Google Shape;3928;p2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29" name="Google Shape;3929;p2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930" name="Google Shape;3930;p2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3931" name="Google Shape;3931;p2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$231K</a:t>
            </a:r>
            <a:endParaRPr/>
          </a:p>
        </p:txBody>
      </p:sp>
      <p:sp>
        <p:nvSpPr>
          <p:cNvPr id="3932" name="Google Shape;3932;p2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$333K</a:t>
            </a:r>
            <a:endParaRPr/>
          </a:p>
        </p:txBody>
      </p:sp>
      <p:sp>
        <p:nvSpPr>
          <p:cNvPr id="3933" name="Google Shape;3933;p2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$81K</a:t>
            </a:r>
            <a:endParaRPr/>
          </a:p>
        </p:txBody>
      </p:sp>
      <p:sp>
        <p:nvSpPr>
          <p:cNvPr id="3934" name="Google Shape;3934;p2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3935" name="Google Shape;3935;p2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$167K</a:t>
            </a:r>
            <a:endParaRPr/>
          </a:p>
        </p:txBody>
      </p:sp>
      <p:sp>
        <p:nvSpPr>
          <p:cNvPr id="3936" name="Google Shape;3936;p2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$422K</a:t>
            </a:r>
            <a:endParaRPr/>
          </a:p>
        </p:txBody>
      </p:sp>
      <p:sp>
        <p:nvSpPr>
          <p:cNvPr id="3937" name="Google Shape;3937;p2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$573K</a:t>
            </a:r>
            <a:endParaRPr/>
          </a:p>
        </p:txBody>
      </p:sp>
      <p:sp>
        <p:nvSpPr>
          <p:cNvPr id="3938" name="Google Shape;3938;p2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9" name="Google Shape;3939;p2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940" name="Google Shape;3940;p2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41" name="Google Shape;3941;p2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$573,209 YTD gross written premium</a:t>
            </a:r>
            <a:endParaRPr/>
          </a:p>
        </p:txBody>
      </p:sp>
      <p:sp>
        <p:nvSpPr>
          <p:cNvPr id="3942" name="Google Shape;3942;p2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43" name="Google Shape;3943;p2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$264,235 in new business production</a:t>
            </a:r>
            <a:endParaRPr/>
          </a:p>
        </p:txBody>
      </p:sp>
      <p:sp>
        <p:nvSpPr>
          <p:cNvPr id="3944" name="Google Shape;3944;p2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5" name="Google Shape;3945;p2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946" name="Google Shape;3946;p2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47" name="Google Shape;3947;p2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948" name="Google Shape;3948;p2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49" name="Google Shape;3949;p2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950" name="Google Shape;3950;p2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1" name="Google Shape;3951;p2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952" name="Google Shape;3952;p2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953" name="Google Shape;3953;p2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$264,235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954" name="Google Shape;3954;p2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955" name="Google Shape;3955;p2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$179,010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59" name="Shape 3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0" name="Google Shape;3960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1" name="Google Shape;3961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Jtc Insurance Agency, Inc.</a:t>
            </a:r>
            <a:endParaRPr/>
          </a:p>
        </p:txBody>
      </p:sp>
      <p:sp>
        <p:nvSpPr>
          <p:cNvPr id="3962" name="Google Shape;3962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City of Industry</a:t>
            </a:r>
            <a:endParaRPr/>
          </a:p>
        </p:txBody>
      </p:sp>
      <p:sp>
        <p:nvSpPr>
          <p:cNvPr id="3963" name="Google Shape;3963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$504,906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964" name="Google Shape;3964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$135,406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65" name="Google Shape;3965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$347,151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66" name="Google Shape;3966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67" name="Google Shape;3967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68" name="Google Shape;3968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$631,747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969" name="Google Shape;3969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$800,674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970" name="Google Shape;3970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971" name="Google Shape;3971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72" name="Google Shape;3972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73" name="Google Shape;3973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74" name="Google Shape;3974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$318,335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975" name="Google Shape;3975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$252,607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976" name="Google Shape;3976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7" name="Google Shape;3977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978" name="Google Shape;3978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79" name="Google Shape;3979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980" name="Google Shape;3980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81" name="Google Shape;3981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82" name="Google Shape;3982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83" name="Google Shape;3983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84" name="Google Shape;3984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5" name="Google Shape;3985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986" name="Google Shape;3986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$26,433</a:t>
            </a:r>
            <a:endParaRPr/>
          </a:p>
        </p:txBody>
      </p:sp>
      <p:sp>
        <p:nvSpPr>
          <p:cNvPr id="3987" name="Google Shape;3987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$26,097</a:t>
            </a:r>
            <a:endParaRPr/>
          </a:p>
        </p:txBody>
      </p:sp>
      <p:sp>
        <p:nvSpPr>
          <p:cNvPr id="3988" name="Google Shape;3988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9" name="Google Shape;3989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$336</a:t>
            </a:r>
            <a:endParaRPr/>
          </a:p>
        </p:txBody>
      </p:sp>
      <p:sp>
        <p:nvSpPr>
          <p:cNvPr id="3990" name="Google Shape;3990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1" name="Google Shape;3991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2" name="Google Shape;3992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93" name="Google Shape;3993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$16,470</a:t>
            </a:r>
            <a:endParaRPr/>
          </a:p>
        </p:txBody>
      </p:sp>
      <p:sp>
        <p:nvSpPr>
          <p:cNvPr id="3994" name="Google Shape;3994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5" name="Google Shape;3995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$16,470</a:t>
            </a:r>
            <a:endParaRPr/>
          </a:p>
        </p:txBody>
      </p:sp>
      <p:sp>
        <p:nvSpPr>
          <p:cNvPr id="3996" name="Google Shape;3996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7" name="Google Shape;3997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8" name="Google Shape;3998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9" name="Google Shape;3999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00" name="Google Shape;4000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$94,399</a:t>
            </a:r>
            <a:endParaRPr/>
          </a:p>
        </p:txBody>
      </p:sp>
      <p:sp>
        <p:nvSpPr>
          <p:cNvPr id="4001" name="Google Shape;4001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$73,822</a:t>
            </a:r>
            <a:endParaRPr/>
          </a:p>
        </p:txBody>
      </p:sp>
      <p:sp>
        <p:nvSpPr>
          <p:cNvPr id="4002" name="Google Shape;4002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3" name="Google Shape;4003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$20,578</a:t>
            </a:r>
            <a:endParaRPr/>
          </a:p>
        </p:txBody>
      </p:sp>
      <p:sp>
        <p:nvSpPr>
          <p:cNvPr id="4004" name="Google Shape;4004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5" name="Google Shape;4005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6" name="Google Shape;4006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07" name="Google Shape;4007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$331,195</a:t>
            </a:r>
            <a:endParaRPr/>
          </a:p>
        </p:txBody>
      </p:sp>
      <p:sp>
        <p:nvSpPr>
          <p:cNvPr id="4008" name="Google Shape;4008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9" name="Google Shape;4009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$330,680</a:t>
            </a:r>
            <a:endParaRPr/>
          </a:p>
        </p:txBody>
      </p:sp>
      <p:sp>
        <p:nvSpPr>
          <p:cNvPr id="4010" name="Google Shape;4010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$514</a:t>
            </a:r>
            <a:endParaRPr/>
          </a:p>
        </p:txBody>
      </p:sp>
      <p:sp>
        <p:nvSpPr>
          <p:cNvPr id="4011" name="Google Shape;4011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2" name="Google Shape;4012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3" name="Google Shape;4013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14" name="Google Shape;4014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$36,409</a:t>
            </a:r>
            <a:endParaRPr/>
          </a:p>
        </p:txBody>
      </p:sp>
      <p:sp>
        <p:nvSpPr>
          <p:cNvPr id="4015" name="Google Shape;4015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$35,487</a:t>
            </a:r>
            <a:endParaRPr/>
          </a:p>
        </p:txBody>
      </p:sp>
      <p:sp>
        <p:nvSpPr>
          <p:cNvPr id="4016" name="Google Shape;4016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7" name="Google Shape;4017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$921</a:t>
            </a:r>
            <a:endParaRPr/>
          </a:p>
        </p:txBody>
      </p:sp>
      <p:sp>
        <p:nvSpPr>
          <p:cNvPr id="4018" name="Google Shape;4018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$-17,446</a:t>
            </a:r>
            <a:endParaRPr/>
          </a:p>
        </p:txBody>
      </p:sp>
      <p:sp>
        <p:nvSpPr>
          <p:cNvPr id="4019" name="Google Shape;4019;p2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0" name="Google Shape;4020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21" name="Google Shape;4021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$504,906</a:t>
            </a:r>
            <a:endParaRPr/>
          </a:p>
        </p:txBody>
      </p:sp>
      <p:sp>
        <p:nvSpPr>
          <p:cNvPr id="4022" name="Google Shape;4022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$135,406</a:t>
            </a:r>
            <a:endParaRPr/>
          </a:p>
        </p:txBody>
      </p:sp>
      <p:sp>
        <p:nvSpPr>
          <p:cNvPr id="4023" name="Google Shape;4023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$347,151</a:t>
            </a:r>
            <a:endParaRPr/>
          </a:p>
        </p:txBody>
      </p:sp>
      <p:sp>
        <p:nvSpPr>
          <p:cNvPr id="4024" name="Google Shape;4024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$22,350</a:t>
            </a:r>
            <a:endParaRPr/>
          </a:p>
        </p:txBody>
      </p:sp>
      <p:sp>
        <p:nvSpPr>
          <p:cNvPr id="4025" name="Google Shape;4025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$-17,446</a:t>
            </a:r>
            <a:endParaRPr/>
          </a:p>
        </p:txBody>
      </p:sp>
      <p:sp>
        <p:nvSpPr>
          <p:cNvPr id="4026" name="Google Shape;4026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7" name="Google Shape;4027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028" name="Google Shape;4028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29" name="Google Shape;4029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030" name="Google Shape;4030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031" name="Google Shape;4031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032" name="Google Shape;4032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33" name="Google Shape;4033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34" name="Google Shape;4034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5" name="Google Shape;4035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36" name="Google Shape;4036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037" name="Google Shape;4037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38" name="Google Shape;4038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039" name="Google Shape;4039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40" name="Google Shape;4040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4041" name="Google Shape;4041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2" name="Google Shape;4042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43" name="Google Shape;4043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044" name="Google Shape;4044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45" name="Google Shape;4045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046" name="Google Shape;4046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47" name="Google Shape;4047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4048" name="Google Shape;4048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9" name="Google Shape;4049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50" name="Google Shape;4050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051" name="Google Shape;4051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52" name="Google Shape;4052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053" name="Google Shape;4053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54" name="Google Shape;4054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4055" name="Google Shape;4055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6" name="Google Shape;4056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57" name="Google Shape;4057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058" name="Google Shape;4058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59" name="Google Shape;4059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060" name="Google Shape;4060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61" name="Google Shape;4061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</p:txBody>
      </p:sp>
      <p:sp>
        <p:nvSpPr>
          <p:cNvPr id="4062" name="Google Shape;4062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3" name="Google Shape;4063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64" name="Google Shape;4064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065" name="Google Shape;4065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6" name="Google Shape;4066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067" name="Google Shape;4067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68" name="Google Shape;4068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4069" name="Google Shape;4069;p2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0" name="Google Shape;4070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71" name="Google Shape;4071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072" name="Google Shape;4072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073" name="Google Shape;4073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074" name="Google Shape;4074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075" name="Google Shape;4075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13.0%</a:t>
            </a:r>
            <a:endParaRPr/>
          </a:p>
        </p:txBody>
      </p:sp>
      <p:sp>
        <p:nvSpPr>
          <p:cNvPr id="4076" name="Google Shape;4076;p2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7" name="Google Shape;4077;p2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078" name="Google Shape;4078;p2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79" name="Google Shape;4079;p2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080" name="Google Shape;4080;p2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081" name="Google Shape;4081;p2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082" name="Google Shape;4082;p2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083" name="Google Shape;4083;p2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084" name="Google Shape;4084;p2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085" name="Google Shape;4085;p2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086" name="Google Shape;4086;p2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087" name="Google Shape;4087;p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088" name="Google Shape;4088;p2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089" name="Google Shape;4089;p2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090" name="Google Shape;4090;p2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091" name="Google Shape;4091;p2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092" name="Google Shape;4092;p2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093" name="Google Shape;4093;p2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094" name="Google Shape;4094;p2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095" name="Google Shape;4095;p2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096" name="Google Shape;4096;p2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097" name="Google Shape;4097;p2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098" name="Google Shape;4098;p2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099" name="Google Shape;4099;p2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100" name="Google Shape;4100;p2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101" name="Google Shape;4101;p2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102" name="Google Shape;4102;p2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103" name="Google Shape;4103;p2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4104" name="Google Shape;4104;p2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105" name="Google Shape;4105;p2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$637</a:t>
            </a:r>
            <a:endParaRPr/>
          </a:p>
        </p:txBody>
      </p:sp>
      <p:sp>
        <p:nvSpPr>
          <p:cNvPr id="4106" name="Google Shape;4106;p2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4107" name="Google Shape;4107;p2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4108" name="Google Shape;4108;p2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4109" name="Google Shape;4109;p2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4110" name="Google Shape;4110;p2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$94K</a:t>
            </a:r>
            <a:endParaRPr/>
          </a:p>
        </p:txBody>
      </p:sp>
      <p:sp>
        <p:nvSpPr>
          <p:cNvPr id="4111" name="Google Shape;4111;p2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$237K</a:t>
            </a:r>
            <a:endParaRPr/>
          </a:p>
        </p:txBody>
      </p:sp>
      <p:sp>
        <p:nvSpPr>
          <p:cNvPr id="4112" name="Google Shape;4112;p2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$331K</a:t>
            </a:r>
            <a:endParaRPr/>
          </a:p>
        </p:txBody>
      </p:sp>
      <p:sp>
        <p:nvSpPr>
          <p:cNvPr id="4113" name="Google Shape;4113;p2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4114" name="Google Shape;4114;p2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4115" name="Google Shape;4115;p2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$336K</a:t>
            </a:r>
            <a:endParaRPr/>
          </a:p>
        </p:txBody>
      </p:sp>
      <p:sp>
        <p:nvSpPr>
          <p:cNvPr id="4116" name="Google Shape;4116;p2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$505K</a:t>
            </a:r>
            <a:endParaRPr/>
          </a:p>
        </p:txBody>
      </p:sp>
      <p:sp>
        <p:nvSpPr>
          <p:cNvPr id="4117" name="Google Shape;4117;p2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8" name="Google Shape;4118;p2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119" name="Google Shape;4119;p2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20" name="Google Shape;4120;p2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$504,906 YTD gross written premium</a:t>
            </a:r>
            <a:endParaRPr/>
          </a:p>
        </p:txBody>
      </p:sp>
      <p:sp>
        <p:nvSpPr>
          <p:cNvPr id="4121" name="Google Shape;4121;p2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22" name="Google Shape;4122;p2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$135,406 in new business production</a:t>
            </a:r>
            <a:endParaRPr/>
          </a:p>
        </p:txBody>
      </p:sp>
      <p:sp>
        <p:nvSpPr>
          <p:cNvPr id="4123" name="Google Shape;4123;p2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4" name="Google Shape;4124;p2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125" name="Google Shape;4125;p2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26" name="Google Shape;4126;p2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89% month-over-month</a:t>
            </a:r>
            <a:endParaRPr/>
          </a:p>
        </p:txBody>
      </p:sp>
      <p:sp>
        <p:nvSpPr>
          <p:cNvPr id="4127" name="Google Shape;4127;p2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8" name="Google Shape;4128;p2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129" name="Google Shape;4129;p2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130" name="Google Shape;4130;p2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$135,406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131" name="Google Shape;4131;p2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132" name="Google Shape;4132;p2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$347,151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36" name="Shape 4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7" name="Google Shape;4137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8" name="Google Shape;4138;p2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Power Commercial Insurance Brokers</a:t>
            </a:r>
            <a:endParaRPr/>
          </a:p>
        </p:txBody>
      </p:sp>
      <p:sp>
        <p:nvSpPr>
          <p:cNvPr id="4139" name="Google Shape;4139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Corona</a:t>
            </a:r>
            <a:endParaRPr/>
          </a:p>
        </p:txBody>
      </p:sp>
      <p:sp>
        <p:nvSpPr>
          <p:cNvPr id="4140" name="Google Shape;4140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$500,833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141" name="Google Shape;4141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$148,640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42" name="Google Shape;4142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$219,419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43" name="Google Shape;4143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$132,774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44" name="Google Shape;4144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$-121,673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45" name="Google Shape;4145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$2,372,091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146" name="Google Shape;4146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$1,088,002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147" name="Google Shape;4147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148" name="Google Shape;4148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49" name="Google Shape;4149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50" name="Google Shape;4150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51" name="Google Shape;4151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$117,975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152" name="Google Shape;4152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$443,515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153" name="Google Shape;4153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4" name="Google Shape;4154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155" name="Google Shape;4155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56" name="Google Shape;4156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157" name="Google Shape;4157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58" name="Google Shape;4158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59" name="Google Shape;4159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60" name="Google Shape;4160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61" name="Google Shape;4161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2" name="Google Shape;4162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63" name="Google Shape;4163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$122,134</a:t>
            </a:r>
            <a:endParaRPr/>
          </a:p>
        </p:txBody>
      </p:sp>
      <p:sp>
        <p:nvSpPr>
          <p:cNvPr id="4164" name="Google Shape;4164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$18,082</a:t>
            </a:r>
            <a:endParaRPr/>
          </a:p>
        </p:txBody>
      </p:sp>
      <p:sp>
        <p:nvSpPr>
          <p:cNvPr id="4165" name="Google Shape;4165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$63,144</a:t>
            </a:r>
            <a:endParaRPr/>
          </a:p>
        </p:txBody>
      </p:sp>
      <p:sp>
        <p:nvSpPr>
          <p:cNvPr id="4166" name="Google Shape;4166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$40,908</a:t>
            </a:r>
            <a:endParaRPr/>
          </a:p>
        </p:txBody>
      </p:sp>
      <p:sp>
        <p:nvSpPr>
          <p:cNvPr id="4167" name="Google Shape;4167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$-27,298</a:t>
            </a:r>
            <a:endParaRPr/>
          </a:p>
        </p:txBody>
      </p:sp>
      <p:sp>
        <p:nvSpPr>
          <p:cNvPr id="4168" name="Google Shape;4168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9" name="Google Shape;4169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70" name="Google Shape;4170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$55,693</a:t>
            </a:r>
            <a:endParaRPr/>
          </a:p>
        </p:txBody>
      </p:sp>
      <p:sp>
        <p:nvSpPr>
          <p:cNvPr id="4171" name="Google Shape;4171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$15,480</a:t>
            </a:r>
            <a:endParaRPr/>
          </a:p>
        </p:txBody>
      </p:sp>
      <p:sp>
        <p:nvSpPr>
          <p:cNvPr id="4172" name="Google Shape;4172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$42,863</a:t>
            </a:r>
            <a:endParaRPr/>
          </a:p>
        </p:txBody>
      </p:sp>
      <p:sp>
        <p:nvSpPr>
          <p:cNvPr id="4173" name="Google Shape;4173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$-2,651</a:t>
            </a:r>
            <a:endParaRPr/>
          </a:p>
        </p:txBody>
      </p:sp>
      <p:sp>
        <p:nvSpPr>
          <p:cNvPr id="4174" name="Google Shape;4174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5" name="Google Shape;4175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6" name="Google Shape;4176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77" name="Google Shape;4177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$121,320</a:t>
            </a:r>
            <a:endParaRPr/>
          </a:p>
        </p:txBody>
      </p:sp>
      <p:sp>
        <p:nvSpPr>
          <p:cNvPr id="4178" name="Google Shape;4178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$38,541</a:t>
            </a:r>
            <a:endParaRPr/>
          </a:p>
        </p:txBody>
      </p:sp>
      <p:sp>
        <p:nvSpPr>
          <p:cNvPr id="4179" name="Google Shape;4179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$54,148</a:t>
            </a:r>
            <a:endParaRPr/>
          </a:p>
        </p:txBody>
      </p:sp>
      <p:sp>
        <p:nvSpPr>
          <p:cNvPr id="4180" name="Google Shape;4180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$28,630</a:t>
            </a:r>
            <a:endParaRPr/>
          </a:p>
        </p:txBody>
      </p:sp>
      <p:sp>
        <p:nvSpPr>
          <p:cNvPr id="4181" name="Google Shape;4181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$-20,427</a:t>
            </a:r>
            <a:endParaRPr/>
          </a:p>
        </p:txBody>
      </p:sp>
      <p:sp>
        <p:nvSpPr>
          <p:cNvPr id="4182" name="Google Shape;4182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3" name="Google Shape;4183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184" name="Google Shape;4184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$97,253</a:t>
            </a:r>
            <a:endParaRPr/>
          </a:p>
        </p:txBody>
      </p:sp>
      <p:sp>
        <p:nvSpPr>
          <p:cNvPr id="4185" name="Google Shape;4185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$59,708</a:t>
            </a:r>
            <a:endParaRPr/>
          </a:p>
        </p:txBody>
      </p:sp>
      <p:sp>
        <p:nvSpPr>
          <p:cNvPr id="4186" name="Google Shape;4186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7" name="Google Shape;4187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$37,545</a:t>
            </a:r>
            <a:endParaRPr/>
          </a:p>
        </p:txBody>
      </p:sp>
      <p:sp>
        <p:nvSpPr>
          <p:cNvPr id="4188" name="Google Shape;4188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$-73,947</a:t>
            </a:r>
            <a:endParaRPr/>
          </a:p>
        </p:txBody>
      </p:sp>
      <p:sp>
        <p:nvSpPr>
          <p:cNvPr id="4189" name="Google Shape;4189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0" name="Google Shape;4190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191" name="Google Shape;4191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$104,433</a:t>
            </a:r>
            <a:endParaRPr/>
          </a:p>
        </p:txBody>
      </p:sp>
      <p:sp>
        <p:nvSpPr>
          <p:cNvPr id="4192" name="Google Shape;4192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$16,828</a:t>
            </a:r>
            <a:endParaRPr/>
          </a:p>
        </p:txBody>
      </p:sp>
      <p:sp>
        <p:nvSpPr>
          <p:cNvPr id="4193" name="Google Shape;4193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$59,264</a:t>
            </a:r>
            <a:endParaRPr/>
          </a:p>
        </p:txBody>
      </p:sp>
      <p:sp>
        <p:nvSpPr>
          <p:cNvPr id="4194" name="Google Shape;4194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$28,341</a:t>
            </a:r>
            <a:endParaRPr/>
          </a:p>
        </p:txBody>
      </p:sp>
      <p:sp>
        <p:nvSpPr>
          <p:cNvPr id="4195" name="Google Shape;4195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6" name="Google Shape;4196;p2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7" name="Google Shape;4197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198" name="Google Shape;4198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$500,833</a:t>
            </a:r>
            <a:endParaRPr/>
          </a:p>
        </p:txBody>
      </p:sp>
      <p:sp>
        <p:nvSpPr>
          <p:cNvPr id="4199" name="Google Shape;4199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$148,640</a:t>
            </a:r>
            <a:endParaRPr/>
          </a:p>
        </p:txBody>
      </p:sp>
      <p:sp>
        <p:nvSpPr>
          <p:cNvPr id="4200" name="Google Shape;4200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$219,419</a:t>
            </a:r>
            <a:endParaRPr/>
          </a:p>
        </p:txBody>
      </p:sp>
      <p:sp>
        <p:nvSpPr>
          <p:cNvPr id="4201" name="Google Shape;4201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$132,774</a:t>
            </a:r>
            <a:endParaRPr/>
          </a:p>
        </p:txBody>
      </p:sp>
      <p:sp>
        <p:nvSpPr>
          <p:cNvPr id="4202" name="Google Shape;4202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$-121,673</a:t>
            </a:r>
            <a:endParaRPr/>
          </a:p>
        </p:txBody>
      </p:sp>
      <p:sp>
        <p:nvSpPr>
          <p:cNvPr id="4203" name="Google Shape;4203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4" name="Google Shape;4204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205" name="Google Shape;4205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206" name="Google Shape;4206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207" name="Google Shape;4207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208" name="Google Shape;4208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209" name="Google Shape;4209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210" name="Google Shape;4210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11" name="Google Shape;4211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2" name="Google Shape;4212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213" name="Google Shape;4213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214" name="Google Shape;4214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15" name="Google Shape;4215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216" name="Google Shape;4216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217" name="Google Shape;4217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14.0%</a:t>
            </a:r>
            <a:endParaRPr/>
          </a:p>
        </p:txBody>
      </p:sp>
      <p:sp>
        <p:nvSpPr>
          <p:cNvPr id="4218" name="Google Shape;4218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9" name="Google Shape;4219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220" name="Google Shape;4220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221" name="Google Shape;4221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22" name="Google Shape;4222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223" name="Google Shape;4223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224" name="Google Shape;4224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17.2%</a:t>
            </a:r>
            <a:endParaRPr/>
          </a:p>
        </p:txBody>
      </p:sp>
      <p:sp>
        <p:nvSpPr>
          <p:cNvPr id="4225" name="Google Shape;4225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6" name="Google Shape;4226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27" name="Google Shape;4227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228" name="Google Shape;4228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29" name="Google Shape;4229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230" name="Google Shape;4230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231" name="Google Shape;4231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28.2%</a:t>
            </a:r>
            <a:endParaRPr/>
          </a:p>
        </p:txBody>
      </p:sp>
      <p:sp>
        <p:nvSpPr>
          <p:cNvPr id="4232" name="Google Shape;4232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3" name="Google Shape;4233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34" name="Google Shape;4234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4235" name="Google Shape;4235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36" name="Google Shape;4236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4237" name="Google Shape;4237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238" name="Google Shape;4238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7.6%</a:t>
            </a:r>
            <a:endParaRPr/>
          </a:p>
        </p:txBody>
      </p:sp>
      <p:sp>
        <p:nvSpPr>
          <p:cNvPr id="4239" name="Google Shape;4239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0" name="Google Shape;4240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41" name="Google Shape;4241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4242" name="Google Shape;4242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243" name="Google Shape;4243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244" name="Google Shape;4244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245" name="Google Shape;4245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8.9%</a:t>
            </a:r>
            <a:endParaRPr/>
          </a:p>
        </p:txBody>
      </p:sp>
      <p:sp>
        <p:nvSpPr>
          <p:cNvPr id="4246" name="Google Shape;4246;p2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7" name="Google Shape;4247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48" name="Google Shape;4248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4249" name="Google Shape;4249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250" name="Google Shape;4250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206</a:t>
            </a:r>
            <a:endParaRPr/>
          </a:p>
        </p:txBody>
      </p:sp>
      <p:sp>
        <p:nvSpPr>
          <p:cNvPr id="4251" name="Google Shape;4251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252" name="Google Shape;4252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4253" name="Google Shape;4253;p2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4" name="Google Shape;4254;p2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255" name="Google Shape;4255;p2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56" name="Google Shape;4256;p2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257" name="Google Shape;4257;p2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258" name="Google Shape;4258;p2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259" name="Google Shape;4259;p2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260" name="Google Shape;4260;p2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261" name="Google Shape;4261;p2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262" name="Google Shape;4262;p2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263" name="Google Shape;4263;p2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264" name="Google Shape;4264;p2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265" name="Google Shape;4265;p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266" name="Google Shape;4266;p2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267" name="Google Shape;4267;p2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268" name="Google Shape;4268;p2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69" name="Google Shape;4269;p2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121</a:t>
            </a:r>
            <a:endParaRPr/>
          </a:p>
        </p:txBody>
      </p:sp>
      <p:sp>
        <p:nvSpPr>
          <p:cNvPr id="4270" name="Google Shape;4270;p2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271" name="Google Shape;4271;p2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109</a:t>
            </a:r>
            <a:endParaRPr/>
          </a:p>
        </p:txBody>
      </p:sp>
      <p:sp>
        <p:nvSpPr>
          <p:cNvPr id="4272" name="Google Shape;4272;p2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273" name="Google Shape;4273;p2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4274" name="Google Shape;4274;p2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275" name="Google Shape;4275;p2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</a:t>
            </a:r>
            <a:endParaRPr/>
          </a:p>
        </p:txBody>
      </p:sp>
      <p:sp>
        <p:nvSpPr>
          <p:cNvPr id="4276" name="Google Shape;4276;p2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4277" name="Google Shape;4277;p2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97</a:t>
            </a:r>
            <a:endParaRPr/>
          </a:p>
        </p:txBody>
      </p:sp>
      <p:sp>
        <p:nvSpPr>
          <p:cNvPr id="4278" name="Google Shape;4278;p2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4279" name="Google Shape;4279;p2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541</a:t>
            </a:r>
            <a:endParaRPr/>
          </a:p>
        </p:txBody>
      </p:sp>
      <p:sp>
        <p:nvSpPr>
          <p:cNvPr id="4280" name="Google Shape;4280;p2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246</a:t>
            </a:r>
            <a:endParaRPr/>
          </a:p>
        </p:txBody>
      </p:sp>
      <p:sp>
        <p:nvSpPr>
          <p:cNvPr id="4281" name="Google Shape;4281;p2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282" name="Google Shape;4282;p2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$396K</a:t>
            </a:r>
            <a:endParaRPr/>
          </a:p>
        </p:txBody>
      </p:sp>
      <p:sp>
        <p:nvSpPr>
          <p:cNvPr id="4283" name="Google Shape;4283;p2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$122K</a:t>
            </a:r>
            <a:endParaRPr/>
          </a:p>
        </p:txBody>
      </p:sp>
      <p:sp>
        <p:nvSpPr>
          <p:cNvPr id="4284" name="Google Shape;4284;p2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$506K</a:t>
            </a:r>
            <a:endParaRPr/>
          </a:p>
        </p:txBody>
      </p:sp>
      <p:sp>
        <p:nvSpPr>
          <p:cNvPr id="4285" name="Google Shape;4285;p2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4286" name="Google Shape;4286;p2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$552K</a:t>
            </a:r>
            <a:endParaRPr/>
          </a:p>
        </p:txBody>
      </p:sp>
      <p:sp>
        <p:nvSpPr>
          <p:cNvPr id="4287" name="Google Shape;4287;p2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4288" name="Google Shape;4288;p2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$217K</a:t>
            </a:r>
            <a:endParaRPr/>
          </a:p>
        </p:txBody>
      </p:sp>
      <p:sp>
        <p:nvSpPr>
          <p:cNvPr id="4289" name="Google Shape;4289;p2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$97K</a:t>
            </a:r>
            <a:endParaRPr/>
          </a:p>
        </p:txBody>
      </p:sp>
      <p:sp>
        <p:nvSpPr>
          <p:cNvPr id="4290" name="Google Shape;4290;p2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$114K</a:t>
            </a:r>
            <a:endParaRPr/>
          </a:p>
        </p:txBody>
      </p:sp>
      <p:sp>
        <p:nvSpPr>
          <p:cNvPr id="4291" name="Google Shape;4291;p2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$104K</a:t>
            </a:r>
            <a:endParaRPr/>
          </a:p>
        </p:txBody>
      </p:sp>
      <p:sp>
        <p:nvSpPr>
          <p:cNvPr id="4292" name="Google Shape;4292;p2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$1.8M</a:t>
            </a:r>
            <a:endParaRPr/>
          </a:p>
        </p:txBody>
      </p:sp>
      <p:sp>
        <p:nvSpPr>
          <p:cNvPr id="4293" name="Google Shape;4293;p2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$501K</a:t>
            </a:r>
            <a:endParaRPr/>
          </a:p>
        </p:txBody>
      </p:sp>
      <p:sp>
        <p:nvSpPr>
          <p:cNvPr id="4294" name="Google Shape;4294;p2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5" name="Google Shape;4295;p2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296" name="Google Shape;4296;p2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97" name="Google Shape;4297;p2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$500,833 YTD gross written premium</a:t>
            </a:r>
            <a:endParaRPr/>
          </a:p>
        </p:txBody>
      </p:sp>
      <p:sp>
        <p:nvSpPr>
          <p:cNvPr id="4298" name="Google Shape;4298;p2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99" name="Google Shape;4299;p2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$148,640 in new business production</a:t>
            </a:r>
            <a:endParaRPr/>
          </a:p>
        </p:txBody>
      </p:sp>
      <p:sp>
        <p:nvSpPr>
          <p:cNvPr id="4300" name="Google Shape;4300;p2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1" name="Google Shape;4301;p2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302" name="Google Shape;4302;p2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303" name="Google Shape;4303;p2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82% of new business ($121,673)</a:t>
            </a:r>
            <a:endParaRPr/>
          </a:p>
        </p:txBody>
      </p:sp>
      <p:sp>
        <p:nvSpPr>
          <p:cNvPr id="4304" name="Google Shape;4304;p2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5" name="Google Shape;4305;p2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306" name="Google Shape;4306;p2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307" name="Google Shape;4307;p2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$148,640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308" name="Google Shape;4308;p2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309" name="Google Shape;4309;p2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$121,673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13" name="Shape 4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4" name="Google Shape;4314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5" name="Google Shape;4315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Lion Insurance Services</a:t>
            </a:r>
            <a:endParaRPr/>
          </a:p>
        </p:txBody>
      </p:sp>
      <p:sp>
        <p:nvSpPr>
          <p:cNvPr id="4316" name="Google Shape;4316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Glendale</a:t>
            </a:r>
            <a:endParaRPr/>
          </a:p>
        </p:txBody>
      </p:sp>
      <p:sp>
        <p:nvSpPr>
          <p:cNvPr id="4317" name="Google Shape;4317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$496,091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318" name="Google Shape;4318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$220,653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19" name="Google Shape;4319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$169,911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20" name="Google Shape;4320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$105,527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21" name="Google Shape;4321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$-108,371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22" name="Google Shape;4322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$345,901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323" name="Google Shape;4323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$821,824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324" name="Google Shape;4324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325" name="Google Shape;4325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26" name="Google Shape;4326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27" name="Google Shape;4327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28" name="Google Shape;4328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$102,693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329" name="Google Shape;4329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$221,021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330" name="Google Shape;4330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1" name="Google Shape;4331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332" name="Google Shape;4332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33" name="Google Shape;4333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334" name="Google Shape;4334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35" name="Google Shape;4335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36" name="Google Shape;4336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37" name="Google Shape;4337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38" name="Google Shape;4338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9" name="Google Shape;4339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40" name="Google Shape;4340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$78,474</a:t>
            </a:r>
            <a:endParaRPr/>
          </a:p>
        </p:txBody>
      </p:sp>
      <p:sp>
        <p:nvSpPr>
          <p:cNvPr id="4341" name="Google Shape;4341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$19,370</a:t>
            </a:r>
            <a:endParaRPr/>
          </a:p>
        </p:txBody>
      </p:sp>
      <p:sp>
        <p:nvSpPr>
          <p:cNvPr id="4342" name="Google Shape;4342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$57,631</a:t>
            </a:r>
            <a:endParaRPr/>
          </a:p>
        </p:txBody>
      </p:sp>
      <p:sp>
        <p:nvSpPr>
          <p:cNvPr id="4343" name="Google Shape;4343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$1,473</a:t>
            </a:r>
            <a:endParaRPr/>
          </a:p>
        </p:txBody>
      </p:sp>
      <p:sp>
        <p:nvSpPr>
          <p:cNvPr id="4344" name="Google Shape;4344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$-18,310</a:t>
            </a:r>
            <a:endParaRPr/>
          </a:p>
        </p:txBody>
      </p:sp>
      <p:sp>
        <p:nvSpPr>
          <p:cNvPr id="4345" name="Google Shape;4345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6" name="Google Shape;4346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47" name="Google Shape;4347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$43,258</a:t>
            </a:r>
            <a:endParaRPr/>
          </a:p>
        </p:txBody>
      </p:sp>
      <p:sp>
        <p:nvSpPr>
          <p:cNvPr id="4348" name="Google Shape;4348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$20,495</a:t>
            </a:r>
            <a:endParaRPr/>
          </a:p>
        </p:txBody>
      </p:sp>
      <p:sp>
        <p:nvSpPr>
          <p:cNvPr id="4349" name="Google Shape;4349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0" name="Google Shape;4350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$22,763</a:t>
            </a:r>
            <a:endParaRPr/>
          </a:p>
        </p:txBody>
      </p:sp>
      <p:sp>
        <p:nvSpPr>
          <p:cNvPr id="4351" name="Google Shape;4351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$-33,408</a:t>
            </a:r>
            <a:endParaRPr/>
          </a:p>
        </p:txBody>
      </p:sp>
      <p:sp>
        <p:nvSpPr>
          <p:cNvPr id="4352" name="Google Shape;4352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3" name="Google Shape;4353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54" name="Google Shape;4354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$127,755</a:t>
            </a:r>
            <a:endParaRPr/>
          </a:p>
        </p:txBody>
      </p:sp>
      <p:sp>
        <p:nvSpPr>
          <p:cNvPr id="4355" name="Google Shape;4355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$102,693</a:t>
            </a:r>
            <a:endParaRPr/>
          </a:p>
        </p:txBody>
      </p:sp>
      <p:sp>
        <p:nvSpPr>
          <p:cNvPr id="4356" name="Google Shape;4356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$19,083</a:t>
            </a:r>
            <a:endParaRPr/>
          </a:p>
        </p:txBody>
      </p:sp>
      <p:sp>
        <p:nvSpPr>
          <p:cNvPr id="4357" name="Google Shape;4357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$5,979</a:t>
            </a:r>
            <a:endParaRPr/>
          </a:p>
        </p:txBody>
      </p:sp>
      <p:sp>
        <p:nvSpPr>
          <p:cNvPr id="4358" name="Google Shape;4358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$-5,979</a:t>
            </a:r>
            <a:endParaRPr/>
          </a:p>
        </p:txBody>
      </p:sp>
      <p:sp>
        <p:nvSpPr>
          <p:cNvPr id="4359" name="Google Shape;4359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0" name="Google Shape;4360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61" name="Google Shape;4361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$166,671</a:t>
            </a:r>
            <a:endParaRPr/>
          </a:p>
        </p:txBody>
      </p:sp>
      <p:sp>
        <p:nvSpPr>
          <p:cNvPr id="4362" name="Google Shape;4362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$57,443</a:t>
            </a:r>
            <a:endParaRPr/>
          </a:p>
        </p:txBody>
      </p:sp>
      <p:sp>
        <p:nvSpPr>
          <p:cNvPr id="4363" name="Google Shape;4363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$56,536</a:t>
            </a:r>
            <a:endParaRPr/>
          </a:p>
        </p:txBody>
      </p:sp>
      <p:sp>
        <p:nvSpPr>
          <p:cNvPr id="4364" name="Google Shape;4364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$52,693</a:t>
            </a:r>
            <a:endParaRPr/>
          </a:p>
        </p:txBody>
      </p:sp>
      <p:sp>
        <p:nvSpPr>
          <p:cNvPr id="4365" name="Google Shape;4365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$-34,389</a:t>
            </a:r>
            <a:endParaRPr/>
          </a:p>
        </p:txBody>
      </p:sp>
      <p:sp>
        <p:nvSpPr>
          <p:cNvPr id="4366" name="Google Shape;4366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7" name="Google Shape;4367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68" name="Google Shape;4368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$79,934</a:t>
            </a:r>
            <a:endParaRPr/>
          </a:p>
        </p:txBody>
      </p:sp>
      <p:sp>
        <p:nvSpPr>
          <p:cNvPr id="4369" name="Google Shape;4369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$20,652</a:t>
            </a:r>
            <a:endParaRPr/>
          </a:p>
        </p:txBody>
      </p:sp>
      <p:sp>
        <p:nvSpPr>
          <p:cNvPr id="4370" name="Google Shape;4370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$36,662</a:t>
            </a:r>
            <a:endParaRPr/>
          </a:p>
        </p:txBody>
      </p:sp>
      <p:sp>
        <p:nvSpPr>
          <p:cNvPr id="4371" name="Google Shape;4371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$22,619</a:t>
            </a:r>
            <a:endParaRPr/>
          </a:p>
        </p:txBody>
      </p:sp>
      <p:sp>
        <p:nvSpPr>
          <p:cNvPr id="4372" name="Google Shape;4372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$-16,284</a:t>
            </a:r>
            <a:endParaRPr/>
          </a:p>
        </p:txBody>
      </p:sp>
      <p:sp>
        <p:nvSpPr>
          <p:cNvPr id="4373" name="Google Shape;4373;p3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4" name="Google Shape;4374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75" name="Google Shape;4375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$496,091</a:t>
            </a:r>
            <a:endParaRPr/>
          </a:p>
        </p:txBody>
      </p:sp>
      <p:sp>
        <p:nvSpPr>
          <p:cNvPr id="4376" name="Google Shape;4376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$220,653</a:t>
            </a:r>
            <a:endParaRPr/>
          </a:p>
        </p:txBody>
      </p:sp>
      <p:sp>
        <p:nvSpPr>
          <p:cNvPr id="4377" name="Google Shape;4377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$169,911</a:t>
            </a:r>
            <a:endParaRPr/>
          </a:p>
        </p:txBody>
      </p:sp>
      <p:sp>
        <p:nvSpPr>
          <p:cNvPr id="4378" name="Google Shape;4378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$105,527</a:t>
            </a:r>
            <a:endParaRPr/>
          </a:p>
        </p:txBody>
      </p:sp>
      <p:sp>
        <p:nvSpPr>
          <p:cNvPr id="4379" name="Google Shape;4379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$-108,371</a:t>
            </a:r>
            <a:endParaRPr/>
          </a:p>
        </p:txBody>
      </p:sp>
      <p:sp>
        <p:nvSpPr>
          <p:cNvPr id="4380" name="Google Shape;4380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1" name="Google Shape;4381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382" name="Google Shape;4382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83" name="Google Shape;4383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384" name="Google Shape;4384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385" name="Google Shape;4385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386" name="Google Shape;4386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87" name="Google Shape;4387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88" name="Google Shape;4388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9" name="Google Shape;4389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90" name="Google Shape;4390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391" name="Google Shape;4391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392" name="Google Shape;4392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393" name="Google Shape;4393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394" name="Google Shape;4394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8.5%</a:t>
            </a:r>
            <a:endParaRPr/>
          </a:p>
        </p:txBody>
      </p:sp>
      <p:sp>
        <p:nvSpPr>
          <p:cNvPr id="4395" name="Google Shape;4395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6" name="Google Shape;4396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97" name="Google Shape;4397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398" name="Google Shape;4398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99" name="Google Shape;4399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400" name="Google Shape;4400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401" name="Google Shape;4401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12.2%</a:t>
            </a:r>
            <a:endParaRPr/>
          </a:p>
        </p:txBody>
      </p:sp>
      <p:sp>
        <p:nvSpPr>
          <p:cNvPr id="4402" name="Google Shape;4402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3" name="Google Shape;4403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404" name="Google Shape;4404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405" name="Google Shape;4405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406" name="Google Shape;4406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407" name="Google Shape;4407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408" name="Google Shape;4408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4409" name="Google Shape;4409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0" name="Google Shape;4410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411" name="Google Shape;4411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4412" name="Google Shape;4412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413" name="Google Shape;4413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4414" name="Google Shape;4414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415" name="Google Shape;4415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4416" name="Google Shape;4416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7" name="Google Shape;4417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18" name="Google Shape;4418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419" name="Google Shape;4419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420" name="Google Shape;4420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4421" name="Google Shape;4421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422" name="Google Shape;4422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4423" name="Google Shape;4423;p3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4" name="Google Shape;4424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25" name="Google Shape;4425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247</a:t>
            </a:r>
            <a:endParaRPr/>
          </a:p>
        </p:txBody>
      </p:sp>
      <p:sp>
        <p:nvSpPr>
          <p:cNvPr id="4426" name="Google Shape;4426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427" name="Google Shape;4427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4428" name="Google Shape;4428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429" name="Google Shape;4429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4430" name="Google Shape;4430;p3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1" name="Google Shape;4431;p3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432" name="Google Shape;4432;p3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433" name="Google Shape;4433;p3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434" name="Google Shape;4434;p3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435" name="Google Shape;4435;p3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436" name="Google Shape;4436;p3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437" name="Google Shape;4437;p3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438" name="Google Shape;4438;p3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439" name="Google Shape;4439;p3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440" name="Google Shape;4440;p3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441" name="Google Shape;4441;p3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442" name="Google Shape;4442;p3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443" name="Google Shape;4443;p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444" name="Google Shape;4444;p3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445" name="Google Shape;4445;p3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46" name="Google Shape;4446;p3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447" name="Google Shape;4447;p3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448" name="Google Shape;4448;p3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449" name="Google Shape;4449;p3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450" name="Google Shape;4450;p3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4451" name="Google Shape;4451;p3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452" name="Google Shape;4452;p3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4453" name="Google Shape;4453;p3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4454" name="Google Shape;4454;p3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4455" name="Google Shape;4455;p3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456" name="Google Shape;4456;p3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275</a:t>
            </a:r>
            <a:endParaRPr/>
          </a:p>
        </p:txBody>
      </p:sp>
      <p:sp>
        <p:nvSpPr>
          <p:cNvPr id="4457" name="Google Shape;4457;p3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</a:t>
            </a:r>
            <a:endParaRPr/>
          </a:p>
        </p:txBody>
      </p:sp>
      <p:sp>
        <p:nvSpPr>
          <p:cNvPr id="4458" name="Google Shape;4458;p3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459" name="Google Shape;4459;p3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4460" name="Google Shape;4460;p3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$78K</a:t>
            </a:r>
            <a:endParaRPr/>
          </a:p>
        </p:txBody>
      </p:sp>
      <p:sp>
        <p:nvSpPr>
          <p:cNvPr id="4461" name="Google Shape;4461;p3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2" name="Google Shape;4462;p3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4463" name="Google Shape;4463;p3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4" name="Google Shape;4464;p3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$128K</a:t>
            </a:r>
            <a:endParaRPr/>
          </a:p>
        </p:txBody>
      </p:sp>
      <p:sp>
        <p:nvSpPr>
          <p:cNvPr id="4465" name="Google Shape;4465;p3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6" name="Google Shape;4466;p3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$167K</a:t>
            </a:r>
            <a:endParaRPr/>
          </a:p>
        </p:txBody>
      </p:sp>
      <p:sp>
        <p:nvSpPr>
          <p:cNvPr id="4467" name="Google Shape;4467;p3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4468" name="Google Shape;4468;p3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$80K</a:t>
            </a:r>
            <a:endParaRPr/>
          </a:p>
        </p:txBody>
      </p:sp>
      <p:sp>
        <p:nvSpPr>
          <p:cNvPr id="4469" name="Google Shape;4469;p3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4470" name="Google Shape;4470;p3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$496K</a:t>
            </a:r>
            <a:endParaRPr/>
          </a:p>
        </p:txBody>
      </p:sp>
      <p:sp>
        <p:nvSpPr>
          <p:cNvPr id="4471" name="Google Shape;4471;p3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2" name="Google Shape;4472;p3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473" name="Google Shape;4473;p3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74" name="Google Shape;4474;p3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$496,091 YTD gross written premium</a:t>
            </a:r>
            <a:endParaRPr/>
          </a:p>
        </p:txBody>
      </p:sp>
      <p:sp>
        <p:nvSpPr>
          <p:cNvPr id="4475" name="Google Shape;4475;p3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76" name="Google Shape;4476;p3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$220,653 in new business production</a:t>
            </a:r>
            <a:endParaRPr/>
          </a:p>
        </p:txBody>
      </p:sp>
      <p:sp>
        <p:nvSpPr>
          <p:cNvPr id="4477" name="Google Shape;4477;p3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8" name="Google Shape;4478;p3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479" name="Google Shape;4479;p3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80" name="Google Shape;4480;p3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49% of new business ($108,371)</a:t>
            </a:r>
            <a:endParaRPr/>
          </a:p>
        </p:txBody>
      </p:sp>
      <p:sp>
        <p:nvSpPr>
          <p:cNvPr id="4481" name="Google Shape;4481;p3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82" name="Google Shape;4482;p3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52% month-over-month</a:t>
            </a:r>
            <a:endParaRPr/>
          </a:p>
        </p:txBody>
      </p:sp>
      <p:sp>
        <p:nvSpPr>
          <p:cNvPr id="4483" name="Google Shape;4483;p3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4" name="Google Shape;4484;p3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485" name="Google Shape;4485;p3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486" name="Google Shape;4486;p3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$220,653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487" name="Google Shape;4487;p3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488" name="Google Shape;4488;p3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$108,371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92" name="Shape 4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3" name="Google Shape;4493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4" name="Google Shape;4494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Elizabeth'S Insurance Services, Inc.</a:t>
            </a:r>
            <a:endParaRPr/>
          </a:p>
        </p:txBody>
      </p:sp>
      <p:sp>
        <p:nvSpPr>
          <p:cNvPr id="4495" name="Google Shape;4495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Moreno Valley</a:t>
            </a:r>
            <a:endParaRPr/>
          </a:p>
        </p:txBody>
      </p:sp>
      <p:sp>
        <p:nvSpPr>
          <p:cNvPr id="4496" name="Google Shape;4496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$415,496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497" name="Google Shape;4497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$290,352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98" name="Google Shape;4498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99" name="Google Shape;4499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$125,144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00" name="Google Shape;4500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$-262,232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01" name="Google Shape;4501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$319,292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502" name="Google Shape;4502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$734,789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503" name="Google Shape;4503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504" name="Google Shape;4504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05" name="Google Shape;4505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06" name="Google Shape;4506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07" name="Google Shape;4507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$83,803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508" name="Google Shape;4508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$132,969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509" name="Google Shape;4509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0" name="Google Shape;4510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511" name="Google Shape;4511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12" name="Google Shape;4512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513" name="Google Shape;4513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14" name="Google Shape;4514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15" name="Google Shape;4515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16" name="Google Shape;4516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17" name="Google Shape;4517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8" name="Google Shape;4518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19" name="Google Shape;4519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$158,059</a:t>
            </a:r>
            <a:endParaRPr/>
          </a:p>
        </p:txBody>
      </p:sp>
      <p:sp>
        <p:nvSpPr>
          <p:cNvPr id="4520" name="Google Shape;4520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$160,406</a:t>
            </a:r>
            <a:endParaRPr/>
          </a:p>
        </p:txBody>
      </p:sp>
      <p:sp>
        <p:nvSpPr>
          <p:cNvPr id="4521" name="Google Shape;4521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2" name="Google Shape;4522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$-2,347</a:t>
            </a:r>
            <a:endParaRPr/>
          </a:p>
        </p:txBody>
      </p:sp>
      <p:sp>
        <p:nvSpPr>
          <p:cNvPr id="4523" name="Google Shape;4523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$-1,249</a:t>
            </a:r>
            <a:endParaRPr/>
          </a:p>
        </p:txBody>
      </p:sp>
      <p:sp>
        <p:nvSpPr>
          <p:cNvPr id="4524" name="Google Shape;4524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5" name="Google Shape;4525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26" name="Google Shape;4526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$114,529</a:t>
            </a:r>
            <a:endParaRPr/>
          </a:p>
        </p:txBody>
      </p:sp>
      <p:sp>
        <p:nvSpPr>
          <p:cNvPr id="4527" name="Google Shape;4527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$93,063</a:t>
            </a:r>
            <a:endParaRPr/>
          </a:p>
        </p:txBody>
      </p:sp>
      <p:sp>
        <p:nvSpPr>
          <p:cNvPr id="4528" name="Google Shape;4528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9" name="Google Shape;4529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$21,466</a:t>
            </a:r>
            <a:endParaRPr/>
          </a:p>
        </p:txBody>
      </p:sp>
      <p:sp>
        <p:nvSpPr>
          <p:cNvPr id="4530" name="Google Shape;4530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$-95,007</a:t>
            </a:r>
            <a:endParaRPr/>
          </a:p>
        </p:txBody>
      </p:sp>
      <p:sp>
        <p:nvSpPr>
          <p:cNvPr id="4531" name="Google Shape;4531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2" name="Google Shape;4532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33" name="Google Shape;4533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$86,985</a:t>
            </a:r>
            <a:endParaRPr/>
          </a:p>
        </p:txBody>
      </p:sp>
      <p:sp>
        <p:nvSpPr>
          <p:cNvPr id="4534" name="Google Shape;4534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5" name="Google Shape;4535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6" name="Google Shape;4536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$86,985</a:t>
            </a:r>
            <a:endParaRPr/>
          </a:p>
        </p:txBody>
      </p:sp>
      <p:sp>
        <p:nvSpPr>
          <p:cNvPr id="4537" name="Google Shape;4537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$-86,985</a:t>
            </a:r>
            <a:endParaRPr/>
          </a:p>
        </p:txBody>
      </p:sp>
      <p:sp>
        <p:nvSpPr>
          <p:cNvPr id="4538" name="Google Shape;4538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9" name="Google Shape;4539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40" name="Google Shape;4540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$56,283</a:t>
            </a:r>
            <a:endParaRPr/>
          </a:p>
        </p:txBody>
      </p:sp>
      <p:sp>
        <p:nvSpPr>
          <p:cNvPr id="4541" name="Google Shape;4541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$36,884</a:t>
            </a:r>
            <a:endParaRPr/>
          </a:p>
        </p:txBody>
      </p:sp>
      <p:sp>
        <p:nvSpPr>
          <p:cNvPr id="4542" name="Google Shape;4542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3" name="Google Shape;4543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$19,399</a:t>
            </a:r>
            <a:endParaRPr/>
          </a:p>
        </p:txBody>
      </p:sp>
      <p:sp>
        <p:nvSpPr>
          <p:cNvPr id="4544" name="Google Shape;4544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$-60,999</a:t>
            </a:r>
            <a:endParaRPr/>
          </a:p>
        </p:txBody>
      </p:sp>
      <p:sp>
        <p:nvSpPr>
          <p:cNvPr id="4545" name="Google Shape;4545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6" name="Google Shape;4546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47" name="Google Shape;4547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$-359</a:t>
            </a:r>
            <a:endParaRPr/>
          </a:p>
        </p:txBody>
      </p:sp>
      <p:sp>
        <p:nvSpPr>
          <p:cNvPr id="4548" name="Google Shape;4548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9" name="Google Shape;4549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0" name="Google Shape;4550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$-359</a:t>
            </a:r>
            <a:endParaRPr/>
          </a:p>
        </p:txBody>
      </p:sp>
      <p:sp>
        <p:nvSpPr>
          <p:cNvPr id="4551" name="Google Shape;4551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$-17,992</a:t>
            </a:r>
            <a:endParaRPr/>
          </a:p>
        </p:txBody>
      </p:sp>
      <p:sp>
        <p:nvSpPr>
          <p:cNvPr id="4552" name="Google Shape;4552;p3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3" name="Google Shape;4553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54" name="Google Shape;4554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$415,496</a:t>
            </a:r>
            <a:endParaRPr/>
          </a:p>
        </p:txBody>
      </p:sp>
      <p:sp>
        <p:nvSpPr>
          <p:cNvPr id="4555" name="Google Shape;4555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$290,352</a:t>
            </a:r>
            <a:endParaRPr/>
          </a:p>
        </p:txBody>
      </p:sp>
      <p:sp>
        <p:nvSpPr>
          <p:cNvPr id="4556" name="Google Shape;4556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7" name="Google Shape;4557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$125,144</a:t>
            </a:r>
            <a:endParaRPr/>
          </a:p>
        </p:txBody>
      </p:sp>
      <p:sp>
        <p:nvSpPr>
          <p:cNvPr id="4558" name="Google Shape;4558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$-262,232</a:t>
            </a:r>
            <a:endParaRPr/>
          </a:p>
        </p:txBody>
      </p:sp>
      <p:sp>
        <p:nvSpPr>
          <p:cNvPr id="4559" name="Google Shape;4559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0" name="Google Shape;4560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561" name="Google Shape;4561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62" name="Google Shape;4562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563" name="Google Shape;4563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564" name="Google Shape;4564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565" name="Google Shape;4565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66" name="Google Shape;4566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67" name="Google Shape;4567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8" name="Google Shape;4568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69" name="Google Shape;4569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570" name="Google Shape;4570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571" name="Google Shape;4571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572" name="Google Shape;4572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73" name="Google Shape;4573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4574" name="Google Shape;4574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5" name="Google Shape;4575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76" name="Google Shape;4576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577" name="Google Shape;4577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8" name="Google Shape;4578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579" name="Google Shape;4579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580" name="Google Shape;4580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15.8%</a:t>
            </a:r>
            <a:endParaRPr/>
          </a:p>
        </p:txBody>
      </p:sp>
      <p:sp>
        <p:nvSpPr>
          <p:cNvPr id="4581" name="Google Shape;4581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2" name="Google Shape;4582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83" name="Google Shape;4583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584" name="Google Shape;4584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85" name="Google Shape;4585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586" name="Google Shape;4586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87" name="Google Shape;4587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4588" name="Google Shape;4588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9" name="Google Shape;4589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90" name="Google Shape;4590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591" name="Google Shape;4591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92" name="Google Shape;4592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593" name="Google Shape;4593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94" name="Google Shape;4594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9.8%</a:t>
            </a:r>
            <a:endParaRPr/>
          </a:p>
        </p:txBody>
      </p:sp>
      <p:sp>
        <p:nvSpPr>
          <p:cNvPr id="4595" name="Google Shape;4595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6" name="Google Shape;4596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97" name="Google Shape;4597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598" name="Google Shape;4598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99" name="Google Shape;4599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600" name="Google Shape;4600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01" name="Google Shape;4601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4602" name="Google Shape;4602;p3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3" name="Google Shape;4603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604" name="Google Shape;4604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4605" name="Google Shape;4605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606" name="Google Shape;4606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118</a:t>
            </a:r>
            <a:endParaRPr/>
          </a:p>
        </p:txBody>
      </p:sp>
      <p:sp>
        <p:nvSpPr>
          <p:cNvPr id="4607" name="Google Shape;4607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608" name="Google Shape;4608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4609" name="Google Shape;4609;p3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0" name="Google Shape;4610;p3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611" name="Google Shape;4611;p3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12" name="Google Shape;4612;p3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613" name="Google Shape;4613;p3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614" name="Google Shape;4614;p3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615" name="Google Shape;4615;p3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616" name="Google Shape;4616;p3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617" name="Google Shape;4617;p3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618" name="Google Shape;4618;p3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619" name="Google Shape;4619;p3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620" name="Google Shape;4620;p3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621" name="Google Shape;4621;p3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622" name="Google Shape;4622;p3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623" name="Google Shape;4623;p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624" name="Google Shape;4624;p3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25" name="Google Shape;4625;p3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26" name="Google Shape;4626;p3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627" name="Google Shape;4627;p3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28" name="Google Shape;4628;p3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629" name="Google Shape;4629;p3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30" name="Google Shape;4630;p3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631" name="Google Shape;4631;p3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32" name="Google Shape;4632;p3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633" name="Google Shape;4633;p3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34" name="Google Shape;4634;p3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635" name="Google Shape;4635;p3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36" name="Google Shape;4636;p3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4637" name="Google Shape;4637;p3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638" name="Google Shape;4638;p3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39" name="Google Shape;4639;p3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$158K</a:t>
            </a:r>
            <a:endParaRPr/>
          </a:p>
        </p:txBody>
      </p:sp>
      <p:sp>
        <p:nvSpPr>
          <p:cNvPr id="4640" name="Google Shape;4640;p3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41" name="Google Shape;4641;p3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$115K</a:t>
            </a:r>
            <a:endParaRPr/>
          </a:p>
        </p:txBody>
      </p:sp>
      <p:sp>
        <p:nvSpPr>
          <p:cNvPr id="4642" name="Google Shape;4642;p3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43" name="Google Shape;4643;p3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$87K</a:t>
            </a:r>
            <a:endParaRPr/>
          </a:p>
        </p:txBody>
      </p:sp>
      <p:sp>
        <p:nvSpPr>
          <p:cNvPr id="4644" name="Google Shape;4644;p3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45" name="Google Shape;4645;p3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4646" name="Google Shape;4646;p3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47" name="Google Shape;4647;p3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$-359</a:t>
            </a:r>
            <a:endParaRPr/>
          </a:p>
        </p:txBody>
      </p:sp>
      <p:sp>
        <p:nvSpPr>
          <p:cNvPr id="4648" name="Google Shape;4648;p3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49" name="Google Shape;4649;p3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$415K</a:t>
            </a:r>
            <a:endParaRPr/>
          </a:p>
        </p:txBody>
      </p:sp>
      <p:sp>
        <p:nvSpPr>
          <p:cNvPr id="4650" name="Google Shape;4650;p3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1" name="Google Shape;4651;p3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652" name="Google Shape;4652;p3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53" name="Google Shape;4653;p3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$415,496 YTD gross written premium</a:t>
            </a:r>
            <a:endParaRPr/>
          </a:p>
        </p:txBody>
      </p:sp>
      <p:sp>
        <p:nvSpPr>
          <p:cNvPr id="4654" name="Google Shape;4654;p3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55" name="Google Shape;4655;p3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$290,352 in new business production</a:t>
            </a:r>
            <a:endParaRPr/>
          </a:p>
        </p:txBody>
      </p:sp>
      <p:sp>
        <p:nvSpPr>
          <p:cNvPr id="4656" name="Google Shape;4656;p3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7" name="Google Shape;4657;p3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658" name="Google Shape;4658;p3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59" name="Google Shape;4659;p3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90% of new business ($262,232)</a:t>
            </a:r>
            <a:endParaRPr/>
          </a:p>
        </p:txBody>
      </p:sp>
      <p:sp>
        <p:nvSpPr>
          <p:cNvPr id="4660" name="Google Shape;4660;p3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61" name="Google Shape;4661;p3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101% month-over-month</a:t>
            </a:r>
            <a:endParaRPr/>
          </a:p>
        </p:txBody>
      </p:sp>
      <p:sp>
        <p:nvSpPr>
          <p:cNvPr id="4662" name="Google Shape;4662;p3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3" name="Google Shape;4663;p3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664" name="Google Shape;4664;p3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665" name="Google Shape;4665;p3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$290,352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666" name="Google Shape;4666;p3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667" name="Google Shape;4667;p3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$262,232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71" name="Shape 4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2" name="Google Shape;4672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3" name="Google Shape;4673;p3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Paramount Exclusive Insurance Services, Inc.</a:t>
            </a:r>
            <a:endParaRPr/>
          </a:p>
        </p:txBody>
      </p:sp>
      <p:sp>
        <p:nvSpPr>
          <p:cNvPr id="4674" name="Google Shape;4674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Encino</a:t>
            </a:r>
            <a:endParaRPr/>
          </a:p>
        </p:txBody>
      </p:sp>
      <p:sp>
        <p:nvSpPr>
          <p:cNvPr id="4675" name="Google Shape;4675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$414,604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676" name="Google Shape;4676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$205,197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77" name="Google Shape;4677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$169,896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78" name="Google Shape;4678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79" name="Google Shape;4679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$-205,197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80" name="Google Shape;4680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$165,365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681" name="Google Shape;4681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$412,640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682" name="Google Shape;4682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683" name="Google Shape;4683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84" name="Google Shape;4684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685" name="Google Shape;4685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686" name="Google Shape;4686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$582,288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687" name="Google Shape;4687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688" name="Google Shape;4688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9" name="Google Shape;4689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690" name="Google Shape;4690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691" name="Google Shape;4691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692" name="Google Shape;4692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93" name="Google Shape;4693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94" name="Google Shape;4694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95" name="Google Shape;4695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96" name="Google Shape;4696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7" name="Google Shape;4697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698" name="Google Shape;4698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$-884</a:t>
            </a:r>
            <a:endParaRPr/>
          </a:p>
        </p:txBody>
      </p:sp>
      <p:sp>
        <p:nvSpPr>
          <p:cNvPr id="4699" name="Google Shape;4699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0" name="Google Shape;4700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1" name="Google Shape;4701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$-884</a:t>
            </a:r>
            <a:endParaRPr/>
          </a:p>
        </p:txBody>
      </p:sp>
      <p:sp>
        <p:nvSpPr>
          <p:cNvPr id="4702" name="Google Shape;4702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3" name="Google Shape;4703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4" name="Google Shape;4704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05" name="Google Shape;4705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$375,178</a:t>
            </a:r>
            <a:endParaRPr/>
          </a:p>
        </p:txBody>
      </p:sp>
      <p:sp>
        <p:nvSpPr>
          <p:cNvPr id="4706" name="Google Shape;4706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$205,197</a:t>
            </a:r>
            <a:endParaRPr/>
          </a:p>
        </p:txBody>
      </p:sp>
      <p:sp>
        <p:nvSpPr>
          <p:cNvPr id="4707" name="Google Shape;4707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$169,896</a:t>
            </a:r>
            <a:endParaRPr/>
          </a:p>
        </p:txBody>
      </p:sp>
      <p:sp>
        <p:nvSpPr>
          <p:cNvPr id="4708" name="Google Shape;4708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</a:t>
            </a:r>
            <a:endParaRPr/>
          </a:p>
        </p:txBody>
      </p:sp>
      <p:sp>
        <p:nvSpPr>
          <p:cNvPr id="4709" name="Google Shape;4709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$-205,197</a:t>
            </a:r>
            <a:endParaRPr/>
          </a:p>
        </p:txBody>
      </p:sp>
      <p:sp>
        <p:nvSpPr>
          <p:cNvPr id="4710" name="Google Shape;4710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1" name="Google Shape;4711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12" name="Google Shape;4712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3" name="Google Shape;4713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4" name="Google Shape;4714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5" name="Google Shape;4715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6" name="Google Shape;4716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7" name="Google Shape;4717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8" name="Google Shape;4718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19" name="Google Shape;4719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$11,250</a:t>
            </a:r>
            <a:endParaRPr/>
          </a:p>
        </p:txBody>
      </p:sp>
      <p:sp>
        <p:nvSpPr>
          <p:cNvPr id="4720" name="Google Shape;4720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1" name="Google Shape;4721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2" name="Google Shape;4722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$11,250</a:t>
            </a:r>
            <a:endParaRPr/>
          </a:p>
        </p:txBody>
      </p:sp>
      <p:sp>
        <p:nvSpPr>
          <p:cNvPr id="4723" name="Google Shape;4723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4" name="Google Shape;4724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5" name="Google Shape;4725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26" name="Google Shape;4726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$29,059</a:t>
            </a:r>
            <a:endParaRPr/>
          </a:p>
        </p:txBody>
      </p:sp>
      <p:sp>
        <p:nvSpPr>
          <p:cNvPr id="4727" name="Google Shape;4727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8" name="Google Shape;4728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9" name="Google Shape;4729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$29,059</a:t>
            </a:r>
            <a:endParaRPr/>
          </a:p>
        </p:txBody>
      </p:sp>
      <p:sp>
        <p:nvSpPr>
          <p:cNvPr id="4730" name="Google Shape;4730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1" name="Google Shape;4731;p3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2" name="Google Shape;4732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33" name="Google Shape;4733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$414,604</a:t>
            </a:r>
            <a:endParaRPr/>
          </a:p>
        </p:txBody>
      </p:sp>
      <p:sp>
        <p:nvSpPr>
          <p:cNvPr id="4734" name="Google Shape;4734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$205,197</a:t>
            </a:r>
            <a:endParaRPr/>
          </a:p>
        </p:txBody>
      </p:sp>
      <p:sp>
        <p:nvSpPr>
          <p:cNvPr id="4735" name="Google Shape;4735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$169,896</a:t>
            </a:r>
            <a:endParaRPr/>
          </a:p>
        </p:txBody>
      </p:sp>
      <p:sp>
        <p:nvSpPr>
          <p:cNvPr id="4736" name="Google Shape;4736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$39,511</a:t>
            </a:r>
            <a:endParaRPr/>
          </a:p>
        </p:txBody>
      </p:sp>
      <p:sp>
        <p:nvSpPr>
          <p:cNvPr id="4737" name="Google Shape;4737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$-205,197</a:t>
            </a:r>
            <a:endParaRPr/>
          </a:p>
        </p:txBody>
      </p:sp>
      <p:sp>
        <p:nvSpPr>
          <p:cNvPr id="4738" name="Google Shape;4738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9" name="Google Shape;4739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740" name="Google Shape;4740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41" name="Google Shape;4741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742" name="Google Shape;4742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743" name="Google Shape;4743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744" name="Google Shape;4744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45" name="Google Shape;4745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46" name="Google Shape;4746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7" name="Google Shape;4747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48" name="Google Shape;4748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49" name="Google Shape;4749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50" name="Google Shape;4750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51" name="Google Shape;4751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52" name="Google Shape;4752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4753" name="Google Shape;4753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4" name="Google Shape;4754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55" name="Google Shape;4755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756" name="Google Shape;4756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57" name="Google Shape;4757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58" name="Google Shape;4758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59" name="Google Shape;4759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4760" name="Google Shape;4760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1" name="Google Shape;4761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62" name="Google Shape;4762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763" name="Google Shape;4763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764" name="Google Shape;4764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65" name="Google Shape;4765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66" name="Google Shape;4766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67" name="Google Shape;4767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8" name="Google Shape;4768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69" name="Google Shape;4769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70" name="Google Shape;4770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71" name="Google Shape;4771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772" name="Google Shape;4772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73" name="Google Shape;4773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4774" name="Google Shape;4774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5" name="Google Shape;4775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76" name="Google Shape;4776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77" name="Google Shape;4777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78" name="Google Shape;4778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79" name="Google Shape;4779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80" name="Google Shape;4780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4781" name="Google Shape;4781;p3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2" name="Google Shape;4782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83" name="Google Shape;4783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784" name="Google Shape;4784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785" name="Google Shape;4785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786" name="Google Shape;4786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87" name="Google Shape;4787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11.5%</a:t>
            </a:r>
            <a:endParaRPr/>
          </a:p>
        </p:txBody>
      </p:sp>
      <p:sp>
        <p:nvSpPr>
          <p:cNvPr id="4788" name="Google Shape;4788;p3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9" name="Google Shape;4789;p3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790" name="Google Shape;4790;p3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791" name="Google Shape;4791;p3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792" name="Google Shape;4792;p3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793" name="Google Shape;4793;p3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794" name="Google Shape;4794;p3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795" name="Google Shape;4795;p3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796" name="Google Shape;4796;p3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797" name="Google Shape;4797;p3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798" name="Google Shape;4798;p3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799" name="Google Shape;4799;p3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800" name="Google Shape;4800;p3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801" name="Google Shape;4801;p3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802" name="Google Shape;4802;p3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803" name="Google Shape;4803;p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04" name="Google Shape;4804;p3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805" name="Google Shape;4805;p3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806" name="Google Shape;4806;p3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07" name="Google Shape;4807;p3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808" name="Google Shape;4808;p3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809" name="Google Shape;4809;p3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810" name="Google Shape;4810;p3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811" name="Google Shape;4811;p3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812" name="Google Shape;4812;p3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813" name="Google Shape;4813;p3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14" name="Google Shape;4814;p3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815" name="Google Shape;4815;p3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4816" name="Google Shape;4816;p3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817" name="Google Shape;4817;p3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18" name="Google Shape;4818;p3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$-884</a:t>
            </a:r>
            <a:endParaRPr/>
          </a:p>
        </p:txBody>
      </p:sp>
      <p:sp>
        <p:nvSpPr>
          <p:cNvPr id="4819" name="Google Shape;4819;p3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$199K</a:t>
            </a:r>
            <a:endParaRPr/>
          </a:p>
        </p:txBody>
      </p:sp>
      <p:sp>
        <p:nvSpPr>
          <p:cNvPr id="4820" name="Google Shape;4820;p3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$375K</a:t>
            </a:r>
            <a:endParaRPr/>
          </a:p>
        </p:txBody>
      </p:sp>
      <p:sp>
        <p:nvSpPr>
          <p:cNvPr id="4821" name="Google Shape;4821;p3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$-28,438</a:t>
            </a:r>
            <a:endParaRPr/>
          </a:p>
        </p:txBody>
      </p:sp>
      <p:sp>
        <p:nvSpPr>
          <p:cNvPr id="4822" name="Google Shape;4822;p3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23" name="Google Shape;4823;p3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$-1,277</a:t>
            </a:r>
            <a:endParaRPr/>
          </a:p>
        </p:txBody>
      </p:sp>
      <p:sp>
        <p:nvSpPr>
          <p:cNvPr id="4824" name="Google Shape;4824;p3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4825" name="Google Shape;4825;p3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$-1,542</a:t>
            </a:r>
            <a:endParaRPr/>
          </a:p>
        </p:txBody>
      </p:sp>
      <p:sp>
        <p:nvSpPr>
          <p:cNvPr id="4826" name="Google Shape;4826;p3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4827" name="Google Shape;4827;p3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$167K</a:t>
            </a:r>
            <a:endParaRPr/>
          </a:p>
        </p:txBody>
      </p:sp>
      <p:sp>
        <p:nvSpPr>
          <p:cNvPr id="4828" name="Google Shape;4828;p3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$415K</a:t>
            </a:r>
            <a:endParaRPr/>
          </a:p>
        </p:txBody>
      </p:sp>
      <p:sp>
        <p:nvSpPr>
          <p:cNvPr id="4829" name="Google Shape;4829;p3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0" name="Google Shape;4830;p3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831" name="Google Shape;4831;p3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32" name="Google Shape;4832;p3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$414,604 YTD gross written premium</a:t>
            </a:r>
            <a:endParaRPr/>
          </a:p>
        </p:txBody>
      </p:sp>
      <p:sp>
        <p:nvSpPr>
          <p:cNvPr id="4833" name="Google Shape;4833;p3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34" name="Google Shape;4834;p3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$205,197 in new business production</a:t>
            </a:r>
            <a:endParaRPr/>
          </a:p>
        </p:txBody>
      </p:sp>
      <p:sp>
        <p:nvSpPr>
          <p:cNvPr id="4835" name="Google Shape;4835;p3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6" name="Google Shape;4836;p3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837" name="Google Shape;4837;p3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38" name="Google Shape;4838;p3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100% of new business ($205,197)</a:t>
            </a:r>
            <a:endParaRPr/>
          </a:p>
        </p:txBody>
      </p:sp>
      <p:sp>
        <p:nvSpPr>
          <p:cNvPr id="4839" name="Google Shape;4839;p3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40" name="Google Shape;4840;p3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9 to 2 MoM</a:t>
            </a:r>
            <a:endParaRPr/>
          </a:p>
        </p:txBody>
      </p:sp>
      <p:sp>
        <p:nvSpPr>
          <p:cNvPr id="4841" name="Google Shape;4841;p3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2" name="Google Shape;4842;p3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843" name="Google Shape;4843;p3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844" name="Google Shape;4844;p3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$205,197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845" name="Google Shape;4845;p3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846" name="Google Shape;4846;p3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$205,197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50" name="Shape 4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1" name="Google Shape;4851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2" name="Google Shape;4852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 Secure Insurance Services, Inc</a:t>
            </a:r>
            <a:endParaRPr/>
          </a:p>
        </p:txBody>
      </p:sp>
      <p:sp>
        <p:nvSpPr>
          <p:cNvPr id="4853" name="Google Shape;4853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Santa Clarita</a:t>
            </a:r>
            <a:endParaRPr/>
          </a:p>
        </p:txBody>
      </p:sp>
      <p:sp>
        <p:nvSpPr>
          <p:cNvPr id="4854" name="Google Shape;4854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$412,587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855" name="Google Shape;4855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$239,488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56" name="Google Shape;4856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57" name="Google Shape;4857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$173,099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58" name="Google Shape;4858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$-280,828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59" name="Google Shape;4859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$38,432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860" name="Google Shape;4860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$451,019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861" name="Google Shape;4861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862" name="Google Shape;4862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63" name="Google Shape;4863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64" name="Google Shape;4864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65" name="Google Shape;4865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866" name="Google Shape;4866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$179,834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867" name="Google Shape;4867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8" name="Google Shape;4868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869" name="Google Shape;4869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70" name="Google Shape;4870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871" name="Google Shape;4871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72" name="Google Shape;4872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73" name="Google Shape;4873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74" name="Google Shape;4874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75" name="Google Shape;4875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6" name="Google Shape;4876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77" name="Google Shape;4877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8" name="Google Shape;4878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9" name="Google Shape;4879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0" name="Google Shape;4880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1" name="Google Shape;4881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$-9,983</a:t>
            </a:r>
            <a:endParaRPr/>
          </a:p>
        </p:txBody>
      </p:sp>
      <p:sp>
        <p:nvSpPr>
          <p:cNvPr id="4882" name="Google Shape;4882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3" name="Google Shape;4883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884" name="Google Shape;4884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$40,906</a:t>
            </a:r>
            <a:endParaRPr/>
          </a:p>
        </p:txBody>
      </p:sp>
      <p:sp>
        <p:nvSpPr>
          <p:cNvPr id="4885" name="Google Shape;4885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$40,906</a:t>
            </a:r>
            <a:endParaRPr/>
          </a:p>
        </p:txBody>
      </p:sp>
      <p:sp>
        <p:nvSpPr>
          <p:cNvPr id="4886" name="Google Shape;4886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7" name="Google Shape;4887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8" name="Google Shape;4888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$-10,665</a:t>
            </a:r>
            <a:endParaRPr/>
          </a:p>
        </p:txBody>
      </p:sp>
      <p:sp>
        <p:nvSpPr>
          <p:cNvPr id="4889" name="Google Shape;4889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0" name="Google Shape;4890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891" name="Google Shape;4891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$78,730</a:t>
            </a:r>
            <a:endParaRPr/>
          </a:p>
        </p:txBody>
      </p:sp>
      <p:sp>
        <p:nvSpPr>
          <p:cNvPr id="4892" name="Google Shape;4892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$40,738</a:t>
            </a:r>
            <a:endParaRPr/>
          </a:p>
        </p:txBody>
      </p:sp>
      <p:sp>
        <p:nvSpPr>
          <p:cNvPr id="4893" name="Google Shape;4893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4" name="Google Shape;4894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$37,992</a:t>
            </a:r>
            <a:endParaRPr/>
          </a:p>
        </p:txBody>
      </p:sp>
      <p:sp>
        <p:nvSpPr>
          <p:cNvPr id="4895" name="Google Shape;4895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$-37,992</a:t>
            </a:r>
            <a:endParaRPr/>
          </a:p>
        </p:txBody>
      </p:sp>
      <p:sp>
        <p:nvSpPr>
          <p:cNvPr id="4896" name="Google Shape;4896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7" name="Google Shape;4897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898" name="Google Shape;4898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$272,003</a:t>
            </a:r>
            <a:endParaRPr/>
          </a:p>
        </p:txBody>
      </p:sp>
      <p:sp>
        <p:nvSpPr>
          <p:cNvPr id="4899" name="Google Shape;4899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$135,975</a:t>
            </a:r>
            <a:endParaRPr/>
          </a:p>
        </p:txBody>
      </p:sp>
      <p:sp>
        <p:nvSpPr>
          <p:cNvPr id="4900" name="Google Shape;4900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1" name="Google Shape;4901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$136,028</a:t>
            </a:r>
            <a:endParaRPr/>
          </a:p>
        </p:txBody>
      </p:sp>
      <p:sp>
        <p:nvSpPr>
          <p:cNvPr id="4902" name="Google Shape;4902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$-151,635</a:t>
            </a:r>
            <a:endParaRPr/>
          </a:p>
        </p:txBody>
      </p:sp>
      <p:sp>
        <p:nvSpPr>
          <p:cNvPr id="4903" name="Google Shape;4903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4" name="Google Shape;4904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05" name="Google Shape;4905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$20,947</a:t>
            </a:r>
            <a:endParaRPr/>
          </a:p>
        </p:txBody>
      </p:sp>
      <p:sp>
        <p:nvSpPr>
          <p:cNvPr id="4906" name="Google Shape;4906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$21,868</a:t>
            </a:r>
            <a:endParaRPr/>
          </a:p>
        </p:txBody>
      </p:sp>
      <p:sp>
        <p:nvSpPr>
          <p:cNvPr id="4907" name="Google Shape;4907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8" name="Google Shape;4908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$-922</a:t>
            </a:r>
            <a:endParaRPr/>
          </a:p>
        </p:txBody>
      </p:sp>
      <p:sp>
        <p:nvSpPr>
          <p:cNvPr id="4909" name="Google Shape;4909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$-70,553</a:t>
            </a:r>
            <a:endParaRPr/>
          </a:p>
        </p:txBody>
      </p:sp>
      <p:sp>
        <p:nvSpPr>
          <p:cNvPr id="4910" name="Google Shape;4910;p3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1" name="Google Shape;4911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12" name="Google Shape;4912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$412,587</a:t>
            </a:r>
            <a:endParaRPr/>
          </a:p>
        </p:txBody>
      </p:sp>
      <p:sp>
        <p:nvSpPr>
          <p:cNvPr id="4913" name="Google Shape;4913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$239,488</a:t>
            </a:r>
            <a:endParaRPr/>
          </a:p>
        </p:txBody>
      </p:sp>
      <p:sp>
        <p:nvSpPr>
          <p:cNvPr id="4914" name="Google Shape;4914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5" name="Google Shape;4915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$173,099</a:t>
            </a:r>
            <a:endParaRPr/>
          </a:p>
        </p:txBody>
      </p:sp>
      <p:sp>
        <p:nvSpPr>
          <p:cNvPr id="4916" name="Google Shape;4916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$-280,828</a:t>
            </a:r>
            <a:endParaRPr/>
          </a:p>
        </p:txBody>
      </p:sp>
      <p:sp>
        <p:nvSpPr>
          <p:cNvPr id="4917" name="Google Shape;4917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8" name="Google Shape;4918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919" name="Google Shape;4919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20" name="Google Shape;4920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921" name="Google Shape;4921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922" name="Google Shape;4922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923" name="Google Shape;4923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924" name="Google Shape;4924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25" name="Google Shape;4925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6" name="Google Shape;4926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27" name="Google Shape;4927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928" name="Google Shape;4928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29" name="Google Shape;4929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930" name="Google Shape;4930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31" name="Google Shape;4931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32" name="Google Shape;4932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3" name="Google Shape;4933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34" name="Google Shape;4934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935" name="Google Shape;4935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36" name="Google Shape;4936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937" name="Google Shape;4937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38" name="Google Shape;4938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4939" name="Google Shape;4939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0" name="Google Shape;4940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41" name="Google Shape;4941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942" name="Google Shape;4942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43" name="Google Shape;4943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944" name="Google Shape;4944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45" name="Google Shape;4945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9.4%</a:t>
            </a:r>
            <a:endParaRPr/>
          </a:p>
        </p:txBody>
      </p:sp>
      <p:sp>
        <p:nvSpPr>
          <p:cNvPr id="4946" name="Google Shape;4946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7" name="Google Shape;4947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48" name="Google Shape;4948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949" name="Google Shape;4949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50" name="Google Shape;4950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4951" name="Google Shape;4951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52" name="Google Shape;4952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4953" name="Google Shape;4953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4" name="Google Shape;4954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55" name="Google Shape;4955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956" name="Google Shape;4956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57" name="Google Shape;4957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958" name="Google Shape;4958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59" name="Google Shape;4959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4960" name="Google Shape;4960;p3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1" name="Google Shape;4961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62" name="Google Shape;4962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</a:t>
            </a:r>
            <a:endParaRPr/>
          </a:p>
        </p:txBody>
      </p:sp>
      <p:sp>
        <p:nvSpPr>
          <p:cNvPr id="4963" name="Google Shape;4963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964" name="Google Shape;4964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</a:t>
            </a:r>
            <a:endParaRPr/>
          </a:p>
        </p:txBody>
      </p:sp>
      <p:sp>
        <p:nvSpPr>
          <p:cNvPr id="4965" name="Google Shape;4965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966" name="Google Shape;4966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</p:txBody>
      </p:sp>
      <p:sp>
        <p:nvSpPr>
          <p:cNvPr id="4967" name="Google Shape;4967;p3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8" name="Google Shape;4968;p3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969" name="Google Shape;4969;p3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70" name="Google Shape;4970;p3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971" name="Google Shape;4971;p3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972" name="Google Shape;4972;p3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973" name="Google Shape;4973;p3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974" name="Google Shape;4974;p3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975" name="Google Shape;4975;p3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976" name="Google Shape;4976;p3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977" name="Google Shape;4977;p3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978" name="Google Shape;4978;p3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979" name="Google Shape;4979;p3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980" name="Google Shape;4980;p3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981" name="Google Shape;4981;p3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982" name="Google Shape;4982;p3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983" name="Google Shape;4983;p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4984" name="Google Shape;4984;p3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985" name="Google Shape;4985;p3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4986" name="Google Shape;4986;p3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987" name="Google Shape;4987;p3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4988" name="Google Shape;4988;p3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989" name="Google Shape;4989;p3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4990" name="Google Shape;4990;p3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991" name="Google Shape;4991;p3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992" name="Google Shape;4992;p3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993" name="Google Shape;4993;p3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303</a:t>
            </a:r>
            <a:endParaRPr/>
          </a:p>
        </p:txBody>
      </p:sp>
      <p:sp>
        <p:nvSpPr>
          <p:cNvPr id="4994" name="Google Shape;4994;p3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156</a:t>
            </a:r>
            <a:endParaRPr/>
          </a:p>
        </p:txBody>
      </p:sp>
      <p:sp>
        <p:nvSpPr>
          <p:cNvPr id="4995" name="Google Shape;4995;p3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996" name="Google Shape;4996;p3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7" name="Google Shape;4997;p3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8" name="Google Shape;4998;p3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9" name="Google Shape;4999;p3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5000" name="Google Shape;5000;p3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01" name="Google Shape;5001;p3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5002" name="Google Shape;5002;p3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03" name="Google Shape;5003;p3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$272K</a:t>
            </a:r>
            <a:endParaRPr/>
          </a:p>
        </p:txBody>
      </p:sp>
      <p:sp>
        <p:nvSpPr>
          <p:cNvPr id="5004" name="Google Shape;5004;p3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05" name="Google Shape;5005;p3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5006" name="Google Shape;5006;p3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07" name="Google Shape;5007;p3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$413K</a:t>
            </a:r>
            <a:endParaRPr/>
          </a:p>
        </p:txBody>
      </p:sp>
      <p:sp>
        <p:nvSpPr>
          <p:cNvPr id="5008" name="Google Shape;5008;p3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9" name="Google Shape;5009;p3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010" name="Google Shape;5010;p3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11" name="Google Shape;5011;p3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$412,587 YTD gross written premium</a:t>
            </a:r>
            <a:endParaRPr/>
          </a:p>
        </p:txBody>
      </p:sp>
      <p:sp>
        <p:nvSpPr>
          <p:cNvPr id="5012" name="Google Shape;5012;p3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13" name="Google Shape;5013;p3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$239,488 in new business production</a:t>
            </a:r>
            <a:endParaRPr/>
          </a:p>
        </p:txBody>
      </p:sp>
      <p:sp>
        <p:nvSpPr>
          <p:cNvPr id="5014" name="Google Shape;5014;p3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5" name="Google Shape;5015;p3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016" name="Google Shape;5016;p3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17" name="Google Shape;5017;p3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117% of new business ($280,828)</a:t>
            </a:r>
            <a:endParaRPr/>
          </a:p>
        </p:txBody>
      </p:sp>
      <p:sp>
        <p:nvSpPr>
          <p:cNvPr id="5018" name="Google Shape;5018;p3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19" name="Google Shape;5019;p3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92% month-over-month</a:t>
            </a:r>
            <a:endParaRPr/>
          </a:p>
        </p:txBody>
      </p:sp>
      <p:sp>
        <p:nvSpPr>
          <p:cNvPr id="5020" name="Google Shape;5020;p3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1" name="Google Shape;5021;p3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022" name="Google Shape;5022;p3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023" name="Google Shape;5023;p3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$239,488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5024" name="Google Shape;5024;p3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025" name="Google Shape;5025;p3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$280,828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29" name="Shape 5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0" name="Google Shape;5030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1" name="Google Shape;5031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Noel Cajinas Insurance Agency, Inc</a:t>
            </a:r>
            <a:endParaRPr/>
          </a:p>
        </p:txBody>
      </p:sp>
      <p:sp>
        <p:nvSpPr>
          <p:cNvPr id="5032" name="Google Shape;5032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Huntington Park</a:t>
            </a:r>
            <a:endParaRPr/>
          </a:p>
        </p:txBody>
      </p:sp>
      <p:sp>
        <p:nvSpPr>
          <p:cNvPr id="5033" name="Google Shape;5033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$408,548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034" name="Google Shape;5034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$257,486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35" name="Google Shape;5035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$57,123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36" name="Google Shape;5036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$93,939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37" name="Google Shape;5037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$-90,449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38" name="Google Shape;5038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$511,170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039" name="Google Shape;5039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$615,182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040" name="Google Shape;5040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041" name="Google Shape;5041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42" name="Google Shape;5042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43" name="Google Shape;5043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44" name="Google Shape;5044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$120,480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045" name="Google Shape;5045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$239,674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046" name="Google Shape;5046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7" name="Google Shape;5047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048" name="Google Shape;5048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49" name="Google Shape;5049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050" name="Google Shape;5050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51" name="Google Shape;5051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52" name="Google Shape;5052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53" name="Google Shape;5053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54" name="Google Shape;5054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5" name="Google Shape;5055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56" name="Google Shape;5056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$20,907</a:t>
            </a:r>
            <a:endParaRPr/>
          </a:p>
        </p:txBody>
      </p:sp>
      <p:sp>
        <p:nvSpPr>
          <p:cNvPr id="5057" name="Google Shape;5057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$20,907</a:t>
            </a:r>
            <a:endParaRPr/>
          </a:p>
        </p:txBody>
      </p:sp>
      <p:sp>
        <p:nvSpPr>
          <p:cNvPr id="5058" name="Google Shape;5058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9" name="Google Shape;5059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0" name="Google Shape;5060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$-11,139</a:t>
            </a:r>
            <a:endParaRPr/>
          </a:p>
        </p:txBody>
      </p:sp>
      <p:sp>
        <p:nvSpPr>
          <p:cNvPr id="5061" name="Google Shape;5061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2" name="Google Shape;5062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63" name="Google Shape;5063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$121,214</a:t>
            </a:r>
            <a:endParaRPr/>
          </a:p>
        </p:txBody>
      </p:sp>
      <p:sp>
        <p:nvSpPr>
          <p:cNvPr id="5064" name="Google Shape;5064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$102,846</a:t>
            </a:r>
            <a:endParaRPr/>
          </a:p>
        </p:txBody>
      </p:sp>
      <p:sp>
        <p:nvSpPr>
          <p:cNvPr id="5065" name="Google Shape;5065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6" name="Google Shape;5066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$18,368</a:t>
            </a:r>
            <a:endParaRPr/>
          </a:p>
        </p:txBody>
      </p:sp>
      <p:sp>
        <p:nvSpPr>
          <p:cNvPr id="5067" name="Google Shape;5067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$-33,764</a:t>
            </a:r>
            <a:endParaRPr/>
          </a:p>
        </p:txBody>
      </p:sp>
      <p:sp>
        <p:nvSpPr>
          <p:cNvPr id="5068" name="Google Shape;5068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9" name="Google Shape;5069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70" name="Google Shape;5070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$164,539</a:t>
            </a:r>
            <a:endParaRPr/>
          </a:p>
        </p:txBody>
      </p:sp>
      <p:sp>
        <p:nvSpPr>
          <p:cNvPr id="5071" name="Google Shape;5071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$39,394</a:t>
            </a:r>
            <a:endParaRPr/>
          </a:p>
        </p:txBody>
      </p:sp>
      <p:sp>
        <p:nvSpPr>
          <p:cNvPr id="5072" name="Google Shape;5072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$57,123</a:t>
            </a:r>
            <a:endParaRPr/>
          </a:p>
        </p:txBody>
      </p:sp>
      <p:sp>
        <p:nvSpPr>
          <p:cNvPr id="5073" name="Google Shape;5073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$68,023</a:t>
            </a:r>
            <a:endParaRPr/>
          </a:p>
        </p:txBody>
      </p:sp>
      <p:sp>
        <p:nvSpPr>
          <p:cNvPr id="5074" name="Google Shape;5074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$-30,932</a:t>
            </a:r>
            <a:endParaRPr/>
          </a:p>
        </p:txBody>
      </p:sp>
      <p:sp>
        <p:nvSpPr>
          <p:cNvPr id="5075" name="Google Shape;5075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6" name="Google Shape;5076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77" name="Google Shape;5077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$14,994</a:t>
            </a:r>
            <a:endParaRPr/>
          </a:p>
        </p:txBody>
      </p:sp>
      <p:sp>
        <p:nvSpPr>
          <p:cNvPr id="5078" name="Google Shape;5078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$12,049</a:t>
            </a:r>
            <a:endParaRPr/>
          </a:p>
        </p:txBody>
      </p:sp>
      <p:sp>
        <p:nvSpPr>
          <p:cNvPr id="5079" name="Google Shape;5079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0" name="Google Shape;5080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$2,945</a:t>
            </a:r>
            <a:endParaRPr/>
          </a:p>
        </p:txBody>
      </p:sp>
      <p:sp>
        <p:nvSpPr>
          <p:cNvPr id="5081" name="Google Shape;5081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2" name="Google Shape;5082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3" name="Google Shape;5083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84" name="Google Shape;5084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$86,893</a:t>
            </a:r>
            <a:endParaRPr/>
          </a:p>
        </p:txBody>
      </p:sp>
      <p:sp>
        <p:nvSpPr>
          <p:cNvPr id="5085" name="Google Shape;5085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$82,290</a:t>
            </a:r>
            <a:endParaRPr/>
          </a:p>
        </p:txBody>
      </p:sp>
      <p:sp>
        <p:nvSpPr>
          <p:cNvPr id="5086" name="Google Shape;5086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7" name="Google Shape;5087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$4,603</a:t>
            </a:r>
            <a:endParaRPr/>
          </a:p>
        </p:txBody>
      </p:sp>
      <p:sp>
        <p:nvSpPr>
          <p:cNvPr id="5088" name="Google Shape;5088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$-14,615</a:t>
            </a:r>
            <a:endParaRPr/>
          </a:p>
        </p:txBody>
      </p:sp>
      <p:sp>
        <p:nvSpPr>
          <p:cNvPr id="5089" name="Google Shape;5089;p3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0" name="Google Shape;5090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091" name="Google Shape;5091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$408,548</a:t>
            </a:r>
            <a:endParaRPr/>
          </a:p>
        </p:txBody>
      </p:sp>
      <p:sp>
        <p:nvSpPr>
          <p:cNvPr id="5092" name="Google Shape;5092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$257,486</a:t>
            </a:r>
            <a:endParaRPr/>
          </a:p>
        </p:txBody>
      </p:sp>
      <p:sp>
        <p:nvSpPr>
          <p:cNvPr id="5093" name="Google Shape;5093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$57,123</a:t>
            </a:r>
            <a:endParaRPr/>
          </a:p>
        </p:txBody>
      </p:sp>
      <p:sp>
        <p:nvSpPr>
          <p:cNvPr id="5094" name="Google Shape;5094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$93,939</a:t>
            </a:r>
            <a:endParaRPr/>
          </a:p>
        </p:txBody>
      </p:sp>
      <p:sp>
        <p:nvSpPr>
          <p:cNvPr id="5095" name="Google Shape;5095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$-90,449</a:t>
            </a:r>
            <a:endParaRPr/>
          </a:p>
        </p:txBody>
      </p:sp>
      <p:sp>
        <p:nvSpPr>
          <p:cNvPr id="5096" name="Google Shape;5096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7" name="Google Shape;5097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098" name="Google Shape;5098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99" name="Google Shape;5099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100" name="Google Shape;5100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101" name="Google Shape;5101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102" name="Google Shape;5102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03" name="Google Shape;5103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04" name="Google Shape;5104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5" name="Google Shape;5105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06" name="Google Shape;5106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107" name="Google Shape;5107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08" name="Google Shape;5108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109" name="Google Shape;5109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110" name="Google Shape;5110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5111" name="Google Shape;5111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2" name="Google Shape;5112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13" name="Google Shape;5113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114" name="Google Shape;5114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15" name="Google Shape;5115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116" name="Google Shape;5116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17" name="Google Shape;5117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30.0%</a:t>
            </a:r>
            <a:endParaRPr/>
          </a:p>
        </p:txBody>
      </p:sp>
      <p:sp>
        <p:nvSpPr>
          <p:cNvPr id="5118" name="Google Shape;5118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9" name="Google Shape;5119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20" name="Google Shape;5120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121" name="Google Shape;5121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2" name="Google Shape;5122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123" name="Google Shape;5123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124" name="Google Shape;5124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42.9%</a:t>
            </a:r>
            <a:endParaRPr/>
          </a:p>
        </p:txBody>
      </p:sp>
      <p:sp>
        <p:nvSpPr>
          <p:cNvPr id="5125" name="Google Shape;5125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6" name="Google Shape;5126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27" name="Google Shape;5127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128" name="Google Shape;5128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29" name="Google Shape;5129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130" name="Google Shape;5130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31" name="Google Shape;5131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30.0%</a:t>
            </a:r>
            <a:endParaRPr/>
          </a:p>
        </p:txBody>
      </p:sp>
      <p:sp>
        <p:nvSpPr>
          <p:cNvPr id="5132" name="Google Shape;5132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3" name="Google Shape;5133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34" name="Google Shape;5134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135" name="Google Shape;5135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36" name="Google Shape;5136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137" name="Google Shape;5137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138" name="Google Shape;5138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26.7%</a:t>
            </a:r>
            <a:endParaRPr/>
          </a:p>
        </p:txBody>
      </p:sp>
      <p:sp>
        <p:nvSpPr>
          <p:cNvPr id="5139" name="Google Shape;5139;p3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0" name="Google Shape;5140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41" name="Google Shape;5141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5142" name="Google Shape;5142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143" name="Google Shape;5143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5144" name="Google Shape;5144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145" name="Google Shape;5145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18.9%</a:t>
            </a:r>
            <a:endParaRPr/>
          </a:p>
        </p:txBody>
      </p:sp>
      <p:sp>
        <p:nvSpPr>
          <p:cNvPr id="5146" name="Google Shape;5146;p3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7" name="Google Shape;5147;p3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148" name="Google Shape;5148;p3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49" name="Google Shape;5149;p3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150" name="Google Shape;5150;p3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151" name="Google Shape;5151;p3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152" name="Google Shape;5152;p3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153" name="Google Shape;5153;p3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154" name="Google Shape;5154;p3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155" name="Google Shape;5155;p3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156" name="Google Shape;5156;p3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157" name="Google Shape;5157;p3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158" name="Google Shape;5158;p3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159" name="Google Shape;5159;p3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160" name="Google Shape;5160;p3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161" name="Google Shape;5161;p3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62" name="Google Shape;5162;p3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163" name="Google Shape;5163;p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164" name="Google Shape;5164;p3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165" name="Google Shape;5165;p3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166" name="Google Shape;5166;p3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167" name="Google Shape;5167;p3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168" name="Google Shape;5168;p3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169" name="Google Shape;5169;p3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170" name="Google Shape;5170;p3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171" name="Google Shape;5171;p3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172" name="Google Shape;5172;p3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5173" name="Google Shape;5173;p3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5174" name="Google Shape;5174;p3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175" name="Google Shape;5175;p3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5176" name="Google Shape;5176;p3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5177" name="Google Shape;5177;p3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$73K</a:t>
            </a:r>
            <a:endParaRPr/>
          </a:p>
        </p:txBody>
      </p:sp>
      <p:sp>
        <p:nvSpPr>
          <p:cNvPr id="5178" name="Google Shape;5178;p3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5179" name="Google Shape;5179;p3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$148K</a:t>
            </a:r>
            <a:endParaRPr/>
          </a:p>
        </p:txBody>
      </p:sp>
      <p:sp>
        <p:nvSpPr>
          <p:cNvPr id="5180" name="Google Shape;5180;p3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$165K</a:t>
            </a:r>
            <a:endParaRPr/>
          </a:p>
        </p:txBody>
      </p:sp>
      <p:sp>
        <p:nvSpPr>
          <p:cNvPr id="5181" name="Google Shape;5181;p3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5182" name="Google Shape;5182;p3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183" name="Google Shape;5183;p3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5184" name="Google Shape;5184;p3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$87K</a:t>
            </a:r>
            <a:endParaRPr/>
          </a:p>
        </p:txBody>
      </p:sp>
      <p:sp>
        <p:nvSpPr>
          <p:cNvPr id="5185" name="Google Shape;5185;p3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$305K</a:t>
            </a:r>
            <a:endParaRPr/>
          </a:p>
        </p:txBody>
      </p:sp>
      <p:sp>
        <p:nvSpPr>
          <p:cNvPr id="5186" name="Google Shape;5186;p3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$409K</a:t>
            </a:r>
            <a:endParaRPr/>
          </a:p>
        </p:txBody>
      </p:sp>
      <p:sp>
        <p:nvSpPr>
          <p:cNvPr id="5187" name="Google Shape;5187;p3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8" name="Google Shape;5188;p3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189" name="Google Shape;5189;p3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90" name="Google Shape;5190;p3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$408,548 YTD gross written premium</a:t>
            </a:r>
            <a:endParaRPr/>
          </a:p>
        </p:txBody>
      </p:sp>
      <p:sp>
        <p:nvSpPr>
          <p:cNvPr id="5191" name="Google Shape;5191;p3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92" name="Google Shape;5192;p3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$257,486 in new business production</a:t>
            </a:r>
            <a:endParaRPr/>
          </a:p>
        </p:txBody>
      </p:sp>
      <p:sp>
        <p:nvSpPr>
          <p:cNvPr id="5193" name="Google Shape;5193;p3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4" name="Google Shape;5194;p3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195" name="Google Shape;5195;p3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196" name="Google Shape;5196;p3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5197" name="Google Shape;5197;p3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198" name="Google Shape;5198;p3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5199" name="Google Shape;5199;p3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0" name="Google Shape;5200;p3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201" name="Google Shape;5201;p3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202" name="Google Shape;5202;p3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$257,486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5203" name="Google Shape;5203;p3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204" name="Google Shape;5204;p3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$90,449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08" name="Shape 5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9" name="Google Shape;5209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0" name="Google Shape;5210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Western Truck Insurance Services, Inc.</a:t>
            </a:r>
            <a:endParaRPr/>
          </a:p>
        </p:txBody>
      </p:sp>
      <p:sp>
        <p:nvSpPr>
          <p:cNvPr id="5211" name="Google Shape;5211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Inglewood</a:t>
            </a:r>
            <a:endParaRPr/>
          </a:p>
        </p:txBody>
      </p:sp>
      <p:sp>
        <p:nvSpPr>
          <p:cNvPr id="5212" name="Google Shape;5212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$361,459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213" name="Google Shape;5213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$348,621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14" name="Google Shape;5214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15" name="Google Shape;5215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16" name="Google Shape;5216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$-206,178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17" name="Google Shape;5217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$174,364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218" name="Google Shape;5218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$440,465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219" name="Google Shape;5219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220" name="Google Shape;5220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21" name="Google Shape;5221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22" name="Google Shape;5222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23" name="Google Shape;5223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$255,717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224" name="Google Shape;5224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$61,223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225" name="Google Shape;5225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6" name="Google Shape;5226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227" name="Google Shape;5227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28" name="Google Shape;5228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229" name="Google Shape;5229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30" name="Google Shape;5230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31" name="Google Shape;5231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32" name="Google Shape;5232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33" name="Google Shape;5233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4" name="Google Shape;5234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35" name="Google Shape;5235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$23,613</a:t>
            </a:r>
            <a:endParaRPr/>
          </a:p>
        </p:txBody>
      </p:sp>
      <p:sp>
        <p:nvSpPr>
          <p:cNvPr id="5236" name="Google Shape;5236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$23,613</a:t>
            </a:r>
            <a:endParaRPr/>
          </a:p>
        </p:txBody>
      </p:sp>
      <p:sp>
        <p:nvSpPr>
          <p:cNvPr id="5237" name="Google Shape;5237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8" name="Google Shape;5238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9" name="Google Shape;5239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$-4,223</a:t>
            </a:r>
            <a:endParaRPr/>
          </a:p>
        </p:txBody>
      </p:sp>
      <p:sp>
        <p:nvSpPr>
          <p:cNvPr id="5240" name="Google Shape;5240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1" name="Google Shape;5241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42" name="Google Shape;5242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$41,288</a:t>
            </a:r>
            <a:endParaRPr/>
          </a:p>
        </p:txBody>
      </p:sp>
      <p:sp>
        <p:nvSpPr>
          <p:cNvPr id="5243" name="Google Shape;5243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$41,288</a:t>
            </a:r>
            <a:endParaRPr/>
          </a:p>
        </p:txBody>
      </p:sp>
      <p:sp>
        <p:nvSpPr>
          <p:cNvPr id="5244" name="Google Shape;5244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5" name="Google Shape;5245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6" name="Google Shape;5246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7" name="Google Shape;5247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8" name="Google Shape;5248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49" name="Google Shape;5249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$79,410</a:t>
            </a:r>
            <a:endParaRPr/>
          </a:p>
        </p:txBody>
      </p:sp>
      <p:sp>
        <p:nvSpPr>
          <p:cNvPr id="5250" name="Google Shape;5250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$79,410</a:t>
            </a:r>
            <a:endParaRPr/>
          </a:p>
        </p:txBody>
      </p:sp>
      <p:sp>
        <p:nvSpPr>
          <p:cNvPr id="5251" name="Google Shape;5251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2" name="Google Shape;5252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3" name="Google Shape;5253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4" name="Google Shape;5254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5" name="Google Shape;5255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56" name="Google Shape;5256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$195,344</a:t>
            </a:r>
            <a:endParaRPr/>
          </a:p>
        </p:txBody>
      </p:sp>
      <p:sp>
        <p:nvSpPr>
          <p:cNvPr id="5257" name="Google Shape;5257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$183,579</a:t>
            </a:r>
            <a:endParaRPr/>
          </a:p>
        </p:txBody>
      </p:sp>
      <p:sp>
        <p:nvSpPr>
          <p:cNvPr id="5258" name="Google Shape;5258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9" name="Google Shape;5259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$11,765</a:t>
            </a:r>
            <a:endParaRPr/>
          </a:p>
        </p:txBody>
      </p:sp>
      <p:sp>
        <p:nvSpPr>
          <p:cNvPr id="5260" name="Google Shape;5260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$-183,579</a:t>
            </a:r>
            <a:endParaRPr/>
          </a:p>
        </p:txBody>
      </p:sp>
      <p:sp>
        <p:nvSpPr>
          <p:cNvPr id="5261" name="Google Shape;5261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2" name="Google Shape;5262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63" name="Google Shape;5263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$21,803</a:t>
            </a:r>
            <a:endParaRPr/>
          </a:p>
        </p:txBody>
      </p:sp>
      <p:sp>
        <p:nvSpPr>
          <p:cNvPr id="5264" name="Google Shape;5264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$20,730</a:t>
            </a:r>
            <a:endParaRPr/>
          </a:p>
        </p:txBody>
      </p:sp>
      <p:sp>
        <p:nvSpPr>
          <p:cNvPr id="5265" name="Google Shape;5265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6" name="Google Shape;5266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$1,073</a:t>
            </a:r>
            <a:endParaRPr/>
          </a:p>
        </p:txBody>
      </p:sp>
      <p:sp>
        <p:nvSpPr>
          <p:cNvPr id="5267" name="Google Shape;5267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$-18,375</a:t>
            </a:r>
            <a:endParaRPr/>
          </a:p>
        </p:txBody>
      </p:sp>
      <p:sp>
        <p:nvSpPr>
          <p:cNvPr id="5268" name="Google Shape;5268;p3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9" name="Google Shape;5269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70" name="Google Shape;5270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$361,459</a:t>
            </a:r>
            <a:endParaRPr/>
          </a:p>
        </p:txBody>
      </p:sp>
      <p:sp>
        <p:nvSpPr>
          <p:cNvPr id="5271" name="Google Shape;5271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$348,621</a:t>
            </a:r>
            <a:endParaRPr/>
          </a:p>
        </p:txBody>
      </p:sp>
      <p:sp>
        <p:nvSpPr>
          <p:cNvPr id="5272" name="Google Shape;5272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3" name="Google Shape;5273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$12,838</a:t>
            </a:r>
            <a:endParaRPr/>
          </a:p>
        </p:txBody>
      </p:sp>
      <p:sp>
        <p:nvSpPr>
          <p:cNvPr id="5274" name="Google Shape;5274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$-206,178</a:t>
            </a:r>
            <a:endParaRPr/>
          </a:p>
        </p:txBody>
      </p:sp>
      <p:sp>
        <p:nvSpPr>
          <p:cNvPr id="5275" name="Google Shape;5275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6" name="Google Shape;5276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277" name="Google Shape;5277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78" name="Google Shape;5278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279" name="Google Shape;5279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280" name="Google Shape;5280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281" name="Google Shape;5281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82" name="Google Shape;5282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83" name="Google Shape;5283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4" name="Google Shape;5284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85" name="Google Shape;5285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5286" name="Google Shape;5286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87" name="Google Shape;5287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5288" name="Google Shape;5288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89" name="Google Shape;5289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5290" name="Google Shape;5290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1" name="Google Shape;5291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92" name="Google Shape;5292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293" name="Google Shape;5293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94" name="Google Shape;5294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295" name="Google Shape;5295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96" name="Google Shape;5296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5297" name="Google Shape;5297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8" name="Google Shape;5298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99" name="Google Shape;5299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5300" name="Google Shape;5300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01" name="Google Shape;5301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302" name="Google Shape;5302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303" name="Google Shape;5303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12.0%</a:t>
            </a:r>
            <a:endParaRPr/>
          </a:p>
        </p:txBody>
      </p:sp>
      <p:sp>
        <p:nvSpPr>
          <p:cNvPr id="5304" name="Google Shape;5304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5" name="Google Shape;5305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06" name="Google Shape;5306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307" name="Google Shape;5307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08" name="Google Shape;5308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309" name="Google Shape;5309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310" name="Google Shape;5310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15.0%</a:t>
            </a:r>
            <a:endParaRPr/>
          </a:p>
        </p:txBody>
      </p:sp>
      <p:sp>
        <p:nvSpPr>
          <p:cNvPr id="5311" name="Google Shape;5311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2" name="Google Shape;5312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13" name="Google Shape;5313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314" name="Google Shape;5314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15" name="Google Shape;5315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316" name="Google Shape;5316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17" name="Google Shape;5317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5318" name="Google Shape;5318;p3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9" name="Google Shape;5319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20" name="Google Shape;5320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5321" name="Google Shape;5321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322" name="Google Shape;5322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5323" name="Google Shape;5323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324" name="Google Shape;5324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5.2%</a:t>
            </a:r>
            <a:endParaRPr/>
          </a:p>
        </p:txBody>
      </p:sp>
      <p:sp>
        <p:nvSpPr>
          <p:cNvPr id="5325" name="Google Shape;5325;p3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6" name="Google Shape;5326;p3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327" name="Google Shape;5327;p3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28" name="Google Shape;5328;p3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329" name="Google Shape;5329;p3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330" name="Google Shape;5330;p3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331" name="Google Shape;5331;p3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332" name="Google Shape;5332;p3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333" name="Google Shape;5333;p3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334" name="Google Shape;5334;p3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335" name="Google Shape;5335;p3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336" name="Google Shape;5336;p3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337" name="Google Shape;5337;p3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338" name="Google Shape;5338;p3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339" name="Google Shape;5339;p3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340" name="Google Shape;5340;p3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41" name="Google Shape;5341;p3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342" name="Google Shape;5342;p3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5343" name="Google Shape;5343;p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344" name="Google Shape;5344;p3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345" name="Google Shape;5345;p3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346" name="Google Shape;5346;p3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5347" name="Google Shape;5347;p3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348" name="Google Shape;5348;p3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349" name="Google Shape;5349;p3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350" name="Google Shape;5350;p3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351" name="Google Shape;5351;p3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5352" name="Google Shape;5352;p3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</a:t>
            </a:r>
            <a:endParaRPr/>
          </a:p>
        </p:txBody>
      </p:sp>
      <p:sp>
        <p:nvSpPr>
          <p:cNvPr id="5353" name="Google Shape;5353;p3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354" name="Google Shape;5354;p3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55" name="Google Shape;5355;p3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5356" name="Google Shape;5356;p3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5357" name="Google Shape;5357;p3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5358" name="Google Shape;5358;p3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5359" name="Google Shape;5359;p3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5360" name="Google Shape;5360;p3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5361" name="Google Shape;5361;p3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$195K</a:t>
            </a:r>
            <a:endParaRPr/>
          </a:p>
        </p:txBody>
      </p:sp>
      <p:sp>
        <p:nvSpPr>
          <p:cNvPr id="5362" name="Google Shape;5362;p3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5363" name="Google Shape;5363;p3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5364" name="Google Shape;5364;p3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$95K</a:t>
            </a:r>
            <a:endParaRPr/>
          </a:p>
        </p:txBody>
      </p:sp>
      <p:sp>
        <p:nvSpPr>
          <p:cNvPr id="5365" name="Google Shape;5365;p3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$361K</a:t>
            </a:r>
            <a:endParaRPr/>
          </a:p>
        </p:txBody>
      </p:sp>
      <p:sp>
        <p:nvSpPr>
          <p:cNvPr id="5366" name="Google Shape;5366;p3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7" name="Google Shape;5367;p3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368" name="Google Shape;5368;p3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69" name="Google Shape;5369;p3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$361,459 YTD gross written premium</a:t>
            </a:r>
            <a:endParaRPr/>
          </a:p>
        </p:txBody>
      </p:sp>
      <p:sp>
        <p:nvSpPr>
          <p:cNvPr id="5370" name="Google Shape;5370;p3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71" name="Google Shape;5371;p3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$348,621 in new business production</a:t>
            </a:r>
            <a:endParaRPr/>
          </a:p>
        </p:txBody>
      </p:sp>
      <p:sp>
        <p:nvSpPr>
          <p:cNvPr id="5372" name="Google Shape;5372;p3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3" name="Google Shape;5373;p3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374" name="Google Shape;5374;p3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75" name="Google Shape;5375;p3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59% of new business ($206,178)</a:t>
            </a:r>
            <a:endParaRPr/>
          </a:p>
        </p:txBody>
      </p:sp>
      <p:sp>
        <p:nvSpPr>
          <p:cNvPr id="5376" name="Google Shape;5376;p3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77" name="Google Shape;5377;p3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89% month-over-month</a:t>
            </a:r>
            <a:endParaRPr/>
          </a:p>
        </p:txBody>
      </p:sp>
      <p:sp>
        <p:nvSpPr>
          <p:cNvPr id="5378" name="Google Shape;5378;p3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9" name="Google Shape;5379;p3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380" name="Google Shape;5380;p3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381" name="Google Shape;5381;p3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$348,621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5382" name="Google Shape;5382;p3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383" name="Google Shape;5383;p3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$206,178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87" name="Shape 5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8" name="Google Shape;5388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9" name="Google Shape;5389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Solutions Insurance Agency, L.l.c.</a:t>
            </a:r>
            <a:endParaRPr/>
          </a:p>
        </p:txBody>
      </p:sp>
      <p:sp>
        <p:nvSpPr>
          <p:cNvPr id="5390" name="Google Shape;5390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Moreno Valley</a:t>
            </a:r>
            <a:endParaRPr/>
          </a:p>
        </p:txBody>
      </p:sp>
      <p:sp>
        <p:nvSpPr>
          <p:cNvPr id="5391" name="Google Shape;5391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$346,534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392" name="Google Shape;5392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$324,842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93" name="Google Shape;5393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94" name="Google Shape;5394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395" name="Google Shape;5395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$-46,184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396" name="Google Shape;5396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$506,042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397" name="Google Shape;5397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$761,354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398" name="Google Shape;5398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399" name="Google Shape;5399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00" name="Google Shape;5400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01" name="Google Shape;5401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02" name="Google Shape;5402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403" name="Google Shape;5403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$377,643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404" name="Google Shape;5404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5" name="Google Shape;5405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406" name="Google Shape;5406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07" name="Google Shape;5407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408" name="Google Shape;5408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09" name="Google Shape;5409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10" name="Google Shape;5410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11" name="Google Shape;5411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12" name="Google Shape;5412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3" name="Google Shape;5413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14" name="Google Shape;5414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$13,788</a:t>
            </a:r>
            <a:endParaRPr/>
          </a:p>
        </p:txBody>
      </p:sp>
      <p:sp>
        <p:nvSpPr>
          <p:cNvPr id="5415" name="Google Shape;5415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$13,220</a:t>
            </a:r>
            <a:endParaRPr/>
          </a:p>
        </p:txBody>
      </p:sp>
      <p:sp>
        <p:nvSpPr>
          <p:cNvPr id="5416" name="Google Shape;5416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7" name="Google Shape;5417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</a:t>
            </a:r>
            <a:endParaRPr/>
          </a:p>
        </p:txBody>
      </p:sp>
      <p:sp>
        <p:nvSpPr>
          <p:cNvPr id="5418" name="Google Shape;5418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$-10,726</a:t>
            </a:r>
            <a:endParaRPr/>
          </a:p>
        </p:txBody>
      </p:sp>
      <p:sp>
        <p:nvSpPr>
          <p:cNvPr id="5419" name="Google Shape;5419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0" name="Google Shape;5420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21" name="Google Shape;5421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$65,839</a:t>
            </a:r>
            <a:endParaRPr/>
          </a:p>
        </p:txBody>
      </p:sp>
      <p:sp>
        <p:nvSpPr>
          <p:cNvPr id="5422" name="Google Shape;5422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$62,715</a:t>
            </a:r>
            <a:endParaRPr/>
          </a:p>
        </p:txBody>
      </p:sp>
      <p:sp>
        <p:nvSpPr>
          <p:cNvPr id="5423" name="Google Shape;5423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4" name="Google Shape;5424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$3,124</a:t>
            </a:r>
            <a:endParaRPr/>
          </a:p>
        </p:txBody>
      </p:sp>
      <p:sp>
        <p:nvSpPr>
          <p:cNvPr id="5425" name="Google Shape;5425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$-10,260</a:t>
            </a:r>
            <a:endParaRPr/>
          </a:p>
        </p:txBody>
      </p:sp>
      <p:sp>
        <p:nvSpPr>
          <p:cNvPr id="5426" name="Google Shape;5426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7" name="Google Shape;5427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28" name="Google Shape;5428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$77,758</a:t>
            </a:r>
            <a:endParaRPr/>
          </a:p>
        </p:txBody>
      </p:sp>
      <p:sp>
        <p:nvSpPr>
          <p:cNvPr id="5429" name="Google Shape;5429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$86,341</a:t>
            </a:r>
            <a:endParaRPr/>
          </a:p>
        </p:txBody>
      </p:sp>
      <p:sp>
        <p:nvSpPr>
          <p:cNvPr id="5430" name="Google Shape;5430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1" name="Google Shape;5431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$-8,583</a:t>
            </a:r>
            <a:endParaRPr/>
          </a:p>
        </p:txBody>
      </p:sp>
      <p:sp>
        <p:nvSpPr>
          <p:cNvPr id="5432" name="Google Shape;5432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$-12,699</a:t>
            </a:r>
            <a:endParaRPr/>
          </a:p>
        </p:txBody>
      </p:sp>
      <p:sp>
        <p:nvSpPr>
          <p:cNvPr id="5433" name="Google Shape;5433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4" name="Google Shape;5434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35" name="Google Shape;5435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$121,868</a:t>
            </a:r>
            <a:endParaRPr/>
          </a:p>
        </p:txBody>
      </p:sp>
      <p:sp>
        <p:nvSpPr>
          <p:cNvPr id="5436" name="Google Shape;5436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$102,765</a:t>
            </a:r>
            <a:endParaRPr/>
          </a:p>
        </p:txBody>
      </p:sp>
      <p:sp>
        <p:nvSpPr>
          <p:cNvPr id="5437" name="Google Shape;5437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$10,374</a:t>
            </a:r>
            <a:endParaRPr/>
          </a:p>
        </p:txBody>
      </p:sp>
      <p:sp>
        <p:nvSpPr>
          <p:cNvPr id="5438" name="Google Shape;5438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$8,729</a:t>
            </a:r>
            <a:endParaRPr/>
          </a:p>
        </p:txBody>
      </p:sp>
      <p:sp>
        <p:nvSpPr>
          <p:cNvPr id="5439" name="Google Shape;5439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$-5,466</a:t>
            </a:r>
            <a:endParaRPr/>
          </a:p>
        </p:txBody>
      </p:sp>
      <p:sp>
        <p:nvSpPr>
          <p:cNvPr id="5440" name="Google Shape;5440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1" name="Google Shape;5441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42" name="Google Shape;5442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$67,281</a:t>
            </a:r>
            <a:endParaRPr/>
          </a:p>
        </p:txBody>
      </p:sp>
      <p:sp>
        <p:nvSpPr>
          <p:cNvPr id="5443" name="Google Shape;5443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$59,801</a:t>
            </a:r>
            <a:endParaRPr/>
          </a:p>
        </p:txBody>
      </p:sp>
      <p:sp>
        <p:nvSpPr>
          <p:cNvPr id="5444" name="Google Shape;5444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5" name="Google Shape;5445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$7,480</a:t>
            </a:r>
            <a:endParaRPr/>
          </a:p>
        </p:txBody>
      </p:sp>
      <p:sp>
        <p:nvSpPr>
          <p:cNvPr id="5446" name="Google Shape;5446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$-7,033</a:t>
            </a:r>
            <a:endParaRPr/>
          </a:p>
        </p:txBody>
      </p:sp>
      <p:sp>
        <p:nvSpPr>
          <p:cNvPr id="5447" name="Google Shape;5447;p3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8" name="Google Shape;5448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49" name="Google Shape;5449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$346,534</a:t>
            </a:r>
            <a:endParaRPr/>
          </a:p>
        </p:txBody>
      </p:sp>
      <p:sp>
        <p:nvSpPr>
          <p:cNvPr id="5450" name="Google Shape;5450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$324,842</a:t>
            </a:r>
            <a:endParaRPr/>
          </a:p>
        </p:txBody>
      </p:sp>
      <p:sp>
        <p:nvSpPr>
          <p:cNvPr id="5451" name="Google Shape;5451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$10,374</a:t>
            </a:r>
            <a:endParaRPr/>
          </a:p>
        </p:txBody>
      </p:sp>
      <p:sp>
        <p:nvSpPr>
          <p:cNvPr id="5452" name="Google Shape;5452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$11,318</a:t>
            </a:r>
            <a:endParaRPr/>
          </a:p>
        </p:txBody>
      </p:sp>
      <p:sp>
        <p:nvSpPr>
          <p:cNvPr id="5453" name="Google Shape;5453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$-46,184</a:t>
            </a:r>
            <a:endParaRPr/>
          </a:p>
        </p:txBody>
      </p:sp>
      <p:sp>
        <p:nvSpPr>
          <p:cNvPr id="5454" name="Google Shape;5454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5" name="Google Shape;5455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456" name="Google Shape;5456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57" name="Google Shape;5457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458" name="Google Shape;5458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459" name="Google Shape;5459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460" name="Google Shape;5460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61" name="Google Shape;5461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62" name="Google Shape;5462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3" name="Google Shape;5463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64" name="Google Shape;5464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5465" name="Google Shape;5465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466" name="Google Shape;5466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5467" name="Google Shape;5467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468" name="Google Shape;5468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15.2%</a:t>
            </a:r>
            <a:endParaRPr/>
          </a:p>
        </p:txBody>
      </p:sp>
      <p:sp>
        <p:nvSpPr>
          <p:cNvPr id="5469" name="Google Shape;5469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0" name="Google Shape;5470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71" name="Google Shape;5471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5472" name="Google Shape;5472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473" name="Google Shape;5473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5474" name="Google Shape;5474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475" name="Google Shape;5475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5476" name="Google Shape;5476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7" name="Google Shape;5477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78" name="Google Shape;5478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5479" name="Google Shape;5479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80" name="Google Shape;5480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5481" name="Google Shape;5481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5482" name="Google Shape;5482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31.3%</a:t>
            </a:r>
            <a:endParaRPr/>
          </a:p>
        </p:txBody>
      </p:sp>
      <p:sp>
        <p:nvSpPr>
          <p:cNvPr id="5483" name="Google Shape;5483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4" name="Google Shape;5484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85" name="Google Shape;5485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5486" name="Google Shape;5486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487" name="Google Shape;5487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5488" name="Google Shape;5488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489" name="Google Shape;5489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25.6%</a:t>
            </a:r>
            <a:endParaRPr/>
          </a:p>
        </p:txBody>
      </p:sp>
      <p:sp>
        <p:nvSpPr>
          <p:cNvPr id="5490" name="Google Shape;5490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1" name="Google Shape;5491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92" name="Google Shape;5492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5493" name="Google Shape;5493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94" name="Google Shape;5494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5495" name="Google Shape;5495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496" name="Google Shape;5496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16.0%</a:t>
            </a:r>
            <a:endParaRPr/>
          </a:p>
        </p:txBody>
      </p:sp>
      <p:sp>
        <p:nvSpPr>
          <p:cNvPr id="5497" name="Google Shape;5497;p3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8" name="Google Shape;5498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99" name="Google Shape;5499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316</a:t>
            </a:r>
            <a:endParaRPr/>
          </a:p>
        </p:txBody>
      </p:sp>
      <p:sp>
        <p:nvSpPr>
          <p:cNvPr id="5500" name="Google Shape;5500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501" name="Google Shape;5501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295</a:t>
            </a:r>
            <a:endParaRPr/>
          </a:p>
        </p:txBody>
      </p:sp>
      <p:sp>
        <p:nvSpPr>
          <p:cNvPr id="5502" name="Google Shape;5502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5503" name="Google Shape;5503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16.5%</a:t>
            </a:r>
            <a:endParaRPr/>
          </a:p>
        </p:txBody>
      </p:sp>
      <p:sp>
        <p:nvSpPr>
          <p:cNvPr id="5504" name="Google Shape;5504;p3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5" name="Google Shape;5505;p3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506" name="Google Shape;5506;p3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507" name="Google Shape;5507;p3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508" name="Google Shape;5508;p3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509" name="Google Shape;5509;p3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510" name="Google Shape;5510;p3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511" name="Google Shape;5511;p3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512" name="Google Shape;5512;p3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513" name="Google Shape;5513;p3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514" name="Google Shape;5514;p3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515" name="Google Shape;5515;p3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516" name="Google Shape;5516;p3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517" name="Google Shape;5517;p3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518" name="Google Shape;5518;p3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519" name="Google Shape;5519;p3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20" name="Google Shape;5520;p3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521" name="Google Shape;5521;p3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5522" name="Google Shape;5522;p3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523" name="Google Shape;5523;p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5524" name="Google Shape;5524;p3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5525" name="Google Shape;5525;p3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5526" name="Google Shape;5526;p3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527" name="Google Shape;5527;p3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5528" name="Google Shape;5528;p3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529" name="Google Shape;5529;p3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5530" name="Google Shape;5530;p3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5531" name="Google Shape;5531;p3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366</a:t>
            </a:r>
            <a:endParaRPr/>
          </a:p>
        </p:txBody>
      </p:sp>
      <p:sp>
        <p:nvSpPr>
          <p:cNvPr id="5532" name="Google Shape;5532;p3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533" name="Google Shape;5533;p3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5534" name="Google Shape;5534;p3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5535" name="Google Shape;5535;p3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36" name="Google Shape;5536;p3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5537" name="Google Shape;5537;p3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38" name="Google Shape;5538;p3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$78K</a:t>
            </a:r>
            <a:endParaRPr/>
          </a:p>
        </p:txBody>
      </p:sp>
      <p:sp>
        <p:nvSpPr>
          <p:cNvPr id="5539" name="Google Shape;5539;p3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5540" name="Google Shape;5540;p3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$122K</a:t>
            </a:r>
            <a:endParaRPr/>
          </a:p>
        </p:txBody>
      </p:sp>
      <p:sp>
        <p:nvSpPr>
          <p:cNvPr id="5541" name="Google Shape;5541;p3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5542" name="Google Shape;5542;p3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5543" name="Google Shape;5543;p3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5544" name="Google Shape;5544;p3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$347K</a:t>
            </a:r>
            <a:endParaRPr/>
          </a:p>
        </p:txBody>
      </p:sp>
      <p:sp>
        <p:nvSpPr>
          <p:cNvPr id="5545" name="Google Shape;5545;p3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6" name="Google Shape;5546;p3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547" name="Google Shape;5547;p3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48" name="Google Shape;5548;p3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$346,534 YTD gross written premium</a:t>
            </a:r>
            <a:endParaRPr/>
          </a:p>
        </p:txBody>
      </p:sp>
      <p:sp>
        <p:nvSpPr>
          <p:cNvPr id="5549" name="Google Shape;5549;p3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50" name="Google Shape;5550;p3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$324,842 in new business production</a:t>
            </a:r>
            <a:endParaRPr/>
          </a:p>
        </p:txBody>
      </p:sp>
      <p:sp>
        <p:nvSpPr>
          <p:cNvPr id="5551" name="Google Shape;5551;p3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2" name="Google Shape;5552;p3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553" name="Google Shape;5553;p3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54" name="Google Shape;5554;p3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5555" name="Google Shape;5555;p3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56" name="Google Shape;5556;p3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5557" name="Google Shape;5557;p3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8" name="Google Shape;5558;p3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559" name="Google Shape;5559;p3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560" name="Google Shape;5560;p3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$324,842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64" name="Shape 5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5" name="Google Shape;5565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6" name="Google Shape;5566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Empire Company Insurance Services, Inc.</a:t>
            </a:r>
            <a:endParaRPr/>
          </a:p>
        </p:txBody>
      </p:sp>
      <p:sp>
        <p:nvSpPr>
          <p:cNvPr id="5567" name="Google Shape;5567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California  |  City: Rancho Cucamonga</a:t>
            </a:r>
            <a:endParaRPr/>
          </a:p>
        </p:txBody>
      </p:sp>
      <p:sp>
        <p:nvSpPr>
          <p:cNvPr id="5568" name="Google Shape;5568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$308,430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569" name="Google Shape;5569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$219,453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70" name="Google Shape;5570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$77,616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71" name="Google Shape;5571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72" name="Google Shape;5572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$-96,708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73" name="Google Shape;5573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$355,551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574" name="Google Shape;5574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$533,662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575" name="Google Shape;5575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576" name="Google Shape;5576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77" name="Google Shape;5577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578" name="Google Shape;5578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79" name="Google Shape;5579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$164,154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580" name="Google Shape;5580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$257,576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581" name="Google Shape;5581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2" name="Google Shape;5582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583" name="Google Shape;5583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584" name="Google Shape;5584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585" name="Google Shape;5585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86" name="Google Shape;5586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87" name="Google Shape;5587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88" name="Google Shape;5588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89" name="Google Shape;5589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0" name="Google Shape;5590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591" name="Google Shape;5591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$1,963</a:t>
            </a:r>
            <a:endParaRPr/>
          </a:p>
        </p:txBody>
      </p:sp>
      <p:sp>
        <p:nvSpPr>
          <p:cNvPr id="5592" name="Google Shape;5592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$1,898</a:t>
            </a:r>
            <a:endParaRPr/>
          </a:p>
        </p:txBody>
      </p:sp>
      <p:sp>
        <p:nvSpPr>
          <p:cNvPr id="5593" name="Google Shape;5593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4" name="Google Shape;5594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</a:t>
            </a:r>
            <a:endParaRPr/>
          </a:p>
        </p:txBody>
      </p:sp>
      <p:sp>
        <p:nvSpPr>
          <p:cNvPr id="5595" name="Google Shape;5595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6" name="Google Shape;5596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7" name="Google Shape;5597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598" name="Google Shape;5598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$50,035</a:t>
            </a:r>
            <a:endParaRPr/>
          </a:p>
        </p:txBody>
      </p:sp>
      <p:sp>
        <p:nvSpPr>
          <p:cNvPr id="5599" name="Google Shape;5599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$39,724</a:t>
            </a:r>
            <a:endParaRPr/>
          </a:p>
        </p:txBody>
      </p:sp>
      <p:sp>
        <p:nvSpPr>
          <p:cNvPr id="5600" name="Google Shape;5600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$10,311</a:t>
            </a:r>
            <a:endParaRPr/>
          </a:p>
        </p:txBody>
      </p:sp>
      <p:sp>
        <p:nvSpPr>
          <p:cNvPr id="5601" name="Google Shape;5601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2" name="Google Shape;5602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$-5,439</a:t>
            </a:r>
            <a:endParaRPr/>
          </a:p>
        </p:txBody>
      </p:sp>
      <p:sp>
        <p:nvSpPr>
          <p:cNvPr id="5603" name="Google Shape;5603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4" name="Google Shape;5604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05" name="Google Shape;5605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$31,402</a:t>
            </a:r>
            <a:endParaRPr/>
          </a:p>
        </p:txBody>
      </p:sp>
      <p:sp>
        <p:nvSpPr>
          <p:cNvPr id="5606" name="Google Shape;5606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$19,063</a:t>
            </a:r>
            <a:endParaRPr/>
          </a:p>
        </p:txBody>
      </p:sp>
      <p:sp>
        <p:nvSpPr>
          <p:cNvPr id="5607" name="Google Shape;5607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8" name="Google Shape;5608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$12,339</a:t>
            </a:r>
            <a:endParaRPr/>
          </a:p>
        </p:txBody>
      </p:sp>
      <p:sp>
        <p:nvSpPr>
          <p:cNvPr id="5609" name="Google Shape;5609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$-11,461</a:t>
            </a:r>
            <a:endParaRPr/>
          </a:p>
        </p:txBody>
      </p:sp>
      <p:sp>
        <p:nvSpPr>
          <p:cNvPr id="5610" name="Google Shape;5610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1" name="Google Shape;5611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12" name="Google Shape;5612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$46,112</a:t>
            </a:r>
            <a:endParaRPr/>
          </a:p>
        </p:txBody>
      </p:sp>
      <p:sp>
        <p:nvSpPr>
          <p:cNvPr id="5613" name="Google Shape;5613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4" name="Google Shape;5614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$46,795</a:t>
            </a:r>
            <a:endParaRPr/>
          </a:p>
        </p:txBody>
      </p:sp>
      <p:sp>
        <p:nvSpPr>
          <p:cNvPr id="5615" name="Google Shape;5615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$-683</a:t>
            </a:r>
            <a:endParaRPr/>
          </a:p>
        </p:txBody>
      </p:sp>
      <p:sp>
        <p:nvSpPr>
          <p:cNvPr id="5616" name="Google Shape;5616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7" name="Google Shape;5617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8" name="Google Shape;5618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19" name="Google Shape;5619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$178,918</a:t>
            </a:r>
            <a:endParaRPr/>
          </a:p>
        </p:txBody>
      </p:sp>
      <p:sp>
        <p:nvSpPr>
          <p:cNvPr id="5620" name="Google Shape;5620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$158,768</a:t>
            </a:r>
            <a:endParaRPr/>
          </a:p>
        </p:txBody>
      </p:sp>
      <p:sp>
        <p:nvSpPr>
          <p:cNvPr id="5621" name="Google Shape;5621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$20,510</a:t>
            </a:r>
            <a:endParaRPr/>
          </a:p>
        </p:txBody>
      </p:sp>
      <p:sp>
        <p:nvSpPr>
          <p:cNvPr id="5622" name="Google Shape;5622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$-360</a:t>
            </a:r>
            <a:endParaRPr/>
          </a:p>
        </p:txBody>
      </p:sp>
      <p:sp>
        <p:nvSpPr>
          <p:cNvPr id="5623" name="Google Shape;5623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$-79,808</a:t>
            </a:r>
            <a:endParaRPr/>
          </a:p>
        </p:txBody>
      </p:sp>
      <p:sp>
        <p:nvSpPr>
          <p:cNvPr id="5624" name="Google Shape;5624;p3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5" name="Google Shape;5625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26" name="Google Shape;5626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$308,430</a:t>
            </a:r>
            <a:endParaRPr/>
          </a:p>
        </p:txBody>
      </p:sp>
      <p:sp>
        <p:nvSpPr>
          <p:cNvPr id="5627" name="Google Shape;5627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$219,453</a:t>
            </a:r>
            <a:endParaRPr/>
          </a:p>
        </p:txBody>
      </p:sp>
      <p:sp>
        <p:nvSpPr>
          <p:cNvPr id="5628" name="Google Shape;5628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$77,616</a:t>
            </a:r>
            <a:endParaRPr/>
          </a:p>
        </p:txBody>
      </p:sp>
      <p:sp>
        <p:nvSpPr>
          <p:cNvPr id="5629" name="Google Shape;5629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$11,360</a:t>
            </a:r>
            <a:endParaRPr/>
          </a:p>
        </p:txBody>
      </p:sp>
      <p:sp>
        <p:nvSpPr>
          <p:cNvPr id="5630" name="Google Shape;5630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$-96,708</a:t>
            </a:r>
            <a:endParaRPr/>
          </a:p>
        </p:txBody>
      </p:sp>
      <p:sp>
        <p:nvSpPr>
          <p:cNvPr id="5631" name="Google Shape;5631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2" name="Google Shape;5632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633" name="Google Shape;5633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34" name="Google Shape;5634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635" name="Google Shape;5635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636" name="Google Shape;5636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637" name="Google Shape;5637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38" name="Google Shape;5638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39" name="Google Shape;5639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0" name="Google Shape;5640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41" name="Google Shape;5641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642" name="Google Shape;5642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43" name="Google Shape;5643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644" name="Google Shape;5644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645" name="Google Shape;5645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45.5%</a:t>
            </a:r>
            <a:endParaRPr/>
          </a:p>
        </p:txBody>
      </p:sp>
      <p:sp>
        <p:nvSpPr>
          <p:cNvPr id="5646" name="Google Shape;5646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7" name="Google Shape;5647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48" name="Google Shape;5648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649" name="Google Shape;5649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0" name="Google Shape;5650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651" name="Google Shape;5651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652" name="Google Shape;5652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18.2%</a:t>
            </a:r>
            <a:endParaRPr/>
          </a:p>
        </p:txBody>
      </p:sp>
      <p:sp>
        <p:nvSpPr>
          <p:cNvPr id="5653" name="Google Shape;5653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4" name="Google Shape;5654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55" name="Google Shape;5655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656" name="Google Shape;5656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57" name="Google Shape;5657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658" name="Google Shape;5658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659" name="Google Shape;5659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35.7%</a:t>
            </a:r>
            <a:endParaRPr/>
          </a:p>
        </p:txBody>
      </p:sp>
      <p:sp>
        <p:nvSpPr>
          <p:cNvPr id="5660" name="Google Shape;5660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1" name="Google Shape;5661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62" name="Google Shape;5662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663" name="Google Shape;5663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64" name="Google Shape;5664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665" name="Google Shape;5665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66" name="Google Shape;5666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5667" name="Google Shape;5667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8" name="Google Shape;5668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69" name="Google Shape;5669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670" name="Google Shape;5670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71" name="Google Shape;5671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672" name="Google Shape;5672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673" name="Google Shape;5673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5674" name="Google Shape;5674;p3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5" name="Google Shape;5675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76" name="Google Shape;5676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5677" name="Google Shape;5677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678" name="Google Shape;5678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5679" name="Google Shape;5679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680" name="Google Shape;5680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5681" name="Google Shape;5681;p3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2" name="Google Shape;5682;p3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683" name="Google Shape;5683;p3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684" name="Google Shape;5684;p3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685" name="Google Shape;5685;p3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686" name="Google Shape;5686;p3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687" name="Google Shape;5687;p3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688" name="Google Shape;5688;p3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689" name="Google Shape;5689;p3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690" name="Google Shape;5690;p3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691" name="Google Shape;5691;p3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692" name="Google Shape;5692;p3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693" name="Google Shape;5693;p3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694" name="Google Shape;5694;p3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695" name="Google Shape;5695;p3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696" name="Google Shape;5696;p3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697" name="Google Shape;5697;p3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698" name="Google Shape;5698;p3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699" name="Google Shape;5699;p3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700" name="Google Shape;5700;p3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701" name="Google Shape;5701;p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702" name="Google Shape;5702;p3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703" name="Google Shape;5703;p3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704" name="Google Shape;5704;p3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705" name="Google Shape;5705;p3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706" name="Google Shape;5706;p3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707" name="Google Shape;5707;p3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5708" name="Google Shape;5708;p3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5709" name="Google Shape;5709;p3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710" name="Google Shape;5710;p3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$-5,367</a:t>
            </a:r>
            <a:endParaRPr/>
          </a:p>
        </p:txBody>
      </p:sp>
      <p:sp>
        <p:nvSpPr>
          <p:cNvPr id="5711" name="Google Shape;5711;p3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5712" name="Google Shape;5712;p3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713" name="Google Shape;5713;p3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$50K</a:t>
            </a:r>
            <a:endParaRPr/>
          </a:p>
        </p:txBody>
      </p:sp>
      <p:sp>
        <p:nvSpPr>
          <p:cNvPr id="5714" name="Google Shape;5714;p3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5715" name="Google Shape;5715;p3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5716" name="Google Shape;5716;p3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5717" name="Google Shape;5717;p3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5718" name="Google Shape;5718;p3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5719" name="Google Shape;5719;p3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$179K</a:t>
            </a:r>
            <a:endParaRPr/>
          </a:p>
        </p:txBody>
      </p:sp>
      <p:sp>
        <p:nvSpPr>
          <p:cNvPr id="5720" name="Google Shape;5720;p3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$130K</a:t>
            </a:r>
            <a:endParaRPr/>
          </a:p>
        </p:txBody>
      </p:sp>
      <p:sp>
        <p:nvSpPr>
          <p:cNvPr id="5721" name="Google Shape;5721;p3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$308K</a:t>
            </a:r>
            <a:endParaRPr/>
          </a:p>
        </p:txBody>
      </p:sp>
      <p:sp>
        <p:nvSpPr>
          <p:cNvPr id="5722" name="Google Shape;5722;p3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3" name="Google Shape;5723;p3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724" name="Google Shape;5724;p3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25" name="Google Shape;5725;p3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$308,430 YTD gross written premium</a:t>
            </a:r>
            <a:endParaRPr/>
          </a:p>
        </p:txBody>
      </p:sp>
      <p:sp>
        <p:nvSpPr>
          <p:cNvPr id="5726" name="Google Shape;5726;p3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27" name="Google Shape;5727;p3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$219,453 in new business production</a:t>
            </a:r>
            <a:endParaRPr/>
          </a:p>
        </p:txBody>
      </p:sp>
      <p:sp>
        <p:nvSpPr>
          <p:cNvPr id="5728" name="Google Shape;5728;p3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9" name="Google Shape;5729;p3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730" name="Google Shape;5730;p3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731" name="Google Shape;5731;p3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44% of new business ($96,708)</a:t>
            </a:r>
            <a:endParaRPr/>
          </a:p>
        </p:txBody>
      </p:sp>
      <p:sp>
        <p:nvSpPr>
          <p:cNvPr id="5732" name="Google Shape;5732;p3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3" name="Google Shape;5733;p3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734" name="Google Shape;5734;p3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735" name="Google Shape;5735;p3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$219,453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5736" name="Google Shape;5736;p3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737" name="Google Shape;5737;p3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$96,708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41" name="Shape 5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2" name="Google Shape;5742;p3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3" name="Google Shape;5743;p3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Insuremart Inc</a:t>
            </a:r>
            <a:endParaRPr/>
          </a:p>
        </p:txBody>
      </p:sp>
      <p:sp>
        <p:nvSpPr>
          <p:cNvPr id="5744" name="Google Shape;5744;p3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NV  |  City: Las Vegas</a:t>
            </a:r>
            <a:endParaRPr/>
          </a:p>
        </p:txBody>
      </p:sp>
      <p:sp>
        <p:nvSpPr>
          <p:cNvPr id="5745" name="Google Shape;5745;p3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$251,371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746" name="Google Shape;5746;p3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$190,314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47" name="Google Shape;5747;p3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$16,970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48" name="Google Shape;5748;p3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$44,087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49" name="Google Shape;5749;p3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$-190,831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50" name="Google Shape;5750;p3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$825,532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751" name="Google Shape;5751;p3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$397,643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752" name="Google Shape;5752;p3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753" name="Google Shape;5753;p3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54" name="Google Shape;5754;p3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55" name="Google Shape;5755;p3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56" name="Google Shape;5756;p3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757" name="Google Shape;5757;p3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$200,581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758" name="Google Shape;5758;p3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9" name="Google Shape;5759;p3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760" name="Google Shape;5760;p3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61" name="Google Shape;5761;p3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762" name="Google Shape;5762;p3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63" name="Google Shape;5763;p3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64" name="Google Shape;5764;p3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65" name="Google Shape;5765;p3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66" name="Google Shape;5766;p3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7" name="Google Shape;5767;p3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68" name="Google Shape;5768;p3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$19,854</a:t>
            </a:r>
            <a:endParaRPr/>
          </a:p>
        </p:txBody>
      </p:sp>
      <p:sp>
        <p:nvSpPr>
          <p:cNvPr id="5769" name="Google Shape;5769;p3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70" name="Google Shape;5770;p3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71" name="Google Shape;5771;p3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$19,854</a:t>
            </a:r>
            <a:endParaRPr/>
          </a:p>
        </p:txBody>
      </p:sp>
      <p:sp>
        <p:nvSpPr>
          <p:cNvPr id="5772" name="Google Shape;5772;p3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$-26,444</a:t>
            </a:r>
            <a:endParaRPr/>
          </a:p>
        </p:txBody>
      </p:sp>
      <p:sp>
        <p:nvSpPr>
          <p:cNvPr id="5773" name="Google Shape;5773;p3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4" name="Google Shape;5774;p3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75" name="Google Shape;5775;p3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$89,002</a:t>
            </a:r>
            <a:endParaRPr/>
          </a:p>
        </p:txBody>
      </p:sp>
      <p:sp>
        <p:nvSpPr>
          <p:cNvPr id="5776" name="Google Shape;5776;p3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$74,249</a:t>
            </a:r>
            <a:endParaRPr/>
          </a:p>
        </p:txBody>
      </p:sp>
      <p:sp>
        <p:nvSpPr>
          <p:cNvPr id="5777" name="Google Shape;5777;p3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$16,970</a:t>
            </a:r>
            <a:endParaRPr/>
          </a:p>
        </p:txBody>
      </p:sp>
      <p:sp>
        <p:nvSpPr>
          <p:cNvPr id="5778" name="Google Shape;5778;p3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$-2,218</a:t>
            </a:r>
            <a:endParaRPr/>
          </a:p>
        </p:txBody>
      </p:sp>
      <p:sp>
        <p:nvSpPr>
          <p:cNvPr id="5779" name="Google Shape;5779;p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$-74,249</a:t>
            </a:r>
            <a:endParaRPr/>
          </a:p>
        </p:txBody>
      </p:sp>
      <p:sp>
        <p:nvSpPr>
          <p:cNvPr id="5780" name="Google Shape;5780;p3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1" name="Google Shape;5781;p3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82" name="Google Shape;5782;p3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$36,761</a:t>
            </a:r>
            <a:endParaRPr/>
          </a:p>
        </p:txBody>
      </p:sp>
      <p:sp>
        <p:nvSpPr>
          <p:cNvPr id="5783" name="Google Shape;5783;p3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$37,905</a:t>
            </a:r>
            <a:endParaRPr/>
          </a:p>
        </p:txBody>
      </p:sp>
      <p:sp>
        <p:nvSpPr>
          <p:cNvPr id="5784" name="Google Shape;5784;p3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5" name="Google Shape;5785;p3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$-1,144</a:t>
            </a:r>
            <a:endParaRPr/>
          </a:p>
        </p:txBody>
      </p:sp>
      <p:sp>
        <p:nvSpPr>
          <p:cNvPr id="5786" name="Google Shape;5786;p3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7" name="Google Shape;5787;p3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8" name="Google Shape;5788;p3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89" name="Google Shape;5789;p3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$78,170</a:t>
            </a:r>
            <a:endParaRPr/>
          </a:p>
        </p:txBody>
      </p:sp>
      <p:sp>
        <p:nvSpPr>
          <p:cNvPr id="5790" name="Google Shape;5790;p3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$78,160</a:t>
            </a:r>
            <a:endParaRPr/>
          </a:p>
        </p:txBody>
      </p:sp>
      <p:sp>
        <p:nvSpPr>
          <p:cNvPr id="5791" name="Google Shape;5791;p3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2" name="Google Shape;5792;p3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5793" name="Google Shape;5793;p3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$-46,696</a:t>
            </a:r>
            <a:endParaRPr/>
          </a:p>
        </p:txBody>
      </p:sp>
      <p:sp>
        <p:nvSpPr>
          <p:cNvPr id="5794" name="Google Shape;5794;p3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5" name="Google Shape;5795;p3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796" name="Google Shape;5796;p3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$27,585</a:t>
            </a:r>
            <a:endParaRPr/>
          </a:p>
        </p:txBody>
      </p:sp>
      <p:sp>
        <p:nvSpPr>
          <p:cNvPr id="5797" name="Google Shape;5797;p3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8" name="Google Shape;5798;p3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9" name="Google Shape;5799;p3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$27,585</a:t>
            </a:r>
            <a:endParaRPr/>
          </a:p>
        </p:txBody>
      </p:sp>
      <p:sp>
        <p:nvSpPr>
          <p:cNvPr id="5800" name="Google Shape;5800;p3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$-43,442</a:t>
            </a:r>
            <a:endParaRPr/>
          </a:p>
        </p:txBody>
      </p:sp>
      <p:sp>
        <p:nvSpPr>
          <p:cNvPr id="5801" name="Google Shape;5801;p3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2" name="Google Shape;5802;p3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03" name="Google Shape;5803;p3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$251,371</a:t>
            </a:r>
            <a:endParaRPr/>
          </a:p>
        </p:txBody>
      </p:sp>
      <p:sp>
        <p:nvSpPr>
          <p:cNvPr id="5804" name="Google Shape;5804;p3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$190,314</a:t>
            </a:r>
            <a:endParaRPr/>
          </a:p>
        </p:txBody>
      </p:sp>
      <p:sp>
        <p:nvSpPr>
          <p:cNvPr id="5805" name="Google Shape;5805;p3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$16,970</a:t>
            </a:r>
            <a:endParaRPr/>
          </a:p>
        </p:txBody>
      </p:sp>
      <p:sp>
        <p:nvSpPr>
          <p:cNvPr id="5806" name="Google Shape;5806;p3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$44,087</a:t>
            </a:r>
            <a:endParaRPr/>
          </a:p>
        </p:txBody>
      </p:sp>
      <p:sp>
        <p:nvSpPr>
          <p:cNvPr id="5807" name="Google Shape;5807;p3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$-190,831</a:t>
            </a:r>
            <a:endParaRPr/>
          </a:p>
        </p:txBody>
      </p:sp>
      <p:sp>
        <p:nvSpPr>
          <p:cNvPr id="5808" name="Google Shape;5808;p3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9" name="Google Shape;5809;p3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810" name="Google Shape;5810;p3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11" name="Google Shape;5811;p3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812" name="Google Shape;5812;p3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813" name="Google Shape;5813;p3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814" name="Google Shape;5814;p3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15" name="Google Shape;5815;p3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16" name="Google Shape;5816;p3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7" name="Google Shape;5817;p3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818" name="Google Shape;5818;p3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5819" name="Google Shape;5819;p3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20" name="Google Shape;5820;p3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5821" name="Google Shape;5821;p3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822" name="Google Shape;5822;p3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5823" name="Google Shape;5823;p3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4" name="Google Shape;5824;p3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825" name="Google Shape;5825;p3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5826" name="Google Shape;5826;p3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827" name="Google Shape;5827;p3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5828" name="Google Shape;5828;p3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29" name="Google Shape;5829;p3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5830" name="Google Shape;5830;p3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1" name="Google Shape;5831;p3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832" name="Google Shape;5832;p3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5833" name="Google Shape;5833;p3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834" name="Google Shape;5834;p3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835" name="Google Shape;5835;p3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836" name="Google Shape;5836;p3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7.9%</a:t>
            </a:r>
            <a:endParaRPr/>
          </a:p>
        </p:txBody>
      </p:sp>
      <p:sp>
        <p:nvSpPr>
          <p:cNvPr id="5837" name="Google Shape;5837;p3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8" name="Google Shape;5838;p3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839" name="Google Shape;5839;p3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5840" name="Google Shape;5840;p3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841" name="Google Shape;5841;p3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5842" name="Google Shape;5842;p3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843" name="Google Shape;5843;p3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5844" name="Google Shape;5844;p3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5" name="Google Shape;5845;p3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46" name="Google Shape;5846;p3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5847" name="Google Shape;5847;p3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848" name="Google Shape;5848;p3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849" name="Google Shape;5849;p3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50" name="Google Shape;5850;p3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5851" name="Google Shape;5851;p3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2" name="Google Shape;5852;p3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53" name="Google Shape;5853;p3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218</a:t>
            </a:r>
            <a:endParaRPr/>
          </a:p>
        </p:txBody>
      </p:sp>
      <p:sp>
        <p:nvSpPr>
          <p:cNvPr id="5854" name="Google Shape;5854;p3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5855" name="Google Shape;5855;p3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179</a:t>
            </a:r>
            <a:endParaRPr/>
          </a:p>
        </p:txBody>
      </p:sp>
      <p:sp>
        <p:nvSpPr>
          <p:cNvPr id="5856" name="Google Shape;5856;p3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857" name="Google Shape;5857;p3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5858" name="Google Shape;5858;p3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9" name="Google Shape;5859;p3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860" name="Google Shape;5860;p3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61" name="Google Shape;5861;p3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862" name="Google Shape;5862;p3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863" name="Google Shape;5863;p3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864" name="Google Shape;5864;p3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865" name="Google Shape;5865;p3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866" name="Google Shape;5866;p3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867" name="Google Shape;5867;p3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868" name="Google Shape;5868;p3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869" name="Google Shape;5869;p3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870" name="Google Shape;5870;p3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871" name="Google Shape;5871;p3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872" name="Google Shape;5872;p3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873" name="Google Shape;5873;p3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74" name="Google Shape;5874;p3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5875" name="Google Shape;5875;p3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5876" name="Google Shape;5876;p3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5877" name="Google Shape;5877;p3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5878" name="Google Shape;5878;p3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5879" name="Google Shape;5879;p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5880" name="Google Shape;5880;p3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5881" name="Google Shape;5881;p3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5882" name="Google Shape;5882;p3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5883" name="Google Shape;5883;p3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5884" name="Google Shape;5884;p3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5885" name="Google Shape;5885;p3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228</a:t>
            </a:r>
            <a:endParaRPr/>
          </a:p>
        </p:txBody>
      </p:sp>
      <p:sp>
        <p:nvSpPr>
          <p:cNvPr id="5886" name="Google Shape;5886;p3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887" name="Google Shape;5887;p3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5888" name="Google Shape;5888;p3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5889" name="Google Shape;5889;p3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$303K</a:t>
            </a:r>
            <a:endParaRPr/>
          </a:p>
        </p:txBody>
      </p:sp>
      <p:sp>
        <p:nvSpPr>
          <p:cNvPr id="5890" name="Google Shape;5890;p3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$89K</a:t>
            </a:r>
            <a:endParaRPr/>
          </a:p>
        </p:txBody>
      </p:sp>
      <p:sp>
        <p:nvSpPr>
          <p:cNvPr id="5891" name="Google Shape;5891;p3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5892" name="Google Shape;5892;p3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5893" name="Google Shape;5893;p3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$102K</a:t>
            </a:r>
            <a:endParaRPr/>
          </a:p>
        </p:txBody>
      </p:sp>
      <p:sp>
        <p:nvSpPr>
          <p:cNvPr id="5894" name="Google Shape;5894;p3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$78K</a:t>
            </a:r>
            <a:endParaRPr/>
          </a:p>
        </p:txBody>
      </p:sp>
      <p:sp>
        <p:nvSpPr>
          <p:cNvPr id="5895" name="Google Shape;5895;p3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$214K</a:t>
            </a:r>
            <a:endParaRPr/>
          </a:p>
        </p:txBody>
      </p:sp>
      <p:sp>
        <p:nvSpPr>
          <p:cNvPr id="5896" name="Google Shape;5896;p3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5897" name="Google Shape;5897;p3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$679K</a:t>
            </a:r>
            <a:endParaRPr/>
          </a:p>
        </p:txBody>
      </p:sp>
      <p:sp>
        <p:nvSpPr>
          <p:cNvPr id="5898" name="Google Shape;5898;p3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$251K</a:t>
            </a:r>
            <a:endParaRPr/>
          </a:p>
        </p:txBody>
      </p:sp>
      <p:sp>
        <p:nvSpPr>
          <p:cNvPr id="5899" name="Google Shape;5899;p3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0" name="Google Shape;5900;p3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901" name="Google Shape;5901;p3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02" name="Google Shape;5902;p3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$251,371 YTD gross written premium</a:t>
            </a:r>
            <a:endParaRPr/>
          </a:p>
        </p:txBody>
      </p:sp>
      <p:sp>
        <p:nvSpPr>
          <p:cNvPr id="5903" name="Google Shape;5903;p3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04" name="Google Shape;5904;p3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$190,314 in new business production</a:t>
            </a:r>
            <a:endParaRPr/>
          </a:p>
        </p:txBody>
      </p:sp>
      <p:sp>
        <p:nvSpPr>
          <p:cNvPr id="5905" name="Google Shape;5905;p3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6" name="Google Shape;5906;p3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907" name="Google Shape;5907;p3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08" name="Google Shape;5908;p3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100% of new business ($190,831)</a:t>
            </a:r>
            <a:endParaRPr/>
          </a:p>
        </p:txBody>
      </p:sp>
      <p:sp>
        <p:nvSpPr>
          <p:cNvPr id="5909" name="Google Shape;5909;p3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10" name="Google Shape;5910;p3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65% month-over-month</a:t>
            </a:r>
            <a:endParaRPr/>
          </a:p>
        </p:txBody>
      </p:sp>
      <p:sp>
        <p:nvSpPr>
          <p:cNvPr id="5911" name="Google Shape;5911;p3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2" name="Google Shape;5912;p3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913" name="Google Shape;5913;p3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914" name="Google Shape;5914;p3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$190,314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5915" name="Google Shape;5915;p3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916" name="Google Shape;5916;p3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$190,831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20" name="Shape 5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1" name="Google Shape;5921;p3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2" name="Google Shape;5922;p3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Checkers Truck Insurance Services</a:t>
            </a:r>
            <a:endParaRPr/>
          </a:p>
        </p:txBody>
      </p:sp>
      <p:sp>
        <p:nvSpPr>
          <p:cNvPr id="5923" name="Google Shape;5923;p3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California  |  City: Ontario</a:t>
            </a:r>
            <a:endParaRPr/>
          </a:p>
        </p:txBody>
      </p:sp>
      <p:sp>
        <p:nvSpPr>
          <p:cNvPr id="5924" name="Google Shape;5924;p3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$246,104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925" name="Google Shape;5925;p3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$87,714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26" name="Google Shape;5926;p3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$157,818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27" name="Google Shape;5927;p3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28" name="Google Shape;5928;p3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$-8,497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29" name="Google Shape;5929;p3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$496,756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930" name="Google Shape;5930;p3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$501,646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931" name="Google Shape;5931;p3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932" name="Google Shape;5932;p3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933" name="Google Shape;5933;p3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34" name="Google Shape;5934;p3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935" name="Google Shape;5935;p3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$309,520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936" name="Google Shape;5936;p3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$89,483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937" name="Google Shape;5937;p3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8" name="Google Shape;5938;p3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939" name="Google Shape;5939;p3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40" name="Google Shape;5940;p3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941" name="Google Shape;5941;p3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42" name="Google Shape;5942;p3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43" name="Google Shape;5943;p3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44" name="Google Shape;5944;p3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45" name="Google Shape;5945;p3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6" name="Google Shape;5946;p3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47" name="Google Shape;5947;p3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$6,283</a:t>
            </a:r>
            <a:endParaRPr/>
          </a:p>
        </p:txBody>
      </p:sp>
      <p:sp>
        <p:nvSpPr>
          <p:cNvPr id="5948" name="Google Shape;5948;p3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9" name="Google Shape;5949;p3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50" name="Google Shape;5950;p3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$6,283</a:t>
            </a:r>
            <a:endParaRPr/>
          </a:p>
        </p:txBody>
      </p:sp>
      <p:sp>
        <p:nvSpPr>
          <p:cNvPr id="5951" name="Google Shape;5951;p3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52" name="Google Shape;5952;p3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3" name="Google Shape;5953;p3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54" name="Google Shape;5954;p3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$-7,380</a:t>
            </a:r>
            <a:endParaRPr/>
          </a:p>
        </p:txBody>
      </p:sp>
      <p:sp>
        <p:nvSpPr>
          <p:cNvPr id="5955" name="Google Shape;5955;p3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56" name="Google Shape;5956;p3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57" name="Google Shape;5957;p3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$-7,380</a:t>
            </a:r>
            <a:endParaRPr/>
          </a:p>
        </p:txBody>
      </p:sp>
      <p:sp>
        <p:nvSpPr>
          <p:cNvPr id="5958" name="Google Shape;5958;p3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59" name="Google Shape;5959;p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0" name="Google Shape;5960;p3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61" name="Google Shape;5961;p3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$19,606</a:t>
            </a:r>
            <a:endParaRPr/>
          </a:p>
        </p:txBody>
      </p:sp>
      <p:sp>
        <p:nvSpPr>
          <p:cNvPr id="5962" name="Google Shape;5962;p3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$19,032</a:t>
            </a:r>
            <a:endParaRPr/>
          </a:p>
        </p:txBody>
      </p:sp>
      <p:sp>
        <p:nvSpPr>
          <p:cNvPr id="5963" name="Google Shape;5963;p3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4" name="Google Shape;5964;p3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$574</a:t>
            </a:r>
            <a:endParaRPr/>
          </a:p>
        </p:txBody>
      </p:sp>
      <p:sp>
        <p:nvSpPr>
          <p:cNvPr id="5965" name="Google Shape;5965;p3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$-3,761</a:t>
            </a:r>
            <a:endParaRPr/>
          </a:p>
        </p:txBody>
      </p:sp>
      <p:sp>
        <p:nvSpPr>
          <p:cNvPr id="5966" name="Google Shape;5966;p3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7" name="Google Shape;5967;p3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68" name="Google Shape;5968;p3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$22,660</a:t>
            </a:r>
            <a:endParaRPr/>
          </a:p>
        </p:txBody>
      </p:sp>
      <p:sp>
        <p:nvSpPr>
          <p:cNvPr id="5969" name="Google Shape;5969;p3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$21,564</a:t>
            </a:r>
            <a:endParaRPr/>
          </a:p>
        </p:txBody>
      </p:sp>
      <p:sp>
        <p:nvSpPr>
          <p:cNvPr id="5970" name="Google Shape;5970;p3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1" name="Google Shape;5971;p3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$1,096</a:t>
            </a:r>
            <a:endParaRPr/>
          </a:p>
        </p:txBody>
      </p:sp>
      <p:sp>
        <p:nvSpPr>
          <p:cNvPr id="5972" name="Google Shape;5972;p3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$-4,736</a:t>
            </a:r>
            <a:endParaRPr/>
          </a:p>
        </p:txBody>
      </p:sp>
      <p:sp>
        <p:nvSpPr>
          <p:cNvPr id="5973" name="Google Shape;5973;p3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4" name="Google Shape;5974;p3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75" name="Google Shape;5975;p3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$204,935</a:t>
            </a:r>
            <a:endParaRPr/>
          </a:p>
        </p:txBody>
      </p:sp>
      <p:sp>
        <p:nvSpPr>
          <p:cNvPr id="5976" name="Google Shape;5976;p3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$47,117</a:t>
            </a:r>
            <a:endParaRPr/>
          </a:p>
        </p:txBody>
      </p:sp>
      <p:sp>
        <p:nvSpPr>
          <p:cNvPr id="5977" name="Google Shape;5977;p3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$157,818</a:t>
            </a:r>
            <a:endParaRPr/>
          </a:p>
        </p:txBody>
      </p:sp>
      <p:sp>
        <p:nvSpPr>
          <p:cNvPr id="5978" name="Google Shape;5978;p3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9" name="Google Shape;5979;p3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0" name="Google Shape;5980;p3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1" name="Google Shape;5981;p3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82" name="Google Shape;5982;p3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$246,104</a:t>
            </a:r>
            <a:endParaRPr/>
          </a:p>
        </p:txBody>
      </p:sp>
      <p:sp>
        <p:nvSpPr>
          <p:cNvPr id="5983" name="Google Shape;5983;p3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$87,714</a:t>
            </a:r>
            <a:endParaRPr/>
          </a:p>
        </p:txBody>
      </p:sp>
      <p:sp>
        <p:nvSpPr>
          <p:cNvPr id="5984" name="Google Shape;5984;p3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$157,818</a:t>
            </a:r>
            <a:endParaRPr/>
          </a:p>
        </p:txBody>
      </p:sp>
      <p:sp>
        <p:nvSpPr>
          <p:cNvPr id="5985" name="Google Shape;5985;p3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$573</a:t>
            </a:r>
            <a:endParaRPr/>
          </a:p>
        </p:txBody>
      </p:sp>
      <p:sp>
        <p:nvSpPr>
          <p:cNvPr id="5986" name="Google Shape;5986;p3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$-8,497</a:t>
            </a:r>
            <a:endParaRPr/>
          </a:p>
        </p:txBody>
      </p:sp>
      <p:sp>
        <p:nvSpPr>
          <p:cNvPr id="5987" name="Google Shape;5987;p3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8" name="Google Shape;5988;p3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989" name="Google Shape;5989;p3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90" name="Google Shape;5990;p3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991" name="Google Shape;5991;p3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992" name="Google Shape;5992;p3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993" name="Google Shape;5993;p3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94" name="Google Shape;5994;p3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995" name="Google Shape;5995;p3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6" name="Google Shape;5996;p3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97" name="Google Shape;5997;p3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998" name="Google Shape;5998;p3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99" name="Google Shape;5999;p3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000" name="Google Shape;6000;p3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01" name="Google Shape;6001;p3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6002" name="Google Shape;6002;p3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3" name="Google Shape;6003;p3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004" name="Google Shape;6004;p3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005" name="Google Shape;6005;p3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06" name="Google Shape;6006;p3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007" name="Google Shape;6007;p3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08" name="Google Shape;6008;p3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9.5%</a:t>
            </a:r>
            <a:endParaRPr/>
          </a:p>
        </p:txBody>
      </p:sp>
      <p:sp>
        <p:nvSpPr>
          <p:cNvPr id="6009" name="Google Shape;6009;p3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0" name="Google Shape;6010;p3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011" name="Google Shape;6011;p3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6012" name="Google Shape;6012;p3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13" name="Google Shape;6013;p3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014" name="Google Shape;6014;p3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15" name="Google Shape;6015;p3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6016" name="Google Shape;6016;p3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7" name="Google Shape;6017;p3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18" name="Google Shape;6018;p3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6019" name="Google Shape;6019;p3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20" name="Google Shape;6020;p3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6021" name="Google Shape;6021;p3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22" name="Google Shape;6022;p3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6023" name="Google Shape;6023;p3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4" name="Google Shape;6024;p3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025" name="Google Shape;6025;p3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6026" name="Google Shape;6026;p3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27" name="Google Shape;6027;p3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028" name="Google Shape;6028;p3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29" name="Google Shape;6029;p3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6030" name="Google Shape;6030;p3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1" name="Google Shape;6031;p3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32" name="Google Shape;6032;p3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114</a:t>
            </a:r>
            <a:endParaRPr/>
          </a:p>
        </p:txBody>
      </p:sp>
      <p:sp>
        <p:nvSpPr>
          <p:cNvPr id="6033" name="Google Shape;6033;p3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034" name="Google Shape;6034;p3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</a:t>
            </a:r>
            <a:endParaRPr/>
          </a:p>
        </p:txBody>
      </p:sp>
      <p:sp>
        <p:nvSpPr>
          <p:cNvPr id="6035" name="Google Shape;6035;p3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036" name="Google Shape;6036;p3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6037" name="Google Shape;6037;p3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8" name="Google Shape;6038;p3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039" name="Google Shape;6039;p3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040" name="Google Shape;6040;p3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041" name="Google Shape;6041;p3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042" name="Google Shape;6042;p3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043" name="Google Shape;6043;p3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044" name="Google Shape;6044;p3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045" name="Google Shape;6045;p3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046" name="Google Shape;6046;p3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047" name="Google Shape;6047;p3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048" name="Google Shape;6048;p3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049" name="Google Shape;6049;p3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050" name="Google Shape;6050;p3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051" name="Google Shape;6051;p3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052" name="Google Shape;6052;p3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53" name="Google Shape;6053;p3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54" name="Google Shape;6054;p3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055" name="Google Shape;6055;p3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056" name="Google Shape;6056;p3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057" name="Google Shape;6057;p3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058" name="Google Shape;6058;p3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6059" name="Google Shape;6059;p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060" name="Google Shape;6060;p3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6061" name="Google Shape;6061;p3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6062" name="Google Shape;6062;p3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6063" name="Google Shape;6063;p3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6064" name="Google Shape;6064;p3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</a:t>
            </a:r>
            <a:endParaRPr/>
          </a:p>
        </p:txBody>
      </p:sp>
      <p:sp>
        <p:nvSpPr>
          <p:cNvPr id="6065" name="Google Shape;6065;p3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066" name="Google Shape;6066;p3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67" name="Google Shape;6067;p3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6068" name="Google Shape;6068;p3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69" name="Google Shape;6069;p3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$-7,380</a:t>
            </a:r>
            <a:endParaRPr/>
          </a:p>
        </p:txBody>
      </p:sp>
      <p:sp>
        <p:nvSpPr>
          <p:cNvPr id="6070" name="Google Shape;6070;p3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6071" name="Google Shape;6071;p3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6072" name="Google Shape;6072;p3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$86K</a:t>
            </a:r>
            <a:endParaRPr/>
          </a:p>
        </p:txBody>
      </p:sp>
      <p:sp>
        <p:nvSpPr>
          <p:cNvPr id="6073" name="Google Shape;6073;p3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6074" name="Google Shape;6074;p3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$135K</a:t>
            </a:r>
            <a:endParaRPr/>
          </a:p>
        </p:txBody>
      </p:sp>
      <p:sp>
        <p:nvSpPr>
          <p:cNvPr id="6075" name="Google Shape;6075;p3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$205K</a:t>
            </a:r>
            <a:endParaRPr/>
          </a:p>
        </p:txBody>
      </p:sp>
      <p:sp>
        <p:nvSpPr>
          <p:cNvPr id="6076" name="Google Shape;6076;p3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$241K</a:t>
            </a:r>
            <a:endParaRPr/>
          </a:p>
        </p:txBody>
      </p:sp>
      <p:sp>
        <p:nvSpPr>
          <p:cNvPr id="6077" name="Google Shape;6077;p3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$246K</a:t>
            </a:r>
            <a:endParaRPr/>
          </a:p>
        </p:txBody>
      </p:sp>
      <p:sp>
        <p:nvSpPr>
          <p:cNvPr id="6078" name="Google Shape;6078;p3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9" name="Google Shape;6079;p3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080" name="Google Shape;6080;p3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81" name="Google Shape;6081;p3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$246,104 YTD gross written premium</a:t>
            </a:r>
            <a:endParaRPr/>
          </a:p>
        </p:txBody>
      </p:sp>
      <p:sp>
        <p:nvSpPr>
          <p:cNvPr id="6082" name="Google Shape;6082;p3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83" name="Google Shape;6083;p3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$87,714 in new business production</a:t>
            </a:r>
            <a:endParaRPr/>
          </a:p>
        </p:txBody>
      </p:sp>
      <p:sp>
        <p:nvSpPr>
          <p:cNvPr id="6084" name="Google Shape;6084;p3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5" name="Google Shape;6085;p3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086" name="Google Shape;6086;p3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87" name="Google Shape;6087;p3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6088" name="Google Shape;6088;p3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89" name="Google Shape;6089;p3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6090" name="Google Shape;6090;p3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1" name="Google Shape;6091;p3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092" name="Google Shape;6092;p3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093" name="Google Shape;6093;p3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$87,714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6094" name="Google Shape;6094;p3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095" name="Google Shape;6095;p3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$157,818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99" name="Shape 6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0" name="Google Shape;6100;p4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1" name="Google Shape;6101;p4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Alparslan Enterprise Llc</a:t>
            </a:r>
            <a:endParaRPr/>
          </a:p>
        </p:txBody>
      </p:sp>
      <p:sp>
        <p:nvSpPr>
          <p:cNvPr id="6102" name="Google Shape;6102;p4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N/A  |  City: N/A</a:t>
            </a:r>
            <a:endParaRPr/>
          </a:p>
        </p:txBody>
      </p:sp>
      <p:sp>
        <p:nvSpPr>
          <p:cNvPr id="6103" name="Google Shape;6103;p4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$242,215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104" name="Google Shape;6104;p4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$242,527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05" name="Google Shape;6105;p4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06" name="Google Shape;6106;p4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07" name="Google Shape;6107;p4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$-41,512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08" name="Google Shape;6108;p4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$263,734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109" name="Google Shape;6109;p4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$505,949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110" name="Google Shape;6110;p4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111" name="Google Shape;6111;p4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112" name="Google Shape;6112;p4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13" name="Google Shape;6113;p4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14" name="Google Shape;6114;p4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$142,503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115" name="Google Shape;6115;p4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$124,513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116" name="Google Shape;6116;p4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7" name="Google Shape;6117;p4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118" name="Google Shape;6118;p4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19" name="Google Shape;6119;p4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120" name="Google Shape;6120;p4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21" name="Google Shape;6121;p4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22" name="Google Shape;6122;p4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23" name="Google Shape;6123;p4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24" name="Google Shape;6124;p4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5" name="Google Shape;6125;p4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26" name="Google Shape;6126;p4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$117,631</a:t>
            </a:r>
            <a:endParaRPr/>
          </a:p>
        </p:txBody>
      </p:sp>
      <p:sp>
        <p:nvSpPr>
          <p:cNvPr id="6127" name="Google Shape;6127;p4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$89,020</a:t>
            </a:r>
            <a:endParaRPr/>
          </a:p>
        </p:txBody>
      </p:sp>
      <p:sp>
        <p:nvSpPr>
          <p:cNvPr id="6128" name="Google Shape;6128;p4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9" name="Google Shape;6129;p4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$28,611</a:t>
            </a:r>
            <a:endParaRPr/>
          </a:p>
        </p:txBody>
      </p:sp>
      <p:sp>
        <p:nvSpPr>
          <p:cNvPr id="6130" name="Google Shape;6130;p4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$-36,771</a:t>
            </a:r>
            <a:endParaRPr/>
          </a:p>
        </p:txBody>
      </p:sp>
      <p:sp>
        <p:nvSpPr>
          <p:cNvPr id="6131" name="Google Shape;6131;p4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2" name="Google Shape;6132;p4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33" name="Google Shape;6133;p4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$108,906</a:t>
            </a:r>
            <a:endParaRPr/>
          </a:p>
        </p:txBody>
      </p:sp>
      <p:sp>
        <p:nvSpPr>
          <p:cNvPr id="6134" name="Google Shape;6134;p4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$116,574</a:t>
            </a:r>
            <a:endParaRPr/>
          </a:p>
        </p:txBody>
      </p:sp>
      <p:sp>
        <p:nvSpPr>
          <p:cNvPr id="6135" name="Google Shape;6135;p4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6" name="Google Shape;6136;p4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$-7,668</a:t>
            </a:r>
            <a:endParaRPr/>
          </a:p>
        </p:txBody>
      </p:sp>
      <p:sp>
        <p:nvSpPr>
          <p:cNvPr id="6137" name="Google Shape;6137;p4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8" name="Google Shape;6138;p4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9" name="Google Shape;6139;p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40" name="Google Shape;6140;p4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$-17,397</a:t>
            </a:r>
            <a:endParaRPr/>
          </a:p>
        </p:txBody>
      </p:sp>
      <p:sp>
        <p:nvSpPr>
          <p:cNvPr id="6141" name="Google Shape;6141;p4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2" name="Google Shape;6142;p4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3" name="Google Shape;6143;p4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$-17,397</a:t>
            </a:r>
            <a:endParaRPr/>
          </a:p>
        </p:txBody>
      </p:sp>
      <p:sp>
        <p:nvSpPr>
          <p:cNvPr id="6144" name="Google Shape;6144;p4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5" name="Google Shape;6145;p4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6" name="Google Shape;6146;p4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47" name="Google Shape;6147;p4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$1,007</a:t>
            </a:r>
            <a:endParaRPr/>
          </a:p>
        </p:txBody>
      </p:sp>
      <p:sp>
        <p:nvSpPr>
          <p:cNvPr id="6148" name="Google Shape;6148;p4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9" name="Google Shape;6149;p4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0" name="Google Shape;6150;p4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$1,007</a:t>
            </a:r>
            <a:endParaRPr/>
          </a:p>
        </p:txBody>
      </p:sp>
      <p:sp>
        <p:nvSpPr>
          <p:cNvPr id="6151" name="Google Shape;6151;p4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2" name="Google Shape;6152;p4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3" name="Google Shape;6153;p4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54" name="Google Shape;6154;p4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$32,069</a:t>
            </a:r>
            <a:endParaRPr/>
          </a:p>
        </p:txBody>
      </p:sp>
      <p:sp>
        <p:nvSpPr>
          <p:cNvPr id="6155" name="Google Shape;6155;p4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$36,933</a:t>
            </a:r>
            <a:endParaRPr/>
          </a:p>
        </p:txBody>
      </p:sp>
      <p:sp>
        <p:nvSpPr>
          <p:cNvPr id="6156" name="Google Shape;6156;p4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7" name="Google Shape;6157;p4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$-4,864</a:t>
            </a:r>
            <a:endParaRPr/>
          </a:p>
        </p:txBody>
      </p:sp>
      <p:sp>
        <p:nvSpPr>
          <p:cNvPr id="6158" name="Google Shape;6158;p4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$-4,741</a:t>
            </a:r>
            <a:endParaRPr/>
          </a:p>
        </p:txBody>
      </p:sp>
      <p:sp>
        <p:nvSpPr>
          <p:cNvPr id="6159" name="Google Shape;6159;p4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0" name="Google Shape;6160;p4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61" name="Google Shape;6161;p4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$242,215</a:t>
            </a:r>
            <a:endParaRPr/>
          </a:p>
        </p:txBody>
      </p:sp>
      <p:sp>
        <p:nvSpPr>
          <p:cNvPr id="6162" name="Google Shape;6162;p4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$242,527</a:t>
            </a:r>
            <a:endParaRPr/>
          </a:p>
        </p:txBody>
      </p:sp>
      <p:sp>
        <p:nvSpPr>
          <p:cNvPr id="6163" name="Google Shape;6163;p4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4" name="Google Shape;6164;p4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$-312</a:t>
            </a:r>
            <a:endParaRPr/>
          </a:p>
        </p:txBody>
      </p:sp>
      <p:sp>
        <p:nvSpPr>
          <p:cNvPr id="6165" name="Google Shape;6165;p4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$-41,512</a:t>
            </a:r>
            <a:endParaRPr/>
          </a:p>
        </p:txBody>
      </p:sp>
      <p:sp>
        <p:nvSpPr>
          <p:cNvPr id="6166" name="Google Shape;6166;p4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7" name="Google Shape;6167;p4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168" name="Google Shape;6168;p4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69" name="Google Shape;6169;p4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170" name="Google Shape;6170;p4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171" name="Google Shape;6171;p4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172" name="Google Shape;6172;p4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73" name="Google Shape;6173;p4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74" name="Google Shape;6174;p4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5" name="Google Shape;6175;p4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76" name="Google Shape;6176;p4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177" name="Google Shape;6177;p4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78" name="Google Shape;6178;p4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179" name="Google Shape;6179;p4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80" name="Google Shape;6180;p4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27.3%</a:t>
            </a:r>
            <a:endParaRPr/>
          </a:p>
        </p:txBody>
      </p:sp>
      <p:sp>
        <p:nvSpPr>
          <p:cNvPr id="6181" name="Google Shape;6181;p4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2" name="Google Shape;6182;p4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83" name="Google Shape;6183;p4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184" name="Google Shape;6184;p4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85" name="Google Shape;6185;p4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186" name="Google Shape;6186;p4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87" name="Google Shape;6187;p4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6188" name="Google Shape;6188;p4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9" name="Google Shape;6189;p4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90" name="Google Shape;6190;p4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191" name="Google Shape;6191;p4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92" name="Google Shape;6192;p4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93" name="Google Shape;6193;p4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94" name="Google Shape;6194;p4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6195" name="Google Shape;6195;p4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6" name="Google Shape;6196;p4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97" name="Google Shape;6197;p4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198" name="Google Shape;6198;p4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99" name="Google Shape;6199;p4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00" name="Google Shape;6200;p4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01" name="Google Shape;6201;p4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6202" name="Google Shape;6202;p4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3" name="Google Shape;6203;p4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204" name="Google Shape;6204;p4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205" name="Google Shape;6205;p4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06" name="Google Shape;6206;p4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207" name="Google Shape;6207;p4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08" name="Google Shape;6208;p4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6209" name="Google Shape;6209;p4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0" name="Google Shape;6210;p4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211" name="Google Shape;6211;p4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6212" name="Google Shape;6212;p4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13" name="Google Shape;6213;p4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6214" name="Google Shape;6214;p4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15" name="Google Shape;6215;p4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15.2%</a:t>
            </a:r>
            <a:endParaRPr/>
          </a:p>
        </p:txBody>
      </p:sp>
      <p:sp>
        <p:nvSpPr>
          <p:cNvPr id="6216" name="Google Shape;6216;p4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7" name="Google Shape;6217;p4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218" name="Google Shape;6218;p4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219" name="Google Shape;6219;p4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220" name="Google Shape;6220;p4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221" name="Google Shape;6221;p4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222" name="Google Shape;6222;p4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223" name="Google Shape;6223;p4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224" name="Google Shape;6224;p4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225" name="Google Shape;6225;p4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226" name="Google Shape;6226;p4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227" name="Google Shape;6227;p4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228" name="Google Shape;6228;p4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229" name="Google Shape;6229;p4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230" name="Google Shape;6230;p4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231" name="Google Shape;6231;p4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32" name="Google Shape;6232;p4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3" name="Google Shape;6233;p4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234" name="Google Shape;6234;p4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5" name="Google Shape;6235;p4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36" name="Google Shape;6236;p4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7" name="Google Shape;6237;p4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38" name="Google Shape;6238;p4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9" name="Google Shape;6239;p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240" name="Google Shape;6240;p4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41" name="Google Shape;6241;p4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242" name="Google Shape;6242;p4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43" name="Google Shape;6243;p4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6244" name="Google Shape;6244;p4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245" name="Google Shape;6245;p4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6" name="Google Shape;6246;p4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$118K</a:t>
            </a:r>
            <a:endParaRPr/>
          </a:p>
        </p:txBody>
      </p:sp>
      <p:sp>
        <p:nvSpPr>
          <p:cNvPr id="6247" name="Google Shape;6247;p4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8" name="Google Shape;6248;p4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$109K</a:t>
            </a:r>
            <a:endParaRPr/>
          </a:p>
        </p:txBody>
      </p:sp>
      <p:sp>
        <p:nvSpPr>
          <p:cNvPr id="6249" name="Google Shape;6249;p4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0" name="Google Shape;6250;p4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$-17,397</a:t>
            </a:r>
            <a:endParaRPr/>
          </a:p>
        </p:txBody>
      </p:sp>
      <p:sp>
        <p:nvSpPr>
          <p:cNvPr id="6251" name="Google Shape;6251;p4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2" name="Google Shape;6252;p4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6253" name="Google Shape;6253;p4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4" name="Google Shape;6254;p4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6255" name="Google Shape;6255;p4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6" name="Google Shape;6256;p4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$242K</a:t>
            </a:r>
            <a:endParaRPr/>
          </a:p>
        </p:txBody>
      </p:sp>
      <p:sp>
        <p:nvSpPr>
          <p:cNvPr id="6257" name="Google Shape;6257;p4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8" name="Google Shape;6258;p4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259" name="Google Shape;6259;p4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60" name="Google Shape;6260;p4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$242,215 YTD gross written premium</a:t>
            </a:r>
            <a:endParaRPr/>
          </a:p>
        </p:txBody>
      </p:sp>
      <p:sp>
        <p:nvSpPr>
          <p:cNvPr id="6261" name="Google Shape;6261;p4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62" name="Google Shape;6262;p4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$242,527 in new business production</a:t>
            </a:r>
            <a:endParaRPr/>
          </a:p>
        </p:txBody>
      </p:sp>
      <p:sp>
        <p:nvSpPr>
          <p:cNvPr id="6263" name="Google Shape;6263;p4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4" name="Google Shape;6264;p4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265" name="Google Shape;6265;p4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66" name="Google Shape;6266;p4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6267" name="Google Shape;6267;p4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68" name="Google Shape;6268;p4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6269" name="Google Shape;6269;p4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0" name="Google Shape;6270;p4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271" name="Google Shape;6271;p4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272" name="Google Shape;6272;p4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$242,527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6273" name="Google Shape;6273;p4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274" name="Google Shape;6274;p4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78" name="Shape 6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9" name="Google Shape;6279;p4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0" name="Google Shape;6280;p4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Freedom Insurance Services Pc</a:t>
            </a:r>
            <a:endParaRPr/>
          </a:p>
        </p:txBody>
      </p:sp>
      <p:sp>
        <p:nvSpPr>
          <p:cNvPr id="6281" name="Google Shape;6281;p4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NV  |  City: Las Vegas</a:t>
            </a:r>
            <a:endParaRPr/>
          </a:p>
        </p:txBody>
      </p:sp>
      <p:sp>
        <p:nvSpPr>
          <p:cNvPr id="6282" name="Google Shape;6282;p4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$210,947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283" name="Google Shape;6283;p4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$130,097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284" name="Google Shape;6284;p4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285" name="Google Shape;6285;p4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$63,693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286" name="Google Shape;6286;p4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$-59,867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287" name="Google Shape;6287;p4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$467,093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288" name="Google Shape;6288;p4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$647,471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289" name="Google Shape;6289;p4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290" name="Google Shape;6290;p4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91" name="Google Shape;6291;p4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292" name="Google Shape;6292;p4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293" name="Google Shape;6293;p4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$84,569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294" name="Google Shape;6294;p4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$157,877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295" name="Google Shape;6295;p4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6" name="Google Shape;6296;p4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297" name="Google Shape;6297;p4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298" name="Google Shape;6298;p4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299" name="Google Shape;6299;p4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300" name="Google Shape;6300;p4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301" name="Google Shape;6301;p4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302" name="Google Shape;6302;p4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303" name="Google Shape;6303;p4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4" name="Google Shape;6304;p4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05" name="Google Shape;6305;p4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6" name="Google Shape;6306;p4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7" name="Google Shape;6307;p4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8" name="Google Shape;6308;p4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9" name="Google Shape;6309;p4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0" name="Google Shape;6310;p4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1" name="Google Shape;6311;p4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12" name="Google Shape;6312;p4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$37,357</a:t>
            </a:r>
            <a:endParaRPr/>
          </a:p>
        </p:txBody>
      </p:sp>
      <p:sp>
        <p:nvSpPr>
          <p:cNvPr id="6313" name="Google Shape;6313;p4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$36,761</a:t>
            </a:r>
            <a:endParaRPr/>
          </a:p>
        </p:txBody>
      </p:sp>
      <p:sp>
        <p:nvSpPr>
          <p:cNvPr id="6314" name="Google Shape;6314;p4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5" name="Google Shape;6315;p4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$596</a:t>
            </a:r>
            <a:endParaRPr/>
          </a:p>
        </p:txBody>
      </p:sp>
      <p:sp>
        <p:nvSpPr>
          <p:cNvPr id="6316" name="Google Shape;6316;p4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7" name="Google Shape;6317;p4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8" name="Google Shape;6318;p4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19" name="Google Shape;6319;p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$60,351</a:t>
            </a:r>
            <a:endParaRPr/>
          </a:p>
        </p:txBody>
      </p:sp>
      <p:sp>
        <p:nvSpPr>
          <p:cNvPr id="6320" name="Google Shape;6320;p4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$21,057</a:t>
            </a:r>
            <a:endParaRPr/>
          </a:p>
        </p:txBody>
      </p:sp>
      <p:sp>
        <p:nvSpPr>
          <p:cNvPr id="6321" name="Google Shape;6321;p4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$17,157</a:t>
            </a:r>
            <a:endParaRPr/>
          </a:p>
        </p:txBody>
      </p:sp>
      <p:sp>
        <p:nvSpPr>
          <p:cNvPr id="6322" name="Google Shape;6322;p4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$22,137</a:t>
            </a:r>
            <a:endParaRPr/>
          </a:p>
        </p:txBody>
      </p:sp>
      <p:sp>
        <p:nvSpPr>
          <p:cNvPr id="6323" name="Google Shape;6323;p4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$-22,137</a:t>
            </a:r>
            <a:endParaRPr/>
          </a:p>
        </p:txBody>
      </p:sp>
      <p:sp>
        <p:nvSpPr>
          <p:cNvPr id="6324" name="Google Shape;6324;p4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5" name="Google Shape;6325;p4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26" name="Google Shape;6326;p4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$60,187</a:t>
            </a:r>
            <a:endParaRPr/>
          </a:p>
        </p:txBody>
      </p:sp>
      <p:sp>
        <p:nvSpPr>
          <p:cNvPr id="6327" name="Google Shape;6327;p4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$36,530</a:t>
            </a:r>
            <a:endParaRPr/>
          </a:p>
        </p:txBody>
      </p:sp>
      <p:sp>
        <p:nvSpPr>
          <p:cNvPr id="6328" name="Google Shape;6328;p4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9" name="Google Shape;6329;p4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$23,657</a:t>
            </a:r>
            <a:endParaRPr/>
          </a:p>
        </p:txBody>
      </p:sp>
      <p:sp>
        <p:nvSpPr>
          <p:cNvPr id="6330" name="Google Shape;6330;p4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$-19,788</a:t>
            </a:r>
            <a:endParaRPr/>
          </a:p>
        </p:txBody>
      </p:sp>
      <p:sp>
        <p:nvSpPr>
          <p:cNvPr id="6331" name="Google Shape;6331;p4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2" name="Google Shape;6332;p4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33" name="Google Shape;6333;p4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$53,052</a:t>
            </a:r>
            <a:endParaRPr/>
          </a:p>
        </p:txBody>
      </p:sp>
      <p:sp>
        <p:nvSpPr>
          <p:cNvPr id="6334" name="Google Shape;6334;p4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$35,748</a:t>
            </a:r>
            <a:endParaRPr/>
          </a:p>
        </p:txBody>
      </p:sp>
      <p:sp>
        <p:nvSpPr>
          <p:cNvPr id="6335" name="Google Shape;6335;p4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6" name="Google Shape;6336;p4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$17,303</a:t>
            </a:r>
            <a:endParaRPr/>
          </a:p>
        </p:txBody>
      </p:sp>
      <p:sp>
        <p:nvSpPr>
          <p:cNvPr id="6337" name="Google Shape;6337;p4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$-17,942</a:t>
            </a:r>
            <a:endParaRPr/>
          </a:p>
        </p:txBody>
      </p:sp>
      <p:sp>
        <p:nvSpPr>
          <p:cNvPr id="6338" name="Google Shape;6338;p4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9" name="Google Shape;6339;p4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40" name="Google Shape;6340;p4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$210,947</a:t>
            </a:r>
            <a:endParaRPr/>
          </a:p>
        </p:txBody>
      </p:sp>
      <p:sp>
        <p:nvSpPr>
          <p:cNvPr id="6341" name="Google Shape;6341;p4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$130,097</a:t>
            </a:r>
            <a:endParaRPr/>
          </a:p>
        </p:txBody>
      </p:sp>
      <p:sp>
        <p:nvSpPr>
          <p:cNvPr id="6342" name="Google Shape;6342;p4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$17,157</a:t>
            </a:r>
            <a:endParaRPr/>
          </a:p>
        </p:txBody>
      </p:sp>
      <p:sp>
        <p:nvSpPr>
          <p:cNvPr id="6343" name="Google Shape;6343;p4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$63,693</a:t>
            </a:r>
            <a:endParaRPr/>
          </a:p>
        </p:txBody>
      </p:sp>
      <p:sp>
        <p:nvSpPr>
          <p:cNvPr id="6344" name="Google Shape;6344;p4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$-59,867</a:t>
            </a:r>
            <a:endParaRPr/>
          </a:p>
        </p:txBody>
      </p:sp>
      <p:sp>
        <p:nvSpPr>
          <p:cNvPr id="6345" name="Google Shape;6345;p4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6" name="Google Shape;6346;p4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347" name="Google Shape;6347;p4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48" name="Google Shape;6348;p4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349" name="Google Shape;6349;p4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350" name="Google Shape;6350;p4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351" name="Google Shape;6351;p4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352" name="Google Shape;6352;p4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353" name="Google Shape;6353;p4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4" name="Google Shape;6354;p4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55" name="Google Shape;6355;p4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56" name="Google Shape;6356;p4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57" name="Google Shape;6357;p4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58" name="Google Shape;6358;p4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59" name="Google Shape;6359;p4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6360" name="Google Shape;6360;p4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1" name="Google Shape;6361;p4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62" name="Google Shape;6362;p4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363" name="Google Shape;6363;p4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64" name="Google Shape;6364;p4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365" name="Google Shape;6365;p4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66" name="Google Shape;6366;p4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6367" name="Google Shape;6367;p4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8" name="Google Shape;6368;p4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69" name="Google Shape;6369;p4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370" name="Google Shape;6370;p4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71" name="Google Shape;6371;p4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372" name="Google Shape;6372;p4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73" name="Google Shape;6373;p4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6374" name="Google Shape;6374;p4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5" name="Google Shape;6375;p4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76" name="Google Shape;6376;p4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377" name="Google Shape;6377;p4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78" name="Google Shape;6378;p4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379" name="Google Shape;6379;p4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80" name="Google Shape;6380;p4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27.3%</a:t>
            </a:r>
            <a:endParaRPr/>
          </a:p>
        </p:txBody>
      </p:sp>
      <p:sp>
        <p:nvSpPr>
          <p:cNvPr id="6381" name="Google Shape;6381;p4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2" name="Google Shape;6382;p4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83" name="Google Shape;6383;p4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384" name="Google Shape;6384;p4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85" name="Google Shape;6385;p4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386" name="Google Shape;6386;p4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87" name="Google Shape;6387;p4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15.0%</a:t>
            </a:r>
            <a:endParaRPr/>
          </a:p>
        </p:txBody>
      </p:sp>
      <p:sp>
        <p:nvSpPr>
          <p:cNvPr id="6388" name="Google Shape;6388;p4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9" name="Google Shape;6389;p4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90" name="Google Shape;6390;p4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6391" name="Google Shape;6391;p4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92" name="Google Shape;6392;p4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6393" name="Google Shape;6393;p4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394" name="Google Shape;6394;p4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6395" name="Google Shape;6395;p4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6" name="Google Shape;6396;p4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397" name="Google Shape;6397;p4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398" name="Google Shape;6398;p4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399" name="Google Shape;6399;p4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400" name="Google Shape;6400;p4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401" name="Google Shape;6401;p4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402" name="Google Shape;6402;p4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403" name="Google Shape;6403;p4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404" name="Google Shape;6404;p4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405" name="Google Shape;6405;p4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406" name="Google Shape;6406;p4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407" name="Google Shape;6407;p4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408" name="Google Shape;6408;p4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409" name="Google Shape;6409;p4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410" name="Google Shape;6410;p4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11" name="Google Shape;6411;p4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412" name="Google Shape;6412;p4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413" name="Google Shape;6413;p4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14" name="Google Shape;6414;p4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415" name="Google Shape;6415;p4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416" name="Google Shape;6416;p4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417" name="Google Shape;6417;p4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418" name="Google Shape;6418;p4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419" name="Google Shape;6419;p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420" name="Google Shape;6420;p4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421" name="Google Shape;6421;p4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6422" name="Google Shape;6422;p4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6423" name="Google Shape;6423;p4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424" name="Google Shape;6424;p4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25" name="Google Shape;6425;p4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26" name="Google Shape;6426;p4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27" name="Google Shape;6427;p4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6428" name="Google Shape;6428;p4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6429" name="Google Shape;6429;p4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6430" name="Google Shape;6430;p4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6431" name="Google Shape;6431;p4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6432" name="Google Shape;6432;p4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3" name="Google Shape;6433;p4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$53K</a:t>
            </a:r>
            <a:endParaRPr/>
          </a:p>
        </p:txBody>
      </p:sp>
      <p:sp>
        <p:nvSpPr>
          <p:cNvPr id="6434" name="Google Shape;6434;p4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6435" name="Google Shape;6435;p4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$211K</a:t>
            </a:r>
            <a:endParaRPr/>
          </a:p>
        </p:txBody>
      </p:sp>
      <p:sp>
        <p:nvSpPr>
          <p:cNvPr id="6436" name="Google Shape;6436;p4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7" name="Google Shape;6437;p4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438" name="Google Shape;6438;p4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39" name="Google Shape;6439;p4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$210,947 YTD gross written premium</a:t>
            </a:r>
            <a:endParaRPr/>
          </a:p>
        </p:txBody>
      </p:sp>
      <p:sp>
        <p:nvSpPr>
          <p:cNvPr id="6440" name="Google Shape;6440;p4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41" name="Google Shape;6441;p4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$130,097 in new business production</a:t>
            </a:r>
            <a:endParaRPr/>
          </a:p>
        </p:txBody>
      </p:sp>
      <p:sp>
        <p:nvSpPr>
          <p:cNvPr id="6442" name="Google Shape;6442;p4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3" name="Google Shape;6443;p4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444" name="Google Shape;6444;p4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445" name="Google Shape;6445;p4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46% of new business ($59,867)</a:t>
            </a:r>
            <a:endParaRPr/>
          </a:p>
        </p:txBody>
      </p:sp>
      <p:sp>
        <p:nvSpPr>
          <p:cNvPr id="6446" name="Google Shape;6446;p4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7" name="Google Shape;6447;p4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448" name="Google Shape;6448;p4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449" name="Google Shape;6449;p4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$130,097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6450" name="Google Shape;6450;p4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451" name="Google Shape;6451;p4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$59,867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55" name="Shape 6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6" name="Google Shape;6456;p4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7" name="Google Shape;6457;p4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Northdale Insurance Agency, Inc</a:t>
            </a:r>
            <a:endParaRPr/>
          </a:p>
        </p:txBody>
      </p:sp>
      <p:sp>
        <p:nvSpPr>
          <p:cNvPr id="6458" name="Google Shape;6458;p4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N/A</a:t>
            </a:r>
            <a:endParaRPr/>
          </a:p>
        </p:txBody>
      </p:sp>
      <p:sp>
        <p:nvSpPr>
          <p:cNvPr id="6459" name="Google Shape;6459;p4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$201,522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460" name="Google Shape;6460;p4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$123,130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61" name="Google Shape;6461;p4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62" name="Google Shape;6462;p4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$78,392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63" name="Google Shape;6463;p4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$-153,029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64" name="Google Shape;6464;p4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$1,118,229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465" name="Google Shape;6465;p4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$1,203,838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466" name="Google Shape;6466;p4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467" name="Google Shape;6467;p4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68" name="Google Shape;6468;p4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469" name="Google Shape;6469;p4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470" name="Google Shape;6470;p4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$69,029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471" name="Google Shape;6471;p4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$212,581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472" name="Google Shape;6472;p4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3" name="Google Shape;6473;p4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474" name="Google Shape;6474;p4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475" name="Google Shape;6475;p4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476" name="Google Shape;6476;p4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77" name="Google Shape;6477;p4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78" name="Google Shape;6478;p4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79" name="Google Shape;6479;p4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80" name="Google Shape;6480;p4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1" name="Google Shape;6481;p4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482" name="Google Shape;6482;p4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$57,807</a:t>
            </a:r>
            <a:endParaRPr/>
          </a:p>
        </p:txBody>
      </p:sp>
      <p:sp>
        <p:nvSpPr>
          <p:cNvPr id="6483" name="Google Shape;6483;p4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84" name="Google Shape;6484;p4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85" name="Google Shape;6485;p4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$57,807</a:t>
            </a:r>
            <a:endParaRPr/>
          </a:p>
        </p:txBody>
      </p:sp>
      <p:sp>
        <p:nvSpPr>
          <p:cNvPr id="6486" name="Google Shape;6486;p4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$-64,445</a:t>
            </a:r>
            <a:endParaRPr/>
          </a:p>
        </p:txBody>
      </p:sp>
      <p:sp>
        <p:nvSpPr>
          <p:cNvPr id="6487" name="Google Shape;6487;p4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8" name="Google Shape;6488;p4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489" name="Google Shape;6489;p4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$42,169</a:t>
            </a:r>
            <a:endParaRPr/>
          </a:p>
        </p:txBody>
      </p:sp>
      <p:sp>
        <p:nvSpPr>
          <p:cNvPr id="6490" name="Google Shape;6490;p4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$14,717</a:t>
            </a:r>
            <a:endParaRPr/>
          </a:p>
        </p:txBody>
      </p:sp>
      <p:sp>
        <p:nvSpPr>
          <p:cNvPr id="6491" name="Google Shape;6491;p4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2" name="Google Shape;6492;p4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$27,452</a:t>
            </a:r>
            <a:endParaRPr/>
          </a:p>
        </p:txBody>
      </p:sp>
      <p:sp>
        <p:nvSpPr>
          <p:cNvPr id="6493" name="Google Shape;6493;p4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$-88,584</a:t>
            </a:r>
            <a:endParaRPr/>
          </a:p>
        </p:txBody>
      </p:sp>
      <p:sp>
        <p:nvSpPr>
          <p:cNvPr id="6494" name="Google Shape;6494;p4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5" name="Google Shape;6495;p4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496" name="Google Shape;6496;p4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7" name="Google Shape;6497;p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8" name="Google Shape;6498;p4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9" name="Google Shape;6499;p4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0" name="Google Shape;6500;p4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1" name="Google Shape;6501;p4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2" name="Google Shape;6502;p4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03" name="Google Shape;6503;p4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$15,035</a:t>
            </a:r>
            <a:endParaRPr/>
          </a:p>
        </p:txBody>
      </p:sp>
      <p:sp>
        <p:nvSpPr>
          <p:cNvPr id="6504" name="Google Shape;6504;p4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$22,406</a:t>
            </a:r>
            <a:endParaRPr/>
          </a:p>
        </p:txBody>
      </p:sp>
      <p:sp>
        <p:nvSpPr>
          <p:cNvPr id="6505" name="Google Shape;6505;p4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6" name="Google Shape;6506;p4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$-7,371</a:t>
            </a:r>
            <a:endParaRPr/>
          </a:p>
        </p:txBody>
      </p:sp>
      <p:sp>
        <p:nvSpPr>
          <p:cNvPr id="6507" name="Google Shape;6507;p4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8" name="Google Shape;6508;p4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9" name="Google Shape;6509;p4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10" name="Google Shape;6510;p4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$86,511</a:t>
            </a:r>
            <a:endParaRPr/>
          </a:p>
        </p:txBody>
      </p:sp>
      <p:sp>
        <p:nvSpPr>
          <p:cNvPr id="6511" name="Google Shape;6511;p4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$86,007</a:t>
            </a:r>
            <a:endParaRPr/>
          </a:p>
        </p:txBody>
      </p:sp>
      <p:sp>
        <p:nvSpPr>
          <p:cNvPr id="6512" name="Google Shape;6512;p4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3" name="Google Shape;6513;p4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$504</a:t>
            </a:r>
            <a:endParaRPr/>
          </a:p>
        </p:txBody>
      </p:sp>
      <p:sp>
        <p:nvSpPr>
          <p:cNvPr id="6514" name="Google Shape;6514;p4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5" name="Google Shape;6515;p4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6" name="Google Shape;6516;p4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17" name="Google Shape;6517;p4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$201,522</a:t>
            </a:r>
            <a:endParaRPr/>
          </a:p>
        </p:txBody>
      </p:sp>
      <p:sp>
        <p:nvSpPr>
          <p:cNvPr id="6518" name="Google Shape;6518;p4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$123,130</a:t>
            </a:r>
            <a:endParaRPr/>
          </a:p>
        </p:txBody>
      </p:sp>
      <p:sp>
        <p:nvSpPr>
          <p:cNvPr id="6519" name="Google Shape;6519;p4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0" name="Google Shape;6520;p4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$78,392</a:t>
            </a:r>
            <a:endParaRPr/>
          </a:p>
        </p:txBody>
      </p:sp>
      <p:sp>
        <p:nvSpPr>
          <p:cNvPr id="6521" name="Google Shape;6521;p4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$-153,029</a:t>
            </a:r>
            <a:endParaRPr/>
          </a:p>
        </p:txBody>
      </p:sp>
      <p:sp>
        <p:nvSpPr>
          <p:cNvPr id="6522" name="Google Shape;6522;p4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3" name="Google Shape;6523;p4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524" name="Google Shape;6524;p4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525" name="Google Shape;6525;p4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526" name="Google Shape;6526;p4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527" name="Google Shape;6527;p4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528" name="Google Shape;6528;p4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529" name="Google Shape;6529;p4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530" name="Google Shape;6530;p4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1" name="Google Shape;6531;p4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532" name="Google Shape;6532;p4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533" name="Google Shape;6533;p4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534" name="Google Shape;6534;p4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535" name="Google Shape;6535;p4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536" name="Google Shape;6536;p4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13.6%</a:t>
            </a:r>
            <a:endParaRPr/>
          </a:p>
        </p:txBody>
      </p:sp>
      <p:sp>
        <p:nvSpPr>
          <p:cNvPr id="6537" name="Google Shape;6537;p4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8" name="Google Shape;6538;p4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539" name="Google Shape;6539;p4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540" name="Google Shape;6540;p4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541" name="Google Shape;6541;p4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542" name="Google Shape;6542;p4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43" name="Google Shape;6543;p4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6544" name="Google Shape;6544;p4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5" name="Google Shape;6545;p4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46" name="Google Shape;6546;p4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6547" name="Google Shape;6547;p4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548" name="Google Shape;6548;p4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6549" name="Google Shape;6549;p4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50" name="Google Shape;6550;p4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6551" name="Google Shape;6551;p4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2" name="Google Shape;6552;p4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53" name="Google Shape;6553;p4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6554" name="Google Shape;6554;p4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555" name="Google Shape;6555;p4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6556" name="Google Shape;6556;p4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57" name="Google Shape;6557;p4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11.6%</a:t>
            </a:r>
            <a:endParaRPr/>
          </a:p>
        </p:txBody>
      </p:sp>
      <p:sp>
        <p:nvSpPr>
          <p:cNvPr id="6558" name="Google Shape;6558;p4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9" name="Google Shape;6559;p4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60" name="Google Shape;6560;p4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6561" name="Google Shape;6561;p4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62" name="Google Shape;6562;p4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6563" name="Google Shape;6563;p4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64" name="Google Shape;6564;p4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6565" name="Google Shape;6565;p4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6" name="Google Shape;6566;p4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67" name="Google Shape;6567;p4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165</a:t>
            </a:r>
            <a:endParaRPr/>
          </a:p>
        </p:txBody>
      </p:sp>
      <p:sp>
        <p:nvSpPr>
          <p:cNvPr id="6568" name="Google Shape;6568;p4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569" name="Google Shape;6569;p4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6570" name="Google Shape;6570;p4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571" name="Google Shape;6571;p4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</p:txBody>
      </p:sp>
      <p:sp>
        <p:nvSpPr>
          <p:cNvPr id="6572" name="Google Shape;6572;p4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3" name="Google Shape;6573;p4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574" name="Google Shape;6574;p4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575" name="Google Shape;6575;p4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576" name="Google Shape;6576;p4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577" name="Google Shape;6577;p4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578" name="Google Shape;6578;p4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579" name="Google Shape;6579;p4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580" name="Google Shape;6580;p4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581" name="Google Shape;6581;p4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582" name="Google Shape;6582;p4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583" name="Google Shape;6583;p4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584" name="Google Shape;6584;p4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585" name="Google Shape;6585;p4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586" name="Google Shape;6586;p4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587" name="Google Shape;6587;p4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588" name="Google Shape;6588;p4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89" name="Google Shape;6589;p4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590" name="Google Shape;6590;p4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591" name="Google Shape;6591;p4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592" name="Google Shape;6592;p4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93" name="Google Shape;6593;p4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6594" name="Google Shape;6594;p4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95" name="Google Shape;6595;p4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6596" name="Google Shape;6596;p4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597" name="Google Shape;6597;p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6598" name="Google Shape;6598;p4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6599" name="Google Shape;6599;p4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179</a:t>
            </a:r>
            <a:endParaRPr/>
          </a:p>
        </p:txBody>
      </p:sp>
      <p:sp>
        <p:nvSpPr>
          <p:cNvPr id="6600" name="Google Shape;6600;p4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601" name="Google Shape;6601;p4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02" name="Google Shape;6602;p4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6603" name="Google Shape;6603;p4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04" name="Google Shape;6604;p4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6605" name="Google Shape;6605;p4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06" name="Google Shape;6606;p4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07" name="Google Shape;6607;p4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08" name="Google Shape;6608;p4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6609" name="Google Shape;6609;p4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$116K</a:t>
            </a:r>
            <a:endParaRPr/>
          </a:p>
        </p:txBody>
      </p:sp>
      <p:sp>
        <p:nvSpPr>
          <p:cNvPr id="6610" name="Google Shape;6610;p4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$87K</a:t>
            </a:r>
            <a:endParaRPr/>
          </a:p>
        </p:txBody>
      </p:sp>
      <p:sp>
        <p:nvSpPr>
          <p:cNvPr id="6611" name="Google Shape;6611;p4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$116K</a:t>
            </a:r>
            <a:endParaRPr/>
          </a:p>
        </p:txBody>
      </p:sp>
      <p:sp>
        <p:nvSpPr>
          <p:cNvPr id="6612" name="Google Shape;6612;p4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$202K</a:t>
            </a:r>
            <a:endParaRPr/>
          </a:p>
        </p:txBody>
      </p:sp>
      <p:sp>
        <p:nvSpPr>
          <p:cNvPr id="6613" name="Google Shape;6613;p4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4" name="Google Shape;6614;p4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615" name="Google Shape;6615;p4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16" name="Google Shape;6616;p4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$201,522 YTD gross written premium</a:t>
            </a:r>
            <a:endParaRPr/>
          </a:p>
        </p:txBody>
      </p:sp>
      <p:sp>
        <p:nvSpPr>
          <p:cNvPr id="6617" name="Google Shape;6617;p4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18" name="Google Shape;6618;p4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$123,130 in new business production</a:t>
            </a:r>
            <a:endParaRPr/>
          </a:p>
        </p:txBody>
      </p:sp>
      <p:sp>
        <p:nvSpPr>
          <p:cNvPr id="6619" name="Google Shape;6619;p4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0" name="Google Shape;6620;p4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621" name="Google Shape;6621;p4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622" name="Google Shape;6622;p4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124% of new business ($153,029)</a:t>
            </a:r>
            <a:endParaRPr/>
          </a:p>
        </p:txBody>
      </p:sp>
      <p:sp>
        <p:nvSpPr>
          <p:cNvPr id="6623" name="Google Shape;6623;p4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4" name="Google Shape;6624;p4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625" name="Google Shape;6625;p4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626" name="Google Shape;6626;p4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$123,130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6627" name="Google Shape;6627;p4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628" name="Google Shape;6628;p4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$153,029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32" name="Shape 6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3" name="Google Shape;6633;p4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4" name="Google Shape;6634;p4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Swan Insurance Sales, Llc</a:t>
            </a:r>
            <a:endParaRPr/>
          </a:p>
        </p:txBody>
      </p:sp>
      <p:sp>
        <p:nvSpPr>
          <p:cNvPr id="6635" name="Google Shape;6635;p4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California  |  City: San Diego</a:t>
            </a:r>
            <a:endParaRPr/>
          </a:p>
        </p:txBody>
      </p:sp>
      <p:sp>
        <p:nvSpPr>
          <p:cNvPr id="6636" name="Google Shape;6636;p4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$194,187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637" name="Google Shape;6637;p4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$59,124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38" name="Google Shape;6638;p4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$30,091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39" name="Google Shape;6639;p4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$104,973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40" name="Google Shape;6640;p4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$-42,260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41" name="Google Shape;6641;p4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$919,466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642" name="Google Shape;6642;p4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$850,381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643" name="Google Shape;6643;p4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644" name="Google Shape;6644;p4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45" name="Google Shape;6645;p4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646" name="Google Shape;6646;p4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647" name="Google Shape;6647;p4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$353,518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648" name="Google Shape;6648;p4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$77,631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649" name="Google Shape;6649;p4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0" name="Google Shape;6650;p4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651" name="Google Shape;6651;p4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52" name="Google Shape;6652;p4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653" name="Google Shape;6653;p4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54" name="Google Shape;6654;p4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55" name="Google Shape;6655;p4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56" name="Google Shape;6656;p4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57" name="Google Shape;6657;p4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8" name="Google Shape;6658;p4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659" name="Google Shape;6659;p4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$49,438</a:t>
            </a:r>
            <a:endParaRPr/>
          </a:p>
        </p:txBody>
      </p:sp>
      <p:sp>
        <p:nvSpPr>
          <p:cNvPr id="6660" name="Google Shape;6660;p4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$25,432</a:t>
            </a:r>
            <a:endParaRPr/>
          </a:p>
        </p:txBody>
      </p:sp>
      <p:sp>
        <p:nvSpPr>
          <p:cNvPr id="6661" name="Google Shape;6661;p4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$10,312</a:t>
            </a:r>
            <a:endParaRPr/>
          </a:p>
        </p:txBody>
      </p:sp>
      <p:sp>
        <p:nvSpPr>
          <p:cNvPr id="6662" name="Google Shape;6662;p4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$13,694</a:t>
            </a:r>
            <a:endParaRPr/>
          </a:p>
        </p:txBody>
      </p:sp>
      <p:sp>
        <p:nvSpPr>
          <p:cNvPr id="6663" name="Google Shape;6663;p4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4" name="Google Shape;6664;p4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5" name="Google Shape;6665;p4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666" name="Google Shape;6666;p4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$53,366</a:t>
            </a:r>
            <a:endParaRPr/>
          </a:p>
        </p:txBody>
      </p:sp>
      <p:sp>
        <p:nvSpPr>
          <p:cNvPr id="6667" name="Google Shape;6667;p4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$3,849</a:t>
            </a:r>
            <a:endParaRPr/>
          </a:p>
        </p:txBody>
      </p:sp>
      <p:sp>
        <p:nvSpPr>
          <p:cNvPr id="6668" name="Google Shape;6668;p4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$19,779</a:t>
            </a:r>
            <a:endParaRPr/>
          </a:p>
        </p:txBody>
      </p:sp>
      <p:sp>
        <p:nvSpPr>
          <p:cNvPr id="6669" name="Google Shape;6669;p4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$29,738</a:t>
            </a:r>
            <a:endParaRPr/>
          </a:p>
        </p:txBody>
      </p:sp>
      <p:sp>
        <p:nvSpPr>
          <p:cNvPr id="6670" name="Google Shape;6670;p4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$-24,666</a:t>
            </a:r>
            <a:endParaRPr/>
          </a:p>
        </p:txBody>
      </p:sp>
      <p:sp>
        <p:nvSpPr>
          <p:cNvPr id="6671" name="Google Shape;6671;p4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2" name="Google Shape;6672;p4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673" name="Google Shape;6673;p4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$43,611</a:t>
            </a:r>
            <a:endParaRPr/>
          </a:p>
        </p:txBody>
      </p:sp>
      <p:sp>
        <p:nvSpPr>
          <p:cNvPr id="6674" name="Google Shape;6674;p4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$29,842</a:t>
            </a:r>
            <a:endParaRPr/>
          </a:p>
        </p:txBody>
      </p:sp>
      <p:sp>
        <p:nvSpPr>
          <p:cNvPr id="6675" name="Google Shape;6675;p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6" name="Google Shape;6676;p4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</p:txBody>
      </p:sp>
      <p:sp>
        <p:nvSpPr>
          <p:cNvPr id="6677" name="Google Shape;6677;p4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$-10,912</a:t>
            </a:r>
            <a:endParaRPr/>
          </a:p>
        </p:txBody>
      </p:sp>
      <p:sp>
        <p:nvSpPr>
          <p:cNvPr id="6678" name="Google Shape;6678;p4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9" name="Google Shape;6679;p4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680" name="Google Shape;6680;p4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$53,580</a:t>
            </a:r>
            <a:endParaRPr/>
          </a:p>
        </p:txBody>
      </p:sp>
      <p:sp>
        <p:nvSpPr>
          <p:cNvPr id="6681" name="Google Shape;6681;p4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2" name="Google Shape;6682;p4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3" name="Google Shape;6683;p4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$53,580</a:t>
            </a:r>
            <a:endParaRPr/>
          </a:p>
        </p:txBody>
      </p:sp>
      <p:sp>
        <p:nvSpPr>
          <p:cNvPr id="6684" name="Google Shape;6684;p4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5" name="Google Shape;6685;p4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6" name="Google Shape;6686;p4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687" name="Google Shape;6687;p4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$-5,808</a:t>
            </a:r>
            <a:endParaRPr/>
          </a:p>
        </p:txBody>
      </p:sp>
      <p:sp>
        <p:nvSpPr>
          <p:cNvPr id="6688" name="Google Shape;6688;p4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9" name="Google Shape;6689;p4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0" name="Google Shape;6690;p4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$-5,808</a:t>
            </a:r>
            <a:endParaRPr/>
          </a:p>
        </p:txBody>
      </p:sp>
      <p:sp>
        <p:nvSpPr>
          <p:cNvPr id="6691" name="Google Shape;6691;p4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$-6,682</a:t>
            </a:r>
            <a:endParaRPr/>
          </a:p>
        </p:txBody>
      </p:sp>
      <p:sp>
        <p:nvSpPr>
          <p:cNvPr id="6692" name="Google Shape;6692;p4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3" name="Google Shape;6693;p4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694" name="Google Shape;6694;p4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$194,187</a:t>
            </a:r>
            <a:endParaRPr/>
          </a:p>
        </p:txBody>
      </p:sp>
      <p:sp>
        <p:nvSpPr>
          <p:cNvPr id="6695" name="Google Shape;6695;p4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$59,124</a:t>
            </a:r>
            <a:endParaRPr/>
          </a:p>
        </p:txBody>
      </p:sp>
      <p:sp>
        <p:nvSpPr>
          <p:cNvPr id="6696" name="Google Shape;6696;p4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$30,091</a:t>
            </a:r>
            <a:endParaRPr/>
          </a:p>
        </p:txBody>
      </p:sp>
      <p:sp>
        <p:nvSpPr>
          <p:cNvPr id="6697" name="Google Shape;6697;p4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$104,973</a:t>
            </a:r>
            <a:endParaRPr/>
          </a:p>
        </p:txBody>
      </p:sp>
      <p:sp>
        <p:nvSpPr>
          <p:cNvPr id="6698" name="Google Shape;6698;p4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$-42,260</a:t>
            </a:r>
            <a:endParaRPr/>
          </a:p>
        </p:txBody>
      </p:sp>
      <p:sp>
        <p:nvSpPr>
          <p:cNvPr id="6699" name="Google Shape;6699;p4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0" name="Google Shape;6700;p4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701" name="Google Shape;6701;p4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02" name="Google Shape;6702;p4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03" name="Google Shape;6703;p4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704" name="Google Shape;6704;p4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705" name="Google Shape;6705;p4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06" name="Google Shape;6706;p4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07" name="Google Shape;6707;p4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8" name="Google Shape;6708;p4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09" name="Google Shape;6709;p4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710" name="Google Shape;6710;p4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711" name="Google Shape;6711;p4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712" name="Google Shape;6712;p4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713" name="Google Shape;6713;p4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6714" name="Google Shape;6714;p4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5" name="Google Shape;6715;p4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716" name="Google Shape;6716;p4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717" name="Google Shape;6717;p4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718" name="Google Shape;6718;p4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719" name="Google Shape;6719;p4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720" name="Google Shape;6720;p4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45.5%</a:t>
            </a:r>
            <a:endParaRPr/>
          </a:p>
        </p:txBody>
      </p:sp>
      <p:sp>
        <p:nvSpPr>
          <p:cNvPr id="6721" name="Google Shape;6721;p4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2" name="Google Shape;6722;p4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723" name="Google Shape;6723;p4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724" name="Google Shape;6724;p4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725" name="Google Shape;6725;p4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726" name="Google Shape;6726;p4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727" name="Google Shape;6727;p4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44.4%</a:t>
            </a:r>
            <a:endParaRPr/>
          </a:p>
        </p:txBody>
      </p:sp>
      <p:sp>
        <p:nvSpPr>
          <p:cNvPr id="6728" name="Google Shape;6728;p4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9" name="Google Shape;6729;p4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730" name="Google Shape;6730;p4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731" name="Google Shape;6731;p4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732" name="Google Shape;6732;p4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733" name="Google Shape;6733;p4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734" name="Google Shape;6734;p4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6735" name="Google Shape;6735;p4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6" name="Google Shape;6736;p4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37" name="Google Shape;6737;p4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738" name="Google Shape;6738;p4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739" name="Google Shape;6739;p4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740" name="Google Shape;6740;p4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41" name="Google Shape;6741;p4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6742" name="Google Shape;6742;p4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3" name="Google Shape;6743;p4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44" name="Google Shape;6744;p4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6745" name="Google Shape;6745;p4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746" name="Google Shape;6746;p4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747" name="Google Shape;6747;p4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748" name="Google Shape;6748;p4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6749" name="Google Shape;6749;p4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0" name="Google Shape;6750;p4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751" name="Google Shape;6751;p4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752" name="Google Shape;6752;p4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753" name="Google Shape;6753;p4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754" name="Google Shape;6754;p4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755" name="Google Shape;6755;p4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756" name="Google Shape;6756;p4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757" name="Google Shape;6757;p4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758" name="Google Shape;6758;p4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759" name="Google Shape;6759;p4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760" name="Google Shape;6760;p4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761" name="Google Shape;6761;p4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762" name="Google Shape;6762;p4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763" name="Google Shape;6763;p4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764" name="Google Shape;6764;p4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765" name="Google Shape;6765;p4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766" name="Google Shape;6766;p4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767" name="Google Shape;6767;p4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768" name="Google Shape;6768;p4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769" name="Google Shape;6769;p4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770" name="Google Shape;6770;p4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771" name="Google Shape;6771;p4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772" name="Google Shape;6772;p4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773" name="Google Shape;6773;p4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774" name="Google Shape;6774;p4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775" name="Google Shape;6775;p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6776" name="Google Shape;6776;p4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6777" name="Google Shape;6777;p4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778" name="Google Shape;6778;p4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$63K</a:t>
            </a:r>
            <a:endParaRPr/>
          </a:p>
        </p:txBody>
      </p:sp>
      <p:sp>
        <p:nvSpPr>
          <p:cNvPr id="6779" name="Google Shape;6779;p4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6780" name="Google Shape;6780;p4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$84K</a:t>
            </a:r>
            <a:endParaRPr/>
          </a:p>
        </p:txBody>
      </p:sp>
      <p:sp>
        <p:nvSpPr>
          <p:cNvPr id="6781" name="Google Shape;6781;p4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$53K</a:t>
            </a:r>
            <a:endParaRPr/>
          </a:p>
        </p:txBody>
      </p:sp>
      <p:sp>
        <p:nvSpPr>
          <p:cNvPr id="6782" name="Google Shape;6782;p4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6783" name="Google Shape;6783;p4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6784" name="Google Shape;6784;p4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$50K</a:t>
            </a:r>
            <a:endParaRPr/>
          </a:p>
        </p:txBody>
      </p:sp>
      <p:sp>
        <p:nvSpPr>
          <p:cNvPr id="6785" name="Google Shape;6785;p4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6786" name="Google Shape;6786;p4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6787" name="Google Shape;6787;p4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$-5,808</a:t>
            </a:r>
            <a:endParaRPr/>
          </a:p>
        </p:txBody>
      </p:sp>
      <p:sp>
        <p:nvSpPr>
          <p:cNvPr id="6788" name="Google Shape;6788;p4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$263K</a:t>
            </a:r>
            <a:endParaRPr/>
          </a:p>
        </p:txBody>
      </p:sp>
      <p:sp>
        <p:nvSpPr>
          <p:cNvPr id="6789" name="Google Shape;6789;p4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$194K</a:t>
            </a:r>
            <a:endParaRPr/>
          </a:p>
        </p:txBody>
      </p:sp>
      <p:sp>
        <p:nvSpPr>
          <p:cNvPr id="6790" name="Google Shape;6790;p4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1" name="Google Shape;6791;p4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792" name="Google Shape;6792;p4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793" name="Google Shape;6793;p4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$194,187 YTD gross written premium</a:t>
            </a:r>
            <a:endParaRPr/>
          </a:p>
        </p:txBody>
      </p:sp>
      <p:sp>
        <p:nvSpPr>
          <p:cNvPr id="6794" name="Google Shape;6794;p4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795" name="Google Shape;6795;p4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$59,124 in new business production</a:t>
            </a:r>
            <a:endParaRPr/>
          </a:p>
        </p:txBody>
      </p:sp>
      <p:sp>
        <p:nvSpPr>
          <p:cNvPr id="6796" name="Google Shape;6796;p4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7" name="Google Shape;6797;p4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798" name="Google Shape;6798;p4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799" name="Google Shape;6799;p4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71% of new business ($42,260)</a:t>
            </a:r>
            <a:endParaRPr/>
          </a:p>
        </p:txBody>
      </p:sp>
      <p:sp>
        <p:nvSpPr>
          <p:cNvPr id="6800" name="Google Shape;6800;p4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801" name="Google Shape;6801;p4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111% month-over-month</a:t>
            </a:r>
            <a:endParaRPr/>
          </a:p>
        </p:txBody>
      </p:sp>
      <p:sp>
        <p:nvSpPr>
          <p:cNvPr id="6802" name="Google Shape;6802;p4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3" name="Google Shape;6803;p4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804" name="Google Shape;6804;p4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805" name="Google Shape;6805;p4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$59,124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6806" name="Google Shape;6806;p4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807" name="Google Shape;6807;p4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$42,260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11" name="Shape 6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2" name="Google Shape;6812;p4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3" name="Google Shape;6813;p4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Patriot Financial Services Inc</a:t>
            </a:r>
            <a:endParaRPr/>
          </a:p>
        </p:txBody>
      </p:sp>
      <p:sp>
        <p:nvSpPr>
          <p:cNvPr id="6814" name="Google Shape;6814;p4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Chino</a:t>
            </a:r>
            <a:endParaRPr/>
          </a:p>
        </p:txBody>
      </p:sp>
      <p:sp>
        <p:nvSpPr>
          <p:cNvPr id="6815" name="Google Shape;6815;p4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$179,056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816" name="Google Shape;6816;p4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$149,332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17" name="Google Shape;6817;p4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$42,299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18" name="Google Shape;6818;p4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$-12,576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19" name="Google Shape;6819;p4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$-57,018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20" name="Google Shape;6820;p4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$725,289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821" name="Google Shape;6821;p4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$513,427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822" name="Google Shape;6822;p4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823" name="Google Shape;6823;p4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24" name="Google Shape;6824;p4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25" name="Google Shape;6825;p4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26" name="Google Shape;6826;p4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827" name="Google Shape;6827;p4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$174,266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828" name="Google Shape;6828;p4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9" name="Google Shape;6829;p4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830" name="Google Shape;6830;p4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31" name="Google Shape;6831;p4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832" name="Google Shape;6832;p4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33" name="Google Shape;6833;p4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34" name="Google Shape;6834;p4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35" name="Google Shape;6835;p4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36" name="Google Shape;6836;p4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7" name="Google Shape;6837;p4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38" name="Google Shape;6838;p4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$47,154</a:t>
            </a:r>
            <a:endParaRPr/>
          </a:p>
        </p:txBody>
      </p:sp>
      <p:sp>
        <p:nvSpPr>
          <p:cNvPr id="6839" name="Google Shape;6839;p4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$47,154</a:t>
            </a:r>
            <a:endParaRPr/>
          </a:p>
        </p:txBody>
      </p:sp>
      <p:sp>
        <p:nvSpPr>
          <p:cNvPr id="6840" name="Google Shape;6840;p4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1" name="Google Shape;6841;p4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2" name="Google Shape;6842;p4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$-4,680</a:t>
            </a:r>
            <a:endParaRPr/>
          </a:p>
        </p:txBody>
      </p:sp>
      <p:sp>
        <p:nvSpPr>
          <p:cNvPr id="6843" name="Google Shape;6843;p4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4" name="Google Shape;6844;p4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45" name="Google Shape;6845;p4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$43,759</a:t>
            </a:r>
            <a:endParaRPr/>
          </a:p>
        </p:txBody>
      </p:sp>
      <p:sp>
        <p:nvSpPr>
          <p:cNvPr id="6846" name="Google Shape;6846;p4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$20,780</a:t>
            </a:r>
            <a:endParaRPr/>
          </a:p>
        </p:txBody>
      </p:sp>
      <p:sp>
        <p:nvSpPr>
          <p:cNvPr id="6847" name="Google Shape;6847;p4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$22,980</a:t>
            </a:r>
            <a:endParaRPr/>
          </a:p>
        </p:txBody>
      </p:sp>
      <p:sp>
        <p:nvSpPr>
          <p:cNvPr id="6848" name="Google Shape;6848;p4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9" name="Google Shape;6849;p4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0" name="Google Shape;6850;p4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1" name="Google Shape;6851;p4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852" name="Google Shape;6852;p4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$53,545</a:t>
            </a:r>
            <a:endParaRPr/>
          </a:p>
        </p:txBody>
      </p:sp>
      <p:sp>
        <p:nvSpPr>
          <p:cNvPr id="6853" name="Google Shape;6853;p4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$52,289</a:t>
            </a:r>
            <a:endParaRPr/>
          </a:p>
        </p:txBody>
      </p:sp>
      <p:sp>
        <p:nvSpPr>
          <p:cNvPr id="6854" name="Google Shape;6854;p4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5" name="Google Shape;6855;p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$1,256</a:t>
            </a:r>
            <a:endParaRPr/>
          </a:p>
        </p:txBody>
      </p:sp>
      <p:sp>
        <p:nvSpPr>
          <p:cNvPr id="6856" name="Google Shape;6856;p4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$-34,213</a:t>
            </a:r>
            <a:endParaRPr/>
          </a:p>
        </p:txBody>
      </p:sp>
      <p:sp>
        <p:nvSpPr>
          <p:cNvPr id="6857" name="Google Shape;6857;p4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8" name="Google Shape;6858;p4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859" name="Google Shape;6859;p4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$14,414</a:t>
            </a:r>
            <a:endParaRPr/>
          </a:p>
        </p:txBody>
      </p:sp>
      <p:sp>
        <p:nvSpPr>
          <p:cNvPr id="6860" name="Google Shape;6860;p4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1" name="Google Shape;6861;p4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$2,061</a:t>
            </a:r>
            <a:endParaRPr/>
          </a:p>
        </p:txBody>
      </p:sp>
      <p:sp>
        <p:nvSpPr>
          <p:cNvPr id="6862" name="Google Shape;6862;p4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$12,353</a:t>
            </a:r>
            <a:endParaRPr/>
          </a:p>
        </p:txBody>
      </p:sp>
      <p:sp>
        <p:nvSpPr>
          <p:cNvPr id="6863" name="Google Shape;6863;p4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$-18,125</a:t>
            </a:r>
            <a:endParaRPr/>
          </a:p>
        </p:txBody>
      </p:sp>
      <p:sp>
        <p:nvSpPr>
          <p:cNvPr id="6864" name="Google Shape;6864;p4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5" name="Google Shape;6865;p4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866" name="Google Shape;6866;p4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$20,183</a:t>
            </a:r>
            <a:endParaRPr/>
          </a:p>
        </p:txBody>
      </p:sp>
      <p:sp>
        <p:nvSpPr>
          <p:cNvPr id="6867" name="Google Shape;6867;p4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$29,109</a:t>
            </a:r>
            <a:endParaRPr/>
          </a:p>
        </p:txBody>
      </p:sp>
      <p:sp>
        <p:nvSpPr>
          <p:cNvPr id="6868" name="Google Shape;6868;p4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$17,258</a:t>
            </a:r>
            <a:endParaRPr/>
          </a:p>
        </p:txBody>
      </p:sp>
      <p:sp>
        <p:nvSpPr>
          <p:cNvPr id="6869" name="Google Shape;6869;p4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$-26,184</a:t>
            </a:r>
            <a:endParaRPr/>
          </a:p>
        </p:txBody>
      </p:sp>
      <p:sp>
        <p:nvSpPr>
          <p:cNvPr id="6870" name="Google Shape;6870;p4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1" name="Google Shape;6871;p4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2" name="Google Shape;6872;p4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873" name="Google Shape;6873;p4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$179,056</a:t>
            </a:r>
            <a:endParaRPr/>
          </a:p>
        </p:txBody>
      </p:sp>
      <p:sp>
        <p:nvSpPr>
          <p:cNvPr id="6874" name="Google Shape;6874;p4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$149,332</a:t>
            </a:r>
            <a:endParaRPr/>
          </a:p>
        </p:txBody>
      </p:sp>
      <p:sp>
        <p:nvSpPr>
          <p:cNvPr id="6875" name="Google Shape;6875;p4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$42,299</a:t>
            </a:r>
            <a:endParaRPr/>
          </a:p>
        </p:txBody>
      </p:sp>
      <p:sp>
        <p:nvSpPr>
          <p:cNvPr id="6876" name="Google Shape;6876;p4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$-12,576</a:t>
            </a:r>
            <a:endParaRPr/>
          </a:p>
        </p:txBody>
      </p:sp>
      <p:sp>
        <p:nvSpPr>
          <p:cNvPr id="6877" name="Google Shape;6877;p4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$-57,018</a:t>
            </a:r>
            <a:endParaRPr/>
          </a:p>
        </p:txBody>
      </p:sp>
      <p:sp>
        <p:nvSpPr>
          <p:cNvPr id="6878" name="Google Shape;6878;p4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9" name="Google Shape;6879;p4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880" name="Google Shape;6880;p4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81" name="Google Shape;6881;p4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882" name="Google Shape;6882;p4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883" name="Google Shape;6883;p4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884" name="Google Shape;6884;p4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85" name="Google Shape;6885;p4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86" name="Google Shape;6886;p4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7" name="Google Shape;6887;p4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88" name="Google Shape;6888;p4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6889" name="Google Shape;6889;p4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890" name="Google Shape;6890;p4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6891" name="Google Shape;6891;p4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892" name="Google Shape;6892;p4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8.5%</a:t>
            </a:r>
            <a:endParaRPr/>
          </a:p>
        </p:txBody>
      </p:sp>
      <p:sp>
        <p:nvSpPr>
          <p:cNvPr id="6893" name="Google Shape;6893;p4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4" name="Google Shape;6894;p4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95" name="Google Shape;6895;p4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6896" name="Google Shape;6896;p4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97" name="Google Shape;6897;p4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6898" name="Google Shape;6898;p4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899" name="Google Shape;6899;p4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6900" name="Google Shape;6900;p4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1" name="Google Shape;6901;p4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02" name="Google Shape;6902;p4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6903" name="Google Shape;6903;p4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4" name="Google Shape;6904;p4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6905" name="Google Shape;6905;p4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06" name="Google Shape;6906;p4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6907" name="Google Shape;6907;p4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8" name="Google Shape;6908;p4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909" name="Google Shape;6909;p4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6910" name="Google Shape;6910;p4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11" name="Google Shape;6911;p4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6912" name="Google Shape;6912;p4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13" name="Google Shape;6913;p4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6914" name="Google Shape;6914;p4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5" name="Google Shape;6915;p4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16" name="Google Shape;6916;p4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6917" name="Google Shape;6917;p4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18" name="Google Shape;6918;p4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6919" name="Google Shape;6919;p4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20" name="Google Shape;6920;p4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6921" name="Google Shape;6921;p4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2" name="Google Shape;6922;p4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23" name="Google Shape;6923;p4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</a:t>
            </a:r>
            <a:endParaRPr/>
          </a:p>
        </p:txBody>
      </p:sp>
      <p:sp>
        <p:nvSpPr>
          <p:cNvPr id="6924" name="Google Shape;6924;p4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25" name="Google Shape;6925;p4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241</a:t>
            </a:r>
            <a:endParaRPr/>
          </a:p>
        </p:txBody>
      </p:sp>
      <p:sp>
        <p:nvSpPr>
          <p:cNvPr id="6926" name="Google Shape;6926;p4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927" name="Google Shape;6927;p4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6928" name="Google Shape;6928;p4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9" name="Google Shape;6929;p4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930" name="Google Shape;6930;p4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931" name="Google Shape;6931;p4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932" name="Google Shape;6932;p4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933" name="Google Shape;6933;p4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934" name="Google Shape;6934;p4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935" name="Google Shape;6935;p4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936" name="Google Shape;6936;p4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937" name="Google Shape;6937;p4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938" name="Google Shape;6938;p4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939" name="Google Shape;6939;p4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940" name="Google Shape;6940;p4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941" name="Google Shape;6941;p4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942" name="Google Shape;6942;p4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943" name="Google Shape;6943;p4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944" name="Google Shape;6944;p4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6945" name="Google Shape;6945;p4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6946" name="Google Shape;6946;p4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6947" name="Google Shape;6947;p4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6948" name="Google Shape;6948;p4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6949" name="Google Shape;6949;p4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6950" name="Google Shape;6950;p4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6951" name="Google Shape;6951;p4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6952" name="Google Shape;6952;p4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6953" name="Google Shape;6953;p4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6954" name="Google Shape;6954;p4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229</a:t>
            </a:r>
            <a:endParaRPr/>
          </a:p>
        </p:txBody>
      </p:sp>
      <p:sp>
        <p:nvSpPr>
          <p:cNvPr id="6955" name="Google Shape;6955;p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</a:t>
            </a:r>
            <a:endParaRPr/>
          </a:p>
        </p:txBody>
      </p:sp>
      <p:sp>
        <p:nvSpPr>
          <p:cNvPr id="6956" name="Google Shape;6956;p4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957" name="Google Shape;6957;p4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6958" name="Google Shape;6958;p4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6959" name="Google Shape;6959;p4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$101K</a:t>
            </a:r>
            <a:endParaRPr/>
          </a:p>
        </p:txBody>
      </p:sp>
      <p:sp>
        <p:nvSpPr>
          <p:cNvPr id="6960" name="Google Shape;6960;p4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6961" name="Google Shape;6961;p4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962" name="Google Shape;6962;p4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6963" name="Google Shape;6963;p4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$114K</a:t>
            </a:r>
            <a:endParaRPr/>
          </a:p>
        </p:txBody>
      </p:sp>
      <p:sp>
        <p:nvSpPr>
          <p:cNvPr id="6964" name="Google Shape;6964;p4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6965" name="Google Shape;6965;p4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$158K</a:t>
            </a:r>
            <a:endParaRPr/>
          </a:p>
        </p:txBody>
      </p:sp>
      <p:sp>
        <p:nvSpPr>
          <p:cNvPr id="6966" name="Google Shape;6966;p4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6967" name="Google Shape;6967;p4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$391K</a:t>
            </a:r>
            <a:endParaRPr/>
          </a:p>
        </p:txBody>
      </p:sp>
      <p:sp>
        <p:nvSpPr>
          <p:cNvPr id="6968" name="Google Shape;6968;p4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$179K</a:t>
            </a:r>
            <a:endParaRPr/>
          </a:p>
        </p:txBody>
      </p:sp>
      <p:sp>
        <p:nvSpPr>
          <p:cNvPr id="6969" name="Google Shape;6969;p4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0" name="Google Shape;6970;p4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971" name="Google Shape;6971;p4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972" name="Google Shape;6972;p4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$179,056 YTD gross written premium</a:t>
            </a:r>
            <a:endParaRPr/>
          </a:p>
        </p:txBody>
      </p:sp>
      <p:sp>
        <p:nvSpPr>
          <p:cNvPr id="6973" name="Google Shape;6973;p4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974" name="Google Shape;6974;p4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$149,332 in new business production</a:t>
            </a:r>
            <a:endParaRPr/>
          </a:p>
        </p:txBody>
      </p:sp>
      <p:sp>
        <p:nvSpPr>
          <p:cNvPr id="6975" name="Google Shape;6975;p4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6" name="Google Shape;6976;p4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977" name="Google Shape;6977;p4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978" name="Google Shape;6978;p4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6979" name="Google Shape;6979;p4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980" name="Google Shape;6980;p4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6981" name="Google Shape;6981;p4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2" name="Google Shape;6982;p4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983" name="Google Shape;6983;p4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984" name="Google Shape;6984;p4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$149,332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6985" name="Google Shape;6985;p4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986" name="Google Shape;6986;p4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$57,018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90" name="Shape 6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1" name="Google Shape;6991;p4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2" name="Google Shape;6992;p4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Tiwana Insurance Solutions, Inc.</a:t>
            </a:r>
            <a:endParaRPr/>
          </a:p>
        </p:txBody>
      </p:sp>
      <p:sp>
        <p:nvSpPr>
          <p:cNvPr id="6993" name="Google Shape;6993;p4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Clovis</a:t>
            </a:r>
            <a:endParaRPr/>
          </a:p>
        </p:txBody>
      </p:sp>
      <p:sp>
        <p:nvSpPr>
          <p:cNvPr id="6994" name="Google Shape;6994;p4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$171,994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995" name="Google Shape;6995;p4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$142,722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996" name="Google Shape;6996;p4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997" name="Google Shape;6997;p4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$29,273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998" name="Google Shape;6998;p4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999" name="Google Shape;6999;p4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$200,523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000" name="Google Shape;7000;p4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$292,051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001" name="Google Shape;7001;p4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002" name="Google Shape;7002;p4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003" name="Google Shape;7003;p4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04" name="Google Shape;7004;p4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05" name="Google Shape;7005;p4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$31,628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006" name="Google Shape;7006;p4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$121,070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007" name="Google Shape;7007;p4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8" name="Google Shape;7008;p4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009" name="Google Shape;7009;p4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10" name="Google Shape;7010;p4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011" name="Google Shape;7011;p4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012" name="Google Shape;7012;p4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013" name="Google Shape;7013;p4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014" name="Google Shape;7014;p4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015" name="Google Shape;7015;p4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6" name="Google Shape;7016;p4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17" name="Google Shape;7017;p4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$128,742</a:t>
            </a:r>
            <a:endParaRPr/>
          </a:p>
        </p:txBody>
      </p:sp>
      <p:sp>
        <p:nvSpPr>
          <p:cNvPr id="7018" name="Google Shape;7018;p4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$113,743</a:t>
            </a:r>
            <a:endParaRPr/>
          </a:p>
        </p:txBody>
      </p:sp>
      <p:sp>
        <p:nvSpPr>
          <p:cNvPr id="7019" name="Google Shape;7019;p4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0" name="Google Shape;7020;p4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$14,998</a:t>
            </a:r>
            <a:endParaRPr/>
          </a:p>
        </p:txBody>
      </p:sp>
      <p:sp>
        <p:nvSpPr>
          <p:cNvPr id="7021" name="Google Shape;7021;p4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2" name="Google Shape;7022;p4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3" name="Google Shape;7023;p4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24" name="Google Shape;7024;p4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5" name="Google Shape;7025;p4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6" name="Google Shape;7026;p4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7" name="Google Shape;7027;p4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8" name="Google Shape;7028;p4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9" name="Google Shape;7029;p4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0" name="Google Shape;7030;p4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31" name="Google Shape;7031;p4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$13,838</a:t>
            </a:r>
            <a:endParaRPr/>
          </a:p>
        </p:txBody>
      </p:sp>
      <p:sp>
        <p:nvSpPr>
          <p:cNvPr id="7032" name="Google Shape;7032;p4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$14,078</a:t>
            </a:r>
            <a:endParaRPr/>
          </a:p>
        </p:txBody>
      </p:sp>
      <p:sp>
        <p:nvSpPr>
          <p:cNvPr id="7033" name="Google Shape;7033;p4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4" name="Google Shape;7034;p4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$-240</a:t>
            </a:r>
            <a:endParaRPr/>
          </a:p>
        </p:txBody>
      </p:sp>
      <p:sp>
        <p:nvSpPr>
          <p:cNvPr id="7035" name="Google Shape;7035;p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6" name="Google Shape;7036;p4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7" name="Google Shape;7037;p4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38" name="Google Shape;7038;p4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$17,834</a:t>
            </a:r>
            <a:endParaRPr/>
          </a:p>
        </p:txBody>
      </p:sp>
      <p:sp>
        <p:nvSpPr>
          <p:cNvPr id="7039" name="Google Shape;7039;p4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$13,525</a:t>
            </a:r>
            <a:endParaRPr/>
          </a:p>
        </p:txBody>
      </p:sp>
      <p:sp>
        <p:nvSpPr>
          <p:cNvPr id="7040" name="Google Shape;7040;p4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1" name="Google Shape;7041;p4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$4,310</a:t>
            </a:r>
            <a:endParaRPr/>
          </a:p>
        </p:txBody>
      </p:sp>
      <p:sp>
        <p:nvSpPr>
          <p:cNvPr id="7042" name="Google Shape;7042;p4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$-516</a:t>
            </a:r>
            <a:endParaRPr/>
          </a:p>
        </p:txBody>
      </p:sp>
      <p:sp>
        <p:nvSpPr>
          <p:cNvPr id="7043" name="Google Shape;7043;p4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4" name="Google Shape;7044;p4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045" name="Google Shape;7045;p4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$11,581</a:t>
            </a:r>
            <a:endParaRPr/>
          </a:p>
        </p:txBody>
      </p:sp>
      <p:sp>
        <p:nvSpPr>
          <p:cNvPr id="7046" name="Google Shape;7046;p4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$1,376</a:t>
            </a:r>
            <a:endParaRPr/>
          </a:p>
        </p:txBody>
      </p:sp>
      <p:sp>
        <p:nvSpPr>
          <p:cNvPr id="7047" name="Google Shape;7047;p4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8" name="Google Shape;7048;p4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$10,205</a:t>
            </a:r>
            <a:endParaRPr/>
          </a:p>
        </p:txBody>
      </p:sp>
      <p:sp>
        <p:nvSpPr>
          <p:cNvPr id="7049" name="Google Shape;7049;p4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0" name="Google Shape;7050;p4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1" name="Google Shape;7051;p4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052" name="Google Shape;7052;p4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$171,994</a:t>
            </a:r>
            <a:endParaRPr/>
          </a:p>
        </p:txBody>
      </p:sp>
      <p:sp>
        <p:nvSpPr>
          <p:cNvPr id="7053" name="Google Shape;7053;p4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$142,722</a:t>
            </a:r>
            <a:endParaRPr/>
          </a:p>
        </p:txBody>
      </p:sp>
      <p:sp>
        <p:nvSpPr>
          <p:cNvPr id="7054" name="Google Shape;7054;p4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5" name="Google Shape;7055;p4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$29,273</a:t>
            </a:r>
            <a:endParaRPr/>
          </a:p>
        </p:txBody>
      </p:sp>
      <p:sp>
        <p:nvSpPr>
          <p:cNvPr id="7056" name="Google Shape;7056;p4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$-516</a:t>
            </a:r>
            <a:endParaRPr/>
          </a:p>
        </p:txBody>
      </p:sp>
      <p:sp>
        <p:nvSpPr>
          <p:cNvPr id="7057" name="Google Shape;7057;p4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8" name="Google Shape;7058;p4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059" name="Google Shape;7059;p4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60" name="Google Shape;7060;p4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061" name="Google Shape;7061;p4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062" name="Google Shape;7062;p4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063" name="Google Shape;7063;p4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64" name="Google Shape;7064;p4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65" name="Google Shape;7065;p4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6" name="Google Shape;7066;p4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67" name="Google Shape;7067;p4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068" name="Google Shape;7068;p4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69" name="Google Shape;7069;p4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7070" name="Google Shape;7070;p4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71" name="Google Shape;7071;p4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7072" name="Google Shape;7072;p4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3" name="Google Shape;7073;p4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74" name="Google Shape;7074;p4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7075" name="Google Shape;7075;p4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76" name="Google Shape;7076;p4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077" name="Google Shape;7077;p4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78" name="Google Shape;7078;p4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7079" name="Google Shape;7079;p4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0" name="Google Shape;7080;p4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81" name="Google Shape;7081;p4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082" name="Google Shape;7082;p4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83" name="Google Shape;7083;p4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7084" name="Google Shape;7084;p4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085" name="Google Shape;7085;p4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18.5%</a:t>
            </a:r>
            <a:endParaRPr/>
          </a:p>
        </p:txBody>
      </p:sp>
      <p:sp>
        <p:nvSpPr>
          <p:cNvPr id="7086" name="Google Shape;7086;p4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7" name="Google Shape;7087;p4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88" name="Google Shape;7088;p4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089" name="Google Shape;7089;p4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90" name="Google Shape;7090;p4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7091" name="Google Shape;7091;p4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092" name="Google Shape;7092;p4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14.8%</a:t>
            </a:r>
            <a:endParaRPr/>
          </a:p>
        </p:txBody>
      </p:sp>
      <p:sp>
        <p:nvSpPr>
          <p:cNvPr id="7093" name="Google Shape;7093;p4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4" name="Google Shape;7094;p4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095" name="Google Shape;7095;p4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096" name="Google Shape;7096;p4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97" name="Google Shape;7097;p4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7098" name="Google Shape;7098;p4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099" name="Google Shape;7099;p4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14.8%</a:t>
            </a:r>
            <a:endParaRPr/>
          </a:p>
        </p:txBody>
      </p:sp>
      <p:sp>
        <p:nvSpPr>
          <p:cNvPr id="7100" name="Google Shape;7100;p4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1" name="Google Shape;7101;p4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102" name="Google Shape;7102;p4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7103" name="Google Shape;7103;p4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104" name="Google Shape;7104;p4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7105" name="Google Shape;7105;p4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106" name="Google Shape;7106;p4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7107" name="Google Shape;7107;p4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8" name="Google Shape;7108;p4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109" name="Google Shape;7109;p4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110" name="Google Shape;7110;p4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111" name="Google Shape;7111;p4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112" name="Google Shape;7112;p4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113" name="Google Shape;7113;p4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114" name="Google Shape;7114;p4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115" name="Google Shape;7115;p4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116" name="Google Shape;7116;p4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117" name="Google Shape;7117;p4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118" name="Google Shape;7118;p4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119" name="Google Shape;7119;p4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120" name="Google Shape;7120;p4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121" name="Google Shape;7121;p4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122" name="Google Shape;7122;p4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123" name="Google Shape;7123;p4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7124" name="Google Shape;7124;p4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125" name="Google Shape;7125;p4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7126" name="Google Shape;7126;p4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7127" name="Google Shape;7127;p4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7128" name="Google Shape;7128;p4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129" name="Google Shape;7129;p4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7130" name="Google Shape;7130;p4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131" name="Google Shape;7131;p4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7132" name="Google Shape;7132;p4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133" name="Google Shape;7133;p4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7134" name="Google Shape;7134;p4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</a:t>
            </a:r>
            <a:endParaRPr/>
          </a:p>
        </p:txBody>
      </p:sp>
      <p:sp>
        <p:nvSpPr>
          <p:cNvPr id="7135" name="Google Shape;7135;p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136" name="Google Shape;7136;p4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7137" name="Google Shape;7137;p4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$129K</a:t>
            </a:r>
            <a:endParaRPr/>
          </a:p>
        </p:txBody>
      </p:sp>
      <p:sp>
        <p:nvSpPr>
          <p:cNvPr id="7138" name="Google Shape;7138;p4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7139" name="Google Shape;7139;p4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0" name="Google Shape;7140;p4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$-5,870</a:t>
            </a:r>
            <a:endParaRPr/>
          </a:p>
        </p:txBody>
      </p:sp>
      <p:sp>
        <p:nvSpPr>
          <p:cNvPr id="7141" name="Google Shape;7141;p4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7142" name="Google Shape;7142;p4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7143" name="Google Shape;7143;p4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7144" name="Google Shape;7144;p4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7145" name="Google Shape;7145;p4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7146" name="Google Shape;7146;p4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$80K</a:t>
            </a:r>
            <a:endParaRPr/>
          </a:p>
        </p:txBody>
      </p:sp>
      <p:sp>
        <p:nvSpPr>
          <p:cNvPr id="7147" name="Google Shape;7147;p4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$172K</a:t>
            </a:r>
            <a:endParaRPr/>
          </a:p>
        </p:txBody>
      </p:sp>
      <p:sp>
        <p:nvSpPr>
          <p:cNvPr id="7148" name="Google Shape;7148;p4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9" name="Google Shape;7149;p4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150" name="Google Shape;7150;p4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151" name="Google Shape;7151;p4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$171,994 YTD gross written premium</a:t>
            </a:r>
            <a:endParaRPr/>
          </a:p>
        </p:txBody>
      </p:sp>
      <p:sp>
        <p:nvSpPr>
          <p:cNvPr id="7152" name="Google Shape;7152;p4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153" name="Google Shape;7153;p4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$142,722 in new business production</a:t>
            </a:r>
            <a:endParaRPr/>
          </a:p>
        </p:txBody>
      </p:sp>
      <p:sp>
        <p:nvSpPr>
          <p:cNvPr id="7154" name="Google Shape;7154;p4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5" name="Google Shape;7155;p4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156" name="Google Shape;7156;p4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157" name="Google Shape;7157;p4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7158" name="Google Shape;7158;p4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159" name="Google Shape;7159;p4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7160" name="Google Shape;7160;p4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1" name="Google Shape;7161;p4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162" name="Google Shape;7162;p4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163" name="Google Shape;7163;p4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$142,722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67" name="Shape 7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" name="Google Shape;7168;p4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9" name="Google Shape;7169;p4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DISCOVERY PRO INSURANCE AGENCY</a:t>
            </a:r>
            <a:endParaRPr/>
          </a:p>
        </p:txBody>
      </p:sp>
      <p:sp>
        <p:nvSpPr>
          <p:cNvPr id="7170" name="Google Shape;7170;p4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Los Angeles</a:t>
            </a:r>
            <a:endParaRPr/>
          </a:p>
        </p:txBody>
      </p:sp>
      <p:sp>
        <p:nvSpPr>
          <p:cNvPr id="7171" name="Google Shape;7171;p4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$160,446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172" name="Google Shape;7172;p4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173" name="Google Shape;7173;p4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$154,078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174" name="Google Shape;7174;p4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175" name="Google Shape;7175;p4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$-147,203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176" name="Google Shape;7176;p4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$352,815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177" name="Google Shape;7177;p4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$301,327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178" name="Google Shape;7178;p4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179" name="Google Shape;7179;p4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180" name="Google Shape;7180;p4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181" name="Google Shape;7181;p4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182" name="Google Shape;7182;p4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183" name="Google Shape;7183;p4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$42,061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184" name="Google Shape;7184;p4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5" name="Google Shape;7185;p4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186" name="Google Shape;7186;p4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187" name="Google Shape;7187;p4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188" name="Google Shape;7188;p4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189" name="Google Shape;7189;p4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190" name="Google Shape;7190;p4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191" name="Google Shape;7191;p4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192" name="Google Shape;7192;p4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3" name="Google Shape;7193;p4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194" name="Google Shape;7194;p4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195" name="Google Shape;7195;p4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6" name="Google Shape;7196;p4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197" name="Google Shape;7197;p4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8" name="Google Shape;7198;p4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9" name="Google Shape;7199;p4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0" name="Google Shape;7200;p4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01" name="Google Shape;7201;p4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$153,528</a:t>
            </a:r>
            <a:endParaRPr/>
          </a:p>
        </p:txBody>
      </p:sp>
      <p:sp>
        <p:nvSpPr>
          <p:cNvPr id="7202" name="Google Shape;7202;p4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3" name="Google Shape;7203;p4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$153,528</a:t>
            </a:r>
            <a:endParaRPr/>
          </a:p>
        </p:txBody>
      </p:sp>
      <p:sp>
        <p:nvSpPr>
          <p:cNvPr id="7204" name="Google Shape;7204;p4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5" name="Google Shape;7205;p4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$-146,798</a:t>
            </a:r>
            <a:endParaRPr/>
          </a:p>
        </p:txBody>
      </p:sp>
      <p:sp>
        <p:nvSpPr>
          <p:cNvPr id="7206" name="Google Shape;7206;p4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7" name="Google Shape;7207;p4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08" name="Google Shape;7208;p4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$-203</a:t>
            </a:r>
            <a:endParaRPr/>
          </a:p>
        </p:txBody>
      </p:sp>
      <p:sp>
        <p:nvSpPr>
          <p:cNvPr id="7209" name="Google Shape;7209;p4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0" name="Google Shape;7210;p4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1" name="Google Shape;7211;p4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$-203</a:t>
            </a:r>
            <a:endParaRPr/>
          </a:p>
        </p:txBody>
      </p:sp>
      <p:sp>
        <p:nvSpPr>
          <p:cNvPr id="7212" name="Google Shape;7212;p4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3" name="Google Shape;7213;p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4" name="Google Shape;7214;p4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15" name="Google Shape;7215;p4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$6,571</a:t>
            </a:r>
            <a:endParaRPr/>
          </a:p>
        </p:txBody>
      </p:sp>
      <p:sp>
        <p:nvSpPr>
          <p:cNvPr id="7216" name="Google Shape;7216;p4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7" name="Google Shape;7217;p4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8" name="Google Shape;7218;p4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$6,571</a:t>
            </a:r>
            <a:endParaRPr/>
          </a:p>
        </p:txBody>
      </p:sp>
      <p:sp>
        <p:nvSpPr>
          <p:cNvPr id="7219" name="Google Shape;7219;p4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$-405</a:t>
            </a:r>
            <a:endParaRPr/>
          </a:p>
        </p:txBody>
      </p:sp>
      <p:sp>
        <p:nvSpPr>
          <p:cNvPr id="7220" name="Google Shape;7220;p4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1" name="Google Shape;7221;p4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22" name="Google Shape;7222;p4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3" name="Google Shape;7223;p4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4" name="Google Shape;7224;p4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5" name="Google Shape;7225;p4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6" name="Google Shape;7226;p4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7" name="Google Shape;7227;p4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8" name="Google Shape;7228;p4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29" name="Google Shape;7229;p4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$160,446</a:t>
            </a:r>
            <a:endParaRPr/>
          </a:p>
        </p:txBody>
      </p:sp>
      <p:sp>
        <p:nvSpPr>
          <p:cNvPr id="7230" name="Google Shape;7230;p4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1" name="Google Shape;7231;p4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$154,078</a:t>
            </a:r>
            <a:endParaRPr/>
          </a:p>
        </p:txBody>
      </p:sp>
      <p:sp>
        <p:nvSpPr>
          <p:cNvPr id="7232" name="Google Shape;7232;p4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$6,369</a:t>
            </a:r>
            <a:endParaRPr/>
          </a:p>
        </p:txBody>
      </p:sp>
      <p:sp>
        <p:nvSpPr>
          <p:cNvPr id="7233" name="Google Shape;7233;p4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$-147,203</a:t>
            </a:r>
            <a:endParaRPr/>
          </a:p>
        </p:txBody>
      </p:sp>
      <p:sp>
        <p:nvSpPr>
          <p:cNvPr id="7234" name="Google Shape;7234;p4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5" name="Google Shape;7235;p4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236" name="Google Shape;7236;p4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37" name="Google Shape;7237;p4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238" name="Google Shape;7238;p4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239" name="Google Shape;7239;p4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240" name="Google Shape;7240;p4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241" name="Google Shape;7241;p4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242" name="Google Shape;7242;p4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3" name="Google Shape;7243;p4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244" name="Google Shape;7244;p4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245" name="Google Shape;7245;p4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46" name="Google Shape;7246;p4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247" name="Google Shape;7247;p4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48" name="Google Shape;7248;p4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7249" name="Google Shape;7249;p4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0" name="Google Shape;7250;p4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51" name="Google Shape;7251;p4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252" name="Google Shape;7252;p4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53" name="Google Shape;7253;p4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254" name="Google Shape;7254;p4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55" name="Google Shape;7255;p4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7256" name="Google Shape;7256;p4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7" name="Google Shape;7257;p4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58" name="Google Shape;7258;p4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259" name="Google Shape;7259;p4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60" name="Google Shape;7260;p4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261" name="Google Shape;7261;p4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262" name="Google Shape;7262;p4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66.7%</a:t>
            </a:r>
            <a:endParaRPr/>
          </a:p>
        </p:txBody>
      </p:sp>
      <p:sp>
        <p:nvSpPr>
          <p:cNvPr id="7263" name="Google Shape;7263;p4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4" name="Google Shape;7264;p4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65" name="Google Shape;7265;p4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266" name="Google Shape;7266;p4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67" name="Google Shape;7267;p4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268" name="Google Shape;7268;p4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69" name="Google Shape;7269;p4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70" name="Google Shape;7270;p4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1" name="Google Shape;7271;p4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72" name="Google Shape;7272;p4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273" name="Google Shape;7273;p4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74" name="Google Shape;7274;p4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275" name="Google Shape;7275;p4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76" name="Google Shape;7276;p4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77" name="Google Shape;7277;p4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8" name="Google Shape;7278;p4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79" name="Google Shape;7279;p4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7280" name="Google Shape;7280;p4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81" name="Google Shape;7281;p4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7282" name="Google Shape;7282;p4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283" name="Google Shape;7283;p4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7284" name="Google Shape;7284;p4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5" name="Google Shape;7285;p4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286" name="Google Shape;7286;p4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287" name="Google Shape;7287;p4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288" name="Google Shape;7288;p4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289" name="Google Shape;7289;p4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290" name="Google Shape;7290;p4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291" name="Google Shape;7291;p4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292" name="Google Shape;7292;p4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293" name="Google Shape;7293;p4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294" name="Google Shape;7294;p4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295" name="Google Shape;7295;p4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296" name="Google Shape;7296;p4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297" name="Google Shape;7297;p4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298" name="Google Shape;7298;p4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299" name="Google Shape;7299;p4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300" name="Google Shape;7300;p4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301" name="Google Shape;7301;p4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302" name="Google Shape;7302;p4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303" name="Google Shape;7303;p4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304" name="Google Shape;7304;p4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305" name="Google Shape;7305;p4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306" name="Google Shape;7306;p4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307" name="Google Shape;7307;p4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308" name="Google Shape;7308;p4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309" name="Google Shape;7309;p4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310" name="Google Shape;7310;p4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7311" name="Google Shape;7311;p4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7312" name="Google Shape;7312;p4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313" name="Google Shape;7313;p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7314" name="Google Shape;7314;p4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315" name="Google Shape;7315;p4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$110K</a:t>
            </a:r>
            <a:endParaRPr/>
          </a:p>
        </p:txBody>
      </p:sp>
      <p:sp>
        <p:nvSpPr>
          <p:cNvPr id="7316" name="Google Shape;7316;p4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$154K</a:t>
            </a:r>
            <a:endParaRPr/>
          </a:p>
        </p:txBody>
      </p:sp>
      <p:sp>
        <p:nvSpPr>
          <p:cNvPr id="7317" name="Google Shape;7317;p4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7318" name="Google Shape;7318;p4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$-203</a:t>
            </a:r>
            <a:endParaRPr/>
          </a:p>
        </p:txBody>
      </p:sp>
      <p:sp>
        <p:nvSpPr>
          <p:cNvPr id="7319" name="Google Shape;7319;p4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7320" name="Google Shape;7320;p4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7321" name="Google Shape;7321;p4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7322" name="Google Shape;7322;p4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3" name="Google Shape;7323;p4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$212K</a:t>
            </a:r>
            <a:endParaRPr/>
          </a:p>
        </p:txBody>
      </p:sp>
      <p:sp>
        <p:nvSpPr>
          <p:cNvPr id="7324" name="Google Shape;7324;p4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$160K</a:t>
            </a:r>
            <a:endParaRPr/>
          </a:p>
        </p:txBody>
      </p:sp>
      <p:sp>
        <p:nvSpPr>
          <p:cNvPr id="7325" name="Google Shape;7325;p4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6" name="Google Shape;7326;p4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327" name="Google Shape;7327;p4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328" name="Google Shape;7328;p4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$160,446 YTD gross written premium</a:t>
            </a:r>
            <a:endParaRPr/>
          </a:p>
        </p:txBody>
      </p:sp>
      <p:sp>
        <p:nvSpPr>
          <p:cNvPr id="7329" name="Google Shape;7329;p4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330" name="Google Shape;7330;p4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$154,078 in renewals - strong retention</a:t>
            </a:r>
            <a:endParaRPr/>
          </a:p>
        </p:txBody>
      </p:sp>
      <p:sp>
        <p:nvSpPr>
          <p:cNvPr id="7331" name="Google Shape;7331;p4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2" name="Google Shape;7332;p4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333" name="Google Shape;7333;p4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334" name="Google Shape;7334;p4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7335" name="Google Shape;7335;p4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6" name="Google Shape;7336;p4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337" name="Google Shape;7337;p4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338" name="Google Shape;7338;p4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Their $154,078 in renewals shows they trust our product. Ask: "What's holding back new submissions?" They may need updated appetite info or a refresher on our quoting process.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42" name="Shape 7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3" name="Google Shape;7343;p4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4" name="Google Shape;7344;p4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Mohsen Ins. Llc</a:t>
            </a:r>
            <a:endParaRPr/>
          </a:p>
        </p:txBody>
      </p:sp>
      <p:sp>
        <p:nvSpPr>
          <p:cNvPr id="7345" name="Google Shape;7345;p4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N/A</a:t>
            </a:r>
            <a:endParaRPr/>
          </a:p>
        </p:txBody>
      </p:sp>
      <p:sp>
        <p:nvSpPr>
          <p:cNvPr id="7346" name="Google Shape;7346;p4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$155,071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347" name="Google Shape;7347;p4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$161,275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348" name="Google Shape;7348;p4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349" name="Google Shape;7349;p4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$-6,204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350" name="Google Shape;7350;p4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$-13,636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351" name="Google Shape;7351;p4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$115,746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352" name="Google Shape;7352;p4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$270,817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353" name="Google Shape;7353;p4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354" name="Google Shape;7354;p4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355" name="Google Shape;7355;p4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356" name="Google Shape;7356;p4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357" name="Google Shape;7357;p4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358" name="Google Shape;7358;p4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$118,781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359" name="Google Shape;7359;p4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0" name="Google Shape;7360;p4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361" name="Google Shape;7361;p4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362" name="Google Shape;7362;p4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363" name="Google Shape;7363;p4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364" name="Google Shape;7364;p4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365" name="Google Shape;7365;p4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366" name="Google Shape;7366;p4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367" name="Google Shape;7367;p4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8" name="Google Shape;7368;p4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369" name="Google Shape;7369;p4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$46,217</a:t>
            </a:r>
            <a:endParaRPr/>
          </a:p>
        </p:txBody>
      </p:sp>
      <p:sp>
        <p:nvSpPr>
          <p:cNvPr id="7370" name="Google Shape;7370;p4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$14,511</a:t>
            </a:r>
            <a:endParaRPr/>
          </a:p>
        </p:txBody>
      </p:sp>
      <p:sp>
        <p:nvSpPr>
          <p:cNvPr id="7371" name="Google Shape;7371;p4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2" name="Google Shape;7372;p4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$31,706</a:t>
            </a:r>
            <a:endParaRPr/>
          </a:p>
        </p:txBody>
      </p:sp>
      <p:sp>
        <p:nvSpPr>
          <p:cNvPr id="7373" name="Google Shape;7373;p4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4" name="Google Shape;7374;p4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5" name="Google Shape;7375;p4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376" name="Google Shape;7376;p4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7" name="Google Shape;7377;p4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8" name="Google Shape;7378;p4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9" name="Google Shape;7379;p4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0" name="Google Shape;7380;p4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$-13,636</a:t>
            </a:r>
            <a:endParaRPr/>
          </a:p>
        </p:txBody>
      </p:sp>
      <p:sp>
        <p:nvSpPr>
          <p:cNvPr id="7381" name="Google Shape;7381;p4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2" name="Google Shape;7382;p4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383" name="Google Shape;7383;p4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$57,971</a:t>
            </a:r>
            <a:endParaRPr/>
          </a:p>
        </p:txBody>
      </p:sp>
      <p:sp>
        <p:nvSpPr>
          <p:cNvPr id="7384" name="Google Shape;7384;p4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$58,604</a:t>
            </a:r>
            <a:endParaRPr/>
          </a:p>
        </p:txBody>
      </p:sp>
      <p:sp>
        <p:nvSpPr>
          <p:cNvPr id="7385" name="Google Shape;7385;p4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6" name="Google Shape;7386;p4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$-632</a:t>
            </a:r>
            <a:endParaRPr/>
          </a:p>
        </p:txBody>
      </p:sp>
      <p:sp>
        <p:nvSpPr>
          <p:cNvPr id="7387" name="Google Shape;7387;p4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8" name="Google Shape;7388;p4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9" name="Google Shape;7389;p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390" name="Google Shape;7390;p4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$87,610</a:t>
            </a:r>
            <a:endParaRPr/>
          </a:p>
        </p:txBody>
      </p:sp>
      <p:sp>
        <p:nvSpPr>
          <p:cNvPr id="7391" name="Google Shape;7391;p4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$87,610</a:t>
            </a:r>
            <a:endParaRPr/>
          </a:p>
        </p:txBody>
      </p:sp>
      <p:sp>
        <p:nvSpPr>
          <p:cNvPr id="7392" name="Google Shape;7392;p4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3" name="Google Shape;7393;p4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4" name="Google Shape;7394;p4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5" name="Google Shape;7395;p4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6" name="Google Shape;7396;p4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397" name="Google Shape;7397;p4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$-36,727</a:t>
            </a:r>
            <a:endParaRPr/>
          </a:p>
        </p:txBody>
      </p:sp>
      <p:sp>
        <p:nvSpPr>
          <p:cNvPr id="7398" name="Google Shape;7398;p4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399" name="Google Shape;7399;p4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0" name="Google Shape;7400;p4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$-37,277</a:t>
            </a:r>
            <a:endParaRPr/>
          </a:p>
        </p:txBody>
      </p:sp>
      <p:sp>
        <p:nvSpPr>
          <p:cNvPr id="7401" name="Google Shape;7401;p4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2" name="Google Shape;7402;p4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3" name="Google Shape;7403;p4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04" name="Google Shape;7404;p4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$155,071</a:t>
            </a:r>
            <a:endParaRPr/>
          </a:p>
        </p:txBody>
      </p:sp>
      <p:sp>
        <p:nvSpPr>
          <p:cNvPr id="7405" name="Google Shape;7405;p4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$161,275</a:t>
            </a:r>
            <a:endParaRPr/>
          </a:p>
        </p:txBody>
      </p:sp>
      <p:sp>
        <p:nvSpPr>
          <p:cNvPr id="7406" name="Google Shape;7406;p4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7" name="Google Shape;7407;p4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$-6,204</a:t>
            </a:r>
            <a:endParaRPr/>
          </a:p>
        </p:txBody>
      </p:sp>
      <p:sp>
        <p:nvSpPr>
          <p:cNvPr id="7408" name="Google Shape;7408;p4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$-13,636</a:t>
            </a:r>
            <a:endParaRPr/>
          </a:p>
        </p:txBody>
      </p:sp>
      <p:sp>
        <p:nvSpPr>
          <p:cNvPr id="7409" name="Google Shape;7409;p4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0" name="Google Shape;7410;p4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411" name="Google Shape;7411;p4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412" name="Google Shape;7412;p4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413" name="Google Shape;7413;p4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414" name="Google Shape;7414;p4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415" name="Google Shape;7415;p4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416" name="Google Shape;7416;p4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417" name="Google Shape;7417;p4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8" name="Google Shape;7418;p4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419" name="Google Shape;7419;p4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420" name="Google Shape;7420;p4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21" name="Google Shape;7421;p4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422" name="Google Shape;7422;p4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23" name="Google Shape;7423;p4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7424" name="Google Shape;7424;p4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5" name="Google Shape;7425;p4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426" name="Google Shape;7426;p4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427" name="Google Shape;7427;p4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28" name="Google Shape;7428;p4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429" name="Google Shape;7429;p4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30" name="Google Shape;7430;p4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7431" name="Google Shape;7431;p4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2" name="Google Shape;7432;p4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33" name="Google Shape;7433;p4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434" name="Google Shape;7434;p4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435" name="Google Shape;7435;p4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436" name="Google Shape;7436;p4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37" name="Google Shape;7437;p4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7438" name="Google Shape;7438;p4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9" name="Google Shape;7439;p4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440" name="Google Shape;7440;p4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441" name="Google Shape;7441;p4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42" name="Google Shape;7442;p4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443" name="Google Shape;7443;p4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44" name="Google Shape;7444;p4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7445" name="Google Shape;7445;p4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6" name="Google Shape;7446;p4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447" name="Google Shape;7447;p4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448" name="Google Shape;7448;p4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49" name="Google Shape;7449;p4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450" name="Google Shape;7450;p4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51" name="Google Shape;7451;p4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7452" name="Google Shape;7452;p4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3" name="Google Shape;7453;p4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54" name="Google Shape;7454;p4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7455" name="Google Shape;7455;p4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456" name="Google Shape;7456;p4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7457" name="Google Shape;7457;p4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458" name="Google Shape;7458;p4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9.6%</a:t>
            </a:r>
            <a:endParaRPr/>
          </a:p>
        </p:txBody>
      </p:sp>
      <p:sp>
        <p:nvSpPr>
          <p:cNvPr id="7459" name="Google Shape;7459;p4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0" name="Google Shape;7460;p4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461" name="Google Shape;7461;p4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462" name="Google Shape;7462;p4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463" name="Google Shape;7463;p4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464" name="Google Shape;7464;p4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465" name="Google Shape;7465;p4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466" name="Google Shape;7466;p4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467" name="Google Shape;7467;p4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468" name="Google Shape;7468;p4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469" name="Google Shape;7469;p4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470" name="Google Shape;7470;p4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471" name="Google Shape;7471;p4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472" name="Google Shape;7472;p4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473" name="Google Shape;7473;p4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474" name="Google Shape;7474;p4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475" name="Google Shape;7475;p4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76" name="Google Shape;7476;p4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477" name="Google Shape;7477;p4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78" name="Google Shape;7478;p4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479" name="Google Shape;7479;p4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0" name="Google Shape;7480;p4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481" name="Google Shape;7481;p4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2" name="Google Shape;7482;p4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483" name="Google Shape;7483;p4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4" name="Google Shape;7484;p4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485" name="Google Shape;7485;p4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6" name="Google Shape;7486;p4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7487" name="Google Shape;7487;p4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488" name="Google Shape;7488;p4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9" name="Google Shape;7489;p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7490" name="Google Shape;7490;p4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1" name="Google Shape;7491;p4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2" name="Google Shape;7492;p4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3" name="Google Shape;7493;p4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7494" name="Google Shape;7494;p4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5" name="Google Shape;7495;p4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$88K</a:t>
            </a:r>
            <a:endParaRPr/>
          </a:p>
        </p:txBody>
      </p:sp>
      <p:sp>
        <p:nvSpPr>
          <p:cNvPr id="7496" name="Google Shape;7496;p4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7" name="Google Shape;7497;p4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$-36,727</a:t>
            </a:r>
            <a:endParaRPr/>
          </a:p>
        </p:txBody>
      </p:sp>
      <p:sp>
        <p:nvSpPr>
          <p:cNvPr id="7498" name="Google Shape;7498;p4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9" name="Google Shape;7499;p4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$155K</a:t>
            </a:r>
            <a:endParaRPr/>
          </a:p>
        </p:txBody>
      </p:sp>
      <p:sp>
        <p:nvSpPr>
          <p:cNvPr id="7500" name="Google Shape;7500;p4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1" name="Google Shape;7501;p4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502" name="Google Shape;7502;p4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503" name="Google Shape;7503;p4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$155,071 YTD gross written premium</a:t>
            </a:r>
            <a:endParaRPr/>
          </a:p>
        </p:txBody>
      </p:sp>
      <p:sp>
        <p:nvSpPr>
          <p:cNvPr id="7504" name="Google Shape;7504;p4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505" name="Google Shape;7505;p4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$161,275 in new business production</a:t>
            </a:r>
            <a:endParaRPr/>
          </a:p>
        </p:txBody>
      </p:sp>
      <p:sp>
        <p:nvSpPr>
          <p:cNvPr id="7506" name="Google Shape;7506;p4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7" name="Google Shape;7507;p4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508" name="Google Shape;7508;p4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509" name="Google Shape;7509;p4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142% month-over-month</a:t>
            </a:r>
            <a:endParaRPr/>
          </a:p>
        </p:txBody>
      </p:sp>
      <p:sp>
        <p:nvSpPr>
          <p:cNvPr id="7510" name="Google Shape;7510;p4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1" name="Google Shape;7511;p4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512" name="Google Shape;7512;p4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513" name="Google Shape;7513;p4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$161,275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7514" name="Google Shape;7514;p4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515" name="Google Shape;7515;p4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19" name="Shape 7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0" name="Google Shape;7520;p4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1" name="Google Shape;7521;p4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Global Solutions Inc</a:t>
            </a:r>
            <a:endParaRPr/>
          </a:p>
        </p:txBody>
      </p:sp>
      <p:sp>
        <p:nvSpPr>
          <p:cNvPr id="7522" name="Google Shape;7522;p4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N/A</a:t>
            </a:r>
            <a:endParaRPr/>
          </a:p>
        </p:txBody>
      </p:sp>
      <p:sp>
        <p:nvSpPr>
          <p:cNvPr id="7523" name="Google Shape;7523;p4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$148,004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524" name="Google Shape;7524;p4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$136,938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25" name="Google Shape;7525;p4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26" name="Google Shape;7526;p4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27" name="Google Shape;7527;p4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$-18,584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28" name="Google Shape;7528;p4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$91,020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529" name="Google Shape;7529;p4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$195,591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530" name="Google Shape;7530;p4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531" name="Google Shape;7531;p4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532" name="Google Shape;7532;p4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33" name="Google Shape;7533;p4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34" name="Google Shape;7534;p4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535" name="Google Shape;7535;p4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$87,761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536" name="Google Shape;7536;p4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7" name="Google Shape;7537;p4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538" name="Google Shape;7538;p4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539" name="Google Shape;7539;p4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540" name="Google Shape;7540;p4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41" name="Google Shape;7541;p4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42" name="Google Shape;7542;p4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43" name="Google Shape;7543;p4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44" name="Google Shape;7544;p4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5" name="Google Shape;7545;p4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546" name="Google Shape;7546;p4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7" name="Google Shape;7547;p4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8" name="Google Shape;7548;p4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9" name="Google Shape;7549;p4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0" name="Google Shape;7550;p4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1" name="Google Shape;7551;p4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2" name="Google Shape;7552;p4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553" name="Google Shape;7553;p4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$103,831</a:t>
            </a:r>
            <a:endParaRPr/>
          </a:p>
        </p:txBody>
      </p:sp>
      <p:sp>
        <p:nvSpPr>
          <p:cNvPr id="7554" name="Google Shape;7554;p4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$99,158</a:t>
            </a:r>
            <a:endParaRPr/>
          </a:p>
        </p:txBody>
      </p:sp>
      <p:sp>
        <p:nvSpPr>
          <p:cNvPr id="7555" name="Google Shape;7555;p4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6" name="Google Shape;7556;p4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$4,673</a:t>
            </a:r>
            <a:endParaRPr/>
          </a:p>
        </p:txBody>
      </p:sp>
      <p:sp>
        <p:nvSpPr>
          <p:cNvPr id="7557" name="Google Shape;7557;p4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8" name="Google Shape;7558;p4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9" name="Google Shape;7559;p4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560" name="Google Shape;7560;p4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$23,541</a:t>
            </a:r>
            <a:endParaRPr/>
          </a:p>
        </p:txBody>
      </p:sp>
      <p:sp>
        <p:nvSpPr>
          <p:cNvPr id="7561" name="Google Shape;7561;p4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$18,999</a:t>
            </a:r>
            <a:endParaRPr/>
          </a:p>
        </p:txBody>
      </p:sp>
      <p:sp>
        <p:nvSpPr>
          <p:cNvPr id="7562" name="Google Shape;7562;p4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3" name="Google Shape;7563;p4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$4,542</a:t>
            </a:r>
            <a:endParaRPr/>
          </a:p>
        </p:txBody>
      </p:sp>
      <p:sp>
        <p:nvSpPr>
          <p:cNvPr id="7564" name="Google Shape;7564;p4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$-18,584</a:t>
            </a:r>
            <a:endParaRPr/>
          </a:p>
        </p:txBody>
      </p:sp>
      <p:sp>
        <p:nvSpPr>
          <p:cNvPr id="7565" name="Google Shape;7565;p4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6" name="Google Shape;7566;p4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567" name="Google Shape;7567;p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$20,576</a:t>
            </a:r>
            <a:endParaRPr/>
          </a:p>
        </p:txBody>
      </p:sp>
      <p:sp>
        <p:nvSpPr>
          <p:cNvPr id="7568" name="Google Shape;7568;p4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$18,781</a:t>
            </a:r>
            <a:endParaRPr/>
          </a:p>
        </p:txBody>
      </p:sp>
      <p:sp>
        <p:nvSpPr>
          <p:cNvPr id="7569" name="Google Shape;7569;p4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0" name="Google Shape;7570;p4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$1,795</a:t>
            </a:r>
            <a:endParaRPr/>
          </a:p>
        </p:txBody>
      </p:sp>
      <p:sp>
        <p:nvSpPr>
          <p:cNvPr id="7571" name="Google Shape;7571;p4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2" name="Google Shape;7572;p4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3" name="Google Shape;7573;p4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574" name="Google Shape;7574;p4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</a:t>
            </a:r>
            <a:endParaRPr/>
          </a:p>
        </p:txBody>
      </p:sp>
      <p:sp>
        <p:nvSpPr>
          <p:cNvPr id="7575" name="Google Shape;7575;p4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6" name="Google Shape;7576;p4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7" name="Google Shape;7577;p4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</a:t>
            </a:r>
            <a:endParaRPr/>
          </a:p>
        </p:txBody>
      </p:sp>
      <p:sp>
        <p:nvSpPr>
          <p:cNvPr id="7578" name="Google Shape;7578;p4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9" name="Google Shape;7579;p4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0" name="Google Shape;7580;p4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581" name="Google Shape;7581;p4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$148,004</a:t>
            </a:r>
            <a:endParaRPr/>
          </a:p>
        </p:txBody>
      </p:sp>
      <p:sp>
        <p:nvSpPr>
          <p:cNvPr id="7582" name="Google Shape;7582;p4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$136,938</a:t>
            </a:r>
            <a:endParaRPr/>
          </a:p>
        </p:txBody>
      </p:sp>
      <p:sp>
        <p:nvSpPr>
          <p:cNvPr id="7583" name="Google Shape;7583;p4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4" name="Google Shape;7584;p4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$11,067</a:t>
            </a:r>
            <a:endParaRPr/>
          </a:p>
        </p:txBody>
      </p:sp>
      <p:sp>
        <p:nvSpPr>
          <p:cNvPr id="7585" name="Google Shape;7585;p4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$-18,584</a:t>
            </a:r>
            <a:endParaRPr/>
          </a:p>
        </p:txBody>
      </p:sp>
      <p:sp>
        <p:nvSpPr>
          <p:cNvPr id="7586" name="Google Shape;7586;p4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7" name="Google Shape;7587;p4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588" name="Google Shape;7588;p4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589" name="Google Shape;7589;p4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590" name="Google Shape;7590;p4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591" name="Google Shape;7591;p4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592" name="Google Shape;7592;p4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93" name="Google Shape;7593;p4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94" name="Google Shape;7594;p4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5" name="Google Shape;7595;p4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596" name="Google Shape;7596;p4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597" name="Google Shape;7597;p4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98" name="Google Shape;7598;p4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599" name="Google Shape;7599;p4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00" name="Google Shape;7600;p4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7601" name="Google Shape;7601;p4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2" name="Google Shape;7602;p4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603" name="Google Shape;7603;p4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604" name="Google Shape;7604;p4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05" name="Google Shape;7605;p4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7606" name="Google Shape;7606;p4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07" name="Google Shape;7607;p4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7608" name="Google Shape;7608;p4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9" name="Google Shape;7609;p4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610" name="Google Shape;7610;p4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611" name="Google Shape;7611;p4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12" name="Google Shape;7612;p4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613" name="Google Shape;7613;p4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14" name="Google Shape;7614;p4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7615" name="Google Shape;7615;p4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6" name="Google Shape;7616;p4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617" name="Google Shape;7617;p4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618" name="Google Shape;7618;p4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19" name="Google Shape;7619;p4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620" name="Google Shape;7620;p4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621" name="Google Shape;7621;p4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7622" name="Google Shape;7622;p4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3" name="Google Shape;7623;p4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624" name="Google Shape;7624;p4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625" name="Google Shape;7625;p4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26" name="Google Shape;7626;p4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627" name="Google Shape;7627;p4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28" name="Google Shape;7628;p4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29" name="Google Shape;7629;p4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0" name="Google Shape;7630;p4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631" name="Google Shape;7631;p4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7632" name="Google Shape;7632;p4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633" name="Google Shape;7633;p4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7634" name="Google Shape;7634;p4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35" name="Google Shape;7635;p4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7636" name="Google Shape;7636;p4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7" name="Google Shape;7637;p4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638" name="Google Shape;7638;p4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639" name="Google Shape;7639;p4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640" name="Google Shape;7640;p4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641" name="Google Shape;7641;p4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642" name="Google Shape;7642;p4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643" name="Google Shape;7643;p4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644" name="Google Shape;7644;p4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645" name="Google Shape;7645;p4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646" name="Google Shape;7646;p4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647" name="Google Shape;7647;p4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648" name="Google Shape;7648;p4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649" name="Google Shape;7649;p4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650" name="Google Shape;7650;p4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651" name="Google Shape;7651;p4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652" name="Google Shape;7652;p4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3" name="Google Shape;7653;p4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654" name="Google Shape;7654;p4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5" name="Google Shape;7655;p4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656" name="Google Shape;7656;p4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7" name="Google Shape;7657;p4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658" name="Google Shape;7658;p4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659" name="Google Shape;7659;p4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660" name="Google Shape;7660;p4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661" name="Google Shape;7661;p4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662" name="Google Shape;7662;p4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663" name="Google Shape;7663;p4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7664" name="Google Shape;7664;p4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665" name="Google Shape;7665;p4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6" name="Google Shape;7666;p4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7" name="Google Shape;7667;p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8" name="Google Shape;7668;p4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$104K</a:t>
            </a:r>
            <a:endParaRPr/>
          </a:p>
        </p:txBody>
      </p:sp>
      <p:sp>
        <p:nvSpPr>
          <p:cNvPr id="7669" name="Google Shape;7669;p4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0" name="Google Shape;7670;p4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7671" name="Google Shape;7671;p4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2" name="Google Shape;7672;p4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7673" name="Google Shape;7673;p4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7674" name="Google Shape;7674;p4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</a:t>
            </a:r>
            <a:endParaRPr/>
          </a:p>
        </p:txBody>
      </p:sp>
      <p:sp>
        <p:nvSpPr>
          <p:cNvPr id="7675" name="Google Shape;7675;p4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7676" name="Google Shape;7676;p4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$148K</a:t>
            </a:r>
            <a:endParaRPr/>
          </a:p>
        </p:txBody>
      </p:sp>
      <p:sp>
        <p:nvSpPr>
          <p:cNvPr id="7677" name="Google Shape;7677;p4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8" name="Google Shape;7678;p4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679" name="Google Shape;7679;p4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680" name="Google Shape;7680;p4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$148,004 YTD gross written premium</a:t>
            </a:r>
            <a:endParaRPr/>
          </a:p>
        </p:txBody>
      </p:sp>
      <p:sp>
        <p:nvSpPr>
          <p:cNvPr id="7681" name="Google Shape;7681;p4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682" name="Google Shape;7682;p4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$136,938 in new business production</a:t>
            </a:r>
            <a:endParaRPr/>
          </a:p>
        </p:txBody>
      </p:sp>
      <p:sp>
        <p:nvSpPr>
          <p:cNvPr id="7683" name="Google Shape;7683;p4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4" name="Google Shape;7684;p4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685" name="Google Shape;7685;p4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686" name="Google Shape;7686;p4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7687" name="Google Shape;7687;p4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688" name="Google Shape;7688;p4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14 to 5 MoM</a:t>
            </a:r>
            <a:endParaRPr/>
          </a:p>
        </p:txBody>
      </p:sp>
      <p:sp>
        <p:nvSpPr>
          <p:cNvPr id="7689" name="Google Shape;7689;p4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0" name="Google Shape;7690;p4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691" name="Google Shape;7691;p4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692" name="Google Shape;7692;p4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$136,938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7693" name="Google Shape;7693;p4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694" name="Google Shape;7694;p4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98" name="Shape 7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9" name="Google Shape;7699;p4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0" name="Google Shape;7700;p4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Saint George Insurance Brokerage, Inc.</a:t>
            </a:r>
            <a:endParaRPr/>
          </a:p>
        </p:txBody>
      </p:sp>
      <p:sp>
        <p:nvSpPr>
          <p:cNvPr id="7701" name="Google Shape;7701;p4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Commerce</a:t>
            </a:r>
            <a:endParaRPr/>
          </a:p>
        </p:txBody>
      </p:sp>
      <p:sp>
        <p:nvSpPr>
          <p:cNvPr id="7702" name="Google Shape;7702;p4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$145,832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703" name="Google Shape;7703;p4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$69,823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704" name="Google Shape;7704;p4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705" name="Google Shape;7705;p4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$76,009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706" name="Google Shape;7706;p4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$-116,832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707" name="Google Shape;7707;p4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$1,098,550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708" name="Google Shape;7708;p4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$909,198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709" name="Google Shape;7709;p4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710" name="Google Shape;7710;p4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711" name="Google Shape;7711;p4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712" name="Google Shape;7712;p4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713" name="Google Shape;7713;p4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$250,926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714" name="Google Shape;7714;p4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$76,204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715" name="Google Shape;7715;p4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6" name="Google Shape;7716;p4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717" name="Google Shape;7717;p4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718" name="Google Shape;7718;p4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719" name="Google Shape;7719;p4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720" name="Google Shape;7720;p4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721" name="Google Shape;7721;p4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722" name="Google Shape;7722;p4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723" name="Google Shape;7723;p4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4" name="Google Shape;7724;p4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725" name="Google Shape;7725;p4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$6,994</a:t>
            </a:r>
            <a:endParaRPr/>
          </a:p>
        </p:txBody>
      </p:sp>
      <p:sp>
        <p:nvSpPr>
          <p:cNvPr id="7726" name="Google Shape;7726;p4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7" name="Google Shape;7727;p4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8" name="Google Shape;7728;p4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$6,994</a:t>
            </a:r>
            <a:endParaRPr/>
          </a:p>
        </p:txBody>
      </p:sp>
      <p:sp>
        <p:nvSpPr>
          <p:cNvPr id="7729" name="Google Shape;7729;p4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0" name="Google Shape;7730;p4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1" name="Google Shape;7731;p4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732" name="Google Shape;7732;p4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$54,426</a:t>
            </a:r>
            <a:endParaRPr/>
          </a:p>
        </p:txBody>
      </p:sp>
      <p:sp>
        <p:nvSpPr>
          <p:cNvPr id="7733" name="Google Shape;7733;p4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4" name="Google Shape;7734;p4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5" name="Google Shape;7735;p4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$54,426</a:t>
            </a:r>
            <a:endParaRPr/>
          </a:p>
        </p:txBody>
      </p:sp>
      <p:sp>
        <p:nvSpPr>
          <p:cNvPr id="7736" name="Google Shape;7736;p4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$-68,987</a:t>
            </a:r>
            <a:endParaRPr/>
          </a:p>
        </p:txBody>
      </p:sp>
      <p:sp>
        <p:nvSpPr>
          <p:cNvPr id="7737" name="Google Shape;7737;p4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8" name="Google Shape;7738;p4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739" name="Google Shape;7739;p4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$30,247</a:t>
            </a:r>
            <a:endParaRPr/>
          </a:p>
        </p:txBody>
      </p:sp>
      <p:sp>
        <p:nvSpPr>
          <p:cNvPr id="7740" name="Google Shape;7740;p4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$30,167</a:t>
            </a:r>
            <a:endParaRPr/>
          </a:p>
        </p:txBody>
      </p:sp>
      <p:sp>
        <p:nvSpPr>
          <p:cNvPr id="7741" name="Google Shape;7741;p4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2" name="Google Shape;7742;p4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</a:t>
            </a:r>
            <a:endParaRPr/>
          </a:p>
        </p:txBody>
      </p:sp>
      <p:sp>
        <p:nvSpPr>
          <p:cNvPr id="7743" name="Google Shape;7743;p4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$-31,311</a:t>
            </a:r>
            <a:endParaRPr/>
          </a:p>
        </p:txBody>
      </p:sp>
      <p:sp>
        <p:nvSpPr>
          <p:cNvPr id="7744" name="Google Shape;7744;p4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5" name="Google Shape;7745;p4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746" name="Google Shape;7746;p4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$53,372</a:t>
            </a:r>
            <a:endParaRPr/>
          </a:p>
        </p:txBody>
      </p:sp>
      <p:sp>
        <p:nvSpPr>
          <p:cNvPr id="7747" name="Google Shape;7747;p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$39,656</a:t>
            </a:r>
            <a:endParaRPr/>
          </a:p>
        </p:txBody>
      </p:sp>
      <p:sp>
        <p:nvSpPr>
          <p:cNvPr id="7748" name="Google Shape;7748;p4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9" name="Google Shape;7749;p4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$13,715</a:t>
            </a:r>
            <a:endParaRPr/>
          </a:p>
        </p:txBody>
      </p:sp>
      <p:sp>
        <p:nvSpPr>
          <p:cNvPr id="7750" name="Google Shape;7750;p4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$-16,534</a:t>
            </a:r>
            <a:endParaRPr/>
          </a:p>
        </p:txBody>
      </p:sp>
      <p:sp>
        <p:nvSpPr>
          <p:cNvPr id="7751" name="Google Shape;7751;p4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2" name="Google Shape;7752;p4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753" name="Google Shape;7753;p4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$793</a:t>
            </a:r>
            <a:endParaRPr/>
          </a:p>
        </p:txBody>
      </p:sp>
      <p:sp>
        <p:nvSpPr>
          <p:cNvPr id="7754" name="Google Shape;7754;p4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5" name="Google Shape;7755;p4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6" name="Google Shape;7756;p4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$793</a:t>
            </a:r>
            <a:endParaRPr/>
          </a:p>
        </p:txBody>
      </p:sp>
      <p:sp>
        <p:nvSpPr>
          <p:cNvPr id="7757" name="Google Shape;7757;p4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8" name="Google Shape;7758;p4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9" name="Google Shape;7759;p4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760" name="Google Shape;7760;p4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$145,832</a:t>
            </a:r>
            <a:endParaRPr/>
          </a:p>
        </p:txBody>
      </p:sp>
      <p:sp>
        <p:nvSpPr>
          <p:cNvPr id="7761" name="Google Shape;7761;p4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$69,823</a:t>
            </a:r>
            <a:endParaRPr/>
          </a:p>
        </p:txBody>
      </p:sp>
      <p:sp>
        <p:nvSpPr>
          <p:cNvPr id="7762" name="Google Shape;7762;p4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63" name="Google Shape;7763;p4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$76,009</a:t>
            </a:r>
            <a:endParaRPr/>
          </a:p>
        </p:txBody>
      </p:sp>
      <p:sp>
        <p:nvSpPr>
          <p:cNvPr id="7764" name="Google Shape;7764;p4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$-116,832</a:t>
            </a:r>
            <a:endParaRPr/>
          </a:p>
        </p:txBody>
      </p:sp>
      <p:sp>
        <p:nvSpPr>
          <p:cNvPr id="7765" name="Google Shape;7765;p4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6" name="Google Shape;7766;p4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767" name="Google Shape;7767;p4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768" name="Google Shape;7768;p4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769" name="Google Shape;7769;p4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770" name="Google Shape;7770;p4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771" name="Google Shape;7771;p4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772" name="Google Shape;7772;p4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773" name="Google Shape;7773;p4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4" name="Google Shape;7774;p4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775" name="Google Shape;7775;p4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7776" name="Google Shape;7776;p4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77" name="Google Shape;7777;p4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778" name="Google Shape;7778;p4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79" name="Google Shape;7779;p4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7780" name="Google Shape;7780;p4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1" name="Google Shape;7781;p4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782" name="Google Shape;7782;p4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7783" name="Google Shape;7783;p4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84" name="Google Shape;7784;p4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7785" name="Google Shape;7785;p4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86" name="Google Shape;7786;p4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7787" name="Google Shape;7787;p4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8" name="Google Shape;7788;p4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789" name="Google Shape;7789;p4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7790" name="Google Shape;7790;p4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91" name="Google Shape;7791;p4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7792" name="Google Shape;7792;p4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93" name="Google Shape;7793;p4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7794" name="Google Shape;7794;p4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5" name="Google Shape;7795;p4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796" name="Google Shape;7796;p4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7797" name="Google Shape;7797;p4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798" name="Google Shape;7798;p4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7799" name="Google Shape;7799;p4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800" name="Google Shape;7800;p4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7801" name="Google Shape;7801;p4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2" name="Google Shape;7802;p4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803" name="Google Shape;7803;p4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7804" name="Google Shape;7804;p4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805" name="Google Shape;7805;p4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7806" name="Google Shape;7806;p4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807" name="Google Shape;7807;p4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7808" name="Google Shape;7808;p4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9" name="Google Shape;7809;p4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810" name="Google Shape;7810;p4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</p:txBody>
      </p:sp>
      <p:sp>
        <p:nvSpPr>
          <p:cNvPr id="7811" name="Google Shape;7811;p4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7812" name="Google Shape;7812;p4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</a:t>
            </a:r>
            <a:endParaRPr/>
          </a:p>
        </p:txBody>
      </p:sp>
      <p:sp>
        <p:nvSpPr>
          <p:cNvPr id="7813" name="Google Shape;7813;p4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814" name="Google Shape;7814;p4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</a:t>
            </a:r>
            <a:endParaRPr/>
          </a:p>
        </p:txBody>
      </p:sp>
      <p:sp>
        <p:nvSpPr>
          <p:cNvPr id="7815" name="Google Shape;7815;p4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6" name="Google Shape;7816;p4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817" name="Google Shape;7817;p4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818" name="Google Shape;7818;p4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819" name="Google Shape;7819;p4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820" name="Google Shape;7820;p4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821" name="Google Shape;7821;p4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822" name="Google Shape;7822;p4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823" name="Google Shape;7823;p4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824" name="Google Shape;7824;p4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825" name="Google Shape;7825;p4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826" name="Google Shape;7826;p4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827" name="Google Shape;7827;p4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828" name="Google Shape;7828;p4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829" name="Google Shape;7829;p4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830" name="Google Shape;7830;p4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831" name="Google Shape;7831;p4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7832" name="Google Shape;7832;p4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7833" name="Google Shape;7833;p4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7834" name="Google Shape;7834;p4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7835" name="Google Shape;7835;p4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7836" name="Google Shape;7836;p4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7837" name="Google Shape;7837;p4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7838" name="Google Shape;7838;p4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7839" name="Google Shape;7839;p4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840" name="Google Shape;7840;p4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7841" name="Google Shape;7841;p4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7842" name="Google Shape;7842;p4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213</a:t>
            </a:r>
            <a:endParaRPr/>
          </a:p>
        </p:txBody>
      </p:sp>
      <p:sp>
        <p:nvSpPr>
          <p:cNvPr id="7843" name="Google Shape;7843;p4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844" name="Google Shape;7844;p4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$118K</a:t>
            </a:r>
            <a:endParaRPr/>
          </a:p>
        </p:txBody>
      </p:sp>
      <p:sp>
        <p:nvSpPr>
          <p:cNvPr id="7845" name="Google Shape;7845;p4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7846" name="Google Shape;7846;p4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$102K</a:t>
            </a:r>
            <a:endParaRPr/>
          </a:p>
        </p:txBody>
      </p:sp>
      <p:sp>
        <p:nvSpPr>
          <p:cNvPr id="7847" name="Google Shape;7847;p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7848" name="Google Shape;7848;p4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7849" name="Google Shape;7849;p4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7850" name="Google Shape;7850;p4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7851" name="Google Shape;7851;p4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$53K</a:t>
            </a:r>
            <a:endParaRPr/>
          </a:p>
        </p:txBody>
      </p:sp>
      <p:sp>
        <p:nvSpPr>
          <p:cNvPr id="7852" name="Google Shape;7852;p4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$39K</a:t>
            </a:r>
            <a:endParaRPr/>
          </a:p>
        </p:txBody>
      </p:sp>
      <p:sp>
        <p:nvSpPr>
          <p:cNvPr id="7853" name="Google Shape;7853;p4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$793</a:t>
            </a:r>
            <a:endParaRPr/>
          </a:p>
        </p:txBody>
      </p:sp>
      <p:sp>
        <p:nvSpPr>
          <p:cNvPr id="7854" name="Google Shape;7854;p4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$335K</a:t>
            </a:r>
            <a:endParaRPr/>
          </a:p>
        </p:txBody>
      </p:sp>
      <p:sp>
        <p:nvSpPr>
          <p:cNvPr id="7855" name="Google Shape;7855;p4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$146K</a:t>
            </a:r>
            <a:endParaRPr/>
          </a:p>
        </p:txBody>
      </p:sp>
      <p:sp>
        <p:nvSpPr>
          <p:cNvPr id="7856" name="Google Shape;7856;p4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7" name="Google Shape;7857;p4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858" name="Google Shape;7858;p4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859" name="Google Shape;7859;p4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$145,832 YTD gross written premium</a:t>
            </a:r>
            <a:endParaRPr/>
          </a:p>
        </p:txBody>
      </p:sp>
      <p:sp>
        <p:nvSpPr>
          <p:cNvPr id="7860" name="Google Shape;7860;p4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861" name="Google Shape;7861;p4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$69,823 in new business production</a:t>
            </a:r>
            <a:endParaRPr/>
          </a:p>
        </p:txBody>
      </p:sp>
      <p:sp>
        <p:nvSpPr>
          <p:cNvPr id="7862" name="Google Shape;7862;p4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3" name="Google Shape;7863;p4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864" name="Google Shape;7864;p4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865" name="Google Shape;7865;p4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167% of new business ($116,832)</a:t>
            </a:r>
            <a:endParaRPr/>
          </a:p>
        </p:txBody>
      </p:sp>
      <p:sp>
        <p:nvSpPr>
          <p:cNvPr id="7866" name="Google Shape;7866;p4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867" name="Google Shape;7867;p4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99% month-over-month</a:t>
            </a:r>
            <a:endParaRPr/>
          </a:p>
        </p:txBody>
      </p:sp>
      <p:sp>
        <p:nvSpPr>
          <p:cNvPr id="7868" name="Google Shape;7868;p4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9" name="Google Shape;7869;p4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870" name="Google Shape;7870;p4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871" name="Google Shape;7871;p4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$69,823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7872" name="Google Shape;7872;p4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873" name="Google Shape;7873;p4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$116,832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77" name="Shape 7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8" name="Google Shape;7878;p5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9" name="Google Shape;7879;p5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3321 Group L.l.c</a:t>
            </a:r>
            <a:endParaRPr/>
          </a:p>
        </p:txBody>
      </p:sp>
      <p:sp>
        <p:nvSpPr>
          <p:cNvPr id="7880" name="Google Shape;7880;p5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AZ  |  City: Scottsdale</a:t>
            </a:r>
            <a:endParaRPr/>
          </a:p>
        </p:txBody>
      </p:sp>
      <p:sp>
        <p:nvSpPr>
          <p:cNvPr id="7881" name="Google Shape;7881;p5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$136,699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882" name="Google Shape;7882;p5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883" name="Google Shape;7883;p5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$71,205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884" name="Google Shape;7884;p5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$65,494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885" name="Google Shape;7885;p5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$-148,891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886" name="Google Shape;7886;p5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$2,228,376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887" name="Google Shape;7887;p5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$823,368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888" name="Google Shape;7888;p5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889" name="Google Shape;7889;p5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890" name="Google Shape;7890;p5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891" name="Google Shape;7891;p5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892" name="Google Shape;7892;p5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$74,112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893" name="Google Shape;7893;p5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$193,706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894" name="Google Shape;7894;p5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5" name="Google Shape;7895;p5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896" name="Google Shape;7896;p5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897" name="Google Shape;7897;p5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898" name="Google Shape;7898;p5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899" name="Google Shape;7899;p5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900" name="Google Shape;7900;p5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901" name="Google Shape;7901;p5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902" name="Google Shape;7902;p5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3" name="Google Shape;7903;p5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904" name="Google Shape;7904;p5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$34,967</a:t>
            </a:r>
            <a:endParaRPr/>
          </a:p>
        </p:txBody>
      </p:sp>
      <p:sp>
        <p:nvSpPr>
          <p:cNvPr id="7905" name="Google Shape;7905;p5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6" name="Google Shape;7906;p5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$12,326</a:t>
            </a:r>
            <a:endParaRPr/>
          </a:p>
        </p:txBody>
      </p:sp>
      <p:sp>
        <p:nvSpPr>
          <p:cNvPr id="7907" name="Google Shape;7907;p5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$22,641</a:t>
            </a:r>
            <a:endParaRPr/>
          </a:p>
        </p:txBody>
      </p:sp>
      <p:sp>
        <p:nvSpPr>
          <p:cNvPr id="7908" name="Google Shape;7908;p5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$-21,968</a:t>
            </a:r>
            <a:endParaRPr/>
          </a:p>
        </p:txBody>
      </p:sp>
      <p:sp>
        <p:nvSpPr>
          <p:cNvPr id="7909" name="Google Shape;7909;p5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0" name="Google Shape;7910;p5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911" name="Google Shape;7911;p5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$22,843</a:t>
            </a:r>
            <a:endParaRPr/>
          </a:p>
        </p:txBody>
      </p:sp>
      <p:sp>
        <p:nvSpPr>
          <p:cNvPr id="7912" name="Google Shape;7912;p5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3" name="Google Shape;7913;p5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$9,962</a:t>
            </a:r>
            <a:endParaRPr/>
          </a:p>
        </p:txBody>
      </p:sp>
      <p:sp>
        <p:nvSpPr>
          <p:cNvPr id="7914" name="Google Shape;7914;p5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$12,881</a:t>
            </a:r>
            <a:endParaRPr/>
          </a:p>
        </p:txBody>
      </p:sp>
      <p:sp>
        <p:nvSpPr>
          <p:cNvPr id="7915" name="Google Shape;7915;p5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$-19,695</a:t>
            </a:r>
            <a:endParaRPr/>
          </a:p>
        </p:txBody>
      </p:sp>
      <p:sp>
        <p:nvSpPr>
          <p:cNvPr id="7916" name="Google Shape;7916;p5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7" name="Google Shape;7917;p5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918" name="Google Shape;7918;p5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$12,012</a:t>
            </a:r>
            <a:endParaRPr/>
          </a:p>
        </p:txBody>
      </p:sp>
      <p:sp>
        <p:nvSpPr>
          <p:cNvPr id="7919" name="Google Shape;7919;p5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0" name="Google Shape;7920;p5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1" name="Google Shape;7921;p5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$12,012</a:t>
            </a:r>
            <a:endParaRPr/>
          </a:p>
        </p:txBody>
      </p:sp>
      <p:sp>
        <p:nvSpPr>
          <p:cNvPr id="7922" name="Google Shape;7922;p5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$-31,582</a:t>
            </a:r>
            <a:endParaRPr/>
          </a:p>
        </p:txBody>
      </p:sp>
      <p:sp>
        <p:nvSpPr>
          <p:cNvPr id="7923" name="Google Shape;7923;p5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4" name="Google Shape;7924;p5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925" name="Google Shape;7925;p5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$66,846</a:t>
            </a:r>
            <a:endParaRPr/>
          </a:p>
        </p:txBody>
      </p:sp>
      <p:sp>
        <p:nvSpPr>
          <p:cNvPr id="7926" name="Google Shape;7926;p5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7" name="Google Shape;7927;p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$48,916</a:t>
            </a:r>
            <a:endParaRPr/>
          </a:p>
        </p:txBody>
      </p:sp>
      <p:sp>
        <p:nvSpPr>
          <p:cNvPr id="7928" name="Google Shape;7928;p5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$17,930</a:t>
            </a:r>
            <a:endParaRPr/>
          </a:p>
        </p:txBody>
      </p:sp>
      <p:sp>
        <p:nvSpPr>
          <p:cNvPr id="7929" name="Google Shape;7929;p5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$-75,646</a:t>
            </a:r>
            <a:endParaRPr/>
          </a:p>
        </p:txBody>
      </p:sp>
      <p:sp>
        <p:nvSpPr>
          <p:cNvPr id="7930" name="Google Shape;7930;p5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1" name="Google Shape;7931;p5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932" name="Google Shape;7932;p5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</a:t>
            </a:r>
            <a:endParaRPr/>
          </a:p>
        </p:txBody>
      </p:sp>
      <p:sp>
        <p:nvSpPr>
          <p:cNvPr id="7933" name="Google Shape;7933;p5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4" name="Google Shape;7934;p5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5" name="Google Shape;7935;p5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</a:t>
            </a:r>
            <a:endParaRPr/>
          </a:p>
        </p:txBody>
      </p:sp>
      <p:sp>
        <p:nvSpPr>
          <p:cNvPr id="7936" name="Google Shape;7936;p5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7" name="Google Shape;7937;p5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8" name="Google Shape;7938;p5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939" name="Google Shape;7939;p5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$136,699</a:t>
            </a:r>
            <a:endParaRPr/>
          </a:p>
        </p:txBody>
      </p:sp>
      <p:sp>
        <p:nvSpPr>
          <p:cNvPr id="7940" name="Google Shape;7940;p5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1" name="Google Shape;7941;p5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$71,205</a:t>
            </a:r>
            <a:endParaRPr/>
          </a:p>
        </p:txBody>
      </p:sp>
      <p:sp>
        <p:nvSpPr>
          <p:cNvPr id="7942" name="Google Shape;7942;p5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$65,494</a:t>
            </a:r>
            <a:endParaRPr/>
          </a:p>
        </p:txBody>
      </p:sp>
      <p:sp>
        <p:nvSpPr>
          <p:cNvPr id="7943" name="Google Shape;7943;p5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$-148,891</a:t>
            </a:r>
            <a:endParaRPr/>
          </a:p>
        </p:txBody>
      </p:sp>
      <p:sp>
        <p:nvSpPr>
          <p:cNvPr id="7944" name="Google Shape;7944;p5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5" name="Google Shape;7945;p5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946" name="Google Shape;7946;p5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947" name="Google Shape;7947;p5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948" name="Google Shape;7948;p5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949" name="Google Shape;7949;p5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950" name="Google Shape;7950;p5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951" name="Google Shape;7951;p5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952" name="Google Shape;7952;p5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3" name="Google Shape;7953;p5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954" name="Google Shape;7954;p5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7955" name="Google Shape;7955;p5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56" name="Google Shape;7956;p5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7957" name="Google Shape;7957;p5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958" name="Google Shape;7958;p5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22.7%</a:t>
            </a:r>
            <a:endParaRPr/>
          </a:p>
        </p:txBody>
      </p:sp>
      <p:sp>
        <p:nvSpPr>
          <p:cNvPr id="7959" name="Google Shape;7959;p5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0" name="Google Shape;7960;p5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961" name="Google Shape;7961;p5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7962" name="Google Shape;7962;p5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63" name="Google Shape;7963;p5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7964" name="Google Shape;7964;p5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965" name="Google Shape;7965;p5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12.2%</a:t>
            </a:r>
            <a:endParaRPr/>
          </a:p>
        </p:txBody>
      </p:sp>
      <p:sp>
        <p:nvSpPr>
          <p:cNvPr id="7966" name="Google Shape;7966;p5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7" name="Google Shape;7967;p5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968" name="Google Shape;7968;p5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7969" name="Google Shape;7969;p5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70" name="Google Shape;7970;p5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7971" name="Google Shape;7971;p5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972" name="Google Shape;7972;p5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16.1%</a:t>
            </a:r>
            <a:endParaRPr/>
          </a:p>
        </p:txBody>
      </p:sp>
      <p:sp>
        <p:nvSpPr>
          <p:cNvPr id="7973" name="Google Shape;7973;p5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4" name="Google Shape;7974;p5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975" name="Google Shape;7975;p5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7976" name="Google Shape;7976;p5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77" name="Google Shape;7977;p5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978" name="Google Shape;7978;p5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79" name="Google Shape;7979;p5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7980" name="Google Shape;7980;p5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1" name="Google Shape;7981;p5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982" name="Google Shape;7982;p5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7983" name="Google Shape;7983;p5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84" name="Google Shape;7984;p5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7985" name="Google Shape;7985;p5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86" name="Google Shape;7986;p5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7987" name="Google Shape;7987;p5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8" name="Google Shape;7988;p5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989" name="Google Shape;7989;p5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135</a:t>
            </a:r>
            <a:endParaRPr/>
          </a:p>
        </p:txBody>
      </p:sp>
      <p:sp>
        <p:nvSpPr>
          <p:cNvPr id="7990" name="Google Shape;7990;p5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991" name="Google Shape;7991;p5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7992" name="Google Shape;7992;p5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993" name="Google Shape;7993;p5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7994" name="Google Shape;7994;p5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5" name="Google Shape;7995;p5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996" name="Google Shape;7996;p5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997" name="Google Shape;7997;p5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998" name="Google Shape;7998;p5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999" name="Google Shape;7999;p5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000" name="Google Shape;8000;p5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001" name="Google Shape;8001;p5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002" name="Google Shape;8002;p5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003" name="Google Shape;8003;p5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004" name="Google Shape;8004;p5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005" name="Google Shape;8005;p5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006" name="Google Shape;8006;p5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007" name="Google Shape;8007;p5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008" name="Google Shape;8008;p5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009" name="Google Shape;8009;p5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010" name="Google Shape;8010;p5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162</a:t>
            </a:r>
            <a:endParaRPr/>
          </a:p>
        </p:txBody>
      </p:sp>
      <p:sp>
        <p:nvSpPr>
          <p:cNvPr id="8011" name="Google Shape;8011;p5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8012" name="Google Shape;8012;p5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</a:t>
            </a:r>
            <a:endParaRPr/>
          </a:p>
        </p:txBody>
      </p:sp>
      <p:sp>
        <p:nvSpPr>
          <p:cNvPr id="8013" name="Google Shape;8013;p5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8014" name="Google Shape;8014;p5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157</a:t>
            </a:r>
            <a:endParaRPr/>
          </a:p>
        </p:txBody>
      </p:sp>
      <p:sp>
        <p:nvSpPr>
          <p:cNvPr id="8015" name="Google Shape;8015;p5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8016" name="Google Shape;8016;p5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</a:t>
            </a:r>
            <a:endParaRPr/>
          </a:p>
        </p:txBody>
      </p:sp>
      <p:sp>
        <p:nvSpPr>
          <p:cNvPr id="8017" name="Google Shape;8017;p5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018" name="Google Shape;8018;p5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</p:txBody>
      </p:sp>
      <p:sp>
        <p:nvSpPr>
          <p:cNvPr id="8019" name="Google Shape;8019;p5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020" name="Google Shape;8020;p5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700</a:t>
            </a:r>
            <a:endParaRPr/>
          </a:p>
        </p:txBody>
      </p:sp>
      <p:sp>
        <p:nvSpPr>
          <p:cNvPr id="8021" name="Google Shape;8021;p5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158</a:t>
            </a:r>
            <a:endParaRPr/>
          </a:p>
        </p:txBody>
      </p:sp>
      <p:sp>
        <p:nvSpPr>
          <p:cNvPr id="8022" name="Google Shape;8022;p5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023" name="Google Shape;8023;p5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$359K</a:t>
            </a:r>
            <a:endParaRPr/>
          </a:p>
        </p:txBody>
      </p:sp>
      <p:sp>
        <p:nvSpPr>
          <p:cNvPr id="8024" name="Google Shape;8024;p5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8025" name="Google Shape;8025;p5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$287K</a:t>
            </a:r>
            <a:endParaRPr/>
          </a:p>
        </p:txBody>
      </p:sp>
      <p:sp>
        <p:nvSpPr>
          <p:cNvPr id="8026" name="Google Shape;8026;p5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8027" name="Google Shape;8027;p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$422K</a:t>
            </a:r>
            <a:endParaRPr/>
          </a:p>
        </p:txBody>
      </p:sp>
      <p:sp>
        <p:nvSpPr>
          <p:cNvPr id="8028" name="Google Shape;8028;p5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8029" name="Google Shape;8029;p5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$226K</a:t>
            </a:r>
            <a:endParaRPr/>
          </a:p>
        </p:txBody>
      </p:sp>
      <p:sp>
        <p:nvSpPr>
          <p:cNvPr id="8030" name="Google Shape;8030;p5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8031" name="Google Shape;8031;p5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$248K</a:t>
            </a:r>
            <a:endParaRPr/>
          </a:p>
        </p:txBody>
      </p:sp>
      <p:sp>
        <p:nvSpPr>
          <p:cNvPr id="8032" name="Google Shape;8032;p5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</a:t>
            </a:r>
            <a:endParaRPr/>
          </a:p>
        </p:txBody>
      </p:sp>
      <p:sp>
        <p:nvSpPr>
          <p:cNvPr id="8033" name="Google Shape;8033;p5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$1.5M</a:t>
            </a:r>
            <a:endParaRPr/>
          </a:p>
        </p:txBody>
      </p:sp>
      <p:sp>
        <p:nvSpPr>
          <p:cNvPr id="8034" name="Google Shape;8034;p5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$137K</a:t>
            </a:r>
            <a:endParaRPr/>
          </a:p>
        </p:txBody>
      </p:sp>
      <p:sp>
        <p:nvSpPr>
          <p:cNvPr id="8035" name="Google Shape;8035;p5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6" name="Google Shape;8036;p5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037" name="Google Shape;8037;p5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038" name="Google Shape;8038;p5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$136,699 YTD gross written premium</a:t>
            </a:r>
            <a:endParaRPr/>
          </a:p>
        </p:txBody>
      </p:sp>
      <p:sp>
        <p:nvSpPr>
          <p:cNvPr id="8039" name="Google Shape;8039;p5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040" name="Google Shape;8040;p5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$71,205 in renewals - strong retention</a:t>
            </a:r>
            <a:endParaRPr/>
          </a:p>
        </p:txBody>
      </p:sp>
      <p:sp>
        <p:nvSpPr>
          <p:cNvPr id="8041" name="Google Shape;8041;p5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2" name="Google Shape;8042;p5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043" name="Google Shape;8043;p5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044" name="Google Shape;8044;p5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8045" name="Google Shape;8045;p5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046" name="Google Shape;8046;p5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8047" name="Google Shape;8047;p5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8" name="Google Shape;8048;p5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049" name="Google Shape;8049;p5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050" name="Google Shape;8050;p5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Their $71,205 in renewals shows they trust our product. Ask: "What's holding back new submissions?" They may need updated appetite info or a refresher on our quoting process.</a:t>
            </a:r>
            <a:endParaRPr/>
          </a:p>
        </p:txBody>
      </p:sp>
      <p:sp>
        <p:nvSpPr>
          <p:cNvPr id="8051" name="Google Shape;8051;p5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052" name="Google Shape;8052;p5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56" name="Shape 8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7" name="Google Shape;8057;p5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8" name="Google Shape;8058;p5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Tie Insurance Services, Inc.</a:t>
            </a:r>
            <a:endParaRPr/>
          </a:p>
        </p:txBody>
      </p:sp>
      <p:sp>
        <p:nvSpPr>
          <p:cNvPr id="8059" name="Google Shape;8059;p5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Downey</a:t>
            </a:r>
            <a:endParaRPr/>
          </a:p>
        </p:txBody>
      </p:sp>
      <p:sp>
        <p:nvSpPr>
          <p:cNvPr id="8060" name="Google Shape;8060;p5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$129,903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061" name="Google Shape;8061;p5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$129,430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062" name="Google Shape;8062;p5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063" name="Google Shape;8063;p5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064" name="Google Shape;8064;p5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$-58,866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065" name="Google Shape;8065;p5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$630,459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066" name="Google Shape;8066;p5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$434,289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067" name="Google Shape;8067;p5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068" name="Google Shape;8068;p5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069" name="Google Shape;8069;p5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070" name="Google Shape;8070;p5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071" name="Google Shape;8071;p5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072" name="Google Shape;8072;p5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$112,298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073" name="Google Shape;8073;p5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4" name="Google Shape;8074;p5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075" name="Google Shape;8075;p5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076" name="Google Shape;8076;p5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077" name="Google Shape;8077;p5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078" name="Google Shape;8078;p5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079" name="Google Shape;8079;p5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080" name="Google Shape;8080;p5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081" name="Google Shape;8081;p5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2" name="Google Shape;8082;p5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083" name="Google Shape;8083;p5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$64,792</a:t>
            </a:r>
            <a:endParaRPr/>
          </a:p>
        </p:txBody>
      </p:sp>
      <p:sp>
        <p:nvSpPr>
          <p:cNvPr id="8084" name="Google Shape;8084;p5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$64,792</a:t>
            </a:r>
            <a:endParaRPr/>
          </a:p>
        </p:txBody>
      </p:sp>
      <p:sp>
        <p:nvSpPr>
          <p:cNvPr id="8085" name="Google Shape;8085;p5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6" name="Google Shape;8086;p5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7" name="Google Shape;8087;p5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8" name="Google Shape;8088;p5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9" name="Google Shape;8089;p5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090" name="Google Shape;8090;p5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$77,299</a:t>
            </a:r>
            <a:endParaRPr/>
          </a:p>
        </p:txBody>
      </p:sp>
      <p:sp>
        <p:nvSpPr>
          <p:cNvPr id="8091" name="Google Shape;8091;p5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$64,638</a:t>
            </a:r>
            <a:endParaRPr/>
          </a:p>
        </p:txBody>
      </p:sp>
      <p:sp>
        <p:nvSpPr>
          <p:cNvPr id="8092" name="Google Shape;8092;p5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3" name="Google Shape;8093;p5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$12,661</a:t>
            </a:r>
            <a:endParaRPr/>
          </a:p>
        </p:txBody>
      </p:sp>
      <p:sp>
        <p:nvSpPr>
          <p:cNvPr id="8094" name="Google Shape;8094;p5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$-3,153</a:t>
            </a:r>
            <a:endParaRPr/>
          </a:p>
        </p:txBody>
      </p:sp>
      <p:sp>
        <p:nvSpPr>
          <p:cNvPr id="8095" name="Google Shape;8095;p5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6" name="Google Shape;8096;p5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097" name="Google Shape;8097;p5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$-512</a:t>
            </a:r>
            <a:endParaRPr/>
          </a:p>
        </p:txBody>
      </p:sp>
      <p:sp>
        <p:nvSpPr>
          <p:cNvPr id="8098" name="Google Shape;8098;p5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9" name="Google Shape;8099;p5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0" name="Google Shape;8100;p5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$-512</a:t>
            </a:r>
            <a:endParaRPr/>
          </a:p>
        </p:txBody>
      </p:sp>
      <p:sp>
        <p:nvSpPr>
          <p:cNvPr id="8101" name="Google Shape;8101;p5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$-12,471</a:t>
            </a:r>
            <a:endParaRPr/>
          </a:p>
        </p:txBody>
      </p:sp>
      <p:sp>
        <p:nvSpPr>
          <p:cNvPr id="8102" name="Google Shape;8102;p5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3" name="Google Shape;8103;p5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104" name="Google Shape;8104;p5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5" name="Google Shape;8105;p5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6" name="Google Shape;8106;p5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7" name="Google Shape;8107;p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8" name="Google Shape;8108;p5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$-43,241</a:t>
            </a:r>
            <a:endParaRPr/>
          </a:p>
        </p:txBody>
      </p:sp>
      <p:sp>
        <p:nvSpPr>
          <p:cNvPr id="8109" name="Google Shape;8109;p5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0" name="Google Shape;8110;p5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111" name="Google Shape;8111;p5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$-11,676</a:t>
            </a:r>
            <a:endParaRPr/>
          </a:p>
        </p:txBody>
      </p:sp>
      <p:sp>
        <p:nvSpPr>
          <p:cNvPr id="8112" name="Google Shape;8112;p5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3" name="Google Shape;8113;p5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4" name="Google Shape;8114;p5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$-11,676</a:t>
            </a:r>
            <a:endParaRPr/>
          </a:p>
        </p:txBody>
      </p:sp>
      <p:sp>
        <p:nvSpPr>
          <p:cNvPr id="8115" name="Google Shape;8115;p5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6" name="Google Shape;8116;p5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7" name="Google Shape;8117;p5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118" name="Google Shape;8118;p5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$129,903</a:t>
            </a:r>
            <a:endParaRPr/>
          </a:p>
        </p:txBody>
      </p:sp>
      <p:sp>
        <p:nvSpPr>
          <p:cNvPr id="8119" name="Google Shape;8119;p5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$129,430</a:t>
            </a:r>
            <a:endParaRPr/>
          </a:p>
        </p:txBody>
      </p:sp>
      <p:sp>
        <p:nvSpPr>
          <p:cNvPr id="8120" name="Google Shape;8120;p5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1" name="Google Shape;8121;p5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$472</a:t>
            </a:r>
            <a:endParaRPr/>
          </a:p>
        </p:txBody>
      </p:sp>
      <p:sp>
        <p:nvSpPr>
          <p:cNvPr id="8122" name="Google Shape;8122;p5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$-58,866</a:t>
            </a:r>
            <a:endParaRPr/>
          </a:p>
        </p:txBody>
      </p:sp>
      <p:sp>
        <p:nvSpPr>
          <p:cNvPr id="8123" name="Google Shape;8123;p5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4" name="Google Shape;8124;p5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125" name="Google Shape;8125;p5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126" name="Google Shape;8126;p5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127" name="Google Shape;8127;p5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128" name="Google Shape;8128;p5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129" name="Google Shape;8129;p5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130" name="Google Shape;8130;p5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131" name="Google Shape;8131;p5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2" name="Google Shape;8132;p5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133" name="Google Shape;8133;p5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8134" name="Google Shape;8134;p5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135" name="Google Shape;8135;p5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8136" name="Google Shape;8136;p5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37" name="Google Shape;8137;p5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8138" name="Google Shape;8138;p5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9" name="Google Shape;8139;p5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140" name="Google Shape;8140;p5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8141" name="Google Shape;8141;p5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42" name="Google Shape;8142;p5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8143" name="Google Shape;8143;p5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144" name="Google Shape;8144;p5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27.6%</a:t>
            </a:r>
            <a:endParaRPr/>
          </a:p>
        </p:txBody>
      </p:sp>
      <p:sp>
        <p:nvSpPr>
          <p:cNvPr id="8145" name="Google Shape;8145;p5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6" name="Google Shape;8146;p5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147" name="Google Shape;8147;p5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148" name="Google Shape;8148;p5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149" name="Google Shape;8149;p5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8150" name="Google Shape;8150;p5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151" name="Google Shape;8151;p5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21.4%</a:t>
            </a:r>
            <a:endParaRPr/>
          </a:p>
        </p:txBody>
      </p:sp>
      <p:sp>
        <p:nvSpPr>
          <p:cNvPr id="8152" name="Google Shape;8152;p5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3" name="Google Shape;8153;p5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154" name="Google Shape;8154;p5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155" name="Google Shape;8155;p5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56" name="Google Shape;8156;p5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157" name="Google Shape;8157;p5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58" name="Google Shape;8158;p5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8159" name="Google Shape;8159;p5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0" name="Google Shape;8160;p5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161" name="Google Shape;8161;p5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162" name="Google Shape;8162;p5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63" name="Google Shape;8163;p5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164" name="Google Shape;8164;p5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65" name="Google Shape;8165;p5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8166" name="Google Shape;8166;p5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7" name="Google Shape;8167;p5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168" name="Google Shape;8168;p5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8169" name="Google Shape;8169;p5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170" name="Google Shape;8170;p5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8171" name="Google Shape;8171;p5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172" name="Google Shape;8172;p5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7.6%</a:t>
            </a:r>
            <a:endParaRPr/>
          </a:p>
        </p:txBody>
      </p:sp>
      <p:sp>
        <p:nvSpPr>
          <p:cNvPr id="8173" name="Google Shape;8173;p5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4" name="Google Shape;8174;p5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175" name="Google Shape;8175;p5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176" name="Google Shape;8176;p5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177" name="Google Shape;8177;p5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178" name="Google Shape;8178;p5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179" name="Google Shape;8179;p5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180" name="Google Shape;8180;p5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181" name="Google Shape;8181;p5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182" name="Google Shape;8182;p5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183" name="Google Shape;8183;p5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184" name="Google Shape;8184;p5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185" name="Google Shape;8185;p5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186" name="Google Shape;8186;p5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187" name="Google Shape;8187;p5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188" name="Google Shape;8188;p5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189" name="Google Shape;8189;p5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8190" name="Google Shape;8190;p5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8191" name="Google Shape;8191;p5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192" name="Google Shape;8192;p5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8193" name="Google Shape;8193;p5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194" name="Google Shape;8194;p5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195" name="Google Shape;8195;p5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8196" name="Google Shape;8196;p5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197" name="Google Shape;8197;p5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8198" name="Google Shape;8198;p5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199" name="Google Shape;8199;p5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125</a:t>
            </a:r>
            <a:endParaRPr/>
          </a:p>
        </p:txBody>
      </p:sp>
      <p:sp>
        <p:nvSpPr>
          <p:cNvPr id="8200" name="Google Shape;8200;p5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</p:txBody>
      </p:sp>
      <p:sp>
        <p:nvSpPr>
          <p:cNvPr id="8201" name="Google Shape;8201;p5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202" name="Google Shape;8202;p5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$119K</a:t>
            </a:r>
            <a:endParaRPr/>
          </a:p>
        </p:txBody>
      </p:sp>
      <p:sp>
        <p:nvSpPr>
          <p:cNvPr id="8203" name="Google Shape;8203;p5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$65K</a:t>
            </a:r>
            <a:endParaRPr/>
          </a:p>
        </p:txBody>
      </p:sp>
      <p:sp>
        <p:nvSpPr>
          <p:cNvPr id="8204" name="Google Shape;8204;p5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8205" name="Google Shape;8205;p5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$77K</a:t>
            </a:r>
            <a:endParaRPr/>
          </a:p>
        </p:txBody>
      </p:sp>
      <p:sp>
        <p:nvSpPr>
          <p:cNvPr id="8206" name="Google Shape;8206;p5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7" name="Google Shape;8207;p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$-512</a:t>
            </a:r>
            <a:endParaRPr/>
          </a:p>
        </p:txBody>
      </p:sp>
      <p:sp>
        <p:nvSpPr>
          <p:cNvPr id="8208" name="Google Shape;8208;p5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$136K</a:t>
            </a:r>
            <a:endParaRPr/>
          </a:p>
        </p:txBody>
      </p:sp>
      <p:sp>
        <p:nvSpPr>
          <p:cNvPr id="8209" name="Google Shape;8209;p5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10" name="Google Shape;8210;p5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8211" name="Google Shape;8211;p5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$-11,676</a:t>
            </a:r>
            <a:endParaRPr/>
          </a:p>
        </p:txBody>
      </p:sp>
      <p:sp>
        <p:nvSpPr>
          <p:cNvPr id="8212" name="Google Shape;8212;p5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$326K</a:t>
            </a:r>
            <a:endParaRPr/>
          </a:p>
        </p:txBody>
      </p:sp>
      <p:sp>
        <p:nvSpPr>
          <p:cNvPr id="8213" name="Google Shape;8213;p5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$130K</a:t>
            </a:r>
            <a:endParaRPr/>
          </a:p>
        </p:txBody>
      </p:sp>
      <p:sp>
        <p:nvSpPr>
          <p:cNvPr id="8214" name="Google Shape;8214;p5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5" name="Google Shape;8215;p5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216" name="Google Shape;8216;p5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217" name="Google Shape;8217;p5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$129,903 YTD gross written premium</a:t>
            </a:r>
            <a:endParaRPr/>
          </a:p>
        </p:txBody>
      </p:sp>
      <p:sp>
        <p:nvSpPr>
          <p:cNvPr id="8218" name="Google Shape;8218;p5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219" name="Google Shape;8219;p5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$129,430 in new business production</a:t>
            </a:r>
            <a:endParaRPr/>
          </a:p>
        </p:txBody>
      </p:sp>
      <p:sp>
        <p:nvSpPr>
          <p:cNvPr id="8220" name="Google Shape;8220;p5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1" name="Google Shape;8221;p5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222" name="Google Shape;8222;p5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223" name="Google Shape;8223;p5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45% of new business ($58,866)</a:t>
            </a:r>
            <a:endParaRPr/>
          </a:p>
        </p:txBody>
      </p:sp>
      <p:sp>
        <p:nvSpPr>
          <p:cNvPr id="8224" name="Google Shape;8224;p5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5" name="Google Shape;8225;p5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226" name="Google Shape;8226;p5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227" name="Google Shape;8227;p5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$129,430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8228" name="Google Shape;8228;p5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229" name="Google Shape;8229;p5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$58,866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33" name="Shape 8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4" name="Google Shape;8234;p5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5" name="Google Shape;8235;p5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Ways Insurance Services Inc.</a:t>
            </a:r>
            <a:endParaRPr/>
          </a:p>
        </p:txBody>
      </p:sp>
      <p:sp>
        <p:nvSpPr>
          <p:cNvPr id="8236" name="Google Shape;8236;p5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Camarillo</a:t>
            </a:r>
            <a:endParaRPr/>
          </a:p>
        </p:txBody>
      </p:sp>
      <p:sp>
        <p:nvSpPr>
          <p:cNvPr id="8237" name="Google Shape;8237;p5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$123,479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238" name="Google Shape;8238;p5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239" name="Google Shape;8239;p5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240" name="Google Shape;8240;p5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$104,807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241" name="Google Shape;8241;p5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$-102,483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242" name="Google Shape;8242;p5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$599,280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243" name="Google Shape;8243;p5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$587,917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244" name="Google Shape;8244;p5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245" name="Google Shape;8245;p5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246" name="Google Shape;8246;p5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247" name="Google Shape;8247;p5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248" name="Google Shape;8248;p5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$32,737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249" name="Google Shape;8249;p5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$113,658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250" name="Google Shape;8250;p5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1" name="Google Shape;8251;p5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252" name="Google Shape;8252;p5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253" name="Google Shape;8253;p5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254" name="Google Shape;8254;p5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255" name="Google Shape;8255;p5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256" name="Google Shape;8256;p5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257" name="Google Shape;8257;p5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258" name="Google Shape;8258;p5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9" name="Google Shape;8259;p5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260" name="Google Shape;8260;p5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$3,167</a:t>
            </a:r>
            <a:endParaRPr/>
          </a:p>
        </p:txBody>
      </p:sp>
      <p:sp>
        <p:nvSpPr>
          <p:cNvPr id="8261" name="Google Shape;8261;p5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2" name="Google Shape;8262;p5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3" name="Google Shape;8263;p5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$3,167</a:t>
            </a:r>
            <a:endParaRPr/>
          </a:p>
        </p:txBody>
      </p:sp>
      <p:sp>
        <p:nvSpPr>
          <p:cNvPr id="8264" name="Google Shape;8264;p5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$-2,613</a:t>
            </a:r>
            <a:endParaRPr/>
          </a:p>
        </p:txBody>
      </p:sp>
      <p:sp>
        <p:nvSpPr>
          <p:cNvPr id="8265" name="Google Shape;8265;p5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6" name="Google Shape;8266;p5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267" name="Google Shape;8267;p5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$985</a:t>
            </a:r>
            <a:endParaRPr/>
          </a:p>
        </p:txBody>
      </p:sp>
      <p:sp>
        <p:nvSpPr>
          <p:cNvPr id="8268" name="Google Shape;8268;p5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9" name="Google Shape;8269;p5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0" name="Google Shape;8270;p5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$985</a:t>
            </a:r>
            <a:endParaRPr/>
          </a:p>
        </p:txBody>
      </p:sp>
      <p:sp>
        <p:nvSpPr>
          <p:cNvPr id="8271" name="Google Shape;8271;p5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2" name="Google Shape;8272;p5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3" name="Google Shape;8273;p5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274" name="Google Shape;8274;p5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$61,298</a:t>
            </a:r>
            <a:endParaRPr/>
          </a:p>
        </p:txBody>
      </p:sp>
      <p:sp>
        <p:nvSpPr>
          <p:cNvPr id="8275" name="Google Shape;8275;p5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6" name="Google Shape;8276;p5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7" name="Google Shape;8277;p5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$61,298</a:t>
            </a:r>
            <a:endParaRPr/>
          </a:p>
        </p:txBody>
      </p:sp>
      <p:sp>
        <p:nvSpPr>
          <p:cNvPr id="8278" name="Google Shape;8278;p5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$-61,231</a:t>
            </a:r>
            <a:endParaRPr/>
          </a:p>
        </p:txBody>
      </p:sp>
      <p:sp>
        <p:nvSpPr>
          <p:cNvPr id="8279" name="Google Shape;8279;p5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0" name="Google Shape;8280;p5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281" name="Google Shape;8281;p5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$58,050</a:t>
            </a:r>
            <a:endParaRPr/>
          </a:p>
        </p:txBody>
      </p:sp>
      <p:sp>
        <p:nvSpPr>
          <p:cNvPr id="8282" name="Google Shape;8282;p5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3" name="Google Shape;8283;p5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$18,671</a:t>
            </a:r>
            <a:endParaRPr/>
          </a:p>
        </p:txBody>
      </p:sp>
      <p:sp>
        <p:nvSpPr>
          <p:cNvPr id="8284" name="Google Shape;8284;p5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$39,379</a:t>
            </a:r>
            <a:endParaRPr/>
          </a:p>
        </p:txBody>
      </p:sp>
      <p:sp>
        <p:nvSpPr>
          <p:cNvPr id="8285" name="Google Shape;8285;p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$-38,640</a:t>
            </a:r>
            <a:endParaRPr/>
          </a:p>
        </p:txBody>
      </p:sp>
      <p:sp>
        <p:nvSpPr>
          <p:cNvPr id="8286" name="Google Shape;8286;p5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7" name="Google Shape;8287;p5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288" name="Google Shape;8288;p5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</a:t>
            </a:r>
            <a:endParaRPr/>
          </a:p>
        </p:txBody>
      </p:sp>
      <p:sp>
        <p:nvSpPr>
          <p:cNvPr id="8289" name="Google Shape;8289;p5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0" name="Google Shape;8290;p5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1" name="Google Shape;8291;p5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</a:t>
            </a:r>
            <a:endParaRPr/>
          </a:p>
        </p:txBody>
      </p:sp>
      <p:sp>
        <p:nvSpPr>
          <p:cNvPr id="8292" name="Google Shape;8292;p5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3" name="Google Shape;8293;p5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4" name="Google Shape;8294;p5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295" name="Google Shape;8295;p5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$123,479</a:t>
            </a:r>
            <a:endParaRPr/>
          </a:p>
        </p:txBody>
      </p:sp>
      <p:sp>
        <p:nvSpPr>
          <p:cNvPr id="8296" name="Google Shape;8296;p5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7" name="Google Shape;8297;p5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$18,671</a:t>
            </a:r>
            <a:endParaRPr/>
          </a:p>
        </p:txBody>
      </p:sp>
      <p:sp>
        <p:nvSpPr>
          <p:cNvPr id="8298" name="Google Shape;8298;p5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$104,807</a:t>
            </a:r>
            <a:endParaRPr/>
          </a:p>
        </p:txBody>
      </p:sp>
      <p:sp>
        <p:nvSpPr>
          <p:cNvPr id="8299" name="Google Shape;8299;p5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$-102,483</a:t>
            </a:r>
            <a:endParaRPr/>
          </a:p>
        </p:txBody>
      </p:sp>
      <p:sp>
        <p:nvSpPr>
          <p:cNvPr id="8300" name="Google Shape;8300;p5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1" name="Google Shape;8301;p5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302" name="Google Shape;8302;p5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303" name="Google Shape;8303;p5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304" name="Google Shape;8304;p5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305" name="Google Shape;8305;p5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306" name="Google Shape;8306;p5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307" name="Google Shape;8307;p5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308" name="Google Shape;8308;p5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9" name="Google Shape;8309;p5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310" name="Google Shape;8310;p5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311" name="Google Shape;8311;p5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12" name="Google Shape;8312;p5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313" name="Google Shape;8313;p5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14" name="Google Shape;8314;p5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8315" name="Google Shape;8315;p5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6" name="Google Shape;8316;p5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317" name="Google Shape;8317;p5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318" name="Google Shape;8318;p5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19" name="Google Shape;8319;p5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20" name="Google Shape;8320;p5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21" name="Google Shape;8321;p5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8322" name="Google Shape;8322;p5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3" name="Google Shape;8323;p5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324" name="Google Shape;8324;p5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25" name="Google Shape;8325;p5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26" name="Google Shape;8326;p5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27" name="Google Shape;8327;p5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28" name="Google Shape;8328;p5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8329" name="Google Shape;8329;p5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0" name="Google Shape;8330;p5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331" name="Google Shape;8331;p5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332" name="Google Shape;8332;p5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33" name="Google Shape;8333;p5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334" name="Google Shape;8334;p5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35" name="Google Shape;8335;p5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8336" name="Google Shape;8336;p5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7" name="Google Shape;8337;p5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338" name="Google Shape;8338;p5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39" name="Google Shape;8339;p5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340" name="Google Shape;8340;p5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41" name="Google Shape;8341;p5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42" name="Google Shape;8342;p5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8343" name="Google Shape;8343;p5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4" name="Google Shape;8344;p5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345" name="Google Shape;8345;p5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8346" name="Google Shape;8346;p5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347" name="Google Shape;8347;p5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348" name="Google Shape;8348;p5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49" name="Google Shape;8349;p5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16.0%</a:t>
            </a:r>
            <a:endParaRPr/>
          </a:p>
        </p:txBody>
      </p:sp>
      <p:sp>
        <p:nvSpPr>
          <p:cNvPr id="8350" name="Google Shape;8350;p5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1" name="Google Shape;8351;p5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352" name="Google Shape;8352;p5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353" name="Google Shape;8353;p5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354" name="Google Shape;8354;p5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355" name="Google Shape;8355;p5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356" name="Google Shape;8356;p5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357" name="Google Shape;8357;p5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358" name="Google Shape;8358;p5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359" name="Google Shape;8359;p5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360" name="Google Shape;8360;p5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361" name="Google Shape;8361;p5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362" name="Google Shape;8362;p5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363" name="Google Shape;8363;p5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364" name="Google Shape;8364;p5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365" name="Google Shape;8365;p5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366" name="Google Shape;8366;p5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8367" name="Google Shape;8367;p5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368" name="Google Shape;8368;p5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369" name="Google Shape;8369;p5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370" name="Google Shape;8370;p5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8371" name="Google Shape;8371;p5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72" name="Google Shape;8372;p5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8373" name="Google Shape;8373;p5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374" name="Google Shape;8374;p5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8375" name="Google Shape;8375;p5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76" name="Google Shape;8376;p5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113</a:t>
            </a:r>
            <a:endParaRPr/>
          </a:p>
        </p:txBody>
      </p:sp>
      <p:sp>
        <p:nvSpPr>
          <p:cNvPr id="8377" name="Google Shape;8377;p5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8378" name="Google Shape;8378;p5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379" name="Google Shape;8379;p5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$-5,827</a:t>
            </a:r>
            <a:endParaRPr/>
          </a:p>
        </p:txBody>
      </p:sp>
      <p:sp>
        <p:nvSpPr>
          <p:cNvPr id="8380" name="Google Shape;8380;p5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8381" name="Google Shape;8381;p5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8382" name="Google Shape;8382;p5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$985</a:t>
            </a:r>
            <a:endParaRPr/>
          </a:p>
        </p:txBody>
      </p:sp>
      <p:sp>
        <p:nvSpPr>
          <p:cNvPr id="8383" name="Google Shape;8383;p5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8384" name="Google Shape;8384;p5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8385" name="Google Shape;8385;p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8386" name="Google Shape;8386;p5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8387" name="Google Shape;8387;p5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$74K</a:t>
            </a:r>
            <a:endParaRPr/>
          </a:p>
        </p:txBody>
      </p:sp>
      <p:sp>
        <p:nvSpPr>
          <p:cNvPr id="8388" name="Google Shape;8388;p5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</a:t>
            </a:r>
            <a:endParaRPr/>
          </a:p>
        </p:txBody>
      </p:sp>
      <p:sp>
        <p:nvSpPr>
          <p:cNvPr id="8389" name="Google Shape;8389;p5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$135K</a:t>
            </a:r>
            <a:endParaRPr/>
          </a:p>
        </p:txBody>
      </p:sp>
      <p:sp>
        <p:nvSpPr>
          <p:cNvPr id="8390" name="Google Shape;8390;p5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$123K</a:t>
            </a:r>
            <a:endParaRPr/>
          </a:p>
        </p:txBody>
      </p:sp>
      <p:sp>
        <p:nvSpPr>
          <p:cNvPr id="8391" name="Google Shape;8391;p5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2" name="Google Shape;8392;p5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393" name="Google Shape;8393;p5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394" name="Google Shape;8394;p5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$123,479 YTD gross written premium</a:t>
            </a:r>
            <a:endParaRPr/>
          </a:p>
        </p:txBody>
      </p:sp>
      <p:sp>
        <p:nvSpPr>
          <p:cNvPr id="8395" name="Google Shape;8395;p5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396" name="Google Shape;8396;p5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$18,671 in renewals - strong retention</a:t>
            </a:r>
            <a:endParaRPr/>
          </a:p>
        </p:txBody>
      </p:sp>
      <p:sp>
        <p:nvSpPr>
          <p:cNvPr id="8397" name="Google Shape;8397;p5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8" name="Google Shape;8398;p5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399" name="Google Shape;8399;p5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400" name="Google Shape;8400;p5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8401" name="Google Shape;8401;p5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402" name="Google Shape;8402;p5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8403" name="Google Shape;8403;p5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4" name="Google Shape;8404;p5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405" name="Google Shape;8405;p5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406" name="Google Shape;8406;p5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10" name="Shape 8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1" name="Google Shape;8411;p5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2" name="Google Shape;8412;p5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California Heritage Insurance Services</a:t>
            </a:r>
            <a:endParaRPr/>
          </a:p>
        </p:txBody>
      </p:sp>
      <p:sp>
        <p:nvSpPr>
          <p:cNvPr id="8413" name="Google Shape;8413;p5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California  |  City: Arroyo Grande</a:t>
            </a:r>
            <a:endParaRPr/>
          </a:p>
        </p:txBody>
      </p:sp>
      <p:sp>
        <p:nvSpPr>
          <p:cNvPr id="8414" name="Google Shape;8414;p5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$115,862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415" name="Google Shape;8415;p5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$57,091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16" name="Google Shape;8416;p5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17" name="Google Shape;8417;p5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$42,487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18" name="Google Shape;8418;p5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$-76,921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19" name="Google Shape;8419;p5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$1,016,247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420" name="Google Shape;8420;p5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$694,574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421" name="Google Shape;8421;p5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422" name="Google Shape;8422;p5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423" name="Google Shape;8423;p5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424" name="Google Shape;8424;p5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425" name="Google Shape;8425;p5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$217,287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426" name="Google Shape;8426;p5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$35,896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427" name="Google Shape;8427;p5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8" name="Google Shape;8428;p5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429" name="Google Shape;8429;p5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430" name="Google Shape;8430;p5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431" name="Google Shape;8431;p5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32" name="Google Shape;8432;p5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33" name="Google Shape;8433;p5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34" name="Google Shape;8434;p5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35" name="Google Shape;8435;p5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6" name="Google Shape;8436;p5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437" name="Google Shape;8437;p5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$20,063</a:t>
            </a:r>
            <a:endParaRPr/>
          </a:p>
        </p:txBody>
      </p:sp>
      <p:sp>
        <p:nvSpPr>
          <p:cNvPr id="8438" name="Google Shape;8438;p5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$20,489</a:t>
            </a:r>
            <a:endParaRPr/>
          </a:p>
        </p:txBody>
      </p:sp>
      <p:sp>
        <p:nvSpPr>
          <p:cNvPr id="8439" name="Google Shape;8439;p5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0" name="Google Shape;8440;p5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$-426</a:t>
            </a:r>
            <a:endParaRPr/>
          </a:p>
        </p:txBody>
      </p:sp>
      <p:sp>
        <p:nvSpPr>
          <p:cNvPr id="8441" name="Google Shape;8441;p5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$-24,781</a:t>
            </a:r>
            <a:endParaRPr/>
          </a:p>
        </p:txBody>
      </p:sp>
      <p:sp>
        <p:nvSpPr>
          <p:cNvPr id="8442" name="Google Shape;8442;p5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3" name="Google Shape;8443;p5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444" name="Google Shape;8444;p5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$12,825</a:t>
            </a:r>
            <a:endParaRPr/>
          </a:p>
        </p:txBody>
      </p:sp>
      <p:sp>
        <p:nvSpPr>
          <p:cNvPr id="8445" name="Google Shape;8445;p5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6" name="Google Shape;8446;p5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7" name="Google Shape;8447;p5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$12,825</a:t>
            </a:r>
            <a:endParaRPr/>
          </a:p>
        </p:txBody>
      </p:sp>
      <p:sp>
        <p:nvSpPr>
          <p:cNvPr id="8448" name="Google Shape;8448;p5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9" name="Google Shape;8449;p5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0" name="Google Shape;8450;p5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451" name="Google Shape;8451;p5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$36,110</a:t>
            </a:r>
            <a:endParaRPr/>
          </a:p>
        </p:txBody>
      </p:sp>
      <p:sp>
        <p:nvSpPr>
          <p:cNvPr id="8452" name="Google Shape;8452;p5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3" name="Google Shape;8453;p5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$15,734</a:t>
            </a:r>
            <a:endParaRPr/>
          </a:p>
        </p:txBody>
      </p:sp>
      <p:sp>
        <p:nvSpPr>
          <p:cNvPr id="8454" name="Google Shape;8454;p5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$20,376</a:t>
            </a:r>
            <a:endParaRPr/>
          </a:p>
        </p:txBody>
      </p:sp>
      <p:sp>
        <p:nvSpPr>
          <p:cNvPr id="8455" name="Google Shape;8455;p5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$-9,454</a:t>
            </a:r>
            <a:endParaRPr/>
          </a:p>
        </p:txBody>
      </p:sp>
      <p:sp>
        <p:nvSpPr>
          <p:cNvPr id="8456" name="Google Shape;8456;p5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7" name="Google Shape;8457;p5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458" name="Google Shape;8458;p5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$5,493</a:t>
            </a:r>
            <a:endParaRPr/>
          </a:p>
        </p:txBody>
      </p:sp>
      <p:sp>
        <p:nvSpPr>
          <p:cNvPr id="8459" name="Google Shape;8459;p5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0" name="Google Shape;8460;p5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1" name="Google Shape;8461;p5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$5,493</a:t>
            </a:r>
            <a:endParaRPr/>
          </a:p>
        </p:txBody>
      </p:sp>
      <p:sp>
        <p:nvSpPr>
          <p:cNvPr id="8462" name="Google Shape;8462;p5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$-42,686</a:t>
            </a:r>
            <a:endParaRPr/>
          </a:p>
        </p:txBody>
      </p:sp>
      <p:sp>
        <p:nvSpPr>
          <p:cNvPr id="8463" name="Google Shape;8463;p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4" name="Google Shape;8464;p5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465" name="Google Shape;8465;p5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$41,371</a:t>
            </a:r>
            <a:endParaRPr/>
          </a:p>
        </p:txBody>
      </p:sp>
      <p:sp>
        <p:nvSpPr>
          <p:cNvPr id="8466" name="Google Shape;8466;p5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$36,602</a:t>
            </a:r>
            <a:endParaRPr/>
          </a:p>
        </p:txBody>
      </p:sp>
      <p:sp>
        <p:nvSpPr>
          <p:cNvPr id="8467" name="Google Shape;8467;p5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8468" name="Google Shape;8468;p5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$4,219</a:t>
            </a:r>
            <a:endParaRPr/>
          </a:p>
        </p:txBody>
      </p:sp>
      <p:sp>
        <p:nvSpPr>
          <p:cNvPr id="8469" name="Google Shape;8469;p5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0" name="Google Shape;8470;p5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1" name="Google Shape;8471;p5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472" name="Google Shape;8472;p5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$115,862</a:t>
            </a:r>
            <a:endParaRPr/>
          </a:p>
        </p:txBody>
      </p:sp>
      <p:sp>
        <p:nvSpPr>
          <p:cNvPr id="8473" name="Google Shape;8473;p5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$57,091</a:t>
            </a:r>
            <a:endParaRPr/>
          </a:p>
        </p:txBody>
      </p:sp>
      <p:sp>
        <p:nvSpPr>
          <p:cNvPr id="8474" name="Google Shape;8474;p5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$16,284</a:t>
            </a:r>
            <a:endParaRPr/>
          </a:p>
        </p:txBody>
      </p:sp>
      <p:sp>
        <p:nvSpPr>
          <p:cNvPr id="8475" name="Google Shape;8475;p5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$42,487</a:t>
            </a:r>
            <a:endParaRPr/>
          </a:p>
        </p:txBody>
      </p:sp>
      <p:sp>
        <p:nvSpPr>
          <p:cNvPr id="8476" name="Google Shape;8476;p5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$-76,921</a:t>
            </a:r>
            <a:endParaRPr/>
          </a:p>
        </p:txBody>
      </p:sp>
      <p:sp>
        <p:nvSpPr>
          <p:cNvPr id="8477" name="Google Shape;8477;p5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8" name="Google Shape;8478;p5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479" name="Google Shape;8479;p5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480" name="Google Shape;8480;p5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481" name="Google Shape;8481;p5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482" name="Google Shape;8482;p5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483" name="Google Shape;8483;p5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484" name="Google Shape;8484;p5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485" name="Google Shape;8485;p5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6" name="Google Shape;8486;p5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487" name="Google Shape;8487;p5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8488" name="Google Shape;8488;p5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489" name="Google Shape;8489;p5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8490" name="Google Shape;8490;p5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491" name="Google Shape;8491;p5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8492" name="Google Shape;8492;p5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3" name="Google Shape;8493;p5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494" name="Google Shape;8494;p5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495" name="Google Shape;8495;p5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496" name="Google Shape;8496;p5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497" name="Google Shape;8497;p5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498" name="Google Shape;8498;p5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15.0%</a:t>
            </a:r>
            <a:endParaRPr/>
          </a:p>
        </p:txBody>
      </p:sp>
      <p:sp>
        <p:nvSpPr>
          <p:cNvPr id="8499" name="Google Shape;8499;p5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0" name="Google Shape;8500;p5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501" name="Google Shape;8501;p5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502" name="Google Shape;8502;p5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03" name="Google Shape;8503;p5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504" name="Google Shape;8504;p5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505" name="Google Shape;8505;p5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38.5%</a:t>
            </a:r>
            <a:endParaRPr/>
          </a:p>
        </p:txBody>
      </p:sp>
      <p:sp>
        <p:nvSpPr>
          <p:cNvPr id="8506" name="Google Shape;8506;p5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7" name="Google Shape;8507;p5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508" name="Google Shape;8508;p5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509" name="Google Shape;8509;p5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10" name="Google Shape;8510;p5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511" name="Google Shape;8511;p5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12" name="Google Shape;8512;p5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8513" name="Google Shape;8513;p5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4" name="Google Shape;8514;p5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515" name="Google Shape;8515;p5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516" name="Google Shape;8516;p5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17" name="Google Shape;8517;p5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518" name="Google Shape;8518;p5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19" name="Google Shape;8519;p5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8520" name="Google Shape;8520;p5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1" name="Google Shape;8521;p5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522" name="Google Shape;8522;p5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</a:t>
            </a:r>
            <a:endParaRPr/>
          </a:p>
        </p:txBody>
      </p:sp>
      <p:sp>
        <p:nvSpPr>
          <p:cNvPr id="8523" name="Google Shape;8523;p5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524" name="Google Shape;8524;p5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8525" name="Google Shape;8525;p5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526" name="Google Shape;8526;p5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8527" name="Google Shape;8527;p5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8" name="Google Shape;8528;p5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529" name="Google Shape;8529;p5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530" name="Google Shape;8530;p5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531" name="Google Shape;8531;p5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532" name="Google Shape;8532;p5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533" name="Google Shape;8533;p5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534" name="Google Shape;8534;p5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535" name="Google Shape;8535;p5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536" name="Google Shape;8536;p5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537" name="Google Shape;8537;p5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538" name="Google Shape;8538;p5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539" name="Google Shape;8539;p5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540" name="Google Shape;8540;p5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541" name="Google Shape;8541;p5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542" name="Google Shape;8542;p5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543" name="Google Shape;8543;p5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8544" name="Google Shape;8544;p5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8545" name="Google Shape;8545;p5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8546" name="Google Shape;8546;p5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547" name="Google Shape;8547;p5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8548" name="Google Shape;8548;p5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549" name="Google Shape;8549;p5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8550" name="Google Shape;8550;p5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551" name="Google Shape;8551;p5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8552" name="Google Shape;8552;p5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553" name="Google Shape;8553;p5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</p:txBody>
      </p:sp>
      <p:sp>
        <p:nvSpPr>
          <p:cNvPr id="8554" name="Google Shape;8554;p5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</a:t>
            </a:r>
            <a:endParaRPr/>
          </a:p>
        </p:txBody>
      </p:sp>
      <p:sp>
        <p:nvSpPr>
          <p:cNvPr id="8555" name="Google Shape;8555;p5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556" name="Google Shape;8556;p5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8557" name="Google Shape;8557;p5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8558" name="Google Shape;8558;p5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8559" name="Google Shape;8559;p5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8560" name="Google Shape;8560;p5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$198K</a:t>
            </a:r>
            <a:endParaRPr/>
          </a:p>
        </p:txBody>
      </p:sp>
      <p:sp>
        <p:nvSpPr>
          <p:cNvPr id="8561" name="Google Shape;8561;p5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8562" name="Google Shape;8562;p5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$146K</a:t>
            </a:r>
            <a:endParaRPr/>
          </a:p>
        </p:txBody>
      </p:sp>
      <p:sp>
        <p:nvSpPr>
          <p:cNvPr id="8563" name="Google Shape;8563;p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8564" name="Google Shape;8564;p5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$53K</a:t>
            </a:r>
            <a:endParaRPr/>
          </a:p>
        </p:txBody>
      </p:sp>
      <p:sp>
        <p:nvSpPr>
          <p:cNvPr id="8565" name="Google Shape;8565;p5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8566" name="Google Shape;8566;p5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$438K</a:t>
            </a:r>
            <a:endParaRPr/>
          </a:p>
        </p:txBody>
      </p:sp>
      <p:sp>
        <p:nvSpPr>
          <p:cNvPr id="8567" name="Google Shape;8567;p5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$116K</a:t>
            </a:r>
            <a:endParaRPr/>
          </a:p>
        </p:txBody>
      </p:sp>
      <p:sp>
        <p:nvSpPr>
          <p:cNvPr id="8568" name="Google Shape;8568;p5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9" name="Google Shape;8569;p5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570" name="Google Shape;8570;p5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571" name="Google Shape;8571;p5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$115,862 YTD gross written premium</a:t>
            </a:r>
            <a:endParaRPr/>
          </a:p>
        </p:txBody>
      </p:sp>
      <p:sp>
        <p:nvSpPr>
          <p:cNvPr id="8572" name="Google Shape;8572;p5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573" name="Google Shape;8573;p5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$57,091 in new business production</a:t>
            </a:r>
            <a:endParaRPr/>
          </a:p>
        </p:txBody>
      </p:sp>
      <p:sp>
        <p:nvSpPr>
          <p:cNvPr id="8574" name="Google Shape;8574;p5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5" name="Google Shape;8575;p5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576" name="Google Shape;8576;p5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577" name="Google Shape;8577;p5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135% of new business ($76,921)</a:t>
            </a:r>
            <a:endParaRPr/>
          </a:p>
        </p:txBody>
      </p:sp>
      <p:sp>
        <p:nvSpPr>
          <p:cNvPr id="8578" name="Google Shape;8578;p5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9" name="Google Shape;8579;p5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580" name="Google Shape;8580;p5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581" name="Google Shape;8581;p5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$57,091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8582" name="Google Shape;8582;p5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583" name="Google Shape;8583;p5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$76,921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87" name="Shape 8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8" name="Google Shape;8588;p5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9" name="Google Shape;8589;p5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Jaikar Insurance Services Inc.</a:t>
            </a:r>
            <a:endParaRPr/>
          </a:p>
        </p:txBody>
      </p:sp>
      <p:sp>
        <p:nvSpPr>
          <p:cNvPr id="8590" name="Google Shape;8590;p5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Corona</a:t>
            </a:r>
            <a:endParaRPr/>
          </a:p>
        </p:txBody>
      </p:sp>
      <p:sp>
        <p:nvSpPr>
          <p:cNvPr id="8591" name="Google Shape;8591;p5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$98,460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592" name="Google Shape;8592;p5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593" name="Google Shape;8593;p5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594" name="Google Shape;8594;p5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$16,785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595" name="Google Shape;8595;p5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$-31,706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596" name="Google Shape;8596;p5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$805,169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597" name="Google Shape;8597;p5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$434,654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598" name="Google Shape;8598;p5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599" name="Google Shape;8599;p5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600" name="Google Shape;8600;p5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601" name="Google Shape;8601;p5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602" name="Google Shape;8602;p5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603" name="Google Shape;8603;p5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$111,901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604" name="Google Shape;8604;p5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5" name="Google Shape;8605;p5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606" name="Google Shape;8606;p5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607" name="Google Shape;8607;p5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608" name="Google Shape;8608;p5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609" name="Google Shape;8609;p5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610" name="Google Shape;8610;p5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611" name="Google Shape;8611;p5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612" name="Google Shape;8612;p5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3" name="Google Shape;8613;p5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614" name="Google Shape;8614;p5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$16,012</a:t>
            </a:r>
            <a:endParaRPr/>
          </a:p>
        </p:txBody>
      </p:sp>
      <p:sp>
        <p:nvSpPr>
          <p:cNvPr id="8615" name="Google Shape;8615;p5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6" name="Google Shape;8616;p5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7" name="Google Shape;8617;p5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$16,012</a:t>
            </a:r>
            <a:endParaRPr/>
          </a:p>
        </p:txBody>
      </p:sp>
      <p:sp>
        <p:nvSpPr>
          <p:cNvPr id="8618" name="Google Shape;8618;p5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$-30,169</a:t>
            </a:r>
            <a:endParaRPr/>
          </a:p>
        </p:txBody>
      </p:sp>
      <p:sp>
        <p:nvSpPr>
          <p:cNvPr id="8619" name="Google Shape;8619;p5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0" name="Google Shape;8620;p5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621" name="Google Shape;8621;p5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$57,824</a:t>
            </a:r>
            <a:endParaRPr/>
          </a:p>
        </p:txBody>
      </p:sp>
      <p:sp>
        <p:nvSpPr>
          <p:cNvPr id="8622" name="Google Shape;8622;p5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$38,741</a:t>
            </a:r>
            <a:endParaRPr/>
          </a:p>
        </p:txBody>
      </p:sp>
      <p:sp>
        <p:nvSpPr>
          <p:cNvPr id="8623" name="Google Shape;8623;p5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$18,924</a:t>
            </a:r>
            <a:endParaRPr/>
          </a:p>
        </p:txBody>
      </p:sp>
      <p:sp>
        <p:nvSpPr>
          <p:cNvPr id="8624" name="Google Shape;8624;p5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</a:t>
            </a:r>
            <a:endParaRPr/>
          </a:p>
        </p:txBody>
      </p:sp>
      <p:sp>
        <p:nvSpPr>
          <p:cNvPr id="8625" name="Google Shape;8625;p5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6" name="Google Shape;8626;p5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7" name="Google Shape;8627;p5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628" name="Google Shape;8628;p5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$1,786</a:t>
            </a:r>
            <a:endParaRPr/>
          </a:p>
        </p:txBody>
      </p:sp>
      <p:sp>
        <p:nvSpPr>
          <p:cNvPr id="8629" name="Google Shape;8629;p5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0" name="Google Shape;8630;p5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1" name="Google Shape;8631;p5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$1,786</a:t>
            </a:r>
            <a:endParaRPr/>
          </a:p>
        </p:txBody>
      </p:sp>
      <p:sp>
        <p:nvSpPr>
          <p:cNvPr id="8632" name="Google Shape;8632;p5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$-1,537</a:t>
            </a:r>
            <a:endParaRPr/>
          </a:p>
        </p:txBody>
      </p:sp>
      <p:sp>
        <p:nvSpPr>
          <p:cNvPr id="8633" name="Google Shape;8633;p5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4" name="Google Shape;8634;p5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635" name="Google Shape;8635;p5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$24,009</a:t>
            </a:r>
            <a:endParaRPr/>
          </a:p>
        </p:txBody>
      </p:sp>
      <p:sp>
        <p:nvSpPr>
          <p:cNvPr id="8636" name="Google Shape;8636;p5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7" name="Google Shape;8637;p5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$24,009</a:t>
            </a:r>
            <a:endParaRPr/>
          </a:p>
        </p:txBody>
      </p:sp>
      <p:sp>
        <p:nvSpPr>
          <p:cNvPr id="8638" name="Google Shape;8638;p5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9" name="Google Shape;8639;p5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0" name="Google Shape;8640;p5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1" name="Google Shape;8641;p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642" name="Google Shape;8642;p5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$-1,172</a:t>
            </a:r>
            <a:endParaRPr/>
          </a:p>
        </p:txBody>
      </p:sp>
      <p:sp>
        <p:nvSpPr>
          <p:cNvPr id="8643" name="Google Shape;8643;p5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4" name="Google Shape;8644;p5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5" name="Google Shape;8645;p5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$-1,172</a:t>
            </a:r>
            <a:endParaRPr/>
          </a:p>
        </p:txBody>
      </p:sp>
      <p:sp>
        <p:nvSpPr>
          <p:cNvPr id="8646" name="Google Shape;8646;p5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7" name="Google Shape;8647;p5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8" name="Google Shape;8648;p5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649" name="Google Shape;8649;p5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$98,460</a:t>
            </a:r>
            <a:endParaRPr/>
          </a:p>
        </p:txBody>
      </p:sp>
      <p:sp>
        <p:nvSpPr>
          <p:cNvPr id="8650" name="Google Shape;8650;p5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$38,741</a:t>
            </a:r>
            <a:endParaRPr/>
          </a:p>
        </p:txBody>
      </p:sp>
      <p:sp>
        <p:nvSpPr>
          <p:cNvPr id="8651" name="Google Shape;8651;p5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$42,933</a:t>
            </a:r>
            <a:endParaRPr/>
          </a:p>
        </p:txBody>
      </p:sp>
      <p:sp>
        <p:nvSpPr>
          <p:cNvPr id="8652" name="Google Shape;8652;p5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$16,785</a:t>
            </a:r>
            <a:endParaRPr/>
          </a:p>
        </p:txBody>
      </p:sp>
      <p:sp>
        <p:nvSpPr>
          <p:cNvPr id="8653" name="Google Shape;8653;p5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$-31,706</a:t>
            </a:r>
            <a:endParaRPr/>
          </a:p>
        </p:txBody>
      </p:sp>
      <p:sp>
        <p:nvSpPr>
          <p:cNvPr id="8654" name="Google Shape;8654;p5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5" name="Google Shape;8655;p5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656" name="Google Shape;8656;p5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657" name="Google Shape;8657;p5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658" name="Google Shape;8658;p5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659" name="Google Shape;8659;p5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660" name="Google Shape;8660;p5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661" name="Google Shape;8661;p5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662" name="Google Shape;8662;p5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3" name="Google Shape;8663;p5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664" name="Google Shape;8664;p5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665" name="Google Shape;8665;p5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666" name="Google Shape;8666;p5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667" name="Google Shape;8667;p5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68" name="Google Shape;8668;p5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8669" name="Google Shape;8669;p5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0" name="Google Shape;8670;p5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671" name="Google Shape;8671;p5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672" name="Google Shape;8672;p5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73" name="Google Shape;8673;p5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674" name="Google Shape;8674;p5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75" name="Google Shape;8675;p5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8676" name="Google Shape;8676;p5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7" name="Google Shape;8677;p5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678" name="Google Shape;8678;p5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679" name="Google Shape;8679;p5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680" name="Google Shape;8680;p5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681" name="Google Shape;8681;p5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82" name="Google Shape;8682;p5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8683" name="Google Shape;8683;p5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4" name="Google Shape;8684;p5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685" name="Google Shape;8685;p5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686" name="Google Shape;8686;p5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687" name="Google Shape;8687;p5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688" name="Google Shape;8688;p5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9" name="Google Shape;8689;p5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90" name="Google Shape;8690;p5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1" name="Google Shape;8691;p5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692" name="Google Shape;8692;p5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693" name="Google Shape;8693;p5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694" name="Google Shape;8694;p5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695" name="Google Shape;8695;p5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96" name="Google Shape;8696;p5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8697" name="Google Shape;8697;p5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8" name="Google Shape;8698;p5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699" name="Google Shape;8699;p5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8700" name="Google Shape;8700;p5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701" name="Google Shape;8701;p5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8702" name="Google Shape;8702;p5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703" name="Google Shape;8703;p5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8704" name="Google Shape;8704;p5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5" name="Google Shape;8705;p5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706" name="Google Shape;8706;p5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707" name="Google Shape;8707;p5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708" name="Google Shape;8708;p5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709" name="Google Shape;8709;p5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710" name="Google Shape;8710;p5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711" name="Google Shape;8711;p5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712" name="Google Shape;8712;p5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713" name="Google Shape;8713;p5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714" name="Google Shape;8714;p5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715" name="Google Shape;8715;p5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716" name="Google Shape;8716;p5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717" name="Google Shape;8717;p5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718" name="Google Shape;8718;p5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719" name="Google Shape;8719;p5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720" name="Google Shape;8720;p5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8721" name="Google Shape;8721;p5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722" name="Google Shape;8722;p5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8723" name="Google Shape;8723;p5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724" name="Google Shape;8724;p5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</a:t>
            </a:r>
            <a:endParaRPr/>
          </a:p>
        </p:txBody>
      </p:sp>
      <p:sp>
        <p:nvSpPr>
          <p:cNvPr id="8725" name="Google Shape;8725;p5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726" name="Google Shape;8726;p5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8727" name="Google Shape;8727;p5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728" name="Google Shape;8728;p5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8729" name="Google Shape;8729;p5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730" name="Google Shape;8730;p5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383</a:t>
            </a:r>
            <a:endParaRPr/>
          </a:p>
        </p:txBody>
      </p:sp>
      <p:sp>
        <p:nvSpPr>
          <p:cNvPr id="8731" name="Google Shape;8731;p5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8732" name="Google Shape;8732;p5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733" name="Google Shape;8733;p5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</a:t>
            </a:r>
            <a:endParaRPr/>
          </a:p>
        </p:txBody>
      </p:sp>
      <p:sp>
        <p:nvSpPr>
          <p:cNvPr id="8734" name="Google Shape;8734;p5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8735" name="Google Shape;8735;p5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8736" name="Google Shape;8736;p5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8737" name="Google Shape;8737;p5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$158K</a:t>
            </a:r>
            <a:endParaRPr/>
          </a:p>
        </p:txBody>
      </p:sp>
      <p:sp>
        <p:nvSpPr>
          <p:cNvPr id="8738" name="Google Shape;8738;p5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8739" name="Google Shape;8739;p5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$167K</a:t>
            </a:r>
            <a:endParaRPr/>
          </a:p>
        </p:txBody>
      </p:sp>
      <p:sp>
        <p:nvSpPr>
          <p:cNvPr id="8740" name="Google Shape;8740;p5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8741" name="Google Shape;8741;p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$53K</a:t>
            </a:r>
            <a:endParaRPr/>
          </a:p>
        </p:txBody>
      </p:sp>
      <p:sp>
        <p:nvSpPr>
          <p:cNvPr id="8742" name="Google Shape;8742;p5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$-1,172</a:t>
            </a:r>
            <a:endParaRPr/>
          </a:p>
        </p:txBody>
      </p:sp>
      <p:sp>
        <p:nvSpPr>
          <p:cNvPr id="8743" name="Google Shape;8743;p5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$469K</a:t>
            </a:r>
            <a:endParaRPr/>
          </a:p>
        </p:txBody>
      </p:sp>
      <p:sp>
        <p:nvSpPr>
          <p:cNvPr id="8744" name="Google Shape;8744;p5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$98K</a:t>
            </a:r>
            <a:endParaRPr/>
          </a:p>
        </p:txBody>
      </p:sp>
      <p:sp>
        <p:nvSpPr>
          <p:cNvPr id="8745" name="Google Shape;8745;p5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6" name="Google Shape;8746;p5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747" name="Google Shape;8747;p5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748" name="Google Shape;8748;p5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$98,460 YTD gross written premium</a:t>
            </a:r>
            <a:endParaRPr/>
          </a:p>
        </p:txBody>
      </p:sp>
      <p:sp>
        <p:nvSpPr>
          <p:cNvPr id="8749" name="Google Shape;8749;p5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750" name="Google Shape;8750;p5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$38,741 in new business production</a:t>
            </a:r>
            <a:endParaRPr/>
          </a:p>
        </p:txBody>
      </p:sp>
      <p:sp>
        <p:nvSpPr>
          <p:cNvPr id="8751" name="Google Shape;8751;p5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2" name="Google Shape;8752;p5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753" name="Google Shape;8753;p5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754" name="Google Shape;8754;p5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82% of new business ($31,706)</a:t>
            </a:r>
            <a:endParaRPr/>
          </a:p>
        </p:txBody>
      </p:sp>
      <p:sp>
        <p:nvSpPr>
          <p:cNvPr id="8755" name="Google Shape;8755;p5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756" name="Google Shape;8756;p5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105% month-over-month</a:t>
            </a:r>
            <a:endParaRPr/>
          </a:p>
        </p:txBody>
      </p:sp>
      <p:sp>
        <p:nvSpPr>
          <p:cNvPr id="8757" name="Google Shape;8757;p5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8" name="Google Shape;8758;p5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759" name="Google Shape;8759;p5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760" name="Google Shape;8760;p5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$38,741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8761" name="Google Shape;8761;p5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762" name="Google Shape;8762;p5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$31,706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766" name="Shape 8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7" name="Google Shape;8767;p5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8" name="Google Shape;8768;p5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Beehive Insurance Agency Inc</a:t>
            </a:r>
            <a:endParaRPr/>
          </a:p>
        </p:txBody>
      </p:sp>
      <p:sp>
        <p:nvSpPr>
          <p:cNvPr id="8769" name="Google Shape;8769;p5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Utah  |  City: Salt Lake City</a:t>
            </a:r>
            <a:endParaRPr/>
          </a:p>
        </p:txBody>
      </p:sp>
      <p:sp>
        <p:nvSpPr>
          <p:cNvPr id="8770" name="Google Shape;8770;p5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$96,353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771" name="Google Shape;8771;p5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772" name="Google Shape;8772;p5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$94,802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773" name="Google Shape;8773;p5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774" name="Google Shape;8774;p5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775" name="Google Shape;8775;p5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$223,108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776" name="Google Shape;8776;p5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$83,796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777" name="Google Shape;8777;p5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778" name="Google Shape;8778;p5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779" name="Google Shape;8779;p5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780" name="Google Shape;8780;p5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781" name="Google Shape;8781;p5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782" name="Google Shape;8782;p5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783" name="Google Shape;8783;p5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4" name="Google Shape;8784;p5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785" name="Google Shape;8785;p5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786" name="Google Shape;8786;p5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787" name="Google Shape;8787;p5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788" name="Google Shape;8788;p5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789" name="Google Shape;8789;p5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790" name="Google Shape;8790;p5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791" name="Google Shape;8791;p5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2" name="Google Shape;8792;p5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793" name="Google Shape;8793;p5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$1,064</a:t>
            </a:r>
            <a:endParaRPr/>
          </a:p>
        </p:txBody>
      </p:sp>
      <p:sp>
        <p:nvSpPr>
          <p:cNvPr id="8794" name="Google Shape;8794;p5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5" name="Google Shape;8795;p5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6" name="Google Shape;8796;p5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$1,064</a:t>
            </a:r>
            <a:endParaRPr/>
          </a:p>
        </p:txBody>
      </p:sp>
      <p:sp>
        <p:nvSpPr>
          <p:cNvPr id="8797" name="Google Shape;8797;p5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8" name="Google Shape;8798;p5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9" name="Google Shape;8799;p5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800" name="Google Shape;8800;p5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$2,058</a:t>
            </a:r>
            <a:endParaRPr/>
          </a:p>
        </p:txBody>
      </p:sp>
      <p:sp>
        <p:nvSpPr>
          <p:cNvPr id="8801" name="Google Shape;8801;p5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2" name="Google Shape;8802;p5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3" name="Google Shape;8803;p5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$2,058</a:t>
            </a:r>
            <a:endParaRPr/>
          </a:p>
        </p:txBody>
      </p:sp>
      <p:sp>
        <p:nvSpPr>
          <p:cNvPr id="8804" name="Google Shape;8804;p5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5" name="Google Shape;8805;p5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6" name="Google Shape;8806;p5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807" name="Google Shape;8807;p5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$94,802</a:t>
            </a:r>
            <a:endParaRPr/>
          </a:p>
        </p:txBody>
      </p:sp>
      <p:sp>
        <p:nvSpPr>
          <p:cNvPr id="8808" name="Google Shape;8808;p5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9" name="Google Shape;8809;p5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$94,802</a:t>
            </a:r>
            <a:endParaRPr/>
          </a:p>
        </p:txBody>
      </p:sp>
      <p:sp>
        <p:nvSpPr>
          <p:cNvPr id="8810" name="Google Shape;8810;p5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1" name="Google Shape;8811;p5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2" name="Google Shape;8812;p5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3" name="Google Shape;8813;p5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814" name="Google Shape;8814;p5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$-1,570</a:t>
            </a:r>
            <a:endParaRPr/>
          </a:p>
        </p:txBody>
      </p:sp>
      <p:sp>
        <p:nvSpPr>
          <p:cNvPr id="8815" name="Google Shape;8815;p5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6" name="Google Shape;8816;p5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7" name="Google Shape;8817;p5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$-1,570</a:t>
            </a:r>
            <a:endParaRPr/>
          </a:p>
        </p:txBody>
      </p:sp>
      <p:sp>
        <p:nvSpPr>
          <p:cNvPr id="8818" name="Google Shape;8818;p5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9" name="Google Shape;8819;p5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0" name="Google Shape;8820;p5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821" name="Google Shape;8821;p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2" name="Google Shape;8822;p5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3" name="Google Shape;8823;p5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4" name="Google Shape;8824;p5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5" name="Google Shape;8825;p5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6" name="Google Shape;8826;p5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7" name="Google Shape;8827;p5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828" name="Google Shape;8828;p5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$96,353</a:t>
            </a:r>
            <a:endParaRPr/>
          </a:p>
        </p:txBody>
      </p:sp>
      <p:sp>
        <p:nvSpPr>
          <p:cNvPr id="8829" name="Google Shape;8829;p5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0" name="Google Shape;8830;p5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$94,802</a:t>
            </a:r>
            <a:endParaRPr/>
          </a:p>
        </p:txBody>
      </p:sp>
      <p:sp>
        <p:nvSpPr>
          <p:cNvPr id="8831" name="Google Shape;8831;p5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$1,551</a:t>
            </a:r>
            <a:endParaRPr/>
          </a:p>
        </p:txBody>
      </p:sp>
      <p:sp>
        <p:nvSpPr>
          <p:cNvPr id="8832" name="Google Shape;8832;p5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3" name="Google Shape;8833;p5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4" name="Google Shape;8834;p5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835" name="Google Shape;8835;p5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836" name="Google Shape;8836;p5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837" name="Google Shape;8837;p5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838" name="Google Shape;8838;p5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839" name="Google Shape;8839;p5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840" name="Google Shape;8840;p5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841" name="Google Shape;8841;p5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2" name="Google Shape;8842;p5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843" name="Google Shape;8843;p5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844" name="Google Shape;8844;p5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45" name="Google Shape;8845;p5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846" name="Google Shape;8846;p5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47" name="Google Shape;8847;p5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8848" name="Google Shape;8848;p5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9" name="Google Shape;8849;p5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850" name="Google Shape;8850;p5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851" name="Google Shape;8851;p5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852" name="Google Shape;8852;p5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853" name="Google Shape;8853;p5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54" name="Google Shape;8854;p5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55" name="Google Shape;8855;p5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6" name="Google Shape;8856;p5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857" name="Google Shape;8857;p5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858" name="Google Shape;8858;p5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59" name="Google Shape;8859;p5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860" name="Google Shape;8860;p5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61" name="Google Shape;8861;p5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8862" name="Google Shape;8862;p5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3" name="Google Shape;8863;p5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864" name="Google Shape;8864;p5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865" name="Google Shape;8865;p5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66" name="Google Shape;8866;p5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867" name="Google Shape;8867;p5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68" name="Google Shape;8868;p5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69" name="Google Shape;8869;p5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0" name="Google Shape;8870;p5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871" name="Google Shape;8871;p5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872" name="Google Shape;8872;p5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73" name="Google Shape;8873;p5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874" name="Google Shape;8874;p5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75" name="Google Shape;8875;p5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76" name="Google Shape;8876;p5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7" name="Google Shape;8877;p5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878" name="Google Shape;8878;p5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8879" name="Google Shape;8879;p5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880" name="Google Shape;8880;p5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8881" name="Google Shape;8881;p5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82" name="Google Shape;8882;p5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83" name="Google Shape;8883;p5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4" name="Google Shape;8884;p5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885" name="Google Shape;8885;p5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886" name="Google Shape;8886;p5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887" name="Google Shape;8887;p5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888" name="Google Shape;8888;p5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889" name="Google Shape;8889;p5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890" name="Google Shape;8890;p5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891" name="Google Shape;8891;p5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892" name="Google Shape;8892;p5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893" name="Google Shape;8893;p5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894" name="Google Shape;8894;p5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895" name="Google Shape;8895;p5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896" name="Google Shape;8896;p5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897" name="Google Shape;8897;p5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898" name="Google Shape;8898;p5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899" name="Google Shape;8899;p5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00" name="Google Shape;8900;p5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901" name="Google Shape;8901;p5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902" name="Google Shape;8902;p5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903" name="Google Shape;8903;p5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8904" name="Google Shape;8904;p5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905" name="Google Shape;8905;p5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8906" name="Google Shape;8906;p5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907" name="Google Shape;8907;p5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908" name="Google Shape;8908;p5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909" name="Google Shape;8909;p5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8910" name="Google Shape;8910;p5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8911" name="Google Shape;8911;p5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912" name="Google Shape;8912;p5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13" name="Google Shape;8913;p5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8914" name="Google Shape;8914;p5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8915" name="Google Shape;8915;p5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8916" name="Google Shape;8916;p5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$114K</a:t>
            </a:r>
            <a:endParaRPr/>
          </a:p>
        </p:txBody>
      </p:sp>
      <p:sp>
        <p:nvSpPr>
          <p:cNvPr id="8917" name="Google Shape;8917;p5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$95K</a:t>
            </a:r>
            <a:endParaRPr/>
          </a:p>
        </p:txBody>
      </p:sp>
      <p:sp>
        <p:nvSpPr>
          <p:cNvPr id="8918" name="Google Shape;8918;p5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$118K</a:t>
            </a:r>
            <a:endParaRPr/>
          </a:p>
        </p:txBody>
      </p:sp>
      <p:sp>
        <p:nvSpPr>
          <p:cNvPr id="8919" name="Google Shape;8919;p5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$-1,570</a:t>
            </a:r>
            <a:endParaRPr/>
          </a:p>
        </p:txBody>
      </p:sp>
      <p:sp>
        <p:nvSpPr>
          <p:cNvPr id="8920" name="Google Shape;8920;p5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21" name="Google Shape;8921;p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22" name="Google Shape;8922;p5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$236K</a:t>
            </a:r>
            <a:endParaRPr/>
          </a:p>
        </p:txBody>
      </p:sp>
      <p:sp>
        <p:nvSpPr>
          <p:cNvPr id="8923" name="Google Shape;8923;p5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$96K</a:t>
            </a:r>
            <a:endParaRPr/>
          </a:p>
        </p:txBody>
      </p:sp>
      <p:sp>
        <p:nvSpPr>
          <p:cNvPr id="8924" name="Google Shape;8924;p5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5" name="Google Shape;8925;p5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926" name="Google Shape;8926;p5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927" name="Google Shape;8927;p5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$96,353 YTD gross written premium</a:t>
            </a:r>
            <a:endParaRPr/>
          </a:p>
        </p:txBody>
      </p:sp>
      <p:sp>
        <p:nvSpPr>
          <p:cNvPr id="8928" name="Google Shape;8928;p5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929" name="Google Shape;8929;p5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$94,802 in renewals - strong retention</a:t>
            </a:r>
            <a:endParaRPr/>
          </a:p>
        </p:txBody>
      </p:sp>
      <p:sp>
        <p:nvSpPr>
          <p:cNvPr id="8930" name="Google Shape;8930;p5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1" name="Google Shape;8931;p5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932" name="Google Shape;8932;p5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933" name="Google Shape;8933;p5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 submissions with zero binds - zero conversion</a:t>
            </a:r>
            <a:endParaRPr/>
          </a:p>
        </p:txBody>
      </p:sp>
      <p:sp>
        <p:nvSpPr>
          <p:cNvPr id="8934" name="Google Shape;8934;p5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935" name="Google Shape;8935;p5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102% month-over-month</a:t>
            </a:r>
            <a:endParaRPr/>
          </a:p>
        </p:txBody>
      </p:sp>
      <p:sp>
        <p:nvSpPr>
          <p:cNvPr id="8936" name="Google Shape;8936;p5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7" name="Google Shape;8937;p5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938" name="Google Shape;8938;p5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939" name="Google Shape;8939;p5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37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940" name="Google Shape;8940;p5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941" name="Google Shape;8941;p5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45" name="Shape 8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6" name="Google Shape;8946;p5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7" name="Google Shape;8947;p5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Kaluga Premium Insurance Solutions, Inc.</a:t>
            </a:r>
            <a:endParaRPr/>
          </a:p>
        </p:txBody>
      </p:sp>
      <p:sp>
        <p:nvSpPr>
          <p:cNvPr id="8948" name="Google Shape;8948;p5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N/A</a:t>
            </a:r>
            <a:endParaRPr/>
          </a:p>
        </p:txBody>
      </p:sp>
      <p:sp>
        <p:nvSpPr>
          <p:cNvPr id="8949" name="Google Shape;8949;p5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$92,748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950" name="Google Shape;8950;p5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$51,536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951" name="Google Shape;8951;p5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$35,709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952" name="Google Shape;8952;p5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$5,503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953" name="Google Shape;8953;p5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954" name="Google Shape;8954;p5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$90,616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955" name="Google Shape;8955;p5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$122,819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956" name="Google Shape;8956;p5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957" name="Google Shape;8957;p5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958" name="Google Shape;8958;p5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959" name="Google Shape;8959;p5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960" name="Google Shape;8960;p5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961" name="Google Shape;8961;p5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$86,956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962" name="Google Shape;8962;p5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3" name="Google Shape;8963;p5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964" name="Google Shape;8964;p5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965" name="Google Shape;8965;p5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966" name="Google Shape;8966;p5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967" name="Google Shape;8967;p5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968" name="Google Shape;8968;p5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969" name="Google Shape;8969;p5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970" name="Google Shape;8970;p5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1" name="Google Shape;8971;p5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972" name="Google Shape;8972;p5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3" name="Google Shape;8973;p5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4" name="Google Shape;8974;p5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5" name="Google Shape;8975;p5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6" name="Google Shape;8976;p5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7" name="Google Shape;8977;p5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8" name="Google Shape;8978;p5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979" name="Google Shape;8979;p5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0" name="Google Shape;8980;p5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1" name="Google Shape;8981;p5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2" name="Google Shape;8982;p5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3" name="Google Shape;8983;p5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4" name="Google Shape;8984;p5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5" name="Google Shape;8985;p5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986" name="Google Shape;8986;p5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$91,983</a:t>
            </a:r>
            <a:endParaRPr/>
          </a:p>
        </p:txBody>
      </p:sp>
      <p:sp>
        <p:nvSpPr>
          <p:cNvPr id="8987" name="Google Shape;8987;p5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$51,536</a:t>
            </a:r>
            <a:endParaRPr/>
          </a:p>
        </p:txBody>
      </p:sp>
      <p:sp>
        <p:nvSpPr>
          <p:cNvPr id="8988" name="Google Shape;8988;p5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$35,709</a:t>
            </a:r>
            <a:endParaRPr/>
          </a:p>
        </p:txBody>
      </p:sp>
      <p:sp>
        <p:nvSpPr>
          <p:cNvPr id="8989" name="Google Shape;8989;p5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$4,738</a:t>
            </a:r>
            <a:endParaRPr/>
          </a:p>
        </p:txBody>
      </p:sp>
      <p:sp>
        <p:nvSpPr>
          <p:cNvPr id="8990" name="Google Shape;8990;p5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1" name="Google Shape;8991;p5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2" name="Google Shape;8992;p5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993" name="Google Shape;8993;p5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$765</a:t>
            </a:r>
            <a:endParaRPr/>
          </a:p>
        </p:txBody>
      </p:sp>
      <p:sp>
        <p:nvSpPr>
          <p:cNvPr id="8994" name="Google Shape;8994;p5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5" name="Google Shape;8995;p5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6" name="Google Shape;8996;p5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$765</a:t>
            </a:r>
            <a:endParaRPr/>
          </a:p>
        </p:txBody>
      </p:sp>
      <p:sp>
        <p:nvSpPr>
          <p:cNvPr id="8997" name="Google Shape;8997;p5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8" name="Google Shape;8998;p5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9" name="Google Shape;8999;p5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000" name="Google Shape;9000;p5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1" name="Google Shape;9001;p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2" name="Google Shape;9002;p5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3" name="Google Shape;9003;p5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4" name="Google Shape;9004;p5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5" name="Google Shape;9005;p5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6" name="Google Shape;9006;p5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007" name="Google Shape;9007;p5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$92,748</a:t>
            </a:r>
            <a:endParaRPr/>
          </a:p>
        </p:txBody>
      </p:sp>
      <p:sp>
        <p:nvSpPr>
          <p:cNvPr id="9008" name="Google Shape;9008;p5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$51,536</a:t>
            </a:r>
            <a:endParaRPr/>
          </a:p>
        </p:txBody>
      </p:sp>
      <p:sp>
        <p:nvSpPr>
          <p:cNvPr id="9009" name="Google Shape;9009;p5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$35,709</a:t>
            </a:r>
            <a:endParaRPr/>
          </a:p>
        </p:txBody>
      </p:sp>
      <p:sp>
        <p:nvSpPr>
          <p:cNvPr id="9010" name="Google Shape;9010;p5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$5,503</a:t>
            </a:r>
            <a:endParaRPr/>
          </a:p>
        </p:txBody>
      </p:sp>
      <p:sp>
        <p:nvSpPr>
          <p:cNvPr id="9011" name="Google Shape;9011;p5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2" name="Google Shape;9012;p5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3" name="Google Shape;9013;p5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014" name="Google Shape;9014;p5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015" name="Google Shape;9015;p5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016" name="Google Shape;9016;p5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017" name="Google Shape;9017;p5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018" name="Google Shape;9018;p5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19" name="Google Shape;9019;p5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020" name="Google Shape;9020;p5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1" name="Google Shape;9021;p5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022" name="Google Shape;9022;p5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23" name="Google Shape;9023;p5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24" name="Google Shape;9024;p5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25" name="Google Shape;9025;p5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026" name="Google Shape;9026;p5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9027" name="Google Shape;9027;p5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8" name="Google Shape;9028;p5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029" name="Google Shape;9029;p5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30" name="Google Shape;9030;p5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31" name="Google Shape;9031;p5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32" name="Google Shape;9032;p5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33" name="Google Shape;9033;p5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34" name="Google Shape;9034;p5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5" name="Google Shape;9035;p5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036" name="Google Shape;9036;p5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037" name="Google Shape;9037;p5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38" name="Google Shape;9038;p5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039" name="Google Shape;9039;p5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40" name="Google Shape;9040;p5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9041" name="Google Shape;9041;p5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2" name="Google Shape;9042;p5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043" name="Google Shape;9043;p5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44" name="Google Shape;9044;p5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45" name="Google Shape;9045;p5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46" name="Google Shape;9046;p5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047" name="Google Shape;9047;p5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9048" name="Google Shape;9048;p5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9" name="Google Shape;9049;p5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050" name="Google Shape;9050;p5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051" name="Google Shape;9051;p5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052" name="Google Shape;9052;p5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53" name="Google Shape;9053;p5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54" name="Google Shape;9054;p5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55" name="Google Shape;9055;p5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6" name="Google Shape;9056;p5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057" name="Google Shape;9057;p5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9058" name="Google Shape;9058;p5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059" name="Google Shape;9059;p5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9060" name="Google Shape;9060;p5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061" name="Google Shape;9061;p5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9062" name="Google Shape;9062;p5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3" name="Google Shape;9063;p5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064" name="Google Shape;9064;p5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065" name="Google Shape;9065;p5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066" name="Google Shape;9066;p5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067" name="Google Shape;9067;p5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068" name="Google Shape;9068;p5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069" name="Google Shape;9069;p5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070" name="Google Shape;9070;p5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071" name="Google Shape;9071;p5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072" name="Google Shape;9072;p5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073" name="Google Shape;9073;p5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074" name="Google Shape;9074;p5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075" name="Google Shape;9075;p5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076" name="Google Shape;9076;p5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077" name="Google Shape;9077;p5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078" name="Google Shape;9078;p5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9" name="Google Shape;9079;p5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80" name="Google Shape;9080;p5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81" name="Google Shape;9081;p5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82" name="Google Shape;9082;p5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083" name="Google Shape;9083;p5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084" name="Google Shape;9084;p5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085" name="Google Shape;9085;p5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86" name="Google Shape;9086;p5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087" name="Google Shape;9087;p5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088" name="Google Shape;9088;p5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089" name="Google Shape;9089;p5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9090" name="Google Shape;9090;p5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091" name="Google Shape;9091;p5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2" name="Google Shape;9092;p5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3" name="Google Shape;9093;p5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4" name="Google Shape;9094;p5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5" name="Google Shape;9095;p5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9096" name="Google Shape;9096;p5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$92K</a:t>
            </a:r>
            <a:endParaRPr/>
          </a:p>
        </p:txBody>
      </p:sp>
      <p:sp>
        <p:nvSpPr>
          <p:cNvPr id="9097" name="Google Shape;9097;p5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9098" name="Google Shape;9098;p5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$765</a:t>
            </a:r>
            <a:endParaRPr/>
          </a:p>
        </p:txBody>
      </p:sp>
      <p:sp>
        <p:nvSpPr>
          <p:cNvPr id="9099" name="Google Shape;9099;p5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9100" name="Google Shape;9100;p5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01" name="Google Shape;9101;p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9102" name="Google Shape;9102;p5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$93K</a:t>
            </a:r>
            <a:endParaRPr/>
          </a:p>
        </p:txBody>
      </p:sp>
      <p:sp>
        <p:nvSpPr>
          <p:cNvPr id="9103" name="Google Shape;9103;p5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4" name="Google Shape;9104;p5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105" name="Google Shape;9105;p5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106" name="Google Shape;9106;p5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$92,748 YTD gross written premium</a:t>
            </a:r>
            <a:endParaRPr/>
          </a:p>
        </p:txBody>
      </p:sp>
      <p:sp>
        <p:nvSpPr>
          <p:cNvPr id="9107" name="Google Shape;9107;p5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108" name="Google Shape;9108;p5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$51,536 in new business production</a:t>
            </a:r>
            <a:endParaRPr/>
          </a:p>
        </p:txBody>
      </p:sp>
      <p:sp>
        <p:nvSpPr>
          <p:cNvPr id="9109" name="Google Shape;9109;p5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0" name="Google Shape;9110;p5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111" name="Google Shape;9111;p5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112" name="Google Shape;9112;p5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99% month-over-month</a:t>
            </a:r>
            <a:endParaRPr/>
          </a:p>
        </p:txBody>
      </p:sp>
      <p:sp>
        <p:nvSpPr>
          <p:cNvPr id="9113" name="Google Shape;9113;p5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4" name="Google Shape;9114;p5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115" name="Google Shape;9115;p5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116" name="Google Shape;9116;p5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$51,536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9117" name="Google Shape;9117;p5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118" name="Google Shape;9118;p5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22" name="Shape 9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3" name="Google Shape;9123;p5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4" name="Google Shape;9124;p5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Insurabrite Insurance Services Llc</a:t>
            </a:r>
            <a:endParaRPr/>
          </a:p>
        </p:txBody>
      </p:sp>
      <p:sp>
        <p:nvSpPr>
          <p:cNvPr id="9125" name="Google Shape;9125;p5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Southwest  |  State: CA  |  City: N/A</a:t>
            </a:r>
            <a:endParaRPr/>
          </a:p>
        </p:txBody>
      </p:sp>
      <p:sp>
        <p:nvSpPr>
          <p:cNvPr id="9126" name="Google Shape;9126;p5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127" name="Google Shape;9127;p5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128" name="Google Shape;9128;p5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129" name="Google Shape;9129;p5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$76,689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130" name="Google Shape;9130;p5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$-177,887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131" name="Google Shape;9131;p5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$1,177,487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132" name="Google Shape;9132;p5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$943,121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133" name="Google Shape;9133;p5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134" name="Google Shape;9134;p5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135" name="Google Shape;9135;p5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36" name="Google Shape;9136;p5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137" name="Google Shape;9137;p5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138" name="Google Shape;9138;p5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139" name="Google Shape;9139;p5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0" name="Google Shape;9140;p5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141" name="Google Shape;9141;p5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142" name="Google Shape;9142;p5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143" name="Google Shape;9143;p5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144" name="Google Shape;9144;p5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145" name="Google Shape;9145;p5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146" name="Google Shape;9146;p5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147" name="Google Shape;9147;p5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8" name="Google Shape;9148;p5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149" name="Google Shape;9149;p5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$15,348</a:t>
            </a:r>
            <a:endParaRPr/>
          </a:p>
        </p:txBody>
      </p:sp>
      <p:sp>
        <p:nvSpPr>
          <p:cNvPr id="9150" name="Google Shape;9150;p5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$4,497</a:t>
            </a:r>
            <a:endParaRPr/>
          </a:p>
        </p:txBody>
      </p:sp>
      <p:sp>
        <p:nvSpPr>
          <p:cNvPr id="9151" name="Google Shape;9151;p5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2" name="Google Shape;9152;p5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$10,852</a:t>
            </a:r>
            <a:endParaRPr/>
          </a:p>
        </p:txBody>
      </p:sp>
      <p:sp>
        <p:nvSpPr>
          <p:cNvPr id="9153" name="Google Shape;9153;p5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$-22,092</a:t>
            </a:r>
            <a:endParaRPr/>
          </a:p>
        </p:txBody>
      </p:sp>
      <p:sp>
        <p:nvSpPr>
          <p:cNvPr id="9154" name="Google Shape;9154;p5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5" name="Google Shape;9155;p5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156" name="Google Shape;9156;p5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$56,586</a:t>
            </a:r>
            <a:endParaRPr/>
          </a:p>
        </p:txBody>
      </p:sp>
      <p:sp>
        <p:nvSpPr>
          <p:cNvPr id="9157" name="Google Shape;9157;p5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8" name="Google Shape;9158;p5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9" name="Google Shape;9159;p5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$56,586</a:t>
            </a:r>
            <a:endParaRPr/>
          </a:p>
        </p:txBody>
      </p:sp>
      <p:sp>
        <p:nvSpPr>
          <p:cNvPr id="9160" name="Google Shape;9160;p5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$-139,247</a:t>
            </a:r>
            <a:endParaRPr/>
          </a:p>
        </p:txBody>
      </p:sp>
      <p:sp>
        <p:nvSpPr>
          <p:cNvPr id="9161" name="Google Shape;9161;p5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2" name="Google Shape;9162;p5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163" name="Google Shape;9163;p5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$9,252</a:t>
            </a:r>
            <a:endParaRPr/>
          </a:p>
        </p:txBody>
      </p:sp>
      <p:sp>
        <p:nvSpPr>
          <p:cNvPr id="9164" name="Google Shape;9164;p5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5" name="Google Shape;9165;p5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6" name="Google Shape;9166;p5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$9,252</a:t>
            </a:r>
            <a:endParaRPr/>
          </a:p>
        </p:txBody>
      </p:sp>
      <p:sp>
        <p:nvSpPr>
          <p:cNvPr id="9167" name="Google Shape;9167;p5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$-16,549</a:t>
            </a:r>
            <a:endParaRPr/>
          </a:p>
        </p:txBody>
      </p:sp>
      <p:sp>
        <p:nvSpPr>
          <p:cNvPr id="9168" name="Google Shape;9168;p5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9" name="Google Shape;9169;p5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170" name="Google Shape;9170;p5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1" name="Google Shape;9171;p5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2" name="Google Shape;9172;p5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3" name="Google Shape;9173;p5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4" name="Google Shape;9174;p5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5" name="Google Shape;9175;p5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6" name="Google Shape;9176;p5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177" name="Google Shape;9177;p5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8" name="Google Shape;9178;p5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9" name="Google Shape;9179;p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0" name="Google Shape;9180;p5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1" name="Google Shape;9181;p5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2" name="Google Shape;9182;p5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3" name="Google Shape;9183;p5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184" name="Google Shape;9184;p5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$81,186</a:t>
            </a:r>
            <a:endParaRPr/>
          </a:p>
        </p:txBody>
      </p:sp>
      <p:sp>
        <p:nvSpPr>
          <p:cNvPr id="9185" name="Google Shape;9185;p5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$4,497</a:t>
            </a:r>
            <a:endParaRPr/>
          </a:p>
        </p:txBody>
      </p:sp>
      <p:sp>
        <p:nvSpPr>
          <p:cNvPr id="9186" name="Google Shape;9186;p5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7" name="Google Shape;9187;p5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$76,689</a:t>
            </a:r>
            <a:endParaRPr/>
          </a:p>
        </p:txBody>
      </p:sp>
      <p:sp>
        <p:nvSpPr>
          <p:cNvPr id="9188" name="Google Shape;9188;p5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$-177,887</a:t>
            </a:r>
            <a:endParaRPr/>
          </a:p>
        </p:txBody>
      </p:sp>
      <p:sp>
        <p:nvSpPr>
          <p:cNvPr id="9189" name="Google Shape;9189;p5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0" name="Google Shape;9190;p5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191" name="Google Shape;9191;p5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192" name="Google Shape;9192;p5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193" name="Google Shape;9193;p5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194" name="Google Shape;9194;p5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195" name="Google Shape;9195;p5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96" name="Google Shape;9196;p5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197" name="Google Shape;9197;p5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8" name="Google Shape;9198;p5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199" name="Google Shape;9199;p5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200" name="Google Shape;9200;p5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01" name="Google Shape;9201;p5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9202" name="Google Shape;9202;p5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03" name="Google Shape;9203;p5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9204" name="Google Shape;9204;p5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5" name="Google Shape;9205;p5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206" name="Google Shape;9206;p5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207" name="Google Shape;9207;p5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08" name="Google Shape;9208;p5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209" name="Google Shape;9209;p5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10" name="Google Shape;9210;p5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11" name="Google Shape;9211;p5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2" name="Google Shape;9212;p5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213" name="Google Shape;9213;p5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14" name="Google Shape;9214;p5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15" name="Google Shape;9215;p5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16" name="Google Shape;9216;p5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17" name="Google Shape;9217;p5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9218" name="Google Shape;9218;p5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9" name="Google Shape;9219;p5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220" name="Google Shape;9220;p5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221" name="Google Shape;9221;p5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22" name="Google Shape;9222;p5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223" name="Google Shape;9223;p5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24" name="Google Shape;9224;p5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9225" name="Google Shape;9225;p5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6" name="Google Shape;9226;p5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227" name="Google Shape;9227;p5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28" name="Google Shape;9228;p5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29" name="Google Shape;9229;p5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30" name="Google Shape;9230;p5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31" name="Google Shape;9231;p5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32" name="Google Shape;9232;p5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3" name="Google Shape;9233;p5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234" name="Google Shape;9234;p5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9235" name="Google Shape;9235;p5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36" name="Google Shape;9236;p5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9237" name="Google Shape;9237;p5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38" name="Google Shape;9238;p5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9239" name="Google Shape;9239;p5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0" name="Google Shape;9240;p5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241" name="Google Shape;9241;p5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242" name="Google Shape;9242;p5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243" name="Google Shape;9243;p5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244" name="Google Shape;9244;p5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245" name="Google Shape;9245;p5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246" name="Google Shape;9246;p5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247" name="Google Shape;9247;p5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248" name="Google Shape;9248;p5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249" name="Google Shape;9249;p5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250" name="Google Shape;9250;p5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251" name="Google Shape;9251;p5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252" name="Google Shape;9252;p5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253" name="Google Shape;9253;p5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254" name="Google Shape;9254;p5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255" name="Google Shape;9255;p5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56" name="Google Shape;9256;p5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257" name="Google Shape;9257;p5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9258" name="Google Shape;9258;p5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259" name="Google Shape;9259;p5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260" name="Google Shape;9260;p5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61" name="Google Shape;9261;p5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262" name="Google Shape;9262;p5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263" name="Google Shape;9263;p5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9264" name="Google Shape;9264;p5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65" name="Google Shape;9265;p5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9266" name="Google Shape;9266;p5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9267" name="Google Shape;9267;p5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268" name="Google Shape;9268;p5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9" name="Google Shape;9269;p5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9270" name="Google Shape;9270;p5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$75K</a:t>
            </a:r>
            <a:endParaRPr/>
          </a:p>
        </p:txBody>
      </p:sp>
      <p:sp>
        <p:nvSpPr>
          <p:cNvPr id="9271" name="Google Shape;9271;p5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$57K</a:t>
            </a:r>
            <a:endParaRPr/>
          </a:p>
        </p:txBody>
      </p:sp>
      <p:sp>
        <p:nvSpPr>
          <p:cNvPr id="9272" name="Google Shape;9272;p5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9273" name="Google Shape;9273;p5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9274" name="Google Shape;9274;p5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5" name="Google Shape;9275;p5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6" name="Google Shape;9276;p5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$150K</a:t>
            </a:r>
            <a:endParaRPr/>
          </a:p>
        </p:txBody>
      </p:sp>
      <p:sp>
        <p:nvSpPr>
          <p:cNvPr id="9277" name="Google Shape;9277;p5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8" name="Google Shape;9278;p5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$316K</a:t>
            </a:r>
            <a:endParaRPr/>
          </a:p>
        </p:txBody>
      </p:sp>
      <p:sp>
        <p:nvSpPr>
          <p:cNvPr id="9279" name="Google Shape;9279;p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$81K</a:t>
            </a:r>
            <a:endParaRPr/>
          </a:p>
        </p:txBody>
      </p:sp>
      <p:sp>
        <p:nvSpPr>
          <p:cNvPr id="9280" name="Google Shape;9280;p5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1" name="Google Shape;9281;p5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282" name="Google Shape;9282;p5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283" name="Google Shape;9283;p5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$81,186 YTD gross written premium</a:t>
            </a:r>
            <a:endParaRPr/>
          </a:p>
        </p:txBody>
      </p:sp>
      <p:sp>
        <p:nvSpPr>
          <p:cNvPr id="9284" name="Google Shape;9284;p5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285" name="Google Shape;9285;p5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$4,497 in new business production</a:t>
            </a:r>
            <a:endParaRPr/>
          </a:p>
        </p:txBody>
      </p:sp>
      <p:sp>
        <p:nvSpPr>
          <p:cNvPr id="9286" name="Google Shape;9286;p5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7" name="Google Shape;9287;p5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288" name="Google Shape;9288;p5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289" name="Google Shape;9289;p5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3956% of new business ($177,887)</a:t>
            </a:r>
            <a:endParaRPr/>
          </a:p>
        </p:txBody>
      </p:sp>
      <p:sp>
        <p:nvSpPr>
          <p:cNvPr id="9290" name="Google Shape;9290;p5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291" name="Google Shape;9291;p5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84% month-over-month</a:t>
            </a:r>
            <a:endParaRPr/>
          </a:p>
        </p:txBody>
      </p:sp>
      <p:sp>
        <p:nvSpPr>
          <p:cNvPr id="9292" name="Google Shape;9292;p5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3" name="Google Shape;9293;p5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294" name="Google Shape;9294;p5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295" name="Google Shape;9295;p5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$4,497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9296" name="Google Shape;9296;p5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297" name="Google Shape;9297;p5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$177,887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01" name="Shape 9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2" name="Google Shape;9302;p5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3" name="Google Shape;9303;p5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Nextco Insurance Agency, Inc</a:t>
            </a:r>
            <a:endParaRPr/>
          </a:p>
        </p:txBody>
      </p:sp>
      <p:sp>
        <p:nvSpPr>
          <p:cNvPr id="9304" name="Google Shape;9304;p5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N/A  |  City: N/A</a:t>
            </a:r>
            <a:endParaRPr/>
          </a:p>
        </p:txBody>
      </p:sp>
      <p:sp>
        <p:nvSpPr>
          <p:cNvPr id="9305" name="Google Shape;9305;p5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$78,950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306" name="Google Shape;9306;p5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307" name="Google Shape;9307;p5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$65,820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308" name="Google Shape;9308;p5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$-7,578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309" name="Google Shape;9309;p5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310" name="Google Shape;9310;p5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$758,389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311" name="Google Shape;9311;p5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$583,405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312" name="Google Shape;9312;p5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313" name="Google Shape;9313;p5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314" name="Google Shape;9314;p5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315" name="Google Shape;9315;p5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316" name="Google Shape;9316;p5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317" name="Google Shape;9317;p5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$124,742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318" name="Google Shape;9318;p5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9" name="Google Shape;9319;p5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320" name="Google Shape;9320;p5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321" name="Google Shape;9321;p5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322" name="Google Shape;9322;p5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323" name="Google Shape;9323;p5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324" name="Google Shape;9324;p5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325" name="Google Shape;9325;p5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326" name="Google Shape;9326;p5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7" name="Google Shape;9327;p5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328" name="Google Shape;9328;p5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$-7,439</a:t>
            </a:r>
            <a:endParaRPr/>
          </a:p>
        </p:txBody>
      </p:sp>
      <p:sp>
        <p:nvSpPr>
          <p:cNvPr id="9329" name="Google Shape;9329;p5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0" name="Google Shape;9330;p5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1" name="Google Shape;9331;p5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$-7,439</a:t>
            </a:r>
            <a:endParaRPr/>
          </a:p>
        </p:txBody>
      </p:sp>
      <p:sp>
        <p:nvSpPr>
          <p:cNvPr id="9332" name="Google Shape;9332;p5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3" name="Google Shape;9333;p5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4" name="Google Shape;9334;p5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335" name="Google Shape;9335;p5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6" name="Google Shape;9336;p5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7" name="Google Shape;9337;p5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8" name="Google Shape;9338;p5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9" name="Google Shape;9339;p5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0" name="Google Shape;9340;p5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1" name="Google Shape;9341;p5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342" name="Google Shape;9342;p5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3" name="Google Shape;9343;p5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4" name="Google Shape;9344;p5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5" name="Google Shape;9345;p5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6" name="Google Shape;9346;p5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7" name="Google Shape;9347;p5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8" name="Google Shape;9348;p5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349" name="Google Shape;9349;p5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$20,708</a:t>
            </a:r>
            <a:endParaRPr/>
          </a:p>
        </p:txBody>
      </p:sp>
      <p:sp>
        <p:nvSpPr>
          <p:cNvPr id="9350" name="Google Shape;9350;p5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$20,708</a:t>
            </a:r>
            <a:endParaRPr/>
          </a:p>
        </p:txBody>
      </p:sp>
      <p:sp>
        <p:nvSpPr>
          <p:cNvPr id="9351" name="Google Shape;9351;p5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2" name="Google Shape;9352;p5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3" name="Google Shape;9353;p5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4" name="Google Shape;9354;p5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5" name="Google Shape;9355;p5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356" name="Google Shape;9356;p5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$65,681</a:t>
            </a:r>
            <a:endParaRPr/>
          </a:p>
        </p:txBody>
      </p:sp>
      <p:sp>
        <p:nvSpPr>
          <p:cNvPr id="9357" name="Google Shape;9357;p5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8" name="Google Shape;9358;p5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$65,820</a:t>
            </a:r>
            <a:endParaRPr/>
          </a:p>
        </p:txBody>
      </p:sp>
      <p:sp>
        <p:nvSpPr>
          <p:cNvPr id="9359" name="Google Shape;9359;p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$-139</a:t>
            </a:r>
            <a:endParaRPr/>
          </a:p>
        </p:txBody>
      </p:sp>
      <p:sp>
        <p:nvSpPr>
          <p:cNvPr id="9360" name="Google Shape;9360;p5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61" name="Google Shape;9361;p5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2" name="Google Shape;9362;p5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363" name="Google Shape;9363;p5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$78,950</a:t>
            </a:r>
            <a:endParaRPr/>
          </a:p>
        </p:txBody>
      </p:sp>
      <p:sp>
        <p:nvSpPr>
          <p:cNvPr id="9364" name="Google Shape;9364;p5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$20,708</a:t>
            </a:r>
            <a:endParaRPr/>
          </a:p>
        </p:txBody>
      </p:sp>
      <p:sp>
        <p:nvSpPr>
          <p:cNvPr id="9365" name="Google Shape;9365;p5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$65,820</a:t>
            </a:r>
            <a:endParaRPr/>
          </a:p>
        </p:txBody>
      </p:sp>
      <p:sp>
        <p:nvSpPr>
          <p:cNvPr id="9366" name="Google Shape;9366;p5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$-7,578</a:t>
            </a:r>
            <a:endParaRPr/>
          </a:p>
        </p:txBody>
      </p:sp>
      <p:sp>
        <p:nvSpPr>
          <p:cNvPr id="9367" name="Google Shape;9367;p5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68" name="Google Shape;9368;p5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9" name="Google Shape;9369;p5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370" name="Google Shape;9370;p5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371" name="Google Shape;9371;p5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372" name="Google Shape;9372;p5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373" name="Google Shape;9373;p5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374" name="Google Shape;9374;p5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375" name="Google Shape;9375;p5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376" name="Google Shape;9376;p5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7" name="Google Shape;9377;p5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378" name="Google Shape;9378;p5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379" name="Google Shape;9379;p5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80" name="Google Shape;9380;p5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381" name="Google Shape;9381;p5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82" name="Google Shape;9382;p5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9383" name="Google Shape;9383;p5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4" name="Google Shape;9384;p5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385" name="Google Shape;9385;p5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386" name="Google Shape;9386;p5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87" name="Google Shape;9387;p5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388" name="Google Shape;9388;p5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89" name="Google Shape;9389;p5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9390" name="Google Shape;9390;p5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1" name="Google Shape;9391;p5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392" name="Google Shape;9392;p5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393" name="Google Shape;9393;p5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94" name="Google Shape;9394;p5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395" name="Google Shape;9395;p5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96" name="Google Shape;9396;p5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9397" name="Google Shape;9397;p5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8" name="Google Shape;9398;p5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399" name="Google Shape;9399;p5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400" name="Google Shape;9400;p5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01" name="Google Shape;9401;p5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402" name="Google Shape;9402;p5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03" name="Google Shape;9403;p5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9404" name="Google Shape;9404;p5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5" name="Google Shape;9405;p5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406" name="Google Shape;9406;p5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9407" name="Google Shape;9407;p5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08" name="Google Shape;9408;p5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409" name="Google Shape;9409;p5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10" name="Google Shape;9410;p5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9411" name="Google Shape;9411;p5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2" name="Google Shape;9412;p5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413" name="Google Shape;9413;p5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9414" name="Google Shape;9414;p5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415" name="Google Shape;9415;p5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9416" name="Google Shape;9416;p5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417" name="Google Shape;9417;p5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9418" name="Google Shape;9418;p5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9" name="Google Shape;9419;p5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420" name="Google Shape;9420;p5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421" name="Google Shape;9421;p5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422" name="Google Shape;9422;p5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423" name="Google Shape;9423;p5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424" name="Google Shape;9424;p5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425" name="Google Shape;9425;p5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426" name="Google Shape;9426;p5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427" name="Google Shape;9427;p5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428" name="Google Shape;9428;p5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429" name="Google Shape;9429;p5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430" name="Google Shape;9430;p5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431" name="Google Shape;9431;p5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432" name="Google Shape;9432;p5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433" name="Google Shape;9433;p5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434" name="Google Shape;9434;p5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9435" name="Google Shape;9435;p5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436" name="Google Shape;9436;p5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9437" name="Google Shape;9437;p5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438" name="Google Shape;9438;p5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439" name="Google Shape;9439;p5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440" name="Google Shape;9440;p5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9441" name="Google Shape;9441;p5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442" name="Google Shape;9442;p5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9443" name="Google Shape;9443;p5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9444" name="Google Shape;9444;p5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9445" name="Google Shape;9445;p5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9446" name="Google Shape;9446;p5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447" name="Google Shape;9447;p5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9448" name="Google Shape;9448;p5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$-7,439</a:t>
            </a:r>
            <a:endParaRPr/>
          </a:p>
        </p:txBody>
      </p:sp>
      <p:sp>
        <p:nvSpPr>
          <p:cNvPr id="9449" name="Google Shape;9449;p5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$74K</a:t>
            </a:r>
            <a:endParaRPr/>
          </a:p>
        </p:txBody>
      </p:sp>
      <p:sp>
        <p:nvSpPr>
          <p:cNvPr id="9450" name="Google Shape;9450;p5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51" name="Google Shape;9451;p5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$-112</a:t>
            </a:r>
            <a:endParaRPr/>
          </a:p>
        </p:txBody>
      </p:sp>
      <p:sp>
        <p:nvSpPr>
          <p:cNvPr id="9452" name="Google Shape;9452;p5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53" name="Google Shape;9453;p5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9454" name="Google Shape;9454;p5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9455" name="Google Shape;9455;p5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$108K</a:t>
            </a:r>
            <a:endParaRPr/>
          </a:p>
        </p:txBody>
      </p:sp>
      <p:sp>
        <p:nvSpPr>
          <p:cNvPr id="9456" name="Google Shape;9456;p5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9457" name="Google Shape;9457;p5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$254K</a:t>
            </a:r>
            <a:endParaRPr/>
          </a:p>
        </p:txBody>
      </p:sp>
      <p:sp>
        <p:nvSpPr>
          <p:cNvPr id="9458" name="Google Shape;9458;p5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9459" name="Google Shape;9459;p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0" name="Google Shape;9460;p5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461" name="Google Shape;9461;p5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462" name="Google Shape;9462;p5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$78,950 YTD gross written premium</a:t>
            </a:r>
            <a:endParaRPr/>
          </a:p>
        </p:txBody>
      </p:sp>
      <p:sp>
        <p:nvSpPr>
          <p:cNvPr id="9463" name="Google Shape;9463;p5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464" name="Google Shape;9464;p5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$20,708 in new business production</a:t>
            </a:r>
            <a:endParaRPr/>
          </a:p>
        </p:txBody>
      </p:sp>
      <p:sp>
        <p:nvSpPr>
          <p:cNvPr id="9465" name="Google Shape;9465;p5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6" name="Google Shape;9466;p5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467" name="Google Shape;9467;p5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468" name="Google Shape;9468;p5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9469" name="Google Shape;9469;p5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470" name="Google Shape;9470;p5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9471" name="Google Shape;9471;p5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2" name="Google Shape;9472;p5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473" name="Google Shape;9473;p5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474" name="Google Shape;9474;p5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$20,708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9475" name="Google Shape;9475;p5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476" name="Google Shape;9476;p5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$65,820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80" name="Shape 9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1" name="Google Shape;9481;p5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2" name="Google Shape;9482;p5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SBS Insurance Services Inc dba Smarter Truck Insurance</a:t>
            </a:r>
            <a:endParaRPr/>
          </a:p>
        </p:txBody>
      </p:sp>
      <p:sp>
        <p:nvSpPr>
          <p:cNvPr id="9483" name="Google Shape;9483;p5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Riverside</a:t>
            </a:r>
            <a:endParaRPr/>
          </a:p>
        </p:txBody>
      </p:sp>
      <p:sp>
        <p:nvSpPr>
          <p:cNvPr id="9484" name="Google Shape;9484;p5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$67,738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485" name="Google Shape;9485;p5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486" name="Google Shape;9486;p5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$57,755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487" name="Google Shape;9487;p5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$-4,719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488" name="Google Shape;9488;p5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$-50,518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489" name="Google Shape;9489;p5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$640,325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490" name="Google Shape;9490;p5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$461,429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491" name="Google Shape;9491;p5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492" name="Google Shape;9492;p5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493" name="Google Shape;9493;p5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494" name="Google Shape;9494;p5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495" name="Google Shape;9495;p5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496" name="Google Shape;9496;p5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$165,142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497" name="Google Shape;9497;p5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8" name="Google Shape;9498;p5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499" name="Google Shape;9499;p5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500" name="Google Shape;9500;p5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501" name="Google Shape;9501;p5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502" name="Google Shape;9502;p5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503" name="Google Shape;9503;p5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504" name="Google Shape;9504;p5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505" name="Google Shape;9505;p5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6" name="Google Shape;9506;p5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507" name="Google Shape;9507;p5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$13,122</a:t>
            </a:r>
            <a:endParaRPr/>
          </a:p>
        </p:txBody>
      </p:sp>
      <p:sp>
        <p:nvSpPr>
          <p:cNvPr id="9508" name="Google Shape;9508;p5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9" name="Google Shape;9509;p5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$8,774</a:t>
            </a:r>
            <a:endParaRPr/>
          </a:p>
        </p:txBody>
      </p:sp>
      <p:sp>
        <p:nvSpPr>
          <p:cNvPr id="9510" name="Google Shape;9510;p5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$4,348</a:t>
            </a:r>
            <a:endParaRPr/>
          </a:p>
        </p:txBody>
      </p:sp>
      <p:sp>
        <p:nvSpPr>
          <p:cNvPr id="9511" name="Google Shape;9511;p5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$-14,192</a:t>
            </a:r>
            <a:endParaRPr/>
          </a:p>
        </p:txBody>
      </p:sp>
      <p:sp>
        <p:nvSpPr>
          <p:cNvPr id="9512" name="Google Shape;9512;p5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3" name="Google Shape;9513;p5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514" name="Google Shape;9514;p5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$26,056</a:t>
            </a:r>
            <a:endParaRPr/>
          </a:p>
        </p:txBody>
      </p:sp>
      <p:sp>
        <p:nvSpPr>
          <p:cNvPr id="9515" name="Google Shape;9515;p5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$14,701</a:t>
            </a:r>
            <a:endParaRPr/>
          </a:p>
        </p:txBody>
      </p:sp>
      <p:sp>
        <p:nvSpPr>
          <p:cNvPr id="9516" name="Google Shape;9516;p5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$11,580</a:t>
            </a:r>
            <a:endParaRPr/>
          </a:p>
        </p:txBody>
      </p:sp>
      <p:sp>
        <p:nvSpPr>
          <p:cNvPr id="9517" name="Google Shape;9517;p5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$-225</a:t>
            </a:r>
            <a:endParaRPr/>
          </a:p>
        </p:txBody>
      </p:sp>
      <p:sp>
        <p:nvSpPr>
          <p:cNvPr id="9518" name="Google Shape;9518;p5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19" name="Google Shape;9519;p5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0" name="Google Shape;9520;p5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521" name="Google Shape;9521;p5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$-878</a:t>
            </a:r>
            <a:endParaRPr/>
          </a:p>
        </p:txBody>
      </p:sp>
      <p:sp>
        <p:nvSpPr>
          <p:cNvPr id="9522" name="Google Shape;9522;p5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3" name="Google Shape;9523;p5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4" name="Google Shape;9524;p5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$-878</a:t>
            </a:r>
            <a:endParaRPr/>
          </a:p>
        </p:txBody>
      </p:sp>
      <p:sp>
        <p:nvSpPr>
          <p:cNvPr id="9525" name="Google Shape;9525;p5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$-21,941</a:t>
            </a:r>
            <a:endParaRPr/>
          </a:p>
        </p:txBody>
      </p:sp>
      <p:sp>
        <p:nvSpPr>
          <p:cNvPr id="9526" name="Google Shape;9526;p5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7" name="Google Shape;9527;p5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528" name="Google Shape;9528;p5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$17,102</a:t>
            </a:r>
            <a:endParaRPr/>
          </a:p>
        </p:txBody>
      </p:sp>
      <p:sp>
        <p:nvSpPr>
          <p:cNvPr id="9529" name="Google Shape;9529;p5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30" name="Google Shape;9530;p5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$17,257</a:t>
            </a:r>
            <a:endParaRPr/>
          </a:p>
        </p:txBody>
      </p:sp>
      <p:sp>
        <p:nvSpPr>
          <p:cNvPr id="9531" name="Google Shape;9531;p5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$-155</a:t>
            </a:r>
            <a:endParaRPr/>
          </a:p>
        </p:txBody>
      </p:sp>
      <p:sp>
        <p:nvSpPr>
          <p:cNvPr id="9532" name="Google Shape;9532;p5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$-5,970</a:t>
            </a:r>
            <a:endParaRPr/>
          </a:p>
        </p:txBody>
      </p:sp>
      <p:sp>
        <p:nvSpPr>
          <p:cNvPr id="9533" name="Google Shape;9533;p5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4" name="Google Shape;9534;p5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535" name="Google Shape;9535;p5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$12,335</a:t>
            </a:r>
            <a:endParaRPr/>
          </a:p>
        </p:txBody>
      </p:sp>
      <p:sp>
        <p:nvSpPr>
          <p:cNvPr id="9536" name="Google Shape;9536;p5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37" name="Google Shape;9537;p5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$20,145</a:t>
            </a:r>
            <a:endParaRPr/>
          </a:p>
        </p:txBody>
      </p:sp>
      <p:sp>
        <p:nvSpPr>
          <p:cNvPr id="9538" name="Google Shape;9538;p5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$-7,809</a:t>
            </a:r>
            <a:endParaRPr/>
          </a:p>
        </p:txBody>
      </p:sp>
      <p:sp>
        <p:nvSpPr>
          <p:cNvPr id="9539" name="Google Shape;9539;p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$-8,416</a:t>
            </a:r>
            <a:endParaRPr/>
          </a:p>
        </p:txBody>
      </p:sp>
      <p:sp>
        <p:nvSpPr>
          <p:cNvPr id="9540" name="Google Shape;9540;p5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1" name="Google Shape;9541;p5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542" name="Google Shape;9542;p5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$67,738</a:t>
            </a:r>
            <a:endParaRPr/>
          </a:p>
        </p:txBody>
      </p:sp>
      <p:sp>
        <p:nvSpPr>
          <p:cNvPr id="9543" name="Google Shape;9543;p5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$14,701</a:t>
            </a:r>
            <a:endParaRPr/>
          </a:p>
        </p:txBody>
      </p:sp>
      <p:sp>
        <p:nvSpPr>
          <p:cNvPr id="9544" name="Google Shape;9544;p5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$57,755</a:t>
            </a:r>
            <a:endParaRPr/>
          </a:p>
        </p:txBody>
      </p:sp>
      <p:sp>
        <p:nvSpPr>
          <p:cNvPr id="9545" name="Google Shape;9545;p5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$-4,719</a:t>
            </a:r>
            <a:endParaRPr/>
          </a:p>
        </p:txBody>
      </p:sp>
      <p:sp>
        <p:nvSpPr>
          <p:cNvPr id="9546" name="Google Shape;9546;p5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$-50,518</a:t>
            </a:r>
            <a:endParaRPr/>
          </a:p>
        </p:txBody>
      </p:sp>
      <p:sp>
        <p:nvSpPr>
          <p:cNvPr id="9547" name="Google Shape;9547;p5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8" name="Google Shape;9548;p5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549" name="Google Shape;9549;p5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550" name="Google Shape;9550;p5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551" name="Google Shape;9551;p5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552" name="Google Shape;9552;p5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553" name="Google Shape;9553;p5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554" name="Google Shape;9554;p5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555" name="Google Shape;9555;p5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6" name="Google Shape;9556;p5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557" name="Google Shape;9557;p5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9558" name="Google Shape;9558;p5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59" name="Google Shape;9559;p5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9560" name="Google Shape;9560;p5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561" name="Google Shape;9561;p5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9562" name="Google Shape;9562;p5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3" name="Google Shape;9563;p5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564" name="Google Shape;9564;p5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9565" name="Google Shape;9565;p5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66" name="Google Shape;9566;p5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9567" name="Google Shape;9567;p5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568" name="Google Shape;9568;p5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9569" name="Google Shape;9569;p5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0" name="Google Shape;9570;p5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571" name="Google Shape;9571;p5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9572" name="Google Shape;9572;p5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73" name="Google Shape;9573;p5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9574" name="Google Shape;9574;p5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75" name="Google Shape;9575;p5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9576" name="Google Shape;9576;p5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7" name="Google Shape;9577;p5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578" name="Google Shape;9578;p5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9579" name="Google Shape;9579;p5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580" name="Google Shape;9580;p5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9581" name="Google Shape;9581;p5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582" name="Google Shape;9582;p5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9583" name="Google Shape;9583;p5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4" name="Google Shape;9584;p5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585" name="Google Shape;9585;p5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9586" name="Google Shape;9586;p5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87" name="Google Shape;9587;p5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9588" name="Google Shape;9588;p5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89" name="Google Shape;9589;p5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9590" name="Google Shape;9590;p5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1" name="Google Shape;9591;p5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592" name="Google Shape;9592;p5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170</a:t>
            </a:r>
            <a:endParaRPr/>
          </a:p>
        </p:txBody>
      </p:sp>
      <p:sp>
        <p:nvSpPr>
          <p:cNvPr id="9593" name="Google Shape;9593;p5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594" name="Google Shape;9594;p5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164</a:t>
            </a:r>
            <a:endParaRPr/>
          </a:p>
        </p:txBody>
      </p:sp>
      <p:sp>
        <p:nvSpPr>
          <p:cNvPr id="9595" name="Google Shape;9595;p5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596" name="Google Shape;9596;p5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9597" name="Google Shape;9597;p5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8" name="Google Shape;9598;p5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599" name="Google Shape;9599;p5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600" name="Google Shape;9600;p5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601" name="Google Shape;9601;p5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602" name="Google Shape;9602;p5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603" name="Google Shape;9603;p5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604" name="Google Shape;9604;p5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605" name="Google Shape;9605;p5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606" name="Google Shape;9606;p5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607" name="Google Shape;9607;p5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608" name="Google Shape;9608;p5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609" name="Google Shape;9609;p5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610" name="Google Shape;9610;p5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611" name="Google Shape;9611;p5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612" name="Google Shape;9612;p5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613" name="Google Shape;9613;p5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9614" name="Google Shape;9614;p5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9615" name="Google Shape;9615;p5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9616" name="Google Shape;9616;p5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9617" name="Google Shape;9617;p5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9618" name="Google Shape;9618;p5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9619" name="Google Shape;9619;p5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9620" name="Google Shape;9620;p5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9621" name="Google Shape;9621;p5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9622" name="Google Shape;9622;p5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9623" name="Google Shape;9623;p5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</p:txBody>
      </p:sp>
      <p:sp>
        <p:nvSpPr>
          <p:cNvPr id="9624" name="Google Shape;9624;p5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9625" name="Google Shape;9625;p5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626" name="Google Shape;9626;p5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9627" name="Google Shape;9627;p5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9628" name="Google Shape;9628;p5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$90K</a:t>
            </a:r>
            <a:endParaRPr/>
          </a:p>
        </p:txBody>
      </p:sp>
      <p:sp>
        <p:nvSpPr>
          <p:cNvPr id="9629" name="Google Shape;9629;p5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9630" name="Google Shape;9630;p5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9631" name="Google Shape;9631;p5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$-878</a:t>
            </a:r>
            <a:endParaRPr/>
          </a:p>
        </p:txBody>
      </p:sp>
      <p:sp>
        <p:nvSpPr>
          <p:cNvPr id="9632" name="Google Shape;9632;p5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9633" name="Google Shape;9633;p5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9634" name="Google Shape;9634;p5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9635" name="Google Shape;9635;p5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9636" name="Google Shape;9636;p5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$247K</a:t>
            </a:r>
            <a:endParaRPr/>
          </a:p>
        </p:txBody>
      </p:sp>
      <p:sp>
        <p:nvSpPr>
          <p:cNvPr id="9637" name="Google Shape;9637;p5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$68K</a:t>
            </a:r>
            <a:endParaRPr/>
          </a:p>
        </p:txBody>
      </p:sp>
      <p:sp>
        <p:nvSpPr>
          <p:cNvPr id="9638" name="Google Shape;9638;p5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9" name="Google Shape;9639;p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640" name="Google Shape;9640;p5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641" name="Google Shape;9641;p5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$67,738 YTD gross written premium</a:t>
            </a:r>
            <a:endParaRPr/>
          </a:p>
        </p:txBody>
      </p:sp>
      <p:sp>
        <p:nvSpPr>
          <p:cNvPr id="9642" name="Google Shape;9642;p5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643" name="Google Shape;9643;p5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$14,701 in new business production</a:t>
            </a:r>
            <a:endParaRPr/>
          </a:p>
        </p:txBody>
      </p:sp>
      <p:sp>
        <p:nvSpPr>
          <p:cNvPr id="9644" name="Google Shape;9644;p5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5" name="Google Shape;9645;p5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646" name="Google Shape;9646;p5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647" name="Google Shape;9647;p5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344% of new business ($50,518)</a:t>
            </a:r>
            <a:endParaRPr/>
          </a:p>
        </p:txBody>
      </p:sp>
      <p:sp>
        <p:nvSpPr>
          <p:cNvPr id="9648" name="Google Shape;9648;p5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649" name="Google Shape;9649;p5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65 to 26 MoM</a:t>
            </a:r>
            <a:endParaRPr/>
          </a:p>
        </p:txBody>
      </p:sp>
      <p:sp>
        <p:nvSpPr>
          <p:cNvPr id="9650" name="Google Shape;9650;p5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1" name="Google Shape;9651;p5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652" name="Google Shape;9652;p5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653" name="Google Shape;9653;p5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$14,701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9654" name="Google Shape;9654;p5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655" name="Google Shape;9655;p5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$50,518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659" name="Shape 9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0" name="Google Shape;9660;p6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1" name="Google Shape;9661;p6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West Coast Truck Insurance Agency</a:t>
            </a:r>
            <a:endParaRPr/>
          </a:p>
        </p:txBody>
      </p:sp>
      <p:sp>
        <p:nvSpPr>
          <p:cNvPr id="9662" name="Google Shape;9662;p6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UT  |  City: Lancaster</a:t>
            </a:r>
            <a:endParaRPr/>
          </a:p>
        </p:txBody>
      </p:sp>
      <p:sp>
        <p:nvSpPr>
          <p:cNvPr id="9663" name="Google Shape;9663;p6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$66,553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664" name="Google Shape;9664;p6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$51,226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665" name="Google Shape;9665;p6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666" name="Google Shape;9666;p6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667" name="Google Shape;9667;p6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$-60,086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668" name="Google Shape;9668;p6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$239,538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669" name="Google Shape;9669;p6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$265,055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670" name="Google Shape;9670;p6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671" name="Google Shape;9671;p6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672" name="Google Shape;9672;p6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673" name="Google Shape;9673;p6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674" name="Google Shape;9674;p6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675" name="Google Shape;9675;p6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$88,264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676" name="Google Shape;9676;p6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7" name="Google Shape;9677;p6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678" name="Google Shape;9678;p6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679" name="Google Shape;9679;p6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680" name="Google Shape;9680;p6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681" name="Google Shape;9681;p6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682" name="Google Shape;9682;p6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683" name="Google Shape;9683;p6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684" name="Google Shape;9684;p6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5" name="Google Shape;9685;p6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686" name="Google Shape;9686;p6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$32,009</a:t>
            </a:r>
            <a:endParaRPr/>
          </a:p>
        </p:txBody>
      </p:sp>
      <p:sp>
        <p:nvSpPr>
          <p:cNvPr id="9687" name="Google Shape;9687;p6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$32,009</a:t>
            </a:r>
            <a:endParaRPr/>
          </a:p>
        </p:txBody>
      </p:sp>
      <p:sp>
        <p:nvSpPr>
          <p:cNvPr id="9688" name="Google Shape;9688;p6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9" name="Google Shape;9689;p6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0" name="Google Shape;9690;p6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$-30,606</a:t>
            </a:r>
            <a:endParaRPr/>
          </a:p>
        </p:txBody>
      </p:sp>
      <p:sp>
        <p:nvSpPr>
          <p:cNvPr id="9691" name="Google Shape;9691;p6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2" name="Google Shape;9692;p6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693" name="Google Shape;9693;p6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4" name="Google Shape;9694;p6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5" name="Google Shape;9695;p6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6" name="Google Shape;9696;p6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7" name="Google Shape;9697;p6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$-12,623</a:t>
            </a:r>
            <a:endParaRPr/>
          </a:p>
        </p:txBody>
      </p:sp>
      <p:sp>
        <p:nvSpPr>
          <p:cNvPr id="9698" name="Google Shape;9698;p6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9" name="Google Shape;9699;p6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700" name="Google Shape;9700;p6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$-5,550</a:t>
            </a:r>
            <a:endParaRPr/>
          </a:p>
        </p:txBody>
      </p:sp>
      <p:sp>
        <p:nvSpPr>
          <p:cNvPr id="9701" name="Google Shape;9701;p6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2" name="Google Shape;9702;p6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3" name="Google Shape;9703;p6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$-5,550</a:t>
            </a:r>
            <a:endParaRPr/>
          </a:p>
        </p:txBody>
      </p:sp>
      <p:sp>
        <p:nvSpPr>
          <p:cNvPr id="9704" name="Google Shape;9704;p6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5" name="Google Shape;9705;p6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6" name="Google Shape;9706;p6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707" name="Google Shape;9707;p6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$3,440</a:t>
            </a:r>
            <a:endParaRPr/>
          </a:p>
        </p:txBody>
      </p:sp>
      <p:sp>
        <p:nvSpPr>
          <p:cNvPr id="9708" name="Google Shape;9708;p6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9" name="Google Shape;9709;p6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10" name="Google Shape;9710;p6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$3,440</a:t>
            </a:r>
            <a:endParaRPr/>
          </a:p>
        </p:txBody>
      </p:sp>
      <p:sp>
        <p:nvSpPr>
          <p:cNvPr id="9711" name="Google Shape;9711;p6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12" name="Google Shape;9712;p6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3" name="Google Shape;9713;p6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714" name="Google Shape;9714;p6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$36,654</a:t>
            </a:r>
            <a:endParaRPr/>
          </a:p>
        </p:txBody>
      </p:sp>
      <p:sp>
        <p:nvSpPr>
          <p:cNvPr id="9715" name="Google Shape;9715;p6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$19,217</a:t>
            </a:r>
            <a:endParaRPr/>
          </a:p>
        </p:txBody>
      </p:sp>
      <p:sp>
        <p:nvSpPr>
          <p:cNvPr id="9716" name="Google Shape;9716;p6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$17,437</a:t>
            </a:r>
            <a:endParaRPr/>
          </a:p>
        </p:txBody>
      </p:sp>
      <p:sp>
        <p:nvSpPr>
          <p:cNvPr id="9717" name="Google Shape;9717;p6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18" name="Google Shape;9718;p6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$-16,857</a:t>
            </a:r>
            <a:endParaRPr/>
          </a:p>
        </p:txBody>
      </p:sp>
      <p:sp>
        <p:nvSpPr>
          <p:cNvPr id="9719" name="Google Shape;9719;p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0" name="Google Shape;9720;p6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721" name="Google Shape;9721;p6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$66,553</a:t>
            </a:r>
            <a:endParaRPr/>
          </a:p>
        </p:txBody>
      </p:sp>
      <p:sp>
        <p:nvSpPr>
          <p:cNvPr id="9722" name="Google Shape;9722;p6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$51,226</a:t>
            </a:r>
            <a:endParaRPr/>
          </a:p>
        </p:txBody>
      </p:sp>
      <p:sp>
        <p:nvSpPr>
          <p:cNvPr id="9723" name="Google Shape;9723;p6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$17,437</a:t>
            </a:r>
            <a:endParaRPr/>
          </a:p>
        </p:txBody>
      </p:sp>
      <p:sp>
        <p:nvSpPr>
          <p:cNvPr id="9724" name="Google Shape;9724;p6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$-2,110</a:t>
            </a:r>
            <a:endParaRPr/>
          </a:p>
        </p:txBody>
      </p:sp>
      <p:sp>
        <p:nvSpPr>
          <p:cNvPr id="9725" name="Google Shape;9725;p6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$-60,086</a:t>
            </a:r>
            <a:endParaRPr/>
          </a:p>
        </p:txBody>
      </p:sp>
      <p:sp>
        <p:nvSpPr>
          <p:cNvPr id="9726" name="Google Shape;9726;p6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7" name="Google Shape;9727;p6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728" name="Google Shape;9728;p6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729" name="Google Shape;9729;p6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730" name="Google Shape;9730;p6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731" name="Google Shape;9731;p6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732" name="Google Shape;9732;p6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733" name="Google Shape;9733;p6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734" name="Google Shape;9734;p6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5" name="Google Shape;9735;p6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736" name="Google Shape;9736;p6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737" name="Google Shape;9737;p6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38" name="Google Shape;9738;p6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739" name="Google Shape;9739;p6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40" name="Google Shape;9740;p6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9741" name="Google Shape;9741;p6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2" name="Google Shape;9742;p6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743" name="Google Shape;9743;p6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744" name="Google Shape;9744;p6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45" name="Google Shape;9745;p6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746" name="Google Shape;9746;p6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47" name="Google Shape;9747;p6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9748" name="Google Shape;9748;p6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9" name="Google Shape;9749;p6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750" name="Google Shape;9750;p6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751" name="Google Shape;9751;p6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52" name="Google Shape;9752;p6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753" name="Google Shape;9753;p6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54" name="Google Shape;9754;p6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66.7%</a:t>
            </a:r>
            <a:endParaRPr/>
          </a:p>
        </p:txBody>
      </p:sp>
      <p:sp>
        <p:nvSpPr>
          <p:cNvPr id="9755" name="Google Shape;9755;p6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6" name="Google Shape;9756;p6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757" name="Google Shape;9757;p6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758" name="Google Shape;9758;p6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59" name="Google Shape;9759;p6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760" name="Google Shape;9760;p6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61" name="Google Shape;9761;p6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9762" name="Google Shape;9762;p6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63" name="Google Shape;9763;p6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764" name="Google Shape;9764;p6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9765" name="Google Shape;9765;p6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66" name="Google Shape;9766;p6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9767" name="Google Shape;9767;p6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68" name="Google Shape;9768;p6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9769" name="Google Shape;9769;p6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0" name="Google Shape;9770;p6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771" name="Google Shape;9771;p6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9772" name="Google Shape;9772;p6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73" name="Google Shape;9773;p6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9774" name="Google Shape;9774;p6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775" name="Google Shape;9775;p6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10.8%</a:t>
            </a:r>
            <a:endParaRPr/>
          </a:p>
        </p:txBody>
      </p:sp>
      <p:sp>
        <p:nvSpPr>
          <p:cNvPr id="9776" name="Google Shape;9776;p6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7" name="Google Shape;9777;p6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778" name="Google Shape;9778;p6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779" name="Google Shape;9779;p6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780" name="Google Shape;9780;p6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781" name="Google Shape;9781;p6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782" name="Google Shape;9782;p6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783" name="Google Shape;9783;p6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784" name="Google Shape;9784;p6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785" name="Google Shape;9785;p6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786" name="Google Shape;9786;p6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787" name="Google Shape;9787;p6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788" name="Google Shape;9788;p6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789" name="Google Shape;9789;p6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790" name="Google Shape;9790;p6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791" name="Google Shape;9791;p6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792" name="Google Shape;9792;p6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93" name="Google Shape;9793;p6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794" name="Google Shape;9794;p6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95" name="Google Shape;9795;p6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796" name="Google Shape;9796;p6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797" name="Google Shape;9797;p6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798" name="Google Shape;9798;p6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99" name="Google Shape;9799;p6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800" name="Google Shape;9800;p6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801" name="Google Shape;9801;p6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9802" name="Google Shape;9802;p6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803" name="Google Shape;9803;p6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9804" name="Google Shape;9804;p6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805" name="Google Shape;9805;p6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06" name="Google Shape;9806;p6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9807" name="Google Shape;9807;p6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08" name="Google Shape;9808;p6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09" name="Google Shape;9809;p6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10" name="Google Shape;9810;p6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$-5,550</a:t>
            </a:r>
            <a:endParaRPr/>
          </a:p>
        </p:txBody>
      </p:sp>
      <p:sp>
        <p:nvSpPr>
          <p:cNvPr id="9811" name="Google Shape;9811;p6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12" name="Google Shape;9812;p6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9813" name="Google Shape;9813;p6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9814" name="Google Shape;9814;p6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9815" name="Google Shape;9815;p6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9816" name="Google Shape;9816;p6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9817" name="Google Shape;9817;p6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8" name="Google Shape;9818;p6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819" name="Google Shape;9819;p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820" name="Google Shape;9820;p6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$66,553 YTD gross written premium</a:t>
            </a:r>
            <a:endParaRPr/>
          </a:p>
        </p:txBody>
      </p:sp>
      <p:sp>
        <p:nvSpPr>
          <p:cNvPr id="9821" name="Google Shape;9821;p6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822" name="Google Shape;9822;p6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$51,226 in new business production</a:t>
            </a:r>
            <a:endParaRPr/>
          </a:p>
        </p:txBody>
      </p:sp>
      <p:sp>
        <p:nvSpPr>
          <p:cNvPr id="9823" name="Google Shape;9823;p6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4" name="Google Shape;9824;p6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825" name="Google Shape;9825;p6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826" name="Google Shape;9826;p6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117% of new business ($60,086)</a:t>
            </a:r>
            <a:endParaRPr/>
          </a:p>
        </p:txBody>
      </p:sp>
      <p:sp>
        <p:nvSpPr>
          <p:cNvPr id="9827" name="Google Shape;9827;p6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8" name="Google Shape;9828;p6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829" name="Google Shape;9829;p6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830" name="Google Shape;9830;p6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$51,226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9831" name="Google Shape;9831;p6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832" name="Google Shape;9832;p6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$60,086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36" name="Shape 9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7" name="Google Shape;9837;p6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8" name="Google Shape;9838;p6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Transtar Insurance Brokers, Inc.</a:t>
            </a:r>
            <a:endParaRPr/>
          </a:p>
        </p:txBody>
      </p:sp>
      <p:sp>
        <p:nvSpPr>
          <p:cNvPr id="9839" name="Google Shape;9839;p6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AZ  |  City: Phoenix</a:t>
            </a:r>
            <a:endParaRPr/>
          </a:p>
        </p:txBody>
      </p:sp>
      <p:sp>
        <p:nvSpPr>
          <p:cNvPr id="9840" name="Google Shape;9840;p6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841" name="Google Shape;9841;p6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42" name="Google Shape;9842;p6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843" name="Google Shape;9843;p6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$-45,277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844" name="Google Shape;9844;p6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845" name="Google Shape;9845;p6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$194,602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846" name="Google Shape;9846;p6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$193,398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847" name="Google Shape;9847;p6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848" name="Google Shape;9848;p6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849" name="Google Shape;9849;p6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850" name="Google Shape;9850;p6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851" name="Google Shape;9851;p6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$104,493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852" name="Google Shape;9852;p6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$100,541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853" name="Google Shape;9853;p6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4" name="Google Shape;9854;p6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855" name="Google Shape;9855;p6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856" name="Google Shape;9856;p6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857" name="Google Shape;9857;p6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58" name="Google Shape;9858;p6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859" name="Google Shape;9859;p6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860" name="Google Shape;9860;p6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861" name="Google Shape;9861;p6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2" name="Google Shape;9862;p6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863" name="Google Shape;9863;p6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$10,087</a:t>
            </a:r>
            <a:endParaRPr/>
          </a:p>
        </p:txBody>
      </p:sp>
      <p:sp>
        <p:nvSpPr>
          <p:cNvPr id="9864" name="Google Shape;9864;p6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5" name="Google Shape;9865;p6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6" name="Google Shape;9866;p6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$10,087</a:t>
            </a:r>
            <a:endParaRPr/>
          </a:p>
        </p:txBody>
      </p:sp>
      <p:sp>
        <p:nvSpPr>
          <p:cNvPr id="9867" name="Google Shape;9867;p6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8" name="Google Shape;9868;p6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9" name="Google Shape;9869;p6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870" name="Google Shape;9870;p6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$-900</a:t>
            </a:r>
            <a:endParaRPr/>
          </a:p>
        </p:txBody>
      </p:sp>
      <p:sp>
        <p:nvSpPr>
          <p:cNvPr id="9871" name="Google Shape;9871;p6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2" name="Google Shape;9872;p6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3" name="Google Shape;9873;p6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$-900</a:t>
            </a:r>
            <a:endParaRPr/>
          </a:p>
        </p:txBody>
      </p:sp>
      <p:sp>
        <p:nvSpPr>
          <p:cNvPr id="9874" name="Google Shape;9874;p6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5" name="Google Shape;9875;p6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6" name="Google Shape;9876;p6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877" name="Google Shape;9877;p6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$-157</a:t>
            </a:r>
            <a:endParaRPr/>
          </a:p>
        </p:txBody>
      </p:sp>
      <p:sp>
        <p:nvSpPr>
          <p:cNvPr id="9878" name="Google Shape;9878;p6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9" name="Google Shape;9879;p6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0" name="Google Shape;9880;p6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$-157</a:t>
            </a:r>
            <a:endParaRPr/>
          </a:p>
        </p:txBody>
      </p:sp>
      <p:sp>
        <p:nvSpPr>
          <p:cNvPr id="9881" name="Google Shape;9881;p6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2" name="Google Shape;9882;p6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3" name="Google Shape;9883;p6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884" name="Google Shape;9884;p6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$51,995</a:t>
            </a:r>
            <a:endParaRPr/>
          </a:p>
        </p:txBody>
      </p:sp>
      <p:sp>
        <p:nvSpPr>
          <p:cNvPr id="9885" name="Google Shape;9885;p6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$106,293</a:t>
            </a:r>
            <a:endParaRPr/>
          </a:p>
        </p:txBody>
      </p:sp>
      <p:sp>
        <p:nvSpPr>
          <p:cNvPr id="9886" name="Google Shape;9886;p6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7" name="Google Shape;9887;p6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$-54,298</a:t>
            </a:r>
            <a:endParaRPr/>
          </a:p>
        </p:txBody>
      </p:sp>
      <p:sp>
        <p:nvSpPr>
          <p:cNvPr id="9888" name="Google Shape;9888;p6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9" name="Google Shape;9889;p6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0" name="Google Shape;9890;p6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891" name="Google Shape;9891;p6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9892" name="Google Shape;9892;p6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93" name="Google Shape;9893;p6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94" name="Google Shape;9894;p6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9895" name="Google Shape;9895;p6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96" name="Google Shape;9896;p6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7" name="Google Shape;9897;p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898" name="Google Shape;9898;p6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$61,016</a:t>
            </a:r>
            <a:endParaRPr/>
          </a:p>
        </p:txBody>
      </p:sp>
      <p:sp>
        <p:nvSpPr>
          <p:cNvPr id="9899" name="Google Shape;9899;p6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$106,293</a:t>
            </a:r>
            <a:endParaRPr/>
          </a:p>
        </p:txBody>
      </p:sp>
      <p:sp>
        <p:nvSpPr>
          <p:cNvPr id="9900" name="Google Shape;9900;p6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1" name="Google Shape;9901;p6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$-45,277</a:t>
            </a:r>
            <a:endParaRPr/>
          </a:p>
        </p:txBody>
      </p:sp>
      <p:sp>
        <p:nvSpPr>
          <p:cNvPr id="9902" name="Google Shape;9902;p6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3" name="Google Shape;9903;p6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4" name="Google Shape;9904;p6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905" name="Google Shape;9905;p6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906" name="Google Shape;9906;p6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907" name="Google Shape;9907;p6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908" name="Google Shape;9908;p6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909" name="Google Shape;9909;p6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910" name="Google Shape;9910;p6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911" name="Google Shape;9911;p6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2" name="Google Shape;9912;p6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913" name="Google Shape;9913;p6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9914" name="Google Shape;9914;p6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915" name="Google Shape;9915;p6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9916" name="Google Shape;9916;p6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17" name="Google Shape;9917;p6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9918" name="Google Shape;9918;p6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9" name="Google Shape;9919;p6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920" name="Google Shape;9920;p6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9921" name="Google Shape;9921;p6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22" name="Google Shape;9922;p6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9923" name="Google Shape;9923;p6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924" name="Google Shape;9924;p6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12.0%</a:t>
            </a:r>
            <a:endParaRPr/>
          </a:p>
        </p:txBody>
      </p:sp>
      <p:sp>
        <p:nvSpPr>
          <p:cNvPr id="9925" name="Google Shape;9925;p6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6" name="Google Shape;9926;p6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927" name="Google Shape;9927;p6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9928" name="Google Shape;9928;p6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929" name="Google Shape;9929;p6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9930" name="Google Shape;9930;p6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31" name="Google Shape;9931;p6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9932" name="Google Shape;9932;p6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3" name="Google Shape;9933;p6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934" name="Google Shape;9934;p6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9935" name="Google Shape;9935;p6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936" name="Google Shape;9936;p6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9937" name="Google Shape;9937;p6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938" name="Google Shape;9938;p6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9939" name="Google Shape;9939;p6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0" name="Google Shape;9940;p6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941" name="Google Shape;9941;p6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9942" name="Google Shape;9942;p6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43" name="Google Shape;9943;p6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9944" name="Google Shape;9944;p6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45" name="Google Shape;9945;p6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9946" name="Google Shape;9946;p6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7" name="Google Shape;9947;p6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948" name="Google Shape;9948;p6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</a:t>
            </a:r>
            <a:endParaRPr/>
          </a:p>
        </p:txBody>
      </p:sp>
      <p:sp>
        <p:nvSpPr>
          <p:cNvPr id="9949" name="Google Shape;9949;p6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9950" name="Google Shape;9950;p6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109</a:t>
            </a:r>
            <a:endParaRPr/>
          </a:p>
        </p:txBody>
      </p:sp>
      <p:sp>
        <p:nvSpPr>
          <p:cNvPr id="9951" name="Google Shape;9951;p6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952" name="Google Shape;9952;p6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9953" name="Google Shape;9953;p6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4" name="Google Shape;9954;p6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955" name="Google Shape;9955;p6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956" name="Google Shape;9956;p6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957" name="Google Shape;9957;p6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958" name="Google Shape;9958;p6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959" name="Google Shape;9959;p6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960" name="Google Shape;9960;p6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961" name="Google Shape;9961;p6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962" name="Google Shape;9962;p6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963" name="Google Shape;9963;p6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964" name="Google Shape;9964;p6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965" name="Google Shape;9965;p6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966" name="Google Shape;9966;p6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967" name="Google Shape;9967;p6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968" name="Google Shape;9968;p6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969" name="Google Shape;9969;p6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9970" name="Google Shape;9970;p6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9971" name="Google Shape;9971;p6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9972" name="Google Shape;9972;p6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9973" name="Google Shape;9973;p6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9974" name="Google Shape;9974;p6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9975" name="Google Shape;9975;p6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9976" name="Google Shape;9976;p6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9977" name="Google Shape;9977;p6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9978" name="Google Shape;9978;p6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9979" name="Google Shape;9979;p6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224</a:t>
            </a:r>
            <a:endParaRPr/>
          </a:p>
        </p:txBody>
      </p:sp>
      <p:sp>
        <p:nvSpPr>
          <p:cNvPr id="9980" name="Google Shape;9980;p6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145</a:t>
            </a:r>
            <a:endParaRPr/>
          </a:p>
        </p:txBody>
      </p:sp>
      <p:sp>
        <p:nvSpPr>
          <p:cNvPr id="9981" name="Google Shape;9981;p6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982" name="Google Shape;9982;p6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9983" name="Google Shape;9983;p6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9984" name="Google Shape;9984;p6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$-5,342</a:t>
            </a:r>
            <a:endParaRPr/>
          </a:p>
        </p:txBody>
      </p:sp>
      <p:sp>
        <p:nvSpPr>
          <p:cNvPr id="9985" name="Google Shape;9985;p6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$-900</a:t>
            </a:r>
            <a:endParaRPr/>
          </a:p>
        </p:txBody>
      </p:sp>
      <p:sp>
        <p:nvSpPr>
          <p:cNvPr id="9986" name="Google Shape;9986;p6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$-750</a:t>
            </a:r>
            <a:endParaRPr/>
          </a:p>
        </p:txBody>
      </p:sp>
      <p:sp>
        <p:nvSpPr>
          <p:cNvPr id="9987" name="Google Shape;9987;p6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$-157</a:t>
            </a:r>
            <a:endParaRPr/>
          </a:p>
        </p:txBody>
      </p:sp>
      <p:sp>
        <p:nvSpPr>
          <p:cNvPr id="9988" name="Google Shape;9988;p6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$64K</a:t>
            </a:r>
            <a:endParaRPr/>
          </a:p>
        </p:txBody>
      </p:sp>
      <p:sp>
        <p:nvSpPr>
          <p:cNvPr id="9989" name="Google Shape;9989;p6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9990" name="Google Shape;9990;p6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$-16,230</a:t>
            </a:r>
            <a:endParaRPr/>
          </a:p>
        </p:txBody>
      </p:sp>
      <p:sp>
        <p:nvSpPr>
          <p:cNvPr id="9991" name="Google Shape;9991;p6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9992" name="Google Shape;9992;p6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$62K</a:t>
            </a:r>
            <a:endParaRPr/>
          </a:p>
        </p:txBody>
      </p:sp>
      <p:sp>
        <p:nvSpPr>
          <p:cNvPr id="9993" name="Google Shape;9993;p6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9994" name="Google Shape;9994;p6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5" name="Google Shape;9995;p6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996" name="Google Shape;9996;p6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997" name="Google Shape;9997;p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$61,016 YTD gross written premium</a:t>
            </a:r>
            <a:endParaRPr/>
          </a:p>
        </p:txBody>
      </p:sp>
      <p:sp>
        <p:nvSpPr>
          <p:cNvPr id="9998" name="Google Shape;9998;p6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999" name="Google Shape;9999;p6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$106,293 in new business production</a:t>
            </a:r>
            <a:endParaRPr/>
          </a:p>
        </p:txBody>
      </p:sp>
      <p:sp>
        <p:nvSpPr>
          <p:cNvPr id="10000" name="Google Shape;10000;p6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1" name="Google Shape;10001;p6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002" name="Google Shape;10002;p6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003" name="Google Shape;10003;p6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10004" name="Google Shape;10004;p6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5" name="Google Shape;10005;p6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006" name="Google Shape;10006;p6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007" name="Google Shape;10007;p6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$106,293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10008" name="Google Shape;10008;p6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0009" name="Google Shape;10009;p6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13" name="Shape 10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4" name="Google Shape;10014;p6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5" name="Google Shape;10015;p6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Infinite Risk Management And Insurance Solutions Inc</a:t>
            </a:r>
            <a:endParaRPr/>
          </a:p>
        </p:txBody>
      </p:sp>
      <p:sp>
        <p:nvSpPr>
          <p:cNvPr id="10016" name="Google Shape;10016;p6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Los Angeles</a:t>
            </a:r>
            <a:endParaRPr/>
          </a:p>
        </p:txBody>
      </p:sp>
      <p:sp>
        <p:nvSpPr>
          <p:cNvPr id="10017" name="Google Shape;10017;p6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018" name="Google Shape;10018;p6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019" name="Google Shape;10019;p6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020" name="Google Shape;10020;p6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$34,526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21" name="Google Shape;10021;p6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022" name="Google Shape;10022;p6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$397,569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023" name="Google Shape;10023;p6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$383,069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024" name="Google Shape;10024;p6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025" name="Google Shape;10025;p6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026" name="Google Shape;10026;p6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027" name="Google Shape;10027;p6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028" name="Google Shape;10028;p6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$80,426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029" name="Google Shape;10029;p6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030" name="Google Shape;10030;p6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1" name="Google Shape;10031;p6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032" name="Google Shape;10032;p6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033" name="Google Shape;10033;p6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034" name="Google Shape;10034;p6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035" name="Google Shape;10035;p6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036" name="Google Shape;10036;p6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37" name="Google Shape;10037;p6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038" name="Google Shape;10038;p6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9" name="Google Shape;10039;p6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040" name="Google Shape;10040;p6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1" name="Google Shape;10041;p6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2" name="Google Shape;10042;p6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3" name="Google Shape;10043;p6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4" name="Google Shape;10044;p6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5" name="Google Shape;10045;p6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6" name="Google Shape;10046;p6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047" name="Google Shape;10047;p6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$14,262</a:t>
            </a:r>
            <a:endParaRPr/>
          </a:p>
        </p:txBody>
      </p:sp>
      <p:sp>
        <p:nvSpPr>
          <p:cNvPr id="10048" name="Google Shape;10048;p6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9" name="Google Shape;10049;p6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0" name="Google Shape;10050;p6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$14,262</a:t>
            </a:r>
            <a:endParaRPr/>
          </a:p>
        </p:txBody>
      </p:sp>
      <p:sp>
        <p:nvSpPr>
          <p:cNvPr id="10051" name="Google Shape;10051;p6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2" name="Google Shape;10052;p6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3" name="Google Shape;10053;p6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054" name="Google Shape;10054;p6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$387</a:t>
            </a:r>
            <a:endParaRPr/>
          </a:p>
        </p:txBody>
      </p:sp>
      <p:sp>
        <p:nvSpPr>
          <p:cNvPr id="10055" name="Google Shape;10055;p6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6" name="Google Shape;10056;p6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7" name="Google Shape;10057;p6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$387</a:t>
            </a:r>
            <a:endParaRPr/>
          </a:p>
        </p:txBody>
      </p:sp>
      <p:sp>
        <p:nvSpPr>
          <p:cNvPr id="10058" name="Google Shape;10058;p6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$-17,416</a:t>
            </a:r>
            <a:endParaRPr/>
          </a:p>
        </p:txBody>
      </p:sp>
      <p:sp>
        <p:nvSpPr>
          <p:cNvPr id="10059" name="Google Shape;10059;p6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0" name="Google Shape;10060;p6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061" name="Google Shape;10061;p6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$19,900</a:t>
            </a:r>
            <a:endParaRPr/>
          </a:p>
        </p:txBody>
      </p:sp>
      <p:sp>
        <p:nvSpPr>
          <p:cNvPr id="10062" name="Google Shape;10062;p6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$19,900</a:t>
            </a:r>
            <a:endParaRPr/>
          </a:p>
        </p:txBody>
      </p:sp>
      <p:sp>
        <p:nvSpPr>
          <p:cNvPr id="10063" name="Google Shape;10063;p6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4" name="Google Shape;10064;p6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5" name="Google Shape;10065;p6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6" name="Google Shape;10066;p6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7" name="Google Shape;10067;p6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068" name="Google Shape;10068;p6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$19,877</a:t>
            </a:r>
            <a:endParaRPr/>
          </a:p>
        </p:txBody>
      </p:sp>
      <p:sp>
        <p:nvSpPr>
          <p:cNvPr id="10069" name="Google Shape;10069;p6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0" name="Google Shape;10070;p6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1" name="Google Shape;10071;p6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$19,877</a:t>
            </a:r>
            <a:endParaRPr/>
          </a:p>
        </p:txBody>
      </p:sp>
      <p:sp>
        <p:nvSpPr>
          <p:cNvPr id="10072" name="Google Shape;10072;p6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3" name="Google Shape;10073;p6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4" name="Google Shape;10074;p6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075" name="Google Shape;10075;p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$54,426</a:t>
            </a:r>
            <a:endParaRPr/>
          </a:p>
        </p:txBody>
      </p:sp>
      <p:sp>
        <p:nvSpPr>
          <p:cNvPr id="10076" name="Google Shape;10076;p6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$19,900</a:t>
            </a:r>
            <a:endParaRPr/>
          </a:p>
        </p:txBody>
      </p:sp>
      <p:sp>
        <p:nvSpPr>
          <p:cNvPr id="10077" name="Google Shape;10077;p6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8" name="Google Shape;10078;p6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$34,526</a:t>
            </a:r>
            <a:endParaRPr/>
          </a:p>
        </p:txBody>
      </p:sp>
      <p:sp>
        <p:nvSpPr>
          <p:cNvPr id="10079" name="Google Shape;10079;p6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$-17,416</a:t>
            </a:r>
            <a:endParaRPr/>
          </a:p>
        </p:txBody>
      </p:sp>
      <p:sp>
        <p:nvSpPr>
          <p:cNvPr id="10080" name="Google Shape;10080;p6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81" name="Google Shape;10081;p6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082" name="Google Shape;10082;p6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083" name="Google Shape;10083;p6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084" name="Google Shape;10084;p6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085" name="Google Shape;10085;p6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086" name="Google Shape;10086;p6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087" name="Google Shape;10087;p6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088" name="Google Shape;10088;p6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89" name="Google Shape;10089;p6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090" name="Google Shape;10090;p6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091" name="Google Shape;10091;p6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092" name="Google Shape;10092;p6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093" name="Google Shape;10093;p6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094" name="Google Shape;10094;p6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0095" name="Google Shape;10095;p6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96" name="Google Shape;10096;p6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097" name="Google Shape;10097;p6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0098" name="Google Shape;10098;p6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099" name="Google Shape;10099;p6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100" name="Google Shape;10100;p6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101" name="Google Shape;10101;p6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10102" name="Google Shape;10102;p6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3" name="Google Shape;10103;p6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104" name="Google Shape;10104;p6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0105" name="Google Shape;10105;p6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106" name="Google Shape;10106;p6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107" name="Google Shape;10107;p6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08" name="Google Shape;10108;p6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10109" name="Google Shape;10109;p6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0" name="Google Shape;10110;p6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111" name="Google Shape;10111;p6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112" name="Google Shape;10112;p6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13" name="Google Shape;10113;p6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114" name="Google Shape;10114;p6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15" name="Google Shape;10115;p6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16" name="Google Shape;10116;p6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7" name="Google Shape;10117;p6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118" name="Google Shape;10118;p6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119" name="Google Shape;10119;p6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120" name="Google Shape;10120;p6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121" name="Google Shape;10121;p6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22" name="Google Shape;10122;p6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10123" name="Google Shape;10123;p6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4" name="Google Shape;10124;p6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125" name="Google Shape;10125;p6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10126" name="Google Shape;10126;p6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0127" name="Google Shape;10127;p6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0128" name="Google Shape;10128;p6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29" name="Google Shape;10129;p6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10130" name="Google Shape;10130;p6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1" name="Google Shape;10131;p6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132" name="Google Shape;10132;p6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133" name="Google Shape;10133;p6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134" name="Google Shape;10134;p6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135" name="Google Shape;10135;p6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136" name="Google Shape;10136;p6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137" name="Google Shape;10137;p6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138" name="Google Shape;10138;p6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139" name="Google Shape;10139;p6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140" name="Google Shape;10140;p6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141" name="Google Shape;10141;p6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142" name="Google Shape;10142;p6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143" name="Google Shape;10143;p6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144" name="Google Shape;10144;p6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145" name="Google Shape;10145;p6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146" name="Google Shape;10146;p6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47" name="Google Shape;10147;p6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148" name="Google Shape;10148;p6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149" name="Google Shape;10149;p6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0150" name="Google Shape;10150;p6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151" name="Google Shape;10151;p6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0152" name="Google Shape;10152;p6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153" name="Google Shape;10153;p6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154" name="Google Shape;10154;p6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55" name="Google Shape;10155;p6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156" name="Google Shape;10156;p6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0157" name="Google Shape;10157;p6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10158" name="Google Shape;10158;p6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159" name="Google Shape;10159;p6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60" name="Google Shape;10160;p6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61" name="Google Shape;10161;p6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62" name="Google Shape;10162;p6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10163" name="Google Shape;10163;p6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10164" name="Google Shape;10164;p6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$387</a:t>
            </a:r>
            <a:endParaRPr/>
          </a:p>
        </p:txBody>
      </p:sp>
      <p:sp>
        <p:nvSpPr>
          <p:cNvPr id="10165" name="Google Shape;10165;p6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66" name="Google Shape;10166;p6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10167" name="Google Shape;10167;p6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10168" name="Google Shape;10168;p6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10169" name="Google Shape;10169;p6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10170" name="Google Shape;10170;p6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10171" name="Google Shape;10171;p6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2" name="Google Shape;10172;p6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173" name="Google Shape;10173;p6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174" name="Google Shape;10174;p6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$54,426 YTD gross written premium</a:t>
            </a:r>
            <a:endParaRPr/>
          </a:p>
        </p:txBody>
      </p:sp>
      <p:sp>
        <p:nvSpPr>
          <p:cNvPr id="10175" name="Google Shape;10175;p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176" name="Google Shape;10176;p6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$19,900 in new business production</a:t>
            </a:r>
            <a:endParaRPr/>
          </a:p>
        </p:txBody>
      </p:sp>
      <p:sp>
        <p:nvSpPr>
          <p:cNvPr id="10177" name="Google Shape;10177;p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8" name="Google Shape;10178;p6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179" name="Google Shape;10179;p6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180" name="Google Shape;10180;p6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88% of new business ($17,416)</a:t>
            </a:r>
            <a:endParaRPr/>
          </a:p>
        </p:txBody>
      </p:sp>
      <p:sp>
        <p:nvSpPr>
          <p:cNvPr id="10181" name="Google Shape;10181;p6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2" name="Google Shape;10182;p6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183" name="Google Shape;10183;p6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184" name="Google Shape;10184;p6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$19,900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10185" name="Google Shape;10185;p6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0186" name="Google Shape;10186;p6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$17,416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90" name="Shape 10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1" name="Google Shape;10191;p6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2" name="Google Shape;10192;p6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PCF Insurance Services of the West LLC DBA: Good's Insurance Agency</a:t>
            </a:r>
            <a:endParaRPr/>
          </a:p>
        </p:txBody>
      </p:sp>
      <p:sp>
        <p:nvSpPr>
          <p:cNvPr id="10193" name="Google Shape;10193;p6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Woodland Hills</a:t>
            </a:r>
            <a:endParaRPr/>
          </a:p>
        </p:txBody>
      </p:sp>
      <p:sp>
        <p:nvSpPr>
          <p:cNvPr id="10194" name="Google Shape;10194;p6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$31,849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195" name="Google Shape;10195;p6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196" name="Google Shape;10196;p6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197" name="Google Shape;10197;p6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198" name="Google Shape;10198;p6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$-9,231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99" name="Google Shape;10199;p6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$236,689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200" name="Google Shape;10200;p6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$172,857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201" name="Google Shape;10201;p6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202" name="Google Shape;10202;p6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203" name="Google Shape;10203;p6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204" name="Google Shape;10204;p6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205" name="Google Shape;10205;p6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206" name="Google Shape;10206;p6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$60,534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207" name="Google Shape;10207;p6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8" name="Google Shape;10208;p6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209" name="Google Shape;10209;p6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210" name="Google Shape;10210;p6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211" name="Google Shape;10211;p6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212" name="Google Shape;10212;p6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213" name="Google Shape;10213;p6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214" name="Google Shape;10214;p6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215" name="Google Shape;10215;p6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6" name="Google Shape;10216;p6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217" name="Google Shape;10217;p6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</a:t>
            </a:r>
            <a:endParaRPr/>
          </a:p>
        </p:txBody>
      </p:sp>
      <p:sp>
        <p:nvSpPr>
          <p:cNvPr id="10218" name="Google Shape;10218;p6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19" name="Google Shape;10219;p6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20" name="Google Shape;10220;p6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</a:t>
            </a:r>
            <a:endParaRPr/>
          </a:p>
        </p:txBody>
      </p:sp>
      <p:sp>
        <p:nvSpPr>
          <p:cNvPr id="10221" name="Google Shape;10221;p6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$-9,231</a:t>
            </a:r>
            <a:endParaRPr/>
          </a:p>
        </p:txBody>
      </p:sp>
      <p:sp>
        <p:nvSpPr>
          <p:cNvPr id="10222" name="Google Shape;10222;p6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3" name="Google Shape;10223;p6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224" name="Google Shape;10224;p6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25" name="Google Shape;10225;p6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26" name="Google Shape;10226;p6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27" name="Google Shape;10227;p6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28" name="Google Shape;10228;p6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29" name="Google Shape;10229;p6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0" name="Google Shape;10230;p6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231" name="Google Shape;10231;p6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2" name="Google Shape;10232;p6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3" name="Google Shape;10233;p6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4" name="Google Shape;10234;p6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5" name="Google Shape;10235;p6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6" name="Google Shape;10236;p6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7" name="Google Shape;10237;p6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238" name="Google Shape;10238;p6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$31,909</a:t>
            </a:r>
            <a:endParaRPr/>
          </a:p>
        </p:txBody>
      </p:sp>
      <p:sp>
        <p:nvSpPr>
          <p:cNvPr id="10239" name="Google Shape;10239;p6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0" name="Google Shape;10240;p6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$12,303</a:t>
            </a:r>
            <a:endParaRPr/>
          </a:p>
        </p:txBody>
      </p:sp>
      <p:sp>
        <p:nvSpPr>
          <p:cNvPr id="10241" name="Google Shape;10241;p6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$19,606</a:t>
            </a:r>
            <a:endParaRPr/>
          </a:p>
        </p:txBody>
      </p:sp>
      <p:sp>
        <p:nvSpPr>
          <p:cNvPr id="10242" name="Google Shape;10242;p6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3" name="Google Shape;10243;p6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44" name="Google Shape;10244;p6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245" name="Google Shape;10245;p6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6" name="Google Shape;10246;p6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7" name="Google Shape;10247;p6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8" name="Google Shape;10248;p6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9" name="Google Shape;10249;p6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0" name="Google Shape;10250;p6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1" name="Google Shape;10251;p6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252" name="Google Shape;10252;p6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$31,849</a:t>
            </a:r>
            <a:endParaRPr/>
          </a:p>
        </p:txBody>
      </p:sp>
      <p:sp>
        <p:nvSpPr>
          <p:cNvPr id="10253" name="Google Shape;10253;p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4" name="Google Shape;10254;p6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$12,303</a:t>
            </a:r>
            <a:endParaRPr/>
          </a:p>
        </p:txBody>
      </p:sp>
      <p:sp>
        <p:nvSpPr>
          <p:cNvPr id="10255" name="Google Shape;10255;p6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$19,545</a:t>
            </a:r>
            <a:endParaRPr/>
          </a:p>
        </p:txBody>
      </p:sp>
      <p:sp>
        <p:nvSpPr>
          <p:cNvPr id="10256" name="Google Shape;10256;p6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$-9,231</a:t>
            </a:r>
            <a:endParaRPr/>
          </a:p>
        </p:txBody>
      </p:sp>
      <p:sp>
        <p:nvSpPr>
          <p:cNvPr id="10257" name="Google Shape;10257;p6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8" name="Google Shape;10258;p6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259" name="Google Shape;10259;p6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260" name="Google Shape;10260;p6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261" name="Google Shape;10261;p6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262" name="Google Shape;10262;p6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263" name="Google Shape;10263;p6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264" name="Google Shape;10264;p6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265" name="Google Shape;10265;p6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6" name="Google Shape;10266;p6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267" name="Google Shape;10267;p6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268" name="Google Shape;10268;p6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269" name="Google Shape;10269;p6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270" name="Google Shape;10270;p6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271" name="Google Shape;10271;p6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10272" name="Google Shape;10272;p6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73" name="Google Shape;10273;p6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274" name="Google Shape;10274;p6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0275" name="Google Shape;10275;p6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276" name="Google Shape;10276;p6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0277" name="Google Shape;10277;p6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78" name="Google Shape;10278;p6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279" name="Google Shape;10279;p6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0" name="Google Shape;10280;p6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281" name="Google Shape;10281;p6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282" name="Google Shape;10282;p6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283" name="Google Shape;10283;p6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284" name="Google Shape;10284;p6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85" name="Google Shape;10285;p6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286" name="Google Shape;10286;p6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7" name="Google Shape;10287;p6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288" name="Google Shape;10288;p6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0289" name="Google Shape;10289;p6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90" name="Google Shape;10290;p6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0291" name="Google Shape;10291;p6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292" name="Google Shape;10292;p6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10293" name="Google Shape;10293;p6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4" name="Google Shape;10294;p6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295" name="Google Shape;10295;p6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0296" name="Google Shape;10296;p6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297" name="Google Shape;10297;p6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298" name="Google Shape;10298;p6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299" name="Google Shape;10299;p6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10300" name="Google Shape;10300;p6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1" name="Google Shape;10301;p6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302" name="Google Shape;10302;p6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10303" name="Google Shape;10303;p6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304" name="Google Shape;10304;p6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10305" name="Google Shape;10305;p6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306" name="Google Shape;10306;p6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</p:txBody>
      </p:sp>
      <p:sp>
        <p:nvSpPr>
          <p:cNvPr id="10307" name="Google Shape;10307;p6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8" name="Google Shape;10308;p6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309" name="Google Shape;10309;p6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310" name="Google Shape;10310;p6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311" name="Google Shape;10311;p6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312" name="Google Shape;10312;p6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313" name="Google Shape;10313;p6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314" name="Google Shape;10314;p6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315" name="Google Shape;10315;p6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316" name="Google Shape;10316;p6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317" name="Google Shape;10317;p6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318" name="Google Shape;10318;p6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319" name="Google Shape;10319;p6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320" name="Google Shape;10320;p6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321" name="Google Shape;10321;p6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322" name="Google Shape;10322;p6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323" name="Google Shape;10323;p6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0324" name="Google Shape;10324;p6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325" name="Google Shape;10325;p6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326" name="Google Shape;10326;p6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0327" name="Google Shape;10327;p6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0328" name="Google Shape;10328;p6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329" name="Google Shape;10329;p6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330" name="Google Shape;10330;p6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0331" name="Google Shape;10331;p6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0332" name="Google Shape;10332;p6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0333" name="Google Shape;10333;p6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10334" name="Google Shape;10334;p6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10335" name="Google Shape;10335;p6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336" name="Google Shape;10336;p6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$-390</a:t>
            </a:r>
            <a:endParaRPr/>
          </a:p>
        </p:txBody>
      </p:sp>
      <p:sp>
        <p:nvSpPr>
          <p:cNvPr id="10337" name="Google Shape;10337;p6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$-61</a:t>
            </a:r>
            <a:endParaRPr/>
          </a:p>
        </p:txBody>
      </p:sp>
      <p:sp>
        <p:nvSpPr>
          <p:cNvPr id="10338" name="Google Shape;10338;p6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10339" name="Google Shape;10339;p6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0" name="Google Shape;10340;p6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1" name="Google Shape;10341;p6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2" name="Google Shape;10342;p6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10343" name="Google Shape;10343;p6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10344" name="Google Shape;10344;p6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10345" name="Google Shape;10345;p6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6" name="Google Shape;10346;p6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$96K</a:t>
            </a:r>
            <a:endParaRPr/>
          </a:p>
        </p:txBody>
      </p:sp>
      <p:sp>
        <p:nvSpPr>
          <p:cNvPr id="10347" name="Google Shape;10347;p6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10348" name="Google Shape;10348;p6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49" name="Google Shape;10349;p6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350" name="Google Shape;10350;p6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351" name="Google Shape;10351;p6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$31,849 YTD gross written premium</a:t>
            </a:r>
            <a:endParaRPr/>
          </a:p>
        </p:txBody>
      </p:sp>
      <p:sp>
        <p:nvSpPr>
          <p:cNvPr id="10352" name="Google Shape;10352;p6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353" name="Google Shape;10353;p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$12,303 in renewals - strong retention</a:t>
            </a:r>
            <a:endParaRPr/>
          </a:p>
        </p:txBody>
      </p:sp>
      <p:sp>
        <p:nvSpPr>
          <p:cNvPr id="10354" name="Google Shape;10354;p6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55" name="Google Shape;10355;p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356" name="Google Shape;10356;p6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357" name="Google Shape;10357;p6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2.5% hit ratio on 79 subs - needs coaching</a:t>
            </a:r>
            <a:endParaRPr/>
          </a:p>
        </p:txBody>
      </p:sp>
      <p:sp>
        <p:nvSpPr>
          <p:cNvPr id="10358" name="Google Shape;10358;p6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359" name="Google Shape;10359;p6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10360" name="Google Shape;10360;p6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61" name="Google Shape;10361;p6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362" name="Google Shape;10362;p6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363" name="Google Shape;10363;p6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(79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10364" name="Google Shape;10364;p6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0365" name="Google Shape;10365;p6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369" name="Shape 10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0" name="Google Shape;10370;p6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71" name="Google Shape;10371;p6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Professionals, LLC</a:t>
            </a:r>
            <a:endParaRPr/>
          </a:p>
        </p:txBody>
      </p:sp>
      <p:sp>
        <p:nvSpPr>
          <p:cNvPr id="10372" name="Google Shape;10372;p6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NV  |  City: Pahrump</a:t>
            </a:r>
            <a:endParaRPr/>
          </a:p>
        </p:txBody>
      </p:sp>
      <p:sp>
        <p:nvSpPr>
          <p:cNvPr id="10373" name="Google Shape;10373;p6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374" name="Google Shape;10374;p6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375" name="Google Shape;10375;p6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376" name="Google Shape;10376;p6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377" name="Google Shape;10377;p6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$-14,131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378" name="Google Shape;10378;p6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$191,089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379" name="Google Shape;10379;p6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$111,635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380" name="Google Shape;10380;p6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381" name="Google Shape;10381;p6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382" name="Google Shape;10382;p6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383" name="Google Shape;10383;p6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384" name="Google Shape;10384;p6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$40,510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385" name="Google Shape;10385;p6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386" name="Google Shape;10386;p6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87" name="Google Shape;10387;p6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388" name="Google Shape;10388;p6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389" name="Google Shape;10389;p6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390" name="Google Shape;10390;p6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391" name="Google Shape;10391;p6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392" name="Google Shape;10392;p6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393" name="Google Shape;10393;p6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394" name="Google Shape;10394;p6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5" name="Google Shape;10395;p6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396" name="Google Shape;10396;p6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97" name="Google Shape;10397;p6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98" name="Google Shape;10398;p6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99" name="Google Shape;10399;p6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00" name="Google Shape;10400;p6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01" name="Google Shape;10401;p6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2" name="Google Shape;10402;p6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403" name="Google Shape;10403;p6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$4,302</a:t>
            </a:r>
            <a:endParaRPr/>
          </a:p>
        </p:txBody>
      </p:sp>
      <p:sp>
        <p:nvSpPr>
          <p:cNvPr id="10404" name="Google Shape;10404;p6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05" name="Google Shape;10405;p6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06" name="Google Shape;10406;p6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$4,302</a:t>
            </a:r>
            <a:endParaRPr/>
          </a:p>
        </p:txBody>
      </p:sp>
      <p:sp>
        <p:nvSpPr>
          <p:cNvPr id="10407" name="Google Shape;10407;p6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08" name="Google Shape;10408;p6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9" name="Google Shape;10409;p6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410" name="Google Shape;10410;p6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$7,001</a:t>
            </a:r>
            <a:endParaRPr/>
          </a:p>
        </p:txBody>
      </p:sp>
      <p:sp>
        <p:nvSpPr>
          <p:cNvPr id="10411" name="Google Shape;10411;p6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12" name="Google Shape;10412;p6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13" name="Google Shape;10413;p6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$7,001</a:t>
            </a:r>
            <a:endParaRPr/>
          </a:p>
        </p:txBody>
      </p:sp>
      <p:sp>
        <p:nvSpPr>
          <p:cNvPr id="10414" name="Google Shape;10414;p6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$-14,131</a:t>
            </a:r>
            <a:endParaRPr/>
          </a:p>
        </p:txBody>
      </p:sp>
      <p:sp>
        <p:nvSpPr>
          <p:cNvPr id="10415" name="Google Shape;10415;p6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6" name="Google Shape;10416;p6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417" name="Google Shape;10417;p6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18" name="Google Shape;10418;p6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19" name="Google Shape;10419;p6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0" name="Google Shape;10420;p6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1" name="Google Shape;10421;p6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2" name="Google Shape;10422;p6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3" name="Google Shape;10423;p6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424" name="Google Shape;10424;p6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5" name="Google Shape;10425;p6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6" name="Google Shape;10426;p6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7" name="Google Shape;10427;p6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8" name="Google Shape;10428;p6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9" name="Google Shape;10429;p6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0" name="Google Shape;10430;p6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431" name="Google Shape;10431;p6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$11,304</a:t>
            </a:r>
            <a:endParaRPr/>
          </a:p>
        </p:txBody>
      </p:sp>
      <p:sp>
        <p:nvSpPr>
          <p:cNvPr id="10432" name="Google Shape;10432;p6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3" name="Google Shape;10433;p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4" name="Google Shape;10434;p6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$11,304</a:t>
            </a:r>
            <a:endParaRPr/>
          </a:p>
        </p:txBody>
      </p:sp>
      <p:sp>
        <p:nvSpPr>
          <p:cNvPr id="10435" name="Google Shape;10435;p6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$-14,131</a:t>
            </a:r>
            <a:endParaRPr/>
          </a:p>
        </p:txBody>
      </p:sp>
      <p:sp>
        <p:nvSpPr>
          <p:cNvPr id="10436" name="Google Shape;10436;p6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7" name="Google Shape;10437;p6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438" name="Google Shape;10438;p6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439" name="Google Shape;10439;p6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440" name="Google Shape;10440;p6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441" name="Google Shape;10441;p6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442" name="Google Shape;10442;p6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443" name="Google Shape;10443;p6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44" name="Google Shape;10444;p6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45" name="Google Shape;10445;p6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446" name="Google Shape;10446;p6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447" name="Google Shape;10447;p6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48" name="Google Shape;10448;p6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449" name="Google Shape;10449;p6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50" name="Google Shape;10450;p6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51" name="Google Shape;10451;p6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2" name="Google Shape;10452;p6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453" name="Google Shape;10453;p6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454" name="Google Shape;10454;p6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455" name="Google Shape;10455;p6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456" name="Google Shape;10456;p6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457" name="Google Shape;10457;p6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10458" name="Google Shape;10458;p6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9" name="Google Shape;10459;p6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460" name="Google Shape;10460;p6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461" name="Google Shape;10461;p6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462" name="Google Shape;10462;p6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463" name="Google Shape;10463;p6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64" name="Google Shape;10464;p6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65" name="Google Shape;10465;p6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6" name="Google Shape;10466;p6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467" name="Google Shape;10467;p6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468" name="Google Shape;10468;p6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69" name="Google Shape;10469;p6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470" name="Google Shape;10470;p6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71" name="Google Shape;10471;p6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72" name="Google Shape;10472;p6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73" name="Google Shape;10473;p6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474" name="Google Shape;10474;p6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475" name="Google Shape;10475;p6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476" name="Google Shape;10476;p6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477" name="Google Shape;10477;p6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78" name="Google Shape;10478;p6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79" name="Google Shape;10479;p6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0" name="Google Shape;10480;p6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481" name="Google Shape;10481;p6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0482" name="Google Shape;10482;p6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483" name="Google Shape;10483;p6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0484" name="Google Shape;10484;p6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485" name="Google Shape;10485;p6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10486" name="Google Shape;10486;p6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7" name="Google Shape;10487;p6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488" name="Google Shape;10488;p6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489" name="Google Shape;10489;p6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490" name="Google Shape;10490;p6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491" name="Google Shape;10491;p6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492" name="Google Shape;10492;p6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493" name="Google Shape;10493;p6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494" name="Google Shape;10494;p6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495" name="Google Shape;10495;p6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496" name="Google Shape;10496;p6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497" name="Google Shape;10497;p6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498" name="Google Shape;10498;p6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499" name="Google Shape;10499;p6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500" name="Google Shape;10500;p6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501" name="Google Shape;10501;p6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502" name="Google Shape;10502;p6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503" name="Google Shape;10503;p6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504" name="Google Shape;10504;p6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505" name="Google Shape;10505;p6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506" name="Google Shape;10506;p6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507" name="Google Shape;10507;p6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508" name="Google Shape;10508;p6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509" name="Google Shape;10509;p6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510" name="Google Shape;10510;p6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511" name="Google Shape;10511;p6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512" name="Google Shape;10512;p6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0513" name="Google Shape;10513;p6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0514" name="Google Shape;10514;p6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515" name="Google Shape;10515;p6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16" name="Google Shape;10516;p6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17" name="Google Shape;10517;p6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</a:t>
            </a:r>
            <a:endParaRPr/>
          </a:p>
        </p:txBody>
      </p:sp>
      <p:sp>
        <p:nvSpPr>
          <p:cNvPr id="10518" name="Google Shape;10518;p6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10519" name="Google Shape;10519;p6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0" name="Google Shape;10520;p6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10521" name="Google Shape;10521;p6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10522" name="Google Shape;10522;p6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3" name="Google Shape;10523;p6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10524" name="Google Shape;10524;p6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5" name="Google Shape;10525;p6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10526" name="Google Shape;10526;p6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10527" name="Google Shape;10527;p6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28" name="Google Shape;10528;p6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529" name="Google Shape;10529;p6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530" name="Google Shape;10530;p6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$11,304 YTD gross written premium</a:t>
            </a:r>
            <a:endParaRPr/>
          </a:p>
        </p:txBody>
      </p:sp>
      <p:sp>
        <p:nvSpPr>
          <p:cNvPr id="10531" name="Google Shape;10531;p6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532" name="Google Shape;10532;p6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 submissions - highly active agency</a:t>
            </a:r>
            <a:endParaRPr/>
          </a:p>
        </p:txBody>
      </p:sp>
      <p:sp>
        <p:nvSpPr>
          <p:cNvPr id="10533" name="Google Shape;10533;p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4" name="Google Shape;10534;p6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535" name="Google Shape;10535;p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536" name="Google Shape;10536;p6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10537" name="Google Shape;10537;p6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8" name="Google Shape;10538;p6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539" name="Google Shape;10539;p6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540" name="Google Shape;10540;p6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44" name="Shape 10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5" name="Google Shape;10545;p6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46" name="Google Shape;10546;p6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Cornerstone Insurance Solutions Inc. Dba: Cornerstone Premier Insurance Services</a:t>
            </a:r>
            <a:endParaRPr/>
          </a:p>
        </p:txBody>
      </p:sp>
      <p:sp>
        <p:nvSpPr>
          <p:cNvPr id="10547" name="Google Shape;10547;p6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Covina</a:t>
            </a:r>
            <a:endParaRPr/>
          </a:p>
        </p:txBody>
      </p:sp>
      <p:sp>
        <p:nvSpPr>
          <p:cNvPr id="10548" name="Google Shape;10548;p6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549" name="Google Shape;10549;p6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550" name="Google Shape;10550;p6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551" name="Google Shape;10551;p6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552" name="Google Shape;10552;p6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$-8,710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553" name="Google Shape;10553;p6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$144,555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554" name="Google Shape;10554;p6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$75,234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555" name="Google Shape;10555;p6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556" name="Google Shape;10556;p6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557" name="Google Shape;10557;p6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558" name="Google Shape;10558;p6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559" name="Google Shape;10559;p6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560" name="Google Shape;10560;p6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$5,343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561" name="Google Shape;10561;p6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62" name="Google Shape;10562;p6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563" name="Google Shape;10563;p6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564" name="Google Shape;10564;p6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565" name="Google Shape;10565;p6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566" name="Google Shape;10566;p6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567" name="Google Shape;10567;p6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568" name="Google Shape;10568;p6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569" name="Google Shape;10569;p6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70" name="Google Shape;10570;p6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571" name="Google Shape;10571;p6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2" name="Google Shape;10572;p6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3" name="Google Shape;10573;p6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4" name="Google Shape;10574;p6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5" name="Google Shape;10575;p6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6" name="Google Shape;10576;p6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77" name="Google Shape;10577;p6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578" name="Google Shape;10578;p6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9" name="Google Shape;10579;p6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80" name="Google Shape;10580;p6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81" name="Google Shape;10581;p6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82" name="Google Shape;10582;p6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$-8,710</a:t>
            </a:r>
            <a:endParaRPr/>
          </a:p>
        </p:txBody>
      </p:sp>
      <p:sp>
        <p:nvSpPr>
          <p:cNvPr id="10583" name="Google Shape;10583;p6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4" name="Google Shape;10584;p6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585" name="Google Shape;10585;p6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$4,995</a:t>
            </a:r>
            <a:endParaRPr/>
          </a:p>
        </p:txBody>
      </p:sp>
      <p:sp>
        <p:nvSpPr>
          <p:cNvPr id="10586" name="Google Shape;10586;p6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$4,995</a:t>
            </a:r>
            <a:endParaRPr/>
          </a:p>
        </p:txBody>
      </p:sp>
      <p:sp>
        <p:nvSpPr>
          <p:cNvPr id="10587" name="Google Shape;10587;p6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88" name="Google Shape;10588;p6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89" name="Google Shape;10589;p6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90" name="Google Shape;10590;p6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1" name="Google Shape;10591;p6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592" name="Google Shape;10592;p6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93" name="Google Shape;10593;p6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94" name="Google Shape;10594;p6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95" name="Google Shape;10595;p6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96" name="Google Shape;10596;p6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97" name="Google Shape;10597;p6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8" name="Google Shape;10598;p6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599" name="Google Shape;10599;p6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$4,298</a:t>
            </a:r>
            <a:endParaRPr/>
          </a:p>
        </p:txBody>
      </p:sp>
      <p:sp>
        <p:nvSpPr>
          <p:cNvPr id="10600" name="Google Shape;10600;p6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$4,298</a:t>
            </a:r>
            <a:endParaRPr/>
          </a:p>
        </p:txBody>
      </p:sp>
      <p:sp>
        <p:nvSpPr>
          <p:cNvPr id="10601" name="Google Shape;10601;p6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02" name="Google Shape;10602;p6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03" name="Google Shape;10603;p6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04" name="Google Shape;10604;p6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05" name="Google Shape;10605;p6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606" name="Google Shape;10606;p6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$9,293</a:t>
            </a:r>
            <a:endParaRPr/>
          </a:p>
        </p:txBody>
      </p:sp>
      <p:sp>
        <p:nvSpPr>
          <p:cNvPr id="10607" name="Google Shape;10607;p6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$9,293</a:t>
            </a:r>
            <a:endParaRPr/>
          </a:p>
        </p:txBody>
      </p:sp>
      <p:sp>
        <p:nvSpPr>
          <p:cNvPr id="10608" name="Google Shape;10608;p6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09" name="Google Shape;10609;p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10" name="Google Shape;10610;p6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$-8,710</a:t>
            </a:r>
            <a:endParaRPr/>
          </a:p>
        </p:txBody>
      </p:sp>
      <p:sp>
        <p:nvSpPr>
          <p:cNvPr id="10611" name="Google Shape;10611;p6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2" name="Google Shape;10612;p6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613" name="Google Shape;10613;p6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614" name="Google Shape;10614;p6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615" name="Google Shape;10615;p6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616" name="Google Shape;10616;p6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617" name="Google Shape;10617;p6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618" name="Google Shape;10618;p6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619" name="Google Shape;10619;p6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20" name="Google Shape;10620;p6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621" name="Google Shape;10621;p6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22" name="Google Shape;10622;p6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23" name="Google Shape;10623;p6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24" name="Google Shape;10624;p6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25" name="Google Shape;10625;p6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26" name="Google Shape;10626;p6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27" name="Google Shape;10627;p6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628" name="Google Shape;10628;p6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629" name="Google Shape;10629;p6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30" name="Google Shape;10630;p6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631" name="Google Shape;10631;p6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32" name="Google Shape;10632;p6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33" name="Google Shape;10633;p6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34" name="Google Shape;10634;p6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635" name="Google Shape;10635;p6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36" name="Google Shape;10636;p6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37" name="Google Shape;10637;p6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38" name="Google Shape;10638;p6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39" name="Google Shape;10639;p6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10640" name="Google Shape;10640;p6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1" name="Google Shape;10641;p6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642" name="Google Shape;10642;p6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43" name="Google Shape;10643;p6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44" name="Google Shape;10644;p6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45" name="Google Shape;10645;p6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46" name="Google Shape;10646;p6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47" name="Google Shape;10647;p6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8" name="Google Shape;10648;p6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649" name="Google Shape;10649;p6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650" name="Google Shape;10650;p6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51" name="Google Shape;10651;p6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652" name="Google Shape;10652;p6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653" name="Google Shape;10653;p6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10654" name="Google Shape;10654;p6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5" name="Google Shape;10655;p6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656" name="Google Shape;10656;p6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657" name="Google Shape;10657;p6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58" name="Google Shape;10658;p6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659" name="Google Shape;10659;p6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660" name="Google Shape;10660;p6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10661" name="Google Shape;10661;p6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2" name="Google Shape;10662;p6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663" name="Google Shape;10663;p6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664" name="Google Shape;10664;p6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665" name="Google Shape;10665;p6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666" name="Google Shape;10666;p6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667" name="Google Shape;10667;p6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668" name="Google Shape;10668;p6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669" name="Google Shape;10669;p6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670" name="Google Shape;10670;p6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671" name="Google Shape;10671;p6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672" name="Google Shape;10672;p6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673" name="Google Shape;10673;p6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674" name="Google Shape;10674;p6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675" name="Google Shape;10675;p6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676" name="Google Shape;10676;p6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677" name="Google Shape;10677;p6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678" name="Google Shape;10678;p6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79" name="Google Shape;10679;p6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680" name="Google Shape;10680;p6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681" name="Google Shape;10681;p6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682" name="Google Shape;10682;p6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83" name="Google Shape;10683;p6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0684" name="Google Shape;10684;p6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85" name="Google Shape;10685;p6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686" name="Google Shape;10686;p6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687" name="Google Shape;10687;p6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10688" name="Google Shape;10688;p6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689" name="Google Shape;10689;p6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690" name="Google Shape;10690;p6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1" name="Google Shape;10691;p6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2" name="Google Shape;10692;p6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3" name="Google Shape;10693;p6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4" name="Google Shape;10694;p6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10695" name="Google Shape;10695;p6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10696" name="Google Shape;10696;p6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10697" name="Google Shape;10697;p6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8" name="Google Shape;10698;p6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10699" name="Google Shape;10699;p6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10700" name="Google Shape;10700;p6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10701" name="Google Shape;10701;p6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10702" name="Google Shape;10702;p6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3" name="Google Shape;10703;p6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704" name="Google Shape;10704;p6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705" name="Google Shape;10705;p6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$9,293 YTD gross written premium</a:t>
            </a:r>
            <a:endParaRPr/>
          </a:p>
        </p:txBody>
      </p:sp>
      <p:sp>
        <p:nvSpPr>
          <p:cNvPr id="10706" name="Google Shape;10706;p6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707" name="Google Shape;10707;p6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$9,293 in new business production</a:t>
            </a:r>
            <a:endParaRPr/>
          </a:p>
        </p:txBody>
      </p:sp>
      <p:sp>
        <p:nvSpPr>
          <p:cNvPr id="10708" name="Google Shape;10708;p6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9" name="Google Shape;10709;p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710" name="Google Shape;10710;p6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711" name="Google Shape;10711;p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94% of new business ($8,710)</a:t>
            </a:r>
            <a:endParaRPr/>
          </a:p>
        </p:txBody>
      </p:sp>
      <p:sp>
        <p:nvSpPr>
          <p:cNvPr id="10712" name="Google Shape;10712;p6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3" name="Google Shape;10713;p6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714" name="Google Shape;10714;p6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715" name="Google Shape;10715;p6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$9,293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10716" name="Google Shape;10716;p6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0717" name="Google Shape;10717;p6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$8,710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21" name="Shape 10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2" name="Google Shape;10722;p6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23" name="Google Shape;10723;p6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MV Destiny Insurance Services</a:t>
            </a:r>
            <a:endParaRPr/>
          </a:p>
        </p:txBody>
      </p:sp>
      <p:sp>
        <p:nvSpPr>
          <p:cNvPr id="10724" name="Google Shape;10724;p6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Fresno</a:t>
            </a:r>
            <a:endParaRPr/>
          </a:p>
        </p:txBody>
      </p:sp>
      <p:sp>
        <p:nvSpPr>
          <p:cNvPr id="10725" name="Google Shape;10725;p6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726" name="Google Shape;10726;p6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727" name="Google Shape;10727;p6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728" name="Google Shape;10728;p6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729" name="Google Shape;10729;p6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$-15,471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730" name="Google Shape;10730;p6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$162,597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731" name="Google Shape;10731;p6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732" name="Google Shape;10732;p6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733" name="Google Shape;10733;p6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734" name="Google Shape;10734;p6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735" name="Google Shape;10735;p6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736" name="Google Shape;10736;p6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737" name="Google Shape;10737;p6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$72,087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738" name="Google Shape;10738;p6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39" name="Google Shape;10739;p6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740" name="Google Shape;10740;p6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741" name="Google Shape;10741;p6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742" name="Google Shape;10742;p6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743" name="Google Shape;10743;p6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744" name="Google Shape;10744;p6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745" name="Google Shape;10745;p6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746" name="Google Shape;10746;p6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47" name="Google Shape;10747;p6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748" name="Google Shape;10748;p6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</a:t>
            </a:r>
            <a:endParaRPr/>
          </a:p>
        </p:txBody>
      </p:sp>
      <p:sp>
        <p:nvSpPr>
          <p:cNvPr id="10749" name="Google Shape;10749;p6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0" name="Google Shape;10750;p6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1" name="Google Shape;10751;p6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</a:t>
            </a:r>
            <a:endParaRPr/>
          </a:p>
        </p:txBody>
      </p:sp>
      <p:sp>
        <p:nvSpPr>
          <p:cNvPr id="10752" name="Google Shape;10752;p6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3" name="Google Shape;10753;p6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54" name="Google Shape;10754;p6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755" name="Google Shape;10755;p6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6" name="Google Shape;10756;p6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7" name="Google Shape;10757;p6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8" name="Google Shape;10758;p6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9" name="Google Shape;10759;p6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$-15,471</a:t>
            </a:r>
            <a:endParaRPr/>
          </a:p>
        </p:txBody>
      </p:sp>
      <p:sp>
        <p:nvSpPr>
          <p:cNvPr id="10760" name="Google Shape;10760;p6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61" name="Google Shape;10761;p6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762" name="Google Shape;10762;p6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3" name="Google Shape;10763;p6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4" name="Google Shape;10764;p6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5" name="Google Shape;10765;p6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6" name="Google Shape;10766;p6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7" name="Google Shape;10767;p6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68" name="Google Shape;10768;p6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769" name="Google Shape;10769;p6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0" name="Google Shape;10770;p6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1" name="Google Shape;10771;p6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2" name="Google Shape;10772;p6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3" name="Google Shape;10773;p6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4" name="Google Shape;10774;p6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75" name="Google Shape;10775;p6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776" name="Google Shape;10776;p6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7" name="Google Shape;10777;p6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8" name="Google Shape;10778;p6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9" name="Google Shape;10779;p6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80" name="Google Shape;10780;p6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81" name="Google Shape;10781;p6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82" name="Google Shape;10782;p6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783" name="Google Shape;10783;p6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</a:t>
            </a:r>
            <a:endParaRPr/>
          </a:p>
        </p:txBody>
      </p:sp>
      <p:sp>
        <p:nvSpPr>
          <p:cNvPr id="10784" name="Google Shape;10784;p6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85" name="Google Shape;10785;p6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86" name="Google Shape;10786;p6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</a:t>
            </a:r>
            <a:endParaRPr/>
          </a:p>
        </p:txBody>
      </p:sp>
      <p:sp>
        <p:nvSpPr>
          <p:cNvPr id="10787" name="Google Shape;10787;p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$-15,471</a:t>
            </a:r>
            <a:endParaRPr/>
          </a:p>
        </p:txBody>
      </p:sp>
      <p:sp>
        <p:nvSpPr>
          <p:cNvPr id="10788" name="Google Shape;10788;p6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89" name="Google Shape;10789;p6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790" name="Google Shape;10790;p6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791" name="Google Shape;10791;p6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792" name="Google Shape;10792;p6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793" name="Google Shape;10793;p6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794" name="Google Shape;10794;p6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795" name="Google Shape;10795;p6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796" name="Google Shape;10796;p6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7" name="Google Shape;10797;p6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798" name="Google Shape;10798;p6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799" name="Google Shape;10799;p6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00" name="Google Shape;10800;p6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801" name="Google Shape;10801;p6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02" name="Google Shape;10802;p6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0803" name="Google Shape;10803;p6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04" name="Google Shape;10804;p6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805" name="Google Shape;10805;p6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06" name="Google Shape;10806;p6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07" name="Google Shape;10807;p6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08" name="Google Shape;10808;p6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09" name="Google Shape;10809;p6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10" name="Google Shape;10810;p6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1" name="Google Shape;10811;p6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812" name="Google Shape;10812;p6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13" name="Google Shape;10813;p6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14" name="Google Shape;10814;p6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15" name="Google Shape;10815;p6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16" name="Google Shape;10816;p6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17" name="Google Shape;10817;p6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8" name="Google Shape;10818;p6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819" name="Google Shape;10819;p6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820" name="Google Shape;10820;p6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21" name="Google Shape;10821;p6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822" name="Google Shape;10822;p6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23" name="Google Shape;10823;p6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24" name="Google Shape;10824;p6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25" name="Google Shape;10825;p6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826" name="Google Shape;10826;p6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27" name="Google Shape;10827;p6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28" name="Google Shape;10828;p6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29" name="Google Shape;10829;p6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30" name="Google Shape;10830;p6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31" name="Google Shape;10831;p6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32" name="Google Shape;10832;p6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833" name="Google Shape;10833;p6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834" name="Google Shape;10834;p6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35" name="Google Shape;10835;p6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836" name="Google Shape;10836;p6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37" name="Google Shape;10837;p6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10838" name="Google Shape;10838;p6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39" name="Google Shape;10839;p6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840" name="Google Shape;10840;p6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841" name="Google Shape;10841;p6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842" name="Google Shape;10842;p6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843" name="Google Shape;10843;p6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844" name="Google Shape;10844;p6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845" name="Google Shape;10845;p6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846" name="Google Shape;10846;p6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847" name="Google Shape;10847;p6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848" name="Google Shape;10848;p6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849" name="Google Shape;10849;p6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850" name="Google Shape;10850;p6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851" name="Google Shape;10851;p6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852" name="Google Shape;10852;p6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853" name="Google Shape;10853;p6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854" name="Google Shape;10854;p6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55" name="Google Shape;10855;p6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856" name="Google Shape;10856;p6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857" name="Google Shape;10857;p6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58" name="Google Shape;10858;p6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59" name="Google Shape;10859;p6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60" name="Google Shape;10860;p6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0861" name="Google Shape;10861;p6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862" name="Google Shape;10862;p6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863" name="Google Shape;10863;p6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64" name="Google Shape;10864;p6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10865" name="Google Shape;10865;p6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866" name="Google Shape;10866;p6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867" name="Google Shape;10867;p6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68" name="Google Shape;10868;p6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10869" name="Google Shape;10869;p6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0" name="Google Shape;10870;p6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1" name="Google Shape;10871;p6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2" name="Google Shape;10872;p6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3" name="Google Shape;10873;p6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$129K</a:t>
            </a:r>
            <a:endParaRPr/>
          </a:p>
        </p:txBody>
      </p:sp>
      <p:sp>
        <p:nvSpPr>
          <p:cNvPr id="10874" name="Google Shape;10874;p6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5" name="Google Shape;10875;p6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$-19,994</a:t>
            </a:r>
            <a:endParaRPr/>
          </a:p>
        </p:txBody>
      </p:sp>
      <p:sp>
        <p:nvSpPr>
          <p:cNvPr id="10876" name="Google Shape;10876;p6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7" name="Google Shape;10877;p6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$109K</a:t>
            </a:r>
            <a:endParaRPr/>
          </a:p>
        </p:txBody>
      </p:sp>
      <p:sp>
        <p:nvSpPr>
          <p:cNvPr id="10878" name="Google Shape;10878;p6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10879" name="Google Shape;10879;p6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0" name="Google Shape;10880;p6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881" name="Google Shape;10881;p6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882" name="Google Shape;10882;p6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$6,534 YTD gross written premium</a:t>
            </a:r>
            <a:endParaRPr/>
          </a:p>
        </p:txBody>
      </p:sp>
      <p:sp>
        <p:nvSpPr>
          <p:cNvPr id="10883" name="Google Shape;10883;p6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884" name="Google Shape;10884;p6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 hit ratio - above average conversion</a:t>
            </a:r>
            <a:endParaRPr/>
          </a:p>
        </p:txBody>
      </p:sp>
      <p:sp>
        <p:nvSpPr>
          <p:cNvPr id="10885" name="Google Shape;10885;p6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6" name="Google Shape;10886;p6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887" name="Google Shape;10887;p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888" name="Google Shape;10888;p6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10889" name="Google Shape;10889;p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890" name="Google Shape;10890;p6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10891" name="Google Shape;10891;p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92" name="Google Shape;10892;p6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893" name="Google Shape;10893;p6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894" name="Google Shape;10894;p6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898" name="Shape 10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9" name="Google Shape;10899;p6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00" name="Google Shape;10900;p6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Davis &amp; Associates Insurance Agency LLC</a:t>
            </a:r>
            <a:endParaRPr/>
          </a:p>
        </p:txBody>
      </p:sp>
      <p:sp>
        <p:nvSpPr>
          <p:cNvPr id="10901" name="Google Shape;10901;p6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NV  |  City: Las Vegas</a:t>
            </a:r>
            <a:endParaRPr/>
          </a:p>
        </p:txBody>
      </p:sp>
      <p:sp>
        <p:nvSpPr>
          <p:cNvPr id="10902" name="Google Shape;10902;p6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903" name="Google Shape;10903;p6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904" name="Google Shape;10904;p6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905" name="Google Shape;10905;p6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906" name="Google Shape;10906;p6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$-21,595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907" name="Google Shape;10907;p6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$340,383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08" name="Google Shape;10908;p6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$178,975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909" name="Google Shape;10909;p6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910" name="Google Shape;10910;p6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911" name="Google Shape;10911;p6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912" name="Google Shape;10912;p6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913" name="Google Shape;10913;p6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914" name="Google Shape;10914;p6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915" name="Google Shape;10915;p6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16" name="Google Shape;10916;p6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917" name="Google Shape;10917;p6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918" name="Google Shape;10918;p6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919" name="Google Shape;10919;p6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920" name="Google Shape;10920;p6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921" name="Google Shape;10921;p6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922" name="Google Shape;10922;p6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923" name="Google Shape;10923;p6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4" name="Google Shape;10924;p6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925" name="Google Shape;10925;p6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26" name="Google Shape;10926;p6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27" name="Google Shape;10927;p6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28" name="Google Shape;10928;p6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29" name="Google Shape;10929;p6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$-11,137</a:t>
            </a:r>
            <a:endParaRPr/>
          </a:p>
        </p:txBody>
      </p:sp>
      <p:sp>
        <p:nvSpPr>
          <p:cNvPr id="10930" name="Google Shape;10930;p6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31" name="Google Shape;10931;p6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932" name="Google Shape;10932;p6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33" name="Google Shape;10933;p6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34" name="Google Shape;10934;p6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35" name="Google Shape;10935;p6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36" name="Google Shape;10936;p6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$-10,458</a:t>
            </a:r>
            <a:endParaRPr/>
          </a:p>
        </p:txBody>
      </p:sp>
      <p:sp>
        <p:nvSpPr>
          <p:cNvPr id="10937" name="Google Shape;10937;p6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38" name="Google Shape;10938;p6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939" name="Google Shape;10939;p6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0" name="Google Shape;10940;p6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1" name="Google Shape;10941;p6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2" name="Google Shape;10942;p6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3" name="Google Shape;10943;p6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4" name="Google Shape;10944;p6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45" name="Google Shape;10945;p6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946" name="Google Shape;10946;p6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</p:txBody>
      </p:sp>
      <p:sp>
        <p:nvSpPr>
          <p:cNvPr id="10947" name="Google Shape;10947;p6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8" name="Google Shape;10948;p6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9" name="Google Shape;10949;p6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</p:txBody>
      </p:sp>
      <p:sp>
        <p:nvSpPr>
          <p:cNvPr id="10950" name="Google Shape;10950;p6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1" name="Google Shape;10951;p6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52" name="Google Shape;10952;p6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953" name="Google Shape;10953;p6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4" name="Google Shape;10954;p6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5" name="Google Shape;10955;p6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6" name="Google Shape;10956;p6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7" name="Google Shape;10957;p6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8" name="Google Shape;10958;p6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59" name="Google Shape;10959;p6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960" name="Google Shape;10960;p6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</p:txBody>
      </p:sp>
      <p:sp>
        <p:nvSpPr>
          <p:cNvPr id="10961" name="Google Shape;10961;p6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62" name="Google Shape;10962;p6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63" name="Google Shape;10963;p6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</p:txBody>
      </p:sp>
      <p:sp>
        <p:nvSpPr>
          <p:cNvPr id="10964" name="Google Shape;10964;p6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$-21,595</a:t>
            </a:r>
            <a:endParaRPr/>
          </a:p>
        </p:txBody>
      </p:sp>
      <p:sp>
        <p:nvSpPr>
          <p:cNvPr id="10965" name="Google Shape;10965;p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66" name="Google Shape;10966;p6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967" name="Google Shape;10967;p6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968" name="Google Shape;10968;p6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969" name="Google Shape;10969;p6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970" name="Google Shape;10970;p6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971" name="Google Shape;10971;p6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972" name="Google Shape;10972;p6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973" name="Google Shape;10973;p6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74" name="Google Shape;10974;p6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975" name="Google Shape;10975;p6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0976" name="Google Shape;10976;p6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77" name="Google Shape;10977;p6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0978" name="Google Shape;10978;p6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79" name="Google Shape;10979;p6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80" name="Google Shape;10980;p6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81" name="Google Shape;10981;p6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982" name="Google Shape;10982;p6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0983" name="Google Shape;10983;p6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84" name="Google Shape;10984;p6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0985" name="Google Shape;10985;p6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86" name="Google Shape;10986;p6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87" name="Google Shape;10987;p6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88" name="Google Shape;10988;p6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989" name="Google Shape;10989;p6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0990" name="Google Shape;10990;p6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91" name="Google Shape;10991;p6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0992" name="Google Shape;10992;p6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93" name="Google Shape;10993;p6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94" name="Google Shape;10994;p6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95" name="Google Shape;10995;p6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996" name="Google Shape;10996;p6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0997" name="Google Shape;10997;p6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98" name="Google Shape;10998;p6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0999" name="Google Shape;10999;p6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00" name="Google Shape;11000;p6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01" name="Google Shape;11001;p6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2" name="Google Shape;11002;p6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1003" name="Google Shape;11003;p6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1004" name="Google Shape;11004;p6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05" name="Google Shape;11005;p6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1006" name="Google Shape;11006;p6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07" name="Google Shape;11007;p6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08" name="Google Shape;11008;p6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9" name="Google Shape;11009;p6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1010" name="Google Shape;11010;p6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11011" name="Google Shape;11011;p6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12" name="Google Shape;11012;p6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11013" name="Google Shape;11013;p6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14" name="Google Shape;11014;p6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15" name="Google Shape;11015;p6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16" name="Google Shape;11016;p6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1017" name="Google Shape;11017;p6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018" name="Google Shape;11018;p6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1019" name="Google Shape;11019;p6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1020" name="Google Shape;11020;p6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1021" name="Google Shape;11021;p6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1022" name="Google Shape;11022;p6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1023" name="Google Shape;11023;p6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1024" name="Google Shape;11024;p6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1025" name="Google Shape;11025;p6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1026" name="Google Shape;11026;p6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1027" name="Google Shape;11027;p6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1028" name="Google Shape;11028;p6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1029" name="Google Shape;11029;p6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1030" name="Google Shape;11030;p6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1031" name="Google Shape;11031;p6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1032" name="Google Shape;11032;p6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1033" name="Google Shape;11033;p6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1034" name="Google Shape;11034;p6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1035" name="Google Shape;11035;p6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1036" name="Google Shape;11036;p6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1037" name="Google Shape;11037;p6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1038" name="Google Shape;11038;p6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1039" name="Google Shape;11039;p6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11040" name="Google Shape;11040;p6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1041" name="Google Shape;11041;p6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</a:t>
            </a:r>
            <a:endParaRPr/>
          </a:p>
        </p:txBody>
      </p:sp>
      <p:sp>
        <p:nvSpPr>
          <p:cNvPr id="11042" name="Google Shape;11042;p6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11043" name="Google Shape;11043;p6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1044" name="Google Shape;11044;p6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11045" name="Google Shape;11045;p6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6" name="Google Shape;11046;p6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7" name="Google Shape;11047;p6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8" name="Google Shape;11048;p6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11049" name="Google Shape;11049;p6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0" name="Google Shape;11050;p6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11051" name="Google Shape;11051;p6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</p:txBody>
      </p:sp>
      <p:sp>
        <p:nvSpPr>
          <p:cNvPr id="11052" name="Google Shape;11052;p6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$101K</a:t>
            </a:r>
            <a:endParaRPr/>
          </a:p>
        </p:txBody>
      </p:sp>
      <p:sp>
        <p:nvSpPr>
          <p:cNvPr id="11053" name="Google Shape;11053;p6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4" name="Google Shape;11054;p6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$161K</a:t>
            </a:r>
            <a:endParaRPr/>
          </a:p>
        </p:txBody>
      </p:sp>
      <p:sp>
        <p:nvSpPr>
          <p:cNvPr id="11055" name="Google Shape;11055;p6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$-821</a:t>
            </a:r>
            <a:endParaRPr/>
          </a:p>
        </p:txBody>
      </p:sp>
      <p:sp>
        <p:nvSpPr>
          <p:cNvPr id="11056" name="Google Shape;11056;p6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7" name="Google Shape;11057;p6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1058" name="Google Shape;11058;p6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1059" name="Google Shape;11059;p6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 submissions - highly active agency</a:t>
            </a:r>
            <a:endParaRPr/>
          </a:p>
        </p:txBody>
      </p:sp>
      <p:sp>
        <p:nvSpPr>
          <p:cNvPr id="11060" name="Google Shape;11060;p6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1061" name="Google Shape;11061;p6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 quotes generated - active in pipeline</a:t>
            </a:r>
            <a:endParaRPr/>
          </a:p>
        </p:txBody>
      </p:sp>
      <p:sp>
        <p:nvSpPr>
          <p:cNvPr id="11062" name="Google Shape;11062;p6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63" name="Google Shape;11063;p6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1064" name="Google Shape;11064;p6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1065" name="Google Shape;11065;p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($-821) - cancellations exceed production</a:t>
            </a:r>
            <a:endParaRPr/>
          </a:p>
        </p:txBody>
      </p:sp>
      <p:sp>
        <p:nvSpPr>
          <p:cNvPr id="11066" name="Google Shape;11066;p6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1067" name="Google Shape;11067;p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 submissions with zero binds - zero conversion</a:t>
            </a:r>
            <a:endParaRPr/>
          </a:p>
        </p:txBody>
      </p:sp>
      <p:sp>
        <p:nvSpPr>
          <p:cNvPr id="11068" name="Google Shape;11068;p6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69" name="Google Shape;11069;p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1070" name="Google Shape;11070;p6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1071" name="Google Shape;11071;p6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99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11072" name="Google Shape;11072;p6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1073" name="Google Shape;11073;p6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74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077" name="Shape 1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8" name="Google Shape;11078;p6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79" name="Google Shape;11079;p6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Century One Insurance Services, Llc</a:t>
            </a:r>
            <a:endParaRPr/>
          </a:p>
        </p:txBody>
      </p:sp>
      <p:sp>
        <p:nvSpPr>
          <p:cNvPr id="11080" name="Google Shape;11080;p6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Southwest  |  State: CA  |  City: Studio City</a:t>
            </a:r>
            <a:endParaRPr/>
          </a:p>
        </p:txBody>
      </p:sp>
      <p:sp>
        <p:nvSpPr>
          <p:cNvPr id="11081" name="Google Shape;11081;p6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$-11,735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082" name="Google Shape;11082;p6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1083" name="Google Shape;11083;p6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1084" name="Google Shape;11084;p6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$-32,552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1085" name="Google Shape;11085;p6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$-18,560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1086" name="Google Shape;11086;p6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$169,362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1087" name="Google Shape;11087;p6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$134,244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88" name="Google Shape;11088;p6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089" name="Google Shape;11089;p6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1090" name="Google Shape;11090;p6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1091" name="Google Shape;11091;p6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1092" name="Google Shape;11092;p6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093" name="Google Shape;11093;p6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1094" name="Google Shape;11094;p6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95" name="Google Shape;11095;p6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1096" name="Google Shape;11096;p6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1097" name="Google Shape;11097;p6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1098" name="Google Shape;11098;p6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1099" name="Google Shape;11099;p6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1100" name="Google Shape;11100;p6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1101" name="Google Shape;11101;p6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1102" name="Google Shape;11102;p6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3" name="Google Shape;11103;p6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1104" name="Google Shape;11104;p6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$-18,462</a:t>
            </a:r>
            <a:endParaRPr/>
          </a:p>
        </p:txBody>
      </p:sp>
      <p:sp>
        <p:nvSpPr>
          <p:cNvPr id="11105" name="Google Shape;11105;p6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06" name="Google Shape;11106;p6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07" name="Google Shape;11107;p6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$-18,462</a:t>
            </a:r>
            <a:endParaRPr/>
          </a:p>
        </p:txBody>
      </p:sp>
      <p:sp>
        <p:nvSpPr>
          <p:cNvPr id="11108" name="Google Shape;11108;p6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09" name="Google Shape;11109;p6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10" name="Google Shape;11110;p6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1111" name="Google Shape;11111;p6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$21,858</a:t>
            </a:r>
            <a:endParaRPr/>
          </a:p>
        </p:txBody>
      </p:sp>
      <p:sp>
        <p:nvSpPr>
          <p:cNvPr id="11112" name="Google Shape;11112;p6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13" name="Google Shape;11113;p6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$20,817</a:t>
            </a:r>
            <a:endParaRPr/>
          </a:p>
        </p:txBody>
      </p:sp>
      <p:sp>
        <p:nvSpPr>
          <p:cNvPr id="11114" name="Google Shape;11114;p6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$1,041</a:t>
            </a:r>
            <a:endParaRPr/>
          </a:p>
        </p:txBody>
      </p:sp>
      <p:sp>
        <p:nvSpPr>
          <p:cNvPr id="11115" name="Google Shape;11115;p6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16" name="Google Shape;11116;p6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17" name="Google Shape;11117;p6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1118" name="Google Shape;11118;p6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11119" name="Google Shape;11119;p6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20" name="Google Shape;11120;p6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21" name="Google Shape;11121;p6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11122" name="Google Shape;11122;p6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23" name="Google Shape;11123;p6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24" name="Google Shape;11124;p6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1125" name="Google Shape;11125;p6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$-15,309</a:t>
            </a:r>
            <a:endParaRPr/>
          </a:p>
        </p:txBody>
      </p:sp>
      <p:sp>
        <p:nvSpPr>
          <p:cNvPr id="11126" name="Google Shape;11126;p6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27" name="Google Shape;11127;p6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28" name="Google Shape;11128;p6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$-15,309</a:t>
            </a:r>
            <a:endParaRPr/>
          </a:p>
        </p:txBody>
      </p:sp>
      <p:sp>
        <p:nvSpPr>
          <p:cNvPr id="11129" name="Google Shape;11129;p6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$-1,064</a:t>
            </a:r>
            <a:endParaRPr/>
          </a:p>
        </p:txBody>
      </p:sp>
      <p:sp>
        <p:nvSpPr>
          <p:cNvPr id="11130" name="Google Shape;11130;p6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31" name="Google Shape;11131;p6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1132" name="Google Shape;11132;p6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33" name="Google Shape;11133;p6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34" name="Google Shape;11134;p6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35" name="Google Shape;11135;p6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36" name="Google Shape;11136;p6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$-17,496</a:t>
            </a:r>
            <a:endParaRPr/>
          </a:p>
        </p:txBody>
      </p:sp>
      <p:sp>
        <p:nvSpPr>
          <p:cNvPr id="11137" name="Google Shape;11137;p6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38" name="Google Shape;11138;p6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1139" name="Google Shape;11139;p6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$-11,735</a:t>
            </a:r>
            <a:endParaRPr/>
          </a:p>
        </p:txBody>
      </p:sp>
      <p:sp>
        <p:nvSpPr>
          <p:cNvPr id="11140" name="Google Shape;11140;p6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41" name="Google Shape;11141;p6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$20,817</a:t>
            </a:r>
            <a:endParaRPr/>
          </a:p>
        </p:txBody>
      </p:sp>
      <p:sp>
        <p:nvSpPr>
          <p:cNvPr id="11142" name="Google Shape;11142;p6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$-32,552</a:t>
            </a:r>
            <a:endParaRPr/>
          </a:p>
        </p:txBody>
      </p:sp>
      <p:sp>
        <p:nvSpPr>
          <p:cNvPr id="11143" name="Google Shape;11143;p6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$-18,560</a:t>
            </a:r>
            <a:endParaRPr/>
          </a:p>
        </p:txBody>
      </p:sp>
      <p:sp>
        <p:nvSpPr>
          <p:cNvPr id="11144" name="Google Shape;11144;p6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45" name="Google Shape;11145;p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1146" name="Google Shape;11146;p6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1147" name="Google Shape;11147;p6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1148" name="Google Shape;11148;p6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1149" name="Google Shape;11149;p6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1150" name="Google Shape;11150;p6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1151" name="Google Shape;11151;p6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1152" name="Google Shape;11152;p6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53" name="Google Shape;11153;p6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1154" name="Google Shape;11154;p6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155" name="Google Shape;11155;p6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56" name="Google Shape;11156;p6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157" name="Google Shape;11157;p6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158" name="Google Shape;11158;p6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37.5%</a:t>
            </a:r>
            <a:endParaRPr/>
          </a:p>
        </p:txBody>
      </p:sp>
      <p:sp>
        <p:nvSpPr>
          <p:cNvPr id="11159" name="Google Shape;11159;p6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60" name="Google Shape;11160;p6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1161" name="Google Shape;11161;p6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162" name="Google Shape;11162;p6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63" name="Google Shape;11163;p6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164" name="Google Shape;11164;p6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65" name="Google Shape;11165;p6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11166" name="Google Shape;11166;p6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67" name="Google Shape;11167;p6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1168" name="Google Shape;11168;p6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1169" name="Google Shape;11169;p6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70" name="Google Shape;11170;p6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1171" name="Google Shape;11171;p6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72" name="Google Shape;11172;p6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11173" name="Google Shape;11173;p6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74" name="Google Shape;11174;p6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1175" name="Google Shape;11175;p6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176" name="Google Shape;11176;p6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77" name="Google Shape;11177;p6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178" name="Google Shape;11178;p6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79" name="Google Shape;11179;p6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80" name="Google Shape;11180;p6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1" name="Google Shape;11181;p6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1182" name="Google Shape;11182;p6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183" name="Google Shape;11183;p6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84" name="Google Shape;11184;p6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185" name="Google Shape;11185;p6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86" name="Google Shape;11186;p6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87" name="Google Shape;11187;p6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8" name="Google Shape;11188;p6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1189" name="Google Shape;11189;p6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1190" name="Google Shape;11190;p6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91" name="Google Shape;11191;p6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1192" name="Google Shape;11192;p6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93" name="Google Shape;11193;p6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11194" name="Google Shape;11194;p6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95" name="Google Shape;11195;p6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1196" name="Google Shape;11196;p6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197" name="Google Shape;11197;p6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1198" name="Google Shape;11198;p6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1199" name="Google Shape;11199;p6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1200" name="Google Shape;11200;p6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1201" name="Google Shape;11201;p6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1202" name="Google Shape;11202;p6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1203" name="Google Shape;11203;p6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1204" name="Google Shape;11204;p6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1205" name="Google Shape;11205;p6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1206" name="Google Shape;11206;p6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1207" name="Google Shape;11207;p6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1208" name="Google Shape;11208;p6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1209" name="Google Shape;11209;p6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1210" name="Google Shape;11210;p6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211" name="Google Shape;11211;p6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212" name="Google Shape;11212;p6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1213" name="Google Shape;11213;p6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214" name="Google Shape;11214;p6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215" name="Google Shape;11215;p6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1216" name="Google Shape;11216;p6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1217" name="Google Shape;11217;p6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218" name="Google Shape;11218;p6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219" name="Google Shape;11219;p6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220" name="Google Shape;11220;p6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1221" name="Google Shape;11221;p6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1222" name="Google Shape;11222;p6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1223" name="Google Shape;11223;p6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11224" name="Google Shape;11224;p6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$-18,462</a:t>
            </a:r>
            <a:endParaRPr/>
          </a:p>
        </p:txBody>
      </p:sp>
      <p:sp>
        <p:nvSpPr>
          <p:cNvPr id="11225" name="Google Shape;11225;p6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11226" name="Google Shape;11226;p6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11227" name="Google Shape;11227;p6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$-16,543</a:t>
            </a:r>
            <a:endParaRPr/>
          </a:p>
        </p:txBody>
      </p:sp>
      <p:sp>
        <p:nvSpPr>
          <p:cNvPr id="11228" name="Google Shape;11228;p6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11229" name="Google Shape;11229;p6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11230" name="Google Shape;11230;p6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$-15,309</a:t>
            </a:r>
            <a:endParaRPr/>
          </a:p>
        </p:txBody>
      </p:sp>
      <p:sp>
        <p:nvSpPr>
          <p:cNvPr id="11231" name="Google Shape;11231;p6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$347</a:t>
            </a:r>
            <a:endParaRPr/>
          </a:p>
        </p:txBody>
      </p:sp>
      <p:sp>
        <p:nvSpPr>
          <p:cNvPr id="11232" name="Google Shape;11232;p6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33" name="Google Shape;11233;p6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11234" name="Google Shape;11234;p6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$-11,735</a:t>
            </a:r>
            <a:endParaRPr/>
          </a:p>
        </p:txBody>
      </p:sp>
      <p:sp>
        <p:nvSpPr>
          <p:cNvPr id="11235" name="Google Shape;11235;p6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36" name="Google Shape;11236;p6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1237" name="Google Shape;11237;p6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1238" name="Google Shape;11238;p6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$20,817 in renewals - strong retention</a:t>
            </a:r>
            <a:endParaRPr/>
          </a:p>
        </p:txBody>
      </p:sp>
      <p:sp>
        <p:nvSpPr>
          <p:cNvPr id="11239" name="Google Shape;11239;p6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1240" name="Google Shape;11240;p6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 hit ratio - above average conversion</a:t>
            </a:r>
            <a:endParaRPr/>
          </a:p>
        </p:txBody>
      </p:sp>
      <p:sp>
        <p:nvSpPr>
          <p:cNvPr id="11241" name="Google Shape;11241;p6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2" name="Google Shape;11242;p6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1243" name="Google Shape;11243;p6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1244" name="Google Shape;11244;p6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($-11,735) - cancellations exceed production</a:t>
            </a:r>
            <a:endParaRPr/>
          </a:p>
        </p:txBody>
      </p:sp>
      <p:sp>
        <p:nvSpPr>
          <p:cNvPr id="11245" name="Google Shape;11245;p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6" name="Google Shape;11246;p6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1247" name="Google Shape;11247;p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1248" name="Google Shape;11248;p6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11249" name="Google Shape;11249;p6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1250" name="Google Shape;11250;p6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