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</p:sldIdLst>
  <p:sldSz cy="6858000" cx="12191675"/>
  <p:notesSz cx="6858000" cy="9144000"/>
  <p:embeddedFontLst>
    <p:embeddedFont>
      <p:font typeface="Quattrocento Sans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8" roundtripDataSignature="AMtx7mjE38k4ENSATyfZm32EfA+g6W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font" Target="fonts/QuattrocentoSans-bold.fntdata"/><Relationship Id="rId30" Type="http://schemas.openxmlformats.org/officeDocument/2006/relationships/slide" Target="slides/slide25.xml"/><Relationship Id="rId74" Type="http://schemas.openxmlformats.org/officeDocument/2006/relationships/font" Target="fonts/QuattrocentoSans-regular.fntdata"/><Relationship Id="rId33" Type="http://schemas.openxmlformats.org/officeDocument/2006/relationships/slide" Target="slides/slide28.xml"/><Relationship Id="rId77" Type="http://schemas.openxmlformats.org/officeDocument/2006/relationships/font" Target="fonts/QuattrocentoSans-boldItalic.fntdata"/><Relationship Id="rId32" Type="http://schemas.openxmlformats.org/officeDocument/2006/relationships/slide" Target="slides/slide27.xml"/><Relationship Id="rId76" Type="http://schemas.openxmlformats.org/officeDocument/2006/relationships/font" Target="fonts/QuattrocentoSans-italic.fntdata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8" Type="http://customschemas.google.com/relationships/presentationmetadata" Target="metadata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8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0" name="Google Shape;121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9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1" name="Google Shape;130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9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1" name="Google Shape;134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4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6" name="Google Shape;15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0" name="Google Shape;168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9" name="Shape 1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Google Shape;176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6" name="Shape 1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7" name="Google Shape;193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8" name="Google Shape;193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5" name="Shape 2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6" name="Google Shape;211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7" name="Google Shape;211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2" name="Shape 2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" name="Google Shape;229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4" name="Google Shape;229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9" name="Shape 2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0" name="Google Shape;247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1" name="Google Shape;247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6" name="Shape 2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Google Shape;264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8" name="Google Shape;264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5" name="Shape 2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Google Shape;282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7" name="Google Shape;282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2" name="Shape 3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3" name="Google Shape;300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4" name="Google Shape;3004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9" name="Shape 3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0" name="Google Shape;318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1" name="Google Shape;3181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8" name="Shape 3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9" name="Google Shape;335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0" name="Google Shape;3360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5" name="Shape 3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6" name="Google Shape;3536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7" name="Google Shape;3537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0" name="Shape 3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1" name="Google Shape;3711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2" name="Google Shape;3712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9" name="Shape 3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" name="Google Shape;3890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1" name="Google Shape;3891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6" name="Shape 4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7" name="Google Shape;406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8" name="Google Shape;406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5" name="Shape 4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6" name="Google Shape;4246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7" name="Google Shape;4247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4" name="Shape 4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5" name="Google Shape;4425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6" name="Google Shape;4426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3" name="Shape 4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4" name="Google Shape;4604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5" name="Google Shape;4605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2" name="Shape 4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3" name="Google Shape;4783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4" name="Google Shape;4784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1" name="Shape 4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2" name="Google Shape;4962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3" name="Google Shape;4963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0" name="Shape 5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1" name="Google Shape;5141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2" name="Google Shape;5142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9" name="Shape 5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0" name="Google Shape;5320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1" name="Google Shape;5321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6" name="Shape 5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7" name="Google Shape;5497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8" name="Google Shape;5498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3" name="Shape 5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4" name="Google Shape;5674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5" name="Google Shape;5675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2" name="Shape 5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3" name="Google Shape;5853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4" name="Google Shape;5854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1" name="Shape 6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2" name="Google Shape;6032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3" name="Google Shape;6033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0" name="Shape 6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1" name="Google Shape;6211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2" name="Google Shape;6212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7" name="Shape 6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8" name="Google Shape;6388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9" name="Google Shape;6389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4" name="Shape 6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5" name="Google Shape;6565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6" name="Google Shape;6566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3" name="Shape 6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4" name="Google Shape;6744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5" name="Google Shape;6745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2" name="Shape 6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3" name="Google Shape;6923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4" name="Google Shape;6924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99" name="Shape 7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" name="Google Shape;7100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1" name="Google Shape;7101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4" name="Shape 7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5" name="Google Shape;7275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6" name="Google Shape;7276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1" name="Shape 7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2" name="Google Shape;7452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3" name="Google Shape;7453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30" name="Shape 7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1" name="Google Shape;7631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2" name="Google Shape;7632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09" name="Shape 7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0" name="Google Shape;7810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11" name="Google Shape;7811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8" name="Shape 7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9" name="Google Shape;7989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0" name="Google Shape;7990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5" name="Shape 8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6" name="Google Shape;8166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7" name="Google Shape;8167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2" name="Shape 8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3" name="Google Shape;8343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44" name="Google Shape;8344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19" name="Shape 8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0" name="Google Shape;8520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1" name="Google Shape;8521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96" name="Shape 8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7" name="Google Shape;8697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98" name="Google Shape;8698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5" name="Shape 8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6" name="Google Shape;8876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7" name="Google Shape;8877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52" name="Shape 9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3" name="Google Shape;9053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54" name="Google Shape;9054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31" name="Shape 9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2" name="Google Shape;9232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3" name="Google Shape;9233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10" name="Shape 9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1" name="Google Shape;9411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12" name="Google Shape;9412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89" name="Shape 9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0" name="Google Shape;9590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1" name="Google Shape;9591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66" name="Shape 9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7" name="Google Shape;9767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68" name="Google Shape;9768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5" name="Shape 9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6" name="Google Shape;9946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7" name="Google Shape;9947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22" name="Shape 10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3" name="Google Shape;10123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4" name="Google Shape;10124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01" name="Shape 10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2" name="Google Shape;10302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03" name="Google Shape;10303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76" name="Shape 10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7" name="Google Shape;10477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8" name="Google Shape;10478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3" name="Shape 10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4" name="Google Shape;10654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55" name="Google Shape;10655;p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30" name="Shape 10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1" name="Google Shape;10831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32" name="Google Shape;10832;p6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09" name="Shape 1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0" name="Google Shape;11010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11" name="Google Shape;11011;p6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8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8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26, 2026  |  53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53 Total Agencies  |  53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$32,429,519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$17,240,592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$8,198,075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$6,990,852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$-11,385,697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$74,968,705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$75,966,598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$89,962,446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$14,847,809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$18,621,325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$4,512,337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$811,152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669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476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$3,828,775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$2,352,251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$706,270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6255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4053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$3,627,374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$413,911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2996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2413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$3,131,952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$1,037,821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660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470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$2,776,533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$1,423,807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1272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1008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$1,838,125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$714,307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$1,258,382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$934,815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$1,006,331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$349,807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869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644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$902,237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$260,234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24.8%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$741,943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$238,000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$437,382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423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329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206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$570,621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$179,010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$19,918,601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$4,479,627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4326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473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10.9%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$18,420,881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$3,037,254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3888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$19,980,416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$3,175,810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4102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461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$17,988,866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$3,653,804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4338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442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$11,964,695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$2,894,096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3092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9.0%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$32,429,519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$17,240,592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17889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1016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Derek Janssen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BDM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84.3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≥+100%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+37%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(40/wk)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 of 53 agencies  |  Goal 100%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Producing Agencies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Activated Won  |  Goal ≥ 4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of 4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Derek Janssen</a:t>
            </a:r>
            <a:endParaRPr/>
          </a:p>
        </p:txBody>
      </p:sp>
      <p:sp>
        <p:nvSpPr>
          <p:cNvPr id="316" name="Google Shape;316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40 activities  |  Colored arrow = month-over-month trend vs prior complete month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792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39.6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(40/wk)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7" name="Google Shape;347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5" name="Google Shape;355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145%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63" name="Google Shape;363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1" name="Google Shape;371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9" name="Google Shape;379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7" name="Google Shape;387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5" name="Google Shape;395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3" name="Google Shape;403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50%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1" name="Google Shape;411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90%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19" name="Google Shape;419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12–21  (Mar–May)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7" name="Google Shape;427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175%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36" name="Google Shape;436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225%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44" name="Google Shape;444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222%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52" name="Google Shape;452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145%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0" name="Google Shape;460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168%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8" name="Google Shape;468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158%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6" name="Google Shape;476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4" name="Google Shape;484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132%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92" name="Google Shape;492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500" name="Google Shape;500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5/25–5/26*</a:t>
            </a:r>
            <a:endParaRPr/>
          </a:p>
        </p:txBody>
      </p:sp>
      <p:sp>
        <p:nvSpPr>
          <p:cNvPr id="503" name="Google Shape;503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4" name="Google Shape;504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5" name="Google Shape;505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Derek Janssen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6" name="Google Shape;516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16707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7" name="Google Shape;517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20" name="Google Shape;520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-57.7%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9" name="Google Shape;529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3,442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179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3,240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2,998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3,164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-5%</a:t>
            </a:r>
            <a:endParaRPr/>
          </a:p>
        </p:txBody>
      </p:sp>
      <p:sp>
        <p:nvSpPr>
          <p:cNvPr id="543" name="Google Shape;543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3,301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4,146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-20%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3,988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246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4,203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-5%</a:t>
            </a:r>
            <a:endParaRPr/>
          </a:p>
        </p:txBody>
      </p:sp>
      <p:sp>
        <p:nvSpPr>
          <p:cNvPr id="556" name="Google Shape;556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2,978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4,040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-26%</a:t>
            </a:r>
            <a:endParaRPr/>
          </a:p>
        </p:txBody>
      </p:sp>
      <p:sp>
        <p:nvSpPr>
          <p:cNvPr id="563" name="Google Shape;563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16,707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1006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18,793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-11%</a:t>
            </a:r>
            <a:endParaRPr/>
          </a:p>
        </p:txBody>
      </p:sp>
      <p:sp>
        <p:nvSpPr>
          <p:cNvPr id="570" name="Google Shape;570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7" name="Google Shape;577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6,255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-260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2,996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+1,016</a:t>
            </a:r>
            <a:endParaRPr/>
          </a:p>
        </p:txBody>
      </p:sp>
      <p:sp>
        <p:nvSpPr>
          <p:cNvPr id="589" name="Google Shape;589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1,272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-321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869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-402</a:t>
            </a:r>
            <a:endParaRPr/>
          </a:p>
        </p:txBody>
      </p:sp>
      <p:sp>
        <p:nvSpPr>
          <p:cNvPr id="600" name="Google Shape;600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669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+55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660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+77</a:t>
            </a:r>
            <a:endParaRPr/>
          </a:p>
        </p:txBody>
      </p:sp>
      <p:sp>
        <p:nvSpPr>
          <p:cNvPr id="611" name="Google Shape;611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423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-274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Solutions Insurance Agency, L.l.c.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311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+217</a:t>
            </a:r>
            <a:endParaRPr/>
          </a:p>
        </p:txBody>
      </p:sp>
      <p:sp>
        <p:nvSpPr>
          <p:cNvPr id="622" name="Google Shape;622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+261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+13</a:t>
            </a:r>
            <a:endParaRPr/>
          </a:p>
        </p:txBody>
      </p:sp>
      <p:sp>
        <p:nvSpPr>
          <p:cNvPr id="633" name="Google Shape;633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-36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+233</a:t>
            </a:r>
            <a:endParaRPr/>
          </a:p>
        </p:txBody>
      </p:sp>
      <p:sp>
        <p:nvSpPr>
          <p:cNvPr id="644" name="Google Shape;644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Brokers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-321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Insuremart Inc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</a:t>
            </a:r>
            <a:endParaRPr/>
          </a:p>
        </p:txBody>
      </p:sp>
      <p:sp>
        <p:nvSpPr>
          <p:cNvPr id="655" name="Google Shape;655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Inc.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196</a:t>
            </a:r>
            <a:endParaRPr/>
          </a:p>
        </p:txBody>
      </p:sp>
      <p:sp>
        <p:nvSpPr>
          <p:cNvPr id="663" name="Google Shape;663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+64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53 Total Agencies  |  Jan–May 2026</a:t>
            </a:r>
            <a:endParaRPr/>
          </a:p>
        </p:txBody>
      </p:sp>
      <p:sp>
        <p:nvSpPr>
          <p:cNvPr id="674" name="Google Shape;674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$19,918,601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$4,479,627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$528,182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$-2,236,465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4,326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3,142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473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10.9%</a:t>
            </a:r>
            <a:endParaRPr/>
          </a:p>
        </p:txBody>
      </p:sp>
      <p:sp>
        <p:nvSpPr>
          <p:cNvPr id="693" name="Google Shape;693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$18,420,881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$3,037,254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$1,245,496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$-2,562,773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3,888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2,805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$19,980,416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$3,175,810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$1,928,146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$-2,576,798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4,102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2,918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461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712" name="Google Shape;712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$17,988,866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$3,653,804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$2,744,075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$-2,704,366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4,338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3,237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442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$11,964,695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$2,894,096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$1,752,176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$-1,305,295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3,092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2,325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9.0%</a:t>
            </a:r>
            <a:endParaRPr/>
          </a:p>
        </p:txBody>
      </p:sp>
      <p:sp>
        <p:nvSpPr>
          <p:cNvPr id="731" name="Google Shape;731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$88,273,459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$17,240,592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$8,198,075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$-11,385,697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19,746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14,427</a:t>
            </a:r>
            <a:endParaRPr/>
          </a:p>
        </p:txBody>
      </p:sp>
      <p:sp>
        <p:nvSpPr>
          <p:cNvPr id="739" name="Google Shape;739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2,086</a:t>
            </a:r>
            <a:endParaRPr/>
          </a:p>
        </p:txBody>
      </p:sp>
      <p:sp>
        <p:nvSpPr>
          <p:cNvPr id="740" name="Google Shape;740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Derek Janssen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bdm's agencies  |  2026 YTD</a:t>
            </a:r>
            <a:endParaRPr/>
          </a:p>
        </p:txBody>
      </p:sp>
      <p:sp>
        <p:nvSpPr>
          <p:cNvPr id="748" name="Google Shape;748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9" name="Google Shape;749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$796,297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51" name="Google Shape;751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60" name="Google Shape;760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$96,590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3" name="Google Shape;773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$136,077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$3,719</a:t>
            </a:r>
            <a:endParaRPr/>
          </a:p>
        </p:txBody>
      </p:sp>
      <p:sp>
        <p:nvSpPr>
          <p:cNvPr id="786" name="Google Shape;786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Inc.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$11,691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10.7%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$57,066</a:t>
            </a:r>
            <a:endParaRPr/>
          </a:p>
        </p:txBody>
      </p:sp>
      <p:sp>
        <p:nvSpPr>
          <p:cNvPr id="799" name="Google Shape;799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 Smarter Truck Insurance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Western Truck Insurance Services, Inc.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08" name="Google Shape;808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$43,370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NV, PA, TX, UT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Derek Janssen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bdm's agencies  |  2026 YTD</a:t>
            </a:r>
            <a:endParaRPr/>
          </a:p>
        </p:txBody>
      </p:sp>
      <p:sp>
        <p:nvSpPr>
          <p:cNvPr id="819" name="Google Shape;819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3,785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21" name="Google Shape;821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$133,498,988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23" name="Google Shape;823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30" name="Google Shape;830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1,324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9.7%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$18,095,445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386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31.1%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$21,578,659</a:t>
            </a:r>
            <a:endParaRPr/>
          </a:p>
        </p:txBody>
      </p:sp>
      <p:sp>
        <p:nvSpPr>
          <p:cNvPr id="841" name="Google Shape;841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385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42.1%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$26,939,379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296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27.7%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$6,032,087</a:t>
            </a:r>
            <a:endParaRPr/>
          </a:p>
        </p:txBody>
      </p:sp>
      <p:sp>
        <p:nvSpPr>
          <p:cNvPr id="852" name="Google Shape;852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CASCAD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219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$7,782,618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208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$15,408,661</a:t>
            </a:r>
            <a:endParaRPr/>
          </a:p>
        </p:txBody>
      </p:sp>
      <p:sp>
        <p:nvSpPr>
          <p:cNvPr id="863" name="Google Shape;863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44.4%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$8,685,557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$895,242</a:t>
            </a:r>
            <a:endParaRPr/>
          </a:p>
        </p:txBody>
      </p:sp>
      <p:sp>
        <p:nvSpPr>
          <p:cNvPr id="874" name="Google Shape;874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1760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(46%)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1351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(36%)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646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(17%)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" name="Google Shape;890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1" name="Google Shape;891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26.2%  ·  Declined: 796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Derek Janssen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9" name="Google Shape;899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00" name="Google Shape;900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01" name="Google Shape;901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03" name="Google Shape;903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12" name="Google Shape;912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2733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Insurabrite Insurance Services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2101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0.2%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6" name="Google Shape;926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888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Fernandez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698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10.9%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9" name="Google Shape;939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Anahit Grigoryan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658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Patricia Galindoparedes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418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2" name="Google Shape;952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ARUNDEEP SINGH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368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LARISA DAVTYAN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5" name="Google Shape;965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RAJNI KAPUR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Solutions Insurance Agency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308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16.6%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Gayane Yeghiazaryan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8" name="Google Shape;978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Murphy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Tigran Vardanyan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1" name="Google Shape;991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Sapna Kharbanda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Morgan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4" name="Google Shape;1004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Ryan Johnson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Hakim Kabir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7" name="Google Shape;1017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Khalid Salama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0" name="Google Shape;1030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8" name="Google Shape;1038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Marie Borja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Harmeet Singh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Northdale Insurance Agency, In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2" name="Google Shape;1052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Leichner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Spencer DuBose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5" name="Google Shape;1065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Michelle Malkhasyan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 Secure Insurance Service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IBRAHIM MAMMO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78" name="Google Shape;1078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Clifton Waterbury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Harman Tiwana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Tiwana Insurance Solutions, In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9.3%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91" name="Google Shape;1091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 Rodriguez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Elizabeth'S Insurance Services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 Zargaryan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4" name="Google Shape;1104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Luiza Ter-Abramyan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Damandeep Khokhar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7" name="Google Shape;1117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Benjamin Zimunya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0.9%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NICOLE GUINN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0" name="Google Shape;1130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Josh Seaton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Christina Hinson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43" name="Google Shape;1143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Daniel Tarquini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Muhammad Ali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52" name="Google Shape;1152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4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64" name="Google Shape;1164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$3,627,374  |  Subs 2996  |  Binds 158  |  HR 5.3%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$3,627,374 YTD GWP  |  158 binds in Q1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$3,828,775  |  Subs 6255  |  Binds 108  |  HR 1.7%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$3,828,775 YTD GWP  |  108 binds in Q1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$4,512,337  |  Subs 669  |  Binds 70  |  HR 10.5%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10.5% (portfolio avg: 5.7%)  |  $4,512,337 YTD GWP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$2,776,533  |  Subs 1272  |  Binds 82  |  HR 6.4%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6.4% (portfolio avg: 5.7%)  |  $2,776,533 YTD GWP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Cascad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$3,131,952  |  Subs 660  |  Binds 70  |  HR 10.6%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10.6% (portfolio avg: 5.7%)  |  $3,131,952 YTD GWP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Insurabrite Insurance Services Llc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$81,186  |  Subs 22  |  Binds 2  |  HR 9.1%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3956% of new business ($177,887 vs $4,497)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Davis &amp; Associates Insurance Agency LLC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$-821  |  Subs 95  |  Binds 0  |  HR 0.0%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 submissions with 0 binds - zero conversion  |  Negative net written premium: $-821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Beehive Insurance Agency Inc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$96,353  |  Subs 37  |  Binds 0  |  HR 0.0%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submissions with 0 binds - zero conversion  |  Submissions dropped 62% MoM (8 -&gt; 3)</a:t>
            </a:r>
            <a:endParaRPr/>
          </a:p>
        </p:txBody>
      </p:sp>
      <p:sp>
        <p:nvSpPr>
          <p:cNvPr id="1200" name="Google Shape;1200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 Smarter Tru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$67,738  |  Subs 168  |  Binds 9  |  HR 5.4%</a:t>
            </a:r>
            <a:endParaRPr/>
          </a:p>
        </p:txBody>
      </p:sp>
      <p:sp>
        <p:nvSpPr>
          <p:cNvPr id="1203" name="Google Shape;1203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324% of new business ($47,679 vs $14,701)  |  Submissions dropped 63% MoM (65 -&gt; 24)</a:t>
            </a:r>
            <a:endParaRPr/>
          </a:p>
        </p:txBody>
      </p:sp>
      <p:sp>
        <p:nvSpPr>
          <p:cNvPr id="1204" name="Google Shape;1204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206" name="Google Shape;1206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$902,237  |  Subs 141  |  Binds 35  |  HR 24.8%</a:t>
            </a:r>
            <a:endParaRPr/>
          </a:p>
        </p:txBody>
      </p:sp>
      <p:sp>
        <p:nvSpPr>
          <p:cNvPr id="1207" name="Google Shape;1207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168% of new business ($379,535 vs $225,531)  |  Submissions dropped 70% MoM (66 -&gt; 20)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I Appointed — Derek Janssen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progress  |  Q2 goal: 4 new producing agencies  |  Source: HubSpot Net New Agency / Activated Won</a:t>
            </a:r>
            <a:endParaRPr/>
          </a:p>
        </p:txBody>
      </p:sp>
      <p:sp>
        <p:nvSpPr>
          <p:cNvPr id="1215" name="Google Shape;1215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of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OKR 4 PROGRESS</a:t>
            </a:r>
            <a:endParaRPr/>
          </a:p>
        </p:txBody>
      </p:sp>
      <p:sp>
        <p:nvSpPr>
          <p:cNvPr id="1216" name="Google Shape;1216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7" name="Google Shape;1217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8" name="Google Shape;1218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9" name="Google Shape;1219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0/9 appointed agencies have submitted (0%)  •  0/9 have bound (0%)  •  Total bound: 0  •  Total GWP: $0</a:t>
            </a:r>
            <a:endParaRPr/>
          </a:p>
        </p:txBody>
      </p:sp>
      <p:sp>
        <p:nvSpPr>
          <p:cNvPr id="1221" name="Google Shape;1221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30" name="Google Shape;1230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2026-05-13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Melara Insurance Services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2026-04-29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5" name="Google Shape;1245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 Equipment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2026-04-26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3" name="Google Shape;1253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1254" name="Google Shape;1254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2026-04-26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6" name="Google Shape;1256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7" name="Google Shape;1257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8" name="Google Shape;1258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9" name="Google Shape;1259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0" name="Google Shape;1260;p11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11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Mcdonald &amp; Assoc Ins Agcy</a:t>
            </a:r>
            <a:endParaRPr/>
          </a:p>
        </p:txBody>
      </p:sp>
      <p:sp>
        <p:nvSpPr>
          <p:cNvPr id="1262" name="Google Shape;1262;p1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2026-04-26</a:t>
            </a:r>
            <a:endParaRPr/>
          </a:p>
        </p:txBody>
      </p:sp>
      <p:sp>
        <p:nvSpPr>
          <p:cNvPr id="1263" name="Google Shape;1263;p11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4" name="Google Shape;1264;p11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5" name="Google Shape;1265;p11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6" name="Google Shape;1266;p11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7" name="Google Shape;1267;p11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8" name="Google Shape;1268;p11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269" name="Google Shape;1269;p11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2026-04-01</a:t>
            </a:r>
            <a:endParaRPr/>
          </a:p>
        </p:txBody>
      </p:sp>
      <p:sp>
        <p:nvSpPr>
          <p:cNvPr id="1270" name="Google Shape;1270;p11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1" name="Google Shape;1271;p11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2" name="Google Shape;1272;p1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3" name="Google Shape;1273;p11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4" name="Google Shape;1274;p11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5" name="Google Shape;1275;p11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6" name="Google Shape;1276;p11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Coremark Insurance Services Inc.</a:t>
            </a:r>
            <a:endParaRPr/>
          </a:p>
        </p:txBody>
      </p:sp>
      <p:sp>
        <p:nvSpPr>
          <p:cNvPr id="1277" name="Google Shape;1277;p11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2026-03-18</a:t>
            </a:r>
            <a:endParaRPr/>
          </a:p>
        </p:txBody>
      </p:sp>
      <p:sp>
        <p:nvSpPr>
          <p:cNvPr id="1278" name="Google Shape;1278;p11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9" name="Google Shape;1279;p11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0" name="Google Shape;1280;p11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81" name="Google Shape;1281;p11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2" name="Google Shape;1282;p1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3" name="Google Shape;1283;p11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</a:t>
            </a:r>
            <a:endParaRPr/>
          </a:p>
        </p:txBody>
      </p:sp>
      <p:sp>
        <p:nvSpPr>
          <p:cNvPr id="1284" name="Google Shape;1284;p11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2026-03-16</a:t>
            </a:r>
            <a:endParaRPr/>
          </a:p>
        </p:txBody>
      </p:sp>
      <p:sp>
        <p:nvSpPr>
          <p:cNvPr id="1285" name="Google Shape;1285;p11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86" name="Google Shape;1286;p11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7" name="Google Shape;1287;p11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88" name="Google Shape;1288;p11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9" name="Google Shape;1289;p11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0" name="Google Shape;1290;p11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11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Nova Coverage LLC</a:t>
            </a:r>
            <a:endParaRPr/>
          </a:p>
        </p:txBody>
      </p:sp>
      <p:sp>
        <p:nvSpPr>
          <p:cNvPr id="1292" name="Google Shape;1292;p1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2026-02-26</a:t>
            </a:r>
            <a:endParaRPr/>
          </a:p>
        </p:txBody>
      </p:sp>
      <p:sp>
        <p:nvSpPr>
          <p:cNvPr id="1293" name="Google Shape;1293;p11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94" name="Google Shape;1294;p11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5" name="Google Shape;1295;p11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96" name="Google Shape;1296;p11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7" name="Google Shape;1297;p11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8" name="Google Shape;1298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source: HubSpot Net New Agency Prospect Pipeline · Activated Won stage · only 'Appointed - ' prefix deals count (matches BD Rep Scoreboard). BDMs scored on count vs goal of 4/quarter.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2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4" name="Google Shape;1304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305" name="Google Shape;1305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Portfolio  |  Jan–May 2026  |  Strengths, gaps, and ranked action items</a:t>
            </a:r>
            <a:endParaRPr/>
          </a:p>
        </p:txBody>
      </p:sp>
      <p:sp>
        <p:nvSpPr>
          <p:cNvPr id="1306" name="Google Shape;1306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7" name="Google Shape;1307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308" name="Google Shape;1308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09" name="Google Shape;1309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(Safeline Insurance Agency, Reliance Partners, Llc, United Advantage Insuranc) drive $11,968,486 (37%) of portfolio YTD GWP</a:t>
            </a:r>
            <a:endParaRPr/>
          </a:p>
        </p:txBody>
      </p:sp>
      <p:sp>
        <p:nvSpPr>
          <p:cNvPr id="1310" name="Google Shape;1310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11" name="Google Shape;1311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Swan Insurance Sales (25.8%), Surefire Insurance A (24.8%), Vintage Insurance Ag (23.9%)</a:t>
            </a:r>
            <a:endParaRPr/>
          </a:p>
        </p:txBody>
      </p:sp>
      <p:sp>
        <p:nvSpPr>
          <p:cNvPr id="1312" name="Google Shape;1312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13" name="Google Shape;1313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 agencies converting submissions to bound business in Jan–May 2026</a:t>
            </a:r>
            <a:endParaRPr/>
          </a:p>
        </p:txBody>
      </p:sp>
      <p:sp>
        <p:nvSpPr>
          <p:cNvPr id="1314" name="Google Shape;1314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15" name="Google Shape;1315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17,889 total submissions across 53 active agencies</a:t>
            </a:r>
            <a:endParaRPr/>
          </a:p>
        </p:txBody>
      </p:sp>
      <p:sp>
        <p:nvSpPr>
          <p:cNvPr id="1316" name="Google Shape;1316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318" name="Google Shape;1318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19" name="Google Shape;1319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submitting but 0 binds (132 subs): Davis &amp; Associates I (95), Beehive Insurance Ag (37)</a:t>
            </a:r>
            <a:endParaRPr/>
          </a:p>
        </p:txBody>
      </p:sp>
      <p:sp>
        <p:nvSpPr>
          <p:cNvPr id="1320" name="Google Shape;1320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21" name="Google Shape;1321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Reliance Partners, L (1.7%), PCF Insurance Servic (2.6%)</a:t>
            </a:r>
            <a:endParaRPr/>
          </a:p>
        </p:txBody>
      </p:sp>
      <p:sp>
        <p:nvSpPr>
          <p:cNvPr id="1322" name="Google Shape;1322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3" name="Google Shape;1323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324" name="Google Shape;1324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325" name="Google Shape;1325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326" name="Google Shape;1326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agencies with cancellations &gt;40% of new biz: Safeline Insurance Agency, Reliance Partners, Llc, United Advantage Insuranc. $10,465,720 total cancellations - investigate retention.</a:t>
            </a:r>
            <a:endParaRPr/>
          </a:p>
        </p:txBody>
      </p:sp>
      <p:sp>
        <p:nvSpPr>
          <p:cNvPr id="1327" name="Google Shape;1327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28" name="Google Shape;1328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329" name="Google Shape;1329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with 20+ subs but &lt;3% HR: Reliance Partners, L (1.7%), PCF Insurance Servic (2.6%). Conduct submission quality training to lift conversion 2-3 points.</a:t>
            </a:r>
            <a:endParaRPr/>
          </a:p>
        </p:txBody>
      </p:sp>
      <p:sp>
        <p:nvSpPr>
          <p:cNvPr id="1330" name="Google Shape;1330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31" name="Google Shape;1331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332" name="Google Shape;1332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agencies with 30+ subs and some binds but &lt;5% HR: Reliance Partners, L (6255s/108b), Limosa Insurance Ser (261s/12b), Patriot Financial Se (242s/9b). Small HR improvements on large volume = significant premium lift.</a:t>
            </a:r>
            <a:endParaRPr/>
          </a:p>
        </p:txBody>
      </p:sp>
      <p:sp>
        <p:nvSpPr>
          <p:cNvPr id="1333" name="Google Shape;1333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334" name="Google Shape;1334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Scale Top Performers</a:t>
            </a:r>
            <a:endParaRPr/>
          </a:p>
        </p:txBody>
      </p:sp>
      <p:sp>
        <p:nvSpPr>
          <p:cNvPr id="1335" name="Google Shape;1335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Double down on high-converting agencies: Safeline Insurance Agency, United Advantage Insuranc, Cascade Insurance Service. Increase submission volume 20% through marketing support and referral incentives.</a:t>
            </a:r>
            <a:endParaRPr/>
          </a:p>
        </p:txBody>
      </p:sp>
      <p:sp>
        <p:nvSpPr>
          <p:cNvPr id="1336" name="Google Shape;1336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37" name="Google Shape;1337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Protect Renewal Book</a:t>
            </a:r>
            <a:endParaRPr/>
          </a:p>
        </p:txBody>
      </p:sp>
      <p:sp>
        <p:nvSpPr>
          <p:cNvPr id="1338" name="Google Shape;1338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$8,198,075 in Q1 renewal premium. Proactively engage renewal agencies 60 days pre-expiration to maximize retention.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2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4" name="Google Shape;1344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Last 25 Bound Submissions  |  1016 Total Bound in Portfolio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53" name="Google Shape;1353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259645694716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AMRASO TRANSPORTATION INC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IBRAHIM MAMMO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$148,806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25, 2026</a:t>
            </a:r>
            <a:endParaRPr/>
          </a:p>
        </p:txBody>
      </p:sp>
      <p:sp>
        <p:nvSpPr>
          <p:cNvPr id="1361" name="Google Shape;1361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263632738142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GSV FREIGHTWAY INC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Anahit Grigoryan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$44,380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23, 2026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251787451647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GROW MORE TRANSPORT INC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Damandeep Khokhar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$70,519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23, 2026</a:t>
            </a:r>
            <a:endParaRPr/>
          </a:p>
        </p:txBody>
      </p:sp>
      <p:sp>
        <p:nvSpPr>
          <p:cNvPr id="1376" name="Google Shape;1376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7" name="Google Shape;1377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258922084200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GONGBAY GLOBAL TRANSPORT LLC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$15,284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267580434723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YVIEN DEJAN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$4,543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91" name="Google Shape;1391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268077931542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Safiullah Noor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259963384391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FAST LANE ENTERPRISES LLC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Sean Jenouri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$70,010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06" name="Google Shape;1406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7" name="Google Shape;1407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257034779205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GLOBE INTERNATIONAL LGTX LLC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Nicholas Banks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$52,012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269746476736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RAHIMI TRUCKING INC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IBRAHIM MAMMO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$17,692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21" name="Google Shape;1421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2" name="Google Shape;1422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258556219117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JAMMU TRUCK LINE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Fernandez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$36,099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269092238895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AGW AUTO TRANSPORT INC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Jessica Gonzalez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$29,614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36" name="Google Shape;1436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7" name="Google Shape;1437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252699969564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EXPRESS TRANS LLC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Fernandez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$3,235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266218159565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JODY EXPRESS CORP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Fernandez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$53,766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51" name="Google Shape;1451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2" name="Google Shape;1452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256627963899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DESERT BIGHORN TRUCKING LLC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Fernandez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$24,409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258661262625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 N T DELIVERS LLC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Patricia Galindoparedes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$137,761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66" name="Google Shape;1466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7" name="Google Shape;1467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262868034789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Brokers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SASA TRUCKING LLC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Hakim Kabir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$35,208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266477088799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Empire Company Insurance Services,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CHAVARRIA TRANS LINES LLC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Annette Taylor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$77,661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81" name="Google Shape;1481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2" name="Google Shape;1482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83" name="Google Shape;1483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251007543177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BRAVE TRANS INC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$29,723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259400513736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BOMAR ENTERPRISES LLC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$38,683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496" name="Google Shape;1496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7" name="Google Shape;1497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98" name="Google Shape;1498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260714372232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SAR LOGISTICS LLC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1503" name="Google Shape;1503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505" name="Google Shape;1505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250935457245</a:t>
            </a:r>
            <a:endParaRPr/>
          </a:p>
        </p:txBody>
      </p:sp>
      <p:sp>
        <p:nvSpPr>
          <p:cNvPr id="1506" name="Google Shape;1506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507" name="Google Shape;1507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CARGOLOGIC LLC</a:t>
            </a:r>
            <a:endParaRPr/>
          </a:p>
        </p:txBody>
      </p:sp>
      <p:sp>
        <p:nvSpPr>
          <p:cNvPr id="1508" name="Google Shape;1508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Emily Tompkins</a:t>
            </a:r>
            <a:endParaRPr/>
          </a:p>
        </p:txBody>
      </p:sp>
      <p:sp>
        <p:nvSpPr>
          <p:cNvPr id="1509" name="Google Shape;1509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$26,634</a:t>
            </a:r>
            <a:endParaRPr/>
          </a:p>
        </p:txBody>
      </p:sp>
      <p:sp>
        <p:nvSpPr>
          <p:cNvPr id="1510" name="Google Shape;1510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511" name="Google Shape;1511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2" name="Google Shape;1512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513" name="Google Shape;1513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262517643318</a:t>
            </a:r>
            <a:endParaRPr/>
          </a:p>
        </p:txBody>
      </p:sp>
      <p:sp>
        <p:nvSpPr>
          <p:cNvPr id="1514" name="Google Shape;1514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515" name="Google Shape;1515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MILEFREIGHT</a:t>
            </a:r>
            <a:endParaRPr/>
          </a:p>
        </p:txBody>
      </p:sp>
      <p:sp>
        <p:nvSpPr>
          <p:cNvPr id="1516" name="Google Shape;1516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Brandon Richards</a:t>
            </a:r>
            <a:endParaRPr/>
          </a:p>
        </p:txBody>
      </p:sp>
      <p:sp>
        <p:nvSpPr>
          <p:cNvPr id="1517" name="Google Shape;1517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$230,680</a:t>
            </a:r>
            <a:endParaRPr/>
          </a:p>
        </p:txBody>
      </p:sp>
      <p:sp>
        <p:nvSpPr>
          <p:cNvPr id="1518" name="Google Shape;1518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519" name="Google Shape;1519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520" name="Google Shape;1520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265062144548</a:t>
            </a:r>
            <a:endParaRPr/>
          </a:p>
        </p:txBody>
      </p:sp>
      <p:sp>
        <p:nvSpPr>
          <p:cNvPr id="1521" name="Google Shape;1521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1522" name="Google Shape;1522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HAWGSHOTS LLC</a:t>
            </a:r>
            <a:endParaRPr/>
          </a:p>
        </p:txBody>
      </p:sp>
      <p:sp>
        <p:nvSpPr>
          <p:cNvPr id="1523" name="Google Shape;1523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Steven Beckett</a:t>
            </a:r>
            <a:endParaRPr/>
          </a:p>
        </p:txBody>
      </p:sp>
      <p:sp>
        <p:nvSpPr>
          <p:cNvPr id="1524" name="Google Shape;1524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$12,952</a:t>
            </a:r>
            <a:endParaRPr/>
          </a:p>
        </p:txBody>
      </p:sp>
      <p:sp>
        <p:nvSpPr>
          <p:cNvPr id="1525" name="Google Shape;1525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526" name="Google Shape;1526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7" name="Google Shape;1527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528" name="Google Shape;1528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250153112353</a:t>
            </a:r>
            <a:endParaRPr/>
          </a:p>
        </p:txBody>
      </p:sp>
      <p:sp>
        <p:nvSpPr>
          <p:cNvPr id="1529" name="Google Shape;1529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530" name="Google Shape;1530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ITRUCK INC</a:t>
            </a:r>
            <a:endParaRPr/>
          </a:p>
        </p:txBody>
      </p:sp>
      <p:sp>
        <p:nvSpPr>
          <p:cNvPr id="1531" name="Google Shape;1531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stan connally</a:t>
            </a:r>
            <a:endParaRPr/>
          </a:p>
        </p:txBody>
      </p:sp>
      <p:sp>
        <p:nvSpPr>
          <p:cNvPr id="1532" name="Google Shape;1532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$65,432</a:t>
            </a:r>
            <a:endParaRPr/>
          </a:p>
        </p:txBody>
      </p:sp>
      <p:sp>
        <p:nvSpPr>
          <p:cNvPr id="1533" name="Google Shape;1533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534" name="Google Shape;1534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35" name="Google Shape;1535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251067949048</a:t>
            </a:r>
            <a:endParaRPr/>
          </a:p>
        </p:txBody>
      </p:sp>
      <p:sp>
        <p:nvSpPr>
          <p:cNvPr id="1536" name="Google Shape;1536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California Heritage Insurance Serv</a:t>
            </a:r>
            <a:endParaRPr/>
          </a:p>
        </p:txBody>
      </p:sp>
      <p:sp>
        <p:nvSpPr>
          <p:cNvPr id="1537" name="Google Shape;1537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GRAND PRIX TRANSPORTATION LLC</a:t>
            </a:r>
            <a:endParaRPr/>
          </a:p>
        </p:txBody>
      </p:sp>
      <p:sp>
        <p:nvSpPr>
          <p:cNvPr id="1538" name="Google Shape;1538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ZUNIGA</a:t>
            </a:r>
            <a:endParaRPr/>
          </a:p>
        </p:txBody>
      </p:sp>
      <p:sp>
        <p:nvSpPr>
          <p:cNvPr id="1539" name="Google Shape;1539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$41,869</a:t>
            </a:r>
            <a:endParaRPr/>
          </a:p>
        </p:txBody>
      </p:sp>
      <p:sp>
        <p:nvSpPr>
          <p:cNvPr id="1540" name="Google Shape;1540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541" name="Google Shape;1541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43" name="Google Shape;1543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$1,268,471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7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Active in-force policies expiring through Aug 24, 2026</a:t>
            </a:r>
            <a:endParaRPr/>
          </a:p>
        </p:txBody>
      </p:sp>
      <p:sp>
        <p:nvSpPr>
          <p:cNvPr id="1551" name="Google Shape;1551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52" name="Google Shape;1552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$7,308,057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53" name="Google Shape;1553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54" name="Google Shape;1554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55" name="Google Shape;1555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56" name="Google Shape;1556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66" name="Google Shape;1566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254084723324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AFJ TRANSPORT LLC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2026-05-27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$10,612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251224954126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BAGLA TRUCKING INC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2026-05-27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$15,913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83" name="Google Shape;1583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257210723678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JAYS TRANSPORTATION LLC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255418119168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VELO LOGISTICS LLC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$9,979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UT</a:t>
            </a:r>
            <a:endParaRPr/>
          </a:p>
        </p:txBody>
      </p:sp>
      <p:sp>
        <p:nvSpPr>
          <p:cNvPr id="1600" name="Google Shape;1600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1" name="Google Shape;1601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253463438465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GREENWAY TRANSIT INC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256832183275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MONTERROSO ENTERPRISES LLC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$16,086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17" name="Google Shape;1617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257162855398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FKDG EXPRESS INC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23" name="Google Shape;1623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$42,009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259502146902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NOOR TRANSIT LLC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$3,343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OH</a:t>
            </a:r>
            <a:endParaRPr/>
          </a:p>
        </p:txBody>
      </p:sp>
      <p:sp>
        <p:nvSpPr>
          <p:cNvPr id="1634" name="Google Shape;1634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5" name="Google Shape;1635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254743247756</a:t>
            </a:r>
            <a:endParaRPr/>
          </a:p>
        </p:txBody>
      </p:sp>
      <p:sp>
        <p:nvSpPr>
          <p:cNvPr id="1637" name="Google Shape;1637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SADAN LOGISTIC LLC</a:t>
            </a:r>
            <a:endParaRPr/>
          </a:p>
        </p:txBody>
      </p:sp>
      <p:sp>
        <p:nvSpPr>
          <p:cNvPr id="1638" name="Google Shape;1638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639" name="Google Shape;1639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40" name="Google Shape;1640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41" name="Google Shape;1641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$15,189</a:t>
            </a:r>
            <a:endParaRPr/>
          </a:p>
        </p:txBody>
      </p:sp>
      <p:sp>
        <p:nvSpPr>
          <p:cNvPr id="1642" name="Google Shape;1642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43" name="Google Shape;1643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1644" name="Google Shape;1644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254708784506</a:t>
            </a:r>
            <a:endParaRPr/>
          </a:p>
        </p:txBody>
      </p:sp>
      <p:sp>
        <p:nvSpPr>
          <p:cNvPr id="1645" name="Google Shape;1645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EXPRESS GLOBAL LLC</a:t>
            </a:r>
            <a:endParaRPr/>
          </a:p>
        </p:txBody>
      </p:sp>
      <p:sp>
        <p:nvSpPr>
          <p:cNvPr id="1646" name="Google Shape;1646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47" name="Google Shape;1647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48" name="Google Shape;1648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49" name="Google Shape;1649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0" name="Google Shape;1650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51" name="Google Shape;1651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1653" name="Google Shape;1653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258777740743</a:t>
            </a:r>
            <a:endParaRPr/>
          </a:p>
        </p:txBody>
      </p:sp>
      <p:sp>
        <p:nvSpPr>
          <p:cNvPr id="1654" name="Google Shape;1654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NAVDEEP SINGH</a:t>
            </a:r>
            <a:endParaRPr/>
          </a:p>
        </p:txBody>
      </p:sp>
      <p:sp>
        <p:nvSpPr>
          <p:cNvPr id="1655" name="Google Shape;1655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56" name="Google Shape;1656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57" name="Google Shape;1657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58" name="Google Shape;1658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$14,095</a:t>
            </a:r>
            <a:endParaRPr/>
          </a:p>
        </p:txBody>
      </p:sp>
      <p:sp>
        <p:nvSpPr>
          <p:cNvPr id="1659" name="Google Shape;1659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60" name="Google Shape;1660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</a:t>
            </a:r>
            <a:endParaRPr/>
          </a:p>
        </p:txBody>
      </p:sp>
      <p:sp>
        <p:nvSpPr>
          <p:cNvPr id="1661" name="Google Shape;1661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250849153543</a:t>
            </a:r>
            <a:endParaRPr/>
          </a:p>
        </p:txBody>
      </p:sp>
      <p:sp>
        <p:nvSpPr>
          <p:cNvPr id="1662" name="Google Shape;1662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BHINDER TRANS CARRIER INC</a:t>
            </a:r>
            <a:endParaRPr/>
          </a:p>
        </p:txBody>
      </p:sp>
      <p:sp>
        <p:nvSpPr>
          <p:cNvPr id="1663" name="Google Shape;1663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64" name="Google Shape;1664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65" name="Google Shape;1665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66" name="Google Shape;1666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$19,901</a:t>
            </a:r>
            <a:endParaRPr/>
          </a:p>
        </p:txBody>
      </p:sp>
      <p:sp>
        <p:nvSpPr>
          <p:cNvPr id="1667" name="Google Shape;1667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68" name="Google Shape;1668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670" name="Google Shape;1670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250480741793</a:t>
            </a:r>
            <a:endParaRPr/>
          </a:p>
        </p:txBody>
      </p:sp>
      <p:sp>
        <p:nvSpPr>
          <p:cNvPr id="1671" name="Google Shape;1671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VOSS TRANSPORT LLC</a:t>
            </a:r>
            <a:endParaRPr/>
          </a:p>
        </p:txBody>
      </p:sp>
      <p:sp>
        <p:nvSpPr>
          <p:cNvPr id="1672" name="Google Shape;1672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73" name="Google Shape;1673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74" name="Google Shape;1674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75" name="Google Shape;1675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</a:t>
            </a:r>
            <a:endParaRPr/>
          </a:p>
        </p:txBody>
      </p:sp>
      <p:sp>
        <p:nvSpPr>
          <p:cNvPr id="1676" name="Google Shape;1676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77" name="Google Shape;1677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405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1" name="Shape 1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Google Shape;1682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3" name="Google Shape;1683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84" name="Google Shape;1684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Policies with cancellation_date on or before Aug 24, 2026  |  Sorted by urgency — call these agencies first</a:t>
            </a:r>
            <a:endParaRPr/>
          </a:p>
        </p:txBody>
      </p:sp>
      <p:sp>
        <p:nvSpPr>
          <p:cNvPr id="1685" name="Google Shape;1685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86" name="Google Shape;1686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87" name="Google Shape;1687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88" name="Google Shape;1688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89" name="Google Shape;1689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90" name="Google Shape;1690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1" name="Google Shape;1691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92" name="Google Shape;1692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93" name="Google Shape;1693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94" name="Google Shape;1694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95" name="Google Shape;1695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96" name="Google Shape;1696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97" name="Google Shape;1697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98" name="Google Shape;1698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99" name="Google Shape;1699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700" name="Google Shape;1700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701" name="Google Shape;1701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03" name="Google Shape;1703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704" name="Google Shape;1704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266212774929</a:t>
            </a:r>
            <a:endParaRPr/>
          </a:p>
        </p:txBody>
      </p:sp>
      <p:sp>
        <p:nvSpPr>
          <p:cNvPr id="1705" name="Google Shape;1705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CHAVARRIA</a:t>
            </a:r>
            <a:endParaRPr/>
          </a:p>
        </p:txBody>
      </p:sp>
      <p:sp>
        <p:nvSpPr>
          <p:cNvPr id="1706" name="Google Shape;1706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Empire Company Insurance Se</a:t>
            </a:r>
            <a:endParaRPr/>
          </a:p>
        </p:txBody>
      </p:sp>
      <p:sp>
        <p:nvSpPr>
          <p:cNvPr id="1707" name="Google Shape;1707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708" name="Google Shape;1708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709" name="Google Shape;1709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10" name="Google Shape;1710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711" name="Google Shape;1711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12" name="Google Shape;1712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713" name="Google Shape;1713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260773077207</a:t>
            </a:r>
            <a:endParaRPr/>
          </a:p>
        </p:txBody>
      </p:sp>
      <p:sp>
        <p:nvSpPr>
          <p:cNvPr id="1714" name="Google Shape;1714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VALLEY MOVERS LLC</a:t>
            </a:r>
            <a:endParaRPr/>
          </a:p>
        </p:txBody>
      </p:sp>
      <p:sp>
        <p:nvSpPr>
          <p:cNvPr id="1715" name="Google Shape;1715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</a:t>
            </a:r>
            <a:endParaRPr/>
          </a:p>
        </p:txBody>
      </p:sp>
      <p:sp>
        <p:nvSpPr>
          <p:cNvPr id="1716" name="Google Shape;1716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17" name="Google Shape;1717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</a:t>
            </a:r>
            <a:endParaRPr/>
          </a:p>
        </p:txBody>
      </p:sp>
      <p:sp>
        <p:nvSpPr>
          <p:cNvPr id="1718" name="Google Shape;1718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1719" name="Google Shape;1719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20" name="Google Shape;1720;p15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p15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22" name="Google Shape;1722;p15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723" name="Google Shape;1723;p15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260773077207</a:t>
            </a:r>
            <a:endParaRPr/>
          </a:p>
        </p:txBody>
      </p:sp>
      <p:sp>
        <p:nvSpPr>
          <p:cNvPr id="1724" name="Google Shape;1724;p15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VALLEY MOVERS LLC</a:t>
            </a:r>
            <a:endParaRPr/>
          </a:p>
        </p:txBody>
      </p:sp>
      <p:sp>
        <p:nvSpPr>
          <p:cNvPr id="1725" name="Google Shape;1725;p15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</a:t>
            </a:r>
            <a:endParaRPr/>
          </a:p>
        </p:txBody>
      </p:sp>
      <p:sp>
        <p:nvSpPr>
          <p:cNvPr id="1726" name="Google Shape;1726;p1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27" name="Google Shape;1727;p15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</a:t>
            </a:r>
            <a:endParaRPr/>
          </a:p>
        </p:txBody>
      </p:sp>
      <p:sp>
        <p:nvSpPr>
          <p:cNvPr id="1728" name="Google Shape;1728;p15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$8,060</a:t>
            </a:r>
            <a:endParaRPr/>
          </a:p>
        </p:txBody>
      </p:sp>
      <p:sp>
        <p:nvSpPr>
          <p:cNvPr id="1729" name="Google Shape;1729;p15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30" name="Google Shape;1730;p15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31" name="Google Shape;1731;p15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732" name="Google Shape;1732;p15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266212774929</a:t>
            </a:r>
            <a:endParaRPr/>
          </a:p>
        </p:txBody>
      </p:sp>
      <p:sp>
        <p:nvSpPr>
          <p:cNvPr id="1733" name="Google Shape;1733;p15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CHAVARRIA</a:t>
            </a:r>
            <a:endParaRPr/>
          </a:p>
        </p:txBody>
      </p:sp>
      <p:sp>
        <p:nvSpPr>
          <p:cNvPr id="1734" name="Google Shape;1734;p15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Empire Company Insurance Se</a:t>
            </a:r>
            <a:endParaRPr/>
          </a:p>
        </p:txBody>
      </p:sp>
      <p:sp>
        <p:nvSpPr>
          <p:cNvPr id="1735" name="Google Shape;1735;p15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36" name="Google Shape;1736;p1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737" name="Google Shape;1737;p15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8" name="Google Shape;1738;p15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739" name="Google Shape;1739;p15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15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41" name="Google Shape;1741;p15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742" name="Google Shape;1742;p15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260773077207</a:t>
            </a:r>
            <a:endParaRPr/>
          </a:p>
        </p:txBody>
      </p:sp>
      <p:sp>
        <p:nvSpPr>
          <p:cNvPr id="1743" name="Google Shape;1743;p15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VALLEY MOVERS LLC</a:t>
            </a:r>
            <a:endParaRPr/>
          </a:p>
        </p:txBody>
      </p:sp>
      <p:sp>
        <p:nvSpPr>
          <p:cNvPr id="1744" name="Google Shape;1744;p15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</a:t>
            </a:r>
            <a:endParaRPr/>
          </a:p>
        </p:txBody>
      </p:sp>
      <p:sp>
        <p:nvSpPr>
          <p:cNvPr id="1745" name="Google Shape;1745;p15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46" name="Google Shape;1746;p1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</a:t>
            </a:r>
            <a:endParaRPr/>
          </a:p>
        </p:txBody>
      </p:sp>
      <p:sp>
        <p:nvSpPr>
          <p:cNvPr id="1747" name="Google Shape;1747;p15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$590</a:t>
            </a:r>
            <a:endParaRPr/>
          </a:p>
        </p:txBody>
      </p:sp>
      <p:sp>
        <p:nvSpPr>
          <p:cNvPr id="1748" name="Google Shape;1748;p15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49" name="Google Shape;1749;p15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50" name="Google Shape;1750;p15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751" name="Google Shape;1751;p15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260773077207</a:t>
            </a:r>
            <a:endParaRPr/>
          </a:p>
        </p:txBody>
      </p:sp>
      <p:sp>
        <p:nvSpPr>
          <p:cNvPr id="1752" name="Google Shape;1752;p15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VALLEY MOVERS LLC</a:t>
            </a:r>
            <a:endParaRPr/>
          </a:p>
        </p:txBody>
      </p:sp>
      <p:sp>
        <p:nvSpPr>
          <p:cNvPr id="1753" name="Google Shape;1753;p15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</a:t>
            </a:r>
            <a:endParaRPr/>
          </a:p>
        </p:txBody>
      </p:sp>
      <p:sp>
        <p:nvSpPr>
          <p:cNvPr id="1754" name="Google Shape;1754;p15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755" name="Google Shape;1755;p15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</a:t>
            </a:r>
            <a:endParaRPr/>
          </a:p>
        </p:txBody>
      </p:sp>
      <p:sp>
        <p:nvSpPr>
          <p:cNvPr id="1756" name="Google Shape;1756;p1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$2,680</a:t>
            </a:r>
            <a:endParaRPr/>
          </a:p>
        </p:txBody>
      </p:sp>
      <p:sp>
        <p:nvSpPr>
          <p:cNvPr id="1757" name="Google Shape;1757;p15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58" name="Google Shape;1758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2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California  |  City: Burbank</a:t>
            </a:r>
            <a:endParaRPr/>
          </a:p>
        </p:txBody>
      </p:sp>
      <p:sp>
        <p:nvSpPr>
          <p:cNvPr id="1766" name="Google Shape;1766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$4,512,337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767" name="Google Shape;1767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68" name="Google Shape;1768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$811,152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69" name="Google Shape;1769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$1,276,267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70" name="Google Shape;1770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$-1,778,380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71" name="Google Shape;1771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$5,475,695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772" name="Google Shape;1772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$8,361,825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773" name="Google Shape;1773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774" name="Google Shape;1774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75" name="Google Shape;1775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76" name="Google Shape;1776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77" name="Google Shape;1777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$1,797,352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778" name="Google Shape;1778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$1,387,867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779" name="Google Shape;1779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87" name="Google Shape;1787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8" name="Google Shape;1788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$2,056,544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$1,581,567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$474,977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$-602,525</a:t>
            </a:r>
            <a:endParaRPr/>
          </a:p>
        </p:txBody>
      </p:sp>
      <p:sp>
        <p:nvSpPr>
          <p:cNvPr id="1794" name="Google Shape;1794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5" name="Google Shape;1795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$728,018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$409,602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$134,041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$184,375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$-326,252</a:t>
            </a:r>
            <a:endParaRPr/>
          </a:p>
        </p:txBody>
      </p:sp>
      <p:sp>
        <p:nvSpPr>
          <p:cNvPr id="1801" name="Google Shape;1801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2" name="Google Shape;1802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$564,631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$148,205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$176,137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$240,289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$-295,352</a:t>
            </a:r>
            <a:endParaRPr/>
          </a:p>
        </p:txBody>
      </p:sp>
      <p:sp>
        <p:nvSpPr>
          <p:cNvPr id="1808" name="Google Shape;1808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9" name="Google Shape;1809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$686,498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$214,611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$366,458</a:t>
            </a:r>
            <a:endParaRPr/>
          </a:p>
        </p:txBody>
      </p:sp>
      <p:sp>
        <p:nvSpPr>
          <p:cNvPr id="1813" name="Google Shape;1813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$105,429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$-301,767</a:t>
            </a:r>
            <a:endParaRPr/>
          </a:p>
        </p:txBody>
      </p:sp>
      <p:sp>
        <p:nvSpPr>
          <p:cNvPr id="1815" name="Google Shape;1815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$476,646</a:t>
            </a:r>
            <a:endParaRPr/>
          </a:p>
        </p:txBody>
      </p:sp>
      <p:sp>
        <p:nvSpPr>
          <p:cNvPr id="1818" name="Google Shape;1818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$70,933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$134,515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$271,198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$-252,484</a:t>
            </a:r>
            <a:endParaRPr/>
          </a:p>
        </p:txBody>
      </p:sp>
      <p:sp>
        <p:nvSpPr>
          <p:cNvPr id="1822" name="Google Shape;1822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3" name="Google Shape;1823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$4,512,337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$811,152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$1,276,267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$-1,778,380</a:t>
            </a:r>
            <a:endParaRPr/>
          </a:p>
        </p:txBody>
      </p:sp>
      <p:sp>
        <p:nvSpPr>
          <p:cNvPr id="1829" name="Google Shape;1829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0" name="Google Shape;1830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834" name="Google Shape;1834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37" name="Google Shape;1837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39" name="Google Shape;1839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840" name="Google Shape;1840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841" name="Google Shape;1841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1842" name="Google Shape;1842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1844" name="Google Shape;1844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46" name="Google Shape;1846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847" name="Google Shape;1847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848" name="Google Shape;1848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20.2%</a:t>
            </a:r>
            <a:endParaRPr/>
          </a:p>
        </p:txBody>
      </p:sp>
      <p:sp>
        <p:nvSpPr>
          <p:cNvPr id="1851" name="Google Shape;1851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854" name="Google Shape;1854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855" name="Google Shape;1855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857" name="Google Shape;1857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18.0%</a:t>
            </a:r>
            <a:endParaRPr/>
          </a:p>
        </p:txBody>
      </p:sp>
      <p:sp>
        <p:nvSpPr>
          <p:cNvPr id="1858" name="Google Shape;1858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60" name="Google Shape;1860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861" name="Google Shape;1861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862" name="Google Shape;1862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1863" name="Google Shape;1863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864" name="Google Shape;1864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1865" name="Google Shape;1865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6" name="Google Shape;1866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67" name="Google Shape;1867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1868" name="Google Shape;1868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869" name="Google Shape;1869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</a:t>
            </a:r>
            <a:endParaRPr/>
          </a:p>
        </p:txBody>
      </p:sp>
      <p:sp>
        <p:nvSpPr>
          <p:cNvPr id="1870" name="Google Shape;1870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871" name="Google Shape;1871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15.3%</a:t>
            </a:r>
            <a:endParaRPr/>
          </a:p>
        </p:txBody>
      </p:sp>
      <p:sp>
        <p:nvSpPr>
          <p:cNvPr id="1872" name="Google Shape;1872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3" name="Google Shape;1873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74" name="Google Shape;1874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669</a:t>
            </a:r>
            <a:endParaRPr/>
          </a:p>
        </p:txBody>
      </p:sp>
      <p:sp>
        <p:nvSpPr>
          <p:cNvPr id="1875" name="Google Shape;1875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876" name="Google Shape;1876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595</a:t>
            </a:r>
            <a:endParaRPr/>
          </a:p>
        </p:txBody>
      </p:sp>
      <p:sp>
        <p:nvSpPr>
          <p:cNvPr id="1877" name="Google Shape;1877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878" name="Google Shape;1878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879" name="Google Shape;1879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0" name="Google Shape;1880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881" name="Google Shape;1881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82" name="Google Shape;1882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883" name="Google Shape;1883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884" name="Google Shape;1884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885" name="Google Shape;1885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886" name="Google Shape;1886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887" name="Google Shape;1887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888" name="Google Shape;1888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889" name="Google Shape;1889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890" name="Google Shape;1890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891" name="Google Shape;1891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892" name="Google Shape;1892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893" name="Google Shape;1893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894" name="Google Shape;1894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95" name="Google Shape;1895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1896" name="Google Shape;1896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897" name="Google Shape;1897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898" name="Google Shape;1898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899" name="Google Shape;1899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900" name="Google Shape;1900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901" name="Google Shape;1901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902" name="Google Shape;1902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903" name="Google Shape;1903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1904" name="Google Shape;1904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1905" name="Google Shape;1905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614</a:t>
            </a:r>
            <a:endParaRPr/>
          </a:p>
        </p:txBody>
      </p:sp>
      <p:sp>
        <p:nvSpPr>
          <p:cNvPr id="1906" name="Google Shape;1906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834</a:t>
            </a:r>
            <a:endParaRPr/>
          </a:p>
        </p:txBody>
      </p:sp>
      <p:sp>
        <p:nvSpPr>
          <p:cNvPr id="1907" name="Google Shape;1907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08" name="Google Shape;1908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1909" name="Google Shape;1909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$2.1M</a:t>
            </a:r>
            <a:endParaRPr/>
          </a:p>
        </p:txBody>
      </p:sp>
      <p:sp>
        <p:nvSpPr>
          <p:cNvPr id="1910" name="Google Shape;1910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$124K</a:t>
            </a:r>
            <a:endParaRPr/>
          </a:p>
        </p:txBody>
      </p:sp>
      <p:sp>
        <p:nvSpPr>
          <p:cNvPr id="1911" name="Google Shape;1911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$728K</a:t>
            </a:r>
            <a:endParaRPr/>
          </a:p>
        </p:txBody>
      </p:sp>
      <p:sp>
        <p:nvSpPr>
          <p:cNvPr id="1912" name="Google Shape;1912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$441K</a:t>
            </a:r>
            <a:endParaRPr/>
          </a:p>
        </p:txBody>
      </p:sp>
      <p:sp>
        <p:nvSpPr>
          <p:cNvPr id="1913" name="Google Shape;1913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$565K</a:t>
            </a:r>
            <a:endParaRPr/>
          </a:p>
        </p:txBody>
      </p:sp>
      <p:sp>
        <p:nvSpPr>
          <p:cNvPr id="1914" name="Google Shape;1914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$501K</a:t>
            </a:r>
            <a:endParaRPr/>
          </a:p>
        </p:txBody>
      </p:sp>
      <p:sp>
        <p:nvSpPr>
          <p:cNvPr id="1915" name="Google Shape;1915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$686K</a:t>
            </a:r>
            <a:endParaRPr/>
          </a:p>
        </p:txBody>
      </p:sp>
      <p:sp>
        <p:nvSpPr>
          <p:cNvPr id="1916" name="Google Shape;1916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$449K</a:t>
            </a:r>
            <a:endParaRPr/>
          </a:p>
        </p:txBody>
      </p:sp>
      <p:sp>
        <p:nvSpPr>
          <p:cNvPr id="1917" name="Google Shape;1917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$477K</a:t>
            </a:r>
            <a:endParaRPr/>
          </a:p>
        </p:txBody>
      </p:sp>
      <p:sp>
        <p:nvSpPr>
          <p:cNvPr id="1918" name="Google Shape;1918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$1.6M</a:t>
            </a:r>
            <a:endParaRPr/>
          </a:p>
        </p:txBody>
      </p:sp>
      <p:sp>
        <p:nvSpPr>
          <p:cNvPr id="1919" name="Google Shape;1919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$4.5M</a:t>
            </a:r>
            <a:endParaRPr/>
          </a:p>
        </p:txBody>
      </p:sp>
      <p:sp>
        <p:nvSpPr>
          <p:cNvPr id="1920" name="Google Shape;1920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22" name="Google Shape;1922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23" name="Google Shape;1923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$4,512,337 YTD gross written premium</a:t>
            </a:r>
            <a:endParaRPr/>
          </a:p>
        </p:txBody>
      </p:sp>
      <p:sp>
        <p:nvSpPr>
          <p:cNvPr id="1924" name="Google Shape;1924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25" name="Google Shape;1925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 in new business production</a:t>
            </a:r>
            <a:endParaRPr/>
          </a:p>
        </p:txBody>
      </p:sp>
      <p:sp>
        <p:nvSpPr>
          <p:cNvPr id="1926" name="Google Shape;1926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7" name="Google Shape;1927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28" name="Google Shape;1928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29" name="Google Shape;1929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73% of new business ($1,778,380)</a:t>
            </a:r>
            <a:endParaRPr/>
          </a:p>
        </p:txBody>
      </p:sp>
      <p:sp>
        <p:nvSpPr>
          <p:cNvPr id="1930" name="Google Shape;1930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1" name="Google Shape;1931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32" name="Google Shape;1932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933" name="Google Shape;1933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$2,424,917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934" name="Google Shape;1934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935" name="Google Shape;1935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$1,778,380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9" name="Shape 1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0" name="Google Shape;1940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1" name="Google Shape;1941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TN  |  City: Chattanooga</a:t>
            </a:r>
            <a:endParaRPr/>
          </a:p>
        </p:txBody>
      </p:sp>
      <p:sp>
        <p:nvSpPr>
          <p:cNvPr id="1943" name="Google Shape;1943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$3,828,775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944" name="Google Shape;1944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$2,352,251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45" name="Google Shape;1945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$706,270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46" name="Google Shape;1946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$770,254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47" name="Google Shape;1947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$-1,643,135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48" name="Google Shape;1948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$11,296,746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49" name="Google Shape;1949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$10,830,245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50" name="Google Shape;1950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51" name="Google Shape;1951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52" name="Google Shape;1952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53" name="Google Shape;1953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54" name="Google Shape;1954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$2,431,937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955" name="Google Shape;1955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$2,386,691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956" name="Google Shape;1956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64" name="Google Shape;1964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5" name="Google Shape;1965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$447,696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$148,058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$29,222</a:t>
            </a:r>
            <a:endParaRPr/>
          </a:p>
        </p:txBody>
      </p:sp>
      <p:sp>
        <p:nvSpPr>
          <p:cNvPr id="1969" name="Google Shape;1969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$270,417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$-318,333</a:t>
            </a:r>
            <a:endParaRPr/>
          </a:p>
        </p:txBody>
      </p:sp>
      <p:sp>
        <p:nvSpPr>
          <p:cNvPr id="1971" name="Google Shape;1971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2" name="Google Shape;1972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$556,470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$315,091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$87,096</a:t>
            </a:r>
            <a:endParaRPr/>
          </a:p>
        </p:txBody>
      </p:sp>
      <p:sp>
        <p:nvSpPr>
          <p:cNvPr id="1976" name="Google Shape;1976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$154,282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$-236,871</a:t>
            </a:r>
            <a:endParaRPr/>
          </a:p>
        </p:txBody>
      </p:sp>
      <p:sp>
        <p:nvSpPr>
          <p:cNvPr id="1978" name="Google Shape;1978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$882,650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$744,194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$65,019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$73,436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$-437,887</a:t>
            </a:r>
            <a:endParaRPr/>
          </a:p>
        </p:txBody>
      </p:sp>
      <p:sp>
        <p:nvSpPr>
          <p:cNvPr id="1985" name="Google Shape;1985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6" name="Google Shape;1986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$1,322,951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$734,967</a:t>
            </a:r>
            <a:endParaRPr/>
          </a:p>
        </p:txBody>
      </p:sp>
      <p:sp>
        <p:nvSpPr>
          <p:cNvPr id="1989" name="Google Shape;1989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$432,382</a:t>
            </a:r>
            <a:endParaRPr/>
          </a:p>
        </p:txBody>
      </p:sp>
      <p:sp>
        <p:nvSpPr>
          <p:cNvPr id="1990" name="Google Shape;1990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$155,602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$-475,958</a:t>
            </a:r>
            <a:endParaRPr/>
          </a:p>
        </p:txBody>
      </p:sp>
      <p:sp>
        <p:nvSpPr>
          <p:cNvPr id="1992" name="Google Shape;1992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3" name="Google Shape;1993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$619,008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$409,941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$92,550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$116,517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$-174,086</a:t>
            </a:r>
            <a:endParaRPr/>
          </a:p>
        </p:txBody>
      </p:sp>
      <p:sp>
        <p:nvSpPr>
          <p:cNvPr id="1999" name="Google Shape;1999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0" name="Google Shape;2000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$3,828,775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$2,352,251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$706,270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$770,254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$-1,643,135</a:t>
            </a:r>
            <a:endParaRPr/>
          </a:p>
        </p:txBody>
      </p:sp>
      <p:sp>
        <p:nvSpPr>
          <p:cNvPr id="2006" name="Google Shape;2006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007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10" name="Google Shape;2010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13" name="Google Shape;2013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14" name="Google Shape;2014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1510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</a:t>
            </a:r>
            <a:endParaRPr/>
          </a:p>
        </p:txBody>
      </p:sp>
      <p:sp>
        <p:nvSpPr>
          <p:cNvPr id="2018" name="Google Shape;2018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1255</a:t>
            </a:r>
            <a:endParaRPr/>
          </a:p>
        </p:txBody>
      </p:sp>
      <p:sp>
        <p:nvSpPr>
          <p:cNvPr id="2019" name="Google Shape;2019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020" name="Google Shape;2020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2021" name="Google Shape;2021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2" name="Google Shape;2022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1285</a:t>
            </a:r>
            <a:endParaRPr/>
          </a:p>
        </p:txBody>
      </p:sp>
      <p:sp>
        <p:nvSpPr>
          <p:cNvPr id="2024" name="Google Shape;2024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1096</a:t>
            </a:r>
            <a:endParaRPr/>
          </a:p>
        </p:txBody>
      </p:sp>
      <p:sp>
        <p:nvSpPr>
          <p:cNvPr id="2026" name="Google Shape;2026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027" name="Google Shape;2027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028" name="Google Shape;2028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9" name="Google Shape;2029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1444</a:t>
            </a:r>
            <a:endParaRPr/>
          </a:p>
        </p:txBody>
      </p:sp>
      <p:sp>
        <p:nvSpPr>
          <p:cNvPr id="2031" name="Google Shape;2031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</a:t>
            </a:r>
            <a:endParaRPr/>
          </a:p>
        </p:txBody>
      </p:sp>
      <p:sp>
        <p:nvSpPr>
          <p:cNvPr id="2032" name="Google Shape;2032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1186</a:t>
            </a:r>
            <a:endParaRPr/>
          </a:p>
        </p:txBody>
      </p:sp>
      <p:sp>
        <p:nvSpPr>
          <p:cNvPr id="2033" name="Google Shape;2033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034" name="Google Shape;2034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3.9%</a:t>
            </a:r>
            <a:endParaRPr/>
          </a:p>
        </p:txBody>
      </p:sp>
      <p:sp>
        <p:nvSpPr>
          <p:cNvPr id="2035" name="Google Shape;2035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6" name="Google Shape;2036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37" name="Google Shape;2037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</p:txBody>
      </p:sp>
      <p:sp>
        <p:nvSpPr>
          <p:cNvPr id="2038" name="Google Shape;2038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2039" name="Google Shape;2039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1080</a:t>
            </a:r>
            <a:endParaRPr/>
          </a:p>
        </p:txBody>
      </p:sp>
      <p:sp>
        <p:nvSpPr>
          <p:cNvPr id="2040" name="Google Shape;2040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041" name="Google Shape;2041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042" name="Google Shape;2042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3" name="Google Shape;2043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44" name="Google Shape;2044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924</a:t>
            </a:r>
            <a:endParaRPr/>
          </a:p>
        </p:txBody>
      </p:sp>
      <p:sp>
        <p:nvSpPr>
          <p:cNvPr id="2045" name="Google Shape;2045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</a:t>
            </a:r>
            <a:endParaRPr/>
          </a:p>
        </p:txBody>
      </p:sp>
      <p:sp>
        <p:nvSpPr>
          <p:cNvPr id="2046" name="Google Shape;2046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773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048" name="Google Shape;2048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2049" name="Google Shape;2049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0" name="Google Shape;2050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51" name="Google Shape;2051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6255</a:t>
            </a:r>
            <a:endParaRPr/>
          </a:p>
        </p:txBody>
      </p:sp>
      <p:sp>
        <p:nvSpPr>
          <p:cNvPr id="2052" name="Google Shape;2052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1047</a:t>
            </a:r>
            <a:endParaRPr/>
          </a:p>
        </p:txBody>
      </p:sp>
      <p:sp>
        <p:nvSpPr>
          <p:cNvPr id="2053" name="Google Shape;2053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5208</a:t>
            </a:r>
            <a:endParaRPr/>
          </a:p>
        </p:txBody>
      </p:sp>
      <p:sp>
        <p:nvSpPr>
          <p:cNvPr id="2054" name="Google Shape;2054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2055" name="Google Shape;2055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2056" name="Google Shape;2056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7" name="Google Shape;2057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058" name="Google Shape;2058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59" name="Google Shape;2059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060" name="Google Shape;2060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061" name="Google Shape;2061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062" name="Google Shape;2062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063" name="Google Shape;2063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064" name="Google Shape;2064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065" name="Google Shape;2065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066" name="Google Shape;2066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067" name="Google Shape;2067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068" name="Google Shape;2068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069" name="Google Shape;2069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070" name="Google Shape;2070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071" name="Google Shape;2071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72" name="Google Shape;2072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1124</a:t>
            </a:r>
            <a:endParaRPr/>
          </a:p>
        </p:txBody>
      </p:sp>
      <p:sp>
        <p:nvSpPr>
          <p:cNvPr id="2073" name="Google Shape;2073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1510</a:t>
            </a:r>
            <a:endParaRPr/>
          </a:p>
        </p:txBody>
      </p:sp>
      <p:sp>
        <p:nvSpPr>
          <p:cNvPr id="2074" name="Google Shape;2074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1000</a:t>
            </a:r>
            <a:endParaRPr/>
          </a:p>
        </p:txBody>
      </p:sp>
      <p:sp>
        <p:nvSpPr>
          <p:cNvPr id="2075" name="Google Shape;2075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1285</a:t>
            </a:r>
            <a:endParaRPr/>
          </a:p>
        </p:txBody>
      </p:sp>
      <p:sp>
        <p:nvSpPr>
          <p:cNvPr id="2076" name="Google Shape;2076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1430</a:t>
            </a:r>
            <a:endParaRPr/>
          </a:p>
        </p:txBody>
      </p:sp>
      <p:sp>
        <p:nvSpPr>
          <p:cNvPr id="2077" name="Google Shape;2077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1444</a:t>
            </a:r>
            <a:endParaRPr/>
          </a:p>
        </p:txBody>
      </p:sp>
      <p:sp>
        <p:nvSpPr>
          <p:cNvPr id="2078" name="Google Shape;2078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1499</a:t>
            </a:r>
            <a:endParaRPr/>
          </a:p>
        </p:txBody>
      </p:sp>
      <p:sp>
        <p:nvSpPr>
          <p:cNvPr id="2079" name="Google Shape;2079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</p:txBody>
      </p:sp>
      <p:sp>
        <p:nvSpPr>
          <p:cNvPr id="2080" name="Google Shape;2080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1462</a:t>
            </a:r>
            <a:endParaRPr/>
          </a:p>
        </p:txBody>
      </p:sp>
      <p:sp>
        <p:nvSpPr>
          <p:cNvPr id="2081" name="Google Shape;2081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924</a:t>
            </a:r>
            <a:endParaRPr/>
          </a:p>
        </p:txBody>
      </p:sp>
      <p:sp>
        <p:nvSpPr>
          <p:cNvPr id="2082" name="Google Shape;2082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6515</a:t>
            </a:r>
            <a:endParaRPr/>
          </a:p>
        </p:txBody>
      </p:sp>
      <p:sp>
        <p:nvSpPr>
          <p:cNvPr id="2083" name="Google Shape;2083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6478</a:t>
            </a:r>
            <a:endParaRPr/>
          </a:p>
        </p:txBody>
      </p:sp>
      <p:sp>
        <p:nvSpPr>
          <p:cNvPr id="2084" name="Google Shape;2084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085" name="Google Shape;2085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$446K</a:t>
            </a:r>
            <a:endParaRPr/>
          </a:p>
        </p:txBody>
      </p:sp>
      <p:sp>
        <p:nvSpPr>
          <p:cNvPr id="2086" name="Google Shape;2086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$448K</a:t>
            </a:r>
            <a:endParaRPr/>
          </a:p>
        </p:txBody>
      </p:sp>
      <p:sp>
        <p:nvSpPr>
          <p:cNvPr id="2087" name="Google Shape;2087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$380K</a:t>
            </a:r>
            <a:endParaRPr/>
          </a:p>
        </p:txBody>
      </p:sp>
      <p:sp>
        <p:nvSpPr>
          <p:cNvPr id="2088" name="Google Shape;2088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$556K</a:t>
            </a:r>
            <a:endParaRPr/>
          </a:p>
        </p:txBody>
      </p:sp>
      <p:sp>
        <p:nvSpPr>
          <p:cNvPr id="2089" name="Google Shape;2089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$997K</a:t>
            </a:r>
            <a:endParaRPr/>
          </a:p>
        </p:txBody>
      </p:sp>
      <p:sp>
        <p:nvSpPr>
          <p:cNvPr id="2090" name="Google Shape;2090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$883K</a:t>
            </a:r>
            <a:endParaRPr/>
          </a:p>
        </p:txBody>
      </p:sp>
      <p:sp>
        <p:nvSpPr>
          <p:cNvPr id="2091" name="Google Shape;2091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$1.2M</a:t>
            </a:r>
            <a:endParaRPr/>
          </a:p>
        </p:txBody>
      </p:sp>
      <p:sp>
        <p:nvSpPr>
          <p:cNvPr id="2092" name="Google Shape;2092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2093" name="Google Shape;2093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2094" name="Google Shape;2094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$619K</a:t>
            </a:r>
            <a:endParaRPr/>
          </a:p>
        </p:txBody>
      </p:sp>
      <p:sp>
        <p:nvSpPr>
          <p:cNvPr id="2095" name="Google Shape;2095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$4.3M</a:t>
            </a:r>
            <a:endParaRPr/>
          </a:p>
        </p:txBody>
      </p:sp>
      <p:sp>
        <p:nvSpPr>
          <p:cNvPr id="2096" name="Google Shape;2096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$3.8M</a:t>
            </a:r>
            <a:endParaRPr/>
          </a:p>
        </p:txBody>
      </p:sp>
      <p:sp>
        <p:nvSpPr>
          <p:cNvPr id="2097" name="Google Shape;2097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8" name="Google Shape;2098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99" name="Google Shape;2099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00" name="Google Shape;2100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$3,828,775 YTD gross written premium</a:t>
            </a:r>
            <a:endParaRPr/>
          </a:p>
        </p:txBody>
      </p:sp>
      <p:sp>
        <p:nvSpPr>
          <p:cNvPr id="2101" name="Google Shape;2101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02" name="Google Shape;2102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$2,352,251 in new business production</a:t>
            </a:r>
            <a:endParaRPr/>
          </a:p>
        </p:txBody>
      </p:sp>
      <p:sp>
        <p:nvSpPr>
          <p:cNvPr id="2103" name="Google Shape;2103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4" name="Google Shape;2104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05" name="Google Shape;2105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06" name="Google Shape;2106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1.7% hit ratio on 6255 subs - needs coaching</a:t>
            </a:r>
            <a:endParaRPr/>
          </a:p>
        </p:txBody>
      </p:sp>
      <p:sp>
        <p:nvSpPr>
          <p:cNvPr id="2107" name="Google Shape;2107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08" name="Google Shape;2108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70% of new business ($1,643,135)</a:t>
            </a:r>
            <a:endParaRPr/>
          </a:p>
        </p:txBody>
      </p:sp>
      <p:sp>
        <p:nvSpPr>
          <p:cNvPr id="2109" name="Google Shape;2109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0" name="Google Shape;2110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11" name="Google Shape;2111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12" name="Google Shape;2112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(6255 subs, only 108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13" name="Google Shape;2113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14" name="Google Shape;2114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$2,352,251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18" name="Shape 2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" name="Google Shape;2119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0" name="Google Shape;2120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Fountain Valley</a:t>
            </a:r>
            <a:endParaRPr/>
          </a:p>
        </p:txBody>
      </p:sp>
      <p:sp>
        <p:nvSpPr>
          <p:cNvPr id="2122" name="Google Shape;2122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$3,627,374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23" name="Google Shape;2123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24" name="Google Shape;2124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25" name="Google Shape;2125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$897,350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26" name="Google Shape;2126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$-1,100,014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27" name="Google Shape;2127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$5,313,122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28" name="Google Shape;2128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$7,026,341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29" name="Google Shape;2129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30" name="Google Shape;2130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31" name="Google Shape;2131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32" name="Google Shape;2132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33" name="Google Shape;2133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$580,203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134" name="Google Shape;2134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$2,379,301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135" name="Google Shape;2135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6" name="Google Shape;2136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43" name="Google Shape;2143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4" name="Google Shape;2144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$619,222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$547,989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$16,681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$54,552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$-177,485</a:t>
            </a:r>
            <a:endParaRPr/>
          </a:p>
        </p:txBody>
      </p:sp>
      <p:sp>
        <p:nvSpPr>
          <p:cNvPr id="2150" name="Google Shape;2150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1" name="Google Shape;2151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$544,314</a:t>
            </a:r>
            <a:endParaRPr/>
          </a:p>
        </p:txBody>
      </p:sp>
      <p:sp>
        <p:nvSpPr>
          <p:cNvPr id="2153" name="Google Shape;2153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$336,280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$58,445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$149,589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$-240,020</a:t>
            </a:r>
            <a:endParaRPr/>
          </a:p>
        </p:txBody>
      </p:sp>
      <p:sp>
        <p:nvSpPr>
          <p:cNvPr id="2157" name="Google Shape;2157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8" name="Google Shape;2158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$843,770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$483,530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$58,483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$301,757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$-272,683</a:t>
            </a:r>
            <a:endParaRPr/>
          </a:p>
        </p:txBody>
      </p:sp>
      <p:sp>
        <p:nvSpPr>
          <p:cNvPr id="2164" name="Google Shape;2164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5" name="Google Shape;2165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66" name="Google Shape;2166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$975,519</a:t>
            </a:r>
            <a:endParaRPr/>
          </a:p>
        </p:txBody>
      </p:sp>
      <p:sp>
        <p:nvSpPr>
          <p:cNvPr id="2167" name="Google Shape;2167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$503,838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$197,217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$274,464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$-262,704</a:t>
            </a:r>
            <a:endParaRPr/>
          </a:p>
        </p:txBody>
      </p:sp>
      <p:sp>
        <p:nvSpPr>
          <p:cNvPr id="2171" name="Google Shape;2171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2" name="Google Shape;2172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73" name="Google Shape;2173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$644,550</a:t>
            </a:r>
            <a:endParaRPr/>
          </a:p>
        </p:txBody>
      </p:sp>
      <p:sp>
        <p:nvSpPr>
          <p:cNvPr id="2174" name="Google Shape;2174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$444,477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$83,085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$116,988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$-147,122</a:t>
            </a:r>
            <a:endParaRPr/>
          </a:p>
        </p:txBody>
      </p:sp>
      <p:sp>
        <p:nvSpPr>
          <p:cNvPr id="2178" name="Google Shape;2178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9" name="Google Shape;2179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$3,627,374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$413,911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$897,350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$-1,100,014</a:t>
            </a:r>
            <a:endParaRPr/>
          </a:p>
        </p:txBody>
      </p:sp>
      <p:sp>
        <p:nvSpPr>
          <p:cNvPr id="2185" name="Google Shape;2185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6" name="Google Shape;2186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189" name="Google Shape;2189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190" name="Google Shape;2190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93" name="Google Shape;2193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95" name="Google Shape;2195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196" name="Google Shape;2196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197" name="Google Shape;2197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651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199" name="Google Shape;2199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9.7%</a:t>
            </a:r>
            <a:endParaRPr/>
          </a:p>
        </p:txBody>
      </p:sp>
      <p:sp>
        <p:nvSpPr>
          <p:cNvPr id="2200" name="Google Shape;2200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1" name="Google Shape;2201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02" name="Google Shape;2202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676</a:t>
            </a:r>
            <a:endParaRPr/>
          </a:p>
        </p:txBody>
      </p:sp>
      <p:sp>
        <p:nvSpPr>
          <p:cNvPr id="2203" name="Google Shape;2203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204" name="Google Shape;2204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656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10.1%</a:t>
            </a:r>
            <a:endParaRPr/>
          </a:p>
        </p:txBody>
      </p:sp>
      <p:sp>
        <p:nvSpPr>
          <p:cNvPr id="2207" name="Google Shape;2207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8" name="Google Shape;2208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09" name="Google Shape;2209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210" name="Google Shape;2210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211" name="Google Shape;2211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655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10.7%</a:t>
            </a:r>
            <a:endParaRPr/>
          </a:p>
        </p:txBody>
      </p:sp>
      <p:sp>
        <p:nvSpPr>
          <p:cNvPr id="2214" name="Google Shape;2214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5" name="Google Shape;2215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16" name="Google Shape;2216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722</a:t>
            </a:r>
            <a:endParaRPr/>
          </a:p>
        </p:txBody>
      </p:sp>
      <p:sp>
        <p:nvSpPr>
          <p:cNvPr id="2217" name="Google Shape;2217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218" name="Google Shape;2218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2221" name="Google Shape;2221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2" name="Google Shape;2222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23" name="Google Shape;2223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541</a:t>
            </a:r>
            <a:endParaRPr/>
          </a:p>
        </p:txBody>
      </p:sp>
      <p:sp>
        <p:nvSpPr>
          <p:cNvPr id="2224" name="Google Shape;2224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225" name="Google Shape;2225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505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227" name="Google Shape;2227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228" name="Google Shape;2228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9" name="Google Shape;2229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30" name="Google Shape;2230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2996</a:t>
            </a:r>
            <a:endParaRPr/>
          </a:p>
        </p:txBody>
      </p:sp>
      <p:sp>
        <p:nvSpPr>
          <p:cNvPr id="2231" name="Google Shape;2231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2232" name="Google Shape;2232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2856</a:t>
            </a:r>
            <a:endParaRPr/>
          </a:p>
        </p:txBody>
      </p:sp>
      <p:sp>
        <p:nvSpPr>
          <p:cNvPr id="2233" name="Google Shape;2233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2234" name="Google Shape;2234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235" name="Google Shape;2235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6" name="Google Shape;2236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237" name="Google Shape;2237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38" name="Google Shape;2238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239" name="Google Shape;2239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240" name="Google Shape;2240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241" name="Google Shape;2241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242" name="Google Shape;2242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243" name="Google Shape;2243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244" name="Google Shape;2244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245" name="Google Shape;2245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246" name="Google Shape;2246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47" name="Google Shape;2247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48" name="Google Shape;2248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249" name="Google Shape;2249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250" name="Google Shape;2250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51" name="Google Shape;2251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346</a:t>
            </a:r>
            <a:endParaRPr/>
          </a:p>
        </p:txBody>
      </p:sp>
      <p:sp>
        <p:nvSpPr>
          <p:cNvPr id="2252" name="Google Shape;2252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253" name="Google Shape;2253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386</a:t>
            </a:r>
            <a:endParaRPr/>
          </a:p>
        </p:txBody>
      </p:sp>
      <p:sp>
        <p:nvSpPr>
          <p:cNvPr id="2254" name="Google Shape;2254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676</a:t>
            </a:r>
            <a:endParaRPr/>
          </a:p>
        </p:txBody>
      </p:sp>
      <p:sp>
        <p:nvSpPr>
          <p:cNvPr id="2255" name="Google Shape;2255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343</a:t>
            </a:r>
            <a:endParaRPr/>
          </a:p>
        </p:txBody>
      </p:sp>
      <p:sp>
        <p:nvSpPr>
          <p:cNvPr id="2256" name="Google Shape;2256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257" name="Google Shape;2257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490</a:t>
            </a:r>
            <a:endParaRPr/>
          </a:p>
        </p:txBody>
      </p:sp>
      <p:sp>
        <p:nvSpPr>
          <p:cNvPr id="2258" name="Google Shape;2258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722</a:t>
            </a:r>
            <a:endParaRPr/>
          </a:p>
        </p:txBody>
      </p:sp>
      <p:sp>
        <p:nvSpPr>
          <p:cNvPr id="2259" name="Google Shape;2259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415</a:t>
            </a:r>
            <a:endParaRPr/>
          </a:p>
        </p:txBody>
      </p:sp>
      <p:sp>
        <p:nvSpPr>
          <p:cNvPr id="2260" name="Google Shape;2260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541</a:t>
            </a:r>
            <a:endParaRPr/>
          </a:p>
        </p:txBody>
      </p:sp>
      <p:sp>
        <p:nvSpPr>
          <p:cNvPr id="2261" name="Google Shape;2261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1980</a:t>
            </a:r>
            <a:endParaRPr/>
          </a:p>
        </p:txBody>
      </p:sp>
      <p:sp>
        <p:nvSpPr>
          <p:cNvPr id="2262" name="Google Shape;2262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3317</a:t>
            </a:r>
            <a:endParaRPr/>
          </a:p>
        </p:txBody>
      </p:sp>
      <p:sp>
        <p:nvSpPr>
          <p:cNvPr id="2263" name="Google Shape;2263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264" name="Google Shape;2264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$115K</a:t>
            </a:r>
            <a:endParaRPr/>
          </a:p>
        </p:txBody>
      </p:sp>
      <p:sp>
        <p:nvSpPr>
          <p:cNvPr id="2265" name="Google Shape;2265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$619K</a:t>
            </a:r>
            <a:endParaRPr/>
          </a:p>
        </p:txBody>
      </p:sp>
      <p:sp>
        <p:nvSpPr>
          <p:cNvPr id="2266" name="Google Shape;2266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$282K</a:t>
            </a:r>
            <a:endParaRPr/>
          </a:p>
        </p:txBody>
      </p:sp>
      <p:sp>
        <p:nvSpPr>
          <p:cNvPr id="2267" name="Google Shape;2267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$544K</a:t>
            </a:r>
            <a:endParaRPr/>
          </a:p>
        </p:txBody>
      </p:sp>
      <p:sp>
        <p:nvSpPr>
          <p:cNvPr id="2268" name="Google Shape;2268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$288K</a:t>
            </a:r>
            <a:endParaRPr/>
          </a:p>
        </p:txBody>
      </p:sp>
      <p:sp>
        <p:nvSpPr>
          <p:cNvPr id="2269" name="Google Shape;2269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$844K</a:t>
            </a:r>
            <a:endParaRPr/>
          </a:p>
        </p:txBody>
      </p:sp>
      <p:sp>
        <p:nvSpPr>
          <p:cNvPr id="2270" name="Google Shape;2270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$710K</a:t>
            </a:r>
            <a:endParaRPr/>
          </a:p>
        </p:txBody>
      </p:sp>
      <p:sp>
        <p:nvSpPr>
          <p:cNvPr id="2271" name="Google Shape;2271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$976K</a:t>
            </a:r>
            <a:endParaRPr/>
          </a:p>
        </p:txBody>
      </p:sp>
      <p:sp>
        <p:nvSpPr>
          <p:cNvPr id="2272" name="Google Shape;2272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$519K</a:t>
            </a:r>
            <a:endParaRPr/>
          </a:p>
        </p:txBody>
      </p:sp>
      <p:sp>
        <p:nvSpPr>
          <p:cNvPr id="2273" name="Google Shape;2273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$645K</a:t>
            </a:r>
            <a:endParaRPr/>
          </a:p>
        </p:txBody>
      </p:sp>
      <p:sp>
        <p:nvSpPr>
          <p:cNvPr id="2274" name="Google Shape;2274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$1.9M</a:t>
            </a:r>
            <a:endParaRPr/>
          </a:p>
        </p:txBody>
      </p:sp>
      <p:sp>
        <p:nvSpPr>
          <p:cNvPr id="2275" name="Google Shape;2275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$3.6M</a:t>
            </a:r>
            <a:endParaRPr/>
          </a:p>
        </p:txBody>
      </p:sp>
      <p:sp>
        <p:nvSpPr>
          <p:cNvPr id="2276" name="Google Shape;2276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7" name="Google Shape;2277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278" name="Google Shape;2278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79" name="Google Shape;2279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$3,627,374 YTD gross written premium</a:t>
            </a:r>
            <a:endParaRPr/>
          </a:p>
        </p:txBody>
      </p:sp>
      <p:sp>
        <p:nvSpPr>
          <p:cNvPr id="2280" name="Google Shape;2280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81" name="Google Shape;2281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 in new business production</a:t>
            </a:r>
            <a:endParaRPr/>
          </a:p>
        </p:txBody>
      </p:sp>
      <p:sp>
        <p:nvSpPr>
          <p:cNvPr id="2282" name="Google Shape;2282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3" name="Google Shape;2283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284" name="Google Shape;2284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85" name="Google Shape;2285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47% of new business ($1,100,014)</a:t>
            </a:r>
            <a:endParaRPr/>
          </a:p>
        </p:txBody>
      </p:sp>
      <p:sp>
        <p:nvSpPr>
          <p:cNvPr id="2286" name="Google Shape;2286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7" name="Google Shape;2287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288" name="Google Shape;2288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289" name="Google Shape;2289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$2,316,113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290" name="Google Shape;2290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291" name="Google Shape;2291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$1,100,014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5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7" name="Google Shape;2297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Cascade Mutual Insurance Services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Glendale</a:t>
            </a:r>
            <a:endParaRPr/>
          </a:p>
        </p:txBody>
      </p:sp>
      <p:sp>
        <p:nvSpPr>
          <p:cNvPr id="2299" name="Google Shape;2299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$3,131,952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00" name="Google Shape;2300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01" name="Google Shape;2301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$1,037,821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02" name="Google Shape;2302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$565,468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03" name="Google Shape;2303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$-950,097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04" name="Google Shape;2304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$1,687,026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05" name="Google Shape;2305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$4,771,169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06" name="Google Shape;2306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07" name="Google Shape;2307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08" name="Google Shape;2308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09" name="Google Shape;2309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10" name="Google Shape;2310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$1,301,912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11" name="Google Shape;2311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$1,408,189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12" name="Google Shape;2312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3" name="Google Shape;2313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5" name="Google Shape;2315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20" name="Google Shape;2320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1" name="Google Shape;2321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$627,994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$521,605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$106,390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$-131,010</a:t>
            </a:r>
            <a:endParaRPr/>
          </a:p>
        </p:txBody>
      </p:sp>
      <p:sp>
        <p:nvSpPr>
          <p:cNvPr id="2327" name="Google Shape;2327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8" name="Google Shape;2328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$322,340</a:t>
            </a:r>
            <a:endParaRPr/>
          </a:p>
        </p:txBody>
      </p:sp>
      <p:sp>
        <p:nvSpPr>
          <p:cNvPr id="2330" name="Google Shape;2330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$55,416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$192,025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$74,899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$-231,953</a:t>
            </a:r>
            <a:endParaRPr/>
          </a:p>
        </p:txBody>
      </p:sp>
      <p:sp>
        <p:nvSpPr>
          <p:cNvPr id="2334" name="Google Shape;2334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5" name="Google Shape;2335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$830,466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$296,058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$394,147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$140,261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$-217,631</a:t>
            </a:r>
            <a:endParaRPr/>
          </a:p>
        </p:txBody>
      </p:sp>
      <p:sp>
        <p:nvSpPr>
          <p:cNvPr id="2341" name="Google Shape;2341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2" name="Google Shape;2342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$747,546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$211,464</a:t>
            </a:r>
            <a:endParaRPr/>
          </a:p>
        </p:txBody>
      </p:sp>
      <p:sp>
        <p:nvSpPr>
          <p:cNvPr id="2345" name="Google Shape;2345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$305,376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$230,707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$-281,220</a:t>
            </a:r>
            <a:endParaRPr/>
          </a:p>
        </p:txBody>
      </p:sp>
      <p:sp>
        <p:nvSpPr>
          <p:cNvPr id="2348" name="Google Shape;2348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9" name="Google Shape;2349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$603,605</a:t>
            </a:r>
            <a:endParaRPr/>
          </a:p>
        </p:txBody>
      </p:sp>
      <p:sp>
        <p:nvSpPr>
          <p:cNvPr id="2351" name="Google Shape;2351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$444,121</a:t>
            </a:r>
            <a:endParaRPr/>
          </a:p>
        </p:txBody>
      </p:sp>
      <p:sp>
        <p:nvSpPr>
          <p:cNvPr id="2352" name="Google Shape;2352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$146,273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$13,211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$-88,283</a:t>
            </a:r>
            <a:endParaRPr/>
          </a:p>
        </p:txBody>
      </p:sp>
      <p:sp>
        <p:nvSpPr>
          <p:cNvPr id="2355" name="Google Shape;2355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6" name="Google Shape;2356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$3,131,952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</a:t>
            </a:r>
            <a:endParaRPr/>
          </a:p>
        </p:txBody>
      </p:sp>
      <p:sp>
        <p:nvSpPr>
          <p:cNvPr id="2359" name="Google Shape;2359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$1,037,821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$565,468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$-950,097</a:t>
            </a:r>
            <a:endParaRPr/>
          </a:p>
        </p:txBody>
      </p:sp>
      <p:sp>
        <p:nvSpPr>
          <p:cNvPr id="2362" name="Google Shape;2362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3" name="Google Shape;2363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66" name="Google Shape;2366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367" name="Google Shape;2367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70" name="Google Shape;2370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1" name="Google Shape;2371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72" name="Google Shape;2372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</a:t>
            </a:r>
            <a:endParaRPr/>
          </a:p>
        </p:txBody>
      </p:sp>
      <p:sp>
        <p:nvSpPr>
          <p:cNvPr id="2373" name="Google Shape;2373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74" name="Google Shape;2374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376" name="Google Shape;2376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19.0%</a:t>
            </a:r>
            <a:endParaRPr/>
          </a:p>
        </p:txBody>
      </p:sp>
      <p:sp>
        <p:nvSpPr>
          <p:cNvPr id="2377" name="Google Shape;2377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8" name="Google Shape;2378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79" name="Google Shape;2379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380" name="Google Shape;2380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381" name="Google Shape;2381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2384" name="Google Shape;2384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5" name="Google Shape;2385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153</a:t>
            </a:r>
            <a:endParaRPr/>
          </a:p>
        </p:txBody>
      </p:sp>
      <p:sp>
        <p:nvSpPr>
          <p:cNvPr id="2387" name="Google Shape;2387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88" name="Google Shape;2388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2389" name="Google Shape;2389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90" name="Google Shape;2390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17.0%</a:t>
            </a:r>
            <a:endParaRPr/>
          </a:p>
        </p:txBody>
      </p:sp>
      <p:sp>
        <p:nvSpPr>
          <p:cNvPr id="2391" name="Google Shape;2391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2" name="Google Shape;2392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394" name="Google Shape;2394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395" name="Google Shape;2395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12.7%</a:t>
            </a:r>
            <a:endParaRPr/>
          </a:p>
        </p:txBody>
      </p:sp>
      <p:sp>
        <p:nvSpPr>
          <p:cNvPr id="2398" name="Google Shape;2398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9" name="Google Shape;2399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2401" name="Google Shape;2401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402" name="Google Shape;2402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404" name="Google Shape;2404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2405" name="Google Shape;2405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6" name="Google Shape;2406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07" name="Google Shape;2407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660</a:t>
            </a:r>
            <a:endParaRPr/>
          </a:p>
        </p:txBody>
      </p:sp>
      <p:sp>
        <p:nvSpPr>
          <p:cNvPr id="2408" name="Google Shape;2408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2409" name="Google Shape;2409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556</a:t>
            </a:r>
            <a:endParaRPr/>
          </a:p>
        </p:txBody>
      </p:sp>
      <p:sp>
        <p:nvSpPr>
          <p:cNvPr id="2410" name="Google Shape;2410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411" name="Google Shape;2411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2412" name="Google Shape;2412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3" name="Google Shape;2413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14" name="Google Shape;2414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15" name="Google Shape;2415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16" name="Google Shape;2416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17" name="Google Shape;2417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18" name="Google Shape;2418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19" name="Google Shape;2419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20" name="Google Shape;2420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21" name="Google Shape;2421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22" name="Google Shape;2422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23" name="Google Shape;2423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24" name="Google Shape;2424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25" name="Google Shape;2425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26" name="Google Shape;2426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27" name="Google Shape;2427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28" name="Google Shape;2428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429" name="Google Shape;2429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</a:t>
            </a:r>
            <a:endParaRPr/>
          </a:p>
        </p:txBody>
      </p:sp>
      <p:sp>
        <p:nvSpPr>
          <p:cNvPr id="2430" name="Google Shape;2430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431" name="Google Shape;2431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432" name="Google Shape;2432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2433" name="Google Shape;2433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153</a:t>
            </a:r>
            <a:endParaRPr/>
          </a:p>
        </p:txBody>
      </p:sp>
      <p:sp>
        <p:nvSpPr>
          <p:cNvPr id="2434" name="Google Shape;2434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2435" name="Google Shape;2435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436" name="Google Shape;2436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2437" name="Google Shape;2437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2438" name="Google Shape;2438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583</a:t>
            </a:r>
            <a:endParaRPr/>
          </a:p>
        </p:txBody>
      </p:sp>
      <p:sp>
        <p:nvSpPr>
          <p:cNvPr id="2439" name="Google Shape;2439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783</a:t>
            </a:r>
            <a:endParaRPr/>
          </a:p>
        </p:txBody>
      </p:sp>
      <p:sp>
        <p:nvSpPr>
          <p:cNvPr id="2440" name="Google Shape;2440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41" name="Google Shape;2441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2" name="Google Shape;2442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$628K</a:t>
            </a:r>
            <a:endParaRPr/>
          </a:p>
        </p:txBody>
      </p:sp>
      <p:sp>
        <p:nvSpPr>
          <p:cNvPr id="2443" name="Google Shape;2443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2444" name="Google Shape;2444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$322K</a:t>
            </a:r>
            <a:endParaRPr/>
          </a:p>
        </p:txBody>
      </p:sp>
      <p:sp>
        <p:nvSpPr>
          <p:cNvPr id="2445" name="Google Shape;2445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6" name="Google Shape;2446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$830K</a:t>
            </a:r>
            <a:endParaRPr/>
          </a:p>
        </p:txBody>
      </p:sp>
      <p:sp>
        <p:nvSpPr>
          <p:cNvPr id="2447" name="Google Shape;2447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2448" name="Google Shape;2448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$748K</a:t>
            </a:r>
            <a:endParaRPr/>
          </a:p>
        </p:txBody>
      </p:sp>
      <p:sp>
        <p:nvSpPr>
          <p:cNvPr id="2449" name="Google Shape;2449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0" name="Google Shape;2450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$604K</a:t>
            </a:r>
            <a:endParaRPr/>
          </a:p>
        </p:txBody>
      </p:sp>
      <p:sp>
        <p:nvSpPr>
          <p:cNvPr id="2451" name="Google Shape;2451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2452" name="Google Shape;2452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$3.1M</a:t>
            </a:r>
            <a:endParaRPr/>
          </a:p>
        </p:txBody>
      </p:sp>
      <p:sp>
        <p:nvSpPr>
          <p:cNvPr id="2453" name="Google Shape;2453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4" name="Google Shape;2454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55" name="Google Shape;2455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56" name="Google Shape;2456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$3,131,952 YTD gross written premium</a:t>
            </a:r>
            <a:endParaRPr/>
          </a:p>
        </p:txBody>
      </p:sp>
      <p:sp>
        <p:nvSpPr>
          <p:cNvPr id="2457" name="Google Shape;2457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58" name="Google Shape;2458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 in new business production</a:t>
            </a:r>
            <a:endParaRPr/>
          </a:p>
        </p:txBody>
      </p:sp>
      <p:sp>
        <p:nvSpPr>
          <p:cNvPr id="2459" name="Google Shape;2459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0" name="Google Shape;2460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461" name="Google Shape;2461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462" name="Google Shape;2462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62% of new business ($950,097)</a:t>
            </a:r>
            <a:endParaRPr/>
          </a:p>
        </p:txBody>
      </p:sp>
      <p:sp>
        <p:nvSpPr>
          <p:cNvPr id="2463" name="Google Shape;2463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4" name="Google Shape;2464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465" name="Google Shape;2465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466" name="Google Shape;2466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$1,528,663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467" name="Google Shape;2467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468" name="Google Shape;2468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$950,097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2" name="Shape 2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3" name="Google Shape;2473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4" name="Google Shape;2474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California  |  City: Fresno</a:t>
            </a:r>
            <a:endParaRPr/>
          </a:p>
        </p:txBody>
      </p:sp>
      <p:sp>
        <p:nvSpPr>
          <p:cNvPr id="2476" name="Google Shape;2476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$2,776,533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477" name="Google Shape;2477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78" name="Google Shape;2478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79" name="Google Shape;2479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$468,922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80" name="Google Shape;2480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$-754,829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81" name="Google Shape;2481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$12,058,763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482" name="Google Shape;2482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$8,200,348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483" name="Google Shape;2483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484" name="Google Shape;2484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85" name="Google Shape;2485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86" name="Google Shape;2486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87" name="Google Shape;2487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$2,240,685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488" name="Google Shape;2488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$1,786,226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489" name="Google Shape;2489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0" name="Google Shape;2490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92" name="Google Shape;2492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97" name="Google Shape;2497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8" name="Google Shape;2498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$432,807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$263,996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$54,912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$113,899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$-267,673</a:t>
            </a:r>
            <a:endParaRPr/>
          </a:p>
        </p:txBody>
      </p:sp>
      <p:sp>
        <p:nvSpPr>
          <p:cNvPr id="2504" name="Google Shape;2504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5" name="Google Shape;2505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$531,294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$339,606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$27,022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$164,666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$-164,691</a:t>
            </a:r>
            <a:endParaRPr/>
          </a:p>
        </p:txBody>
      </p:sp>
      <p:sp>
        <p:nvSpPr>
          <p:cNvPr id="2511" name="Google Shape;2511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2" name="Google Shape;2512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$620,357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$82,482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$473,942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$63,933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$-151,086</a:t>
            </a:r>
            <a:endParaRPr/>
          </a:p>
        </p:txBody>
      </p:sp>
      <p:sp>
        <p:nvSpPr>
          <p:cNvPr id="2518" name="Google Shape;2518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9" name="Google Shape;2519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$546,436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$112,699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$339,678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$94,059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$-144,553</a:t>
            </a:r>
            <a:endParaRPr/>
          </a:p>
        </p:txBody>
      </p:sp>
      <p:sp>
        <p:nvSpPr>
          <p:cNvPr id="2525" name="Google Shape;2525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6" name="Google Shape;2526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27" name="Google Shape;2527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$645,640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$85,021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$528,252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$32,367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$-26,826</a:t>
            </a:r>
            <a:endParaRPr/>
          </a:p>
        </p:txBody>
      </p:sp>
      <p:sp>
        <p:nvSpPr>
          <p:cNvPr id="2532" name="Google Shape;2532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3" name="Google Shape;2533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$2,776,533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$1,423,807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$468,922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$-754,829</a:t>
            </a:r>
            <a:endParaRPr/>
          </a:p>
        </p:txBody>
      </p:sp>
      <p:sp>
        <p:nvSpPr>
          <p:cNvPr id="2539" name="Google Shape;2539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0" name="Google Shape;2540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43" name="Google Shape;2543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46" name="Google Shape;2546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47" name="Google Shape;2547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8" name="Google Shape;2548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49" name="Google Shape;2549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291</a:t>
            </a:r>
            <a:endParaRPr/>
          </a:p>
        </p:txBody>
      </p:sp>
      <p:sp>
        <p:nvSpPr>
          <p:cNvPr id="2550" name="Google Shape;2550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2552" name="Google Shape;2552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553" name="Google Shape;2553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13.7%</a:t>
            </a:r>
            <a:endParaRPr/>
          </a:p>
        </p:txBody>
      </p:sp>
      <p:sp>
        <p:nvSpPr>
          <p:cNvPr id="2554" name="Google Shape;2554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5" name="Google Shape;2555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56" name="Google Shape;2556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2557" name="Google Shape;2557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2561" name="Google Shape;2561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2" name="Google Shape;2562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63" name="Google Shape;2563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287</a:t>
            </a:r>
            <a:endParaRPr/>
          </a:p>
        </p:txBody>
      </p:sp>
      <p:sp>
        <p:nvSpPr>
          <p:cNvPr id="2564" name="Google Shape;2564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565" name="Google Shape;2565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2566" name="Google Shape;2566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567" name="Google Shape;2567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2568" name="Google Shape;2568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9" name="Google Shape;2569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70" name="Google Shape;2570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571" name="Google Shape;2571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572" name="Google Shape;2572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</p:txBody>
      </p:sp>
      <p:sp>
        <p:nvSpPr>
          <p:cNvPr id="2573" name="Google Shape;2573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574" name="Google Shape;2574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9.2%</a:t>
            </a:r>
            <a:endParaRPr/>
          </a:p>
        </p:txBody>
      </p:sp>
      <p:sp>
        <p:nvSpPr>
          <p:cNvPr id="2575" name="Google Shape;2575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6" name="Google Shape;2576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77" name="Google Shape;2577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226</a:t>
            </a:r>
            <a:endParaRPr/>
          </a:p>
        </p:txBody>
      </p:sp>
      <p:sp>
        <p:nvSpPr>
          <p:cNvPr id="2578" name="Google Shape;2578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2579" name="Google Shape;2579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</p:txBody>
      </p:sp>
      <p:sp>
        <p:nvSpPr>
          <p:cNvPr id="2580" name="Google Shape;2580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581" name="Google Shape;2581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2582" name="Google Shape;2582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3" name="Google Shape;2583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84" name="Google Shape;2584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1272</a:t>
            </a:r>
            <a:endParaRPr/>
          </a:p>
        </p:txBody>
      </p:sp>
      <p:sp>
        <p:nvSpPr>
          <p:cNvPr id="2585" name="Google Shape;2585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2586" name="Google Shape;2586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1058</a:t>
            </a:r>
            <a:endParaRPr/>
          </a:p>
        </p:txBody>
      </p:sp>
      <p:sp>
        <p:nvSpPr>
          <p:cNvPr id="2587" name="Google Shape;2587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588" name="Google Shape;2588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2589" name="Google Shape;2589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0" name="Google Shape;2590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591" name="Google Shape;2591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92" name="Google Shape;2592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593" name="Google Shape;2593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594" name="Google Shape;2594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595" name="Google Shape;2595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596" name="Google Shape;2596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597" name="Google Shape;2597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98" name="Google Shape;2598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99" name="Google Shape;2599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00" name="Google Shape;2600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01" name="Google Shape;2601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02" name="Google Shape;2602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03" name="Google Shape;2603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04" name="Google Shape;2604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05" name="Google Shape;2605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234</a:t>
            </a:r>
            <a:endParaRPr/>
          </a:p>
        </p:txBody>
      </p:sp>
      <p:sp>
        <p:nvSpPr>
          <p:cNvPr id="2606" name="Google Shape;2606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291</a:t>
            </a:r>
            <a:endParaRPr/>
          </a:p>
        </p:txBody>
      </p:sp>
      <p:sp>
        <p:nvSpPr>
          <p:cNvPr id="2607" name="Google Shape;2607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</a:t>
            </a:r>
            <a:endParaRPr/>
          </a:p>
        </p:txBody>
      </p:sp>
      <p:sp>
        <p:nvSpPr>
          <p:cNvPr id="2608" name="Google Shape;2608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2609" name="Google Shape;2609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393</a:t>
            </a:r>
            <a:endParaRPr/>
          </a:p>
        </p:txBody>
      </p:sp>
      <p:sp>
        <p:nvSpPr>
          <p:cNvPr id="2610" name="Google Shape;2610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287</a:t>
            </a:r>
            <a:endParaRPr/>
          </a:p>
        </p:txBody>
      </p:sp>
      <p:sp>
        <p:nvSpPr>
          <p:cNvPr id="2611" name="Google Shape;2611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</a:t>
            </a:r>
            <a:endParaRPr/>
          </a:p>
        </p:txBody>
      </p:sp>
      <p:sp>
        <p:nvSpPr>
          <p:cNvPr id="2612" name="Google Shape;2612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613" name="Google Shape;2613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366</a:t>
            </a:r>
            <a:endParaRPr/>
          </a:p>
        </p:txBody>
      </p:sp>
      <p:sp>
        <p:nvSpPr>
          <p:cNvPr id="2614" name="Google Shape;2614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226</a:t>
            </a:r>
            <a:endParaRPr/>
          </a:p>
        </p:txBody>
      </p:sp>
      <p:sp>
        <p:nvSpPr>
          <p:cNvPr id="2615" name="Google Shape;2615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1593</a:t>
            </a:r>
            <a:endParaRPr/>
          </a:p>
        </p:txBody>
      </p:sp>
      <p:sp>
        <p:nvSpPr>
          <p:cNvPr id="2616" name="Google Shape;2616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1417</a:t>
            </a:r>
            <a:endParaRPr/>
          </a:p>
        </p:txBody>
      </p:sp>
      <p:sp>
        <p:nvSpPr>
          <p:cNvPr id="2617" name="Google Shape;2617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18" name="Google Shape;2618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$726K</a:t>
            </a:r>
            <a:endParaRPr/>
          </a:p>
        </p:txBody>
      </p:sp>
      <p:sp>
        <p:nvSpPr>
          <p:cNvPr id="2619" name="Google Shape;2619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$433K</a:t>
            </a:r>
            <a:endParaRPr/>
          </a:p>
        </p:txBody>
      </p:sp>
      <p:sp>
        <p:nvSpPr>
          <p:cNvPr id="2620" name="Google Shape;2620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$526K</a:t>
            </a:r>
            <a:endParaRPr/>
          </a:p>
        </p:txBody>
      </p:sp>
      <p:sp>
        <p:nvSpPr>
          <p:cNvPr id="2621" name="Google Shape;2621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$531K</a:t>
            </a:r>
            <a:endParaRPr/>
          </a:p>
        </p:txBody>
      </p:sp>
      <p:sp>
        <p:nvSpPr>
          <p:cNvPr id="2622" name="Google Shape;2622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$1.7M</a:t>
            </a:r>
            <a:endParaRPr/>
          </a:p>
        </p:txBody>
      </p:sp>
      <p:sp>
        <p:nvSpPr>
          <p:cNvPr id="2623" name="Google Shape;2623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$620K</a:t>
            </a:r>
            <a:endParaRPr/>
          </a:p>
        </p:txBody>
      </p:sp>
      <p:sp>
        <p:nvSpPr>
          <p:cNvPr id="2624" name="Google Shape;2624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$1.1M</a:t>
            </a:r>
            <a:endParaRPr/>
          </a:p>
        </p:txBody>
      </p:sp>
      <p:sp>
        <p:nvSpPr>
          <p:cNvPr id="2625" name="Google Shape;2625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$546K</a:t>
            </a:r>
            <a:endParaRPr/>
          </a:p>
        </p:txBody>
      </p:sp>
      <p:sp>
        <p:nvSpPr>
          <p:cNvPr id="2626" name="Google Shape;2626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$2.6M</a:t>
            </a:r>
            <a:endParaRPr/>
          </a:p>
        </p:txBody>
      </p:sp>
      <p:sp>
        <p:nvSpPr>
          <p:cNvPr id="2627" name="Google Shape;2627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$646K</a:t>
            </a:r>
            <a:endParaRPr/>
          </a:p>
        </p:txBody>
      </p:sp>
      <p:sp>
        <p:nvSpPr>
          <p:cNvPr id="2628" name="Google Shape;2628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$6.6M</a:t>
            </a:r>
            <a:endParaRPr/>
          </a:p>
        </p:txBody>
      </p:sp>
      <p:sp>
        <p:nvSpPr>
          <p:cNvPr id="2629" name="Google Shape;2629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$2.8M</a:t>
            </a:r>
            <a:endParaRPr/>
          </a:p>
        </p:txBody>
      </p:sp>
      <p:sp>
        <p:nvSpPr>
          <p:cNvPr id="2630" name="Google Shape;2630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1" name="Google Shape;2631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32" name="Google Shape;2632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33" name="Google Shape;2633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$2,776,533 YTD gross written premium</a:t>
            </a:r>
            <a:endParaRPr/>
          </a:p>
        </p:txBody>
      </p:sp>
      <p:sp>
        <p:nvSpPr>
          <p:cNvPr id="2634" name="Google Shape;2634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35" name="Google Shape;2635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 in new business production</a:t>
            </a:r>
            <a:endParaRPr/>
          </a:p>
        </p:txBody>
      </p:sp>
      <p:sp>
        <p:nvSpPr>
          <p:cNvPr id="2636" name="Google Shape;2636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7" name="Google Shape;2637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38" name="Google Shape;2638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39" name="Google Shape;2639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85% of new business ($754,829)</a:t>
            </a:r>
            <a:endParaRPr/>
          </a:p>
        </p:txBody>
      </p:sp>
      <p:sp>
        <p:nvSpPr>
          <p:cNvPr id="2640" name="Google Shape;2640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1" name="Google Shape;2641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42" name="Google Shape;2642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43" name="Google Shape;2643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$883,804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644" name="Google Shape;2644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45" name="Google Shape;2645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$754,829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9" name="Shape 2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Google Shape;2650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1" name="Google Shape;2651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2653" name="Google Shape;2653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$1,838,125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654" name="Google Shape;2654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55" name="Google Shape;2655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$714,307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56" name="Google Shape;2656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$569,013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57" name="Google Shape;2657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$-575,525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58" name="Google Shape;2658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$3,326,706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659" name="Google Shape;2659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$3,692,832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660" name="Google Shape;2660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661" name="Google Shape;2661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62" name="Google Shape;2662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63" name="Google Shape;2663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64" name="Google Shape;2664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665" name="Google Shape;2665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$1,065,436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666" name="Google Shape;2666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7" name="Google Shape;2667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74" name="Google Shape;2674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5" name="Google Shape;2675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$335,743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$102,876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$174,683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$58,183</a:t>
            </a:r>
            <a:endParaRPr/>
          </a:p>
        </p:txBody>
      </p:sp>
      <p:sp>
        <p:nvSpPr>
          <p:cNvPr id="2680" name="Google Shape;2680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$-86,035</a:t>
            </a:r>
            <a:endParaRPr/>
          </a:p>
        </p:txBody>
      </p:sp>
      <p:sp>
        <p:nvSpPr>
          <p:cNvPr id="2681" name="Google Shape;2681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2" name="Google Shape;2682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$449,702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$255,825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$132,066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$61,810</a:t>
            </a:r>
            <a:endParaRPr/>
          </a:p>
        </p:txBody>
      </p:sp>
      <p:sp>
        <p:nvSpPr>
          <p:cNvPr id="2687" name="Google Shape;2687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$-162,772</a:t>
            </a:r>
            <a:endParaRPr/>
          </a:p>
        </p:txBody>
      </p:sp>
      <p:sp>
        <p:nvSpPr>
          <p:cNvPr id="2688" name="Google Shape;2688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9" name="Google Shape;2689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90" name="Google Shape;2690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$389,615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$58,208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$167,077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$164,330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$-162,968</a:t>
            </a:r>
            <a:endParaRPr/>
          </a:p>
        </p:txBody>
      </p:sp>
      <p:sp>
        <p:nvSpPr>
          <p:cNvPr id="2695" name="Google Shape;2695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6" name="Google Shape;2696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$456,301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$44,916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$162,866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$248,519</a:t>
            </a:r>
            <a:endParaRPr/>
          </a:p>
        </p:txBody>
      </p:sp>
      <p:sp>
        <p:nvSpPr>
          <p:cNvPr id="2701" name="Google Shape;2701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$-133,926</a:t>
            </a:r>
            <a:endParaRPr/>
          </a:p>
        </p:txBody>
      </p:sp>
      <p:sp>
        <p:nvSpPr>
          <p:cNvPr id="2702" name="Google Shape;2702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3" name="Google Shape;2703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$206,765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$92,980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$77,615</a:t>
            </a:r>
            <a:endParaRPr/>
          </a:p>
        </p:txBody>
      </p:sp>
      <p:sp>
        <p:nvSpPr>
          <p:cNvPr id="2707" name="Google Shape;2707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$36,170</a:t>
            </a:r>
            <a:endParaRPr/>
          </a:p>
        </p:txBody>
      </p:sp>
      <p:sp>
        <p:nvSpPr>
          <p:cNvPr id="2708" name="Google Shape;2708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$-29,823</a:t>
            </a:r>
            <a:endParaRPr/>
          </a:p>
        </p:txBody>
      </p:sp>
      <p:sp>
        <p:nvSpPr>
          <p:cNvPr id="2709" name="Google Shape;2709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0" name="Google Shape;2710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11" name="Google Shape;2711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$1,838,125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$714,307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$569,013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$-575,525</a:t>
            </a:r>
            <a:endParaRPr/>
          </a:p>
        </p:txBody>
      </p:sp>
      <p:sp>
        <p:nvSpPr>
          <p:cNvPr id="2716" name="Google Shape;2716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7" name="Google Shape;2717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18" name="Google Shape;2718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23" name="Google Shape;2723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24" name="Google Shape;2724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5" name="Google Shape;2725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728" name="Google Shape;2728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729" name="Google Shape;2729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46.8%</a:t>
            </a:r>
            <a:endParaRPr/>
          </a:p>
        </p:txBody>
      </p:sp>
      <p:sp>
        <p:nvSpPr>
          <p:cNvPr id="2731" name="Google Shape;2731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2" name="Google Shape;2732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33" name="Google Shape;2733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734" name="Google Shape;2734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43.3%</a:t>
            </a:r>
            <a:endParaRPr/>
          </a:p>
        </p:txBody>
      </p:sp>
      <p:sp>
        <p:nvSpPr>
          <p:cNvPr id="2738" name="Google Shape;2738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9" name="Google Shape;2739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40" name="Google Shape;2740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741" name="Google Shape;2741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742" name="Google Shape;2742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39.3%</a:t>
            </a:r>
            <a:endParaRPr/>
          </a:p>
        </p:txBody>
      </p:sp>
      <p:sp>
        <p:nvSpPr>
          <p:cNvPr id="2745" name="Google Shape;2745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6" name="Google Shape;2746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47" name="Google Shape;2747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48" name="Google Shape;2748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749" name="Google Shape;2749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32.3%</a:t>
            </a:r>
            <a:endParaRPr/>
          </a:p>
        </p:txBody>
      </p:sp>
      <p:sp>
        <p:nvSpPr>
          <p:cNvPr id="2752" name="Google Shape;2752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3" name="Google Shape;2753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54" name="Google Shape;2754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755" name="Google Shape;2755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56" name="Google Shape;2756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18.0%</a:t>
            </a:r>
            <a:endParaRPr/>
          </a:p>
        </p:txBody>
      </p:sp>
      <p:sp>
        <p:nvSpPr>
          <p:cNvPr id="2759" name="Google Shape;2759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0" name="Google Shape;2760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61" name="Google Shape;2761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2762" name="Google Shape;2762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763" name="Google Shape;2763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188</a:t>
            </a:r>
            <a:endParaRPr/>
          </a:p>
        </p:txBody>
      </p:sp>
      <p:sp>
        <p:nvSpPr>
          <p:cNvPr id="2764" name="Google Shape;2764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765" name="Google Shape;2765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2766" name="Google Shape;2766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7" name="Google Shape;2767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768" name="Google Shape;2768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69" name="Google Shape;2769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770" name="Google Shape;2770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771" name="Google Shape;2771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772" name="Google Shape;2772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773" name="Google Shape;2773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774" name="Google Shape;2774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775" name="Google Shape;2775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776" name="Google Shape;2776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777" name="Google Shape;2777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778" name="Google Shape;2778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779" name="Google Shape;2779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780" name="Google Shape;2780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781" name="Google Shape;2781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82" name="Google Shape;2782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783" name="Google Shape;2783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84" name="Google Shape;2784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785" name="Google Shape;2785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786" name="Google Shape;2786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787" name="Google Shape;2787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788" name="Google Shape;2788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789" name="Google Shape;2789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90" name="Google Shape;2790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791" name="Google Shape;2791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792" name="Google Shape;2792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2793" name="Google Shape;2793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306</a:t>
            </a:r>
            <a:endParaRPr/>
          </a:p>
        </p:txBody>
      </p:sp>
      <p:sp>
        <p:nvSpPr>
          <p:cNvPr id="2794" name="Google Shape;2794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795" name="Google Shape;2795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$214K</a:t>
            </a:r>
            <a:endParaRPr/>
          </a:p>
        </p:txBody>
      </p:sp>
      <p:sp>
        <p:nvSpPr>
          <p:cNvPr id="2796" name="Google Shape;2796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$336K</a:t>
            </a:r>
            <a:endParaRPr/>
          </a:p>
        </p:txBody>
      </p:sp>
      <p:sp>
        <p:nvSpPr>
          <p:cNvPr id="2797" name="Google Shape;2797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$192K</a:t>
            </a:r>
            <a:endParaRPr/>
          </a:p>
        </p:txBody>
      </p:sp>
      <p:sp>
        <p:nvSpPr>
          <p:cNvPr id="2798" name="Google Shape;2798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$450K</a:t>
            </a:r>
            <a:endParaRPr/>
          </a:p>
        </p:txBody>
      </p:sp>
      <p:sp>
        <p:nvSpPr>
          <p:cNvPr id="2799" name="Google Shape;2799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$223K</a:t>
            </a:r>
            <a:endParaRPr/>
          </a:p>
        </p:txBody>
      </p:sp>
      <p:sp>
        <p:nvSpPr>
          <p:cNvPr id="2800" name="Google Shape;2800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$390K</a:t>
            </a:r>
            <a:endParaRPr/>
          </a:p>
        </p:txBody>
      </p:sp>
      <p:sp>
        <p:nvSpPr>
          <p:cNvPr id="2801" name="Google Shape;2801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$597K</a:t>
            </a:r>
            <a:endParaRPr/>
          </a:p>
        </p:txBody>
      </p:sp>
      <p:sp>
        <p:nvSpPr>
          <p:cNvPr id="2802" name="Google Shape;2802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$456K</a:t>
            </a:r>
            <a:endParaRPr/>
          </a:p>
        </p:txBody>
      </p:sp>
      <p:sp>
        <p:nvSpPr>
          <p:cNvPr id="2803" name="Google Shape;2803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$246K</a:t>
            </a:r>
            <a:endParaRPr/>
          </a:p>
        </p:txBody>
      </p:sp>
      <p:sp>
        <p:nvSpPr>
          <p:cNvPr id="2804" name="Google Shape;2804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$207K</a:t>
            </a:r>
            <a:endParaRPr/>
          </a:p>
        </p:txBody>
      </p:sp>
      <p:sp>
        <p:nvSpPr>
          <p:cNvPr id="2805" name="Google Shape;2805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$1.5M</a:t>
            </a:r>
            <a:endParaRPr/>
          </a:p>
        </p:txBody>
      </p:sp>
      <p:sp>
        <p:nvSpPr>
          <p:cNvPr id="2806" name="Google Shape;2806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2807" name="Google Shape;2807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8" name="Google Shape;2808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09" name="Google Shape;2809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10" name="Google Shape;2810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$1,838,125 YTD gross written premium</a:t>
            </a:r>
            <a:endParaRPr/>
          </a:p>
        </p:txBody>
      </p:sp>
      <p:sp>
        <p:nvSpPr>
          <p:cNvPr id="2811" name="Google Shape;2811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12" name="Google Shape;2812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 in new business production</a:t>
            </a:r>
            <a:endParaRPr/>
          </a:p>
        </p:txBody>
      </p:sp>
      <p:sp>
        <p:nvSpPr>
          <p:cNvPr id="2813" name="Google Shape;2813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4" name="Google Shape;2814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15" name="Google Shape;2815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16" name="Google Shape;2816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104% of new business ($575,525)</a:t>
            </a:r>
            <a:endParaRPr/>
          </a:p>
        </p:txBody>
      </p:sp>
      <p:sp>
        <p:nvSpPr>
          <p:cNvPr id="2817" name="Google Shape;2817;p2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18" name="Google Shape;2818;p2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55% month-over-month</a:t>
            </a:r>
            <a:endParaRPr/>
          </a:p>
        </p:txBody>
      </p:sp>
      <p:sp>
        <p:nvSpPr>
          <p:cNvPr id="2819" name="Google Shape;2819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0" name="Google Shape;2820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21" name="Google Shape;2821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22" name="Google Shape;2822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$554,806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823" name="Google Shape;2823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824" name="Google Shape;2824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$575,525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28" name="Shape 2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9" name="Google Shape;2829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0" name="Google Shape;2830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N/A  |  City: N/A</a:t>
            </a:r>
            <a:endParaRPr/>
          </a:p>
        </p:txBody>
      </p:sp>
      <p:sp>
        <p:nvSpPr>
          <p:cNvPr id="2832" name="Google Shape;2832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$1,258,382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833" name="Google Shape;2833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$934,815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34" name="Google Shape;2834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35" name="Google Shape;2835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$323,566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36" name="Google Shape;2836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$-393,568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37" name="Google Shape;2837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$608,954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838" name="Google Shape;2838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$1,867,336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839" name="Google Shape;2839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840" name="Google Shape;2840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41" name="Google Shape;2841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42" name="Google Shape;2842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43" name="Google Shape;2843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$380,434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844" name="Google Shape;2844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$298,894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845" name="Google Shape;2845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6" name="Google Shape;2846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48" name="Google Shape;2848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53" name="Google Shape;2853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4" name="Google Shape;2854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$329,058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$235,804</a:t>
            </a:r>
            <a:endParaRPr/>
          </a:p>
        </p:txBody>
      </p:sp>
      <p:sp>
        <p:nvSpPr>
          <p:cNvPr id="2857" name="Google Shape;2857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58" name="Google Shape;2858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$93,254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$-47,714</a:t>
            </a:r>
            <a:endParaRPr/>
          </a:p>
        </p:txBody>
      </p:sp>
      <p:sp>
        <p:nvSpPr>
          <p:cNvPr id="2860" name="Google Shape;2860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1" name="Google Shape;2861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$98,874</a:t>
            </a:r>
            <a:endParaRPr/>
          </a:p>
        </p:txBody>
      </p:sp>
      <p:sp>
        <p:nvSpPr>
          <p:cNvPr id="2863" name="Google Shape;2863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$47,348</a:t>
            </a:r>
            <a:endParaRPr/>
          </a:p>
        </p:txBody>
      </p:sp>
      <p:sp>
        <p:nvSpPr>
          <p:cNvPr id="2864" name="Google Shape;2864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$51,526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$-54,408</a:t>
            </a:r>
            <a:endParaRPr/>
          </a:p>
        </p:txBody>
      </p:sp>
      <p:sp>
        <p:nvSpPr>
          <p:cNvPr id="2867" name="Google Shape;2867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8" name="Google Shape;2868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$281,165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$220,351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$60,814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$-243,003</a:t>
            </a:r>
            <a:endParaRPr/>
          </a:p>
        </p:txBody>
      </p:sp>
      <p:sp>
        <p:nvSpPr>
          <p:cNvPr id="2874" name="Google Shape;2874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5" name="Google Shape;2875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$313,298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$220,560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9" name="Google Shape;2879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$92,738</a:t>
            </a:r>
            <a:endParaRPr/>
          </a:p>
        </p:txBody>
      </p:sp>
      <p:sp>
        <p:nvSpPr>
          <p:cNvPr id="2880" name="Google Shape;2880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$-30,624</a:t>
            </a:r>
            <a:endParaRPr/>
          </a:p>
        </p:txBody>
      </p:sp>
      <p:sp>
        <p:nvSpPr>
          <p:cNvPr id="2881" name="Google Shape;2881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2" name="Google Shape;2882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83" name="Google Shape;2883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$235,986</a:t>
            </a:r>
            <a:endParaRPr/>
          </a:p>
        </p:txBody>
      </p:sp>
      <p:sp>
        <p:nvSpPr>
          <p:cNvPr id="2884" name="Google Shape;2884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$210,752</a:t>
            </a:r>
            <a:endParaRPr/>
          </a:p>
        </p:txBody>
      </p:sp>
      <p:sp>
        <p:nvSpPr>
          <p:cNvPr id="2885" name="Google Shape;2885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$25,234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$-17,820</a:t>
            </a:r>
            <a:endParaRPr/>
          </a:p>
        </p:txBody>
      </p:sp>
      <p:sp>
        <p:nvSpPr>
          <p:cNvPr id="2888" name="Google Shape;2888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9" name="Google Shape;2889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90" name="Google Shape;2890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$1,258,382</a:t>
            </a:r>
            <a:endParaRPr/>
          </a:p>
        </p:txBody>
      </p:sp>
      <p:sp>
        <p:nvSpPr>
          <p:cNvPr id="2891" name="Google Shape;2891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$934,815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$323,566</a:t>
            </a:r>
            <a:endParaRPr/>
          </a:p>
        </p:txBody>
      </p:sp>
      <p:sp>
        <p:nvSpPr>
          <p:cNvPr id="2894" name="Google Shape;2894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$-393,568</a:t>
            </a:r>
            <a:endParaRPr/>
          </a:p>
        </p:txBody>
      </p:sp>
      <p:sp>
        <p:nvSpPr>
          <p:cNvPr id="2895" name="Google Shape;2895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6" name="Google Shape;2896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897" name="Google Shape;2897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00" name="Google Shape;2900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01" name="Google Shape;2901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02" name="Google Shape;2902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03" name="Google Shape;2903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4" name="Google Shape;2904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05" name="Google Shape;2905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906" name="Google Shape;2906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907" name="Google Shape;2907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908" name="Google Shape;2908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909" name="Google Shape;2909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16.9%</a:t>
            </a:r>
            <a:endParaRPr/>
          </a:p>
        </p:txBody>
      </p:sp>
      <p:sp>
        <p:nvSpPr>
          <p:cNvPr id="2910" name="Google Shape;2910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1" name="Google Shape;2911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12" name="Google Shape;2912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913" name="Google Shape;2913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14" name="Google Shape;2914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915" name="Google Shape;2915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16" name="Google Shape;2916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917" name="Google Shape;2917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21" name="Google Shape;2921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922" name="Google Shape;2922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923" name="Google Shape;2923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25.7%</a:t>
            </a:r>
            <a:endParaRPr/>
          </a:p>
        </p:txBody>
      </p:sp>
      <p:sp>
        <p:nvSpPr>
          <p:cNvPr id="2924" name="Google Shape;2924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5" name="Google Shape;2925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927" name="Google Shape;2927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28" name="Google Shape;2928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929" name="Google Shape;2929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930" name="Google Shape;2930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931" name="Google Shape;2931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2" name="Google Shape;2932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33" name="Google Shape;2933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934" name="Google Shape;2934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935" name="Google Shape;2935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936" name="Google Shape;2936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37" name="Google Shape;2937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2938" name="Google Shape;2938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9" name="Google Shape;2939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40" name="Google Shape;2940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2941" name="Google Shape;2941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942" name="Google Shape;2942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</p:txBody>
      </p:sp>
      <p:sp>
        <p:nvSpPr>
          <p:cNvPr id="2943" name="Google Shape;2943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944" name="Google Shape;2944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945" name="Google Shape;2945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6" name="Google Shape;2946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947" name="Google Shape;2947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48" name="Google Shape;2948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49" name="Google Shape;2949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950" name="Google Shape;2950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951" name="Google Shape;2951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952" name="Google Shape;2952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953" name="Google Shape;2953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954" name="Google Shape;2954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955" name="Google Shape;2955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956" name="Google Shape;2956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957" name="Google Shape;2957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958" name="Google Shape;2958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959" name="Google Shape;2959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960" name="Google Shape;2960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61" name="Google Shape;2961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2" name="Google Shape;2962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963" name="Google Shape;2963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4" name="Google Shape;2964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965" name="Google Shape;2965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6" name="Google Shape;2966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967" name="Google Shape;2967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8" name="Google Shape;2968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969" name="Google Shape;2969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0" name="Google Shape;2970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971" name="Google Shape;2971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2" name="Google Shape;2972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282</a:t>
            </a:r>
            <a:endParaRPr/>
          </a:p>
        </p:txBody>
      </p:sp>
      <p:sp>
        <p:nvSpPr>
          <p:cNvPr id="2973" name="Google Shape;2973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974" name="Google Shape;2974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5" name="Google Shape;2975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$329K</a:t>
            </a:r>
            <a:endParaRPr/>
          </a:p>
        </p:txBody>
      </p:sp>
      <p:sp>
        <p:nvSpPr>
          <p:cNvPr id="2976" name="Google Shape;2976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7" name="Google Shape;2977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$99K</a:t>
            </a:r>
            <a:endParaRPr/>
          </a:p>
        </p:txBody>
      </p:sp>
      <p:sp>
        <p:nvSpPr>
          <p:cNvPr id="2978" name="Google Shape;2978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9" name="Google Shape;2979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$281K</a:t>
            </a:r>
            <a:endParaRPr/>
          </a:p>
        </p:txBody>
      </p:sp>
      <p:sp>
        <p:nvSpPr>
          <p:cNvPr id="2980" name="Google Shape;2980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1" name="Google Shape;2981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$313K</a:t>
            </a:r>
            <a:endParaRPr/>
          </a:p>
        </p:txBody>
      </p:sp>
      <p:sp>
        <p:nvSpPr>
          <p:cNvPr id="2982" name="Google Shape;2982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3" name="Google Shape;2983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$236K</a:t>
            </a:r>
            <a:endParaRPr/>
          </a:p>
        </p:txBody>
      </p:sp>
      <p:sp>
        <p:nvSpPr>
          <p:cNvPr id="2984" name="Google Shape;2984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5" name="Google Shape;2985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2986" name="Google Shape;2986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988" name="Google Shape;2988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89" name="Google Shape;2989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$1,258,382 YTD gross written premium</a:t>
            </a:r>
            <a:endParaRPr/>
          </a:p>
        </p:txBody>
      </p:sp>
      <p:sp>
        <p:nvSpPr>
          <p:cNvPr id="2990" name="Google Shape;2990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91" name="Google Shape;2991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$934,815 in new business production</a:t>
            </a:r>
            <a:endParaRPr/>
          </a:p>
        </p:txBody>
      </p:sp>
      <p:sp>
        <p:nvSpPr>
          <p:cNvPr id="2992" name="Google Shape;2992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3" name="Google Shape;2993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994" name="Google Shape;2994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95" name="Google Shape;2995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42% of new business ($393,568)</a:t>
            </a:r>
            <a:endParaRPr/>
          </a:p>
        </p:txBody>
      </p:sp>
      <p:sp>
        <p:nvSpPr>
          <p:cNvPr id="2996" name="Google Shape;2996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7" name="Google Shape;2997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998" name="Google Shape;2998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999" name="Google Shape;2999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$934,815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00" name="Google Shape;3000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01" name="Google Shape;3001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$393,568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5" name="Shape 3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6" name="Google Shape;3006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7" name="Google Shape;3007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NV  |  City: Las Vegas</a:t>
            </a:r>
            <a:endParaRPr/>
          </a:p>
        </p:txBody>
      </p:sp>
      <p:sp>
        <p:nvSpPr>
          <p:cNvPr id="3009" name="Google Shape;3009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$1,006,331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10" name="Google Shape;3010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11" name="Google Shape;3011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$349,807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12" name="Google Shape;3012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$88,814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13" name="Google Shape;3013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$-473,378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14" name="Google Shape;3014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$5,582,230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15" name="Google Shape;3015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$3,793,805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16" name="Google Shape;3016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17" name="Google Shape;3017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18" name="Google Shape;3018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19" name="Google Shape;3019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20" name="Google Shape;3020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$220,514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21" name="Google Shape;3021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$1,270,697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22" name="Google Shape;3022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3" name="Google Shape;3023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30" name="Google Shape;3030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1" name="Google Shape;3031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$157,976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$64,264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$82,684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$11,028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$-173,320</a:t>
            </a:r>
            <a:endParaRPr/>
          </a:p>
        </p:txBody>
      </p:sp>
      <p:sp>
        <p:nvSpPr>
          <p:cNvPr id="3037" name="Google Shape;3037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8" name="Google Shape;3038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$71,058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$38,646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$20,807</a:t>
            </a:r>
            <a:endParaRPr/>
          </a:p>
        </p:txBody>
      </p:sp>
      <p:sp>
        <p:nvSpPr>
          <p:cNvPr id="3042" name="Google Shape;3042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$11,605</a:t>
            </a:r>
            <a:endParaRPr/>
          </a:p>
        </p:txBody>
      </p:sp>
      <p:sp>
        <p:nvSpPr>
          <p:cNvPr id="3043" name="Google Shape;3043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$-32,380</a:t>
            </a:r>
            <a:endParaRPr/>
          </a:p>
        </p:txBody>
      </p:sp>
      <p:sp>
        <p:nvSpPr>
          <p:cNvPr id="3044" name="Google Shape;3044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5" name="Google Shape;3045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46" name="Google Shape;3046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$296,715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$113,101</a:t>
            </a:r>
            <a:endParaRPr/>
          </a:p>
        </p:txBody>
      </p:sp>
      <p:sp>
        <p:nvSpPr>
          <p:cNvPr id="3048" name="Google Shape;3048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$122,185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$61,429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$-94,557</a:t>
            </a:r>
            <a:endParaRPr/>
          </a:p>
        </p:txBody>
      </p:sp>
      <p:sp>
        <p:nvSpPr>
          <p:cNvPr id="3051" name="Google Shape;3051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2" name="Google Shape;3052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$270,070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$212,437</a:t>
            </a:r>
            <a:endParaRPr/>
          </a:p>
        </p:txBody>
      </p:sp>
      <p:sp>
        <p:nvSpPr>
          <p:cNvPr id="3055" name="Google Shape;3055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$45,540</a:t>
            </a:r>
            <a:endParaRPr/>
          </a:p>
        </p:txBody>
      </p:sp>
      <p:sp>
        <p:nvSpPr>
          <p:cNvPr id="3056" name="Google Shape;3056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$12,094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$-89,996</a:t>
            </a:r>
            <a:endParaRPr/>
          </a:p>
        </p:txBody>
      </p:sp>
      <p:sp>
        <p:nvSpPr>
          <p:cNvPr id="3058" name="Google Shape;3058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9" name="Google Shape;3059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60" name="Google Shape;3060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$210,511</a:t>
            </a:r>
            <a:endParaRPr/>
          </a:p>
        </p:txBody>
      </p:sp>
      <p:sp>
        <p:nvSpPr>
          <p:cNvPr id="3061" name="Google Shape;3061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$139,262</a:t>
            </a:r>
            <a:endParaRPr/>
          </a:p>
        </p:txBody>
      </p:sp>
      <p:sp>
        <p:nvSpPr>
          <p:cNvPr id="3062" name="Google Shape;3062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$78,591</a:t>
            </a:r>
            <a:endParaRPr/>
          </a:p>
        </p:txBody>
      </p:sp>
      <p:sp>
        <p:nvSpPr>
          <p:cNvPr id="3063" name="Google Shape;3063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$-7,341</a:t>
            </a:r>
            <a:endParaRPr/>
          </a:p>
        </p:txBody>
      </p:sp>
      <p:sp>
        <p:nvSpPr>
          <p:cNvPr id="3064" name="Google Shape;3064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$-83,125</a:t>
            </a:r>
            <a:endParaRPr/>
          </a:p>
        </p:txBody>
      </p:sp>
      <p:sp>
        <p:nvSpPr>
          <p:cNvPr id="3065" name="Google Shape;3065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6" name="Google Shape;3066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$1,006,331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</a:t>
            </a:r>
            <a:endParaRPr/>
          </a:p>
        </p:txBody>
      </p:sp>
      <p:sp>
        <p:nvSpPr>
          <p:cNvPr id="3069" name="Google Shape;3069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$349,807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$88,814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$-473,378</a:t>
            </a:r>
            <a:endParaRPr/>
          </a:p>
        </p:txBody>
      </p:sp>
      <p:sp>
        <p:nvSpPr>
          <p:cNvPr id="3072" name="Google Shape;3072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3" name="Google Shape;3073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074" name="Google Shape;3074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076" name="Google Shape;3076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79" name="Google Shape;3079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80" name="Google Shape;3080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1" name="Google Shape;3081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084" name="Google Shape;3084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</a:t>
            </a:r>
            <a:endParaRPr/>
          </a:p>
        </p:txBody>
      </p:sp>
      <p:sp>
        <p:nvSpPr>
          <p:cNvPr id="3085" name="Google Shape;3085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086" name="Google Shape;3086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16.4%</a:t>
            </a:r>
            <a:endParaRPr/>
          </a:p>
        </p:txBody>
      </p:sp>
      <p:sp>
        <p:nvSpPr>
          <p:cNvPr id="3087" name="Google Shape;3087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8" name="Google Shape;3088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89" name="Google Shape;3089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193</a:t>
            </a:r>
            <a:endParaRPr/>
          </a:p>
        </p:txBody>
      </p:sp>
      <p:sp>
        <p:nvSpPr>
          <p:cNvPr id="3090" name="Google Shape;3090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91" name="Google Shape;3091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</p:txBody>
      </p:sp>
      <p:sp>
        <p:nvSpPr>
          <p:cNvPr id="3092" name="Google Shape;3092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093" name="Google Shape;3093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19.2%</a:t>
            </a:r>
            <a:endParaRPr/>
          </a:p>
        </p:txBody>
      </p:sp>
      <p:sp>
        <p:nvSpPr>
          <p:cNvPr id="3094" name="Google Shape;3094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5" name="Google Shape;3095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96" name="Google Shape;3096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3097" name="Google Shape;3097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98" name="Google Shape;3098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3099" name="Google Shape;3099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100" name="Google Shape;3100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17.5%</a:t>
            </a:r>
            <a:endParaRPr/>
          </a:p>
        </p:txBody>
      </p:sp>
      <p:sp>
        <p:nvSpPr>
          <p:cNvPr id="3101" name="Google Shape;3101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2" name="Google Shape;3102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03" name="Google Shape;3103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3104" name="Google Shape;3104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05" name="Google Shape;3105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3106" name="Google Shape;3106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107" name="Google Shape;3107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17.2%</a:t>
            </a:r>
            <a:endParaRPr/>
          </a:p>
        </p:txBody>
      </p:sp>
      <p:sp>
        <p:nvSpPr>
          <p:cNvPr id="3108" name="Google Shape;3108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9" name="Google Shape;3109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10" name="Google Shape;3110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3111" name="Google Shape;3111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12" name="Google Shape;3112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3113" name="Google Shape;3113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114" name="Google Shape;3114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16.0%</a:t>
            </a:r>
            <a:endParaRPr/>
          </a:p>
        </p:txBody>
      </p:sp>
      <p:sp>
        <p:nvSpPr>
          <p:cNvPr id="3115" name="Google Shape;3115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6" name="Google Shape;3116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17" name="Google Shape;3117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869</a:t>
            </a:r>
            <a:endParaRPr/>
          </a:p>
        </p:txBody>
      </p:sp>
      <p:sp>
        <p:nvSpPr>
          <p:cNvPr id="3118" name="Google Shape;3118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119" name="Google Shape;3119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839</a:t>
            </a:r>
            <a:endParaRPr/>
          </a:p>
        </p:txBody>
      </p:sp>
      <p:sp>
        <p:nvSpPr>
          <p:cNvPr id="3120" name="Google Shape;3120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3121" name="Google Shape;3121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3122" name="Google Shape;3122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3" name="Google Shape;3123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24" name="Google Shape;3124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25" name="Google Shape;3125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26" name="Google Shape;3126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27" name="Google Shape;3127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28" name="Google Shape;3128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29" name="Google Shape;3129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30" name="Google Shape;3130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31" name="Google Shape;3131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32" name="Google Shape;3132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133" name="Google Shape;3133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134" name="Google Shape;3134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135" name="Google Shape;3135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136" name="Google Shape;3136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137" name="Google Shape;3137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38" name="Google Shape;3138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3139" name="Google Shape;3139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3140" name="Google Shape;3140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3141" name="Google Shape;3141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193</a:t>
            </a:r>
            <a:endParaRPr/>
          </a:p>
        </p:txBody>
      </p:sp>
      <p:sp>
        <p:nvSpPr>
          <p:cNvPr id="3142" name="Google Shape;3142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289</a:t>
            </a:r>
            <a:endParaRPr/>
          </a:p>
        </p:txBody>
      </p:sp>
      <p:sp>
        <p:nvSpPr>
          <p:cNvPr id="3143" name="Google Shape;3143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3144" name="Google Shape;3144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3145" name="Google Shape;3145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3146" name="Google Shape;3146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</a:t>
            </a:r>
            <a:endParaRPr/>
          </a:p>
        </p:txBody>
      </p:sp>
      <p:sp>
        <p:nvSpPr>
          <p:cNvPr id="3147" name="Google Shape;3147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3148" name="Google Shape;3148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1271</a:t>
            </a:r>
            <a:endParaRPr/>
          </a:p>
        </p:txBody>
      </p:sp>
      <p:sp>
        <p:nvSpPr>
          <p:cNvPr id="3149" name="Google Shape;3149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1016</a:t>
            </a:r>
            <a:endParaRPr/>
          </a:p>
        </p:txBody>
      </p:sp>
      <p:sp>
        <p:nvSpPr>
          <p:cNvPr id="3150" name="Google Shape;3150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151" name="Google Shape;3151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$647K</a:t>
            </a:r>
            <a:endParaRPr/>
          </a:p>
        </p:txBody>
      </p:sp>
      <p:sp>
        <p:nvSpPr>
          <p:cNvPr id="3152" name="Google Shape;3152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3153" name="Google Shape;3153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$449K</a:t>
            </a:r>
            <a:endParaRPr/>
          </a:p>
        </p:txBody>
      </p:sp>
      <p:sp>
        <p:nvSpPr>
          <p:cNvPr id="3154" name="Google Shape;3154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3155" name="Google Shape;3155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$761K</a:t>
            </a:r>
            <a:endParaRPr/>
          </a:p>
        </p:txBody>
      </p:sp>
      <p:sp>
        <p:nvSpPr>
          <p:cNvPr id="3156" name="Google Shape;3156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$297K</a:t>
            </a:r>
            <a:endParaRPr/>
          </a:p>
        </p:txBody>
      </p:sp>
      <p:sp>
        <p:nvSpPr>
          <p:cNvPr id="3157" name="Google Shape;3157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$351K</a:t>
            </a:r>
            <a:endParaRPr/>
          </a:p>
        </p:txBody>
      </p:sp>
      <p:sp>
        <p:nvSpPr>
          <p:cNvPr id="3158" name="Google Shape;3158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$270K</a:t>
            </a:r>
            <a:endParaRPr/>
          </a:p>
        </p:txBody>
      </p:sp>
      <p:sp>
        <p:nvSpPr>
          <p:cNvPr id="3159" name="Google Shape;3159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$587K</a:t>
            </a:r>
            <a:endParaRPr/>
          </a:p>
        </p:txBody>
      </p:sp>
      <p:sp>
        <p:nvSpPr>
          <p:cNvPr id="3160" name="Google Shape;3160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$211K</a:t>
            </a:r>
            <a:endParaRPr/>
          </a:p>
        </p:txBody>
      </p:sp>
      <p:sp>
        <p:nvSpPr>
          <p:cNvPr id="3161" name="Google Shape;3161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$2.8M</a:t>
            </a:r>
            <a:endParaRPr/>
          </a:p>
        </p:txBody>
      </p:sp>
      <p:sp>
        <p:nvSpPr>
          <p:cNvPr id="3162" name="Google Shape;3162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$1.0M</a:t>
            </a:r>
            <a:endParaRPr/>
          </a:p>
        </p:txBody>
      </p:sp>
      <p:sp>
        <p:nvSpPr>
          <p:cNvPr id="3163" name="Google Shape;3163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4" name="Google Shape;3164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165" name="Google Shape;3165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166" name="Google Shape;3166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$1,006,331 YTD gross written premium</a:t>
            </a:r>
            <a:endParaRPr/>
          </a:p>
        </p:txBody>
      </p:sp>
      <p:sp>
        <p:nvSpPr>
          <p:cNvPr id="3167" name="Google Shape;3167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168" name="Google Shape;3168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 in new business production</a:t>
            </a:r>
            <a:endParaRPr/>
          </a:p>
        </p:txBody>
      </p:sp>
      <p:sp>
        <p:nvSpPr>
          <p:cNvPr id="3169" name="Google Shape;3169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0" name="Google Shape;3170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171" name="Google Shape;3171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172" name="Google Shape;3172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83% of new business ($473,378)</a:t>
            </a:r>
            <a:endParaRPr/>
          </a:p>
        </p:txBody>
      </p:sp>
      <p:sp>
        <p:nvSpPr>
          <p:cNvPr id="3173" name="Google Shape;3173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4" name="Google Shape;3174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175" name="Google Shape;3175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176" name="Google Shape;3176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$567,710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177" name="Google Shape;3177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178" name="Google Shape;3178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$473,378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82" name="Shape 3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3" name="Google Shape;3183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4" name="Google Shape;3184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Southwest  |  State: CA  |  City: Encino</a:t>
            </a:r>
            <a:endParaRPr/>
          </a:p>
        </p:txBody>
      </p:sp>
      <p:sp>
        <p:nvSpPr>
          <p:cNvPr id="3186" name="Google Shape;3186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$902,237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187" name="Google Shape;3187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88" name="Google Shape;3188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$260,234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89" name="Google Shape;3189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$416,472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90" name="Google Shape;3190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$-379,535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91" name="Google Shape;3191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$3,442,404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192" name="Google Shape;3192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$3,478,371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193" name="Google Shape;3193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194" name="Google Shape;3194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95" name="Google Shape;3195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96" name="Google Shape;3196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97" name="Google Shape;3197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$1,183,780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98" name="Google Shape;3198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$559,911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99" name="Google Shape;3199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0" name="Google Shape;3200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07" name="Google Shape;3207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8" name="Google Shape;3208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$120,916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$72,959</a:t>
            </a:r>
            <a:endParaRPr/>
          </a:p>
        </p:txBody>
      </p:sp>
      <p:sp>
        <p:nvSpPr>
          <p:cNvPr id="3211" name="Google Shape;3211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$47,957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$-18,384</a:t>
            </a:r>
            <a:endParaRPr/>
          </a:p>
        </p:txBody>
      </p:sp>
      <p:sp>
        <p:nvSpPr>
          <p:cNvPr id="3214" name="Google Shape;3214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5" name="Google Shape;3215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$148,084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$70,541</a:t>
            </a:r>
            <a:endParaRPr/>
          </a:p>
        </p:txBody>
      </p:sp>
      <p:sp>
        <p:nvSpPr>
          <p:cNvPr id="3218" name="Google Shape;3218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$77,543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$-30,497</a:t>
            </a:r>
            <a:endParaRPr/>
          </a:p>
        </p:txBody>
      </p:sp>
      <p:sp>
        <p:nvSpPr>
          <p:cNvPr id="3221" name="Google Shape;3221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2" name="Google Shape;3222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$260,980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$67,624</a:t>
            </a:r>
            <a:endParaRPr/>
          </a:p>
        </p:txBody>
      </p:sp>
      <p:sp>
        <p:nvSpPr>
          <p:cNvPr id="3225" name="Google Shape;3225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$37,799</a:t>
            </a:r>
            <a:endParaRPr/>
          </a:p>
        </p:txBody>
      </p:sp>
      <p:sp>
        <p:nvSpPr>
          <p:cNvPr id="3226" name="Google Shape;3226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$155,557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$-103,129</a:t>
            </a:r>
            <a:endParaRPr/>
          </a:p>
        </p:txBody>
      </p:sp>
      <p:sp>
        <p:nvSpPr>
          <p:cNvPr id="3228" name="Google Shape;3228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9" name="Google Shape;3229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$209,576</a:t>
            </a:r>
            <a:endParaRPr/>
          </a:p>
        </p:txBody>
      </p:sp>
      <p:sp>
        <p:nvSpPr>
          <p:cNvPr id="3231" name="Google Shape;3231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$14,406</a:t>
            </a:r>
            <a:endParaRPr/>
          </a:p>
        </p:txBody>
      </p:sp>
      <p:sp>
        <p:nvSpPr>
          <p:cNvPr id="3232" name="Google Shape;3232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$135,102</a:t>
            </a:r>
            <a:endParaRPr/>
          </a:p>
        </p:txBody>
      </p:sp>
      <p:sp>
        <p:nvSpPr>
          <p:cNvPr id="3233" name="Google Shape;3233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$60,068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$-90,166</a:t>
            </a:r>
            <a:endParaRPr/>
          </a:p>
        </p:txBody>
      </p:sp>
      <p:sp>
        <p:nvSpPr>
          <p:cNvPr id="3235" name="Google Shape;3235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6" name="Google Shape;3236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$162,681</a:t>
            </a:r>
            <a:endParaRPr/>
          </a:p>
        </p:txBody>
      </p:sp>
      <p:sp>
        <p:nvSpPr>
          <p:cNvPr id="3238" name="Google Shape;3238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9" name="Google Shape;3239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$87,333</a:t>
            </a:r>
            <a:endParaRPr/>
          </a:p>
        </p:txBody>
      </p:sp>
      <p:sp>
        <p:nvSpPr>
          <p:cNvPr id="3240" name="Google Shape;3240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$75,348</a:t>
            </a:r>
            <a:endParaRPr/>
          </a:p>
        </p:txBody>
      </p:sp>
      <p:sp>
        <p:nvSpPr>
          <p:cNvPr id="3241" name="Google Shape;3241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$-137,358</a:t>
            </a:r>
            <a:endParaRPr/>
          </a:p>
        </p:txBody>
      </p:sp>
      <p:sp>
        <p:nvSpPr>
          <p:cNvPr id="3242" name="Google Shape;3242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3" name="Google Shape;3243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$902,237</a:t>
            </a:r>
            <a:endParaRPr/>
          </a:p>
        </p:txBody>
      </p:sp>
      <p:sp>
        <p:nvSpPr>
          <p:cNvPr id="3245" name="Google Shape;3245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$260,234</a:t>
            </a:r>
            <a:endParaRPr/>
          </a:p>
        </p:txBody>
      </p:sp>
      <p:sp>
        <p:nvSpPr>
          <p:cNvPr id="3247" name="Google Shape;3247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$416,472</a:t>
            </a:r>
            <a:endParaRPr/>
          </a:p>
        </p:txBody>
      </p:sp>
      <p:sp>
        <p:nvSpPr>
          <p:cNvPr id="3248" name="Google Shape;3248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$-379,535</a:t>
            </a:r>
            <a:endParaRPr/>
          </a:p>
        </p:txBody>
      </p:sp>
      <p:sp>
        <p:nvSpPr>
          <p:cNvPr id="3249" name="Google Shape;3249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0" name="Google Shape;3250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52" name="Google Shape;3252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253" name="Google Shape;3253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254" name="Google Shape;3254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56" name="Google Shape;3256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57" name="Google Shape;3257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8" name="Google Shape;3258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59" name="Google Shape;3259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260" name="Google Shape;3260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63" name="Google Shape;3263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35.4%</a:t>
            </a:r>
            <a:endParaRPr/>
          </a:p>
        </p:txBody>
      </p:sp>
      <p:sp>
        <p:nvSpPr>
          <p:cNvPr id="3264" name="Google Shape;3264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5" name="Google Shape;3265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66" name="Google Shape;3266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267" name="Google Shape;3267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269" name="Google Shape;3269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270" name="Google Shape;3270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44.0%</a:t>
            </a:r>
            <a:endParaRPr/>
          </a:p>
        </p:txBody>
      </p:sp>
      <p:sp>
        <p:nvSpPr>
          <p:cNvPr id="3271" name="Google Shape;3271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2" name="Google Shape;3272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73" name="Google Shape;3273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274" name="Google Shape;3274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275" name="Google Shape;3275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43.1%</a:t>
            </a:r>
            <a:endParaRPr/>
          </a:p>
        </p:txBody>
      </p:sp>
      <p:sp>
        <p:nvSpPr>
          <p:cNvPr id="3278" name="Google Shape;3278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9" name="Google Shape;3279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80" name="Google Shape;3280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281" name="Google Shape;3281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282" name="Google Shape;3282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283" name="Google Shape;3283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284" name="Google Shape;3284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285" name="Google Shape;3285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6" name="Google Shape;3286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87" name="Google Shape;3287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88" name="Google Shape;3288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289" name="Google Shape;3289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290" name="Google Shape;3290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291" name="Google Shape;3291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292" name="Google Shape;3292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3" name="Google Shape;3293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94" name="Google Shape;3294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3295" name="Google Shape;3295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3296" name="Google Shape;3296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3297" name="Google Shape;3297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298" name="Google Shape;3298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24.8%</a:t>
            </a:r>
            <a:endParaRPr/>
          </a:p>
        </p:txBody>
      </p:sp>
      <p:sp>
        <p:nvSpPr>
          <p:cNvPr id="3299" name="Google Shape;3299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0" name="Google Shape;3300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01" name="Google Shape;3301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02" name="Google Shape;3302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03" name="Google Shape;3303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04" name="Google Shape;3304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05" name="Google Shape;3305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06" name="Google Shape;3306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07" name="Google Shape;3307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08" name="Google Shape;3308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09" name="Google Shape;3309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10" name="Google Shape;3310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11" name="Google Shape;3311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12" name="Google Shape;3312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13" name="Google Shape;3313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14" name="Google Shape;3314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15" name="Google Shape;3315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3316" name="Google Shape;3316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317" name="Google Shape;3317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318" name="Google Shape;3318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319" name="Google Shape;3319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320" name="Google Shape;3320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321" name="Google Shape;3321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3322" name="Google Shape;3322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23" name="Google Shape;3323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324" name="Google Shape;3324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325" name="Google Shape;3325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3326" name="Google Shape;3326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3327" name="Google Shape;3327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28" name="Google Shape;3328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3329" name="Google Shape;3329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3330" name="Google Shape;3330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$99K</a:t>
            </a:r>
            <a:endParaRPr/>
          </a:p>
        </p:txBody>
      </p:sp>
      <p:sp>
        <p:nvSpPr>
          <p:cNvPr id="3331" name="Google Shape;3331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$148K</a:t>
            </a:r>
            <a:endParaRPr/>
          </a:p>
        </p:txBody>
      </p:sp>
      <p:sp>
        <p:nvSpPr>
          <p:cNvPr id="3332" name="Google Shape;3332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3333" name="Google Shape;3333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$261K</a:t>
            </a:r>
            <a:endParaRPr/>
          </a:p>
        </p:txBody>
      </p:sp>
      <p:sp>
        <p:nvSpPr>
          <p:cNvPr id="3334" name="Google Shape;3334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$308K</a:t>
            </a:r>
            <a:endParaRPr/>
          </a:p>
        </p:txBody>
      </p:sp>
      <p:sp>
        <p:nvSpPr>
          <p:cNvPr id="3335" name="Google Shape;3335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$210K</a:t>
            </a:r>
            <a:endParaRPr/>
          </a:p>
        </p:txBody>
      </p:sp>
      <p:sp>
        <p:nvSpPr>
          <p:cNvPr id="3336" name="Google Shape;3336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$229K</a:t>
            </a:r>
            <a:endParaRPr/>
          </a:p>
        </p:txBody>
      </p:sp>
      <p:sp>
        <p:nvSpPr>
          <p:cNvPr id="3337" name="Google Shape;3337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$163K</a:t>
            </a:r>
            <a:endParaRPr/>
          </a:p>
        </p:txBody>
      </p:sp>
      <p:sp>
        <p:nvSpPr>
          <p:cNvPr id="3338" name="Google Shape;3338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$866K</a:t>
            </a:r>
            <a:endParaRPr/>
          </a:p>
        </p:txBody>
      </p:sp>
      <p:sp>
        <p:nvSpPr>
          <p:cNvPr id="3339" name="Google Shape;3339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$902K</a:t>
            </a:r>
            <a:endParaRPr/>
          </a:p>
        </p:txBody>
      </p:sp>
      <p:sp>
        <p:nvSpPr>
          <p:cNvPr id="3340" name="Google Shape;3340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1" name="Google Shape;3341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342" name="Google Shape;3342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43" name="Google Shape;3343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$902,237 YTD gross written premium</a:t>
            </a:r>
            <a:endParaRPr/>
          </a:p>
        </p:txBody>
      </p:sp>
      <p:sp>
        <p:nvSpPr>
          <p:cNvPr id="3344" name="Google Shape;3344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45" name="Google Shape;3345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 in new business production</a:t>
            </a:r>
            <a:endParaRPr/>
          </a:p>
        </p:txBody>
      </p:sp>
      <p:sp>
        <p:nvSpPr>
          <p:cNvPr id="3346" name="Google Shape;3346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7" name="Google Shape;3347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348" name="Google Shape;3348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49" name="Google Shape;3349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168% of new business ($379,535)</a:t>
            </a:r>
            <a:endParaRPr/>
          </a:p>
        </p:txBody>
      </p:sp>
      <p:sp>
        <p:nvSpPr>
          <p:cNvPr id="3350" name="Google Shape;3350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51" name="Google Shape;3351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66 to 20 MoM</a:t>
            </a:r>
            <a:endParaRPr/>
          </a:p>
        </p:txBody>
      </p:sp>
      <p:sp>
        <p:nvSpPr>
          <p:cNvPr id="3352" name="Google Shape;3352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3" name="Google Shape;3353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354" name="Google Shape;3354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355" name="Google Shape;3355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$225,531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356" name="Google Shape;3356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357" name="Google Shape;3357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$379,535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61" name="Shape 3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3" name="Google Shape;3363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3364" name="Google Shape;3364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Point Roberts</a:t>
            </a:r>
            <a:endParaRPr/>
          </a:p>
        </p:txBody>
      </p:sp>
      <p:sp>
        <p:nvSpPr>
          <p:cNvPr id="3365" name="Google Shape;3365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$741,943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366" name="Google Shape;3366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$238,000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67" name="Google Shape;3367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68" name="Google Shape;3368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69" name="Google Shape;3369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$-136,903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70" name="Google Shape;3370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$2,749,090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371" name="Google Shape;3371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$2,206,296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372" name="Google Shape;3372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373" name="Google Shape;3373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74" name="Google Shape;3374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75" name="Google Shape;3375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76" name="Google Shape;3376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$574,103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377" name="Google Shape;3377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$495,999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378" name="Google Shape;3378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85" name="Google Shape;3385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86" name="Google Shape;3386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7" name="Google Shape;3387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$102,936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$81,485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$17,263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$4,188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$-24,269</a:t>
            </a:r>
            <a:endParaRPr/>
          </a:p>
        </p:txBody>
      </p:sp>
      <p:sp>
        <p:nvSpPr>
          <p:cNvPr id="3393" name="Google Shape;3393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4" name="Google Shape;3394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$136,217</a:t>
            </a:r>
            <a:endParaRPr/>
          </a:p>
        </p:txBody>
      </p:sp>
      <p:sp>
        <p:nvSpPr>
          <p:cNvPr id="3396" name="Google Shape;3396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$37,968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$79,914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$18,335</a:t>
            </a:r>
            <a:endParaRPr/>
          </a:p>
        </p:txBody>
      </p:sp>
      <p:sp>
        <p:nvSpPr>
          <p:cNvPr id="3399" name="Google Shape;3399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$-31,367</a:t>
            </a:r>
            <a:endParaRPr/>
          </a:p>
        </p:txBody>
      </p:sp>
      <p:sp>
        <p:nvSpPr>
          <p:cNvPr id="3400" name="Google Shape;3400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1" name="Google Shape;3401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02" name="Google Shape;3402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$136,366</a:t>
            </a:r>
            <a:endParaRPr/>
          </a:p>
        </p:txBody>
      </p:sp>
      <p:sp>
        <p:nvSpPr>
          <p:cNvPr id="3403" name="Google Shape;3403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$34,579</a:t>
            </a:r>
            <a:endParaRPr/>
          </a:p>
        </p:txBody>
      </p:sp>
      <p:sp>
        <p:nvSpPr>
          <p:cNvPr id="3404" name="Google Shape;3404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$72,197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$29,591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$-68,437</a:t>
            </a:r>
            <a:endParaRPr/>
          </a:p>
        </p:txBody>
      </p:sp>
      <p:sp>
        <p:nvSpPr>
          <p:cNvPr id="3407" name="Google Shape;3407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8" name="Google Shape;3408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$219,982</a:t>
            </a:r>
            <a:endParaRPr/>
          </a:p>
        </p:txBody>
      </p:sp>
      <p:sp>
        <p:nvSpPr>
          <p:cNvPr id="3410" name="Google Shape;3410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$62,684</a:t>
            </a:r>
            <a:endParaRPr/>
          </a:p>
        </p:txBody>
      </p:sp>
      <p:sp>
        <p:nvSpPr>
          <p:cNvPr id="3411" name="Google Shape;3411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$162,447</a:t>
            </a:r>
            <a:endParaRPr/>
          </a:p>
        </p:txBody>
      </p:sp>
      <p:sp>
        <p:nvSpPr>
          <p:cNvPr id="3412" name="Google Shape;3412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$-5,149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$-290</a:t>
            </a:r>
            <a:endParaRPr/>
          </a:p>
        </p:txBody>
      </p:sp>
      <p:sp>
        <p:nvSpPr>
          <p:cNvPr id="3414" name="Google Shape;3414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5" name="Google Shape;3415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16" name="Google Shape;3416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$146,440</a:t>
            </a:r>
            <a:endParaRPr/>
          </a:p>
        </p:txBody>
      </p:sp>
      <p:sp>
        <p:nvSpPr>
          <p:cNvPr id="3417" name="Google Shape;3417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$21,283</a:t>
            </a:r>
            <a:endParaRPr/>
          </a:p>
        </p:txBody>
      </p:sp>
      <p:sp>
        <p:nvSpPr>
          <p:cNvPr id="3418" name="Google Shape;3418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$105,562</a:t>
            </a:r>
            <a:endParaRPr/>
          </a:p>
        </p:txBody>
      </p:sp>
      <p:sp>
        <p:nvSpPr>
          <p:cNvPr id="3419" name="Google Shape;3419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$19,595</a:t>
            </a:r>
            <a:endParaRPr/>
          </a:p>
        </p:txBody>
      </p:sp>
      <p:sp>
        <p:nvSpPr>
          <p:cNvPr id="3420" name="Google Shape;3420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$-12,539</a:t>
            </a:r>
            <a:endParaRPr/>
          </a:p>
        </p:txBody>
      </p:sp>
      <p:sp>
        <p:nvSpPr>
          <p:cNvPr id="3421" name="Google Shape;3421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2" name="Google Shape;3422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23" name="Google Shape;3423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$741,943</a:t>
            </a:r>
            <a:endParaRPr/>
          </a:p>
        </p:txBody>
      </p:sp>
      <p:sp>
        <p:nvSpPr>
          <p:cNvPr id="3424" name="Google Shape;3424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$238,000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$437,382</a:t>
            </a:r>
            <a:endParaRPr/>
          </a:p>
        </p:txBody>
      </p:sp>
      <p:sp>
        <p:nvSpPr>
          <p:cNvPr id="3426" name="Google Shape;3426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$66,560</a:t>
            </a:r>
            <a:endParaRPr/>
          </a:p>
        </p:txBody>
      </p:sp>
      <p:sp>
        <p:nvSpPr>
          <p:cNvPr id="3427" name="Google Shape;3427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$-136,903</a:t>
            </a:r>
            <a:endParaRPr/>
          </a:p>
        </p:txBody>
      </p:sp>
      <p:sp>
        <p:nvSpPr>
          <p:cNvPr id="3428" name="Google Shape;3428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9" name="Google Shape;3429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30" name="Google Shape;3430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31" name="Google Shape;3431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432" name="Google Shape;3432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433" name="Google Shape;3433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36" name="Google Shape;3436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7" name="Google Shape;3437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38" name="Google Shape;3438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439" name="Google Shape;3439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440" name="Google Shape;3440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</a:t>
            </a:r>
            <a:endParaRPr/>
          </a:p>
        </p:txBody>
      </p:sp>
      <p:sp>
        <p:nvSpPr>
          <p:cNvPr id="3441" name="Google Shape;3441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42" name="Google Shape;3442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3443" name="Google Shape;3443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4" name="Google Shape;3444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45" name="Google Shape;3445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446" name="Google Shape;3446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47" name="Google Shape;3447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3448" name="Google Shape;3448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449" name="Google Shape;3449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17.4%</a:t>
            </a:r>
            <a:endParaRPr/>
          </a:p>
        </p:txBody>
      </p:sp>
      <p:sp>
        <p:nvSpPr>
          <p:cNvPr id="3450" name="Google Shape;3450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1" name="Google Shape;3451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52" name="Google Shape;3452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3453" name="Google Shape;3453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454" name="Google Shape;3454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3455" name="Google Shape;3455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456" name="Google Shape;3456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12.6%</a:t>
            </a:r>
            <a:endParaRPr/>
          </a:p>
        </p:txBody>
      </p:sp>
      <p:sp>
        <p:nvSpPr>
          <p:cNvPr id="3457" name="Google Shape;3457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8" name="Google Shape;3458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59" name="Google Shape;3459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3460" name="Google Shape;3460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61" name="Google Shape;3461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3462" name="Google Shape;3462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463" name="Google Shape;3463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3464" name="Google Shape;3464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5" name="Google Shape;3465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66" name="Google Shape;3466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467" name="Google Shape;3467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68" name="Google Shape;3468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3469" name="Google Shape;3469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70" name="Google Shape;3470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9.6%</a:t>
            </a:r>
            <a:endParaRPr/>
          </a:p>
        </p:txBody>
      </p:sp>
      <p:sp>
        <p:nvSpPr>
          <p:cNvPr id="3471" name="Google Shape;3471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2" name="Google Shape;3472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73" name="Google Shape;3473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423</a:t>
            </a:r>
            <a:endParaRPr/>
          </a:p>
        </p:txBody>
      </p:sp>
      <p:sp>
        <p:nvSpPr>
          <p:cNvPr id="3474" name="Google Shape;3474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475" name="Google Shape;3475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410</a:t>
            </a:r>
            <a:endParaRPr/>
          </a:p>
        </p:txBody>
      </p:sp>
      <p:sp>
        <p:nvSpPr>
          <p:cNvPr id="3476" name="Google Shape;3476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477" name="Google Shape;3477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3478" name="Google Shape;3478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9" name="Google Shape;3479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480" name="Google Shape;3480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81" name="Google Shape;3481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482" name="Google Shape;3482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483" name="Google Shape;3483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484" name="Google Shape;3484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485" name="Google Shape;3485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486" name="Google Shape;3486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487" name="Google Shape;3487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488" name="Google Shape;3488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489" name="Google Shape;3489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490" name="Google Shape;3490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491" name="Google Shape;3491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492" name="Google Shape;3492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493" name="Google Shape;3493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94" name="Google Shape;3494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3495" name="Google Shape;3495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496" name="Google Shape;3496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3497" name="Google Shape;3497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498" name="Google Shape;3498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3499" name="Google Shape;3499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3500" name="Google Shape;3500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</p:txBody>
      </p:sp>
      <p:sp>
        <p:nvSpPr>
          <p:cNvPr id="3501" name="Google Shape;3501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3502" name="Google Shape;3502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3503" name="Google Shape;3503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504" name="Google Shape;3504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697</a:t>
            </a:r>
            <a:endParaRPr/>
          </a:p>
        </p:txBody>
      </p:sp>
      <p:sp>
        <p:nvSpPr>
          <p:cNvPr id="3505" name="Google Shape;3505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468</a:t>
            </a:r>
            <a:endParaRPr/>
          </a:p>
        </p:txBody>
      </p:sp>
      <p:sp>
        <p:nvSpPr>
          <p:cNvPr id="3506" name="Google Shape;3506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07" name="Google Shape;3507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3508" name="Google Shape;3508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$103K</a:t>
            </a:r>
            <a:endParaRPr/>
          </a:p>
        </p:txBody>
      </p:sp>
      <p:sp>
        <p:nvSpPr>
          <p:cNvPr id="3509" name="Google Shape;3509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3510" name="Google Shape;3510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3511" name="Google Shape;3511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$323K</a:t>
            </a:r>
            <a:endParaRPr/>
          </a:p>
        </p:txBody>
      </p:sp>
      <p:sp>
        <p:nvSpPr>
          <p:cNvPr id="3512" name="Google Shape;3512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3513" name="Google Shape;3513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$465K</a:t>
            </a:r>
            <a:endParaRPr/>
          </a:p>
        </p:txBody>
      </p:sp>
      <p:sp>
        <p:nvSpPr>
          <p:cNvPr id="3514" name="Google Shape;3514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$220K</a:t>
            </a:r>
            <a:endParaRPr/>
          </a:p>
        </p:txBody>
      </p:sp>
      <p:sp>
        <p:nvSpPr>
          <p:cNvPr id="3515" name="Google Shape;3515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$240K</a:t>
            </a:r>
            <a:endParaRPr/>
          </a:p>
        </p:txBody>
      </p:sp>
      <p:sp>
        <p:nvSpPr>
          <p:cNvPr id="3516" name="Google Shape;3516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3517" name="Google Shape;3517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3518" name="Google Shape;3518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$742K</a:t>
            </a:r>
            <a:endParaRPr/>
          </a:p>
        </p:txBody>
      </p:sp>
      <p:sp>
        <p:nvSpPr>
          <p:cNvPr id="3519" name="Google Shape;3519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0" name="Google Shape;3520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21" name="Google Shape;3521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22" name="Google Shape;3522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$741,943 YTD gross written premium</a:t>
            </a:r>
            <a:endParaRPr/>
          </a:p>
        </p:txBody>
      </p:sp>
      <p:sp>
        <p:nvSpPr>
          <p:cNvPr id="3523" name="Google Shape;3523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24" name="Google Shape;3524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$238,000 in new business production</a:t>
            </a:r>
            <a:endParaRPr/>
          </a:p>
        </p:txBody>
      </p:sp>
      <p:sp>
        <p:nvSpPr>
          <p:cNvPr id="3525" name="Google Shape;3525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6" name="Google Shape;3526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27" name="Google Shape;3527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28" name="Google Shape;3528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58% of new business ($136,903)</a:t>
            </a:r>
            <a:endParaRPr/>
          </a:p>
        </p:txBody>
      </p:sp>
      <p:sp>
        <p:nvSpPr>
          <p:cNvPr id="3529" name="Google Shape;3529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0" name="Google Shape;3530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531" name="Google Shape;3531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532" name="Google Shape;3532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$238,000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533" name="Google Shape;3533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534" name="Google Shape;3534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$136,903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38" name="Shape 3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9" name="Google Shape;3539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0" name="Google Shape;3540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Irvine</a:t>
            </a:r>
            <a:endParaRPr/>
          </a:p>
        </p:txBody>
      </p:sp>
      <p:sp>
        <p:nvSpPr>
          <p:cNvPr id="3542" name="Google Shape;3542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543" name="Google Shape;3543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44" name="Google Shape;3544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45" name="Google Shape;3545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46" name="Google Shape;3546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$-118,660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47" name="Google Shape;3547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548" name="Google Shape;3548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$796,918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549" name="Google Shape;3549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550" name="Google Shape;3550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51" name="Google Shape;3551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52" name="Google Shape;3552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53" name="Google Shape;3553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$161,385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554" name="Google Shape;3554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$291,417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555" name="Google Shape;3555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6" name="Google Shape;3556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557" name="Google Shape;3557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58" name="Google Shape;3558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63" name="Google Shape;3563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4" name="Google Shape;3564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$97,407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$96,887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$-7,662</a:t>
            </a:r>
            <a:endParaRPr/>
          </a:p>
        </p:txBody>
      </p:sp>
      <p:sp>
        <p:nvSpPr>
          <p:cNvPr id="3570" name="Google Shape;3570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1" name="Google Shape;3571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$45,371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$25,047</a:t>
            </a:r>
            <a:endParaRPr/>
          </a:p>
        </p:txBody>
      </p:sp>
      <p:sp>
        <p:nvSpPr>
          <p:cNvPr id="3574" name="Google Shape;3574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$20,324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$-19,103</a:t>
            </a:r>
            <a:endParaRPr/>
          </a:p>
        </p:txBody>
      </p:sp>
      <p:sp>
        <p:nvSpPr>
          <p:cNvPr id="3577" name="Google Shape;3577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8" name="Google Shape;3578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$47,106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$20,658</a:t>
            </a:r>
            <a:endParaRPr/>
          </a:p>
        </p:txBody>
      </p:sp>
      <p:sp>
        <p:nvSpPr>
          <p:cNvPr id="3581" name="Google Shape;3581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82" name="Google Shape;3582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$26,448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$-16,359</a:t>
            </a:r>
            <a:endParaRPr/>
          </a:p>
        </p:txBody>
      </p:sp>
      <p:sp>
        <p:nvSpPr>
          <p:cNvPr id="3584" name="Google Shape;3584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5" name="Google Shape;3585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$207,730</a:t>
            </a:r>
            <a:endParaRPr/>
          </a:p>
        </p:txBody>
      </p:sp>
      <p:sp>
        <p:nvSpPr>
          <p:cNvPr id="3587" name="Google Shape;3587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$206,862</a:t>
            </a:r>
            <a:endParaRPr/>
          </a:p>
        </p:txBody>
      </p:sp>
      <p:sp>
        <p:nvSpPr>
          <p:cNvPr id="3588" name="Google Shape;3588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89" name="Google Shape;3589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$868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$-37,341</a:t>
            </a:r>
            <a:endParaRPr/>
          </a:p>
        </p:txBody>
      </p:sp>
      <p:sp>
        <p:nvSpPr>
          <p:cNvPr id="3591" name="Google Shape;3591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2" name="Google Shape;3592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$219,465</a:t>
            </a:r>
            <a:endParaRPr/>
          </a:p>
        </p:txBody>
      </p:sp>
      <p:sp>
        <p:nvSpPr>
          <p:cNvPr id="3594" name="Google Shape;3594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$218,042</a:t>
            </a:r>
            <a:endParaRPr/>
          </a:p>
        </p:txBody>
      </p:sp>
      <p:sp>
        <p:nvSpPr>
          <p:cNvPr id="3595" name="Google Shape;3595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6" name="Google Shape;3596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</a:t>
            </a:r>
            <a:endParaRPr/>
          </a:p>
        </p:txBody>
      </p:sp>
      <p:sp>
        <p:nvSpPr>
          <p:cNvPr id="3597" name="Google Shape;3597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$-38,196</a:t>
            </a:r>
            <a:endParaRPr/>
          </a:p>
        </p:txBody>
      </p:sp>
      <p:sp>
        <p:nvSpPr>
          <p:cNvPr id="3598" name="Google Shape;3598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9" name="Google Shape;3599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$49,582</a:t>
            </a:r>
            <a:endParaRPr/>
          </a:p>
        </p:txBody>
      </p:sp>
      <p:sp>
        <p:nvSpPr>
          <p:cNvPr id="3604" name="Google Shape;3604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$-118,660</a:t>
            </a:r>
            <a:endParaRPr/>
          </a:p>
        </p:txBody>
      </p:sp>
      <p:sp>
        <p:nvSpPr>
          <p:cNvPr id="3605" name="Google Shape;3605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6" name="Google Shape;3606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07" name="Google Shape;3607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09" name="Google Shape;3609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10" name="Google Shape;3610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11" name="Google Shape;3611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12" name="Google Shape;3612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13" name="Google Shape;3613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4" name="Google Shape;3614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616" name="Google Shape;3616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17" name="Google Shape;3617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618" name="Google Shape;3618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619" name="Google Shape;3619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3620" name="Google Shape;3620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1" name="Google Shape;3621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22" name="Google Shape;3622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623" name="Google Shape;3623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24" name="Google Shape;3624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625" name="Google Shape;3625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26" name="Google Shape;3626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3627" name="Google Shape;3627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8" name="Google Shape;3628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29" name="Google Shape;3629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630" name="Google Shape;3630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31" name="Google Shape;3631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632" name="Google Shape;3632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33" name="Google Shape;3633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3634" name="Google Shape;3634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5" name="Google Shape;3635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36" name="Google Shape;3636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3637" name="Google Shape;3637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38" name="Google Shape;3638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3639" name="Google Shape;3639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640" name="Google Shape;3640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3641" name="Google Shape;3641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2" name="Google Shape;3642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43" name="Google Shape;3643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644" name="Google Shape;3644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45" name="Google Shape;3645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646" name="Google Shape;3646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47" name="Google Shape;3647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3648" name="Google Shape;3648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9" name="Google Shape;3649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50" name="Google Shape;3650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3651" name="Google Shape;3651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652" name="Google Shape;3652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231</a:t>
            </a:r>
            <a:endParaRPr/>
          </a:p>
        </p:txBody>
      </p:sp>
      <p:sp>
        <p:nvSpPr>
          <p:cNvPr id="3653" name="Google Shape;3653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654" name="Google Shape;3654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3655" name="Google Shape;3655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6" name="Google Shape;3656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657" name="Google Shape;3657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58" name="Google Shape;3658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659" name="Google Shape;3659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660" name="Google Shape;3660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661" name="Google Shape;3661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662" name="Google Shape;3662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663" name="Google Shape;3663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664" name="Google Shape;3664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665" name="Google Shape;3665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666" name="Google Shape;3666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667" name="Google Shape;3667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668" name="Google Shape;3668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669" name="Google Shape;3669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670" name="Google Shape;3670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71" name="Google Shape;3671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2" name="Google Shape;3672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673" name="Google Shape;3673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4" name="Google Shape;3674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675" name="Google Shape;3675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6" name="Google Shape;3676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677" name="Google Shape;3677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8" name="Google Shape;3678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3679" name="Google Shape;3679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0" name="Google Shape;3680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681" name="Google Shape;3681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2" name="Google Shape;3682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276</a:t>
            </a:r>
            <a:endParaRPr/>
          </a:p>
        </p:txBody>
      </p:sp>
      <p:sp>
        <p:nvSpPr>
          <p:cNvPr id="3683" name="Google Shape;3683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684" name="Google Shape;3684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5" name="Google Shape;3685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$97K</a:t>
            </a:r>
            <a:endParaRPr/>
          </a:p>
        </p:txBody>
      </p:sp>
      <p:sp>
        <p:nvSpPr>
          <p:cNvPr id="3686" name="Google Shape;3686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7" name="Google Shape;3687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3688" name="Google Shape;3688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9" name="Google Shape;3689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690" name="Google Shape;3690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1" name="Google Shape;3691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$208K</a:t>
            </a:r>
            <a:endParaRPr/>
          </a:p>
        </p:txBody>
      </p:sp>
      <p:sp>
        <p:nvSpPr>
          <p:cNvPr id="3692" name="Google Shape;3692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3" name="Google Shape;3693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$219K</a:t>
            </a:r>
            <a:endParaRPr/>
          </a:p>
        </p:txBody>
      </p:sp>
      <p:sp>
        <p:nvSpPr>
          <p:cNvPr id="3694" name="Google Shape;3694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5" name="Google Shape;3695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$617K</a:t>
            </a:r>
            <a:endParaRPr/>
          </a:p>
        </p:txBody>
      </p:sp>
      <p:sp>
        <p:nvSpPr>
          <p:cNvPr id="3696" name="Google Shape;3696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7" name="Google Shape;3697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98" name="Google Shape;3698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99" name="Google Shape;3699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 YTD gross written premium</a:t>
            </a:r>
            <a:endParaRPr/>
          </a:p>
        </p:txBody>
      </p:sp>
      <p:sp>
        <p:nvSpPr>
          <p:cNvPr id="3700" name="Google Shape;3700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01" name="Google Shape;3701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 in new business production</a:t>
            </a:r>
            <a:endParaRPr/>
          </a:p>
        </p:txBody>
      </p:sp>
      <p:sp>
        <p:nvSpPr>
          <p:cNvPr id="3702" name="Google Shape;3702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3" name="Google Shape;3703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04" name="Google Shape;3704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05" name="Google Shape;3705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80 to 38 MoM</a:t>
            </a:r>
            <a:endParaRPr/>
          </a:p>
        </p:txBody>
      </p:sp>
      <p:sp>
        <p:nvSpPr>
          <p:cNvPr id="3706" name="Google Shape;3706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7" name="Google Shape;3707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08" name="Google Shape;3708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09" name="Google Shape;3709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$567,496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13" name="Shape 3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4" name="Google Shape;3714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5" name="Google Shape;3715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3717" name="Google Shape;3717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$570,621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18" name="Google Shape;3718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19" name="Google Shape;3719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20" name="Google Shape;3720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$127,377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21" name="Google Shape;3721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$-61,968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22" name="Google Shape;3722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$907,582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23" name="Google Shape;3723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$1,055,925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24" name="Google Shape;3724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25" name="Google Shape;3725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26" name="Google Shape;3726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27" name="Google Shape;3727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28" name="Google Shape;3728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29" name="Google Shape;3729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30" name="Google Shape;3730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1" name="Google Shape;3731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734" name="Google Shape;3734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35" name="Google Shape;3735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38" name="Google Shape;3738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9" name="Google Shape;3739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$70,217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$66,897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$3,320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5" name="Google Shape;3745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6" name="Google Shape;3746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$24,174</a:t>
            </a:r>
            <a:endParaRPr/>
          </a:p>
        </p:txBody>
      </p:sp>
      <p:sp>
        <p:nvSpPr>
          <p:cNvPr id="3748" name="Google Shape;3748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9" name="Google Shape;3749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$24,174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$-12,440</a:t>
            </a:r>
            <a:endParaRPr/>
          </a:p>
        </p:txBody>
      </p:sp>
      <p:sp>
        <p:nvSpPr>
          <p:cNvPr id="3752" name="Google Shape;3752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3" name="Google Shape;3753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54" name="Google Shape;3754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$231,006</a:t>
            </a:r>
            <a:endParaRPr/>
          </a:p>
        </p:txBody>
      </p:sp>
      <p:sp>
        <p:nvSpPr>
          <p:cNvPr id="3755" name="Google Shape;3755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$88,313</a:t>
            </a:r>
            <a:endParaRPr/>
          </a:p>
        </p:txBody>
      </p:sp>
      <p:sp>
        <p:nvSpPr>
          <p:cNvPr id="3756" name="Google Shape;3756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$67,405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$75,288</a:t>
            </a:r>
            <a:endParaRPr/>
          </a:p>
        </p:txBody>
      </p:sp>
      <p:sp>
        <p:nvSpPr>
          <p:cNvPr id="3758" name="Google Shape;3758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9" name="Google Shape;3759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0" name="Google Shape;3760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$80,905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$60,825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$29,406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$-9,327</a:t>
            </a:r>
            <a:endParaRPr/>
          </a:p>
        </p:txBody>
      </p:sp>
      <p:sp>
        <p:nvSpPr>
          <p:cNvPr id="3765" name="Google Shape;3765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$-31,757</a:t>
            </a:r>
            <a:endParaRPr/>
          </a:p>
        </p:txBody>
      </p:sp>
      <p:sp>
        <p:nvSpPr>
          <p:cNvPr id="3766" name="Google Shape;3766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7" name="Google Shape;3767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68" name="Google Shape;3768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$164,319</a:t>
            </a:r>
            <a:endParaRPr/>
          </a:p>
        </p:txBody>
      </p:sp>
      <p:sp>
        <p:nvSpPr>
          <p:cNvPr id="3769" name="Google Shape;3769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$48,200</a:t>
            </a:r>
            <a:endParaRPr/>
          </a:p>
        </p:txBody>
      </p:sp>
      <p:sp>
        <p:nvSpPr>
          <p:cNvPr id="3770" name="Google Shape;3770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$82,199</a:t>
            </a:r>
            <a:endParaRPr/>
          </a:p>
        </p:txBody>
      </p:sp>
      <p:sp>
        <p:nvSpPr>
          <p:cNvPr id="3771" name="Google Shape;3771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$33,921</a:t>
            </a:r>
            <a:endParaRPr/>
          </a:p>
        </p:txBody>
      </p:sp>
      <p:sp>
        <p:nvSpPr>
          <p:cNvPr id="3772" name="Google Shape;3772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$-17,771</a:t>
            </a:r>
            <a:endParaRPr/>
          </a:p>
        </p:txBody>
      </p:sp>
      <p:sp>
        <p:nvSpPr>
          <p:cNvPr id="3773" name="Google Shape;3773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4" name="Google Shape;3774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75" name="Google Shape;3775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$570,621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</a:t>
            </a:r>
            <a:endParaRPr/>
          </a:p>
        </p:txBody>
      </p:sp>
      <p:sp>
        <p:nvSpPr>
          <p:cNvPr id="3777" name="Google Shape;3777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$179,010</a:t>
            </a:r>
            <a:endParaRPr/>
          </a:p>
        </p:txBody>
      </p:sp>
      <p:sp>
        <p:nvSpPr>
          <p:cNvPr id="3778" name="Google Shape;3778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$127,377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$-61,968</a:t>
            </a:r>
            <a:endParaRPr/>
          </a:p>
        </p:txBody>
      </p:sp>
      <p:sp>
        <p:nvSpPr>
          <p:cNvPr id="3780" name="Google Shape;3780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1" name="Google Shape;3781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83" name="Google Shape;3783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784" name="Google Shape;3784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785" name="Google Shape;3785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88" name="Google Shape;3788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9" name="Google Shape;3789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90" name="Google Shape;3790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791" name="Google Shape;3791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795" name="Google Shape;3795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6" name="Google Shape;3796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97" name="Google Shape;3797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798" name="Google Shape;3798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802" name="Google Shape;3802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3" name="Google Shape;3803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04" name="Google Shape;3804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805" name="Google Shape;3805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06" name="Google Shape;3806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807" name="Google Shape;3807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08" name="Google Shape;3808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14.7%</a:t>
            </a:r>
            <a:endParaRPr/>
          </a:p>
        </p:txBody>
      </p:sp>
      <p:sp>
        <p:nvSpPr>
          <p:cNvPr id="3809" name="Google Shape;3809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0" name="Google Shape;3810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11" name="Google Shape;3811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812" name="Google Shape;3812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13" name="Google Shape;3813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814" name="Google Shape;3814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815" name="Google Shape;3815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37.0%</a:t>
            </a:r>
            <a:endParaRPr/>
          </a:p>
        </p:txBody>
      </p:sp>
      <p:sp>
        <p:nvSpPr>
          <p:cNvPr id="3816" name="Google Shape;3816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7" name="Google Shape;3817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18" name="Google Shape;3818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819" name="Google Shape;3819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20" name="Google Shape;3820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821" name="Google Shape;3821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22" name="Google Shape;3822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823" name="Google Shape;3823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4" name="Google Shape;3824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25" name="Google Shape;3825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3826" name="Google Shape;3826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827" name="Google Shape;3827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3828" name="Google Shape;3828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29" name="Google Shape;3829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3830" name="Google Shape;3830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1" name="Google Shape;3831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832" name="Google Shape;3832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33" name="Google Shape;3833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834" name="Google Shape;3834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835" name="Google Shape;3835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836" name="Google Shape;3836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837" name="Google Shape;3837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838" name="Google Shape;3838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839" name="Google Shape;3839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840" name="Google Shape;3840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841" name="Google Shape;3841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42" name="Google Shape;3842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43" name="Google Shape;3843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844" name="Google Shape;3844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845" name="Google Shape;3845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46" name="Google Shape;3846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47" name="Google Shape;3847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848" name="Google Shape;3848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849" name="Google Shape;3849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850" name="Google Shape;3850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51" name="Google Shape;3851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852" name="Google Shape;3852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853" name="Google Shape;3853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854" name="Google Shape;3854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855" name="Google Shape;3855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856" name="Google Shape;3856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3857" name="Google Shape;3857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3858" name="Google Shape;3858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859" name="Google Shape;3859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0" name="Google Shape;3860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861" name="Google Shape;3861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2" name="Google Shape;3862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863" name="Google Shape;3863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3864" name="Google Shape;3864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$231K</a:t>
            </a:r>
            <a:endParaRPr/>
          </a:p>
        </p:txBody>
      </p:sp>
      <p:sp>
        <p:nvSpPr>
          <p:cNvPr id="3865" name="Google Shape;3865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$333K</a:t>
            </a:r>
            <a:endParaRPr/>
          </a:p>
        </p:txBody>
      </p:sp>
      <p:sp>
        <p:nvSpPr>
          <p:cNvPr id="3866" name="Google Shape;3866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3867" name="Google Shape;3867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3868" name="Google Shape;3868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$164K</a:t>
            </a:r>
            <a:endParaRPr/>
          </a:p>
        </p:txBody>
      </p:sp>
      <p:sp>
        <p:nvSpPr>
          <p:cNvPr id="3869" name="Google Shape;3869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3870" name="Google Shape;3870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$571K</a:t>
            </a:r>
            <a:endParaRPr/>
          </a:p>
        </p:txBody>
      </p:sp>
      <p:sp>
        <p:nvSpPr>
          <p:cNvPr id="3871" name="Google Shape;3871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2" name="Google Shape;3872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873" name="Google Shape;3873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74" name="Google Shape;3874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$570,621 YTD gross written premium</a:t>
            </a:r>
            <a:endParaRPr/>
          </a:p>
        </p:txBody>
      </p:sp>
      <p:sp>
        <p:nvSpPr>
          <p:cNvPr id="3875" name="Google Shape;3875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76" name="Google Shape;3876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 in new business production</a:t>
            </a:r>
            <a:endParaRPr/>
          </a:p>
        </p:txBody>
      </p:sp>
      <p:sp>
        <p:nvSpPr>
          <p:cNvPr id="3877" name="Google Shape;3877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8" name="Google Shape;3878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879" name="Google Shape;3879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80" name="Google Shape;3880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881" name="Google Shape;3881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82" name="Google Shape;3882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883" name="Google Shape;3883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4" name="Google Shape;3884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885" name="Google Shape;3885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886" name="Google Shape;3886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$264,235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887" name="Google Shape;3887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88" name="Google Shape;3888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$179,010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92" name="Shape 3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3" name="Google Shape;3893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4" name="Google Shape;3894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Jtc Insurance Agency, Inc.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City of Industry</a:t>
            </a:r>
            <a:endParaRPr/>
          </a:p>
        </p:txBody>
      </p:sp>
      <p:sp>
        <p:nvSpPr>
          <p:cNvPr id="3896" name="Google Shape;3896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$503,955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97" name="Google Shape;3897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$135,406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98" name="Google Shape;3898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$347,151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99" name="Google Shape;3899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00" name="Google Shape;3900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01" name="Google Shape;3901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$631,747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02" name="Google Shape;3902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$799,723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03" name="Google Shape;3903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04" name="Google Shape;3904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05" name="Google Shape;3905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06" name="Google Shape;3906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07" name="Google Shape;3907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$318,335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08" name="Google Shape;3908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$176,656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09" name="Google Shape;3909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0" name="Google Shape;3910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15" name="Google Shape;3915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16" name="Google Shape;3916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17" name="Google Shape;3917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8" name="Google Shape;3918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$26,433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$26,097</a:t>
            </a:r>
            <a:endParaRPr/>
          </a:p>
        </p:txBody>
      </p:sp>
      <p:sp>
        <p:nvSpPr>
          <p:cNvPr id="3921" name="Google Shape;3921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4" name="Google Shape;3924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5" name="Google Shape;3925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$16,470</a:t>
            </a:r>
            <a:endParaRPr/>
          </a:p>
        </p:txBody>
      </p:sp>
      <p:sp>
        <p:nvSpPr>
          <p:cNvPr id="3927" name="Google Shape;3927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8" name="Google Shape;3928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$16,470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1" name="Google Shape;3931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2" name="Google Shape;3932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$94,399</a:t>
            </a:r>
            <a:endParaRPr/>
          </a:p>
        </p:txBody>
      </p:sp>
      <p:sp>
        <p:nvSpPr>
          <p:cNvPr id="3934" name="Google Shape;3934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$73,822</a:t>
            </a:r>
            <a:endParaRPr/>
          </a:p>
        </p:txBody>
      </p:sp>
      <p:sp>
        <p:nvSpPr>
          <p:cNvPr id="3935" name="Google Shape;3935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$20,578</a:t>
            </a:r>
            <a:endParaRPr/>
          </a:p>
        </p:txBody>
      </p:sp>
      <p:sp>
        <p:nvSpPr>
          <p:cNvPr id="3937" name="Google Shape;3937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8" name="Google Shape;3938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9" name="Google Shape;3939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$331,195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$330,680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$514</a:t>
            </a:r>
            <a:endParaRPr/>
          </a:p>
        </p:txBody>
      </p:sp>
      <p:sp>
        <p:nvSpPr>
          <p:cNvPr id="3944" name="Google Shape;3944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5" name="Google Shape;3945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6" name="Google Shape;3946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47" name="Google Shape;3947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$35,457</a:t>
            </a:r>
            <a:endParaRPr/>
          </a:p>
        </p:txBody>
      </p:sp>
      <p:sp>
        <p:nvSpPr>
          <p:cNvPr id="3948" name="Google Shape;3948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$35,487</a:t>
            </a:r>
            <a:endParaRPr/>
          </a:p>
        </p:txBody>
      </p:sp>
      <p:sp>
        <p:nvSpPr>
          <p:cNvPr id="3949" name="Google Shape;3949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0" name="Google Shape;3950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</a:t>
            </a:r>
            <a:endParaRPr/>
          </a:p>
        </p:txBody>
      </p:sp>
      <p:sp>
        <p:nvSpPr>
          <p:cNvPr id="3951" name="Google Shape;3951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2" name="Google Shape;3952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3" name="Google Shape;3953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54" name="Google Shape;3954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$503,955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$135,406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$347,151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$21,398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9" name="Google Shape;3959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0" name="Google Shape;3960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61" name="Google Shape;3961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963" name="Google Shape;3963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964" name="Google Shape;3964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67" name="Google Shape;3967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8" name="Google Shape;3968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69" name="Google Shape;3969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70" name="Google Shape;3970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3974" name="Google Shape;3974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5" name="Google Shape;3975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76" name="Google Shape;3976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977" name="Google Shape;3977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3981" name="Google Shape;3981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2" name="Google Shape;3982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83" name="Google Shape;3983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84" name="Google Shape;3984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85" name="Google Shape;3985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986" name="Google Shape;3986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87" name="Google Shape;3987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988" name="Google Shape;3988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9" name="Google Shape;3989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90" name="Google Shape;3990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91" name="Google Shape;3991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92" name="Google Shape;3992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993" name="Google Shape;3993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94" name="Google Shape;3994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3995" name="Google Shape;3995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6" name="Google Shape;3996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97" name="Google Shape;3997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998" name="Google Shape;3998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9" name="Google Shape;3999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000" name="Google Shape;4000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01" name="Google Shape;4001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4002" name="Google Shape;4002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3" name="Google Shape;4003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04" name="Google Shape;4004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005" name="Google Shape;4005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06" name="Google Shape;4006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007" name="Google Shape;4007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08" name="Google Shape;4008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11.4%</a:t>
            </a:r>
            <a:endParaRPr/>
          </a:p>
        </p:txBody>
      </p:sp>
      <p:sp>
        <p:nvSpPr>
          <p:cNvPr id="4009" name="Google Shape;4009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0" name="Google Shape;4010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11" name="Google Shape;4011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12" name="Google Shape;4012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13" name="Google Shape;4013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14" name="Google Shape;4014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15" name="Google Shape;4015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16" name="Google Shape;4016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17" name="Google Shape;4017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18" name="Google Shape;4018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19" name="Google Shape;4019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20" name="Google Shape;4020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21" name="Google Shape;4021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22" name="Google Shape;4022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23" name="Google Shape;4023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24" name="Google Shape;4024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25" name="Google Shape;4025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26" name="Google Shape;4026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27" name="Google Shape;4027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28" name="Google Shape;4028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29" name="Google Shape;4029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30" name="Google Shape;4030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31" name="Google Shape;4031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32" name="Google Shape;4032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033" name="Google Shape;4033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34" name="Google Shape;4034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035" name="Google Shape;4035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036" name="Google Shape;4036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037" name="Google Shape;4037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38" name="Google Shape;4038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$637</a:t>
            </a:r>
            <a:endParaRPr/>
          </a:p>
        </p:txBody>
      </p:sp>
      <p:sp>
        <p:nvSpPr>
          <p:cNvPr id="4039" name="Google Shape;4039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040" name="Google Shape;4040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4041" name="Google Shape;4041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042" name="Google Shape;4042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043" name="Google Shape;4043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4044" name="Google Shape;4044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$237K</a:t>
            </a:r>
            <a:endParaRPr/>
          </a:p>
        </p:txBody>
      </p:sp>
      <p:sp>
        <p:nvSpPr>
          <p:cNvPr id="4045" name="Google Shape;4045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$331K</a:t>
            </a:r>
            <a:endParaRPr/>
          </a:p>
        </p:txBody>
      </p:sp>
      <p:sp>
        <p:nvSpPr>
          <p:cNvPr id="4046" name="Google Shape;4046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047" name="Google Shape;4047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4048" name="Google Shape;4048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$336K</a:t>
            </a:r>
            <a:endParaRPr/>
          </a:p>
        </p:txBody>
      </p:sp>
      <p:sp>
        <p:nvSpPr>
          <p:cNvPr id="4049" name="Google Shape;4049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$504K</a:t>
            </a:r>
            <a:endParaRPr/>
          </a:p>
        </p:txBody>
      </p:sp>
      <p:sp>
        <p:nvSpPr>
          <p:cNvPr id="4050" name="Google Shape;4050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1" name="Google Shape;4051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52" name="Google Shape;4052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53" name="Google Shape;4053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$503,955 YTD gross written premium</a:t>
            </a:r>
            <a:endParaRPr/>
          </a:p>
        </p:txBody>
      </p:sp>
      <p:sp>
        <p:nvSpPr>
          <p:cNvPr id="4054" name="Google Shape;4054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55" name="Google Shape;4055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$135,406 in new business production</a:t>
            </a:r>
            <a:endParaRPr/>
          </a:p>
        </p:txBody>
      </p:sp>
      <p:sp>
        <p:nvSpPr>
          <p:cNvPr id="4056" name="Google Shape;4056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7" name="Google Shape;4057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058" name="Google Shape;4058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59" name="Google Shape;4059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89% month-over-month</a:t>
            </a:r>
            <a:endParaRPr/>
          </a:p>
        </p:txBody>
      </p:sp>
      <p:sp>
        <p:nvSpPr>
          <p:cNvPr id="4060" name="Google Shape;4060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1" name="Google Shape;4061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062" name="Google Shape;4062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063" name="Google Shape;4063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$135,406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064" name="Google Shape;4064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065" name="Google Shape;4065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$347,151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69" name="Shape 4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0" name="Google Shape;4070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1" name="Google Shape;4071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Glendale</a:t>
            </a:r>
            <a:endParaRPr/>
          </a:p>
        </p:txBody>
      </p:sp>
      <p:sp>
        <p:nvSpPr>
          <p:cNvPr id="4073" name="Google Shape;4073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$479,756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074" name="Google Shape;4074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75" name="Google Shape;4075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76" name="Google Shape;4076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$89,192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77" name="Google Shape;4077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$-108,371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78" name="Google Shape;4078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$345,901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079" name="Google Shape;4079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$805,489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080" name="Google Shape;4080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081" name="Google Shape;4081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82" name="Google Shape;4082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83" name="Google Shape;4083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84" name="Google Shape;4084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085" name="Google Shape;4085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$213,687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086" name="Google Shape;4086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7" name="Google Shape;4087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088" name="Google Shape;4088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92" name="Google Shape;4092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93" name="Google Shape;4093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94" name="Google Shape;4094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5" name="Google Shape;4095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$78,474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$19,370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$57,631</a:t>
            </a:r>
            <a:endParaRPr/>
          </a:p>
        </p:txBody>
      </p:sp>
      <p:sp>
        <p:nvSpPr>
          <p:cNvPr id="4099" name="Google Shape;4099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$1,473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$-18,310</a:t>
            </a:r>
            <a:endParaRPr/>
          </a:p>
        </p:txBody>
      </p:sp>
      <p:sp>
        <p:nvSpPr>
          <p:cNvPr id="4101" name="Google Shape;4101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2" name="Google Shape;4102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$43,258</a:t>
            </a:r>
            <a:endParaRPr/>
          </a:p>
        </p:txBody>
      </p:sp>
      <p:sp>
        <p:nvSpPr>
          <p:cNvPr id="4104" name="Google Shape;4104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$20,495</a:t>
            </a:r>
            <a:endParaRPr/>
          </a:p>
        </p:txBody>
      </p:sp>
      <p:sp>
        <p:nvSpPr>
          <p:cNvPr id="4105" name="Google Shape;4105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6" name="Google Shape;4106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$22,763</a:t>
            </a:r>
            <a:endParaRPr/>
          </a:p>
        </p:txBody>
      </p:sp>
      <p:sp>
        <p:nvSpPr>
          <p:cNvPr id="4107" name="Google Shape;4107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$-33,408</a:t>
            </a:r>
            <a:endParaRPr/>
          </a:p>
        </p:txBody>
      </p:sp>
      <p:sp>
        <p:nvSpPr>
          <p:cNvPr id="4108" name="Google Shape;4108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9" name="Google Shape;4109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$127,755</a:t>
            </a:r>
            <a:endParaRPr/>
          </a:p>
        </p:txBody>
      </p:sp>
      <p:sp>
        <p:nvSpPr>
          <p:cNvPr id="4111" name="Google Shape;4111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$102,693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$19,083</a:t>
            </a:r>
            <a:endParaRPr/>
          </a:p>
        </p:txBody>
      </p:sp>
      <p:sp>
        <p:nvSpPr>
          <p:cNvPr id="4113" name="Google Shape;4113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$5,979</a:t>
            </a:r>
            <a:endParaRPr/>
          </a:p>
        </p:txBody>
      </p:sp>
      <p:sp>
        <p:nvSpPr>
          <p:cNvPr id="4114" name="Google Shape;4114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$-5,979</a:t>
            </a:r>
            <a:endParaRPr/>
          </a:p>
        </p:txBody>
      </p:sp>
      <p:sp>
        <p:nvSpPr>
          <p:cNvPr id="4115" name="Google Shape;4115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6" name="Google Shape;4116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$166,671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$57,443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$56,536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$52,693</a:t>
            </a:r>
            <a:endParaRPr/>
          </a:p>
        </p:txBody>
      </p:sp>
      <p:sp>
        <p:nvSpPr>
          <p:cNvPr id="4121" name="Google Shape;4121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$-34,389</a:t>
            </a:r>
            <a:endParaRPr/>
          </a:p>
        </p:txBody>
      </p:sp>
      <p:sp>
        <p:nvSpPr>
          <p:cNvPr id="4122" name="Google Shape;4122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3" name="Google Shape;4123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$63,599</a:t>
            </a:r>
            <a:endParaRPr/>
          </a:p>
        </p:txBody>
      </p:sp>
      <p:sp>
        <p:nvSpPr>
          <p:cNvPr id="4125" name="Google Shape;4125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$20,652</a:t>
            </a:r>
            <a:endParaRPr/>
          </a:p>
        </p:txBody>
      </p:sp>
      <p:sp>
        <p:nvSpPr>
          <p:cNvPr id="4126" name="Google Shape;4126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$36,662</a:t>
            </a:r>
            <a:endParaRPr/>
          </a:p>
        </p:txBody>
      </p:sp>
      <p:sp>
        <p:nvSpPr>
          <p:cNvPr id="4127" name="Google Shape;4127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$6,284</a:t>
            </a:r>
            <a:endParaRPr/>
          </a:p>
        </p:txBody>
      </p:sp>
      <p:sp>
        <p:nvSpPr>
          <p:cNvPr id="4128" name="Google Shape;4128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$-16,284</a:t>
            </a:r>
            <a:endParaRPr/>
          </a:p>
        </p:txBody>
      </p:sp>
      <p:sp>
        <p:nvSpPr>
          <p:cNvPr id="4129" name="Google Shape;4129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0" name="Google Shape;4130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$479,756</a:t>
            </a:r>
            <a:endParaRPr/>
          </a:p>
        </p:txBody>
      </p:sp>
      <p:sp>
        <p:nvSpPr>
          <p:cNvPr id="4132" name="Google Shape;4132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$220,653</a:t>
            </a:r>
            <a:endParaRPr/>
          </a:p>
        </p:txBody>
      </p:sp>
      <p:sp>
        <p:nvSpPr>
          <p:cNvPr id="4133" name="Google Shape;4133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$169,911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$89,192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$-108,371</a:t>
            </a:r>
            <a:endParaRPr/>
          </a:p>
        </p:txBody>
      </p:sp>
      <p:sp>
        <p:nvSpPr>
          <p:cNvPr id="4136" name="Google Shape;4136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7" name="Google Shape;4137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39" name="Google Shape;4139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40" name="Google Shape;4140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41" name="Google Shape;4141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42" name="Google Shape;4142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43" name="Google Shape;4143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44" name="Google Shape;4144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5" name="Google Shape;4145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46" name="Google Shape;4146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147" name="Google Shape;4147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48" name="Google Shape;4148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149" name="Google Shape;4149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4151" name="Google Shape;4151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2" name="Google Shape;4152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53" name="Google Shape;4153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154" name="Google Shape;4154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55" name="Google Shape;4155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4158" name="Google Shape;4158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9" name="Google Shape;4159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60" name="Google Shape;4160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161" name="Google Shape;4161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62" name="Google Shape;4162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163" name="Google Shape;4163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64" name="Google Shape;4164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4165" name="Google Shape;4165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6" name="Google Shape;4166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67" name="Google Shape;4167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4168" name="Google Shape;4168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169" name="Google Shape;4169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170" name="Google Shape;4170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171" name="Google Shape;4171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172" name="Google Shape;4172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3" name="Google Shape;4173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74" name="Google Shape;4174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175" name="Google Shape;4175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76" name="Google Shape;4176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177" name="Google Shape;4177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78" name="Google Shape;4178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</a:t>
            </a:r>
            <a:endParaRPr/>
          </a:p>
        </p:txBody>
      </p:sp>
      <p:sp>
        <p:nvSpPr>
          <p:cNvPr id="4179" name="Google Shape;4179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0" name="Google Shape;4180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81" name="Google Shape;4181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4182" name="Google Shape;4182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183" name="Google Shape;4183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4184" name="Google Shape;4184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185" name="Google Shape;4185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4186" name="Google Shape;4186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7" name="Google Shape;4187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188" name="Google Shape;4188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89" name="Google Shape;4189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190" name="Google Shape;4190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191" name="Google Shape;4191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92" name="Google Shape;4192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93" name="Google Shape;4193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94" name="Google Shape;4194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95" name="Google Shape;4195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96" name="Google Shape;4196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97" name="Google Shape;4197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98" name="Google Shape;4198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99" name="Google Shape;4199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00" name="Google Shape;4200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01" name="Google Shape;4201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02" name="Google Shape;4202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203" name="Google Shape;4203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204" name="Google Shape;4204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205" name="Google Shape;4205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206" name="Google Shape;4206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207" name="Google Shape;4207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208" name="Google Shape;4208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4209" name="Google Shape;4209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4210" name="Google Shape;4210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211" name="Google Shape;4211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212" name="Google Shape;4212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275</a:t>
            </a:r>
            <a:endParaRPr/>
          </a:p>
        </p:txBody>
      </p:sp>
      <p:sp>
        <p:nvSpPr>
          <p:cNvPr id="4213" name="Google Shape;4213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4214" name="Google Shape;4214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15" name="Google Shape;4215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216" name="Google Shape;4216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4217" name="Google Shape;4217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8" name="Google Shape;4218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4219" name="Google Shape;4219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0" name="Google Shape;4220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$128K</a:t>
            </a:r>
            <a:endParaRPr/>
          </a:p>
        </p:txBody>
      </p:sp>
      <p:sp>
        <p:nvSpPr>
          <p:cNvPr id="4221" name="Google Shape;4221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2" name="Google Shape;4222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4223" name="Google Shape;4223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4224" name="Google Shape;4224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4225" name="Google Shape;4225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226" name="Google Shape;4226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$480K</a:t>
            </a:r>
            <a:endParaRPr/>
          </a:p>
        </p:txBody>
      </p:sp>
      <p:sp>
        <p:nvSpPr>
          <p:cNvPr id="4227" name="Google Shape;4227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8" name="Google Shape;4228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29" name="Google Shape;4229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30" name="Google Shape;4230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$479,756 YTD gross written premium</a:t>
            </a:r>
            <a:endParaRPr/>
          </a:p>
        </p:txBody>
      </p:sp>
      <p:sp>
        <p:nvSpPr>
          <p:cNvPr id="4231" name="Google Shape;4231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32" name="Google Shape;4232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$220,653 in new business production</a:t>
            </a:r>
            <a:endParaRPr/>
          </a:p>
        </p:txBody>
      </p:sp>
      <p:sp>
        <p:nvSpPr>
          <p:cNvPr id="4233" name="Google Shape;4233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4" name="Google Shape;4234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35" name="Google Shape;4235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36" name="Google Shape;4236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49% of new business ($108,371)</a:t>
            </a:r>
            <a:endParaRPr/>
          </a:p>
        </p:txBody>
      </p:sp>
      <p:sp>
        <p:nvSpPr>
          <p:cNvPr id="4237" name="Google Shape;4237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38" name="Google Shape;4238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62% month-over-month</a:t>
            </a:r>
            <a:endParaRPr/>
          </a:p>
        </p:txBody>
      </p:sp>
      <p:sp>
        <p:nvSpPr>
          <p:cNvPr id="4239" name="Google Shape;4239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0" name="Google Shape;4240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41" name="Google Shape;4241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42" name="Google Shape;4242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$220,653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243" name="Google Shape;4243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244" name="Google Shape;4244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$108,371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8" name="Shape 4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9" name="Google Shape;4249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0" name="Google Shape;4250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Brokers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Corona</a:t>
            </a:r>
            <a:endParaRPr/>
          </a:p>
        </p:txBody>
      </p:sp>
      <p:sp>
        <p:nvSpPr>
          <p:cNvPr id="4252" name="Google Shape;4252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$441,569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53" name="Google Shape;4253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54" name="Google Shape;4254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$160,155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55" name="Google Shape;4255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$132,774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56" name="Google Shape;4256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$-121,673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57" name="Google Shape;4257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$2,372,091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58" name="Google Shape;4258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$1,028,738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259" name="Google Shape;4259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260" name="Google Shape;4260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61" name="Google Shape;4261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62" name="Google Shape;4262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63" name="Google Shape;4263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$59,611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264" name="Google Shape;4264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$443,515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265" name="Google Shape;4265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6" name="Google Shape;4266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73" name="Google Shape;4273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4" name="Google Shape;4274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$122,134</a:t>
            </a:r>
            <a:endParaRPr/>
          </a:p>
        </p:txBody>
      </p:sp>
      <p:sp>
        <p:nvSpPr>
          <p:cNvPr id="4276" name="Google Shape;4276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$18,082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$63,144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$40,908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$-27,298</a:t>
            </a:r>
            <a:endParaRPr/>
          </a:p>
        </p:txBody>
      </p:sp>
      <p:sp>
        <p:nvSpPr>
          <p:cNvPr id="4280" name="Google Shape;4280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1" name="Google Shape;4281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$55,693</a:t>
            </a:r>
            <a:endParaRPr/>
          </a:p>
        </p:txBody>
      </p:sp>
      <p:sp>
        <p:nvSpPr>
          <p:cNvPr id="4283" name="Google Shape;4283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$15,480</a:t>
            </a:r>
            <a:endParaRPr/>
          </a:p>
        </p:txBody>
      </p:sp>
      <p:sp>
        <p:nvSpPr>
          <p:cNvPr id="4284" name="Google Shape;4284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$42,863</a:t>
            </a:r>
            <a:endParaRPr/>
          </a:p>
        </p:txBody>
      </p:sp>
      <p:sp>
        <p:nvSpPr>
          <p:cNvPr id="4285" name="Google Shape;4285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$-2,651</a:t>
            </a:r>
            <a:endParaRPr/>
          </a:p>
        </p:txBody>
      </p:sp>
      <p:sp>
        <p:nvSpPr>
          <p:cNvPr id="4286" name="Google Shape;4286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7" name="Google Shape;4287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8" name="Google Shape;4288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$121,320</a:t>
            </a:r>
            <a:endParaRPr/>
          </a:p>
        </p:txBody>
      </p:sp>
      <p:sp>
        <p:nvSpPr>
          <p:cNvPr id="4290" name="Google Shape;4290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$38,541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$54,148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$28,630</a:t>
            </a:r>
            <a:endParaRPr/>
          </a:p>
        </p:txBody>
      </p:sp>
      <p:sp>
        <p:nvSpPr>
          <p:cNvPr id="4293" name="Google Shape;4293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$-20,427</a:t>
            </a:r>
            <a:endParaRPr/>
          </a:p>
        </p:txBody>
      </p:sp>
      <p:sp>
        <p:nvSpPr>
          <p:cNvPr id="4294" name="Google Shape;4294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5" name="Google Shape;4295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$97,253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$59,708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$37,545</a:t>
            </a:r>
            <a:endParaRPr/>
          </a:p>
        </p:txBody>
      </p:sp>
      <p:sp>
        <p:nvSpPr>
          <p:cNvPr id="4300" name="Google Shape;4300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$-73,947</a:t>
            </a:r>
            <a:endParaRPr/>
          </a:p>
        </p:txBody>
      </p:sp>
      <p:sp>
        <p:nvSpPr>
          <p:cNvPr id="4301" name="Google Shape;4301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2" name="Google Shape;4302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$45,169</a:t>
            </a:r>
            <a:endParaRPr/>
          </a:p>
        </p:txBody>
      </p:sp>
      <p:sp>
        <p:nvSpPr>
          <p:cNvPr id="4304" name="Google Shape;4304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$16,828</a:t>
            </a:r>
            <a:endParaRPr/>
          </a:p>
        </p:txBody>
      </p:sp>
      <p:sp>
        <p:nvSpPr>
          <p:cNvPr id="4305" name="Google Shape;4305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6" name="Google Shape;4306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$28,341</a:t>
            </a:r>
            <a:endParaRPr/>
          </a:p>
        </p:txBody>
      </p:sp>
      <p:sp>
        <p:nvSpPr>
          <p:cNvPr id="4307" name="Google Shape;4307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8" name="Google Shape;4308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9" name="Google Shape;4309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$441,569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$148,640</a:t>
            </a:r>
            <a:endParaRPr/>
          </a:p>
        </p:txBody>
      </p:sp>
      <p:sp>
        <p:nvSpPr>
          <p:cNvPr id="4312" name="Google Shape;4312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$160,155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$132,774</a:t>
            </a:r>
            <a:endParaRPr/>
          </a:p>
        </p:txBody>
      </p:sp>
      <p:sp>
        <p:nvSpPr>
          <p:cNvPr id="4314" name="Google Shape;4314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$-121,673</a:t>
            </a:r>
            <a:endParaRPr/>
          </a:p>
        </p:txBody>
      </p:sp>
      <p:sp>
        <p:nvSpPr>
          <p:cNvPr id="4315" name="Google Shape;4315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6" name="Google Shape;4316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18" name="Google Shape;4318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19" name="Google Shape;4319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20" name="Google Shape;4320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21" name="Google Shape;4321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22" name="Google Shape;4322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23" name="Google Shape;4323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4" name="Google Shape;4324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25" name="Google Shape;4325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326" name="Google Shape;4326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27" name="Google Shape;4327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328" name="Google Shape;4328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29" name="Google Shape;4329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14.0%</a:t>
            </a:r>
            <a:endParaRPr/>
          </a:p>
        </p:txBody>
      </p:sp>
      <p:sp>
        <p:nvSpPr>
          <p:cNvPr id="4330" name="Google Shape;4330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1" name="Google Shape;4331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32" name="Google Shape;4332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333" name="Google Shape;4333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34" name="Google Shape;4334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335" name="Google Shape;4335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36" name="Google Shape;4336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17.2%</a:t>
            </a:r>
            <a:endParaRPr/>
          </a:p>
        </p:txBody>
      </p:sp>
      <p:sp>
        <p:nvSpPr>
          <p:cNvPr id="4337" name="Google Shape;4337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8" name="Google Shape;4338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39" name="Google Shape;4339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340" name="Google Shape;4340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41" name="Google Shape;4341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342" name="Google Shape;4342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343" name="Google Shape;4343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25.6%</a:t>
            </a:r>
            <a:endParaRPr/>
          </a:p>
        </p:txBody>
      </p:sp>
      <p:sp>
        <p:nvSpPr>
          <p:cNvPr id="4344" name="Google Shape;4344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5" name="Google Shape;4345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46" name="Google Shape;4346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4347" name="Google Shape;4347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348" name="Google Shape;4348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4349" name="Google Shape;4349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50" name="Google Shape;4350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</a:t>
            </a:r>
            <a:endParaRPr/>
          </a:p>
        </p:txBody>
      </p:sp>
      <p:sp>
        <p:nvSpPr>
          <p:cNvPr id="4351" name="Google Shape;4351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2" name="Google Shape;4352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53" name="Google Shape;4353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354" name="Google Shape;4354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55" name="Google Shape;4355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356" name="Google Shape;4356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57" name="Google Shape;4357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4358" name="Google Shape;4358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9" name="Google Shape;4359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60" name="Google Shape;4360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</p:txBody>
      </p:sp>
      <p:sp>
        <p:nvSpPr>
          <p:cNvPr id="4361" name="Google Shape;4361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362" name="Google Shape;4362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4363" name="Google Shape;4363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364" name="Google Shape;4364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4365" name="Google Shape;4365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6" name="Google Shape;4366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367" name="Google Shape;4367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68" name="Google Shape;4368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369" name="Google Shape;4369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370" name="Google Shape;4370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371" name="Google Shape;4371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372" name="Google Shape;4372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373" name="Google Shape;4373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374" name="Google Shape;4374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375" name="Google Shape;4375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376" name="Google Shape;4376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377" name="Google Shape;4377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378" name="Google Shape;4378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379" name="Google Shape;4379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380" name="Google Shape;4380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81" name="Google Shape;4381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4382" name="Google Shape;4382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383" name="Google Shape;4383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4384" name="Google Shape;4384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385" name="Google Shape;4385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4386" name="Google Shape;4386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387" name="Google Shape;4387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4388" name="Google Shape;4388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4389" name="Google Shape;4389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4390" name="Google Shape;4390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391" name="Google Shape;4391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541</a:t>
            </a:r>
            <a:endParaRPr/>
          </a:p>
        </p:txBody>
      </p:sp>
      <p:sp>
        <p:nvSpPr>
          <p:cNvPr id="4392" name="Google Shape;4392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243</a:t>
            </a:r>
            <a:endParaRPr/>
          </a:p>
        </p:txBody>
      </p:sp>
      <p:sp>
        <p:nvSpPr>
          <p:cNvPr id="4393" name="Google Shape;4393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94" name="Google Shape;4394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$396K</a:t>
            </a:r>
            <a:endParaRPr/>
          </a:p>
        </p:txBody>
      </p:sp>
      <p:sp>
        <p:nvSpPr>
          <p:cNvPr id="4395" name="Google Shape;4395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$122K</a:t>
            </a:r>
            <a:endParaRPr/>
          </a:p>
        </p:txBody>
      </p:sp>
      <p:sp>
        <p:nvSpPr>
          <p:cNvPr id="4396" name="Google Shape;4396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$506K</a:t>
            </a:r>
            <a:endParaRPr/>
          </a:p>
        </p:txBody>
      </p:sp>
      <p:sp>
        <p:nvSpPr>
          <p:cNvPr id="4397" name="Google Shape;4397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4398" name="Google Shape;4398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$552K</a:t>
            </a:r>
            <a:endParaRPr/>
          </a:p>
        </p:txBody>
      </p:sp>
      <p:sp>
        <p:nvSpPr>
          <p:cNvPr id="4399" name="Google Shape;4399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4400" name="Google Shape;4400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$217K</a:t>
            </a:r>
            <a:endParaRPr/>
          </a:p>
        </p:txBody>
      </p:sp>
      <p:sp>
        <p:nvSpPr>
          <p:cNvPr id="4401" name="Google Shape;4401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$97K</a:t>
            </a:r>
            <a:endParaRPr/>
          </a:p>
        </p:txBody>
      </p:sp>
      <p:sp>
        <p:nvSpPr>
          <p:cNvPr id="4402" name="Google Shape;4402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4403" name="Google Shape;4403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4404" name="Google Shape;4404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4405" name="Google Shape;4405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$442K</a:t>
            </a:r>
            <a:endParaRPr/>
          </a:p>
        </p:txBody>
      </p:sp>
      <p:sp>
        <p:nvSpPr>
          <p:cNvPr id="4406" name="Google Shape;4406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7" name="Google Shape;4407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08" name="Google Shape;4408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09" name="Google Shape;4409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$441,569 YTD gross written premium</a:t>
            </a:r>
            <a:endParaRPr/>
          </a:p>
        </p:txBody>
      </p:sp>
      <p:sp>
        <p:nvSpPr>
          <p:cNvPr id="4410" name="Google Shape;4410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11" name="Google Shape;4411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$148,640 in new business production</a:t>
            </a:r>
            <a:endParaRPr/>
          </a:p>
        </p:txBody>
      </p:sp>
      <p:sp>
        <p:nvSpPr>
          <p:cNvPr id="4412" name="Google Shape;4412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3" name="Google Shape;4413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14" name="Google Shape;4414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15" name="Google Shape;4415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82% of new business ($121,673)</a:t>
            </a:r>
            <a:endParaRPr/>
          </a:p>
        </p:txBody>
      </p:sp>
      <p:sp>
        <p:nvSpPr>
          <p:cNvPr id="4416" name="Google Shape;4416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17" name="Google Shape;4417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54% month-over-month</a:t>
            </a:r>
            <a:endParaRPr/>
          </a:p>
        </p:txBody>
      </p:sp>
      <p:sp>
        <p:nvSpPr>
          <p:cNvPr id="4418" name="Google Shape;4418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9" name="Google Shape;4419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20" name="Google Shape;4420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21" name="Google Shape;4421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$148,640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422" name="Google Shape;4422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23" name="Google Shape;4423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$121,673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27" name="Shape 4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8" name="Google Shape;4428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9" name="Google Shape;4429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Elizabeth'S Insurance Services, Inc.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Moreno Valley</a:t>
            </a:r>
            <a:endParaRPr/>
          </a:p>
        </p:txBody>
      </p:sp>
      <p:sp>
        <p:nvSpPr>
          <p:cNvPr id="4431" name="Google Shape;4431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$415,496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32" name="Google Shape;4432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$290,352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33" name="Google Shape;4433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34" name="Google Shape;4434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$125,144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35" name="Google Shape;4435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$-262,232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36" name="Google Shape;4436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$319,292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37" name="Google Shape;4437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$734,789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38" name="Google Shape;4438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39" name="Google Shape;4439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40" name="Google Shape;4440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41" name="Google Shape;4441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42" name="Google Shape;4442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$83,803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43" name="Google Shape;4443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$97,010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44" name="Google Shape;4444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5" name="Google Shape;4445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52" name="Google Shape;4452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3" name="Google Shape;4453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$158,059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$160,406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$-2,347</a:t>
            </a:r>
            <a:endParaRPr/>
          </a:p>
        </p:txBody>
      </p:sp>
      <p:sp>
        <p:nvSpPr>
          <p:cNvPr id="4458" name="Google Shape;4458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$-1,249</a:t>
            </a:r>
            <a:endParaRPr/>
          </a:p>
        </p:txBody>
      </p:sp>
      <p:sp>
        <p:nvSpPr>
          <p:cNvPr id="4459" name="Google Shape;4459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0" name="Google Shape;4460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$114,529</a:t>
            </a:r>
            <a:endParaRPr/>
          </a:p>
        </p:txBody>
      </p:sp>
      <p:sp>
        <p:nvSpPr>
          <p:cNvPr id="4462" name="Google Shape;4462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$93,063</a:t>
            </a:r>
            <a:endParaRPr/>
          </a:p>
        </p:txBody>
      </p:sp>
      <p:sp>
        <p:nvSpPr>
          <p:cNvPr id="4463" name="Google Shape;4463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$21,466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$-95,007</a:t>
            </a:r>
            <a:endParaRPr/>
          </a:p>
        </p:txBody>
      </p:sp>
      <p:sp>
        <p:nvSpPr>
          <p:cNvPr id="4466" name="Google Shape;4466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7" name="Google Shape;4467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$86,985</a:t>
            </a:r>
            <a:endParaRPr/>
          </a:p>
        </p:txBody>
      </p:sp>
      <p:sp>
        <p:nvSpPr>
          <p:cNvPr id="4469" name="Google Shape;4469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0" name="Google Shape;4470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$86,985</a:t>
            </a:r>
            <a:endParaRPr/>
          </a:p>
        </p:txBody>
      </p:sp>
      <p:sp>
        <p:nvSpPr>
          <p:cNvPr id="4472" name="Google Shape;4472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$-86,985</a:t>
            </a:r>
            <a:endParaRPr/>
          </a:p>
        </p:txBody>
      </p:sp>
      <p:sp>
        <p:nvSpPr>
          <p:cNvPr id="4473" name="Google Shape;4473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4" name="Google Shape;4474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$56,283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$36,884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8" name="Google Shape;4478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$19,399</a:t>
            </a:r>
            <a:endParaRPr/>
          </a:p>
        </p:txBody>
      </p:sp>
      <p:sp>
        <p:nvSpPr>
          <p:cNvPr id="4479" name="Google Shape;4479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$-60,999</a:t>
            </a:r>
            <a:endParaRPr/>
          </a:p>
        </p:txBody>
      </p:sp>
      <p:sp>
        <p:nvSpPr>
          <p:cNvPr id="4480" name="Google Shape;4480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1" name="Google Shape;4481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$-359</a:t>
            </a:r>
            <a:endParaRPr/>
          </a:p>
        </p:txBody>
      </p:sp>
      <p:sp>
        <p:nvSpPr>
          <p:cNvPr id="4483" name="Google Shape;4483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4" name="Google Shape;4484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5" name="Google Shape;4485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$-359</a:t>
            </a:r>
            <a:endParaRPr/>
          </a:p>
        </p:txBody>
      </p:sp>
      <p:sp>
        <p:nvSpPr>
          <p:cNvPr id="4486" name="Google Shape;4486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$-17,992</a:t>
            </a:r>
            <a:endParaRPr/>
          </a:p>
        </p:txBody>
      </p:sp>
      <p:sp>
        <p:nvSpPr>
          <p:cNvPr id="4487" name="Google Shape;4487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8" name="Google Shape;4488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$415,496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$290,352</a:t>
            </a:r>
            <a:endParaRPr/>
          </a:p>
        </p:txBody>
      </p:sp>
      <p:sp>
        <p:nvSpPr>
          <p:cNvPr id="4491" name="Google Shape;4491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2" name="Google Shape;4492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$125,144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$-262,232</a:t>
            </a:r>
            <a:endParaRPr/>
          </a:p>
        </p:txBody>
      </p:sp>
      <p:sp>
        <p:nvSpPr>
          <p:cNvPr id="4494" name="Google Shape;4494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5" name="Google Shape;4495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97" name="Google Shape;4497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498" name="Google Shape;4498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499" name="Google Shape;4499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00" name="Google Shape;4500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02" name="Google Shape;4502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3" name="Google Shape;4503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04" name="Google Shape;4504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505" name="Google Shape;4505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06" name="Google Shape;4506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507" name="Google Shape;4507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08" name="Google Shape;4508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509" name="Google Shape;4509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0" name="Google Shape;4510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11" name="Google Shape;4511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512" name="Google Shape;4512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3" name="Google Shape;4513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15.8%</a:t>
            </a:r>
            <a:endParaRPr/>
          </a:p>
        </p:txBody>
      </p:sp>
      <p:sp>
        <p:nvSpPr>
          <p:cNvPr id="4516" name="Google Shape;4516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7" name="Google Shape;4517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18" name="Google Shape;4518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519" name="Google Shape;4519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20" name="Google Shape;4520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521" name="Google Shape;4521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22" name="Google Shape;4522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4523" name="Google Shape;4523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4" name="Google Shape;4524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25" name="Google Shape;4525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526" name="Google Shape;4526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27" name="Google Shape;4527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528" name="Google Shape;4528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29" name="Google Shape;4529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4530" name="Google Shape;4530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1" name="Google Shape;4531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32" name="Google Shape;4532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533" name="Google Shape;4533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34" name="Google Shape;4534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535" name="Google Shape;4535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36" name="Google Shape;4536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4537" name="Google Shape;4537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8" name="Google Shape;4538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39" name="Google Shape;4539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4540" name="Google Shape;4540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541" name="Google Shape;4541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4542" name="Google Shape;4542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43" name="Google Shape;4543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4544" name="Google Shape;4544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5" name="Google Shape;4545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546" name="Google Shape;4546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47" name="Google Shape;4547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548" name="Google Shape;4548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549" name="Google Shape;4549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550" name="Google Shape;4550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551" name="Google Shape;4551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552" name="Google Shape;4552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553" name="Google Shape;4553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554" name="Google Shape;4554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555" name="Google Shape;4555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556" name="Google Shape;4556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557" name="Google Shape;4557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558" name="Google Shape;4558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559" name="Google Shape;4559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60" name="Google Shape;4560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1" name="Google Shape;4561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562" name="Google Shape;4562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3" name="Google Shape;4563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564" name="Google Shape;4564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5" name="Google Shape;4565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566" name="Google Shape;4566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7" name="Google Shape;4567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568" name="Google Shape;4568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69" name="Google Shape;4569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570" name="Google Shape;4570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71" name="Google Shape;4571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4572" name="Google Shape;4572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573" name="Google Shape;4573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4" name="Google Shape;4574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4575" name="Google Shape;4575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6" name="Google Shape;4576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$115K</a:t>
            </a:r>
            <a:endParaRPr/>
          </a:p>
        </p:txBody>
      </p:sp>
      <p:sp>
        <p:nvSpPr>
          <p:cNvPr id="4577" name="Google Shape;4577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8" name="Google Shape;4578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4579" name="Google Shape;4579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0" name="Google Shape;4580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4581" name="Google Shape;4581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2" name="Google Shape;4582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$-359</a:t>
            </a:r>
            <a:endParaRPr/>
          </a:p>
        </p:txBody>
      </p:sp>
      <p:sp>
        <p:nvSpPr>
          <p:cNvPr id="4583" name="Google Shape;4583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4" name="Google Shape;4584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$415K</a:t>
            </a:r>
            <a:endParaRPr/>
          </a:p>
        </p:txBody>
      </p:sp>
      <p:sp>
        <p:nvSpPr>
          <p:cNvPr id="4585" name="Google Shape;4585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6" name="Google Shape;4586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587" name="Google Shape;4587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88" name="Google Shape;4588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$415,496 YTD gross written premium</a:t>
            </a:r>
            <a:endParaRPr/>
          </a:p>
        </p:txBody>
      </p:sp>
      <p:sp>
        <p:nvSpPr>
          <p:cNvPr id="4589" name="Google Shape;4589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90" name="Google Shape;4590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$290,352 in new business production</a:t>
            </a:r>
            <a:endParaRPr/>
          </a:p>
        </p:txBody>
      </p:sp>
      <p:sp>
        <p:nvSpPr>
          <p:cNvPr id="4591" name="Google Shape;4591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2" name="Google Shape;4592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593" name="Google Shape;4593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94" name="Google Shape;4594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90% of new business ($262,232)</a:t>
            </a:r>
            <a:endParaRPr/>
          </a:p>
        </p:txBody>
      </p:sp>
      <p:sp>
        <p:nvSpPr>
          <p:cNvPr id="4595" name="Google Shape;4595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96" name="Google Shape;4596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4597" name="Google Shape;4597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8" name="Google Shape;4598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599" name="Google Shape;4599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00" name="Google Shape;4600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$290,352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601" name="Google Shape;4601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02" name="Google Shape;4602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$262,232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06" name="Shape 4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7" name="Google Shape;4607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8" name="Google Shape;4608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Paramount Exclusive Insurance Services, Inc.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Encino</a:t>
            </a:r>
            <a:endParaRPr/>
          </a:p>
        </p:txBody>
      </p:sp>
      <p:sp>
        <p:nvSpPr>
          <p:cNvPr id="4610" name="Google Shape;4610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$414,604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11" name="Google Shape;4611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12" name="Google Shape;4612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$169,896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13" name="Google Shape;4613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14" name="Google Shape;4614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$-205,197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15" name="Google Shape;4615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$165,365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16" name="Google Shape;4616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17" name="Google Shape;4617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18" name="Google Shape;4618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19" name="Google Shape;4619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20" name="Google Shape;4620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21" name="Google Shape;4621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$582,288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22" name="Google Shape;4622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23" name="Google Shape;4623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4" name="Google Shape;4624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26" name="Google Shape;4626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31" name="Google Shape;4631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2" name="Google Shape;4632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$-884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$-884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38" name="Google Shape;4638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9" name="Google Shape;4639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40" name="Google Shape;4640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$375,178</a:t>
            </a:r>
            <a:endParaRPr/>
          </a:p>
        </p:txBody>
      </p:sp>
      <p:sp>
        <p:nvSpPr>
          <p:cNvPr id="4641" name="Google Shape;4641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</a:t>
            </a:r>
            <a:endParaRPr/>
          </a:p>
        </p:txBody>
      </p:sp>
      <p:sp>
        <p:nvSpPr>
          <p:cNvPr id="4642" name="Google Shape;4642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$169,896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$-205,197</a:t>
            </a:r>
            <a:endParaRPr/>
          </a:p>
        </p:txBody>
      </p:sp>
      <p:sp>
        <p:nvSpPr>
          <p:cNvPr id="4645" name="Google Shape;4645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6" name="Google Shape;4646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9" name="Google Shape;4649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2" name="Google Shape;4652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3" name="Google Shape;4653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$11,250</a:t>
            </a:r>
            <a:endParaRPr/>
          </a:p>
        </p:txBody>
      </p:sp>
      <p:sp>
        <p:nvSpPr>
          <p:cNvPr id="4655" name="Google Shape;4655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6" name="Google Shape;4656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$11,250</a:t>
            </a:r>
            <a:endParaRPr/>
          </a:p>
        </p:txBody>
      </p:sp>
      <p:sp>
        <p:nvSpPr>
          <p:cNvPr id="4658" name="Google Shape;4658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9" name="Google Shape;4659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0" name="Google Shape;4660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$29,059</a:t>
            </a:r>
            <a:endParaRPr/>
          </a:p>
        </p:txBody>
      </p:sp>
      <p:sp>
        <p:nvSpPr>
          <p:cNvPr id="4662" name="Google Shape;4662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3" name="Google Shape;4663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$29,059</a:t>
            </a:r>
            <a:endParaRPr/>
          </a:p>
        </p:txBody>
      </p:sp>
      <p:sp>
        <p:nvSpPr>
          <p:cNvPr id="4665" name="Google Shape;4665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6" name="Google Shape;4666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7" name="Google Shape;4667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$414,604</a:t>
            </a:r>
            <a:endParaRPr/>
          </a:p>
        </p:txBody>
      </p:sp>
      <p:sp>
        <p:nvSpPr>
          <p:cNvPr id="4669" name="Google Shape;4669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</a:t>
            </a:r>
            <a:endParaRPr/>
          </a:p>
        </p:txBody>
      </p:sp>
      <p:sp>
        <p:nvSpPr>
          <p:cNvPr id="4670" name="Google Shape;4670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$169,896</a:t>
            </a:r>
            <a:endParaRPr/>
          </a:p>
        </p:txBody>
      </p:sp>
      <p:sp>
        <p:nvSpPr>
          <p:cNvPr id="4671" name="Google Shape;4671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$39,511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$-205,197</a:t>
            </a:r>
            <a:endParaRPr/>
          </a:p>
        </p:txBody>
      </p:sp>
      <p:sp>
        <p:nvSpPr>
          <p:cNvPr id="4673" name="Google Shape;4673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4" name="Google Shape;4674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675" name="Google Shape;4675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76" name="Google Shape;4676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677" name="Google Shape;4677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678" name="Google Shape;4678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80" name="Google Shape;4680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81" name="Google Shape;4681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2" name="Google Shape;4682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83" name="Google Shape;4683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84" name="Google Shape;4684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85" name="Google Shape;4685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86" name="Google Shape;4686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87" name="Google Shape;4687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688" name="Google Shape;4688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9" name="Google Shape;4689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90" name="Google Shape;4690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91" name="Google Shape;4691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92" name="Google Shape;4692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93" name="Google Shape;4693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94" name="Google Shape;4694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4695" name="Google Shape;4695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6" name="Google Shape;4696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97" name="Google Shape;4697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98" name="Google Shape;4698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99" name="Google Shape;4699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00" name="Google Shape;4700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1" name="Google Shape;4701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02" name="Google Shape;4702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3" name="Google Shape;4703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04" name="Google Shape;4704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05" name="Google Shape;4705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06" name="Google Shape;4706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07" name="Google Shape;4707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08" name="Google Shape;4708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709" name="Google Shape;4709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0" name="Google Shape;4710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11" name="Google Shape;4711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12" name="Google Shape;4712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13" name="Google Shape;4713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14" name="Google Shape;4714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15" name="Google Shape;4715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716" name="Google Shape;4716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7" name="Google Shape;4717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18" name="Google Shape;4718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719" name="Google Shape;4719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720" name="Google Shape;4720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721" name="Google Shape;4721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22" name="Google Shape;4722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</p:txBody>
      </p:sp>
      <p:sp>
        <p:nvSpPr>
          <p:cNvPr id="4723" name="Google Shape;4723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4" name="Google Shape;4724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25" name="Google Shape;4725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26" name="Google Shape;4726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27" name="Google Shape;4727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28" name="Google Shape;4728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29" name="Google Shape;4729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30" name="Google Shape;4730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31" name="Google Shape;4731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32" name="Google Shape;4732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33" name="Google Shape;4733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34" name="Google Shape;4734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735" name="Google Shape;4735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736" name="Google Shape;4736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737" name="Google Shape;4737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738" name="Google Shape;4738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39" name="Google Shape;4739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0" name="Google Shape;4740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1" name="Google Shape;4741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2" name="Google Shape;4742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743" name="Google Shape;4743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744" name="Google Shape;4744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45" name="Google Shape;4745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6" name="Google Shape;4746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47" name="Google Shape;4747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48" name="Google Shape;4748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9" name="Google Shape;4749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750" name="Google Shape;4750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751" name="Google Shape;4751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752" name="Google Shape;4752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3" name="Google Shape;4753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$-884</a:t>
            </a:r>
            <a:endParaRPr/>
          </a:p>
        </p:txBody>
      </p:sp>
      <p:sp>
        <p:nvSpPr>
          <p:cNvPr id="4754" name="Google Shape;4754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4755" name="Google Shape;4755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$375K</a:t>
            </a:r>
            <a:endParaRPr/>
          </a:p>
        </p:txBody>
      </p:sp>
      <p:sp>
        <p:nvSpPr>
          <p:cNvPr id="4756" name="Google Shape;4756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$-28,438</a:t>
            </a:r>
            <a:endParaRPr/>
          </a:p>
        </p:txBody>
      </p:sp>
      <p:sp>
        <p:nvSpPr>
          <p:cNvPr id="4757" name="Google Shape;4757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8" name="Google Shape;4758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$-1,277</a:t>
            </a:r>
            <a:endParaRPr/>
          </a:p>
        </p:txBody>
      </p:sp>
      <p:sp>
        <p:nvSpPr>
          <p:cNvPr id="4759" name="Google Shape;4759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4760" name="Google Shape;4760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$-1,542</a:t>
            </a:r>
            <a:endParaRPr/>
          </a:p>
        </p:txBody>
      </p:sp>
      <p:sp>
        <p:nvSpPr>
          <p:cNvPr id="4761" name="Google Shape;4761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4762" name="Google Shape;4762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4763" name="Google Shape;4763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$415K</a:t>
            </a:r>
            <a:endParaRPr/>
          </a:p>
        </p:txBody>
      </p:sp>
      <p:sp>
        <p:nvSpPr>
          <p:cNvPr id="4764" name="Google Shape;4764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5" name="Google Shape;4765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766" name="Google Shape;4766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767" name="Google Shape;4767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$414,604 YTD gross written premium</a:t>
            </a:r>
            <a:endParaRPr/>
          </a:p>
        </p:txBody>
      </p:sp>
      <p:sp>
        <p:nvSpPr>
          <p:cNvPr id="4768" name="Google Shape;4768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769" name="Google Shape;4769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 in new business production</a:t>
            </a:r>
            <a:endParaRPr/>
          </a:p>
        </p:txBody>
      </p:sp>
      <p:sp>
        <p:nvSpPr>
          <p:cNvPr id="4770" name="Google Shape;4770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1" name="Google Shape;4771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772" name="Google Shape;4772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773" name="Google Shape;4773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($205,197)</a:t>
            </a:r>
            <a:endParaRPr/>
          </a:p>
        </p:txBody>
      </p:sp>
      <p:sp>
        <p:nvSpPr>
          <p:cNvPr id="4774" name="Google Shape;4774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775" name="Google Shape;4775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9 to 2 MoM</a:t>
            </a:r>
            <a:endParaRPr/>
          </a:p>
        </p:txBody>
      </p:sp>
      <p:sp>
        <p:nvSpPr>
          <p:cNvPr id="4776" name="Google Shape;4776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7" name="Google Shape;4777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778" name="Google Shape;4778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779" name="Google Shape;4779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$205,197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780" name="Google Shape;4780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781" name="Google Shape;4781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$205,197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85" name="Shape 4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6" name="Google Shape;4786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7" name="Google Shape;4787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 Secure Insurance Services, Inc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Santa Clarita</a:t>
            </a:r>
            <a:endParaRPr/>
          </a:p>
        </p:txBody>
      </p:sp>
      <p:sp>
        <p:nvSpPr>
          <p:cNvPr id="4789" name="Google Shape;4789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$411,808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790" name="Google Shape;4790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$239,488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91" name="Google Shape;4791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92" name="Google Shape;4792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$172,320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93" name="Google Shape;4793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$-260,447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94" name="Google Shape;4794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795" name="Google Shape;4795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$450,240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796" name="Google Shape;4796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797" name="Google Shape;4797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98" name="Google Shape;4798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99" name="Google Shape;4799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00" name="Google Shape;4800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01" name="Google Shape;4801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$196,201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02" name="Google Shape;4802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3" name="Google Shape;4803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10" name="Google Shape;4810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1" name="Google Shape;4811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13" name="Google Shape;4813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14" name="Google Shape;4814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$-9,983</a:t>
            </a:r>
            <a:endParaRPr/>
          </a:p>
        </p:txBody>
      </p:sp>
      <p:sp>
        <p:nvSpPr>
          <p:cNvPr id="4817" name="Google Shape;4817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8" name="Google Shape;4818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19" name="Google Shape;4819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$40,906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$40,906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$-10,665</a:t>
            </a:r>
            <a:endParaRPr/>
          </a:p>
        </p:txBody>
      </p:sp>
      <p:sp>
        <p:nvSpPr>
          <p:cNvPr id="4824" name="Google Shape;4824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5" name="Google Shape;4825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26" name="Google Shape;4826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$78,730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$40,738</a:t>
            </a:r>
            <a:endParaRPr/>
          </a:p>
        </p:txBody>
      </p:sp>
      <p:sp>
        <p:nvSpPr>
          <p:cNvPr id="4828" name="Google Shape;4828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$37,992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$-37,992</a:t>
            </a:r>
            <a:endParaRPr/>
          </a:p>
        </p:txBody>
      </p:sp>
      <p:sp>
        <p:nvSpPr>
          <p:cNvPr id="4831" name="Google Shape;4831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2" name="Google Shape;4832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$272,003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$135,975</a:t>
            </a:r>
            <a:endParaRPr/>
          </a:p>
        </p:txBody>
      </p:sp>
      <p:sp>
        <p:nvSpPr>
          <p:cNvPr id="4835" name="Google Shape;4835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6" name="Google Shape;4836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$136,028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$-151,635</a:t>
            </a:r>
            <a:endParaRPr/>
          </a:p>
        </p:txBody>
      </p:sp>
      <p:sp>
        <p:nvSpPr>
          <p:cNvPr id="4838" name="Google Shape;4838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9" name="Google Shape;4839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40" name="Google Shape;4840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</p:txBody>
      </p:sp>
      <p:sp>
        <p:nvSpPr>
          <p:cNvPr id="4841" name="Google Shape;4841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$21,868</a:t>
            </a:r>
            <a:endParaRPr/>
          </a:p>
        </p:txBody>
      </p:sp>
      <p:sp>
        <p:nvSpPr>
          <p:cNvPr id="4842" name="Google Shape;4842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$-1,701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$-50,172</a:t>
            </a:r>
            <a:endParaRPr/>
          </a:p>
        </p:txBody>
      </p:sp>
      <p:sp>
        <p:nvSpPr>
          <p:cNvPr id="4845" name="Google Shape;4845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6" name="Google Shape;4846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47" name="Google Shape;4847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$411,808</a:t>
            </a:r>
            <a:endParaRPr/>
          </a:p>
        </p:txBody>
      </p:sp>
      <p:sp>
        <p:nvSpPr>
          <p:cNvPr id="4848" name="Google Shape;4848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$239,488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$172,320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$-260,447</a:t>
            </a:r>
            <a:endParaRPr/>
          </a:p>
        </p:txBody>
      </p:sp>
      <p:sp>
        <p:nvSpPr>
          <p:cNvPr id="4852" name="Google Shape;4852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3" name="Google Shape;4853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854" name="Google Shape;4854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55" name="Google Shape;4855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857" name="Google Shape;4857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858" name="Google Shape;4858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60" name="Google Shape;4860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1" name="Google Shape;4861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62" name="Google Shape;4862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863" name="Google Shape;4863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64" name="Google Shape;4864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65" name="Google Shape;4865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66" name="Google Shape;4866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67" name="Google Shape;4867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69" name="Google Shape;4869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872" name="Google Shape;4872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73" name="Google Shape;4873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4874" name="Google Shape;4874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5" name="Google Shape;4875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76" name="Google Shape;4876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877" name="Google Shape;4877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78" name="Google Shape;4878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879" name="Google Shape;4879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80" name="Google Shape;4880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881" name="Google Shape;4881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2" name="Google Shape;4882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83" name="Google Shape;4883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884" name="Google Shape;4884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885" name="Google Shape;4885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886" name="Google Shape;4886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887" name="Google Shape;4887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888" name="Google Shape;4888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9" name="Google Shape;4889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90" name="Google Shape;4890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891" name="Google Shape;4891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92" name="Google Shape;4892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893" name="Google Shape;4893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94" name="Google Shape;4894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895" name="Google Shape;4895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6" name="Google Shape;4896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97" name="Google Shape;4897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4898" name="Google Shape;4898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899" name="Google Shape;4899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</a:t>
            </a:r>
            <a:endParaRPr/>
          </a:p>
        </p:txBody>
      </p:sp>
      <p:sp>
        <p:nvSpPr>
          <p:cNvPr id="4900" name="Google Shape;4900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901" name="Google Shape;4901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4902" name="Google Shape;4902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3" name="Google Shape;4903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04" name="Google Shape;4904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05" name="Google Shape;4905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06" name="Google Shape;4906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07" name="Google Shape;4907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08" name="Google Shape;4908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09" name="Google Shape;4909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10" name="Google Shape;4910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11" name="Google Shape;4911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12" name="Google Shape;4912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13" name="Google Shape;4913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14" name="Google Shape;4914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15" name="Google Shape;4915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16" name="Google Shape;4916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17" name="Google Shape;4917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18" name="Google Shape;4918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919" name="Google Shape;4919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920" name="Google Shape;4920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921" name="Google Shape;4921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922" name="Google Shape;4922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4923" name="Google Shape;4923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924" name="Google Shape;4924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4925" name="Google Shape;4925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926" name="Google Shape;4926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927" name="Google Shape;4927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928" name="Google Shape;4928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</a:t>
            </a:r>
            <a:endParaRPr/>
          </a:p>
        </p:txBody>
      </p:sp>
      <p:sp>
        <p:nvSpPr>
          <p:cNvPr id="4929" name="Google Shape;4929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4930" name="Google Shape;4930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31" name="Google Shape;4931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2" name="Google Shape;4932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3" name="Google Shape;4933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4" name="Google Shape;4934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4935" name="Google Shape;4935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6" name="Google Shape;4936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4937" name="Google Shape;4937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8" name="Google Shape;4938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$272K</a:t>
            </a:r>
            <a:endParaRPr/>
          </a:p>
        </p:txBody>
      </p:sp>
      <p:sp>
        <p:nvSpPr>
          <p:cNvPr id="4939" name="Google Shape;4939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0" name="Google Shape;4940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941" name="Google Shape;4941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2" name="Google Shape;4942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$412K</a:t>
            </a:r>
            <a:endParaRPr/>
          </a:p>
        </p:txBody>
      </p:sp>
      <p:sp>
        <p:nvSpPr>
          <p:cNvPr id="4943" name="Google Shape;4943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4" name="Google Shape;4944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945" name="Google Shape;4945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46" name="Google Shape;4946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$411,808 YTD gross written premium</a:t>
            </a:r>
            <a:endParaRPr/>
          </a:p>
        </p:txBody>
      </p:sp>
      <p:sp>
        <p:nvSpPr>
          <p:cNvPr id="4947" name="Google Shape;4947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48" name="Google Shape;4948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$239,488 in new business production</a:t>
            </a:r>
            <a:endParaRPr/>
          </a:p>
        </p:txBody>
      </p:sp>
      <p:sp>
        <p:nvSpPr>
          <p:cNvPr id="4949" name="Google Shape;4949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0" name="Google Shape;4950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951" name="Google Shape;4951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52" name="Google Shape;4952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109% of new business ($260,447)</a:t>
            </a:r>
            <a:endParaRPr/>
          </a:p>
        </p:txBody>
      </p:sp>
      <p:sp>
        <p:nvSpPr>
          <p:cNvPr id="4953" name="Google Shape;4953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54" name="Google Shape;4954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93% month-over-month</a:t>
            </a:r>
            <a:endParaRPr/>
          </a:p>
        </p:txBody>
      </p:sp>
      <p:sp>
        <p:nvSpPr>
          <p:cNvPr id="4955" name="Google Shape;4955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6" name="Google Shape;4956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957" name="Google Shape;4957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958" name="Google Shape;4958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$239,488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959" name="Google Shape;4959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960" name="Google Shape;4960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$260,447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64" name="Shape 4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5" name="Google Shape;4965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6" name="Google Shape;4966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Noel Cajinas Insurance Agency, Inc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Huntington Park</a:t>
            </a:r>
            <a:endParaRPr/>
          </a:p>
        </p:txBody>
      </p:sp>
      <p:sp>
        <p:nvSpPr>
          <p:cNvPr id="4968" name="Google Shape;4968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$408,278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969" name="Google Shape;4969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$257,486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70" name="Google Shape;4970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71" name="Google Shape;4971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72" name="Google Shape;4972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$-75,834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73" name="Google Shape;4973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$511,170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974" name="Google Shape;4974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$614,912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975" name="Google Shape;4975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976" name="Google Shape;4976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77" name="Google Shape;4977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78" name="Google Shape;4978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79" name="Google Shape;4979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$120,480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980" name="Google Shape;4980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981" name="Google Shape;4981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2" name="Google Shape;4982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983" name="Google Shape;4983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89" name="Google Shape;4989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0" name="Google Shape;4990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$20,907</a:t>
            </a:r>
            <a:endParaRPr/>
          </a:p>
        </p:txBody>
      </p:sp>
      <p:sp>
        <p:nvSpPr>
          <p:cNvPr id="4992" name="Google Shape;4992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$20,907</a:t>
            </a:r>
            <a:endParaRPr/>
          </a:p>
        </p:txBody>
      </p:sp>
      <p:sp>
        <p:nvSpPr>
          <p:cNvPr id="4993" name="Google Shape;4993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5" name="Google Shape;4995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$-11,139</a:t>
            </a:r>
            <a:endParaRPr/>
          </a:p>
        </p:txBody>
      </p:sp>
      <p:sp>
        <p:nvSpPr>
          <p:cNvPr id="4996" name="Google Shape;4996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7" name="Google Shape;4997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98" name="Google Shape;4998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$121,214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$102,846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$18,368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$-33,764</a:t>
            </a:r>
            <a:endParaRPr/>
          </a:p>
        </p:txBody>
      </p:sp>
      <p:sp>
        <p:nvSpPr>
          <p:cNvPr id="5003" name="Google Shape;5003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4" name="Google Shape;5004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05" name="Google Shape;5005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$164,539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$39,394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$57,123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$68,023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$-30,932</a:t>
            </a:r>
            <a:endParaRPr/>
          </a:p>
        </p:txBody>
      </p:sp>
      <p:sp>
        <p:nvSpPr>
          <p:cNvPr id="5010" name="Google Shape;5010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1" name="Google Shape;5011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$14,994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$12,049</a:t>
            </a:r>
            <a:endParaRPr/>
          </a:p>
        </p:txBody>
      </p:sp>
      <p:sp>
        <p:nvSpPr>
          <p:cNvPr id="5014" name="Google Shape;5014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5" name="Google Shape;5015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$2,945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7" name="Google Shape;5017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8" name="Google Shape;5018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19" name="Google Shape;5019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$86,623</a:t>
            </a:r>
            <a:endParaRPr/>
          </a:p>
        </p:txBody>
      </p:sp>
      <p:sp>
        <p:nvSpPr>
          <p:cNvPr id="5020" name="Google Shape;5020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$82,290</a:t>
            </a:r>
            <a:endParaRPr/>
          </a:p>
        </p:txBody>
      </p:sp>
      <p:sp>
        <p:nvSpPr>
          <p:cNvPr id="5021" name="Google Shape;5021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$4,333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4" name="Google Shape;5024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5" name="Google Shape;5025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26" name="Google Shape;5026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$408,278</a:t>
            </a:r>
            <a:endParaRPr/>
          </a:p>
        </p:txBody>
      </p:sp>
      <p:sp>
        <p:nvSpPr>
          <p:cNvPr id="5027" name="Google Shape;5027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$257,486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$57,123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$93,669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$-75,834</a:t>
            </a:r>
            <a:endParaRPr/>
          </a:p>
        </p:txBody>
      </p:sp>
      <p:sp>
        <p:nvSpPr>
          <p:cNvPr id="5031" name="Google Shape;5031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2" name="Google Shape;5032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33" name="Google Shape;5033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34" name="Google Shape;5034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036" name="Google Shape;5036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037" name="Google Shape;5037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39" name="Google Shape;5039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0" name="Google Shape;5040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41" name="Google Shape;5041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042" name="Google Shape;5042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43" name="Google Shape;5043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044" name="Google Shape;5044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45" name="Google Shape;5045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5046" name="Google Shape;5046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7" name="Google Shape;5047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48" name="Google Shape;5048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049" name="Google Shape;5049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50" name="Google Shape;5050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51" name="Google Shape;5051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52" name="Google Shape;5052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5053" name="Google Shape;5053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4" name="Google Shape;5054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55" name="Google Shape;5055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056" name="Google Shape;5056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57" name="Google Shape;5057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058" name="Google Shape;5058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059" name="Google Shape;5059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42.9%</a:t>
            </a:r>
            <a:endParaRPr/>
          </a:p>
        </p:txBody>
      </p:sp>
      <p:sp>
        <p:nvSpPr>
          <p:cNvPr id="5060" name="Google Shape;5060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1" name="Google Shape;5061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62" name="Google Shape;5062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063" name="Google Shape;5063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64" name="Google Shape;5064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065" name="Google Shape;5065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66" name="Google Shape;5066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5067" name="Google Shape;5067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8" name="Google Shape;5068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69" name="Google Shape;5069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070" name="Google Shape;5070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71" name="Google Shape;5071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072" name="Google Shape;5072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73" name="Google Shape;5073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5074" name="Google Shape;5074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5" name="Google Shape;5075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76" name="Google Shape;5076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5077" name="Google Shape;5077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078" name="Google Shape;5078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5079" name="Google Shape;5079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080" name="Google Shape;5080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18.9%</a:t>
            </a:r>
            <a:endParaRPr/>
          </a:p>
        </p:txBody>
      </p:sp>
      <p:sp>
        <p:nvSpPr>
          <p:cNvPr id="5081" name="Google Shape;5081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2" name="Google Shape;5082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083" name="Google Shape;5083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84" name="Google Shape;5084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085" name="Google Shape;5085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086" name="Google Shape;5086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087" name="Google Shape;5087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088" name="Google Shape;5088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089" name="Google Shape;5089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090" name="Google Shape;5090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091" name="Google Shape;5091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092" name="Google Shape;5092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093" name="Google Shape;5093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094" name="Google Shape;5094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095" name="Google Shape;5095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096" name="Google Shape;5096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97" name="Google Shape;5097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098" name="Google Shape;5098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099" name="Google Shape;5099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00" name="Google Shape;5100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01" name="Google Shape;5101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02" name="Google Shape;5102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03" name="Google Shape;5103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104" name="Google Shape;5104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05" name="Google Shape;5105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106" name="Google Shape;5106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07" name="Google Shape;5107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5108" name="Google Shape;5108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109" name="Google Shape;5109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10" name="Google Shape;5110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5111" name="Google Shape;5111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112" name="Google Shape;5112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5113" name="Google Shape;5113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5114" name="Google Shape;5114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$148K</a:t>
            </a:r>
            <a:endParaRPr/>
          </a:p>
        </p:txBody>
      </p:sp>
      <p:sp>
        <p:nvSpPr>
          <p:cNvPr id="5115" name="Google Shape;5115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$165K</a:t>
            </a:r>
            <a:endParaRPr/>
          </a:p>
        </p:txBody>
      </p:sp>
      <p:sp>
        <p:nvSpPr>
          <p:cNvPr id="5116" name="Google Shape;5116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5117" name="Google Shape;5117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118" name="Google Shape;5118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119" name="Google Shape;5119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5120" name="Google Shape;5120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$305K</a:t>
            </a:r>
            <a:endParaRPr/>
          </a:p>
        </p:txBody>
      </p:sp>
      <p:sp>
        <p:nvSpPr>
          <p:cNvPr id="5121" name="Google Shape;5121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$408K</a:t>
            </a:r>
            <a:endParaRPr/>
          </a:p>
        </p:txBody>
      </p:sp>
      <p:sp>
        <p:nvSpPr>
          <p:cNvPr id="5122" name="Google Shape;5122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3" name="Google Shape;5123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24" name="Google Shape;5124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25" name="Google Shape;5125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$408,278 YTD gross written premium</a:t>
            </a:r>
            <a:endParaRPr/>
          </a:p>
        </p:txBody>
      </p:sp>
      <p:sp>
        <p:nvSpPr>
          <p:cNvPr id="5126" name="Google Shape;5126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27" name="Google Shape;5127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$257,486 in new business production</a:t>
            </a:r>
            <a:endParaRPr/>
          </a:p>
        </p:txBody>
      </p:sp>
      <p:sp>
        <p:nvSpPr>
          <p:cNvPr id="5128" name="Google Shape;5128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9" name="Google Shape;5129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130" name="Google Shape;5130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31" name="Google Shape;5131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132" name="Google Shape;5132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33" name="Google Shape;5133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134" name="Google Shape;5134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5" name="Google Shape;5135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136" name="Google Shape;5136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137" name="Google Shape;5137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$257,486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138" name="Google Shape;5138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139" name="Google Shape;5139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$57,123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3" name="Shape 5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4" name="Google Shape;5144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5" name="Google Shape;5145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Western Truck Insurance Services, Inc.</a:t>
            </a:r>
            <a:endParaRPr/>
          </a:p>
        </p:txBody>
      </p:sp>
      <p:sp>
        <p:nvSpPr>
          <p:cNvPr id="5146" name="Google Shape;5146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Inglewood</a:t>
            </a:r>
            <a:endParaRPr/>
          </a:p>
        </p:txBody>
      </p:sp>
      <p:sp>
        <p:nvSpPr>
          <p:cNvPr id="5147" name="Google Shape;5147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148" name="Google Shape;5148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$348,621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49" name="Google Shape;5149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50" name="Google Shape;5150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51" name="Google Shape;5151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$-206,178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52" name="Google Shape;5152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153" name="Google Shape;5153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154" name="Google Shape;5154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155" name="Google Shape;5155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56" name="Google Shape;5156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57" name="Google Shape;5157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58" name="Google Shape;5158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$255,717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159" name="Google Shape;5159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160" name="Google Shape;5160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1" name="Google Shape;5161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63" name="Google Shape;5163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68" name="Google Shape;5168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9" name="Google Shape;5169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$23,613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$23,613</a:t>
            </a:r>
            <a:endParaRPr/>
          </a:p>
        </p:txBody>
      </p:sp>
      <p:sp>
        <p:nvSpPr>
          <p:cNvPr id="5172" name="Google Shape;5172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74" name="Google Shape;5174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$-4,223</a:t>
            </a:r>
            <a:endParaRPr/>
          </a:p>
        </p:txBody>
      </p:sp>
      <p:sp>
        <p:nvSpPr>
          <p:cNvPr id="5175" name="Google Shape;5175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6" name="Google Shape;5176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$41,288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$41,288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2" name="Google Shape;5182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3" name="Google Shape;5183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$79,410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$79,410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8" name="Google Shape;5188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9" name="Google Shape;5189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0" name="Google Shape;5190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$195,344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$183,579</a:t>
            </a:r>
            <a:endParaRPr/>
          </a:p>
        </p:txBody>
      </p:sp>
      <p:sp>
        <p:nvSpPr>
          <p:cNvPr id="5193" name="Google Shape;5193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4" name="Google Shape;5194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$11,765</a:t>
            </a:r>
            <a:endParaRPr/>
          </a:p>
        </p:txBody>
      </p:sp>
      <p:sp>
        <p:nvSpPr>
          <p:cNvPr id="5195" name="Google Shape;5195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$-183,579</a:t>
            </a:r>
            <a:endParaRPr/>
          </a:p>
        </p:txBody>
      </p:sp>
      <p:sp>
        <p:nvSpPr>
          <p:cNvPr id="5196" name="Google Shape;5196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7" name="Google Shape;5197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$21,803</a:t>
            </a:r>
            <a:endParaRPr/>
          </a:p>
        </p:txBody>
      </p:sp>
      <p:sp>
        <p:nvSpPr>
          <p:cNvPr id="5199" name="Google Shape;5199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$20,730</a:t>
            </a:r>
            <a:endParaRPr/>
          </a:p>
        </p:txBody>
      </p:sp>
      <p:sp>
        <p:nvSpPr>
          <p:cNvPr id="5200" name="Google Shape;5200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$1,073</a:t>
            </a:r>
            <a:endParaRPr/>
          </a:p>
        </p:txBody>
      </p:sp>
      <p:sp>
        <p:nvSpPr>
          <p:cNvPr id="5202" name="Google Shape;5202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$-18,375</a:t>
            </a:r>
            <a:endParaRPr/>
          </a:p>
        </p:txBody>
      </p:sp>
      <p:sp>
        <p:nvSpPr>
          <p:cNvPr id="5203" name="Google Shape;5203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4" name="Google Shape;5204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$361,459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$348,621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$12,838</a:t>
            </a:r>
            <a:endParaRPr/>
          </a:p>
        </p:txBody>
      </p:sp>
      <p:sp>
        <p:nvSpPr>
          <p:cNvPr id="5209" name="Google Shape;5209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$-206,178</a:t>
            </a:r>
            <a:endParaRPr/>
          </a:p>
        </p:txBody>
      </p:sp>
      <p:sp>
        <p:nvSpPr>
          <p:cNvPr id="5210" name="Google Shape;5210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1" name="Google Shape;5211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13" name="Google Shape;5213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14" name="Google Shape;5214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16" name="Google Shape;5216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17" name="Google Shape;5217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18" name="Google Shape;5218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9" name="Google Shape;5219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20" name="Google Shape;5220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221" name="Google Shape;5221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22" name="Google Shape;5222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223" name="Google Shape;5223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24" name="Google Shape;5224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5225" name="Google Shape;5225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6" name="Google Shape;5226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27" name="Google Shape;5227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28" name="Google Shape;5228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29" name="Google Shape;5229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30" name="Google Shape;5230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31" name="Google Shape;5231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5232" name="Google Shape;5232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3" name="Google Shape;5233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34" name="Google Shape;5234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235" name="Google Shape;5235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236" name="Google Shape;5236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237" name="Google Shape;5237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38" name="Google Shape;5238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5239" name="Google Shape;5239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0" name="Google Shape;5240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41" name="Google Shape;5241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242" name="Google Shape;5242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43" name="Google Shape;5243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244" name="Google Shape;5244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45" name="Google Shape;5245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5246" name="Google Shape;5246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7" name="Google Shape;5247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48" name="Google Shape;5248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249" name="Google Shape;5249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50" name="Google Shape;5250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251" name="Google Shape;5251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52" name="Google Shape;5252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5253" name="Google Shape;5253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4" name="Google Shape;5254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55" name="Google Shape;5255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5256" name="Google Shape;5256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257" name="Google Shape;5257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5258" name="Google Shape;5258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259" name="Google Shape;5259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5260" name="Google Shape;5260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262" name="Google Shape;5262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63" name="Google Shape;5263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64" name="Google Shape;5264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265" name="Google Shape;5265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266" name="Google Shape;5266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267" name="Google Shape;5267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268" name="Google Shape;5268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269" name="Google Shape;5269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270" name="Google Shape;5270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271" name="Google Shape;5271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272" name="Google Shape;5272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273" name="Google Shape;5273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274" name="Google Shape;5274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275" name="Google Shape;5275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76" name="Google Shape;5276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77" name="Google Shape;5277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278" name="Google Shape;5278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279" name="Google Shape;5279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80" name="Google Shape;5280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281" name="Google Shape;5281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282" name="Google Shape;5282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283" name="Google Shape;5283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284" name="Google Shape;5284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285" name="Google Shape;5285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286" name="Google Shape;5286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5287" name="Google Shape;5287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5288" name="Google Shape;5288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289" name="Google Shape;5289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0" name="Google Shape;5290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5291" name="Google Shape;5291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292" name="Google Shape;5292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5293" name="Google Shape;5293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5294" name="Google Shape;5294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5295" name="Google Shape;5295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296" name="Google Shape;5296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$195K</a:t>
            </a:r>
            <a:endParaRPr/>
          </a:p>
        </p:txBody>
      </p:sp>
      <p:sp>
        <p:nvSpPr>
          <p:cNvPr id="5297" name="Google Shape;5297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5298" name="Google Shape;5298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299" name="Google Shape;5299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5300" name="Google Shape;5300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$361K</a:t>
            </a:r>
            <a:endParaRPr/>
          </a:p>
        </p:txBody>
      </p:sp>
      <p:sp>
        <p:nvSpPr>
          <p:cNvPr id="5301" name="Google Shape;5301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2" name="Google Shape;5302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03" name="Google Shape;5303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04" name="Google Shape;5304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$361,459 YTD gross written premium</a:t>
            </a:r>
            <a:endParaRPr/>
          </a:p>
        </p:txBody>
      </p:sp>
      <p:sp>
        <p:nvSpPr>
          <p:cNvPr id="5305" name="Google Shape;5305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06" name="Google Shape;5306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$348,621 in new business production</a:t>
            </a:r>
            <a:endParaRPr/>
          </a:p>
        </p:txBody>
      </p:sp>
      <p:sp>
        <p:nvSpPr>
          <p:cNvPr id="5307" name="Google Shape;5307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8" name="Google Shape;5308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09" name="Google Shape;5309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10" name="Google Shape;5310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59% of new business ($206,178)</a:t>
            </a:r>
            <a:endParaRPr/>
          </a:p>
        </p:txBody>
      </p:sp>
      <p:sp>
        <p:nvSpPr>
          <p:cNvPr id="5311" name="Google Shape;5311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12" name="Google Shape;5312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89% month-over-month</a:t>
            </a:r>
            <a:endParaRPr/>
          </a:p>
        </p:txBody>
      </p:sp>
      <p:sp>
        <p:nvSpPr>
          <p:cNvPr id="5313" name="Google Shape;5313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4" name="Google Shape;5314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15" name="Google Shape;5315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16" name="Google Shape;5316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$348,621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317" name="Google Shape;5317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18" name="Google Shape;5318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$206,178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22" name="Shape 5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3" name="Google Shape;5323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4" name="Google Shape;5324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Solutions Insurance Agency, L.l.c.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Moreno Valley</a:t>
            </a:r>
            <a:endParaRPr/>
          </a:p>
        </p:txBody>
      </p:sp>
      <p:sp>
        <p:nvSpPr>
          <p:cNvPr id="5326" name="Google Shape;5326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$346,534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27" name="Google Shape;5327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$324,842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28" name="Google Shape;5328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29" name="Google Shape;5329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30" name="Google Shape;5330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$-46,184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31" name="Google Shape;5331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$506,042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332" name="Google Shape;5332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$761,354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333" name="Google Shape;5333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334" name="Google Shape;5334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35" name="Google Shape;5335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36" name="Google Shape;5336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37" name="Google Shape;5337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338" name="Google Shape;5338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$381,165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339" name="Google Shape;5339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0" name="Google Shape;5340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46" name="Google Shape;5346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47" name="Google Shape;5347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8" name="Google Shape;5348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49" name="Google Shape;5349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$13,788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$13,220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</a:t>
            </a:r>
            <a:endParaRPr/>
          </a:p>
        </p:txBody>
      </p:sp>
      <p:sp>
        <p:nvSpPr>
          <p:cNvPr id="5353" name="Google Shape;5353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$-10,726</a:t>
            </a:r>
            <a:endParaRPr/>
          </a:p>
        </p:txBody>
      </p:sp>
      <p:sp>
        <p:nvSpPr>
          <p:cNvPr id="5354" name="Google Shape;5354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5" name="Google Shape;5355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56" name="Google Shape;5356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$65,839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$62,715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$3,124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$-10,260</a:t>
            </a:r>
            <a:endParaRPr/>
          </a:p>
        </p:txBody>
      </p:sp>
      <p:sp>
        <p:nvSpPr>
          <p:cNvPr id="5361" name="Google Shape;5361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2" name="Google Shape;5362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63" name="Google Shape;5363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$77,758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$86,341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$-8,583</a:t>
            </a:r>
            <a:endParaRPr/>
          </a:p>
        </p:txBody>
      </p:sp>
      <p:sp>
        <p:nvSpPr>
          <p:cNvPr id="5367" name="Google Shape;5367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$-12,699</a:t>
            </a:r>
            <a:endParaRPr/>
          </a:p>
        </p:txBody>
      </p:sp>
      <p:sp>
        <p:nvSpPr>
          <p:cNvPr id="5368" name="Google Shape;5368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9" name="Google Shape;5369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70" name="Google Shape;5370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$121,868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$102,765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$10,374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$8,729</a:t>
            </a:r>
            <a:endParaRPr/>
          </a:p>
        </p:txBody>
      </p:sp>
      <p:sp>
        <p:nvSpPr>
          <p:cNvPr id="5374" name="Google Shape;5374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$-5,466</a:t>
            </a:r>
            <a:endParaRPr/>
          </a:p>
        </p:txBody>
      </p:sp>
      <p:sp>
        <p:nvSpPr>
          <p:cNvPr id="5375" name="Google Shape;5375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6" name="Google Shape;5376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77" name="Google Shape;5377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$67,281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$59,801</a:t>
            </a:r>
            <a:endParaRPr/>
          </a:p>
        </p:txBody>
      </p:sp>
      <p:sp>
        <p:nvSpPr>
          <p:cNvPr id="5379" name="Google Shape;5379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$7,480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$-7,033</a:t>
            </a:r>
            <a:endParaRPr/>
          </a:p>
        </p:txBody>
      </p:sp>
      <p:sp>
        <p:nvSpPr>
          <p:cNvPr id="5382" name="Google Shape;5382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3" name="Google Shape;5383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$346,534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$324,842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$10,374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$11,318</a:t>
            </a:r>
            <a:endParaRPr/>
          </a:p>
        </p:txBody>
      </p:sp>
      <p:sp>
        <p:nvSpPr>
          <p:cNvPr id="5388" name="Google Shape;5388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$-46,184</a:t>
            </a:r>
            <a:endParaRPr/>
          </a:p>
        </p:txBody>
      </p:sp>
      <p:sp>
        <p:nvSpPr>
          <p:cNvPr id="5389" name="Google Shape;5389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0" name="Google Shape;5390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393" name="Google Shape;5393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94" name="Google Shape;5394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95" name="Google Shape;5395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96" name="Google Shape;5396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97" name="Google Shape;5397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8" name="Google Shape;5398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99" name="Google Shape;5399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400" name="Google Shape;5400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401" name="Google Shape;5401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402" name="Google Shape;5402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403" name="Google Shape;5403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5404" name="Google Shape;5404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5" name="Google Shape;5405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06" name="Google Shape;5406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407" name="Google Shape;5407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408" name="Google Shape;5408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409" name="Google Shape;5409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410" name="Google Shape;5410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411" name="Google Shape;5411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2" name="Google Shape;5412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13" name="Google Shape;5413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5414" name="Google Shape;5414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15" name="Google Shape;5415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5416" name="Google Shape;5416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417" name="Google Shape;5417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31.3%</a:t>
            </a:r>
            <a:endParaRPr/>
          </a:p>
        </p:txBody>
      </p:sp>
      <p:sp>
        <p:nvSpPr>
          <p:cNvPr id="5418" name="Google Shape;5418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9" name="Google Shape;5419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20" name="Google Shape;5420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5421" name="Google Shape;5421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22" name="Google Shape;5422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5423" name="Google Shape;5423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424" name="Google Shape;5424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25.6%</a:t>
            </a:r>
            <a:endParaRPr/>
          </a:p>
        </p:txBody>
      </p:sp>
      <p:sp>
        <p:nvSpPr>
          <p:cNvPr id="5425" name="Google Shape;5425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6" name="Google Shape;5426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27" name="Google Shape;5427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428" name="Google Shape;5428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29" name="Google Shape;5429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5430" name="Google Shape;5430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431" name="Google Shape;5431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5432" name="Google Shape;5432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3" name="Google Shape;5433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34" name="Google Shape;5434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311</a:t>
            </a:r>
            <a:endParaRPr/>
          </a:p>
        </p:txBody>
      </p:sp>
      <p:sp>
        <p:nvSpPr>
          <p:cNvPr id="5435" name="Google Shape;5435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436" name="Google Shape;5436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290</a:t>
            </a:r>
            <a:endParaRPr/>
          </a:p>
        </p:txBody>
      </p:sp>
      <p:sp>
        <p:nvSpPr>
          <p:cNvPr id="5437" name="Google Shape;5437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5438" name="Google Shape;5438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439" name="Google Shape;5439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0" name="Google Shape;5440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441" name="Google Shape;5441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42" name="Google Shape;5442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443" name="Google Shape;5443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44" name="Google Shape;5444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45" name="Google Shape;5445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446" name="Google Shape;5446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447" name="Google Shape;5447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448" name="Google Shape;5448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449" name="Google Shape;5449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450" name="Google Shape;5450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451" name="Google Shape;5451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452" name="Google Shape;5452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453" name="Google Shape;5453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454" name="Google Shape;5454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55" name="Google Shape;5455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456" name="Google Shape;5456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457" name="Google Shape;5457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458" name="Google Shape;5458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459" name="Google Shape;5459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460" name="Google Shape;5460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5461" name="Google Shape;5461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462" name="Google Shape;5462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5463" name="Google Shape;5463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464" name="Google Shape;5464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465" name="Google Shape;5465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5466" name="Google Shape;5466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357</a:t>
            </a:r>
            <a:endParaRPr/>
          </a:p>
        </p:txBody>
      </p:sp>
      <p:sp>
        <p:nvSpPr>
          <p:cNvPr id="5467" name="Google Shape;5467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468" name="Google Shape;5468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5469" name="Google Shape;5469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470" name="Google Shape;5470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1" name="Google Shape;5471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5472" name="Google Shape;5472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3" name="Google Shape;5473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5474" name="Google Shape;5474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5475" name="Google Shape;5475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$122K</a:t>
            </a:r>
            <a:endParaRPr/>
          </a:p>
        </p:txBody>
      </p:sp>
      <p:sp>
        <p:nvSpPr>
          <p:cNvPr id="5476" name="Google Shape;5476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477" name="Google Shape;5477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5478" name="Google Shape;5478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5479" name="Google Shape;5479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$347K</a:t>
            </a:r>
            <a:endParaRPr/>
          </a:p>
        </p:txBody>
      </p:sp>
      <p:sp>
        <p:nvSpPr>
          <p:cNvPr id="5480" name="Google Shape;5480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1" name="Google Shape;5481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482" name="Google Shape;5482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83" name="Google Shape;5483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$346,534 YTD gross written premium</a:t>
            </a:r>
            <a:endParaRPr/>
          </a:p>
        </p:txBody>
      </p:sp>
      <p:sp>
        <p:nvSpPr>
          <p:cNvPr id="5484" name="Google Shape;5484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85" name="Google Shape;5485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$324,842 in new business production</a:t>
            </a:r>
            <a:endParaRPr/>
          </a:p>
        </p:txBody>
      </p:sp>
      <p:sp>
        <p:nvSpPr>
          <p:cNvPr id="5486" name="Google Shape;5486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7" name="Google Shape;5487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488" name="Google Shape;5488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89" name="Google Shape;5489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490" name="Google Shape;5490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91" name="Google Shape;5491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492" name="Google Shape;5492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3" name="Google Shape;5493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94" name="Google Shape;5494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95" name="Google Shape;5495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$324,842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99" name="Shape 5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0" name="Google Shape;5500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1" name="Google Shape;5501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Empire Company Insurance Services, Inc.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California  |  City: Rancho Cucamonga</a:t>
            </a:r>
            <a:endParaRPr/>
          </a:p>
        </p:txBody>
      </p:sp>
      <p:sp>
        <p:nvSpPr>
          <p:cNvPr id="5503" name="Google Shape;5503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04" name="Google Shape;5504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05" name="Google Shape;5505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06" name="Google Shape;5506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07" name="Google Shape;5507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$-96,708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08" name="Google Shape;5508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$355,551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09" name="Google Shape;5509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$533,662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10" name="Google Shape;5510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11" name="Google Shape;5511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12" name="Google Shape;5512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13" name="Google Shape;5513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14" name="Google Shape;5514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15" name="Google Shape;5515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16" name="Google Shape;5516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7" name="Google Shape;5517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24" name="Google Shape;5524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5" name="Google Shape;5525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26" name="Google Shape;5526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$1,963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$1,898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1" name="Google Shape;5531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2" name="Google Shape;5532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33" name="Google Shape;5533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$50,035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$39,724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$10,311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$-5,439</a:t>
            </a:r>
            <a:endParaRPr/>
          </a:p>
        </p:txBody>
      </p:sp>
      <p:sp>
        <p:nvSpPr>
          <p:cNvPr id="5538" name="Google Shape;5538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9" name="Google Shape;5539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40" name="Google Shape;5540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$19,063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$12,339</a:t>
            </a:r>
            <a:endParaRPr/>
          </a:p>
        </p:txBody>
      </p:sp>
      <p:sp>
        <p:nvSpPr>
          <p:cNvPr id="5544" name="Google Shape;5544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$-11,461</a:t>
            </a:r>
            <a:endParaRPr/>
          </a:p>
        </p:txBody>
      </p:sp>
      <p:sp>
        <p:nvSpPr>
          <p:cNvPr id="5545" name="Google Shape;5545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6" name="Google Shape;5546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$46,112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$46,795</a:t>
            </a:r>
            <a:endParaRPr/>
          </a:p>
        </p:txBody>
      </p:sp>
      <p:sp>
        <p:nvSpPr>
          <p:cNvPr id="5550" name="Google Shape;5550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$-683</a:t>
            </a:r>
            <a:endParaRPr/>
          </a:p>
        </p:txBody>
      </p:sp>
      <p:sp>
        <p:nvSpPr>
          <p:cNvPr id="5551" name="Google Shape;5551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2" name="Google Shape;5552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3" name="Google Shape;5553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$178,918</a:t>
            </a:r>
            <a:endParaRPr/>
          </a:p>
        </p:txBody>
      </p:sp>
      <p:sp>
        <p:nvSpPr>
          <p:cNvPr id="5555" name="Google Shape;5555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$158,768</a:t>
            </a:r>
            <a:endParaRPr/>
          </a:p>
        </p:txBody>
      </p:sp>
      <p:sp>
        <p:nvSpPr>
          <p:cNvPr id="5556" name="Google Shape;5556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$20,510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$-360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$-79,808</a:t>
            </a:r>
            <a:endParaRPr/>
          </a:p>
        </p:txBody>
      </p:sp>
      <p:sp>
        <p:nvSpPr>
          <p:cNvPr id="5559" name="Google Shape;5559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0" name="Google Shape;5560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61" name="Google Shape;5561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$308,430</a:t>
            </a:r>
            <a:endParaRPr/>
          </a:p>
        </p:txBody>
      </p:sp>
      <p:sp>
        <p:nvSpPr>
          <p:cNvPr id="5562" name="Google Shape;5562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$219,453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$77,616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$11,360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$-96,708</a:t>
            </a:r>
            <a:endParaRPr/>
          </a:p>
        </p:txBody>
      </p:sp>
      <p:sp>
        <p:nvSpPr>
          <p:cNvPr id="5566" name="Google Shape;5566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7" name="Google Shape;5567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568" name="Google Shape;5568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572" name="Google Shape;5572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73" name="Google Shape;5573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74" name="Google Shape;5574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5" name="Google Shape;5575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76" name="Google Shape;5576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577" name="Google Shape;5577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78" name="Google Shape;5578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579" name="Google Shape;5579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80" name="Google Shape;5580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45.5%</a:t>
            </a:r>
            <a:endParaRPr/>
          </a:p>
        </p:txBody>
      </p:sp>
      <p:sp>
        <p:nvSpPr>
          <p:cNvPr id="5581" name="Google Shape;5581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2" name="Google Shape;5582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84" name="Google Shape;5584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85" name="Google Shape;5585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86" name="Google Shape;5586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87" name="Google Shape;5587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5588" name="Google Shape;5588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9" name="Google Shape;5589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90" name="Google Shape;5590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591" name="Google Shape;5591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2" name="Google Shape;5592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593" name="Google Shape;5593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94" name="Google Shape;5594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35.7%</a:t>
            </a:r>
            <a:endParaRPr/>
          </a:p>
        </p:txBody>
      </p:sp>
      <p:sp>
        <p:nvSpPr>
          <p:cNvPr id="5595" name="Google Shape;5595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6" name="Google Shape;5596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97" name="Google Shape;5597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598" name="Google Shape;5598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9" name="Google Shape;5599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600" name="Google Shape;5600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01" name="Google Shape;5601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5602" name="Google Shape;5602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3" name="Google Shape;5603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04" name="Google Shape;5604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05" name="Google Shape;5605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06" name="Google Shape;5606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607" name="Google Shape;5607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08" name="Google Shape;5608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26.7%</a:t>
            </a:r>
            <a:endParaRPr/>
          </a:p>
        </p:txBody>
      </p:sp>
      <p:sp>
        <p:nvSpPr>
          <p:cNvPr id="5609" name="Google Shape;5609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0" name="Google Shape;5610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11" name="Google Shape;5611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5612" name="Google Shape;5612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613" name="Google Shape;5613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5614" name="Google Shape;5614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15" name="Google Shape;5615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20.3%</a:t>
            </a:r>
            <a:endParaRPr/>
          </a:p>
        </p:txBody>
      </p:sp>
      <p:sp>
        <p:nvSpPr>
          <p:cNvPr id="5616" name="Google Shape;5616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7" name="Google Shape;5617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18" name="Google Shape;5618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19" name="Google Shape;5619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20" name="Google Shape;5620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21" name="Google Shape;5621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22" name="Google Shape;5622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23" name="Google Shape;5623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24" name="Google Shape;5624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25" name="Google Shape;5625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26" name="Google Shape;5626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27" name="Google Shape;5627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28" name="Google Shape;5628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629" name="Google Shape;5629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630" name="Google Shape;5630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631" name="Google Shape;5631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32" name="Google Shape;5632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633" name="Google Shape;5633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634" name="Google Shape;5634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635" name="Google Shape;5635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636" name="Google Shape;5636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37" name="Google Shape;5637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38" name="Google Shape;5638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39" name="Google Shape;5639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40" name="Google Shape;5640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641" name="Google Shape;5641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42" name="Google Shape;5642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5643" name="Google Shape;5643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5644" name="Google Shape;5644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645" name="Google Shape;5645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$-5,367</a:t>
            </a:r>
            <a:endParaRPr/>
          </a:p>
        </p:txBody>
      </p:sp>
      <p:sp>
        <p:nvSpPr>
          <p:cNvPr id="5646" name="Google Shape;5646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647" name="Google Shape;5647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648" name="Google Shape;5648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5649" name="Google Shape;5649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650" name="Google Shape;5650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651" name="Google Shape;5651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5652" name="Google Shape;5652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5653" name="Google Shape;5653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654" name="Google Shape;5654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$179K</a:t>
            </a:r>
            <a:endParaRPr/>
          </a:p>
        </p:txBody>
      </p:sp>
      <p:sp>
        <p:nvSpPr>
          <p:cNvPr id="5655" name="Google Shape;5655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$130K</a:t>
            </a:r>
            <a:endParaRPr/>
          </a:p>
        </p:txBody>
      </p:sp>
      <p:sp>
        <p:nvSpPr>
          <p:cNvPr id="5656" name="Google Shape;5656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$308K</a:t>
            </a:r>
            <a:endParaRPr/>
          </a:p>
        </p:txBody>
      </p:sp>
      <p:sp>
        <p:nvSpPr>
          <p:cNvPr id="5657" name="Google Shape;5657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8" name="Google Shape;5658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659" name="Google Shape;5659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60" name="Google Shape;5660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$308,430 YTD gross written premium</a:t>
            </a:r>
            <a:endParaRPr/>
          </a:p>
        </p:txBody>
      </p:sp>
      <p:sp>
        <p:nvSpPr>
          <p:cNvPr id="5661" name="Google Shape;5661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62" name="Google Shape;5662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$219,453 in new business production</a:t>
            </a:r>
            <a:endParaRPr/>
          </a:p>
        </p:txBody>
      </p:sp>
      <p:sp>
        <p:nvSpPr>
          <p:cNvPr id="5663" name="Google Shape;5663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4" name="Google Shape;5664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65" name="Google Shape;5665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66" name="Google Shape;5666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44% of new business ($96,708)</a:t>
            </a:r>
            <a:endParaRPr/>
          </a:p>
        </p:txBody>
      </p:sp>
      <p:sp>
        <p:nvSpPr>
          <p:cNvPr id="5667" name="Google Shape;5667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8" name="Google Shape;5668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69" name="Google Shape;5669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70" name="Google Shape;5670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$219,453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671" name="Google Shape;5671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672" name="Google Shape;5672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$96,708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76" name="Shape 5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7" name="Google Shape;5677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8" name="Google Shape;5678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Checkers Truck Insurance Services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California  |  City: Ontario</a:t>
            </a:r>
            <a:endParaRPr/>
          </a:p>
        </p:txBody>
      </p:sp>
      <p:sp>
        <p:nvSpPr>
          <p:cNvPr id="5680" name="Google Shape;5680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$246,104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681" name="Google Shape;5681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82" name="Google Shape;5682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83" name="Google Shape;5683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84" name="Google Shape;5684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85" name="Google Shape;5685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$496,756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686" name="Google Shape;5686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$501,646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687" name="Google Shape;5687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688" name="Google Shape;5688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89" name="Google Shape;5689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90" name="Google Shape;5690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91" name="Google Shape;5691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$309,520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92" name="Google Shape;5692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93" name="Google Shape;5693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4" name="Google Shape;5694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96" name="Google Shape;5696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97" name="Google Shape;5697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98" name="Google Shape;5698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99" name="Google Shape;5699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00" name="Google Shape;5700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01" name="Google Shape;5701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2" name="Google Shape;5702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$6,283</a:t>
            </a:r>
            <a:endParaRPr/>
          </a:p>
        </p:txBody>
      </p:sp>
      <p:sp>
        <p:nvSpPr>
          <p:cNvPr id="5704" name="Google Shape;5704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5" name="Google Shape;5705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$6,283</a:t>
            </a:r>
            <a:endParaRPr/>
          </a:p>
        </p:txBody>
      </p:sp>
      <p:sp>
        <p:nvSpPr>
          <p:cNvPr id="5707" name="Google Shape;5707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8" name="Google Shape;5708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9" name="Google Shape;5709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$-7,380</a:t>
            </a:r>
            <a:endParaRPr/>
          </a:p>
        </p:txBody>
      </p:sp>
      <p:sp>
        <p:nvSpPr>
          <p:cNvPr id="5711" name="Google Shape;5711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2" name="Google Shape;5712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$-7,380</a:t>
            </a:r>
            <a:endParaRPr/>
          </a:p>
        </p:txBody>
      </p:sp>
      <p:sp>
        <p:nvSpPr>
          <p:cNvPr id="5714" name="Google Shape;5714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5" name="Google Shape;5715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6" name="Google Shape;5716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$19,606</a:t>
            </a:r>
            <a:endParaRPr/>
          </a:p>
        </p:txBody>
      </p:sp>
      <p:sp>
        <p:nvSpPr>
          <p:cNvPr id="5718" name="Google Shape;5718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$19,032</a:t>
            </a:r>
            <a:endParaRPr/>
          </a:p>
        </p:txBody>
      </p:sp>
      <p:sp>
        <p:nvSpPr>
          <p:cNvPr id="5719" name="Google Shape;5719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$574</a:t>
            </a:r>
            <a:endParaRPr/>
          </a:p>
        </p:txBody>
      </p:sp>
      <p:sp>
        <p:nvSpPr>
          <p:cNvPr id="5721" name="Google Shape;5721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$-3,761</a:t>
            </a:r>
            <a:endParaRPr/>
          </a:p>
        </p:txBody>
      </p:sp>
      <p:sp>
        <p:nvSpPr>
          <p:cNvPr id="5722" name="Google Shape;5722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3" name="Google Shape;5723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$22,660</a:t>
            </a:r>
            <a:endParaRPr/>
          </a:p>
        </p:txBody>
      </p:sp>
      <p:sp>
        <p:nvSpPr>
          <p:cNvPr id="5725" name="Google Shape;5725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$21,564</a:t>
            </a:r>
            <a:endParaRPr/>
          </a:p>
        </p:txBody>
      </p:sp>
      <p:sp>
        <p:nvSpPr>
          <p:cNvPr id="5726" name="Google Shape;5726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$1,096</a:t>
            </a:r>
            <a:endParaRPr/>
          </a:p>
        </p:txBody>
      </p:sp>
      <p:sp>
        <p:nvSpPr>
          <p:cNvPr id="5728" name="Google Shape;5728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$-4,736</a:t>
            </a:r>
            <a:endParaRPr/>
          </a:p>
        </p:txBody>
      </p:sp>
      <p:sp>
        <p:nvSpPr>
          <p:cNvPr id="5729" name="Google Shape;5729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0" name="Google Shape;5730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$204,935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$47,117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$157,818</a:t>
            </a:r>
            <a:endParaRPr/>
          </a:p>
        </p:txBody>
      </p:sp>
      <p:sp>
        <p:nvSpPr>
          <p:cNvPr id="5734" name="Google Shape;5734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5" name="Google Shape;5735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6" name="Google Shape;5736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7" name="Google Shape;5737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$246,104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$87,714</a:t>
            </a:r>
            <a:endParaRPr/>
          </a:p>
        </p:txBody>
      </p:sp>
      <p:sp>
        <p:nvSpPr>
          <p:cNvPr id="5740" name="Google Shape;5740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$157,818</a:t>
            </a:r>
            <a:endParaRPr/>
          </a:p>
        </p:txBody>
      </p:sp>
      <p:sp>
        <p:nvSpPr>
          <p:cNvPr id="5741" name="Google Shape;5741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$-8,497</a:t>
            </a:r>
            <a:endParaRPr/>
          </a:p>
        </p:txBody>
      </p:sp>
      <p:sp>
        <p:nvSpPr>
          <p:cNvPr id="5743" name="Google Shape;5743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4" name="Google Shape;5744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745" name="Google Shape;5745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46" name="Google Shape;5746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749" name="Google Shape;5749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0" name="Google Shape;5750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51" name="Google Shape;5751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2" name="Google Shape;5752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53" name="Google Shape;5753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754" name="Google Shape;5754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55" name="Google Shape;5755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756" name="Google Shape;5756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57" name="Google Shape;5757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5758" name="Google Shape;5758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9" name="Google Shape;5759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60" name="Google Shape;5760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763" name="Google Shape;5763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64" name="Google Shape;5764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5765" name="Google Shape;5765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6" name="Google Shape;5766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67" name="Google Shape;5767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768" name="Google Shape;5768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69" name="Google Shape;5769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770" name="Google Shape;5770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71" name="Google Shape;5771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772" name="Google Shape;5772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3" name="Google Shape;5773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74" name="Google Shape;5774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775" name="Google Shape;5775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76" name="Google Shape;5776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777" name="Google Shape;5777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78" name="Google Shape;5778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5779" name="Google Shape;5779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0" name="Google Shape;5780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81" name="Google Shape;5781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782" name="Google Shape;5782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83" name="Google Shape;5783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784" name="Google Shape;5784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85" name="Google Shape;5785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5786" name="Google Shape;5786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7" name="Google Shape;5787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88" name="Google Shape;5788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</a:t>
            </a:r>
            <a:endParaRPr/>
          </a:p>
        </p:txBody>
      </p:sp>
      <p:sp>
        <p:nvSpPr>
          <p:cNvPr id="5789" name="Google Shape;5789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90" name="Google Shape;5790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5791" name="Google Shape;5791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92" name="Google Shape;5792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5793" name="Google Shape;5793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4" name="Google Shape;5794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795" name="Google Shape;5795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96" name="Google Shape;5796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797" name="Google Shape;5797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798" name="Google Shape;5798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799" name="Google Shape;5799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00" name="Google Shape;5800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01" name="Google Shape;5801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02" name="Google Shape;5802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03" name="Google Shape;5803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04" name="Google Shape;5804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05" name="Google Shape;5805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06" name="Google Shape;5806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07" name="Google Shape;5807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08" name="Google Shape;5808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09" name="Google Shape;5809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10" name="Google Shape;5810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811" name="Google Shape;5811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12" name="Google Shape;5812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813" name="Google Shape;5813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814" name="Google Shape;5814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815" name="Google Shape;5815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816" name="Google Shape;5816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817" name="Google Shape;5817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818" name="Google Shape;5818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819" name="Google Shape;5819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5820" name="Google Shape;5820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5821" name="Google Shape;5821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22" name="Google Shape;5822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3" name="Google Shape;5823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824" name="Google Shape;5824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5" name="Google Shape;5825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$-7,380</a:t>
            </a:r>
            <a:endParaRPr/>
          </a:p>
        </p:txBody>
      </p:sp>
      <p:sp>
        <p:nvSpPr>
          <p:cNvPr id="5826" name="Google Shape;5826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827" name="Google Shape;5827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828" name="Google Shape;5828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5829" name="Google Shape;5829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830" name="Google Shape;5830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$135K</a:t>
            </a:r>
            <a:endParaRPr/>
          </a:p>
        </p:txBody>
      </p:sp>
      <p:sp>
        <p:nvSpPr>
          <p:cNvPr id="5831" name="Google Shape;5831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$205K</a:t>
            </a:r>
            <a:endParaRPr/>
          </a:p>
        </p:txBody>
      </p:sp>
      <p:sp>
        <p:nvSpPr>
          <p:cNvPr id="5832" name="Google Shape;5832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$241K</a:t>
            </a:r>
            <a:endParaRPr/>
          </a:p>
        </p:txBody>
      </p:sp>
      <p:sp>
        <p:nvSpPr>
          <p:cNvPr id="5833" name="Google Shape;5833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$246K</a:t>
            </a:r>
            <a:endParaRPr/>
          </a:p>
        </p:txBody>
      </p:sp>
      <p:sp>
        <p:nvSpPr>
          <p:cNvPr id="5834" name="Google Shape;5834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5" name="Google Shape;5835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836" name="Google Shape;5836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37" name="Google Shape;5837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$246,104 YTD gross written premium</a:t>
            </a:r>
            <a:endParaRPr/>
          </a:p>
        </p:txBody>
      </p:sp>
      <p:sp>
        <p:nvSpPr>
          <p:cNvPr id="5838" name="Google Shape;5838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39" name="Google Shape;5839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$87,714 in new business production</a:t>
            </a:r>
            <a:endParaRPr/>
          </a:p>
        </p:txBody>
      </p:sp>
      <p:sp>
        <p:nvSpPr>
          <p:cNvPr id="5840" name="Google Shape;5840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1" name="Google Shape;5841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842" name="Google Shape;5842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43" name="Google Shape;5843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844" name="Google Shape;5844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45" name="Google Shape;5845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846" name="Google Shape;5846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7" name="Google Shape;5847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48" name="Google Shape;5848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49" name="Google Shape;5849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$87,714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850" name="Google Shape;5850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851" name="Google Shape;5851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$157,818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55" name="Shape 5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6" name="Google Shape;5856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7" name="Google Shape;5857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Alparslan Enterprise Llc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N/A  |  City: N/A</a:t>
            </a:r>
            <a:endParaRPr/>
          </a:p>
        </p:txBody>
      </p:sp>
      <p:sp>
        <p:nvSpPr>
          <p:cNvPr id="5859" name="Google Shape;5859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$242,215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60" name="Google Shape;5860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$242,527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61" name="Google Shape;5861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62" name="Google Shape;5862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63" name="Google Shape;5863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$-41,512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64" name="Google Shape;5864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65" name="Google Shape;5865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$505,949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66" name="Google Shape;5866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67" name="Google Shape;5867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68" name="Google Shape;5868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69" name="Google Shape;5869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70" name="Google Shape;5870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71" name="Google Shape;5871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$124,513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72" name="Google Shape;5872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3" name="Google Shape;5873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74" name="Google Shape;5874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75" name="Google Shape;5875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76" name="Google Shape;5876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77" name="Google Shape;5877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78" name="Google Shape;5878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79" name="Google Shape;5879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80" name="Google Shape;5880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1" name="Google Shape;5881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82" name="Google Shape;5882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$117,631</a:t>
            </a:r>
            <a:endParaRPr/>
          </a:p>
        </p:txBody>
      </p:sp>
      <p:sp>
        <p:nvSpPr>
          <p:cNvPr id="5883" name="Google Shape;5883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$89,020</a:t>
            </a:r>
            <a:endParaRPr/>
          </a:p>
        </p:txBody>
      </p:sp>
      <p:sp>
        <p:nvSpPr>
          <p:cNvPr id="5884" name="Google Shape;5884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$28,611</a:t>
            </a:r>
            <a:endParaRPr/>
          </a:p>
        </p:txBody>
      </p:sp>
      <p:sp>
        <p:nvSpPr>
          <p:cNvPr id="5886" name="Google Shape;5886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$-36,771</a:t>
            </a:r>
            <a:endParaRPr/>
          </a:p>
        </p:txBody>
      </p:sp>
      <p:sp>
        <p:nvSpPr>
          <p:cNvPr id="5887" name="Google Shape;5887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8" name="Google Shape;5888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89" name="Google Shape;5889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$108,906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$116,574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$-7,668</a:t>
            </a:r>
            <a:endParaRPr/>
          </a:p>
        </p:txBody>
      </p:sp>
      <p:sp>
        <p:nvSpPr>
          <p:cNvPr id="5893" name="Google Shape;5893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4" name="Google Shape;5894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5" name="Google Shape;5895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96" name="Google Shape;5896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$-17,397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8" name="Google Shape;5898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$-17,397</a:t>
            </a:r>
            <a:endParaRPr/>
          </a:p>
        </p:txBody>
      </p:sp>
      <p:sp>
        <p:nvSpPr>
          <p:cNvPr id="5900" name="Google Shape;5900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1" name="Google Shape;5901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2" name="Google Shape;5902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03" name="Google Shape;5903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5" name="Google Shape;5905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6" name="Google Shape;5906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</a:t>
            </a:r>
            <a:endParaRPr/>
          </a:p>
        </p:txBody>
      </p:sp>
      <p:sp>
        <p:nvSpPr>
          <p:cNvPr id="5907" name="Google Shape;5907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8" name="Google Shape;5908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9" name="Google Shape;5909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10" name="Google Shape;5910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$32,069</a:t>
            </a:r>
            <a:endParaRPr/>
          </a:p>
        </p:txBody>
      </p:sp>
      <p:sp>
        <p:nvSpPr>
          <p:cNvPr id="5911" name="Google Shape;5911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$36,933</a:t>
            </a:r>
            <a:endParaRPr/>
          </a:p>
        </p:txBody>
      </p:sp>
      <p:sp>
        <p:nvSpPr>
          <p:cNvPr id="5912" name="Google Shape;5912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$-4,864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$-4,741</a:t>
            </a:r>
            <a:endParaRPr/>
          </a:p>
        </p:txBody>
      </p:sp>
      <p:sp>
        <p:nvSpPr>
          <p:cNvPr id="5915" name="Google Shape;5915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6" name="Google Shape;5916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17" name="Google Shape;5917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$242,215</a:t>
            </a:r>
            <a:endParaRPr/>
          </a:p>
        </p:txBody>
      </p:sp>
      <p:sp>
        <p:nvSpPr>
          <p:cNvPr id="5918" name="Google Shape;5918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$242,527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$-312</a:t>
            </a:r>
            <a:endParaRPr/>
          </a:p>
        </p:txBody>
      </p:sp>
      <p:sp>
        <p:nvSpPr>
          <p:cNvPr id="5921" name="Google Shape;5921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$-41,512</a:t>
            </a:r>
            <a:endParaRPr/>
          </a:p>
        </p:txBody>
      </p:sp>
      <p:sp>
        <p:nvSpPr>
          <p:cNvPr id="5922" name="Google Shape;5922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3" name="Google Shape;5923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24" name="Google Shape;5924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25" name="Google Shape;5925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27" name="Google Shape;5927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28" name="Google Shape;5928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29" name="Google Shape;5929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30" name="Google Shape;5930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1" name="Google Shape;5931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32" name="Google Shape;5932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933" name="Google Shape;5933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34" name="Google Shape;5934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935" name="Google Shape;5935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36" name="Google Shape;5936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5937" name="Google Shape;5937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8" name="Google Shape;5938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39" name="Google Shape;5939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40" name="Google Shape;5940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41" name="Google Shape;5941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42" name="Google Shape;5942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43" name="Google Shape;5943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5944" name="Google Shape;5944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5" name="Google Shape;5945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46" name="Google Shape;5946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47" name="Google Shape;5947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48" name="Google Shape;5948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49" name="Google Shape;5949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50" name="Google Shape;5950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951" name="Google Shape;5951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2" name="Google Shape;5952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53" name="Google Shape;5953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54" name="Google Shape;5954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55" name="Google Shape;5955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56" name="Google Shape;5956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57" name="Google Shape;5957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958" name="Google Shape;5958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9" name="Google Shape;5959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60" name="Google Shape;5960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61" name="Google Shape;5961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62" name="Google Shape;5962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963" name="Google Shape;5963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64" name="Google Shape;5964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965" name="Google Shape;5965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6" name="Google Shape;5966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67" name="Google Shape;5967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968" name="Google Shape;5968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69" name="Google Shape;5969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970" name="Google Shape;5970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71" name="Google Shape;5971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16.1%</a:t>
            </a:r>
            <a:endParaRPr/>
          </a:p>
        </p:txBody>
      </p:sp>
      <p:sp>
        <p:nvSpPr>
          <p:cNvPr id="5972" name="Google Shape;5972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3" name="Google Shape;5973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974" name="Google Shape;5974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75" name="Google Shape;5975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976" name="Google Shape;5976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77" name="Google Shape;5977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78" name="Google Shape;5978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79" name="Google Shape;5979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80" name="Google Shape;5980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81" name="Google Shape;5981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982" name="Google Shape;5982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983" name="Google Shape;5983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984" name="Google Shape;5984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985" name="Google Shape;5985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986" name="Google Shape;5986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987" name="Google Shape;5987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88" name="Google Shape;5988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9" name="Google Shape;5989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990" name="Google Shape;5990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1" name="Google Shape;5991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92" name="Google Shape;5992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3" name="Google Shape;5993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94" name="Google Shape;5994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5" name="Google Shape;5995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96" name="Google Shape;5996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7" name="Google Shape;5997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98" name="Google Shape;5998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9" name="Google Shape;5999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000" name="Google Shape;6000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01" name="Google Shape;6001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2" name="Google Shape;6002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6003" name="Google Shape;6003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4" name="Google Shape;6004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6005" name="Google Shape;6005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6" name="Google Shape;6006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$-17,397</a:t>
            </a:r>
            <a:endParaRPr/>
          </a:p>
        </p:txBody>
      </p:sp>
      <p:sp>
        <p:nvSpPr>
          <p:cNvPr id="6007" name="Google Shape;6007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8" name="Google Shape;6008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009" name="Google Shape;6009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0" name="Google Shape;6010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6011" name="Google Shape;6011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2" name="Google Shape;6012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$242K</a:t>
            </a:r>
            <a:endParaRPr/>
          </a:p>
        </p:txBody>
      </p:sp>
      <p:sp>
        <p:nvSpPr>
          <p:cNvPr id="6013" name="Google Shape;6013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4" name="Google Shape;6014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15" name="Google Shape;6015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16" name="Google Shape;6016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$242,215 YTD gross written premium</a:t>
            </a:r>
            <a:endParaRPr/>
          </a:p>
        </p:txBody>
      </p:sp>
      <p:sp>
        <p:nvSpPr>
          <p:cNvPr id="6017" name="Google Shape;6017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18" name="Google Shape;6018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$242,527 in new business production</a:t>
            </a:r>
            <a:endParaRPr/>
          </a:p>
        </p:txBody>
      </p:sp>
      <p:sp>
        <p:nvSpPr>
          <p:cNvPr id="6019" name="Google Shape;6019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0" name="Google Shape;6020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21" name="Google Shape;6021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22" name="Google Shape;6022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023" name="Google Shape;6023;p3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24" name="Google Shape;6024;p3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025" name="Google Shape;6025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6" name="Google Shape;6026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27" name="Google Shape;6027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28" name="Google Shape;6028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$242,527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029" name="Google Shape;6029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030" name="Google Shape;6030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34" name="Shape 6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5" name="Google Shape;6035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6" name="Google Shape;6036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Insuremart Inc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Las Vegas</a:t>
            </a:r>
            <a:endParaRPr/>
          </a:p>
        </p:txBody>
      </p:sp>
      <p:sp>
        <p:nvSpPr>
          <p:cNvPr id="6038" name="Google Shape;6038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$223,786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039" name="Google Shape;6039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$190,314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40" name="Google Shape;6040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41" name="Google Shape;6041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42" name="Google Shape;6042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$-174,974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43" name="Google Shape;6043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$825,532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44" name="Google Shape;6044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$370,058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45" name="Google Shape;6045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46" name="Google Shape;6046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47" name="Google Shape;6047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48" name="Google Shape;6048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49" name="Google Shape;6049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50" name="Google Shape;6050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51" name="Google Shape;6051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2" name="Google Shape;6052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53" name="Google Shape;6053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54" name="Google Shape;6054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57" name="Google Shape;6057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58" name="Google Shape;6058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59" name="Google Shape;6059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0" name="Google Shape;6060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61" name="Google Shape;6061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$19,854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3" name="Google Shape;6063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$19,854</a:t>
            </a:r>
            <a:endParaRPr/>
          </a:p>
        </p:txBody>
      </p:sp>
      <p:sp>
        <p:nvSpPr>
          <p:cNvPr id="6065" name="Google Shape;6065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$-26,444</a:t>
            </a:r>
            <a:endParaRPr/>
          </a:p>
        </p:txBody>
      </p:sp>
      <p:sp>
        <p:nvSpPr>
          <p:cNvPr id="6066" name="Google Shape;6066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7" name="Google Shape;6067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68" name="Google Shape;6068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$89,002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$74,249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$16,970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$-2,218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$-74,249</a:t>
            </a:r>
            <a:endParaRPr/>
          </a:p>
        </p:txBody>
      </p:sp>
      <p:sp>
        <p:nvSpPr>
          <p:cNvPr id="6073" name="Google Shape;6073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4" name="Google Shape;6074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75" name="Google Shape;6075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$36,761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$37,905</a:t>
            </a:r>
            <a:endParaRPr/>
          </a:p>
        </p:txBody>
      </p:sp>
      <p:sp>
        <p:nvSpPr>
          <p:cNvPr id="6077" name="Google Shape;6077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$-1,144</a:t>
            </a:r>
            <a:endParaRPr/>
          </a:p>
        </p:txBody>
      </p:sp>
      <p:sp>
        <p:nvSpPr>
          <p:cNvPr id="6079" name="Google Shape;6079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0" name="Google Shape;6080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1" name="Google Shape;6081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82" name="Google Shape;6082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$78,170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$78,160</a:t>
            </a:r>
            <a:endParaRPr/>
          </a:p>
        </p:txBody>
      </p:sp>
      <p:sp>
        <p:nvSpPr>
          <p:cNvPr id="6084" name="Google Shape;6084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5" name="Google Shape;6085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086" name="Google Shape;6086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$-46,696</a:t>
            </a:r>
            <a:endParaRPr/>
          </a:p>
        </p:txBody>
      </p:sp>
      <p:sp>
        <p:nvSpPr>
          <p:cNvPr id="6087" name="Google Shape;6087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8" name="Google Shape;6088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89" name="Google Shape;6089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1" name="Google Shape;6091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$-27,585</a:t>
            </a:r>
            <a:endParaRPr/>
          </a:p>
        </p:txBody>
      </p:sp>
      <p:sp>
        <p:nvSpPr>
          <p:cNvPr id="6094" name="Google Shape;6094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5" name="Google Shape;6095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$223,786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$190,314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$16,970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$16,503</a:t>
            </a:r>
            <a:endParaRPr/>
          </a:p>
        </p:txBody>
      </p:sp>
      <p:sp>
        <p:nvSpPr>
          <p:cNvPr id="6100" name="Google Shape;6100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$-174,974</a:t>
            </a:r>
            <a:endParaRPr/>
          </a:p>
        </p:txBody>
      </p:sp>
      <p:sp>
        <p:nvSpPr>
          <p:cNvPr id="6101" name="Google Shape;6101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2" name="Google Shape;6102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06" name="Google Shape;6106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07" name="Google Shape;6107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08" name="Google Shape;6108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09" name="Google Shape;6109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0" name="Google Shape;6110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11" name="Google Shape;6111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112" name="Google Shape;6112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3" name="Google Shape;6113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114" name="Google Shape;6114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15" name="Google Shape;6115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6116" name="Google Shape;6116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7" name="Google Shape;6117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18" name="Google Shape;6118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6119" name="Google Shape;6119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20" name="Google Shape;6120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6121" name="Google Shape;6121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22" name="Google Shape;6122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6123" name="Google Shape;6123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4" name="Google Shape;6124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25" name="Google Shape;6125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126" name="Google Shape;6126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27" name="Google Shape;6127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128" name="Google Shape;6128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29" name="Google Shape;6129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6130" name="Google Shape;6130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1" name="Google Shape;6131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32" name="Google Shape;6132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6133" name="Google Shape;6133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134" name="Google Shape;6134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135" name="Google Shape;6135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36" name="Google Shape;6136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6137" name="Google Shape;6137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8" name="Google Shape;6138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39" name="Google Shape;6139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140" name="Google Shape;6140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141" name="Google Shape;6141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142" name="Google Shape;6142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43" name="Google Shape;6143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44" name="Google Shape;6144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5" name="Google Shape;6145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46" name="Google Shape;6146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6147" name="Google Shape;6147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6148" name="Google Shape;6148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</a:t>
            </a:r>
            <a:endParaRPr/>
          </a:p>
        </p:txBody>
      </p:sp>
      <p:sp>
        <p:nvSpPr>
          <p:cNvPr id="6149" name="Google Shape;6149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150" name="Google Shape;6150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151" name="Google Shape;6151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2" name="Google Shape;6152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153" name="Google Shape;6153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54" name="Google Shape;6154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155" name="Google Shape;6155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156" name="Google Shape;6156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157" name="Google Shape;6157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158" name="Google Shape;6158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159" name="Google Shape;6159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160" name="Google Shape;6160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161" name="Google Shape;6161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162" name="Google Shape;6162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63" name="Google Shape;6163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64" name="Google Shape;6164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165" name="Google Shape;6165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166" name="Google Shape;6166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67" name="Google Shape;6167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6168" name="Google Shape;6168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169" name="Google Shape;6169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6170" name="Google Shape;6170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6171" name="Google Shape;6171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172" name="Google Shape;6172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173" name="Google Shape;6173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174" name="Google Shape;6174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6175" name="Google Shape;6175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176" name="Google Shape;6176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177" name="Google Shape;6177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6178" name="Google Shape;6178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6179" name="Google Shape;6179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80" name="Google Shape;6180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6181" name="Google Shape;6181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182" name="Google Shape;6182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$303K</a:t>
            </a:r>
            <a:endParaRPr/>
          </a:p>
        </p:txBody>
      </p:sp>
      <p:sp>
        <p:nvSpPr>
          <p:cNvPr id="6183" name="Google Shape;6183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6184" name="Google Shape;6184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185" name="Google Shape;6185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6186" name="Google Shape;6186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6187" name="Google Shape;6187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6188" name="Google Shape;6188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$214K</a:t>
            </a:r>
            <a:endParaRPr/>
          </a:p>
        </p:txBody>
      </p:sp>
      <p:sp>
        <p:nvSpPr>
          <p:cNvPr id="6189" name="Google Shape;6189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0" name="Google Shape;6190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$679K</a:t>
            </a:r>
            <a:endParaRPr/>
          </a:p>
        </p:txBody>
      </p:sp>
      <p:sp>
        <p:nvSpPr>
          <p:cNvPr id="6191" name="Google Shape;6191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$224K</a:t>
            </a:r>
            <a:endParaRPr/>
          </a:p>
        </p:txBody>
      </p:sp>
      <p:sp>
        <p:nvSpPr>
          <p:cNvPr id="6192" name="Google Shape;6192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3" name="Google Shape;6193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194" name="Google Shape;6194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95" name="Google Shape;6195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$223,786 YTD gross written premium</a:t>
            </a:r>
            <a:endParaRPr/>
          </a:p>
        </p:txBody>
      </p:sp>
      <p:sp>
        <p:nvSpPr>
          <p:cNvPr id="6196" name="Google Shape;6196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97" name="Google Shape;6197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$190,314 in new business production</a:t>
            </a:r>
            <a:endParaRPr/>
          </a:p>
        </p:txBody>
      </p:sp>
      <p:sp>
        <p:nvSpPr>
          <p:cNvPr id="6198" name="Google Shape;6198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9" name="Google Shape;6199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00" name="Google Shape;6200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01" name="Google Shape;6201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92% of new business ($174,974)</a:t>
            </a:r>
            <a:endParaRPr/>
          </a:p>
        </p:txBody>
      </p:sp>
      <p:sp>
        <p:nvSpPr>
          <p:cNvPr id="6202" name="Google Shape;6202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03" name="Google Shape;6203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204" name="Google Shape;6204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5" name="Google Shape;6205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06" name="Google Shape;6206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07" name="Google Shape;6207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$190,314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208" name="Google Shape;6208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09" name="Google Shape;6209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$174,974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13" name="Shape 6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Google Shape;6214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5" name="Google Shape;6215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Freedom Insurance Services Pc</a:t>
            </a:r>
            <a:endParaRPr/>
          </a:p>
        </p:txBody>
      </p:sp>
      <p:sp>
        <p:nvSpPr>
          <p:cNvPr id="6216" name="Google Shape;6216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Las Vegas</a:t>
            </a:r>
            <a:endParaRPr/>
          </a:p>
        </p:txBody>
      </p:sp>
      <p:sp>
        <p:nvSpPr>
          <p:cNvPr id="6217" name="Google Shape;6217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$210,947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18" name="Google Shape;6218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19" name="Google Shape;6219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20" name="Google Shape;6220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21" name="Google Shape;6221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$-59,867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22" name="Google Shape;6222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$467,093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23" name="Google Shape;6223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$647,471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24" name="Google Shape;6224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225" name="Google Shape;6225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26" name="Google Shape;6226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27" name="Google Shape;6227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28" name="Google Shape;6228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$84,569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229" name="Google Shape;6229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$223,592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230" name="Google Shape;6230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1" name="Google Shape;6231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234" name="Google Shape;6234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35" name="Google Shape;6235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37" name="Google Shape;6237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38" name="Google Shape;6238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9" name="Google Shape;6239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40" name="Google Shape;6240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2" name="Google Shape;6242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3" name="Google Shape;6243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4" name="Google Shape;6244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5" name="Google Shape;6245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6" name="Google Shape;6246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$37,357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$36,761</a:t>
            </a:r>
            <a:endParaRPr/>
          </a:p>
        </p:txBody>
      </p:sp>
      <p:sp>
        <p:nvSpPr>
          <p:cNvPr id="6249" name="Google Shape;6249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0" name="Google Shape;6250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$596</a:t>
            </a:r>
            <a:endParaRPr/>
          </a:p>
        </p:txBody>
      </p:sp>
      <p:sp>
        <p:nvSpPr>
          <p:cNvPr id="6251" name="Google Shape;6251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2" name="Google Shape;6252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3" name="Google Shape;6253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54" name="Google Shape;6254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$60,351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$21,057</a:t>
            </a:r>
            <a:endParaRPr/>
          </a:p>
        </p:txBody>
      </p:sp>
      <p:sp>
        <p:nvSpPr>
          <p:cNvPr id="6256" name="Google Shape;6256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$17,157</a:t>
            </a:r>
            <a:endParaRPr/>
          </a:p>
        </p:txBody>
      </p:sp>
      <p:sp>
        <p:nvSpPr>
          <p:cNvPr id="6257" name="Google Shape;6257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$22,137</a:t>
            </a:r>
            <a:endParaRPr/>
          </a:p>
        </p:txBody>
      </p:sp>
      <p:sp>
        <p:nvSpPr>
          <p:cNvPr id="6258" name="Google Shape;6258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$-22,137</a:t>
            </a:r>
            <a:endParaRPr/>
          </a:p>
        </p:txBody>
      </p:sp>
      <p:sp>
        <p:nvSpPr>
          <p:cNvPr id="6259" name="Google Shape;6259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0" name="Google Shape;6260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61" name="Google Shape;6261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$60,187</a:t>
            </a:r>
            <a:endParaRPr/>
          </a:p>
        </p:txBody>
      </p:sp>
      <p:sp>
        <p:nvSpPr>
          <p:cNvPr id="6262" name="Google Shape;6262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$36,530</a:t>
            </a:r>
            <a:endParaRPr/>
          </a:p>
        </p:txBody>
      </p:sp>
      <p:sp>
        <p:nvSpPr>
          <p:cNvPr id="6263" name="Google Shape;6263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4" name="Google Shape;6264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$23,657</a:t>
            </a:r>
            <a:endParaRPr/>
          </a:p>
        </p:txBody>
      </p:sp>
      <p:sp>
        <p:nvSpPr>
          <p:cNvPr id="6265" name="Google Shape;6265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$-19,788</a:t>
            </a:r>
            <a:endParaRPr/>
          </a:p>
        </p:txBody>
      </p:sp>
      <p:sp>
        <p:nvSpPr>
          <p:cNvPr id="6266" name="Google Shape;6266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7" name="Google Shape;6267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68" name="Google Shape;6268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$53,052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$35,748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$17,303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$-17,942</a:t>
            </a:r>
            <a:endParaRPr/>
          </a:p>
        </p:txBody>
      </p:sp>
      <p:sp>
        <p:nvSpPr>
          <p:cNvPr id="6273" name="Google Shape;6273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4" name="Google Shape;6274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$210,947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$130,097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$17,157</a:t>
            </a:r>
            <a:endParaRPr/>
          </a:p>
        </p:txBody>
      </p:sp>
      <p:sp>
        <p:nvSpPr>
          <p:cNvPr id="6278" name="Google Shape;6278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$63,693</a:t>
            </a:r>
            <a:endParaRPr/>
          </a:p>
        </p:txBody>
      </p:sp>
      <p:sp>
        <p:nvSpPr>
          <p:cNvPr id="6279" name="Google Shape;6279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$-59,867</a:t>
            </a:r>
            <a:endParaRPr/>
          </a:p>
        </p:txBody>
      </p:sp>
      <p:sp>
        <p:nvSpPr>
          <p:cNvPr id="6280" name="Google Shape;6280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1" name="Google Shape;6281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284" name="Google Shape;6284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285" name="Google Shape;6285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286" name="Google Shape;6286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87" name="Google Shape;6287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88" name="Google Shape;6288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9" name="Google Shape;6289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90" name="Google Shape;6290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91" name="Google Shape;6291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2" name="Google Shape;6292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93" name="Google Shape;6293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94" name="Google Shape;6294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295" name="Google Shape;6295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6" name="Google Shape;6296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97" name="Google Shape;6297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298" name="Google Shape;6298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99" name="Google Shape;6299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300" name="Google Shape;6300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01" name="Google Shape;6301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6302" name="Google Shape;6302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3" name="Google Shape;6303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04" name="Google Shape;6304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305" name="Google Shape;6305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06" name="Google Shape;6306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307" name="Google Shape;6307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08" name="Google Shape;6308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6309" name="Google Shape;6309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0" name="Google Shape;6310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11" name="Google Shape;6311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312" name="Google Shape;6312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13" name="Google Shape;6313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314" name="Google Shape;6314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15" name="Google Shape;6315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6316" name="Google Shape;6316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7" name="Google Shape;6317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18" name="Google Shape;6318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319" name="Google Shape;6319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20" name="Google Shape;6320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321" name="Google Shape;6321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22" name="Google Shape;6322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21.1%</a:t>
            </a:r>
            <a:endParaRPr/>
          </a:p>
        </p:txBody>
      </p:sp>
      <p:sp>
        <p:nvSpPr>
          <p:cNvPr id="6323" name="Google Shape;6323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4" name="Google Shape;6324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25" name="Google Shape;6325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6326" name="Google Shape;6326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27" name="Google Shape;6327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328" name="Google Shape;6328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29" name="Google Shape;6329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6330" name="Google Shape;6330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1" name="Google Shape;6331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332" name="Google Shape;6332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33" name="Google Shape;6333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334" name="Google Shape;6334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335" name="Google Shape;6335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336" name="Google Shape;6336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337" name="Google Shape;6337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338" name="Google Shape;6338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339" name="Google Shape;6339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340" name="Google Shape;6340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341" name="Google Shape;6341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342" name="Google Shape;6342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343" name="Google Shape;6343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344" name="Google Shape;6344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345" name="Google Shape;6345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46" name="Google Shape;6346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347" name="Google Shape;6347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48" name="Google Shape;6348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49" name="Google Shape;6349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350" name="Google Shape;6350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51" name="Google Shape;6351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352" name="Google Shape;6352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353" name="Google Shape;6353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354" name="Google Shape;6354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55" name="Google Shape;6355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356" name="Google Shape;6356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6357" name="Google Shape;6357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6358" name="Google Shape;6358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359" name="Google Shape;6359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0" name="Google Shape;6360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1" name="Google Shape;6361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2" name="Google Shape;6362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6363" name="Google Shape;6363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6364" name="Google Shape;6364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6365" name="Google Shape;6365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366" name="Google Shape;6366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6367" name="Google Shape;6367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8" name="Google Shape;6368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6369" name="Google Shape;6369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6370" name="Google Shape;6370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$211K</a:t>
            </a:r>
            <a:endParaRPr/>
          </a:p>
        </p:txBody>
      </p:sp>
      <p:sp>
        <p:nvSpPr>
          <p:cNvPr id="6371" name="Google Shape;6371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2" name="Google Shape;6372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373" name="Google Shape;6373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74" name="Google Shape;6374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$210,947 YTD gross written premium</a:t>
            </a:r>
            <a:endParaRPr/>
          </a:p>
        </p:txBody>
      </p:sp>
      <p:sp>
        <p:nvSpPr>
          <p:cNvPr id="6375" name="Google Shape;6375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76" name="Google Shape;6376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$130,097 in new business production</a:t>
            </a:r>
            <a:endParaRPr/>
          </a:p>
        </p:txBody>
      </p:sp>
      <p:sp>
        <p:nvSpPr>
          <p:cNvPr id="6377" name="Google Shape;6377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8" name="Google Shape;6378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379" name="Google Shape;6379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80" name="Google Shape;6380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46% of new business ($59,867)</a:t>
            </a:r>
            <a:endParaRPr/>
          </a:p>
        </p:txBody>
      </p:sp>
      <p:sp>
        <p:nvSpPr>
          <p:cNvPr id="6381" name="Google Shape;6381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2" name="Google Shape;6382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383" name="Google Shape;6383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384" name="Google Shape;6384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$130,097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385" name="Google Shape;6385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386" name="Google Shape;6386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$59,867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90" name="Shape 6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1" name="Google Shape;6391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2" name="Google Shape;6392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Northdale Insurance Agency, Inc</a:t>
            </a:r>
            <a:endParaRPr/>
          </a:p>
        </p:txBody>
      </p:sp>
      <p:sp>
        <p:nvSpPr>
          <p:cNvPr id="6393" name="Google Shape;6393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6394" name="Google Shape;6394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$201,522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395" name="Google Shape;6395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96" name="Google Shape;6396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97" name="Google Shape;6397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98" name="Google Shape;6398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$-153,029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99" name="Google Shape;6399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$1,118,229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00" name="Google Shape;6400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$1,203,838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01" name="Google Shape;6401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02" name="Google Shape;6402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03" name="Google Shape;6403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04" name="Google Shape;6404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05" name="Google Shape;6405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06" name="Google Shape;6406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$212,581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07" name="Google Shape;6407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8" name="Google Shape;6408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09" name="Google Shape;6409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10" name="Google Shape;6410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11" name="Google Shape;6411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12" name="Google Shape;6412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14" name="Google Shape;6414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15" name="Google Shape;6415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6" name="Google Shape;6416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17" name="Google Shape;6417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$57,807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19" name="Google Shape;6419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0" name="Google Shape;6420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$57,807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$-64,445</a:t>
            </a:r>
            <a:endParaRPr/>
          </a:p>
        </p:txBody>
      </p:sp>
      <p:sp>
        <p:nvSpPr>
          <p:cNvPr id="6422" name="Google Shape;6422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3" name="Google Shape;6423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24" name="Google Shape;6424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$42,169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$14,717</a:t>
            </a:r>
            <a:endParaRPr/>
          </a:p>
        </p:txBody>
      </p:sp>
      <p:sp>
        <p:nvSpPr>
          <p:cNvPr id="6426" name="Google Shape;6426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7" name="Google Shape;6427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$27,452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$-88,584</a:t>
            </a:r>
            <a:endParaRPr/>
          </a:p>
        </p:txBody>
      </p:sp>
      <p:sp>
        <p:nvSpPr>
          <p:cNvPr id="6429" name="Google Shape;6429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0" name="Google Shape;6430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31" name="Google Shape;6431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3" name="Google Shape;6433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4" name="Google Shape;6434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6" name="Google Shape;6436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7" name="Google Shape;6437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38" name="Google Shape;6438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$15,035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$22,406</a:t>
            </a:r>
            <a:endParaRPr/>
          </a:p>
        </p:txBody>
      </p:sp>
      <p:sp>
        <p:nvSpPr>
          <p:cNvPr id="6440" name="Google Shape;6440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1" name="Google Shape;6441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$-7,371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3" name="Google Shape;6443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4" name="Google Shape;6444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$86,511</a:t>
            </a:r>
            <a:endParaRPr/>
          </a:p>
        </p:txBody>
      </p:sp>
      <p:sp>
        <p:nvSpPr>
          <p:cNvPr id="6446" name="Google Shape;6446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$86,007</a:t>
            </a:r>
            <a:endParaRPr/>
          </a:p>
        </p:txBody>
      </p:sp>
      <p:sp>
        <p:nvSpPr>
          <p:cNvPr id="6447" name="Google Shape;6447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$504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0" name="Google Shape;6450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1" name="Google Shape;6451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$201,522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$123,130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5" name="Google Shape;6455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$78,392</a:t>
            </a:r>
            <a:endParaRPr/>
          </a:p>
        </p:txBody>
      </p:sp>
      <p:sp>
        <p:nvSpPr>
          <p:cNvPr id="6456" name="Google Shape;6456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$-153,029</a:t>
            </a:r>
            <a:endParaRPr/>
          </a:p>
        </p:txBody>
      </p:sp>
      <p:sp>
        <p:nvSpPr>
          <p:cNvPr id="6457" name="Google Shape;6457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8" name="Google Shape;6458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60" name="Google Shape;6460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461" name="Google Shape;6461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462" name="Google Shape;6462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463" name="Google Shape;6463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64" name="Google Shape;6464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65" name="Google Shape;6465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6" name="Google Shape;6466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67" name="Google Shape;6467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468" name="Google Shape;6468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69" name="Google Shape;6469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470" name="Google Shape;6470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71" name="Google Shape;6471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6472" name="Google Shape;6472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3" name="Google Shape;6473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74" name="Google Shape;6474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475" name="Google Shape;6475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76" name="Google Shape;6476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477" name="Google Shape;6477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78" name="Google Shape;6478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6479" name="Google Shape;6479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0" name="Google Shape;6480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81" name="Google Shape;6481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482" name="Google Shape;6482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483" name="Google Shape;6483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484" name="Google Shape;6484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85" name="Google Shape;6485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6486" name="Google Shape;6486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7" name="Google Shape;6487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88" name="Google Shape;6488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6489" name="Google Shape;6489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90" name="Google Shape;6490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491" name="Google Shape;6491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92" name="Google Shape;6492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11.6%</a:t>
            </a:r>
            <a:endParaRPr/>
          </a:p>
        </p:txBody>
      </p:sp>
      <p:sp>
        <p:nvSpPr>
          <p:cNvPr id="6493" name="Google Shape;6493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4" name="Google Shape;6494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95" name="Google Shape;6495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6496" name="Google Shape;6496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97" name="Google Shape;6497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498" name="Google Shape;6498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99" name="Google Shape;6499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6500" name="Google Shape;6500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1" name="Google Shape;6501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02" name="Google Shape;6502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</p:txBody>
      </p:sp>
      <p:sp>
        <p:nvSpPr>
          <p:cNvPr id="6503" name="Google Shape;6503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04" name="Google Shape;6504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6505" name="Google Shape;6505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506" name="Google Shape;6506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6507" name="Google Shape;6507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8" name="Google Shape;6508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509" name="Google Shape;6509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10" name="Google Shape;6510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11" name="Google Shape;6511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12" name="Google Shape;6512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13" name="Google Shape;6513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14" name="Google Shape;6514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15" name="Google Shape;6515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516" name="Google Shape;6516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517" name="Google Shape;6517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518" name="Google Shape;6518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519" name="Google Shape;6519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520" name="Google Shape;6520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521" name="Google Shape;6521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522" name="Google Shape;6522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23" name="Google Shape;6523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24" name="Google Shape;6524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525" name="Google Shape;6525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26" name="Google Shape;6526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27" name="Google Shape;6527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28" name="Google Shape;6528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529" name="Google Shape;6529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30" name="Google Shape;6530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6531" name="Google Shape;6531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532" name="Google Shape;6532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6533" name="Google Shape;6533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534" name="Google Shape;6534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6535" name="Google Shape;6535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536" name="Google Shape;6536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7" name="Google Shape;6537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6538" name="Google Shape;6538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9" name="Google Shape;6539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6540" name="Google Shape;6540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1" name="Google Shape;6541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2" name="Google Shape;6542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3" name="Google Shape;6543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6544" name="Google Shape;6544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6545" name="Google Shape;6545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6546" name="Google Shape;6546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6547" name="Google Shape;6547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6548" name="Google Shape;6548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9" name="Google Shape;6549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550" name="Google Shape;6550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51" name="Google Shape;6551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$201,522 YTD gross written premium</a:t>
            </a:r>
            <a:endParaRPr/>
          </a:p>
        </p:txBody>
      </p:sp>
      <p:sp>
        <p:nvSpPr>
          <p:cNvPr id="6552" name="Google Shape;6552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53" name="Google Shape;6553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$123,130 in new business production</a:t>
            </a:r>
            <a:endParaRPr/>
          </a:p>
        </p:txBody>
      </p:sp>
      <p:sp>
        <p:nvSpPr>
          <p:cNvPr id="6554" name="Google Shape;6554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5" name="Google Shape;6555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556" name="Google Shape;6556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57" name="Google Shape;6557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124% of new business ($153,029)</a:t>
            </a:r>
            <a:endParaRPr/>
          </a:p>
        </p:txBody>
      </p:sp>
      <p:sp>
        <p:nvSpPr>
          <p:cNvPr id="6558" name="Google Shape;6558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9" name="Google Shape;6559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560" name="Google Shape;6560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561" name="Google Shape;6561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$123,130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562" name="Google Shape;6562;p4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563" name="Google Shape;6563;p4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$153,029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67" name="Shape 6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8" name="Google Shape;6568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9" name="Google Shape;6569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Swan Insurance Sales, Llc</a:t>
            </a:r>
            <a:endParaRPr/>
          </a:p>
        </p:txBody>
      </p:sp>
      <p:sp>
        <p:nvSpPr>
          <p:cNvPr id="6570" name="Google Shape;6570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California  |  City: San Diego</a:t>
            </a:r>
            <a:endParaRPr/>
          </a:p>
        </p:txBody>
      </p:sp>
      <p:sp>
        <p:nvSpPr>
          <p:cNvPr id="6571" name="Google Shape;6571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572" name="Google Shape;6572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73" name="Google Shape;6573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74" name="Google Shape;6574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$104,973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75" name="Google Shape;6575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76" name="Google Shape;6576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$919,466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577" name="Google Shape;6577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$850,381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578" name="Google Shape;6578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579" name="Google Shape;6579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80" name="Google Shape;6580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81" name="Google Shape;6581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82" name="Google Shape;6582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$353,518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583" name="Google Shape;6583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$99,803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584" name="Google Shape;6584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5" name="Google Shape;6585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586" name="Google Shape;6586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87" name="Google Shape;6587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588" name="Google Shape;6588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89" name="Google Shape;6589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90" name="Google Shape;6590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91" name="Google Shape;6591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92" name="Google Shape;6592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3" name="Google Shape;6593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94" name="Google Shape;6594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$49,438</a:t>
            </a:r>
            <a:endParaRPr/>
          </a:p>
        </p:txBody>
      </p:sp>
      <p:sp>
        <p:nvSpPr>
          <p:cNvPr id="6595" name="Google Shape;6595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$25,432</a:t>
            </a:r>
            <a:endParaRPr/>
          </a:p>
        </p:txBody>
      </p:sp>
      <p:sp>
        <p:nvSpPr>
          <p:cNvPr id="6596" name="Google Shape;6596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$10,312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$13,694</a:t>
            </a:r>
            <a:endParaRPr/>
          </a:p>
        </p:txBody>
      </p:sp>
      <p:sp>
        <p:nvSpPr>
          <p:cNvPr id="6598" name="Google Shape;6598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99" name="Google Shape;6599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0" name="Google Shape;6600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01" name="Google Shape;6601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$53,366</a:t>
            </a:r>
            <a:endParaRPr/>
          </a:p>
        </p:txBody>
      </p:sp>
      <p:sp>
        <p:nvSpPr>
          <p:cNvPr id="6602" name="Google Shape;6602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$3,849</a:t>
            </a:r>
            <a:endParaRPr/>
          </a:p>
        </p:txBody>
      </p:sp>
      <p:sp>
        <p:nvSpPr>
          <p:cNvPr id="6603" name="Google Shape;6603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$19,779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$29,738</a:t>
            </a:r>
            <a:endParaRPr/>
          </a:p>
        </p:txBody>
      </p:sp>
      <p:sp>
        <p:nvSpPr>
          <p:cNvPr id="6605" name="Google Shape;6605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$-24,666</a:t>
            </a:r>
            <a:endParaRPr/>
          </a:p>
        </p:txBody>
      </p:sp>
      <p:sp>
        <p:nvSpPr>
          <p:cNvPr id="6606" name="Google Shape;6606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7" name="Google Shape;6607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08" name="Google Shape;6608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$43,611</a:t>
            </a:r>
            <a:endParaRPr/>
          </a:p>
        </p:txBody>
      </p:sp>
      <p:sp>
        <p:nvSpPr>
          <p:cNvPr id="6609" name="Google Shape;6609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$29,842</a:t>
            </a:r>
            <a:endParaRPr/>
          </a:p>
        </p:txBody>
      </p:sp>
      <p:sp>
        <p:nvSpPr>
          <p:cNvPr id="6610" name="Google Shape;6610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6612" name="Google Shape;6612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$-10,912</a:t>
            </a:r>
            <a:endParaRPr/>
          </a:p>
        </p:txBody>
      </p:sp>
      <p:sp>
        <p:nvSpPr>
          <p:cNvPr id="6613" name="Google Shape;6613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4" name="Google Shape;6614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$53,580</a:t>
            </a:r>
            <a:endParaRPr/>
          </a:p>
        </p:txBody>
      </p:sp>
      <p:sp>
        <p:nvSpPr>
          <p:cNvPr id="6616" name="Google Shape;6616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7" name="Google Shape;6617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8" name="Google Shape;6618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$53,580</a:t>
            </a:r>
            <a:endParaRPr/>
          </a:p>
        </p:txBody>
      </p:sp>
      <p:sp>
        <p:nvSpPr>
          <p:cNvPr id="6619" name="Google Shape;6619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0" name="Google Shape;6620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1" name="Google Shape;6621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22" name="Google Shape;6622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$-5,808</a:t>
            </a:r>
            <a:endParaRPr/>
          </a:p>
        </p:txBody>
      </p:sp>
      <p:sp>
        <p:nvSpPr>
          <p:cNvPr id="6623" name="Google Shape;6623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4" name="Google Shape;6624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$-5,808</a:t>
            </a:r>
            <a:endParaRPr/>
          </a:p>
        </p:txBody>
      </p:sp>
      <p:sp>
        <p:nvSpPr>
          <p:cNvPr id="6626" name="Google Shape;6626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7" name="Google Shape;6627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8" name="Google Shape;6628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$194,187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$59,124</a:t>
            </a:r>
            <a:endParaRPr/>
          </a:p>
        </p:txBody>
      </p:sp>
      <p:sp>
        <p:nvSpPr>
          <p:cNvPr id="6631" name="Google Shape;6631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$30,091</a:t>
            </a:r>
            <a:endParaRPr/>
          </a:p>
        </p:txBody>
      </p:sp>
      <p:sp>
        <p:nvSpPr>
          <p:cNvPr id="6632" name="Google Shape;6632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$104,973</a:t>
            </a:r>
            <a:endParaRPr/>
          </a:p>
        </p:txBody>
      </p:sp>
      <p:sp>
        <p:nvSpPr>
          <p:cNvPr id="6633" name="Google Shape;6633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$-35,578</a:t>
            </a:r>
            <a:endParaRPr/>
          </a:p>
        </p:txBody>
      </p:sp>
      <p:sp>
        <p:nvSpPr>
          <p:cNvPr id="6634" name="Google Shape;6634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5" name="Google Shape;6635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636" name="Google Shape;6636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37" name="Google Shape;6637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638" name="Google Shape;6638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639" name="Google Shape;6639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640" name="Google Shape;6640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41" name="Google Shape;6641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42" name="Google Shape;6642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3" name="Google Shape;6643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44" name="Google Shape;6644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645" name="Google Shape;6645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46" name="Google Shape;6646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47" name="Google Shape;6647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48" name="Google Shape;6648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649" name="Google Shape;6649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0" name="Google Shape;6650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51" name="Google Shape;6651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652" name="Google Shape;6652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53" name="Google Shape;6653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54" name="Google Shape;6654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55" name="Google Shape;6655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45.5%</a:t>
            </a:r>
            <a:endParaRPr/>
          </a:p>
        </p:txBody>
      </p:sp>
      <p:sp>
        <p:nvSpPr>
          <p:cNvPr id="6656" name="Google Shape;6656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7" name="Google Shape;6657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58" name="Google Shape;6658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59" name="Google Shape;6659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60" name="Google Shape;6660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61" name="Google Shape;6661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62" name="Google Shape;6662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44.4%</a:t>
            </a:r>
            <a:endParaRPr/>
          </a:p>
        </p:txBody>
      </p:sp>
      <p:sp>
        <p:nvSpPr>
          <p:cNvPr id="6663" name="Google Shape;6663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4" name="Google Shape;6664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65" name="Google Shape;6665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666" name="Google Shape;6666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67" name="Google Shape;6667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68" name="Google Shape;6668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69" name="Google Shape;6669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670" name="Google Shape;6670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1" name="Google Shape;6671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72" name="Google Shape;6672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73" name="Google Shape;6673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74" name="Google Shape;6674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75" name="Google Shape;6675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76" name="Google Shape;6676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6677" name="Google Shape;6677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8" name="Google Shape;6678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79" name="Google Shape;6679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680" name="Google Shape;6680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681" name="Google Shape;6681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682" name="Google Shape;6682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83" name="Google Shape;6683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25.8%</a:t>
            </a:r>
            <a:endParaRPr/>
          </a:p>
        </p:txBody>
      </p:sp>
      <p:sp>
        <p:nvSpPr>
          <p:cNvPr id="6684" name="Google Shape;6684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5" name="Google Shape;6685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686" name="Google Shape;6686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687" name="Google Shape;6687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688" name="Google Shape;6688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689" name="Google Shape;6689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690" name="Google Shape;6690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691" name="Google Shape;6691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692" name="Google Shape;6692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693" name="Google Shape;6693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694" name="Google Shape;6694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695" name="Google Shape;6695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696" name="Google Shape;6696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697" name="Google Shape;6697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698" name="Google Shape;6698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699" name="Google Shape;6699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00" name="Google Shape;6700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701" name="Google Shape;6701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702" name="Google Shape;6702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03" name="Google Shape;6703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704" name="Google Shape;6704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05" name="Google Shape;6705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706" name="Google Shape;6706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707" name="Google Shape;6707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708" name="Google Shape;6708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709" name="Google Shape;6709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710" name="Google Shape;6710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6711" name="Google Shape;6711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712" name="Google Shape;6712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13" name="Google Shape;6713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6714" name="Google Shape;6714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6715" name="Google Shape;6715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6716" name="Google Shape;6716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6717" name="Google Shape;6717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6718" name="Google Shape;6718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6719" name="Google Shape;6719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6720" name="Google Shape;6720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6721" name="Google Shape;6721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6722" name="Google Shape;6722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$-5,808</a:t>
            </a:r>
            <a:endParaRPr/>
          </a:p>
        </p:txBody>
      </p:sp>
      <p:sp>
        <p:nvSpPr>
          <p:cNvPr id="6723" name="Google Shape;6723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$263K</a:t>
            </a:r>
            <a:endParaRPr/>
          </a:p>
        </p:txBody>
      </p:sp>
      <p:sp>
        <p:nvSpPr>
          <p:cNvPr id="6724" name="Google Shape;6724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$194K</a:t>
            </a:r>
            <a:endParaRPr/>
          </a:p>
        </p:txBody>
      </p:sp>
      <p:sp>
        <p:nvSpPr>
          <p:cNvPr id="6725" name="Google Shape;6725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6" name="Google Shape;6726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727" name="Google Shape;6727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28" name="Google Shape;6728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$194,187 YTD gross written premium</a:t>
            </a:r>
            <a:endParaRPr/>
          </a:p>
        </p:txBody>
      </p:sp>
      <p:sp>
        <p:nvSpPr>
          <p:cNvPr id="6729" name="Google Shape;6729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30" name="Google Shape;6730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$59,124 in new business production</a:t>
            </a:r>
            <a:endParaRPr/>
          </a:p>
        </p:txBody>
      </p:sp>
      <p:sp>
        <p:nvSpPr>
          <p:cNvPr id="6731" name="Google Shape;6731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2" name="Google Shape;6732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733" name="Google Shape;6733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34" name="Google Shape;6734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60% of new business ($35,578)</a:t>
            </a:r>
            <a:endParaRPr/>
          </a:p>
        </p:txBody>
      </p:sp>
      <p:sp>
        <p:nvSpPr>
          <p:cNvPr id="6735" name="Google Shape;6735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36" name="Google Shape;6736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111% month-over-month</a:t>
            </a:r>
            <a:endParaRPr/>
          </a:p>
        </p:txBody>
      </p:sp>
      <p:sp>
        <p:nvSpPr>
          <p:cNvPr id="6737" name="Google Shape;6737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8" name="Google Shape;6738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739" name="Google Shape;6739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740" name="Google Shape;6740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$59,124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741" name="Google Shape;6741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742" name="Google Shape;6742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$35,578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46" name="Shape 6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7" name="Google Shape;6747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8" name="Google Shape;6748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6749" name="Google Shape;6749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Chino</a:t>
            </a:r>
            <a:endParaRPr/>
          </a:p>
        </p:txBody>
      </p:sp>
      <p:sp>
        <p:nvSpPr>
          <p:cNvPr id="6750" name="Google Shape;6750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751" name="Google Shape;6751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$149,332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52" name="Google Shape;6752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53" name="Google Shape;6753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54" name="Google Shape;6754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55" name="Google Shape;6755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$725,289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756" name="Google Shape;6756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$513,427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757" name="Google Shape;6757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758" name="Google Shape;6758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59" name="Google Shape;6759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60" name="Google Shape;6760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61" name="Google Shape;6761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762" name="Google Shape;6762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$174,266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763" name="Google Shape;6763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4" name="Google Shape;6764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765" name="Google Shape;6765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66" name="Google Shape;6766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767" name="Google Shape;6767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68" name="Google Shape;6768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69" name="Google Shape;6769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70" name="Google Shape;6770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71" name="Google Shape;6771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2" name="Google Shape;6772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73" name="Google Shape;6773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$47,154</a:t>
            </a:r>
            <a:endParaRPr/>
          </a:p>
        </p:txBody>
      </p:sp>
      <p:sp>
        <p:nvSpPr>
          <p:cNvPr id="6774" name="Google Shape;6774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$47,154</a:t>
            </a:r>
            <a:endParaRPr/>
          </a:p>
        </p:txBody>
      </p:sp>
      <p:sp>
        <p:nvSpPr>
          <p:cNvPr id="6775" name="Google Shape;6775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77" name="Google Shape;6777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$-4,680</a:t>
            </a:r>
            <a:endParaRPr/>
          </a:p>
        </p:txBody>
      </p:sp>
      <p:sp>
        <p:nvSpPr>
          <p:cNvPr id="6778" name="Google Shape;6778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9" name="Google Shape;6779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80" name="Google Shape;6780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$43,759</a:t>
            </a:r>
            <a:endParaRPr/>
          </a:p>
        </p:txBody>
      </p:sp>
      <p:sp>
        <p:nvSpPr>
          <p:cNvPr id="6781" name="Google Shape;6781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$20,780</a:t>
            </a:r>
            <a:endParaRPr/>
          </a:p>
        </p:txBody>
      </p:sp>
      <p:sp>
        <p:nvSpPr>
          <p:cNvPr id="6782" name="Google Shape;6782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$22,980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4" name="Google Shape;6784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5" name="Google Shape;6785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6" name="Google Shape;6786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87" name="Google Shape;6787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$53,545</a:t>
            </a:r>
            <a:endParaRPr/>
          </a:p>
        </p:txBody>
      </p:sp>
      <p:sp>
        <p:nvSpPr>
          <p:cNvPr id="6788" name="Google Shape;6788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$52,289</a:t>
            </a:r>
            <a:endParaRPr/>
          </a:p>
        </p:txBody>
      </p:sp>
      <p:sp>
        <p:nvSpPr>
          <p:cNvPr id="6789" name="Google Shape;6789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$1,256</a:t>
            </a:r>
            <a:endParaRPr/>
          </a:p>
        </p:txBody>
      </p:sp>
      <p:sp>
        <p:nvSpPr>
          <p:cNvPr id="6791" name="Google Shape;6791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$-34,213</a:t>
            </a:r>
            <a:endParaRPr/>
          </a:p>
        </p:txBody>
      </p:sp>
      <p:sp>
        <p:nvSpPr>
          <p:cNvPr id="6792" name="Google Shape;6792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3" name="Google Shape;6793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$14,414</a:t>
            </a:r>
            <a:endParaRPr/>
          </a:p>
        </p:txBody>
      </p:sp>
      <p:sp>
        <p:nvSpPr>
          <p:cNvPr id="6795" name="Google Shape;6795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6" name="Google Shape;6796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$2,061</a:t>
            </a:r>
            <a:endParaRPr/>
          </a:p>
        </p:txBody>
      </p:sp>
      <p:sp>
        <p:nvSpPr>
          <p:cNvPr id="6797" name="Google Shape;6797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$12,353</a:t>
            </a:r>
            <a:endParaRPr/>
          </a:p>
        </p:txBody>
      </p:sp>
      <p:sp>
        <p:nvSpPr>
          <p:cNvPr id="6798" name="Google Shape;6798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$-18,125</a:t>
            </a:r>
            <a:endParaRPr/>
          </a:p>
        </p:txBody>
      </p:sp>
      <p:sp>
        <p:nvSpPr>
          <p:cNvPr id="6799" name="Google Shape;6799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0" name="Google Shape;6800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01" name="Google Shape;6801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$20,183</a:t>
            </a:r>
            <a:endParaRPr/>
          </a:p>
        </p:txBody>
      </p:sp>
      <p:sp>
        <p:nvSpPr>
          <p:cNvPr id="6802" name="Google Shape;6802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$29,109</a:t>
            </a:r>
            <a:endParaRPr/>
          </a:p>
        </p:txBody>
      </p:sp>
      <p:sp>
        <p:nvSpPr>
          <p:cNvPr id="6803" name="Google Shape;6803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$17,258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$-26,184</a:t>
            </a:r>
            <a:endParaRPr/>
          </a:p>
        </p:txBody>
      </p:sp>
      <p:sp>
        <p:nvSpPr>
          <p:cNvPr id="6805" name="Google Shape;6805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6" name="Google Shape;6806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7" name="Google Shape;6807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08" name="Google Shape;6808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$179,056</a:t>
            </a:r>
            <a:endParaRPr/>
          </a:p>
        </p:txBody>
      </p:sp>
      <p:sp>
        <p:nvSpPr>
          <p:cNvPr id="6809" name="Google Shape;6809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$149,332</a:t>
            </a:r>
            <a:endParaRPr/>
          </a:p>
        </p:txBody>
      </p:sp>
      <p:sp>
        <p:nvSpPr>
          <p:cNvPr id="6810" name="Google Shape;6810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$42,299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$-12,576</a:t>
            </a:r>
            <a:endParaRPr/>
          </a:p>
        </p:txBody>
      </p:sp>
      <p:sp>
        <p:nvSpPr>
          <p:cNvPr id="6812" name="Google Shape;6812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$-57,018</a:t>
            </a:r>
            <a:endParaRPr/>
          </a:p>
        </p:txBody>
      </p:sp>
      <p:sp>
        <p:nvSpPr>
          <p:cNvPr id="6813" name="Google Shape;6813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4" name="Google Shape;6814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15" name="Google Shape;6815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16" name="Google Shape;6816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17" name="Google Shape;6817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818" name="Google Shape;6818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819" name="Google Shape;6819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20" name="Google Shape;6820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21" name="Google Shape;6821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2" name="Google Shape;6822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23" name="Google Shape;6823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824" name="Google Shape;6824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25" name="Google Shape;6825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826" name="Google Shape;6826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827" name="Google Shape;6827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6828" name="Google Shape;6828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9" name="Google Shape;6829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30" name="Google Shape;6830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831" name="Google Shape;6831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32" name="Google Shape;6832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833" name="Google Shape;6833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34" name="Google Shape;6834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6835" name="Google Shape;6835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6" name="Google Shape;6836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37" name="Google Shape;6837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838" name="Google Shape;6838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39" name="Google Shape;6839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840" name="Google Shape;6840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41" name="Google Shape;6841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6842" name="Google Shape;6842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3" name="Google Shape;6843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44" name="Google Shape;6844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845" name="Google Shape;6845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6" name="Google Shape;6846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847" name="Google Shape;6847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48" name="Google Shape;6848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6849" name="Google Shape;6849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0" name="Google Shape;6850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51" name="Google Shape;6851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852" name="Google Shape;6852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53" name="Google Shape;6853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854" name="Google Shape;6854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55" name="Google Shape;6855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856" name="Google Shape;6856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7" name="Google Shape;6857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58" name="Google Shape;6858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</p:txBody>
      </p:sp>
      <p:sp>
        <p:nvSpPr>
          <p:cNvPr id="6859" name="Google Shape;6859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60" name="Google Shape;6860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6861" name="Google Shape;6861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862" name="Google Shape;6862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863" name="Google Shape;6863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4" name="Google Shape;6864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865" name="Google Shape;6865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866" name="Google Shape;6866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867" name="Google Shape;6867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868" name="Google Shape;6868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869" name="Google Shape;6869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870" name="Google Shape;6870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871" name="Google Shape;6871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872" name="Google Shape;6872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873" name="Google Shape;6873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874" name="Google Shape;6874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875" name="Google Shape;6875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876" name="Google Shape;6876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877" name="Google Shape;6877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878" name="Google Shape;6878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79" name="Google Shape;6879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880" name="Google Shape;6880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881" name="Google Shape;6881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882" name="Google Shape;6882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883" name="Google Shape;6883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6884" name="Google Shape;6884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885" name="Google Shape;6885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6886" name="Google Shape;6886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887" name="Google Shape;6887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888" name="Google Shape;6888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889" name="Google Shape;6889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6890" name="Google Shape;6890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</a:t>
            </a:r>
            <a:endParaRPr/>
          </a:p>
        </p:txBody>
      </p:sp>
      <p:sp>
        <p:nvSpPr>
          <p:cNvPr id="6891" name="Google Shape;6891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892" name="Google Shape;6892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893" name="Google Shape;6893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6894" name="Google Shape;6894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$101K</a:t>
            </a:r>
            <a:endParaRPr/>
          </a:p>
        </p:txBody>
      </p:sp>
      <p:sp>
        <p:nvSpPr>
          <p:cNvPr id="6895" name="Google Shape;6895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6896" name="Google Shape;6896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897" name="Google Shape;6897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6898" name="Google Shape;6898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6899" name="Google Shape;6899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6900" name="Google Shape;6900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6901" name="Google Shape;6901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902" name="Google Shape;6902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$391K</a:t>
            </a:r>
            <a:endParaRPr/>
          </a:p>
        </p:txBody>
      </p:sp>
      <p:sp>
        <p:nvSpPr>
          <p:cNvPr id="6903" name="Google Shape;6903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$179K</a:t>
            </a:r>
            <a:endParaRPr/>
          </a:p>
        </p:txBody>
      </p:sp>
      <p:sp>
        <p:nvSpPr>
          <p:cNvPr id="6904" name="Google Shape;6904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5" name="Google Shape;6905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06" name="Google Shape;6906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07" name="Google Shape;6907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$179,056 YTD gross written premium</a:t>
            </a:r>
            <a:endParaRPr/>
          </a:p>
        </p:txBody>
      </p:sp>
      <p:sp>
        <p:nvSpPr>
          <p:cNvPr id="6908" name="Google Shape;6908;p4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09" name="Google Shape;6909;p4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$149,332 in new business production</a:t>
            </a:r>
            <a:endParaRPr/>
          </a:p>
        </p:txBody>
      </p:sp>
      <p:sp>
        <p:nvSpPr>
          <p:cNvPr id="6910" name="Google Shape;6910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1" name="Google Shape;6911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12" name="Google Shape;6912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13" name="Google Shape;6913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914" name="Google Shape;6914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15" name="Google Shape;6915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916" name="Google Shape;6916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7" name="Google Shape;6917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918" name="Google Shape;6918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919" name="Google Shape;6919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$149,332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920" name="Google Shape;6920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921" name="Google Shape;6921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$57,018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25" name="Shape 6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6" name="Google Shape;6926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7" name="Google Shape;6927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Tiwana Insurance Solutions, Inc.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Clovis</a:t>
            </a:r>
            <a:endParaRPr/>
          </a:p>
        </p:txBody>
      </p:sp>
      <p:sp>
        <p:nvSpPr>
          <p:cNvPr id="6929" name="Google Shape;6929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930" name="Google Shape;6930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$142,722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31" name="Google Shape;6931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32" name="Google Shape;6932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33" name="Google Shape;6933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34" name="Google Shape;6934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$200,523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935" name="Google Shape;6935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$292,051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936" name="Google Shape;6936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937" name="Google Shape;6937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38" name="Google Shape;6938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39" name="Google Shape;6939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40" name="Google Shape;6940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$31,628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941" name="Google Shape;6941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942" name="Google Shape;6942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3" name="Google Shape;6943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944" name="Google Shape;6944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45" name="Google Shape;6945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47" name="Google Shape;6947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48" name="Google Shape;6948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50" name="Google Shape;6950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1" name="Google Shape;6951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52" name="Google Shape;6952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$128,742</a:t>
            </a:r>
            <a:endParaRPr/>
          </a:p>
        </p:txBody>
      </p:sp>
      <p:sp>
        <p:nvSpPr>
          <p:cNvPr id="6953" name="Google Shape;6953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$113,743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$14,998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7" name="Google Shape;6957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8" name="Google Shape;6958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59" name="Google Shape;6959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0" name="Google Shape;6960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4" name="Google Shape;6964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5" name="Google Shape;6965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66" name="Google Shape;6966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$13,838</a:t>
            </a:r>
            <a:endParaRPr/>
          </a:p>
        </p:txBody>
      </p:sp>
      <p:sp>
        <p:nvSpPr>
          <p:cNvPr id="6967" name="Google Shape;6967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$14,078</a:t>
            </a:r>
            <a:endParaRPr/>
          </a:p>
        </p:txBody>
      </p:sp>
      <p:sp>
        <p:nvSpPr>
          <p:cNvPr id="6968" name="Google Shape;6968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$-240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1" name="Google Shape;6971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2" name="Google Shape;6972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73" name="Google Shape;6973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$17,834</a:t>
            </a:r>
            <a:endParaRPr/>
          </a:p>
        </p:txBody>
      </p:sp>
      <p:sp>
        <p:nvSpPr>
          <p:cNvPr id="6974" name="Google Shape;6974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$13,525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$4,310</a:t>
            </a:r>
            <a:endParaRPr/>
          </a:p>
        </p:txBody>
      </p:sp>
      <p:sp>
        <p:nvSpPr>
          <p:cNvPr id="6977" name="Google Shape;6977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$-516</a:t>
            </a:r>
            <a:endParaRPr/>
          </a:p>
        </p:txBody>
      </p:sp>
      <p:sp>
        <p:nvSpPr>
          <p:cNvPr id="6978" name="Google Shape;6978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9" name="Google Shape;6979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80" name="Google Shape;6980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$11,581</a:t>
            </a:r>
            <a:endParaRPr/>
          </a:p>
        </p:txBody>
      </p:sp>
      <p:sp>
        <p:nvSpPr>
          <p:cNvPr id="6981" name="Google Shape;6981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</a:t>
            </a:r>
            <a:endParaRPr/>
          </a:p>
        </p:txBody>
      </p:sp>
      <p:sp>
        <p:nvSpPr>
          <p:cNvPr id="6982" name="Google Shape;6982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$10,205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5" name="Google Shape;6985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6" name="Google Shape;6986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87" name="Google Shape;6987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$171,994</a:t>
            </a:r>
            <a:endParaRPr/>
          </a:p>
        </p:txBody>
      </p:sp>
      <p:sp>
        <p:nvSpPr>
          <p:cNvPr id="6988" name="Google Shape;6988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$142,722</a:t>
            </a:r>
            <a:endParaRPr/>
          </a:p>
        </p:txBody>
      </p:sp>
      <p:sp>
        <p:nvSpPr>
          <p:cNvPr id="6989" name="Google Shape;6989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0" name="Google Shape;6990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$29,273</a:t>
            </a:r>
            <a:endParaRPr/>
          </a:p>
        </p:txBody>
      </p:sp>
      <p:sp>
        <p:nvSpPr>
          <p:cNvPr id="6991" name="Google Shape;6991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$-516</a:t>
            </a:r>
            <a:endParaRPr/>
          </a:p>
        </p:txBody>
      </p:sp>
      <p:sp>
        <p:nvSpPr>
          <p:cNvPr id="6992" name="Google Shape;6992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3" name="Google Shape;6993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994" name="Google Shape;6994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95" name="Google Shape;6995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96" name="Google Shape;6996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997" name="Google Shape;6997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998" name="Google Shape;6998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99" name="Google Shape;6999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00" name="Google Shape;7000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1" name="Google Shape;7001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02" name="Google Shape;7002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03" name="Google Shape;7003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04" name="Google Shape;7004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005" name="Google Shape;7005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06" name="Google Shape;7006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007" name="Google Shape;7007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8" name="Google Shape;7008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09" name="Google Shape;7009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7010" name="Google Shape;7010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11" name="Google Shape;7011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012" name="Google Shape;7012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13" name="Google Shape;7013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7014" name="Google Shape;7014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5" name="Google Shape;7015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16" name="Google Shape;7016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17" name="Google Shape;7017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18" name="Google Shape;7018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019" name="Google Shape;7019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020" name="Google Shape;7020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18.5%</a:t>
            </a:r>
            <a:endParaRPr/>
          </a:p>
        </p:txBody>
      </p:sp>
      <p:sp>
        <p:nvSpPr>
          <p:cNvPr id="7021" name="Google Shape;7021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2" name="Google Shape;7022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23" name="Google Shape;7023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24" name="Google Shape;7024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25" name="Google Shape;7025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7026" name="Google Shape;7026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27" name="Google Shape;7027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14.8%</a:t>
            </a:r>
            <a:endParaRPr/>
          </a:p>
        </p:txBody>
      </p:sp>
      <p:sp>
        <p:nvSpPr>
          <p:cNvPr id="7028" name="Google Shape;7028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9" name="Google Shape;7029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30" name="Google Shape;7030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031" name="Google Shape;7031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32" name="Google Shape;7032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033" name="Google Shape;7033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34" name="Google Shape;7034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7035" name="Google Shape;7035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6" name="Google Shape;7036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37" name="Google Shape;7037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7038" name="Google Shape;7038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039" name="Google Shape;7039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7040" name="Google Shape;7040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041" name="Google Shape;7041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9.3%</a:t>
            </a:r>
            <a:endParaRPr/>
          </a:p>
        </p:txBody>
      </p:sp>
      <p:sp>
        <p:nvSpPr>
          <p:cNvPr id="7042" name="Google Shape;7042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3" name="Google Shape;7043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044" name="Google Shape;7044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045" name="Google Shape;7045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046" name="Google Shape;7046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047" name="Google Shape;7047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048" name="Google Shape;7048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049" name="Google Shape;7049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050" name="Google Shape;7050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051" name="Google Shape;7051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052" name="Google Shape;7052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053" name="Google Shape;7053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054" name="Google Shape;7054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055" name="Google Shape;7055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056" name="Google Shape;7056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057" name="Google Shape;7057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58" name="Google Shape;7058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059" name="Google Shape;7059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60" name="Google Shape;7060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061" name="Google Shape;7061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7062" name="Google Shape;7062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063" name="Google Shape;7063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64" name="Google Shape;7064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065" name="Google Shape;7065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66" name="Google Shape;7066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7067" name="Google Shape;7067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068" name="Google Shape;7068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7069" name="Google Shape;7069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7070" name="Google Shape;7070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071" name="Google Shape;7071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7072" name="Google Shape;7072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$129K</a:t>
            </a:r>
            <a:endParaRPr/>
          </a:p>
        </p:txBody>
      </p:sp>
      <p:sp>
        <p:nvSpPr>
          <p:cNvPr id="7073" name="Google Shape;7073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7074" name="Google Shape;7074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5" name="Google Shape;7075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$-5,870</a:t>
            </a:r>
            <a:endParaRPr/>
          </a:p>
        </p:txBody>
      </p:sp>
      <p:sp>
        <p:nvSpPr>
          <p:cNvPr id="7076" name="Google Shape;7076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7077" name="Google Shape;7077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7078" name="Google Shape;7078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7079" name="Google Shape;7079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7080" name="Google Shape;7080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7081" name="Google Shape;7081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7082" name="Google Shape;7082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$172K</a:t>
            </a:r>
            <a:endParaRPr/>
          </a:p>
        </p:txBody>
      </p:sp>
      <p:sp>
        <p:nvSpPr>
          <p:cNvPr id="7083" name="Google Shape;7083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4" name="Google Shape;7084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085" name="Google Shape;7085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86" name="Google Shape;7086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$171,994 YTD gross written premium</a:t>
            </a:r>
            <a:endParaRPr/>
          </a:p>
        </p:txBody>
      </p:sp>
      <p:sp>
        <p:nvSpPr>
          <p:cNvPr id="7087" name="Google Shape;7087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88" name="Google Shape;7088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$142,722 in new business production</a:t>
            </a:r>
            <a:endParaRPr/>
          </a:p>
        </p:txBody>
      </p:sp>
      <p:sp>
        <p:nvSpPr>
          <p:cNvPr id="7089" name="Google Shape;7089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0" name="Google Shape;7090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091" name="Google Shape;7091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92" name="Google Shape;7092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7093" name="Google Shape;7093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94" name="Google Shape;7094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7095" name="Google Shape;7095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6" name="Google Shape;7096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097" name="Google Shape;7097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098" name="Google Shape;7098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$142,722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02" name="Shape 7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3" name="Google Shape;7103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4" name="Google Shape;7104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DISCOVERY PRO INSURANCE AGENCY</a:t>
            </a:r>
            <a:endParaRPr/>
          </a:p>
        </p:txBody>
      </p:sp>
      <p:sp>
        <p:nvSpPr>
          <p:cNvPr id="7105" name="Google Shape;7105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Los Angeles</a:t>
            </a:r>
            <a:endParaRPr/>
          </a:p>
        </p:txBody>
      </p:sp>
      <p:sp>
        <p:nvSpPr>
          <p:cNvPr id="7106" name="Google Shape;7106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107" name="Google Shape;7107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08" name="Google Shape;7108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$154,078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09" name="Google Shape;7109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10" name="Google Shape;7110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$-147,203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11" name="Google Shape;7111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$352,815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112" name="Google Shape;7112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$301,327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113" name="Google Shape;7113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114" name="Google Shape;7114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15" name="Google Shape;7115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16" name="Google Shape;7116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17" name="Google Shape;7117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118" name="Google Shape;7118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$42,061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119" name="Google Shape;7119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0" name="Google Shape;7120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121" name="Google Shape;7121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22" name="Google Shape;7122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123" name="Google Shape;7123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24" name="Google Shape;7124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26" name="Google Shape;7126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27" name="Google Shape;7127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8" name="Google Shape;7128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29" name="Google Shape;7129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130" name="Google Shape;7130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1" name="Google Shape;7131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4" name="Google Shape;7134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5" name="Google Shape;7135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36" name="Google Shape;7136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$153,528</a:t>
            </a:r>
            <a:endParaRPr/>
          </a:p>
        </p:txBody>
      </p:sp>
      <p:sp>
        <p:nvSpPr>
          <p:cNvPr id="7137" name="Google Shape;7137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8" name="Google Shape;7138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$153,528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$-146,798</a:t>
            </a:r>
            <a:endParaRPr/>
          </a:p>
        </p:txBody>
      </p:sp>
      <p:sp>
        <p:nvSpPr>
          <p:cNvPr id="7141" name="Google Shape;7141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2" name="Google Shape;7142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43" name="Google Shape;7143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</a:t>
            </a:r>
            <a:endParaRPr/>
          </a:p>
        </p:txBody>
      </p:sp>
      <p:sp>
        <p:nvSpPr>
          <p:cNvPr id="7144" name="Google Shape;7144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5" name="Google Shape;7145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6" name="Google Shape;7146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</a:t>
            </a:r>
            <a:endParaRPr/>
          </a:p>
        </p:txBody>
      </p:sp>
      <p:sp>
        <p:nvSpPr>
          <p:cNvPr id="7147" name="Google Shape;7147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8" name="Google Shape;7148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9" name="Google Shape;7149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50" name="Google Shape;7150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$6,571</a:t>
            </a:r>
            <a:endParaRPr/>
          </a:p>
        </p:txBody>
      </p:sp>
      <p:sp>
        <p:nvSpPr>
          <p:cNvPr id="7151" name="Google Shape;7151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2" name="Google Shape;7152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3" name="Google Shape;7153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$6,571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$-405</a:t>
            </a:r>
            <a:endParaRPr/>
          </a:p>
        </p:txBody>
      </p:sp>
      <p:sp>
        <p:nvSpPr>
          <p:cNvPr id="7155" name="Google Shape;7155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6" name="Google Shape;7156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57" name="Google Shape;7157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8" name="Google Shape;7158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9" name="Google Shape;7159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2" name="Google Shape;7162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3" name="Google Shape;7163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64" name="Google Shape;7164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$160,446</a:t>
            </a:r>
            <a:endParaRPr/>
          </a:p>
        </p:txBody>
      </p:sp>
      <p:sp>
        <p:nvSpPr>
          <p:cNvPr id="7165" name="Google Shape;7165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6" name="Google Shape;7166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$154,078</a:t>
            </a:r>
            <a:endParaRPr/>
          </a:p>
        </p:txBody>
      </p:sp>
      <p:sp>
        <p:nvSpPr>
          <p:cNvPr id="7167" name="Google Shape;7167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$6,369</a:t>
            </a:r>
            <a:endParaRPr/>
          </a:p>
        </p:txBody>
      </p:sp>
      <p:sp>
        <p:nvSpPr>
          <p:cNvPr id="7168" name="Google Shape;7168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$-147,203</a:t>
            </a:r>
            <a:endParaRPr/>
          </a:p>
        </p:txBody>
      </p:sp>
      <p:sp>
        <p:nvSpPr>
          <p:cNvPr id="7169" name="Google Shape;7169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0" name="Google Shape;7170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171" name="Google Shape;7171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72" name="Google Shape;7172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173" name="Google Shape;7173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174" name="Google Shape;7174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175" name="Google Shape;7175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76" name="Google Shape;7176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77" name="Google Shape;7177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8" name="Google Shape;7178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79" name="Google Shape;7179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80" name="Google Shape;7180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1" name="Google Shape;7181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82" name="Google Shape;7182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83" name="Google Shape;7183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7184" name="Google Shape;7184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5" name="Google Shape;7185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86" name="Google Shape;7186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187" name="Google Shape;7187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8" name="Google Shape;7188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189" name="Google Shape;7189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90" name="Google Shape;7190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191" name="Google Shape;7191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2" name="Google Shape;7192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93" name="Google Shape;7193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94" name="Google Shape;7194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5" name="Google Shape;7195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96" name="Google Shape;7196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97" name="Google Shape;7197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7198" name="Google Shape;7198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9" name="Google Shape;7199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00" name="Google Shape;7200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01" name="Google Shape;7201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02" name="Google Shape;7202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203" name="Google Shape;7203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04" name="Google Shape;7204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05" name="Google Shape;7205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6" name="Google Shape;7206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07" name="Google Shape;7207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08" name="Google Shape;7208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09" name="Google Shape;7209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10" name="Google Shape;7210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11" name="Google Shape;7211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12" name="Google Shape;7212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3" name="Google Shape;7213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14" name="Google Shape;7214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215" name="Google Shape;7215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16" name="Google Shape;7216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217" name="Google Shape;7217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18" name="Google Shape;7218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219" name="Google Shape;7219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0" name="Google Shape;7220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221" name="Google Shape;7221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222" name="Google Shape;7222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223" name="Google Shape;7223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224" name="Google Shape;7224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225" name="Google Shape;7225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226" name="Google Shape;7226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227" name="Google Shape;7227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228" name="Google Shape;7228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229" name="Google Shape;7229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230" name="Google Shape;7230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231" name="Google Shape;7231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232" name="Google Shape;7232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233" name="Google Shape;7233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234" name="Google Shape;7234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35" name="Google Shape;7235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236" name="Google Shape;7236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37" name="Google Shape;7237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238" name="Google Shape;7238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39" name="Google Shape;7239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240" name="Google Shape;7240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41" name="Google Shape;7241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42" name="Google Shape;7242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43" name="Google Shape;7243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244" name="Google Shape;7244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45" name="Google Shape;7245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246" name="Google Shape;7246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247" name="Google Shape;7247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248" name="Google Shape;7248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7249" name="Google Shape;7249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250" name="Google Shape;7250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$110K</a:t>
            </a:r>
            <a:endParaRPr/>
          </a:p>
        </p:txBody>
      </p:sp>
      <p:sp>
        <p:nvSpPr>
          <p:cNvPr id="7251" name="Google Shape;7251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$154K</a:t>
            </a:r>
            <a:endParaRPr/>
          </a:p>
        </p:txBody>
      </p:sp>
      <p:sp>
        <p:nvSpPr>
          <p:cNvPr id="7252" name="Google Shape;7252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7253" name="Google Shape;7253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</a:t>
            </a:r>
            <a:endParaRPr/>
          </a:p>
        </p:txBody>
      </p:sp>
      <p:sp>
        <p:nvSpPr>
          <p:cNvPr id="7254" name="Google Shape;7254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255" name="Google Shape;7255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7256" name="Google Shape;7256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7257" name="Google Shape;7257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8" name="Google Shape;7258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$212K</a:t>
            </a:r>
            <a:endParaRPr/>
          </a:p>
        </p:txBody>
      </p:sp>
      <p:sp>
        <p:nvSpPr>
          <p:cNvPr id="7259" name="Google Shape;7259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$160K</a:t>
            </a:r>
            <a:endParaRPr/>
          </a:p>
        </p:txBody>
      </p:sp>
      <p:sp>
        <p:nvSpPr>
          <p:cNvPr id="7260" name="Google Shape;7260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1" name="Google Shape;7261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262" name="Google Shape;7262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263" name="Google Shape;7263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$160,446 YTD gross written premium</a:t>
            </a:r>
            <a:endParaRPr/>
          </a:p>
        </p:txBody>
      </p:sp>
      <p:sp>
        <p:nvSpPr>
          <p:cNvPr id="7264" name="Google Shape;7264;p4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265" name="Google Shape;7265;p4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$154,078 in renewals - strong retention</a:t>
            </a:r>
            <a:endParaRPr/>
          </a:p>
        </p:txBody>
      </p:sp>
      <p:sp>
        <p:nvSpPr>
          <p:cNvPr id="7266" name="Google Shape;7266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7" name="Google Shape;7267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268" name="Google Shape;7268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269" name="Google Shape;7269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270" name="Google Shape;7270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1" name="Google Shape;7271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272" name="Google Shape;7272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273" name="Google Shape;7273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$154,078 in renewals shows they trust our product. Ask: "What's holding back new submissions?" They may need updated appetite info or a refresher on our quoting process.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77" name="Shape 7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8" name="Google Shape;7278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9" name="Google Shape;7279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Mohsen Ins. Llc</a:t>
            </a:r>
            <a:endParaRPr/>
          </a:p>
        </p:txBody>
      </p:sp>
      <p:sp>
        <p:nvSpPr>
          <p:cNvPr id="7280" name="Google Shape;7280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N/A</a:t>
            </a:r>
            <a:endParaRPr/>
          </a:p>
        </p:txBody>
      </p:sp>
      <p:sp>
        <p:nvSpPr>
          <p:cNvPr id="7281" name="Google Shape;7281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$155,071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282" name="Google Shape;7282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$161,275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83" name="Google Shape;7283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84" name="Google Shape;7284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85" name="Google Shape;7285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$-13,636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86" name="Google Shape;7286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$115,746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287" name="Google Shape;7287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288" name="Google Shape;7288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289" name="Google Shape;7289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90" name="Google Shape;7290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91" name="Google Shape;7291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92" name="Google Shape;7292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293" name="Google Shape;7293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$118,781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294" name="Google Shape;7294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5" name="Google Shape;7295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296" name="Google Shape;7296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97" name="Google Shape;7297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00" name="Google Shape;7300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01" name="Google Shape;7301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02" name="Google Shape;7302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3" name="Google Shape;7303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04" name="Google Shape;7304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$46,217</a:t>
            </a:r>
            <a:endParaRPr/>
          </a:p>
        </p:txBody>
      </p:sp>
      <p:sp>
        <p:nvSpPr>
          <p:cNvPr id="7305" name="Google Shape;7305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$14,511</a:t>
            </a:r>
            <a:endParaRPr/>
          </a:p>
        </p:txBody>
      </p:sp>
      <p:sp>
        <p:nvSpPr>
          <p:cNvPr id="7306" name="Google Shape;7306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7" name="Google Shape;7307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$31,706</a:t>
            </a:r>
            <a:endParaRPr/>
          </a:p>
        </p:txBody>
      </p:sp>
      <p:sp>
        <p:nvSpPr>
          <p:cNvPr id="7308" name="Google Shape;7308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9" name="Google Shape;7309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0" name="Google Shape;7310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11" name="Google Shape;7311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2" name="Google Shape;7312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4" name="Google Shape;7314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5" name="Google Shape;7315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$-13,636</a:t>
            </a:r>
            <a:endParaRPr/>
          </a:p>
        </p:txBody>
      </p:sp>
      <p:sp>
        <p:nvSpPr>
          <p:cNvPr id="7316" name="Google Shape;7316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7" name="Google Shape;7317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18" name="Google Shape;7318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$57,971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$58,604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1" name="Google Shape;7321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</p:txBody>
      </p:sp>
      <p:sp>
        <p:nvSpPr>
          <p:cNvPr id="7322" name="Google Shape;7322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3" name="Google Shape;7323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4" name="Google Shape;7324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25" name="Google Shape;7325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$87,610</a:t>
            </a:r>
            <a:endParaRPr/>
          </a:p>
        </p:txBody>
      </p:sp>
      <p:sp>
        <p:nvSpPr>
          <p:cNvPr id="7326" name="Google Shape;7326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$87,610</a:t>
            </a:r>
            <a:endParaRPr/>
          </a:p>
        </p:txBody>
      </p:sp>
      <p:sp>
        <p:nvSpPr>
          <p:cNvPr id="7327" name="Google Shape;7327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8" name="Google Shape;7328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9" name="Google Shape;7329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0" name="Google Shape;7330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1" name="Google Shape;7331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32" name="Google Shape;7332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$-36,727</a:t>
            </a:r>
            <a:endParaRPr/>
          </a:p>
        </p:txBody>
      </p:sp>
      <p:sp>
        <p:nvSpPr>
          <p:cNvPr id="7333" name="Google Shape;7333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334" name="Google Shape;7334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$-37,277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7" name="Google Shape;7337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8" name="Google Shape;7338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39" name="Google Shape;7339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$155,071</a:t>
            </a:r>
            <a:endParaRPr/>
          </a:p>
        </p:txBody>
      </p:sp>
      <p:sp>
        <p:nvSpPr>
          <p:cNvPr id="7340" name="Google Shape;7340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$161,275</a:t>
            </a:r>
            <a:endParaRPr/>
          </a:p>
        </p:txBody>
      </p:sp>
      <p:sp>
        <p:nvSpPr>
          <p:cNvPr id="7341" name="Google Shape;7341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2" name="Google Shape;7342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$-6,204</a:t>
            </a:r>
            <a:endParaRPr/>
          </a:p>
        </p:txBody>
      </p:sp>
      <p:sp>
        <p:nvSpPr>
          <p:cNvPr id="7343" name="Google Shape;7343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$-13,636</a:t>
            </a:r>
            <a:endParaRPr/>
          </a:p>
        </p:txBody>
      </p:sp>
      <p:sp>
        <p:nvSpPr>
          <p:cNvPr id="7344" name="Google Shape;7344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5" name="Google Shape;7345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346" name="Google Shape;7346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47" name="Google Shape;7347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348" name="Google Shape;7348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349" name="Google Shape;7349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350" name="Google Shape;7350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51" name="Google Shape;7351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52" name="Google Shape;7352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3" name="Google Shape;7353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54" name="Google Shape;7354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355" name="Google Shape;7355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56" name="Google Shape;7356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357" name="Google Shape;7357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58" name="Google Shape;7358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359" name="Google Shape;7359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0" name="Google Shape;7360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61" name="Google Shape;7361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62" name="Google Shape;7362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63" name="Google Shape;7363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364" name="Google Shape;7364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65" name="Google Shape;7365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366" name="Google Shape;7366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7" name="Google Shape;7367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68" name="Google Shape;7368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369" name="Google Shape;7369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70" name="Google Shape;7370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371" name="Google Shape;7371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72" name="Google Shape;7372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7373" name="Google Shape;7373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4" name="Google Shape;7374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75" name="Google Shape;7375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376" name="Google Shape;7376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77" name="Google Shape;7377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378" name="Google Shape;7378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79" name="Google Shape;7379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7380" name="Google Shape;7380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1" name="Google Shape;7381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82" name="Google Shape;7382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383" name="Google Shape;7383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84" name="Google Shape;7384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385" name="Google Shape;7385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86" name="Google Shape;7386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387" name="Google Shape;7387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8" name="Google Shape;7388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89" name="Google Shape;7389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7390" name="Google Shape;7390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391" name="Google Shape;7391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7392" name="Google Shape;7392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393" name="Google Shape;7393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7394" name="Google Shape;7394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5" name="Google Shape;7395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396" name="Google Shape;7396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397" name="Google Shape;7397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398" name="Google Shape;7398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399" name="Google Shape;7399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400" name="Google Shape;7400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401" name="Google Shape;7401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402" name="Google Shape;7402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403" name="Google Shape;7403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404" name="Google Shape;7404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405" name="Google Shape;7405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406" name="Google Shape;7406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407" name="Google Shape;7407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408" name="Google Shape;7408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409" name="Google Shape;7409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10" name="Google Shape;7410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1" name="Google Shape;7411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12" name="Google Shape;7412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3" name="Google Shape;7413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14" name="Google Shape;7414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5" name="Google Shape;7415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416" name="Google Shape;7416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7" name="Google Shape;7417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18" name="Google Shape;7418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9" name="Google Shape;7419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20" name="Google Shape;7420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1" name="Google Shape;7421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7422" name="Google Shape;7422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423" name="Google Shape;7423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4" name="Google Shape;7424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7425" name="Google Shape;7425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6" name="Google Shape;7426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7" name="Google Shape;7427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8" name="Google Shape;7428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7429" name="Google Shape;7429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0" name="Google Shape;7430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7431" name="Google Shape;7431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2" name="Google Shape;7432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$-36,727</a:t>
            </a:r>
            <a:endParaRPr/>
          </a:p>
        </p:txBody>
      </p:sp>
      <p:sp>
        <p:nvSpPr>
          <p:cNvPr id="7433" name="Google Shape;7433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4" name="Google Shape;7434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$155K</a:t>
            </a:r>
            <a:endParaRPr/>
          </a:p>
        </p:txBody>
      </p:sp>
      <p:sp>
        <p:nvSpPr>
          <p:cNvPr id="7435" name="Google Shape;7435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6" name="Google Shape;7436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437" name="Google Shape;7437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438" name="Google Shape;7438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$155,071 YTD gross written premium</a:t>
            </a:r>
            <a:endParaRPr/>
          </a:p>
        </p:txBody>
      </p:sp>
      <p:sp>
        <p:nvSpPr>
          <p:cNvPr id="7439" name="Google Shape;7439;p4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440" name="Google Shape;7440;p4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$161,275 in new business production</a:t>
            </a:r>
            <a:endParaRPr/>
          </a:p>
        </p:txBody>
      </p:sp>
      <p:sp>
        <p:nvSpPr>
          <p:cNvPr id="7441" name="Google Shape;7441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2" name="Google Shape;7442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443" name="Google Shape;7443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444" name="Google Shape;7444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142% month-over-month</a:t>
            </a:r>
            <a:endParaRPr/>
          </a:p>
        </p:txBody>
      </p:sp>
      <p:sp>
        <p:nvSpPr>
          <p:cNvPr id="7445" name="Google Shape;7445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6" name="Google Shape;7446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447" name="Google Shape;7447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448" name="Google Shape;7448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$161,275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7449" name="Google Shape;7449;p4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450" name="Google Shape;7450;p4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54" name="Shape 7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5" name="Google Shape;7455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6" name="Google Shape;7456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Global Solutions Inc</a:t>
            </a:r>
            <a:endParaRPr/>
          </a:p>
        </p:txBody>
      </p:sp>
      <p:sp>
        <p:nvSpPr>
          <p:cNvPr id="7457" name="Google Shape;7457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N/A</a:t>
            </a:r>
            <a:endParaRPr/>
          </a:p>
        </p:txBody>
      </p:sp>
      <p:sp>
        <p:nvSpPr>
          <p:cNvPr id="7458" name="Google Shape;7458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459" name="Google Shape;7459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60" name="Google Shape;7460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61" name="Google Shape;7461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62" name="Google Shape;7462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63" name="Google Shape;7463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464" name="Google Shape;7464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465" name="Google Shape;7465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466" name="Google Shape;7466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67" name="Google Shape;7467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68" name="Google Shape;7468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69" name="Google Shape;7469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470" name="Google Shape;7470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471" name="Google Shape;7471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2" name="Google Shape;7472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473" name="Google Shape;7473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74" name="Google Shape;7474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76" name="Google Shape;7476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77" name="Google Shape;7477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78" name="Google Shape;7478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79" name="Google Shape;7479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0" name="Google Shape;7480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81" name="Google Shape;7481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3" name="Google Shape;7483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4" name="Google Shape;7484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5" name="Google Shape;7485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6" name="Google Shape;7486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7" name="Google Shape;7487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$103,831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$99,158</a:t>
            </a:r>
            <a:endParaRPr/>
          </a:p>
        </p:txBody>
      </p:sp>
      <p:sp>
        <p:nvSpPr>
          <p:cNvPr id="7490" name="Google Shape;7490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1" name="Google Shape;7491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$4,673</a:t>
            </a:r>
            <a:endParaRPr/>
          </a:p>
        </p:txBody>
      </p:sp>
      <p:sp>
        <p:nvSpPr>
          <p:cNvPr id="7492" name="Google Shape;7492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3" name="Google Shape;7493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4" name="Google Shape;7494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$23,541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$18,999</a:t>
            </a:r>
            <a:endParaRPr/>
          </a:p>
        </p:txBody>
      </p:sp>
      <p:sp>
        <p:nvSpPr>
          <p:cNvPr id="7497" name="Google Shape;7497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8" name="Google Shape;7498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$4,542</a:t>
            </a:r>
            <a:endParaRPr/>
          </a:p>
        </p:txBody>
      </p:sp>
      <p:sp>
        <p:nvSpPr>
          <p:cNvPr id="7499" name="Google Shape;7499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$-18,584</a:t>
            </a:r>
            <a:endParaRPr/>
          </a:p>
        </p:txBody>
      </p:sp>
      <p:sp>
        <p:nvSpPr>
          <p:cNvPr id="7500" name="Google Shape;7500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1" name="Google Shape;7501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$20,576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$18,781</a:t>
            </a:r>
            <a:endParaRPr/>
          </a:p>
        </p:txBody>
      </p:sp>
      <p:sp>
        <p:nvSpPr>
          <p:cNvPr id="7504" name="Google Shape;7504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5" name="Google Shape;7505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$1,795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7" name="Google Shape;7507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8" name="Google Shape;7508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09" name="Google Shape;7509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</a:t>
            </a:r>
            <a:endParaRPr/>
          </a:p>
        </p:txBody>
      </p:sp>
      <p:sp>
        <p:nvSpPr>
          <p:cNvPr id="7510" name="Google Shape;7510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1" name="Google Shape;7511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4" name="Google Shape;7514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5" name="Google Shape;7515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16" name="Google Shape;7516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$148,004</a:t>
            </a:r>
            <a:endParaRPr/>
          </a:p>
        </p:txBody>
      </p:sp>
      <p:sp>
        <p:nvSpPr>
          <p:cNvPr id="7517" name="Google Shape;7517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$136,938</a:t>
            </a:r>
            <a:endParaRPr/>
          </a:p>
        </p:txBody>
      </p:sp>
      <p:sp>
        <p:nvSpPr>
          <p:cNvPr id="7518" name="Google Shape;7518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9" name="Google Shape;7519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$11,067</a:t>
            </a:r>
            <a:endParaRPr/>
          </a:p>
        </p:txBody>
      </p:sp>
      <p:sp>
        <p:nvSpPr>
          <p:cNvPr id="7520" name="Google Shape;7520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$-18,584</a:t>
            </a:r>
            <a:endParaRPr/>
          </a:p>
        </p:txBody>
      </p:sp>
      <p:sp>
        <p:nvSpPr>
          <p:cNvPr id="7521" name="Google Shape;7521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2" name="Google Shape;7522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523" name="Google Shape;7523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24" name="Google Shape;7524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25" name="Google Shape;7525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526" name="Google Shape;7526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527" name="Google Shape;7527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28" name="Google Shape;7528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29" name="Google Shape;7529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0" name="Google Shape;7530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31" name="Google Shape;7531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532" name="Google Shape;7532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33" name="Google Shape;7533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534" name="Google Shape;7534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35" name="Google Shape;7535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7536" name="Google Shape;7536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7" name="Google Shape;7537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539" name="Google Shape;7539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40" name="Google Shape;7540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541" name="Google Shape;7541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42" name="Google Shape;7542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7543" name="Google Shape;7543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4" name="Google Shape;7544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45" name="Google Shape;7545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46" name="Google Shape;7546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47" name="Google Shape;7547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548" name="Google Shape;7548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49" name="Google Shape;7549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7550" name="Google Shape;7550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1" name="Google Shape;7551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52" name="Google Shape;7552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53" name="Google Shape;7553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54" name="Google Shape;7554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555" name="Google Shape;7555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56" name="Google Shape;7556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7557" name="Google Shape;7557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8" name="Google Shape;7558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59" name="Google Shape;7559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60" name="Google Shape;7560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61" name="Google Shape;7561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62" name="Google Shape;7562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63" name="Google Shape;7563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64" name="Google Shape;7564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5" name="Google Shape;7565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66" name="Google Shape;7566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7567" name="Google Shape;7567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68" name="Google Shape;7568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7569" name="Google Shape;7569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70" name="Google Shape;7570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7571" name="Google Shape;7571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2" name="Google Shape;7572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573" name="Google Shape;7573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74" name="Google Shape;7574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575" name="Google Shape;7575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576" name="Google Shape;7576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577" name="Google Shape;7577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578" name="Google Shape;7578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579" name="Google Shape;7579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580" name="Google Shape;7580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581" name="Google Shape;7581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582" name="Google Shape;7582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583" name="Google Shape;7583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584" name="Google Shape;7584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585" name="Google Shape;7585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586" name="Google Shape;7586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87" name="Google Shape;7587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88" name="Google Shape;7588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589" name="Google Shape;7589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0" name="Google Shape;7590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591" name="Google Shape;7591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2" name="Google Shape;7592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93" name="Google Shape;7593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594" name="Google Shape;7594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95" name="Google Shape;7595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596" name="Google Shape;7596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97" name="Google Shape;7597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598" name="Google Shape;7598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7599" name="Google Shape;7599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00" name="Google Shape;7600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1" name="Google Shape;7601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2" name="Google Shape;7602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3" name="Google Shape;7603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$104K</a:t>
            </a:r>
            <a:endParaRPr/>
          </a:p>
        </p:txBody>
      </p:sp>
      <p:sp>
        <p:nvSpPr>
          <p:cNvPr id="7604" name="Google Shape;7604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5" name="Google Shape;7605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7606" name="Google Shape;7606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7" name="Google Shape;7607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7608" name="Google Shape;7608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7609" name="Google Shape;7609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</a:t>
            </a:r>
            <a:endParaRPr/>
          </a:p>
        </p:txBody>
      </p:sp>
      <p:sp>
        <p:nvSpPr>
          <p:cNvPr id="7610" name="Google Shape;7610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7611" name="Google Shape;7611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$148K</a:t>
            </a:r>
            <a:endParaRPr/>
          </a:p>
        </p:txBody>
      </p:sp>
      <p:sp>
        <p:nvSpPr>
          <p:cNvPr id="7612" name="Google Shape;7612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3" name="Google Shape;7613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614" name="Google Shape;7614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15" name="Google Shape;7615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$148,004 YTD gross written premium</a:t>
            </a:r>
            <a:endParaRPr/>
          </a:p>
        </p:txBody>
      </p:sp>
      <p:sp>
        <p:nvSpPr>
          <p:cNvPr id="7616" name="Google Shape;7616;p4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17" name="Google Shape;7617;p4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$136,938 in new business production</a:t>
            </a:r>
            <a:endParaRPr/>
          </a:p>
        </p:txBody>
      </p:sp>
      <p:sp>
        <p:nvSpPr>
          <p:cNvPr id="7618" name="Google Shape;7618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9" name="Google Shape;7619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620" name="Google Shape;7620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21" name="Google Shape;7621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622" name="Google Shape;7622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23" name="Google Shape;7623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14 to 4 MoM</a:t>
            </a:r>
            <a:endParaRPr/>
          </a:p>
        </p:txBody>
      </p:sp>
      <p:sp>
        <p:nvSpPr>
          <p:cNvPr id="7624" name="Google Shape;7624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5" name="Google Shape;7625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626" name="Google Shape;7626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627" name="Google Shape;7627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$136,938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7628" name="Google Shape;7628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629" name="Google Shape;7629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33" name="Shape 7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4" name="Google Shape;7634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5" name="Google Shape;7635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Inc.</a:t>
            </a:r>
            <a:endParaRPr/>
          </a:p>
        </p:txBody>
      </p:sp>
      <p:sp>
        <p:nvSpPr>
          <p:cNvPr id="7636" name="Google Shape;7636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Commerce</a:t>
            </a:r>
            <a:endParaRPr/>
          </a:p>
        </p:txBody>
      </p:sp>
      <p:sp>
        <p:nvSpPr>
          <p:cNvPr id="7637" name="Google Shape;7637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$145,883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638" name="Google Shape;7638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39" name="Google Shape;7639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40" name="Google Shape;7640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41" name="Google Shape;7641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$-116,832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42" name="Google Shape;7642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$1,098,550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643" name="Google Shape;7643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$909,249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644" name="Google Shape;7644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645" name="Google Shape;7645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46" name="Google Shape;7646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47" name="Google Shape;7647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48" name="Google Shape;7648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$251,489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649" name="Google Shape;7649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$59,023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650" name="Google Shape;7650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1" name="Google Shape;7651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652" name="Google Shape;7652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53" name="Google Shape;7653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654" name="Google Shape;7654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56" name="Google Shape;7656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57" name="Google Shape;7657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58" name="Google Shape;7658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9" name="Google Shape;7659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60" name="Google Shape;7660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$6,994</a:t>
            </a:r>
            <a:endParaRPr/>
          </a:p>
        </p:txBody>
      </p:sp>
      <p:sp>
        <p:nvSpPr>
          <p:cNvPr id="7661" name="Google Shape;7661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2" name="Google Shape;7662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3" name="Google Shape;7663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$6,994</a:t>
            </a:r>
            <a:endParaRPr/>
          </a:p>
        </p:txBody>
      </p:sp>
      <p:sp>
        <p:nvSpPr>
          <p:cNvPr id="7664" name="Google Shape;7664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5" name="Google Shape;7665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6" name="Google Shape;7666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67" name="Google Shape;7667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</p:txBody>
      </p:sp>
      <p:sp>
        <p:nvSpPr>
          <p:cNvPr id="7668" name="Google Shape;7668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0" name="Google Shape;7670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$-68,987</a:t>
            </a:r>
            <a:endParaRPr/>
          </a:p>
        </p:txBody>
      </p:sp>
      <p:sp>
        <p:nvSpPr>
          <p:cNvPr id="7672" name="Google Shape;7672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3" name="Google Shape;7673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74" name="Google Shape;7674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$30,247</a:t>
            </a:r>
            <a:endParaRPr/>
          </a:p>
        </p:txBody>
      </p:sp>
      <p:sp>
        <p:nvSpPr>
          <p:cNvPr id="7675" name="Google Shape;7675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$30,167</a:t>
            </a:r>
            <a:endParaRPr/>
          </a:p>
        </p:txBody>
      </p:sp>
      <p:sp>
        <p:nvSpPr>
          <p:cNvPr id="7676" name="Google Shape;7676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7" name="Google Shape;7677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</a:t>
            </a:r>
            <a:endParaRPr/>
          </a:p>
        </p:txBody>
      </p:sp>
      <p:sp>
        <p:nvSpPr>
          <p:cNvPr id="7678" name="Google Shape;7678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$-31,311</a:t>
            </a:r>
            <a:endParaRPr/>
          </a:p>
        </p:txBody>
      </p:sp>
      <p:sp>
        <p:nvSpPr>
          <p:cNvPr id="7679" name="Google Shape;7679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0" name="Google Shape;7680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81" name="Google Shape;7681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$53,372</a:t>
            </a:r>
            <a:endParaRPr/>
          </a:p>
        </p:txBody>
      </p:sp>
      <p:sp>
        <p:nvSpPr>
          <p:cNvPr id="7682" name="Google Shape;7682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$39,656</a:t>
            </a:r>
            <a:endParaRPr/>
          </a:p>
        </p:txBody>
      </p:sp>
      <p:sp>
        <p:nvSpPr>
          <p:cNvPr id="7683" name="Google Shape;7683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4" name="Google Shape;7684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$13,715</a:t>
            </a:r>
            <a:endParaRPr/>
          </a:p>
        </p:txBody>
      </p:sp>
      <p:sp>
        <p:nvSpPr>
          <p:cNvPr id="7685" name="Google Shape;7685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$-16,534</a:t>
            </a:r>
            <a:endParaRPr/>
          </a:p>
        </p:txBody>
      </p:sp>
      <p:sp>
        <p:nvSpPr>
          <p:cNvPr id="7686" name="Google Shape;7686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7" name="Google Shape;7687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$844</a:t>
            </a:r>
            <a:endParaRPr/>
          </a:p>
        </p:txBody>
      </p:sp>
      <p:sp>
        <p:nvSpPr>
          <p:cNvPr id="7689" name="Google Shape;7689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0" name="Google Shape;7690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1" name="Google Shape;7691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$844</a:t>
            </a:r>
            <a:endParaRPr/>
          </a:p>
        </p:txBody>
      </p:sp>
      <p:sp>
        <p:nvSpPr>
          <p:cNvPr id="7692" name="Google Shape;7692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3" name="Google Shape;7693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4" name="Google Shape;7694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95" name="Google Shape;7695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$145,883</a:t>
            </a:r>
            <a:endParaRPr/>
          </a:p>
        </p:txBody>
      </p:sp>
      <p:sp>
        <p:nvSpPr>
          <p:cNvPr id="7696" name="Google Shape;7696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$69,823</a:t>
            </a:r>
            <a:endParaRPr/>
          </a:p>
        </p:txBody>
      </p:sp>
      <p:sp>
        <p:nvSpPr>
          <p:cNvPr id="7697" name="Google Shape;7697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8" name="Google Shape;7698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$76,059</a:t>
            </a:r>
            <a:endParaRPr/>
          </a:p>
        </p:txBody>
      </p:sp>
      <p:sp>
        <p:nvSpPr>
          <p:cNvPr id="7699" name="Google Shape;7699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$-116,832</a:t>
            </a:r>
            <a:endParaRPr/>
          </a:p>
        </p:txBody>
      </p:sp>
      <p:sp>
        <p:nvSpPr>
          <p:cNvPr id="7700" name="Google Shape;7700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1" name="Google Shape;7701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02" name="Google Shape;7702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03" name="Google Shape;7703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04" name="Google Shape;7704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05" name="Google Shape;7705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06" name="Google Shape;7706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07" name="Google Shape;7707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08" name="Google Shape;7708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9" name="Google Shape;7709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10" name="Google Shape;7710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11" name="Google Shape;7711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12" name="Google Shape;7712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713" name="Google Shape;7713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14" name="Google Shape;7714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7715" name="Google Shape;7715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6" name="Google Shape;7716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17" name="Google Shape;7717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718" name="Google Shape;7718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19" name="Google Shape;7719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720" name="Google Shape;7720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21" name="Google Shape;7721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7722" name="Google Shape;7722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3" name="Google Shape;7723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24" name="Google Shape;7724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725" name="Google Shape;7725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26" name="Google Shape;7726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27" name="Google Shape;7727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28" name="Google Shape;7728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7729" name="Google Shape;7729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0" name="Google Shape;7730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31" name="Google Shape;7731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7732" name="Google Shape;7732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733" name="Google Shape;7733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734" name="Google Shape;7734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735" name="Google Shape;7735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7736" name="Google Shape;7736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7" name="Google Shape;7737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38" name="Google Shape;7738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39" name="Google Shape;7739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740" name="Google Shape;7740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7741" name="Google Shape;7741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42" name="Google Shape;7742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7743" name="Google Shape;7743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4" name="Google Shape;7744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45" name="Google Shape;7745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196</a:t>
            </a:r>
            <a:endParaRPr/>
          </a:p>
        </p:txBody>
      </p:sp>
      <p:sp>
        <p:nvSpPr>
          <p:cNvPr id="7746" name="Google Shape;7746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747" name="Google Shape;7747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7748" name="Google Shape;7748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749" name="Google Shape;7749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7750" name="Google Shape;7750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1" name="Google Shape;7751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752" name="Google Shape;7752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753" name="Google Shape;7753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754" name="Google Shape;7754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755" name="Google Shape;7755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756" name="Google Shape;7756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757" name="Google Shape;7757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758" name="Google Shape;7758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759" name="Google Shape;7759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760" name="Google Shape;7760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761" name="Google Shape;7761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762" name="Google Shape;7762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763" name="Google Shape;7763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764" name="Google Shape;7764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765" name="Google Shape;7765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66" name="Google Shape;7766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767" name="Google Shape;7767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68" name="Google Shape;7768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769" name="Google Shape;7769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770" name="Google Shape;7770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7771" name="Google Shape;7771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772" name="Google Shape;7772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773" name="Google Shape;7773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7774" name="Google Shape;7774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775" name="Google Shape;7775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76" name="Google Shape;7776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7777" name="Google Shape;7777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208</a:t>
            </a:r>
            <a:endParaRPr/>
          </a:p>
        </p:txBody>
      </p:sp>
      <p:sp>
        <p:nvSpPr>
          <p:cNvPr id="7778" name="Google Shape;7778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779" name="Google Shape;7779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7780" name="Google Shape;7780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7781" name="Google Shape;7781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7782" name="Google Shape;7782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7783" name="Google Shape;7783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7784" name="Google Shape;7784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7785" name="Google Shape;7785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7786" name="Google Shape;7786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7787" name="Google Shape;7787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7788" name="Google Shape;7788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$844</a:t>
            </a:r>
            <a:endParaRPr/>
          </a:p>
        </p:txBody>
      </p:sp>
      <p:sp>
        <p:nvSpPr>
          <p:cNvPr id="7789" name="Google Shape;7789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$335K</a:t>
            </a:r>
            <a:endParaRPr/>
          </a:p>
        </p:txBody>
      </p:sp>
      <p:sp>
        <p:nvSpPr>
          <p:cNvPr id="7790" name="Google Shape;7790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7791" name="Google Shape;7791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2" name="Google Shape;7792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793" name="Google Shape;7793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94" name="Google Shape;7794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$145,883 YTD gross written premium</a:t>
            </a:r>
            <a:endParaRPr/>
          </a:p>
        </p:txBody>
      </p:sp>
      <p:sp>
        <p:nvSpPr>
          <p:cNvPr id="7795" name="Google Shape;7795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96" name="Google Shape;7796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$69,823 in new business production</a:t>
            </a:r>
            <a:endParaRPr/>
          </a:p>
        </p:txBody>
      </p:sp>
      <p:sp>
        <p:nvSpPr>
          <p:cNvPr id="7797" name="Google Shape;7797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8" name="Google Shape;7798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799" name="Google Shape;7799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00" name="Google Shape;7800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167% of new business ($116,832)</a:t>
            </a:r>
            <a:endParaRPr/>
          </a:p>
        </p:txBody>
      </p:sp>
      <p:sp>
        <p:nvSpPr>
          <p:cNvPr id="7801" name="Google Shape;7801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02" name="Google Shape;7802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98% month-over-month</a:t>
            </a:r>
            <a:endParaRPr/>
          </a:p>
        </p:txBody>
      </p:sp>
      <p:sp>
        <p:nvSpPr>
          <p:cNvPr id="7803" name="Google Shape;7803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4" name="Google Shape;7804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05" name="Google Shape;7805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06" name="Google Shape;7806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$69,823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7807" name="Google Shape;7807;p4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808" name="Google Shape;7808;p4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$116,832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12" name="Shape 7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3" name="Google Shape;7813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4" name="Google Shape;7814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7815" name="Google Shape;7815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AZ  |  City: Scottsdale</a:t>
            </a:r>
            <a:endParaRPr/>
          </a:p>
        </p:txBody>
      </p:sp>
      <p:sp>
        <p:nvSpPr>
          <p:cNvPr id="7816" name="Google Shape;7816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817" name="Google Shape;7817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18" name="Google Shape;7818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19" name="Google Shape;7819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$65,494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20" name="Google Shape;7820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$-148,891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21" name="Google Shape;7821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$2,228,376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822" name="Google Shape;7822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$823,368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823" name="Google Shape;7823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824" name="Google Shape;7824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25" name="Google Shape;7825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26" name="Google Shape;7826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27" name="Google Shape;7827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828" name="Google Shape;7828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$172,828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829" name="Google Shape;7829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0" name="Google Shape;7830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831" name="Google Shape;7831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32" name="Google Shape;7832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833" name="Google Shape;7833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34" name="Google Shape;7834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35" name="Google Shape;7835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36" name="Google Shape;7836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37" name="Google Shape;7837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8" name="Google Shape;7838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839" name="Google Shape;7839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$34,967</a:t>
            </a:r>
            <a:endParaRPr/>
          </a:p>
        </p:txBody>
      </p:sp>
      <p:sp>
        <p:nvSpPr>
          <p:cNvPr id="7840" name="Google Shape;7840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1" name="Google Shape;7841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$12,326</a:t>
            </a:r>
            <a:endParaRPr/>
          </a:p>
        </p:txBody>
      </p:sp>
      <p:sp>
        <p:nvSpPr>
          <p:cNvPr id="7842" name="Google Shape;7842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$22,641</a:t>
            </a:r>
            <a:endParaRPr/>
          </a:p>
        </p:txBody>
      </p:sp>
      <p:sp>
        <p:nvSpPr>
          <p:cNvPr id="7843" name="Google Shape;7843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$-21,968</a:t>
            </a:r>
            <a:endParaRPr/>
          </a:p>
        </p:txBody>
      </p:sp>
      <p:sp>
        <p:nvSpPr>
          <p:cNvPr id="7844" name="Google Shape;7844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5" name="Google Shape;7845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846" name="Google Shape;7846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$22,843</a:t>
            </a:r>
            <a:endParaRPr/>
          </a:p>
        </p:txBody>
      </p:sp>
      <p:sp>
        <p:nvSpPr>
          <p:cNvPr id="7847" name="Google Shape;7847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8" name="Google Shape;7848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$9,962</a:t>
            </a:r>
            <a:endParaRPr/>
          </a:p>
        </p:txBody>
      </p:sp>
      <p:sp>
        <p:nvSpPr>
          <p:cNvPr id="7849" name="Google Shape;7849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$12,881</a:t>
            </a:r>
            <a:endParaRPr/>
          </a:p>
        </p:txBody>
      </p:sp>
      <p:sp>
        <p:nvSpPr>
          <p:cNvPr id="7850" name="Google Shape;7850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$-19,695</a:t>
            </a:r>
            <a:endParaRPr/>
          </a:p>
        </p:txBody>
      </p:sp>
      <p:sp>
        <p:nvSpPr>
          <p:cNvPr id="7851" name="Google Shape;7851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2" name="Google Shape;7852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853" name="Google Shape;7853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$12,012</a:t>
            </a:r>
            <a:endParaRPr/>
          </a:p>
        </p:txBody>
      </p:sp>
      <p:sp>
        <p:nvSpPr>
          <p:cNvPr id="7854" name="Google Shape;7854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5" name="Google Shape;7855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6" name="Google Shape;7856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$12,012</a:t>
            </a:r>
            <a:endParaRPr/>
          </a:p>
        </p:txBody>
      </p:sp>
      <p:sp>
        <p:nvSpPr>
          <p:cNvPr id="7857" name="Google Shape;7857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$-31,582</a:t>
            </a:r>
            <a:endParaRPr/>
          </a:p>
        </p:txBody>
      </p:sp>
      <p:sp>
        <p:nvSpPr>
          <p:cNvPr id="7858" name="Google Shape;7858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9" name="Google Shape;7859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860" name="Google Shape;7860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$66,846</a:t>
            </a:r>
            <a:endParaRPr/>
          </a:p>
        </p:txBody>
      </p:sp>
      <p:sp>
        <p:nvSpPr>
          <p:cNvPr id="7861" name="Google Shape;7861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62" name="Google Shape;7862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$48,916</a:t>
            </a:r>
            <a:endParaRPr/>
          </a:p>
        </p:txBody>
      </p:sp>
      <p:sp>
        <p:nvSpPr>
          <p:cNvPr id="7863" name="Google Shape;7863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$17,930</a:t>
            </a:r>
            <a:endParaRPr/>
          </a:p>
        </p:txBody>
      </p:sp>
      <p:sp>
        <p:nvSpPr>
          <p:cNvPr id="7864" name="Google Shape;7864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$-75,646</a:t>
            </a:r>
            <a:endParaRPr/>
          </a:p>
        </p:txBody>
      </p:sp>
      <p:sp>
        <p:nvSpPr>
          <p:cNvPr id="7865" name="Google Shape;7865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6" name="Google Shape;7866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67" name="Google Shape;7867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</a:t>
            </a:r>
            <a:endParaRPr/>
          </a:p>
        </p:txBody>
      </p:sp>
      <p:sp>
        <p:nvSpPr>
          <p:cNvPr id="7868" name="Google Shape;7868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69" name="Google Shape;7869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0" name="Google Shape;7870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</a:t>
            </a:r>
            <a:endParaRPr/>
          </a:p>
        </p:txBody>
      </p:sp>
      <p:sp>
        <p:nvSpPr>
          <p:cNvPr id="7871" name="Google Shape;7871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2" name="Google Shape;7872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3" name="Google Shape;7873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74" name="Google Shape;7874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$136,699</a:t>
            </a:r>
            <a:endParaRPr/>
          </a:p>
        </p:txBody>
      </p:sp>
      <p:sp>
        <p:nvSpPr>
          <p:cNvPr id="7875" name="Google Shape;7875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6" name="Google Shape;7876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$71,205</a:t>
            </a:r>
            <a:endParaRPr/>
          </a:p>
        </p:txBody>
      </p:sp>
      <p:sp>
        <p:nvSpPr>
          <p:cNvPr id="7877" name="Google Shape;7877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$65,494</a:t>
            </a:r>
            <a:endParaRPr/>
          </a:p>
        </p:txBody>
      </p:sp>
      <p:sp>
        <p:nvSpPr>
          <p:cNvPr id="7878" name="Google Shape;7878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$-148,891</a:t>
            </a:r>
            <a:endParaRPr/>
          </a:p>
        </p:txBody>
      </p:sp>
      <p:sp>
        <p:nvSpPr>
          <p:cNvPr id="7879" name="Google Shape;7879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0" name="Google Shape;7880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881" name="Google Shape;7881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82" name="Google Shape;7882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883" name="Google Shape;7883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884" name="Google Shape;7884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885" name="Google Shape;7885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86" name="Google Shape;7886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87" name="Google Shape;7887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8" name="Google Shape;7888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889" name="Google Shape;7889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890" name="Google Shape;7890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91" name="Google Shape;7891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7892" name="Google Shape;7892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893" name="Google Shape;7893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7894" name="Google Shape;7894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5" name="Google Shape;7895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896" name="Google Shape;7896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897" name="Google Shape;7897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98" name="Google Shape;7898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7899" name="Google Shape;7899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900" name="Google Shape;7900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7901" name="Google Shape;7901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2" name="Google Shape;7902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03" name="Google Shape;7903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904" name="Google Shape;7904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05" name="Google Shape;7905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906" name="Google Shape;7906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07" name="Google Shape;7907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15.6%</a:t>
            </a:r>
            <a:endParaRPr/>
          </a:p>
        </p:txBody>
      </p:sp>
      <p:sp>
        <p:nvSpPr>
          <p:cNvPr id="7908" name="Google Shape;7908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9" name="Google Shape;7909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10" name="Google Shape;7910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911" name="Google Shape;7911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12" name="Google Shape;7912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913" name="Google Shape;7913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14" name="Google Shape;7914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7915" name="Google Shape;7915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6" name="Google Shape;7916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17" name="Google Shape;7917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18" name="Google Shape;7918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19" name="Google Shape;7919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20" name="Google Shape;7920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21" name="Google Shape;7921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7922" name="Google Shape;7922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3" name="Google Shape;7923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24" name="Google Shape;7924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7925" name="Google Shape;7925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26" name="Google Shape;7926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7927" name="Google Shape;7927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928" name="Google Shape;7928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7929" name="Google Shape;7929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0" name="Google Shape;7930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931" name="Google Shape;7931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932" name="Google Shape;7932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933" name="Google Shape;7933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934" name="Google Shape;7934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935" name="Google Shape;7935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936" name="Google Shape;7936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937" name="Google Shape;7937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938" name="Google Shape;7938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939" name="Google Shape;7939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940" name="Google Shape;7940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941" name="Google Shape;7941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942" name="Google Shape;7942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943" name="Google Shape;7943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944" name="Google Shape;7944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945" name="Google Shape;7945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7946" name="Google Shape;7946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947" name="Google Shape;7947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7948" name="Google Shape;7948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949" name="Google Shape;7949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7950" name="Google Shape;7950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951" name="Google Shape;7951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7952" name="Google Shape;7952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953" name="Google Shape;7953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7954" name="Google Shape;7954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55" name="Google Shape;7955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700</a:t>
            </a:r>
            <a:endParaRPr/>
          </a:p>
        </p:txBody>
      </p:sp>
      <p:sp>
        <p:nvSpPr>
          <p:cNvPr id="7956" name="Google Shape;7956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7957" name="Google Shape;7957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958" name="Google Shape;7958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$359K</a:t>
            </a:r>
            <a:endParaRPr/>
          </a:p>
        </p:txBody>
      </p:sp>
      <p:sp>
        <p:nvSpPr>
          <p:cNvPr id="7959" name="Google Shape;7959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7960" name="Google Shape;7960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$287K</a:t>
            </a:r>
            <a:endParaRPr/>
          </a:p>
        </p:txBody>
      </p:sp>
      <p:sp>
        <p:nvSpPr>
          <p:cNvPr id="7961" name="Google Shape;7961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962" name="Google Shape;7962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7963" name="Google Shape;7963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7964" name="Google Shape;7964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$226K</a:t>
            </a:r>
            <a:endParaRPr/>
          </a:p>
        </p:txBody>
      </p:sp>
      <p:sp>
        <p:nvSpPr>
          <p:cNvPr id="7965" name="Google Shape;7965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7966" name="Google Shape;7966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$248K</a:t>
            </a:r>
            <a:endParaRPr/>
          </a:p>
        </p:txBody>
      </p:sp>
      <p:sp>
        <p:nvSpPr>
          <p:cNvPr id="7967" name="Google Shape;7967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</a:t>
            </a:r>
            <a:endParaRPr/>
          </a:p>
        </p:txBody>
      </p:sp>
      <p:sp>
        <p:nvSpPr>
          <p:cNvPr id="7968" name="Google Shape;7968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$1.5M</a:t>
            </a:r>
            <a:endParaRPr/>
          </a:p>
        </p:txBody>
      </p:sp>
      <p:sp>
        <p:nvSpPr>
          <p:cNvPr id="7969" name="Google Shape;7969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$137K</a:t>
            </a:r>
            <a:endParaRPr/>
          </a:p>
        </p:txBody>
      </p:sp>
      <p:sp>
        <p:nvSpPr>
          <p:cNvPr id="7970" name="Google Shape;7970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1" name="Google Shape;7971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972" name="Google Shape;7972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973" name="Google Shape;7973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$136,699 YTD gross written premium</a:t>
            </a:r>
            <a:endParaRPr/>
          </a:p>
        </p:txBody>
      </p:sp>
      <p:sp>
        <p:nvSpPr>
          <p:cNvPr id="7974" name="Google Shape;7974;p5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975" name="Google Shape;7975;p5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$71,205 in renewals - strong retention</a:t>
            </a:r>
            <a:endParaRPr/>
          </a:p>
        </p:txBody>
      </p:sp>
      <p:sp>
        <p:nvSpPr>
          <p:cNvPr id="7976" name="Google Shape;7976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7" name="Google Shape;7977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978" name="Google Shape;7978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979" name="Google Shape;7979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980" name="Google Shape;7980;p5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981" name="Google Shape;7981;p5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982" name="Google Shape;7982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3" name="Google Shape;7983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984" name="Google Shape;7984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985" name="Google Shape;7985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$71,205 in renewals shows they trust our product. Ask: "What's holding back new submissions?" They may need updated appetite info or a refresher on our quoting process.</a:t>
            </a:r>
            <a:endParaRPr/>
          </a:p>
        </p:txBody>
      </p:sp>
      <p:sp>
        <p:nvSpPr>
          <p:cNvPr id="7986" name="Google Shape;7986;p5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987" name="Google Shape;7987;p5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91" name="Shape 7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2" name="Google Shape;7992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3" name="Google Shape;7993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Tie Insurance Services, Inc.</a:t>
            </a:r>
            <a:endParaRPr/>
          </a:p>
        </p:txBody>
      </p:sp>
      <p:sp>
        <p:nvSpPr>
          <p:cNvPr id="7994" name="Google Shape;7994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Downey</a:t>
            </a:r>
            <a:endParaRPr/>
          </a:p>
        </p:txBody>
      </p:sp>
      <p:sp>
        <p:nvSpPr>
          <p:cNvPr id="7995" name="Google Shape;7995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996" name="Google Shape;7996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97" name="Google Shape;7997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98" name="Google Shape;7998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99" name="Google Shape;7999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$-58,866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00" name="Google Shape;8000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$630,459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001" name="Google Shape;8001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$434,289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002" name="Google Shape;8002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003" name="Google Shape;8003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04" name="Google Shape;8004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05" name="Google Shape;8005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06" name="Google Shape;8006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007" name="Google Shape;8007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$125,937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008" name="Google Shape;8008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9" name="Google Shape;8009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010" name="Google Shape;8010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11" name="Google Shape;8011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012" name="Google Shape;8012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13" name="Google Shape;8013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14" name="Google Shape;8014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15" name="Google Shape;8015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16" name="Google Shape;8016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7" name="Google Shape;8017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18" name="Google Shape;8018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$64,792</a:t>
            </a:r>
            <a:endParaRPr/>
          </a:p>
        </p:txBody>
      </p:sp>
      <p:sp>
        <p:nvSpPr>
          <p:cNvPr id="8019" name="Google Shape;8019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$64,792</a:t>
            </a:r>
            <a:endParaRPr/>
          </a:p>
        </p:txBody>
      </p:sp>
      <p:sp>
        <p:nvSpPr>
          <p:cNvPr id="8020" name="Google Shape;8020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1" name="Google Shape;8021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2" name="Google Shape;8022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3" name="Google Shape;8023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4" name="Google Shape;8024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25" name="Google Shape;8025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$77,299</a:t>
            </a:r>
            <a:endParaRPr/>
          </a:p>
        </p:txBody>
      </p:sp>
      <p:sp>
        <p:nvSpPr>
          <p:cNvPr id="8026" name="Google Shape;8026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$64,638</a:t>
            </a:r>
            <a:endParaRPr/>
          </a:p>
        </p:txBody>
      </p:sp>
      <p:sp>
        <p:nvSpPr>
          <p:cNvPr id="8027" name="Google Shape;8027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8" name="Google Shape;8028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$12,661</a:t>
            </a:r>
            <a:endParaRPr/>
          </a:p>
        </p:txBody>
      </p:sp>
      <p:sp>
        <p:nvSpPr>
          <p:cNvPr id="8029" name="Google Shape;8029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$-3,153</a:t>
            </a:r>
            <a:endParaRPr/>
          </a:p>
        </p:txBody>
      </p:sp>
      <p:sp>
        <p:nvSpPr>
          <p:cNvPr id="8030" name="Google Shape;8030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1" name="Google Shape;8031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32" name="Google Shape;8032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$-512</a:t>
            </a:r>
            <a:endParaRPr/>
          </a:p>
        </p:txBody>
      </p:sp>
      <p:sp>
        <p:nvSpPr>
          <p:cNvPr id="8033" name="Google Shape;8033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34" name="Google Shape;8034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35" name="Google Shape;8035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$-512</a:t>
            </a:r>
            <a:endParaRPr/>
          </a:p>
        </p:txBody>
      </p:sp>
      <p:sp>
        <p:nvSpPr>
          <p:cNvPr id="8036" name="Google Shape;8036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$-12,471</a:t>
            </a:r>
            <a:endParaRPr/>
          </a:p>
        </p:txBody>
      </p:sp>
      <p:sp>
        <p:nvSpPr>
          <p:cNvPr id="8037" name="Google Shape;8037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8" name="Google Shape;8038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39" name="Google Shape;8039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0" name="Google Shape;8040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1" name="Google Shape;8041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2" name="Google Shape;8042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3" name="Google Shape;8043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$-43,241</a:t>
            </a:r>
            <a:endParaRPr/>
          </a:p>
        </p:txBody>
      </p:sp>
      <p:sp>
        <p:nvSpPr>
          <p:cNvPr id="8044" name="Google Shape;8044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5" name="Google Shape;8045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046" name="Google Shape;8046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$-11,676</a:t>
            </a:r>
            <a:endParaRPr/>
          </a:p>
        </p:txBody>
      </p:sp>
      <p:sp>
        <p:nvSpPr>
          <p:cNvPr id="8047" name="Google Shape;8047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8" name="Google Shape;8048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9" name="Google Shape;8049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$-11,676</a:t>
            </a:r>
            <a:endParaRPr/>
          </a:p>
        </p:txBody>
      </p:sp>
      <p:sp>
        <p:nvSpPr>
          <p:cNvPr id="8050" name="Google Shape;8050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51" name="Google Shape;8051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2" name="Google Shape;8052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053" name="Google Shape;8053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$129,903</a:t>
            </a:r>
            <a:endParaRPr/>
          </a:p>
        </p:txBody>
      </p:sp>
      <p:sp>
        <p:nvSpPr>
          <p:cNvPr id="8054" name="Google Shape;8054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$129,430</a:t>
            </a:r>
            <a:endParaRPr/>
          </a:p>
        </p:txBody>
      </p:sp>
      <p:sp>
        <p:nvSpPr>
          <p:cNvPr id="8055" name="Google Shape;8055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56" name="Google Shape;8056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</a:t>
            </a:r>
            <a:endParaRPr/>
          </a:p>
        </p:txBody>
      </p:sp>
      <p:sp>
        <p:nvSpPr>
          <p:cNvPr id="8057" name="Google Shape;8057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$-58,866</a:t>
            </a:r>
            <a:endParaRPr/>
          </a:p>
        </p:txBody>
      </p:sp>
      <p:sp>
        <p:nvSpPr>
          <p:cNvPr id="8058" name="Google Shape;8058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9" name="Google Shape;8059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060" name="Google Shape;8060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61" name="Google Shape;8061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062" name="Google Shape;8062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063" name="Google Shape;8063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064" name="Google Shape;8064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65" name="Google Shape;8065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66" name="Google Shape;8066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7" name="Google Shape;8067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68" name="Google Shape;8068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069" name="Google Shape;8069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70" name="Google Shape;8070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071" name="Google Shape;8071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72" name="Google Shape;8072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8073" name="Google Shape;8073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4" name="Google Shape;8074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75" name="Google Shape;8075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076" name="Google Shape;8076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77" name="Google Shape;8077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078" name="Google Shape;8078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079" name="Google Shape;8079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27.6%</a:t>
            </a:r>
            <a:endParaRPr/>
          </a:p>
        </p:txBody>
      </p:sp>
      <p:sp>
        <p:nvSpPr>
          <p:cNvPr id="8080" name="Google Shape;8080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1" name="Google Shape;8081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82" name="Google Shape;8082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083" name="Google Shape;8083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84" name="Google Shape;8084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085" name="Google Shape;8085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86" name="Google Shape;8086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21.4%</a:t>
            </a:r>
            <a:endParaRPr/>
          </a:p>
        </p:txBody>
      </p:sp>
      <p:sp>
        <p:nvSpPr>
          <p:cNvPr id="8087" name="Google Shape;8087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8" name="Google Shape;8088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89" name="Google Shape;8089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090" name="Google Shape;8090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91" name="Google Shape;8091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092" name="Google Shape;8092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93" name="Google Shape;8093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8094" name="Google Shape;8094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5" name="Google Shape;8095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096" name="Google Shape;8096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097" name="Google Shape;8097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98" name="Google Shape;8098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099" name="Google Shape;8099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00" name="Google Shape;8100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8101" name="Google Shape;8101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2" name="Google Shape;8102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03" name="Google Shape;8103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8104" name="Google Shape;8104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05" name="Google Shape;8105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8106" name="Google Shape;8106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107" name="Google Shape;8107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8.7%</a:t>
            </a:r>
            <a:endParaRPr/>
          </a:p>
        </p:txBody>
      </p:sp>
      <p:sp>
        <p:nvSpPr>
          <p:cNvPr id="8108" name="Google Shape;8108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9" name="Google Shape;8109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110" name="Google Shape;8110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111" name="Google Shape;8111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112" name="Google Shape;8112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113" name="Google Shape;8113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114" name="Google Shape;8114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115" name="Google Shape;8115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116" name="Google Shape;8116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117" name="Google Shape;8117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118" name="Google Shape;8118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119" name="Google Shape;8119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120" name="Google Shape;8120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121" name="Google Shape;8121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122" name="Google Shape;8122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123" name="Google Shape;8123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24" name="Google Shape;8124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8125" name="Google Shape;8125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126" name="Google Shape;8126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127" name="Google Shape;8127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128" name="Google Shape;8128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29" name="Google Shape;8129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130" name="Google Shape;8130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131" name="Google Shape;8131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32" name="Google Shape;8132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133" name="Google Shape;8133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134" name="Google Shape;8134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</a:t>
            </a:r>
            <a:endParaRPr/>
          </a:p>
        </p:txBody>
      </p:sp>
      <p:sp>
        <p:nvSpPr>
          <p:cNvPr id="8135" name="Google Shape;8135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8136" name="Google Shape;8136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137" name="Google Shape;8137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$119K</a:t>
            </a:r>
            <a:endParaRPr/>
          </a:p>
        </p:txBody>
      </p:sp>
      <p:sp>
        <p:nvSpPr>
          <p:cNvPr id="8138" name="Google Shape;8138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$65K</a:t>
            </a:r>
            <a:endParaRPr/>
          </a:p>
        </p:txBody>
      </p:sp>
      <p:sp>
        <p:nvSpPr>
          <p:cNvPr id="8139" name="Google Shape;8139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8140" name="Google Shape;8140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8141" name="Google Shape;8141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2" name="Google Shape;8142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$-512</a:t>
            </a:r>
            <a:endParaRPr/>
          </a:p>
        </p:txBody>
      </p:sp>
      <p:sp>
        <p:nvSpPr>
          <p:cNvPr id="8143" name="Google Shape;8143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8144" name="Google Shape;8144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5" name="Google Shape;8145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8146" name="Google Shape;8146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$-11,676</a:t>
            </a:r>
            <a:endParaRPr/>
          </a:p>
        </p:txBody>
      </p:sp>
      <p:sp>
        <p:nvSpPr>
          <p:cNvPr id="8147" name="Google Shape;8147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$326K</a:t>
            </a:r>
            <a:endParaRPr/>
          </a:p>
        </p:txBody>
      </p:sp>
      <p:sp>
        <p:nvSpPr>
          <p:cNvPr id="8148" name="Google Shape;8148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$130K</a:t>
            </a:r>
            <a:endParaRPr/>
          </a:p>
        </p:txBody>
      </p:sp>
      <p:sp>
        <p:nvSpPr>
          <p:cNvPr id="8149" name="Google Shape;8149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0" name="Google Shape;8150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151" name="Google Shape;8151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152" name="Google Shape;8152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$129,903 YTD gross written premium</a:t>
            </a:r>
            <a:endParaRPr/>
          </a:p>
        </p:txBody>
      </p:sp>
      <p:sp>
        <p:nvSpPr>
          <p:cNvPr id="8153" name="Google Shape;8153;p5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154" name="Google Shape;8154;p5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$129,430 in new business production</a:t>
            </a:r>
            <a:endParaRPr/>
          </a:p>
        </p:txBody>
      </p:sp>
      <p:sp>
        <p:nvSpPr>
          <p:cNvPr id="8155" name="Google Shape;8155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6" name="Google Shape;8156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157" name="Google Shape;8157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158" name="Google Shape;8158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45% of new business ($58,866)</a:t>
            </a:r>
            <a:endParaRPr/>
          </a:p>
        </p:txBody>
      </p:sp>
      <p:sp>
        <p:nvSpPr>
          <p:cNvPr id="8159" name="Google Shape;8159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0" name="Google Shape;8160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161" name="Google Shape;8161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162" name="Google Shape;8162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$129,430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8163" name="Google Shape;8163;p5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164" name="Google Shape;8164;p5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$58,866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68" name="Shape 8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9" name="Google Shape;8169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0" name="Google Shape;8170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Ways Insurance Services Inc.</a:t>
            </a:r>
            <a:endParaRPr/>
          </a:p>
        </p:txBody>
      </p:sp>
      <p:sp>
        <p:nvSpPr>
          <p:cNvPr id="8171" name="Google Shape;8171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Camarillo</a:t>
            </a:r>
            <a:endParaRPr/>
          </a:p>
        </p:txBody>
      </p:sp>
      <p:sp>
        <p:nvSpPr>
          <p:cNvPr id="8172" name="Google Shape;8172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173" name="Google Shape;8173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174" name="Google Shape;8174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175" name="Google Shape;8175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176" name="Google Shape;8176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$-102,483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77" name="Google Shape;8177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$599,280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178" name="Google Shape;8178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$587,917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179" name="Google Shape;8179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180" name="Google Shape;8180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81" name="Google Shape;8181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82" name="Google Shape;8182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83" name="Google Shape;8183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$32,737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184" name="Google Shape;8184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$113,658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185" name="Google Shape;8185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6" name="Google Shape;8186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187" name="Google Shape;8187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88" name="Google Shape;8188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189" name="Google Shape;8189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190" name="Google Shape;8190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191" name="Google Shape;8191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192" name="Google Shape;8192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93" name="Google Shape;8193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4" name="Google Shape;8194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95" name="Google Shape;8195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$3,167</a:t>
            </a:r>
            <a:endParaRPr/>
          </a:p>
        </p:txBody>
      </p:sp>
      <p:sp>
        <p:nvSpPr>
          <p:cNvPr id="8196" name="Google Shape;8196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7" name="Google Shape;8197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8" name="Google Shape;8198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$3,167</a:t>
            </a:r>
            <a:endParaRPr/>
          </a:p>
        </p:txBody>
      </p:sp>
      <p:sp>
        <p:nvSpPr>
          <p:cNvPr id="8199" name="Google Shape;8199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$-2,613</a:t>
            </a:r>
            <a:endParaRPr/>
          </a:p>
        </p:txBody>
      </p:sp>
      <p:sp>
        <p:nvSpPr>
          <p:cNvPr id="8200" name="Google Shape;8200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1" name="Google Shape;8201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02" name="Google Shape;8202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$985</a:t>
            </a:r>
            <a:endParaRPr/>
          </a:p>
        </p:txBody>
      </p:sp>
      <p:sp>
        <p:nvSpPr>
          <p:cNvPr id="8203" name="Google Shape;8203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4" name="Google Shape;8204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5" name="Google Shape;8205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$985</a:t>
            </a:r>
            <a:endParaRPr/>
          </a:p>
        </p:txBody>
      </p:sp>
      <p:sp>
        <p:nvSpPr>
          <p:cNvPr id="8206" name="Google Shape;8206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7" name="Google Shape;8207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8" name="Google Shape;8208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09" name="Google Shape;8209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$61,298</a:t>
            </a:r>
            <a:endParaRPr/>
          </a:p>
        </p:txBody>
      </p:sp>
      <p:sp>
        <p:nvSpPr>
          <p:cNvPr id="8210" name="Google Shape;8210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1" name="Google Shape;8211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2" name="Google Shape;8212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$61,298</a:t>
            </a:r>
            <a:endParaRPr/>
          </a:p>
        </p:txBody>
      </p:sp>
      <p:sp>
        <p:nvSpPr>
          <p:cNvPr id="8213" name="Google Shape;8213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$-61,231</a:t>
            </a:r>
            <a:endParaRPr/>
          </a:p>
        </p:txBody>
      </p:sp>
      <p:sp>
        <p:nvSpPr>
          <p:cNvPr id="8214" name="Google Shape;8214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5" name="Google Shape;8215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16" name="Google Shape;8216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$58,050</a:t>
            </a:r>
            <a:endParaRPr/>
          </a:p>
        </p:txBody>
      </p:sp>
      <p:sp>
        <p:nvSpPr>
          <p:cNvPr id="8217" name="Google Shape;8217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8" name="Google Shape;8218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</a:t>
            </a:r>
            <a:endParaRPr/>
          </a:p>
        </p:txBody>
      </p:sp>
      <p:sp>
        <p:nvSpPr>
          <p:cNvPr id="8219" name="Google Shape;8219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$39,379</a:t>
            </a:r>
            <a:endParaRPr/>
          </a:p>
        </p:txBody>
      </p:sp>
      <p:sp>
        <p:nvSpPr>
          <p:cNvPr id="8220" name="Google Shape;8220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$-38,640</a:t>
            </a:r>
            <a:endParaRPr/>
          </a:p>
        </p:txBody>
      </p:sp>
      <p:sp>
        <p:nvSpPr>
          <p:cNvPr id="8221" name="Google Shape;8221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2" name="Google Shape;8222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23" name="Google Shape;8223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8224" name="Google Shape;8224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5" name="Google Shape;8225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6" name="Google Shape;8226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8227" name="Google Shape;8227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8" name="Google Shape;8228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9" name="Google Shape;8229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30" name="Google Shape;8230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$123,479</a:t>
            </a:r>
            <a:endParaRPr/>
          </a:p>
        </p:txBody>
      </p:sp>
      <p:sp>
        <p:nvSpPr>
          <p:cNvPr id="8231" name="Google Shape;8231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32" name="Google Shape;8232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</a:t>
            </a:r>
            <a:endParaRPr/>
          </a:p>
        </p:txBody>
      </p:sp>
      <p:sp>
        <p:nvSpPr>
          <p:cNvPr id="8233" name="Google Shape;8233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$104,807</a:t>
            </a:r>
            <a:endParaRPr/>
          </a:p>
        </p:txBody>
      </p:sp>
      <p:sp>
        <p:nvSpPr>
          <p:cNvPr id="8234" name="Google Shape;8234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$-102,483</a:t>
            </a:r>
            <a:endParaRPr/>
          </a:p>
        </p:txBody>
      </p:sp>
      <p:sp>
        <p:nvSpPr>
          <p:cNvPr id="8235" name="Google Shape;8235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6" name="Google Shape;8236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237" name="Google Shape;8237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38" name="Google Shape;8238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39" name="Google Shape;8239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240" name="Google Shape;8240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241" name="Google Shape;8241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42" name="Google Shape;8242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43" name="Google Shape;8243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4" name="Google Shape;8244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45" name="Google Shape;8245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246" name="Google Shape;8246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47" name="Google Shape;8247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48" name="Google Shape;8248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49" name="Google Shape;8249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8250" name="Google Shape;8250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1" name="Google Shape;8251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52" name="Google Shape;8252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53" name="Google Shape;8253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54" name="Google Shape;8254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255" name="Google Shape;8255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256" name="Google Shape;8256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257" name="Google Shape;8257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8" name="Google Shape;8258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59" name="Google Shape;8259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260" name="Google Shape;8260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61" name="Google Shape;8261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262" name="Google Shape;8262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63" name="Google Shape;8263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264" name="Google Shape;8264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5" name="Google Shape;8265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66" name="Google Shape;8266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67" name="Google Shape;8267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68" name="Google Shape;8268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69" name="Google Shape;8269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70" name="Google Shape;8270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8271" name="Google Shape;8271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2" name="Google Shape;8272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73" name="Google Shape;8273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74" name="Google Shape;8274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275" name="Google Shape;8275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276" name="Google Shape;8276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77" name="Google Shape;8277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8278" name="Google Shape;8278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9" name="Google Shape;8279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80" name="Google Shape;8280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281" name="Google Shape;8281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82" name="Google Shape;8282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283" name="Google Shape;8283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284" name="Google Shape;8284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8285" name="Google Shape;8285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6" name="Google Shape;8286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287" name="Google Shape;8287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288" name="Google Shape;8288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289" name="Google Shape;8289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290" name="Google Shape;8290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291" name="Google Shape;8291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292" name="Google Shape;8292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293" name="Google Shape;8293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294" name="Google Shape;8294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295" name="Google Shape;8295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296" name="Google Shape;8296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297" name="Google Shape;8297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298" name="Google Shape;8298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299" name="Google Shape;8299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300" name="Google Shape;8300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01" name="Google Shape;8301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302" name="Google Shape;8302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303" name="Google Shape;8303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304" name="Google Shape;8304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05" name="Google Shape;8305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306" name="Google Shape;8306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07" name="Google Shape;8307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308" name="Google Shape;8308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09" name="Google Shape;8309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8310" name="Google Shape;8310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11" name="Google Shape;8311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8312" name="Google Shape;8312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313" name="Google Shape;8313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314" name="Google Shape;8314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$-5,827</a:t>
            </a:r>
            <a:endParaRPr/>
          </a:p>
        </p:txBody>
      </p:sp>
      <p:sp>
        <p:nvSpPr>
          <p:cNvPr id="8315" name="Google Shape;8315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8316" name="Google Shape;8316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8317" name="Google Shape;8317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$985</a:t>
            </a:r>
            <a:endParaRPr/>
          </a:p>
        </p:txBody>
      </p:sp>
      <p:sp>
        <p:nvSpPr>
          <p:cNvPr id="8318" name="Google Shape;8318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8319" name="Google Shape;8319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8320" name="Google Shape;8320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8321" name="Google Shape;8321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8322" name="Google Shape;8322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8323" name="Google Shape;8323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8324" name="Google Shape;8324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$135K</a:t>
            </a:r>
            <a:endParaRPr/>
          </a:p>
        </p:txBody>
      </p:sp>
      <p:sp>
        <p:nvSpPr>
          <p:cNvPr id="8325" name="Google Shape;8325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8326" name="Google Shape;8326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7" name="Google Shape;8327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328" name="Google Shape;8328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329" name="Google Shape;8329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$123,479 YTD gross written premium</a:t>
            </a:r>
            <a:endParaRPr/>
          </a:p>
        </p:txBody>
      </p:sp>
      <p:sp>
        <p:nvSpPr>
          <p:cNvPr id="8330" name="Google Shape;8330;p5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331" name="Google Shape;8331;p5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 in renewals - strong retention</a:t>
            </a:r>
            <a:endParaRPr/>
          </a:p>
        </p:txBody>
      </p:sp>
      <p:sp>
        <p:nvSpPr>
          <p:cNvPr id="8332" name="Google Shape;8332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3" name="Google Shape;8333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334" name="Google Shape;8334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335" name="Google Shape;8335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8336" name="Google Shape;8336;p5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337" name="Google Shape;8337;p5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8338" name="Google Shape;8338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9" name="Google Shape;8339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340" name="Google Shape;8340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341" name="Google Shape;8341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45" name="Shape 8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6" name="Google Shape;8346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7" name="Google Shape;8347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California Heritage Insurance Services</a:t>
            </a:r>
            <a:endParaRPr/>
          </a:p>
        </p:txBody>
      </p:sp>
      <p:sp>
        <p:nvSpPr>
          <p:cNvPr id="8348" name="Google Shape;8348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California  |  City: Arroyo Grande</a:t>
            </a:r>
            <a:endParaRPr/>
          </a:p>
        </p:txBody>
      </p:sp>
      <p:sp>
        <p:nvSpPr>
          <p:cNvPr id="8349" name="Google Shape;8349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350" name="Google Shape;8350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351" name="Google Shape;8351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352" name="Google Shape;8352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353" name="Google Shape;8353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$-76,921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354" name="Google Shape;8354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$1,016,247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355" name="Google Shape;8355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$694,574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356" name="Google Shape;8356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357" name="Google Shape;8357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58" name="Google Shape;8358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359" name="Google Shape;8359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60" name="Google Shape;8360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$217,287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361" name="Google Shape;8361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$77,765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362" name="Google Shape;8362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3" name="Google Shape;8363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364" name="Google Shape;8364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65" name="Google Shape;8365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366" name="Google Shape;8366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367" name="Google Shape;8367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368" name="Google Shape;8368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369" name="Google Shape;8369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370" name="Google Shape;8370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1" name="Google Shape;8371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72" name="Google Shape;8372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$20,063</a:t>
            </a:r>
            <a:endParaRPr/>
          </a:p>
        </p:txBody>
      </p:sp>
      <p:sp>
        <p:nvSpPr>
          <p:cNvPr id="8373" name="Google Shape;8373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$20,489</a:t>
            </a:r>
            <a:endParaRPr/>
          </a:p>
        </p:txBody>
      </p:sp>
      <p:sp>
        <p:nvSpPr>
          <p:cNvPr id="8374" name="Google Shape;8374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5" name="Google Shape;8375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$-426</a:t>
            </a:r>
            <a:endParaRPr/>
          </a:p>
        </p:txBody>
      </p:sp>
      <p:sp>
        <p:nvSpPr>
          <p:cNvPr id="8376" name="Google Shape;8376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$-24,781</a:t>
            </a:r>
            <a:endParaRPr/>
          </a:p>
        </p:txBody>
      </p:sp>
      <p:sp>
        <p:nvSpPr>
          <p:cNvPr id="8377" name="Google Shape;8377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8" name="Google Shape;8378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79" name="Google Shape;8379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$12,825</a:t>
            </a:r>
            <a:endParaRPr/>
          </a:p>
        </p:txBody>
      </p:sp>
      <p:sp>
        <p:nvSpPr>
          <p:cNvPr id="8380" name="Google Shape;8380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1" name="Google Shape;8381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2" name="Google Shape;8382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$12,825</a:t>
            </a:r>
            <a:endParaRPr/>
          </a:p>
        </p:txBody>
      </p:sp>
      <p:sp>
        <p:nvSpPr>
          <p:cNvPr id="8383" name="Google Shape;8383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4" name="Google Shape;8384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5" name="Google Shape;8385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86" name="Google Shape;8386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$36,110</a:t>
            </a:r>
            <a:endParaRPr/>
          </a:p>
        </p:txBody>
      </p:sp>
      <p:sp>
        <p:nvSpPr>
          <p:cNvPr id="8387" name="Google Shape;8387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8" name="Google Shape;8388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$15,734</a:t>
            </a:r>
            <a:endParaRPr/>
          </a:p>
        </p:txBody>
      </p:sp>
      <p:sp>
        <p:nvSpPr>
          <p:cNvPr id="8389" name="Google Shape;8389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$20,376</a:t>
            </a:r>
            <a:endParaRPr/>
          </a:p>
        </p:txBody>
      </p:sp>
      <p:sp>
        <p:nvSpPr>
          <p:cNvPr id="8390" name="Google Shape;8390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$-9,454</a:t>
            </a:r>
            <a:endParaRPr/>
          </a:p>
        </p:txBody>
      </p:sp>
      <p:sp>
        <p:nvSpPr>
          <p:cNvPr id="8391" name="Google Shape;8391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2" name="Google Shape;8392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93" name="Google Shape;8393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$5,493</a:t>
            </a:r>
            <a:endParaRPr/>
          </a:p>
        </p:txBody>
      </p:sp>
      <p:sp>
        <p:nvSpPr>
          <p:cNvPr id="8394" name="Google Shape;8394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95" name="Google Shape;8395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96" name="Google Shape;8396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$5,493</a:t>
            </a:r>
            <a:endParaRPr/>
          </a:p>
        </p:txBody>
      </p:sp>
      <p:sp>
        <p:nvSpPr>
          <p:cNvPr id="8397" name="Google Shape;8397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$-42,686</a:t>
            </a:r>
            <a:endParaRPr/>
          </a:p>
        </p:txBody>
      </p:sp>
      <p:sp>
        <p:nvSpPr>
          <p:cNvPr id="8398" name="Google Shape;8398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9" name="Google Shape;8399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00" name="Google Shape;8400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$41,371</a:t>
            </a:r>
            <a:endParaRPr/>
          </a:p>
        </p:txBody>
      </p:sp>
      <p:sp>
        <p:nvSpPr>
          <p:cNvPr id="8401" name="Google Shape;8401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$36,602</a:t>
            </a:r>
            <a:endParaRPr/>
          </a:p>
        </p:txBody>
      </p:sp>
      <p:sp>
        <p:nvSpPr>
          <p:cNvPr id="8402" name="Google Shape;8402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8403" name="Google Shape;8403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$4,219</a:t>
            </a:r>
            <a:endParaRPr/>
          </a:p>
        </p:txBody>
      </p:sp>
      <p:sp>
        <p:nvSpPr>
          <p:cNvPr id="8404" name="Google Shape;8404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5" name="Google Shape;8405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6" name="Google Shape;8406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407" name="Google Shape;8407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$115,862</a:t>
            </a:r>
            <a:endParaRPr/>
          </a:p>
        </p:txBody>
      </p:sp>
      <p:sp>
        <p:nvSpPr>
          <p:cNvPr id="8408" name="Google Shape;8408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$57,091</a:t>
            </a:r>
            <a:endParaRPr/>
          </a:p>
        </p:txBody>
      </p:sp>
      <p:sp>
        <p:nvSpPr>
          <p:cNvPr id="8409" name="Google Shape;8409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$16,284</a:t>
            </a:r>
            <a:endParaRPr/>
          </a:p>
        </p:txBody>
      </p:sp>
      <p:sp>
        <p:nvSpPr>
          <p:cNvPr id="8410" name="Google Shape;8410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$42,487</a:t>
            </a:r>
            <a:endParaRPr/>
          </a:p>
        </p:txBody>
      </p:sp>
      <p:sp>
        <p:nvSpPr>
          <p:cNvPr id="8411" name="Google Shape;8411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$-76,921</a:t>
            </a:r>
            <a:endParaRPr/>
          </a:p>
        </p:txBody>
      </p:sp>
      <p:sp>
        <p:nvSpPr>
          <p:cNvPr id="8412" name="Google Shape;8412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3" name="Google Shape;8413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414" name="Google Shape;8414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15" name="Google Shape;8415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416" name="Google Shape;8416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417" name="Google Shape;8417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418" name="Google Shape;8418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19" name="Google Shape;8419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20" name="Google Shape;8420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1" name="Google Shape;8421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22" name="Google Shape;8422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8423" name="Google Shape;8423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24" name="Google Shape;8424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8425" name="Google Shape;8425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426" name="Google Shape;8426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8427" name="Google Shape;8427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8" name="Google Shape;8428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29" name="Google Shape;8429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430" name="Google Shape;8430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431" name="Google Shape;8431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432" name="Google Shape;8432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433" name="Google Shape;8433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8434" name="Google Shape;8434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5" name="Google Shape;8435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36" name="Google Shape;8436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437" name="Google Shape;8437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38" name="Google Shape;8438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439" name="Google Shape;8439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440" name="Google Shape;8440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38.5%</a:t>
            </a:r>
            <a:endParaRPr/>
          </a:p>
        </p:txBody>
      </p:sp>
      <p:sp>
        <p:nvSpPr>
          <p:cNvPr id="8441" name="Google Shape;8441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2" name="Google Shape;8442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43" name="Google Shape;8443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444" name="Google Shape;8444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45" name="Google Shape;8445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446" name="Google Shape;8446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447" name="Google Shape;8447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8448" name="Google Shape;8448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9" name="Google Shape;8449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50" name="Google Shape;8450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451" name="Google Shape;8451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452" name="Google Shape;8452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453" name="Google Shape;8453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454" name="Google Shape;8454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8455" name="Google Shape;8455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6" name="Google Shape;8456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457" name="Google Shape;8457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8458" name="Google Shape;8458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459" name="Google Shape;8459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8460" name="Google Shape;8460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461" name="Google Shape;8461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8462" name="Google Shape;8462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3" name="Google Shape;8463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464" name="Google Shape;8464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465" name="Google Shape;8465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466" name="Google Shape;8466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467" name="Google Shape;8467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468" name="Google Shape;8468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469" name="Google Shape;8469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470" name="Google Shape;8470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471" name="Google Shape;8471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472" name="Google Shape;8472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473" name="Google Shape;8473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474" name="Google Shape;8474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475" name="Google Shape;8475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476" name="Google Shape;8476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477" name="Google Shape;8477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78" name="Google Shape;8478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479" name="Google Shape;8479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8480" name="Google Shape;8480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481" name="Google Shape;8481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482" name="Google Shape;8482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8483" name="Google Shape;8483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484" name="Google Shape;8484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485" name="Google Shape;8485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486" name="Google Shape;8486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8487" name="Google Shape;8487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488" name="Google Shape;8488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8489" name="Google Shape;8489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</p:txBody>
      </p:sp>
      <p:sp>
        <p:nvSpPr>
          <p:cNvPr id="8490" name="Google Shape;8490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491" name="Google Shape;8491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492" name="Google Shape;8492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8493" name="Google Shape;8493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8494" name="Google Shape;8494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8495" name="Google Shape;8495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$198K</a:t>
            </a:r>
            <a:endParaRPr/>
          </a:p>
        </p:txBody>
      </p:sp>
      <p:sp>
        <p:nvSpPr>
          <p:cNvPr id="8496" name="Google Shape;8496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8497" name="Google Shape;8497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8498" name="Google Shape;8498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8499" name="Google Shape;8499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8500" name="Google Shape;8500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8501" name="Google Shape;8501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$438K</a:t>
            </a:r>
            <a:endParaRPr/>
          </a:p>
        </p:txBody>
      </p:sp>
      <p:sp>
        <p:nvSpPr>
          <p:cNvPr id="8502" name="Google Shape;8502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8503" name="Google Shape;8503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4" name="Google Shape;8504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505" name="Google Shape;8505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06" name="Google Shape;8506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$115,862 YTD gross written premium</a:t>
            </a:r>
            <a:endParaRPr/>
          </a:p>
        </p:txBody>
      </p:sp>
      <p:sp>
        <p:nvSpPr>
          <p:cNvPr id="8507" name="Google Shape;8507;p5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08" name="Google Shape;8508;p5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$57,091 in new business production</a:t>
            </a:r>
            <a:endParaRPr/>
          </a:p>
        </p:txBody>
      </p:sp>
      <p:sp>
        <p:nvSpPr>
          <p:cNvPr id="8509" name="Google Shape;8509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0" name="Google Shape;8510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511" name="Google Shape;8511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12" name="Google Shape;8512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135% of new business ($76,921)</a:t>
            </a:r>
            <a:endParaRPr/>
          </a:p>
        </p:txBody>
      </p:sp>
      <p:sp>
        <p:nvSpPr>
          <p:cNvPr id="8513" name="Google Shape;8513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4" name="Google Shape;8514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515" name="Google Shape;8515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516" name="Google Shape;8516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$57,091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8517" name="Google Shape;8517;p5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518" name="Google Shape;8518;p5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$76,921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22" name="Shape 8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3" name="Google Shape;8523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4" name="Google Shape;8524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Jaikar Insurance Services Inc.</a:t>
            </a:r>
            <a:endParaRPr/>
          </a:p>
        </p:txBody>
      </p:sp>
      <p:sp>
        <p:nvSpPr>
          <p:cNvPr id="8525" name="Google Shape;8525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Corona</a:t>
            </a:r>
            <a:endParaRPr/>
          </a:p>
        </p:txBody>
      </p:sp>
      <p:sp>
        <p:nvSpPr>
          <p:cNvPr id="8526" name="Google Shape;8526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$99,632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527" name="Google Shape;8527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528" name="Google Shape;8528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529" name="Google Shape;8529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530" name="Google Shape;8530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$-31,706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531" name="Google Shape;8531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$805,169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532" name="Google Shape;8532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$435,826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533" name="Google Shape;8533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534" name="Google Shape;8534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35" name="Google Shape;8535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36" name="Google Shape;8536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37" name="Google Shape;8537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538" name="Google Shape;8538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539" name="Google Shape;8539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0" name="Google Shape;8540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541" name="Google Shape;8541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542" name="Google Shape;8542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543" name="Google Shape;8543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544" name="Google Shape;8544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545" name="Google Shape;8545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546" name="Google Shape;8546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547" name="Google Shape;8547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8" name="Google Shape;8548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549" name="Google Shape;8549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$16,012</a:t>
            </a:r>
            <a:endParaRPr/>
          </a:p>
        </p:txBody>
      </p:sp>
      <p:sp>
        <p:nvSpPr>
          <p:cNvPr id="8550" name="Google Shape;8550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1" name="Google Shape;8551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2" name="Google Shape;8552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$16,012</a:t>
            </a:r>
            <a:endParaRPr/>
          </a:p>
        </p:txBody>
      </p:sp>
      <p:sp>
        <p:nvSpPr>
          <p:cNvPr id="8553" name="Google Shape;8553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$-30,169</a:t>
            </a:r>
            <a:endParaRPr/>
          </a:p>
        </p:txBody>
      </p:sp>
      <p:sp>
        <p:nvSpPr>
          <p:cNvPr id="8554" name="Google Shape;8554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5" name="Google Shape;8555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556" name="Google Shape;8556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$57,824</a:t>
            </a:r>
            <a:endParaRPr/>
          </a:p>
        </p:txBody>
      </p:sp>
      <p:sp>
        <p:nvSpPr>
          <p:cNvPr id="8557" name="Google Shape;8557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</a:t>
            </a:r>
            <a:endParaRPr/>
          </a:p>
        </p:txBody>
      </p:sp>
      <p:sp>
        <p:nvSpPr>
          <p:cNvPr id="8558" name="Google Shape;8558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$18,924</a:t>
            </a:r>
            <a:endParaRPr/>
          </a:p>
        </p:txBody>
      </p:sp>
      <p:sp>
        <p:nvSpPr>
          <p:cNvPr id="8559" name="Google Shape;8559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</a:t>
            </a:r>
            <a:endParaRPr/>
          </a:p>
        </p:txBody>
      </p:sp>
      <p:sp>
        <p:nvSpPr>
          <p:cNvPr id="8560" name="Google Shape;8560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61" name="Google Shape;8561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2" name="Google Shape;8562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63" name="Google Shape;8563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$1,786</a:t>
            </a:r>
            <a:endParaRPr/>
          </a:p>
        </p:txBody>
      </p:sp>
      <p:sp>
        <p:nvSpPr>
          <p:cNvPr id="8564" name="Google Shape;8564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65" name="Google Shape;8565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66" name="Google Shape;8566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$1,786</a:t>
            </a:r>
            <a:endParaRPr/>
          </a:p>
        </p:txBody>
      </p:sp>
      <p:sp>
        <p:nvSpPr>
          <p:cNvPr id="8567" name="Google Shape;8567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$-1,537</a:t>
            </a:r>
            <a:endParaRPr/>
          </a:p>
        </p:txBody>
      </p:sp>
      <p:sp>
        <p:nvSpPr>
          <p:cNvPr id="8568" name="Google Shape;8568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9" name="Google Shape;8569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70" name="Google Shape;8570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$24,009</a:t>
            </a:r>
            <a:endParaRPr/>
          </a:p>
        </p:txBody>
      </p:sp>
      <p:sp>
        <p:nvSpPr>
          <p:cNvPr id="8571" name="Google Shape;8571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2" name="Google Shape;8572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$24,009</a:t>
            </a:r>
            <a:endParaRPr/>
          </a:p>
        </p:txBody>
      </p:sp>
      <p:sp>
        <p:nvSpPr>
          <p:cNvPr id="8573" name="Google Shape;8573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4" name="Google Shape;8574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5" name="Google Shape;8575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6" name="Google Shape;8576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77" name="Google Shape;8577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8" name="Google Shape;8578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9" name="Google Shape;8579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0" name="Google Shape;8580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1" name="Google Shape;8581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2" name="Google Shape;8582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3" name="Google Shape;8583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84" name="Google Shape;8584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$99,632</a:t>
            </a:r>
            <a:endParaRPr/>
          </a:p>
        </p:txBody>
      </p:sp>
      <p:sp>
        <p:nvSpPr>
          <p:cNvPr id="8585" name="Google Shape;8585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</a:t>
            </a:r>
            <a:endParaRPr/>
          </a:p>
        </p:txBody>
      </p:sp>
      <p:sp>
        <p:nvSpPr>
          <p:cNvPr id="8586" name="Google Shape;8586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$42,933</a:t>
            </a:r>
            <a:endParaRPr/>
          </a:p>
        </p:txBody>
      </p:sp>
      <p:sp>
        <p:nvSpPr>
          <p:cNvPr id="8587" name="Google Shape;8587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$17,957</a:t>
            </a:r>
            <a:endParaRPr/>
          </a:p>
        </p:txBody>
      </p:sp>
      <p:sp>
        <p:nvSpPr>
          <p:cNvPr id="8588" name="Google Shape;8588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$-31,706</a:t>
            </a:r>
            <a:endParaRPr/>
          </a:p>
        </p:txBody>
      </p:sp>
      <p:sp>
        <p:nvSpPr>
          <p:cNvPr id="8589" name="Google Shape;8589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0" name="Google Shape;8590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591" name="Google Shape;8591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592" name="Google Shape;8592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593" name="Google Shape;8593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594" name="Google Shape;8594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595" name="Google Shape;8595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96" name="Google Shape;8596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97" name="Google Shape;8597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8" name="Google Shape;8598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599" name="Google Shape;8599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600" name="Google Shape;8600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01" name="Google Shape;8601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602" name="Google Shape;8602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03" name="Google Shape;8603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8604" name="Google Shape;8604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5" name="Google Shape;8605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06" name="Google Shape;8606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607" name="Google Shape;8607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08" name="Google Shape;8608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609" name="Google Shape;8609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10" name="Google Shape;8610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8611" name="Google Shape;8611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2" name="Google Shape;8612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13" name="Google Shape;8613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614" name="Google Shape;8614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15" name="Google Shape;8615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616" name="Google Shape;8616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17" name="Google Shape;8617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8618" name="Google Shape;8618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9" name="Google Shape;8619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20" name="Google Shape;8620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21" name="Google Shape;8621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22" name="Google Shape;8622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623" name="Google Shape;8623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24" name="Google Shape;8624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25" name="Google Shape;8625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6" name="Google Shape;8626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27" name="Google Shape;8627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628" name="Google Shape;8628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29" name="Google Shape;8629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630" name="Google Shape;8630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31" name="Google Shape;8631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32" name="Google Shape;8632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3" name="Google Shape;8633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34" name="Google Shape;8634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8635" name="Google Shape;8635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636" name="Google Shape;8636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8637" name="Google Shape;8637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38" name="Google Shape;8638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8639" name="Google Shape;8639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0" name="Google Shape;8640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641" name="Google Shape;8641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642" name="Google Shape;8642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643" name="Google Shape;8643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644" name="Google Shape;8644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645" name="Google Shape;8645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646" name="Google Shape;8646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647" name="Google Shape;8647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648" name="Google Shape;8648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649" name="Google Shape;8649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650" name="Google Shape;8650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651" name="Google Shape;8651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652" name="Google Shape;8652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653" name="Google Shape;8653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654" name="Google Shape;8654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655" name="Google Shape;8655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8656" name="Google Shape;8656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657" name="Google Shape;8657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8658" name="Google Shape;8658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659" name="Google Shape;8659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8660" name="Google Shape;8660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661" name="Google Shape;8661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8662" name="Google Shape;8662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63" name="Google Shape;8663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8664" name="Google Shape;8664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665" name="Google Shape;8665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383</a:t>
            </a:r>
            <a:endParaRPr/>
          </a:p>
        </p:txBody>
      </p:sp>
      <p:sp>
        <p:nvSpPr>
          <p:cNvPr id="8666" name="Google Shape;8666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8667" name="Google Shape;8667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668" name="Google Shape;8668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</p:txBody>
      </p:sp>
      <p:sp>
        <p:nvSpPr>
          <p:cNvPr id="8669" name="Google Shape;8669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670" name="Google Shape;8670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8671" name="Google Shape;8671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8672" name="Google Shape;8672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8673" name="Google Shape;8673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8674" name="Google Shape;8674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8675" name="Google Shape;8675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8676" name="Google Shape;8676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8677" name="Google Shape;8677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8" name="Google Shape;8678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$469K</a:t>
            </a:r>
            <a:endParaRPr/>
          </a:p>
        </p:txBody>
      </p:sp>
      <p:sp>
        <p:nvSpPr>
          <p:cNvPr id="8679" name="Google Shape;8679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$100K</a:t>
            </a:r>
            <a:endParaRPr/>
          </a:p>
        </p:txBody>
      </p:sp>
      <p:sp>
        <p:nvSpPr>
          <p:cNvPr id="8680" name="Google Shape;8680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1" name="Google Shape;8681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682" name="Google Shape;8682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683" name="Google Shape;8683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$99,632 YTD gross written premium</a:t>
            </a:r>
            <a:endParaRPr/>
          </a:p>
        </p:txBody>
      </p:sp>
      <p:sp>
        <p:nvSpPr>
          <p:cNvPr id="8684" name="Google Shape;8684;p5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685" name="Google Shape;8685;p5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 in new business production</a:t>
            </a:r>
            <a:endParaRPr/>
          </a:p>
        </p:txBody>
      </p:sp>
      <p:sp>
        <p:nvSpPr>
          <p:cNvPr id="8686" name="Google Shape;8686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7" name="Google Shape;8687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688" name="Google Shape;8688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689" name="Google Shape;8689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82% of new business ($31,706)</a:t>
            </a:r>
            <a:endParaRPr/>
          </a:p>
        </p:txBody>
      </p:sp>
      <p:sp>
        <p:nvSpPr>
          <p:cNvPr id="8690" name="Google Shape;8690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1" name="Google Shape;8691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692" name="Google Shape;8692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693" name="Google Shape;8693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$38,741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8694" name="Google Shape;8694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695" name="Google Shape;8695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$31,706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99" name="Shape 8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0" name="Google Shape;8700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1" name="Google Shape;8701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Beehive Insurance Agency Inc</a:t>
            </a:r>
            <a:endParaRPr/>
          </a:p>
        </p:txBody>
      </p:sp>
      <p:sp>
        <p:nvSpPr>
          <p:cNvPr id="8702" name="Google Shape;8702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Utah  |  City: Salt Lake City</a:t>
            </a:r>
            <a:endParaRPr/>
          </a:p>
        </p:txBody>
      </p:sp>
      <p:sp>
        <p:nvSpPr>
          <p:cNvPr id="8703" name="Google Shape;8703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704" name="Google Shape;8704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05" name="Google Shape;8705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06" name="Google Shape;8706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07" name="Google Shape;8707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08" name="Google Shape;8708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$223,108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709" name="Google Shape;8709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$83,796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710" name="Google Shape;8710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711" name="Google Shape;8711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12" name="Google Shape;8712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13" name="Google Shape;8713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14" name="Google Shape;8714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715" name="Google Shape;8715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716" name="Google Shape;8716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7" name="Google Shape;8717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718" name="Google Shape;8718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19" name="Google Shape;8719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720" name="Google Shape;8720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21" name="Google Shape;8721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22" name="Google Shape;8722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23" name="Google Shape;8723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24" name="Google Shape;8724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5" name="Google Shape;8725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26" name="Google Shape;8726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$1,064</a:t>
            </a:r>
            <a:endParaRPr/>
          </a:p>
        </p:txBody>
      </p:sp>
      <p:sp>
        <p:nvSpPr>
          <p:cNvPr id="8727" name="Google Shape;8727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8" name="Google Shape;8728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9" name="Google Shape;8729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$1,064</a:t>
            </a:r>
            <a:endParaRPr/>
          </a:p>
        </p:txBody>
      </p:sp>
      <p:sp>
        <p:nvSpPr>
          <p:cNvPr id="8730" name="Google Shape;8730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1" name="Google Shape;8731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2" name="Google Shape;8732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33" name="Google Shape;8733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$2,058</a:t>
            </a:r>
            <a:endParaRPr/>
          </a:p>
        </p:txBody>
      </p:sp>
      <p:sp>
        <p:nvSpPr>
          <p:cNvPr id="8734" name="Google Shape;8734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5" name="Google Shape;8735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6" name="Google Shape;8736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$2,058</a:t>
            </a:r>
            <a:endParaRPr/>
          </a:p>
        </p:txBody>
      </p:sp>
      <p:sp>
        <p:nvSpPr>
          <p:cNvPr id="8737" name="Google Shape;8737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8" name="Google Shape;8738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9" name="Google Shape;8739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40" name="Google Shape;8740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</p:txBody>
      </p:sp>
      <p:sp>
        <p:nvSpPr>
          <p:cNvPr id="8741" name="Google Shape;8741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42" name="Google Shape;8742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</p:txBody>
      </p:sp>
      <p:sp>
        <p:nvSpPr>
          <p:cNvPr id="8743" name="Google Shape;8743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44" name="Google Shape;8744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45" name="Google Shape;8745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6" name="Google Shape;8746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47" name="Google Shape;8747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$-1,570</a:t>
            </a:r>
            <a:endParaRPr/>
          </a:p>
        </p:txBody>
      </p:sp>
      <p:sp>
        <p:nvSpPr>
          <p:cNvPr id="8748" name="Google Shape;8748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49" name="Google Shape;8749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0" name="Google Shape;8750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$-1,570</a:t>
            </a:r>
            <a:endParaRPr/>
          </a:p>
        </p:txBody>
      </p:sp>
      <p:sp>
        <p:nvSpPr>
          <p:cNvPr id="8751" name="Google Shape;8751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2" name="Google Shape;8752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3" name="Google Shape;8753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754" name="Google Shape;8754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5" name="Google Shape;8755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6" name="Google Shape;8756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7" name="Google Shape;8757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8" name="Google Shape;8758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9" name="Google Shape;8759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0" name="Google Shape;8760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61" name="Google Shape;8761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$96,353</a:t>
            </a:r>
            <a:endParaRPr/>
          </a:p>
        </p:txBody>
      </p:sp>
      <p:sp>
        <p:nvSpPr>
          <p:cNvPr id="8762" name="Google Shape;8762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3" name="Google Shape;8763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</p:txBody>
      </p:sp>
      <p:sp>
        <p:nvSpPr>
          <p:cNvPr id="8764" name="Google Shape;8764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$1,551</a:t>
            </a:r>
            <a:endParaRPr/>
          </a:p>
        </p:txBody>
      </p:sp>
      <p:sp>
        <p:nvSpPr>
          <p:cNvPr id="8765" name="Google Shape;8765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6" name="Google Shape;8766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7" name="Google Shape;8767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768" name="Google Shape;8768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69" name="Google Shape;8769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770" name="Google Shape;8770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771" name="Google Shape;8771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772" name="Google Shape;8772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73" name="Google Shape;8773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74" name="Google Shape;8774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5" name="Google Shape;8775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76" name="Google Shape;8776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777" name="Google Shape;8777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78" name="Google Shape;8778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779" name="Google Shape;8779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80" name="Google Shape;8780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8781" name="Google Shape;8781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2" name="Google Shape;8782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83" name="Google Shape;8783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84" name="Google Shape;8784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85" name="Google Shape;8785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86" name="Google Shape;8786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87" name="Google Shape;8787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88" name="Google Shape;8788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9" name="Google Shape;8789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90" name="Google Shape;8790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791" name="Google Shape;8791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92" name="Google Shape;8792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793" name="Google Shape;8793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94" name="Google Shape;8794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8795" name="Google Shape;8795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6" name="Google Shape;8796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97" name="Google Shape;8797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798" name="Google Shape;8798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99" name="Google Shape;8799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800" name="Google Shape;8800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01" name="Google Shape;8801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02" name="Google Shape;8802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3" name="Google Shape;8803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04" name="Google Shape;8804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05" name="Google Shape;8805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06" name="Google Shape;8806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07" name="Google Shape;8807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08" name="Google Shape;8808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09" name="Google Shape;8809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0" name="Google Shape;8810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11" name="Google Shape;8811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812" name="Google Shape;8812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13" name="Google Shape;8813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814" name="Google Shape;8814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15" name="Google Shape;8815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16" name="Google Shape;8816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7" name="Google Shape;8817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818" name="Google Shape;8818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819" name="Google Shape;8819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820" name="Google Shape;8820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821" name="Google Shape;8821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822" name="Google Shape;8822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823" name="Google Shape;8823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824" name="Google Shape;8824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825" name="Google Shape;8825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826" name="Google Shape;8826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827" name="Google Shape;8827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828" name="Google Shape;8828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829" name="Google Shape;8829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830" name="Google Shape;8830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831" name="Google Shape;8831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32" name="Google Shape;8832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33" name="Google Shape;8833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834" name="Google Shape;8834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35" name="Google Shape;8835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836" name="Google Shape;8836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8837" name="Google Shape;8837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838" name="Google Shape;8838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839" name="Google Shape;8839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840" name="Google Shape;8840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841" name="Google Shape;8841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42" name="Google Shape;8842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8843" name="Google Shape;8843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8844" name="Google Shape;8844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845" name="Google Shape;8845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6" name="Google Shape;8846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8847" name="Google Shape;8847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8848" name="Google Shape;8848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8849" name="Google Shape;8849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8850" name="Google Shape;8850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8851" name="Google Shape;8851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8852" name="Google Shape;8852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$-1,570</a:t>
            </a:r>
            <a:endParaRPr/>
          </a:p>
        </p:txBody>
      </p:sp>
      <p:sp>
        <p:nvSpPr>
          <p:cNvPr id="8853" name="Google Shape;8853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4" name="Google Shape;8854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5" name="Google Shape;8855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$236K</a:t>
            </a:r>
            <a:endParaRPr/>
          </a:p>
        </p:txBody>
      </p:sp>
      <p:sp>
        <p:nvSpPr>
          <p:cNvPr id="8856" name="Google Shape;8856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8857" name="Google Shape;8857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8" name="Google Shape;8858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859" name="Google Shape;8859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860" name="Google Shape;8860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$96,353 YTD gross written premium</a:t>
            </a:r>
            <a:endParaRPr/>
          </a:p>
        </p:txBody>
      </p:sp>
      <p:sp>
        <p:nvSpPr>
          <p:cNvPr id="8861" name="Google Shape;8861;p5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862" name="Google Shape;8862;p5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 in renewals - strong retention</a:t>
            </a:r>
            <a:endParaRPr/>
          </a:p>
        </p:txBody>
      </p:sp>
      <p:sp>
        <p:nvSpPr>
          <p:cNvPr id="8863" name="Google Shape;8863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4" name="Google Shape;8864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865" name="Google Shape;8865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866" name="Google Shape;8866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submissions with zero binds - zero conversion</a:t>
            </a:r>
            <a:endParaRPr/>
          </a:p>
        </p:txBody>
      </p:sp>
      <p:sp>
        <p:nvSpPr>
          <p:cNvPr id="8867" name="Google Shape;8867;p5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868" name="Google Shape;8868;p5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102% month-over-month</a:t>
            </a:r>
            <a:endParaRPr/>
          </a:p>
        </p:txBody>
      </p:sp>
      <p:sp>
        <p:nvSpPr>
          <p:cNvPr id="8869" name="Google Shape;8869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0" name="Google Shape;8870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871" name="Google Shape;8871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872" name="Google Shape;8872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873" name="Google Shape;8873;p5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874" name="Google Shape;8874;p5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78" name="Shape 8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9" name="Google Shape;8879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0" name="Google Shape;8880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Kaluga Premium Insurance Solutions, Inc.</a:t>
            </a:r>
            <a:endParaRPr/>
          </a:p>
        </p:txBody>
      </p:sp>
      <p:sp>
        <p:nvSpPr>
          <p:cNvPr id="8881" name="Google Shape;8881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N/A</a:t>
            </a:r>
            <a:endParaRPr/>
          </a:p>
        </p:txBody>
      </p:sp>
      <p:sp>
        <p:nvSpPr>
          <p:cNvPr id="8882" name="Google Shape;8882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883" name="Google Shape;8883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84" name="Google Shape;8884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85" name="Google Shape;8885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86" name="Google Shape;8886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87" name="Google Shape;8887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$90,616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888" name="Google Shape;8888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$122,819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889" name="Google Shape;8889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890" name="Google Shape;8890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91" name="Google Shape;8891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92" name="Google Shape;8892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93" name="Google Shape;8893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894" name="Google Shape;8894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$86,956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895" name="Google Shape;8895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6" name="Google Shape;8896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897" name="Google Shape;8897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98" name="Google Shape;8898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899" name="Google Shape;8899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00" name="Google Shape;8900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01" name="Google Shape;8901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02" name="Google Shape;8902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03" name="Google Shape;8903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4" name="Google Shape;8904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05" name="Google Shape;8905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6" name="Google Shape;8906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7" name="Google Shape;8907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8" name="Google Shape;8908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9" name="Google Shape;8909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0" name="Google Shape;8910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1" name="Google Shape;8911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12" name="Google Shape;8912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3" name="Google Shape;8913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4" name="Google Shape;8914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5" name="Google Shape;8915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6" name="Google Shape;8916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7" name="Google Shape;8917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8" name="Google Shape;8918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19" name="Google Shape;8919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$91,983</a:t>
            </a:r>
            <a:endParaRPr/>
          </a:p>
        </p:txBody>
      </p:sp>
      <p:sp>
        <p:nvSpPr>
          <p:cNvPr id="8920" name="Google Shape;8920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</a:t>
            </a:r>
            <a:endParaRPr/>
          </a:p>
        </p:txBody>
      </p:sp>
      <p:sp>
        <p:nvSpPr>
          <p:cNvPr id="8921" name="Google Shape;8921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$35,709</a:t>
            </a:r>
            <a:endParaRPr/>
          </a:p>
        </p:txBody>
      </p:sp>
      <p:sp>
        <p:nvSpPr>
          <p:cNvPr id="8922" name="Google Shape;8922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$4,738</a:t>
            </a:r>
            <a:endParaRPr/>
          </a:p>
        </p:txBody>
      </p:sp>
      <p:sp>
        <p:nvSpPr>
          <p:cNvPr id="8923" name="Google Shape;8923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24" name="Google Shape;8924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5" name="Google Shape;8925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26" name="Google Shape;8926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8927" name="Google Shape;8927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28" name="Google Shape;8928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29" name="Google Shape;8929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8930" name="Google Shape;8930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1" name="Google Shape;8931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2" name="Google Shape;8932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33" name="Google Shape;8933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4" name="Google Shape;8934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5" name="Google Shape;8935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6" name="Google Shape;8936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7" name="Google Shape;8937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8" name="Google Shape;8938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9" name="Google Shape;8939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40" name="Google Shape;8940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$92,748</a:t>
            </a:r>
            <a:endParaRPr/>
          </a:p>
        </p:txBody>
      </p:sp>
      <p:sp>
        <p:nvSpPr>
          <p:cNvPr id="8941" name="Google Shape;8941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</a:t>
            </a:r>
            <a:endParaRPr/>
          </a:p>
        </p:txBody>
      </p:sp>
      <p:sp>
        <p:nvSpPr>
          <p:cNvPr id="8942" name="Google Shape;8942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$35,709</a:t>
            </a:r>
            <a:endParaRPr/>
          </a:p>
        </p:txBody>
      </p:sp>
      <p:sp>
        <p:nvSpPr>
          <p:cNvPr id="8943" name="Google Shape;8943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$5,503</a:t>
            </a:r>
            <a:endParaRPr/>
          </a:p>
        </p:txBody>
      </p:sp>
      <p:sp>
        <p:nvSpPr>
          <p:cNvPr id="8944" name="Google Shape;8944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5" name="Google Shape;8945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6" name="Google Shape;8946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947" name="Google Shape;8947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48" name="Google Shape;8948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949" name="Google Shape;8949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950" name="Google Shape;8950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951" name="Google Shape;8951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52" name="Google Shape;8952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53" name="Google Shape;8953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4" name="Google Shape;8954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55" name="Google Shape;8955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56" name="Google Shape;8956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7" name="Google Shape;8957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58" name="Google Shape;8958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59" name="Google Shape;8959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960" name="Google Shape;8960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1" name="Google Shape;8961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62" name="Google Shape;8962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63" name="Google Shape;8963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64" name="Google Shape;8964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65" name="Google Shape;8965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66" name="Google Shape;8966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67" name="Google Shape;8967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8" name="Google Shape;8968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69" name="Google Shape;8969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970" name="Google Shape;8970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71" name="Google Shape;8971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972" name="Google Shape;8972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73" name="Google Shape;8973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8974" name="Google Shape;8974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5" name="Google Shape;8975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76" name="Google Shape;8976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77" name="Google Shape;8977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78" name="Google Shape;8978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79" name="Google Shape;8979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80" name="Google Shape;8980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981" name="Google Shape;8981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2" name="Google Shape;8982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83" name="Google Shape;8983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984" name="Google Shape;8984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985" name="Google Shape;8985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86" name="Google Shape;8986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87" name="Google Shape;8987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88" name="Google Shape;8988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9" name="Google Shape;8989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90" name="Google Shape;8990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991" name="Google Shape;8991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992" name="Google Shape;8992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993" name="Google Shape;8993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994" name="Google Shape;8994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8995" name="Google Shape;8995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6" name="Google Shape;8996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997" name="Google Shape;8997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98" name="Google Shape;8998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999" name="Google Shape;8999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000" name="Google Shape;9000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001" name="Google Shape;9001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002" name="Google Shape;9002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003" name="Google Shape;9003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004" name="Google Shape;9004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005" name="Google Shape;9005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006" name="Google Shape;9006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007" name="Google Shape;9007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008" name="Google Shape;9008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009" name="Google Shape;9009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010" name="Google Shape;9010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11" name="Google Shape;9011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2" name="Google Shape;9012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13" name="Google Shape;9013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4" name="Google Shape;9014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15" name="Google Shape;9015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016" name="Google Shape;9016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017" name="Google Shape;9017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18" name="Google Shape;9018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19" name="Google Shape;9019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20" name="Google Shape;9020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21" name="Google Shape;9021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022" name="Google Shape;9022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023" name="Google Shape;9023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024" name="Google Shape;9024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5" name="Google Shape;9025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6" name="Google Shape;9026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7" name="Google Shape;9027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8" name="Google Shape;9028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9029" name="Google Shape;9029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$92K</a:t>
            </a:r>
            <a:endParaRPr/>
          </a:p>
        </p:txBody>
      </p:sp>
      <p:sp>
        <p:nvSpPr>
          <p:cNvPr id="9030" name="Google Shape;9030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9031" name="Google Shape;9031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9032" name="Google Shape;9032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9033" name="Google Shape;9033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4" name="Google Shape;9034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9035" name="Google Shape;9035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9036" name="Google Shape;9036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7" name="Google Shape;9037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038" name="Google Shape;9038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039" name="Google Shape;9039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$92,748 YTD gross written premium</a:t>
            </a:r>
            <a:endParaRPr/>
          </a:p>
        </p:txBody>
      </p:sp>
      <p:sp>
        <p:nvSpPr>
          <p:cNvPr id="9040" name="Google Shape;9040;p5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041" name="Google Shape;9041;p5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 in new business production</a:t>
            </a:r>
            <a:endParaRPr/>
          </a:p>
        </p:txBody>
      </p:sp>
      <p:sp>
        <p:nvSpPr>
          <p:cNvPr id="9042" name="Google Shape;9042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3" name="Google Shape;9043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044" name="Google Shape;9044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045" name="Google Shape;9045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9046" name="Google Shape;9046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7" name="Google Shape;9047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048" name="Google Shape;9048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049" name="Google Shape;9049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$51,536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9050" name="Google Shape;9050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051" name="Google Shape;9051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55" name="Shape 9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6" name="Google Shape;9056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7" name="Google Shape;9057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Insurabrite Insurance Services Llc</a:t>
            </a:r>
            <a:endParaRPr/>
          </a:p>
        </p:txBody>
      </p:sp>
      <p:sp>
        <p:nvSpPr>
          <p:cNvPr id="9058" name="Google Shape;9058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9059" name="Google Shape;9059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060" name="Google Shape;9060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061" name="Google Shape;9061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062" name="Google Shape;9062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063" name="Google Shape;9063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$-177,887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064" name="Google Shape;9064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$1,177,487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065" name="Google Shape;9065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$943,121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066" name="Google Shape;9066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067" name="Google Shape;9067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68" name="Google Shape;9068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69" name="Google Shape;9069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70" name="Google Shape;9070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071" name="Google Shape;9071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072" name="Google Shape;9072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3" name="Google Shape;9073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074" name="Google Shape;9074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75" name="Google Shape;9075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076" name="Google Shape;9076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077" name="Google Shape;9077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078" name="Google Shape;9078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079" name="Google Shape;9079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080" name="Google Shape;9080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1" name="Google Shape;9081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82" name="Google Shape;9082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$15,348</a:t>
            </a:r>
            <a:endParaRPr/>
          </a:p>
        </p:txBody>
      </p:sp>
      <p:sp>
        <p:nvSpPr>
          <p:cNvPr id="9083" name="Google Shape;9083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</p:txBody>
      </p:sp>
      <p:sp>
        <p:nvSpPr>
          <p:cNvPr id="9084" name="Google Shape;9084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5" name="Google Shape;9085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$10,852</a:t>
            </a:r>
            <a:endParaRPr/>
          </a:p>
        </p:txBody>
      </p:sp>
      <p:sp>
        <p:nvSpPr>
          <p:cNvPr id="9086" name="Google Shape;9086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$-22,092</a:t>
            </a:r>
            <a:endParaRPr/>
          </a:p>
        </p:txBody>
      </p:sp>
      <p:sp>
        <p:nvSpPr>
          <p:cNvPr id="9087" name="Google Shape;9087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8" name="Google Shape;9088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89" name="Google Shape;9089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$56,586</a:t>
            </a:r>
            <a:endParaRPr/>
          </a:p>
        </p:txBody>
      </p:sp>
      <p:sp>
        <p:nvSpPr>
          <p:cNvPr id="9090" name="Google Shape;9090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1" name="Google Shape;9091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2" name="Google Shape;9092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$56,586</a:t>
            </a:r>
            <a:endParaRPr/>
          </a:p>
        </p:txBody>
      </p:sp>
      <p:sp>
        <p:nvSpPr>
          <p:cNvPr id="9093" name="Google Shape;9093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$-139,247</a:t>
            </a:r>
            <a:endParaRPr/>
          </a:p>
        </p:txBody>
      </p:sp>
      <p:sp>
        <p:nvSpPr>
          <p:cNvPr id="9094" name="Google Shape;9094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5" name="Google Shape;9095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96" name="Google Shape;9096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$9,252</a:t>
            </a:r>
            <a:endParaRPr/>
          </a:p>
        </p:txBody>
      </p:sp>
      <p:sp>
        <p:nvSpPr>
          <p:cNvPr id="9097" name="Google Shape;9097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8" name="Google Shape;9098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9" name="Google Shape;9099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$9,252</a:t>
            </a:r>
            <a:endParaRPr/>
          </a:p>
        </p:txBody>
      </p:sp>
      <p:sp>
        <p:nvSpPr>
          <p:cNvPr id="9100" name="Google Shape;9100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$-16,549</a:t>
            </a:r>
            <a:endParaRPr/>
          </a:p>
        </p:txBody>
      </p:sp>
      <p:sp>
        <p:nvSpPr>
          <p:cNvPr id="9101" name="Google Shape;9101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2" name="Google Shape;9102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03" name="Google Shape;9103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4" name="Google Shape;9104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5" name="Google Shape;9105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6" name="Google Shape;9106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7" name="Google Shape;9107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8" name="Google Shape;9108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9" name="Google Shape;9109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10" name="Google Shape;9110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1" name="Google Shape;9111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2" name="Google Shape;9112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3" name="Google Shape;9113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4" name="Google Shape;9114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5" name="Google Shape;9115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6" name="Google Shape;9116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17" name="Google Shape;9117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$81,186</a:t>
            </a:r>
            <a:endParaRPr/>
          </a:p>
        </p:txBody>
      </p:sp>
      <p:sp>
        <p:nvSpPr>
          <p:cNvPr id="9118" name="Google Shape;9118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</p:txBody>
      </p:sp>
      <p:sp>
        <p:nvSpPr>
          <p:cNvPr id="9119" name="Google Shape;9119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0" name="Google Shape;9120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$76,689</a:t>
            </a:r>
            <a:endParaRPr/>
          </a:p>
        </p:txBody>
      </p:sp>
      <p:sp>
        <p:nvSpPr>
          <p:cNvPr id="9121" name="Google Shape;9121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$-177,887</a:t>
            </a:r>
            <a:endParaRPr/>
          </a:p>
        </p:txBody>
      </p:sp>
      <p:sp>
        <p:nvSpPr>
          <p:cNvPr id="9122" name="Google Shape;9122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3" name="Google Shape;9123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124" name="Google Shape;9124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25" name="Google Shape;9125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26" name="Google Shape;9126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127" name="Google Shape;9127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128" name="Google Shape;9128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29" name="Google Shape;9129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30" name="Google Shape;9130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1" name="Google Shape;9131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32" name="Google Shape;9132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133" name="Google Shape;9133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4" name="Google Shape;9134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135" name="Google Shape;9135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6" name="Google Shape;9136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137" name="Google Shape;9137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8" name="Google Shape;9138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39" name="Google Shape;9139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140" name="Google Shape;9140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1" name="Google Shape;9141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142" name="Google Shape;9142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3" name="Google Shape;9143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44" name="Google Shape;9144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5" name="Google Shape;9145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46" name="Google Shape;9146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47" name="Google Shape;9147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8" name="Google Shape;9148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49" name="Google Shape;9149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50" name="Google Shape;9150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9151" name="Google Shape;9151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2" name="Google Shape;9152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53" name="Google Shape;9153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54" name="Google Shape;9154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55" name="Google Shape;9155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56" name="Google Shape;9156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57" name="Google Shape;9157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9158" name="Google Shape;9158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9" name="Google Shape;9159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60" name="Google Shape;9160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61" name="Google Shape;9161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62" name="Google Shape;9162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63" name="Google Shape;9163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64" name="Google Shape;9164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65" name="Google Shape;9165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6" name="Google Shape;9166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67" name="Google Shape;9167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9168" name="Google Shape;9168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69" name="Google Shape;9169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170" name="Google Shape;9170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171" name="Google Shape;9171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9172" name="Google Shape;9172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3" name="Google Shape;9173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174" name="Google Shape;9174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175" name="Google Shape;9175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176" name="Google Shape;9176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177" name="Google Shape;9177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178" name="Google Shape;9178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179" name="Google Shape;9179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180" name="Google Shape;9180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181" name="Google Shape;9181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182" name="Google Shape;9182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183" name="Google Shape;9183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184" name="Google Shape;9184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185" name="Google Shape;9185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186" name="Google Shape;9186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187" name="Google Shape;9187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88" name="Google Shape;9188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9" name="Google Shape;9189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190" name="Google Shape;9190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191" name="Google Shape;9191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192" name="Google Shape;9192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193" name="Google Shape;9193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94" name="Google Shape;9194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195" name="Google Shape;9195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96" name="Google Shape;9196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9197" name="Google Shape;9197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8" name="Google Shape;9198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9199" name="Google Shape;9199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9200" name="Google Shape;9200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201" name="Google Shape;9201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2" name="Google Shape;9202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9203" name="Google Shape;9203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9204" name="Google Shape;9204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9205" name="Google Shape;9205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9206" name="Google Shape;9206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9207" name="Google Shape;9207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8" name="Google Shape;9208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9" name="Google Shape;9209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$150K</a:t>
            </a:r>
            <a:endParaRPr/>
          </a:p>
        </p:txBody>
      </p:sp>
      <p:sp>
        <p:nvSpPr>
          <p:cNvPr id="9210" name="Google Shape;9210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1" name="Google Shape;9211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$316K</a:t>
            </a:r>
            <a:endParaRPr/>
          </a:p>
        </p:txBody>
      </p:sp>
      <p:sp>
        <p:nvSpPr>
          <p:cNvPr id="9212" name="Google Shape;9212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9213" name="Google Shape;9213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4" name="Google Shape;9214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215" name="Google Shape;9215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16" name="Google Shape;9216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$81,186 YTD gross written premium</a:t>
            </a:r>
            <a:endParaRPr/>
          </a:p>
        </p:txBody>
      </p:sp>
      <p:sp>
        <p:nvSpPr>
          <p:cNvPr id="9217" name="Google Shape;9217;p5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18" name="Google Shape;9218;p5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 in new business production</a:t>
            </a:r>
            <a:endParaRPr/>
          </a:p>
        </p:txBody>
      </p:sp>
      <p:sp>
        <p:nvSpPr>
          <p:cNvPr id="9219" name="Google Shape;9219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0" name="Google Shape;9220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221" name="Google Shape;9221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22" name="Google Shape;9222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3956% of new business ($177,887)</a:t>
            </a:r>
            <a:endParaRPr/>
          </a:p>
        </p:txBody>
      </p:sp>
      <p:sp>
        <p:nvSpPr>
          <p:cNvPr id="9223" name="Google Shape;9223;p5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24" name="Google Shape;9224;p5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84% month-over-month</a:t>
            </a:r>
            <a:endParaRPr/>
          </a:p>
        </p:txBody>
      </p:sp>
      <p:sp>
        <p:nvSpPr>
          <p:cNvPr id="9225" name="Google Shape;9225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6" name="Google Shape;9226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227" name="Google Shape;9227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228" name="Google Shape;9228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$4,497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9229" name="Google Shape;9229;p5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230" name="Google Shape;9230;p5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$177,887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34" name="Shape 9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5" name="Google Shape;9235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6" name="Google Shape;9236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Nextco Insurance Agency, Inc</a:t>
            </a:r>
            <a:endParaRPr/>
          </a:p>
        </p:txBody>
      </p:sp>
      <p:sp>
        <p:nvSpPr>
          <p:cNvPr id="9237" name="Google Shape;9237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N/A  |  City: N/A</a:t>
            </a:r>
            <a:endParaRPr/>
          </a:p>
        </p:txBody>
      </p:sp>
      <p:sp>
        <p:nvSpPr>
          <p:cNvPr id="9238" name="Google Shape;9238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$79,006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239" name="Google Shape;9239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40" name="Google Shape;9240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241" name="Google Shape;9241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242" name="Google Shape;9242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243" name="Google Shape;9243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$758,389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244" name="Google Shape;9244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$583,462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245" name="Google Shape;9245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246" name="Google Shape;9246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47" name="Google Shape;9247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248" name="Google Shape;9248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249" name="Google Shape;9249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250" name="Google Shape;9250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$124,742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251" name="Google Shape;9251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2" name="Google Shape;9252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253" name="Google Shape;9253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54" name="Google Shape;9254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255" name="Google Shape;9255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56" name="Google Shape;9256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257" name="Google Shape;9257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258" name="Google Shape;9258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259" name="Google Shape;9259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0" name="Google Shape;9260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261" name="Google Shape;9261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$-7,439</a:t>
            </a:r>
            <a:endParaRPr/>
          </a:p>
        </p:txBody>
      </p:sp>
      <p:sp>
        <p:nvSpPr>
          <p:cNvPr id="9262" name="Google Shape;9262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3" name="Google Shape;9263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4" name="Google Shape;9264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$-7,439</a:t>
            </a:r>
            <a:endParaRPr/>
          </a:p>
        </p:txBody>
      </p:sp>
      <p:sp>
        <p:nvSpPr>
          <p:cNvPr id="9265" name="Google Shape;9265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6" name="Google Shape;9266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7" name="Google Shape;9267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68" name="Google Shape;9268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9" name="Google Shape;9269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0" name="Google Shape;9270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1" name="Google Shape;9271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2" name="Google Shape;9272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3" name="Google Shape;9273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4" name="Google Shape;9274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75" name="Google Shape;9275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6" name="Google Shape;9276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7" name="Google Shape;9277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8" name="Google Shape;9278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9" name="Google Shape;9279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0" name="Google Shape;9280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1" name="Google Shape;9281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82" name="Google Shape;9282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</p:txBody>
      </p:sp>
      <p:sp>
        <p:nvSpPr>
          <p:cNvPr id="9283" name="Google Shape;9283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</p:txBody>
      </p:sp>
      <p:sp>
        <p:nvSpPr>
          <p:cNvPr id="9284" name="Google Shape;9284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5" name="Google Shape;9285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6" name="Google Shape;9286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7" name="Google Shape;9287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8" name="Google Shape;9288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89" name="Google Shape;9289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$65,737</a:t>
            </a:r>
            <a:endParaRPr/>
          </a:p>
        </p:txBody>
      </p:sp>
      <p:sp>
        <p:nvSpPr>
          <p:cNvPr id="9290" name="Google Shape;9290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1" name="Google Shape;9291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$65,820</a:t>
            </a:r>
            <a:endParaRPr/>
          </a:p>
        </p:txBody>
      </p:sp>
      <p:sp>
        <p:nvSpPr>
          <p:cNvPr id="9292" name="Google Shape;9292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$-83</a:t>
            </a:r>
            <a:endParaRPr/>
          </a:p>
        </p:txBody>
      </p:sp>
      <p:sp>
        <p:nvSpPr>
          <p:cNvPr id="9293" name="Google Shape;9293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4" name="Google Shape;9294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5" name="Google Shape;9295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96" name="Google Shape;9296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$79,006</a:t>
            </a:r>
            <a:endParaRPr/>
          </a:p>
        </p:txBody>
      </p:sp>
      <p:sp>
        <p:nvSpPr>
          <p:cNvPr id="9297" name="Google Shape;9297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</p:txBody>
      </p:sp>
      <p:sp>
        <p:nvSpPr>
          <p:cNvPr id="9298" name="Google Shape;9298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$65,820</a:t>
            </a:r>
            <a:endParaRPr/>
          </a:p>
        </p:txBody>
      </p:sp>
      <p:sp>
        <p:nvSpPr>
          <p:cNvPr id="9299" name="Google Shape;9299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$-7,521</a:t>
            </a:r>
            <a:endParaRPr/>
          </a:p>
        </p:txBody>
      </p:sp>
      <p:sp>
        <p:nvSpPr>
          <p:cNvPr id="9300" name="Google Shape;9300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01" name="Google Shape;9301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2" name="Google Shape;9302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303" name="Google Shape;9303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04" name="Google Shape;9304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305" name="Google Shape;9305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306" name="Google Shape;9306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307" name="Google Shape;9307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08" name="Google Shape;9308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09" name="Google Shape;9309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0" name="Google Shape;9310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11" name="Google Shape;9311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12" name="Google Shape;9312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3" name="Google Shape;9313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14" name="Google Shape;9314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15" name="Google Shape;9315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9316" name="Google Shape;9316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7" name="Google Shape;9317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18" name="Google Shape;9318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319" name="Google Shape;9319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20" name="Google Shape;9320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321" name="Google Shape;9321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22" name="Google Shape;9322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9323" name="Google Shape;9323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4" name="Google Shape;9324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25" name="Google Shape;9325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326" name="Google Shape;9326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7" name="Google Shape;9327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328" name="Google Shape;9328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29" name="Google Shape;9329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9330" name="Google Shape;9330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1" name="Google Shape;9331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32" name="Google Shape;9332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333" name="Google Shape;9333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34" name="Google Shape;9334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35" name="Google Shape;9335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36" name="Google Shape;9336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337" name="Google Shape;9337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8" name="Google Shape;9338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39" name="Google Shape;9339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340" name="Google Shape;9340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41" name="Google Shape;9341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342" name="Google Shape;9342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43" name="Google Shape;9343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9344" name="Google Shape;9344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5" name="Google Shape;9345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46" name="Google Shape;9346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347" name="Google Shape;9347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348" name="Google Shape;9348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9349" name="Google Shape;9349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350" name="Google Shape;9350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9351" name="Google Shape;9351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2" name="Google Shape;9352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353" name="Google Shape;9353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354" name="Google Shape;9354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355" name="Google Shape;9355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356" name="Google Shape;9356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357" name="Google Shape;9357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358" name="Google Shape;9358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359" name="Google Shape;9359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360" name="Google Shape;9360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361" name="Google Shape;9361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362" name="Google Shape;9362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363" name="Google Shape;9363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364" name="Google Shape;9364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365" name="Google Shape;9365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366" name="Google Shape;9366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67" name="Google Shape;9367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368" name="Google Shape;9368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69" name="Google Shape;9369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9370" name="Google Shape;9370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371" name="Google Shape;9371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72" name="Google Shape;9372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373" name="Google Shape;9373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374" name="Google Shape;9374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375" name="Google Shape;9375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376" name="Google Shape;9376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377" name="Google Shape;9377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9378" name="Google Shape;9378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9379" name="Google Shape;9379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380" name="Google Shape;9380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9381" name="Google Shape;9381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$-7,439</a:t>
            </a:r>
            <a:endParaRPr/>
          </a:p>
        </p:txBody>
      </p:sp>
      <p:sp>
        <p:nvSpPr>
          <p:cNvPr id="9382" name="Google Shape;9382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9383" name="Google Shape;9383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4" name="Google Shape;9384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$-112</a:t>
            </a:r>
            <a:endParaRPr/>
          </a:p>
        </p:txBody>
      </p:sp>
      <p:sp>
        <p:nvSpPr>
          <p:cNvPr id="9385" name="Google Shape;9385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6" name="Google Shape;9386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9387" name="Google Shape;9387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388" name="Google Shape;9388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$108K</a:t>
            </a:r>
            <a:endParaRPr/>
          </a:p>
        </p:txBody>
      </p:sp>
      <p:sp>
        <p:nvSpPr>
          <p:cNvPr id="9389" name="Google Shape;9389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9390" name="Google Shape;9390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$254K</a:t>
            </a:r>
            <a:endParaRPr/>
          </a:p>
        </p:txBody>
      </p:sp>
      <p:sp>
        <p:nvSpPr>
          <p:cNvPr id="9391" name="Google Shape;9391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9392" name="Google Shape;9392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3" name="Google Shape;9393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394" name="Google Shape;9394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95" name="Google Shape;9395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$79,006 YTD gross written premium</a:t>
            </a:r>
            <a:endParaRPr/>
          </a:p>
        </p:txBody>
      </p:sp>
      <p:sp>
        <p:nvSpPr>
          <p:cNvPr id="9396" name="Google Shape;9396;p5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97" name="Google Shape;9397;p5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 in new business production</a:t>
            </a:r>
            <a:endParaRPr/>
          </a:p>
        </p:txBody>
      </p:sp>
      <p:sp>
        <p:nvSpPr>
          <p:cNvPr id="9398" name="Google Shape;9398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9" name="Google Shape;9399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400" name="Google Shape;9400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01" name="Google Shape;9401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9402" name="Google Shape;9402;p5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03" name="Google Shape;9403;p5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9404" name="Google Shape;9404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5" name="Google Shape;9405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406" name="Google Shape;9406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407" name="Google Shape;9407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$20,708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9408" name="Google Shape;9408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409" name="Google Shape;9409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$65,820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13" name="Shape 9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4" name="Google Shape;9414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5" name="Google Shape;9415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 Smarter Truck Insurance</a:t>
            </a:r>
            <a:endParaRPr/>
          </a:p>
        </p:txBody>
      </p:sp>
      <p:sp>
        <p:nvSpPr>
          <p:cNvPr id="9416" name="Google Shape;9416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Riverside</a:t>
            </a:r>
            <a:endParaRPr/>
          </a:p>
        </p:txBody>
      </p:sp>
      <p:sp>
        <p:nvSpPr>
          <p:cNvPr id="9417" name="Google Shape;9417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418" name="Google Shape;9418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19" name="Google Shape;9419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$57,755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20" name="Google Shape;9420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21" name="Google Shape;9421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$-47,679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22" name="Google Shape;9422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$640,325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423" name="Google Shape;9423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$461,429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424" name="Google Shape;9424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425" name="Google Shape;9425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26" name="Google Shape;9426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27" name="Google Shape;9427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28" name="Google Shape;9428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429" name="Google Shape;9429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$186,169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430" name="Google Shape;9430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1" name="Google Shape;9431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432" name="Google Shape;9432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33" name="Google Shape;9433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434" name="Google Shape;9434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35" name="Google Shape;9435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36" name="Google Shape;9436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37" name="Google Shape;9437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38" name="Google Shape;9438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9" name="Google Shape;9439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40" name="Google Shape;9440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$13,122</a:t>
            </a:r>
            <a:endParaRPr/>
          </a:p>
        </p:txBody>
      </p:sp>
      <p:sp>
        <p:nvSpPr>
          <p:cNvPr id="9441" name="Google Shape;9441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2" name="Google Shape;9442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$8,774</a:t>
            </a:r>
            <a:endParaRPr/>
          </a:p>
        </p:txBody>
      </p:sp>
      <p:sp>
        <p:nvSpPr>
          <p:cNvPr id="9443" name="Google Shape;9443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$4,348</a:t>
            </a:r>
            <a:endParaRPr/>
          </a:p>
        </p:txBody>
      </p:sp>
      <p:sp>
        <p:nvSpPr>
          <p:cNvPr id="9444" name="Google Shape;9444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$-14,192</a:t>
            </a:r>
            <a:endParaRPr/>
          </a:p>
        </p:txBody>
      </p:sp>
      <p:sp>
        <p:nvSpPr>
          <p:cNvPr id="9445" name="Google Shape;9445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6" name="Google Shape;9446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47" name="Google Shape;9447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$26,056</a:t>
            </a:r>
            <a:endParaRPr/>
          </a:p>
        </p:txBody>
      </p:sp>
      <p:sp>
        <p:nvSpPr>
          <p:cNvPr id="9448" name="Google Shape;9448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</a:t>
            </a:r>
            <a:endParaRPr/>
          </a:p>
        </p:txBody>
      </p:sp>
      <p:sp>
        <p:nvSpPr>
          <p:cNvPr id="9449" name="Google Shape;9449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$11,580</a:t>
            </a:r>
            <a:endParaRPr/>
          </a:p>
        </p:txBody>
      </p:sp>
      <p:sp>
        <p:nvSpPr>
          <p:cNvPr id="9450" name="Google Shape;9450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9451" name="Google Shape;9451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2" name="Google Shape;9452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3" name="Google Shape;9453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454" name="Google Shape;9454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$-878</a:t>
            </a:r>
            <a:endParaRPr/>
          </a:p>
        </p:txBody>
      </p:sp>
      <p:sp>
        <p:nvSpPr>
          <p:cNvPr id="9455" name="Google Shape;9455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6" name="Google Shape;9456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7" name="Google Shape;9457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$-878</a:t>
            </a:r>
            <a:endParaRPr/>
          </a:p>
        </p:txBody>
      </p:sp>
      <p:sp>
        <p:nvSpPr>
          <p:cNvPr id="9458" name="Google Shape;9458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$-21,941</a:t>
            </a:r>
            <a:endParaRPr/>
          </a:p>
        </p:txBody>
      </p:sp>
      <p:sp>
        <p:nvSpPr>
          <p:cNvPr id="9459" name="Google Shape;9459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0" name="Google Shape;9460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461" name="Google Shape;9461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$17,102</a:t>
            </a:r>
            <a:endParaRPr/>
          </a:p>
        </p:txBody>
      </p:sp>
      <p:sp>
        <p:nvSpPr>
          <p:cNvPr id="9462" name="Google Shape;9462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3" name="Google Shape;9463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$17,257</a:t>
            </a:r>
            <a:endParaRPr/>
          </a:p>
        </p:txBody>
      </p:sp>
      <p:sp>
        <p:nvSpPr>
          <p:cNvPr id="9464" name="Google Shape;9464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$-155</a:t>
            </a:r>
            <a:endParaRPr/>
          </a:p>
        </p:txBody>
      </p:sp>
      <p:sp>
        <p:nvSpPr>
          <p:cNvPr id="9465" name="Google Shape;9465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$-5,970</a:t>
            </a:r>
            <a:endParaRPr/>
          </a:p>
        </p:txBody>
      </p:sp>
      <p:sp>
        <p:nvSpPr>
          <p:cNvPr id="9466" name="Google Shape;9466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7" name="Google Shape;9467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468" name="Google Shape;9468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$12,335</a:t>
            </a:r>
            <a:endParaRPr/>
          </a:p>
        </p:txBody>
      </p:sp>
      <p:sp>
        <p:nvSpPr>
          <p:cNvPr id="9469" name="Google Shape;9469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0" name="Google Shape;9470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$20,145</a:t>
            </a:r>
            <a:endParaRPr/>
          </a:p>
        </p:txBody>
      </p:sp>
      <p:sp>
        <p:nvSpPr>
          <p:cNvPr id="9471" name="Google Shape;9471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$-7,809</a:t>
            </a:r>
            <a:endParaRPr/>
          </a:p>
        </p:txBody>
      </p:sp>
      <p:sp>
        <p:nvSpPr>
          <p:cNvPr id="9472" name="Google Shape;9472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$-5,577</a:t>
            </a:r>
            <a:endParaRPr/>
          </a:p>
        </p:txBody>
      </p:sp>
      <p:sp>
        <p:nvSpPr>
          <p:cNvPr id="9473" name="Google Shape;9473;p5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4" name="Google Shape;9474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475" name="Google Shape;9475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$67,738</a:t>
            </a:r>
            <a:endParaRPr/>
          </a:p>
        </p:txBody>
      </p:sp>
      <p:sp>
        <p:nvSpPr>
          <p:cNvPr id="9476" name="Google Shape;9476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</a:t>
            </a:r>
            <a:endParaRPr/>
          </a:p>
        </p:txBody>
      </p:sp>
      <p:sp>
        <p:nvSpPr>
          <p:cNvPr id="9477" name="Google Shape;9477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$57,755</a:t>
            </a:r>
            <a:endParaRPr/>
          </a:p>
        </p:txBody>
      </p:sp>
      <p:sp>
        <p:nvSpPr>
          <p:cNvPr id="9478" name="Google Shape;9478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$-4,719</a:t>
            </a:r>
            <a:endParaRPr/>
          </a:p>
        </p:txBody>
      </p:sp>
      <p:sp>
        <p:nvSpPr>
          <p:cNvPr id="9479" name="Google Shape;9479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$-47,679</a:t>
            </a:r>
            <a:endParaRPr/>
          </a:p>
        </p:txBody>
      </p:sp>
      <p:sp>
        <p:nvSpPr>
          <p:cNvPr id="9480" name="Google Shape;9480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1" name="Google Shape;9481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482" name="Google Shape;9482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83" name="Google Shape;9483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484" name="Google Shape;9484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485" name="Google Shape;9485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486" name="Google Shape;9486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87" name="Google Shape;9487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88" name="Google Shape;9488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9" name="Google Shape;9489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90" name="Google Shape;9490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491" name="Google Shape;9491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92" name="Google Shape;9492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493" name="Google Shape;9493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494" name="Google Shape;9494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9495" name="Google Shape;9495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6" name="Google Shape;9496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97" name="Google Shape;9497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498" name="Google Shape;9498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99" name="Google Shape;9499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00" name="Google Shape;9500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01" name="Google Shape;9501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9502" name="Google Shape;9502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3" name="Google Shape;9503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04" name="Google Shape;9504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9505" name="Google Shape;9505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06" name="Google Shape;9506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507" name="Google Shape;9507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08" name="Google Shape;9508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9509" name="Google Shape;9509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0" name="Google Shape;9510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11" name="Google Shape;9511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9512" name="Google Shape;9512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13" name="Google Shape;9513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9514" name="Google Shape;9514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15" name="Google Shape;9515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9516" name="Google Shape;9516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7" name="Google Shape;9517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18" name="Google Shape;9518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519" name="Google Shape;9519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0" name="Google Shape;9520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521" name="Google Shape;9521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22" name="Google Shape;9522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9523" name="Google Shape;9523;p5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4" name="Google Shape;9524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25" name="Google Shape;9525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9526" name="Google Shape;9526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27" name="Google Shape;9527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9528" name="Google Shape;9528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529" name="Google Shape;9529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9530" name="Google Shape;9530;p5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1" name="Google Shape;9531;p5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532" name="Google Shape;9532;p5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533" name="Google Shape;9533;p5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534" name="Google Shape;9534;p5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535" name="Google Shape;9535;p5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536" name="Google Shape;9536;p5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537" name="Google Shape;9537;p5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538" name="Google Shape;9538;p5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539" name="Google Shape;9539;p5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540" name="Google Shape;9540;p5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541" name="Google Shape;9541;p5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542" name="Google Shape;9542;p5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543" name="Google Shape;9543;p5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544" name="Google Shape;9544;p5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545" name="Google Shape;9545;p5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546" name="Google Shape;9546;p5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547" name="Google Shape;9547;p5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548" name="Google Shape;9548;p5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549" name="Google Shape;9549;p5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50" name="Google Shape;9550;p5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9551" name="Google Shape;9551;p5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9552" name="Google Shape;9552;p5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9553" name="Google Shape;9553;p5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9554" name="Google Shape;9554;p5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555" name="Google Shape;9555;p5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556" name="Google Shape;9556;p5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9557" name="Google Shape;9557;p5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9558" name="Google Shape;9558;p5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559" name="Google Shape;9559;p5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9560" name="Google Shape;9560;p5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9561" name="Google Shape;9561;p5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$90K</a:t>
            </a:r>
            <a:endParaRPr/>
          </a:p>
        </p:txBody>
      </p:sp>
      <p:sp>
        <p:nvSpPr>
          <p:cNvPr id="9562" name="Google Shape;9562;p5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9563" name="Google Shape;9563;p5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9564" name="Google Shape;9564;p5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$-878</a:t>
            </a:r>
            <a:endParaRPr/>
          </a:p>
        </p:txBody>
      </p:sp>
      <p:sp>
        <p:nvSpPr>
          <p:cNvPr id="9565" name="Google Shape;9565;p5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9566" name="Google Shape;9566;p5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9567" name="Google Shape;9567;p5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9568" name="Google Shape;9568;p5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9569" name="Google Shape;9569;p5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$247K</a:t>
            </a:r>
            <a:endParaRPr/>
          </a:p>
        </p:txBody>
      </p:sp>
      <p:sp>
        <p:nvSpPr>
          <p:cNvPr id="9570" name="Google Shape;9570;p5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9571" name="Google Shape;9571;p5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2" name="Google Shape;9572;p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573" name="Google Shape;9573;p5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574" name="Google Shape;9574;p5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$67,738 YTD gross written premium</a:t>
            </a:r>
            <a:endParaRPr/>
          </a:p>
        </p:txBody>
      </p:sp>
      <p:sp>
        <p:nvSpPr>
          <p:cNvPr id="9575" name="Google Shape;9575;p5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576" name="Google Shape;9576;p5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 in new business production</a:t>
            </a:r>
            <a:endParaRPr/>
          </a:p>
        </p:txBody>
      </p:sp>
      <p:sp>
        <p:nvSpPr>
          <p:cNvPr id="9577" name="Google Shape;9577;p5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8" name="Google Shape;9578;p5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579" name="Google Shape;9579;p5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580" name="Google Shape;9580;p5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324% of new business ($47,679)</a:t>
            </a:r>
            <a:endParaRPr/>
          </a:p>
        </p:txBody>
      </p:sp>
      <p:sp>
        <p:nvSpPr>
          <p:cNvPr id="9581" name="Google Shape;9581;p5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582" name="Google Shape;9582;p5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65 to 24 MoM</a:t>
            </a:r>
            <a:endParaRPr/>
          </a:p>
        </p:txBody>
      </p:sp>
      <p:sp>
        <p:nvSpPr>
          <p:cNvPr id="9583" name="Google Shape;9583;p5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4" name="Google Shape;9584;p5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585" name="Google Shape;9585;p5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586" name="Google Shape;9586;p5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$14,701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9587" name="Google Shape;9587;p5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588" name="Google Shape;9588;p5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$47,679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92" name="Shape 9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3" name="Google Shape;9593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4" name="Google Shape;9594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 Coast Truck Insurance Agency</a:t>
            </a:r>
            <a:endParaRPr/>
          </a:p>
        </p:txBody>
      </p:sp>
      <p:sp>
        <p:nvSpPr>
          <p:cNvPr id="9595" name="Google Shape;9595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UT  |  City: Lancaster</a:t>
            </a:r>
            <a:endParaRPr/>
          </a:p>
        </p:txBody>
      </p:sp>
      <p:sp>
        <p:nvSpPr>
          <p:cNvPr id="9596" name="Google Shape;9596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597" name="Google Shape;9597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598" name="Google Shape;9598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599" name="Google Shape;9599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00" name="Google Shape;9600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$-60,086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01" name="Google Shape;9601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$239,538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602" name="Google Shape;9602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$265,055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603" name="Google Shape;9603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604" name="Google Shape;9604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05" name="Google Shape;9605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06" name="Google Shape;9606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07" name="Google Shape;9607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608" name="Google Shape;9608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609" name="Google Shape;9609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0" name="Google Shape;9610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611" name="Google Shape;9611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12" name="Google Shape;9612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613" name="Google Shape;9613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14" name="Google Shape;9614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15" name="Google Shape;9615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16" name="Google Shape;9616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17" name="Google Shape;9617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8" name="Google Shape;9618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19" name="Google Shape;9619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$32,009</a:t>
            </a:r>
            <a:endParaRPr/>
          </a:p>
        </p:txBody>
      </p:sp>
      <p:sp>
        <p:nvSpPr>
          <p:cNvPr id="9620" name="Google Shape;9620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$32,009</a:t>
            </a:r>
            <a:endParaRPr/>
          </a:p>
        </p:txBody>
      </p:sp>
      <p:sp>
        <p:nvSpPr>
          <p:cNvPr id="9621" name="Google Shape;9621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2" name="Google Shape;9622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3" name="Google Shape;9623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$-30,606</a:t>
            </a:r>
            <a:endParaRPr/>
          </a:p>
        </p:txBody>
      </p:sp>
      <p:sp>
        <p:nvSpPr>
          <p:cNvPr id="9624" name="Google Shape;9624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5" name="Google Shape;9625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26" name="Google Shape;9626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7" name="Google Shape;9627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8" name="Google Shape;9628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9" name="Google Shape;9629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30" name="Google Shape;9630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$-12,623</a:t>
            </a:r>
            <a:endParaRPr/>
          </a:p>
        </p:txBody>
      </p:sp>
      <p:sp>
        <p:nvSpPr>
          <p:cNvPr id="9631" name="Google Shape;9631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2" name="Google Shape;9632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633" name="Google Shape;9633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$-5,550</a:t>
            </a:r>
            <a:endParaRPr/>
          </a:p>
        </p:txBody>
      </p:sp>
      <p:sp>
        <p:nvSpPr>
          <p:cNvPr id="9634" name="Google Shape;9634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35" name="Google Shape;9635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36" name="Google Shape;9636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$-5,550</a:t>
            </a:r>
            <a:endParaRPr/>
          </a:p>
        </p:txBody>
      </p:sp>
      <p:sp>
        <p:nvSpPr>
          <p:cNvPr id="9637" name="Google Shape;9637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38" name="Google Shape;9638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9" name="Google Shape;9639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640" name="Google Shape;9640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$3,440</a:t>
            </a:r>
            <a:endParaRPr/>
          </a:p>
        </p:txBody>
      </p:sp>
      <p:sp>
        <p:nvSpPr>
          <p:cNvPr id="9641" name="Google Shape;9641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2" name="Google Shape;9642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3" name="Google Shape;9643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$3,440</a:t>
            </a:r>
            <a:endParaRPr/>
          </a:p>
        </p:txBody>
      </p:sp>
      <p:sp>
        <p:nvSpPr>
          <p:cNvPr id="9644" name="Google Shape;9644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5" name="Google Shape;9645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6" name="Google Shape;9646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47" name="Google Shape;9647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$36,654</a:t>
            </a:r>
            <a:endParaRPr/>
          </a:p>
        </p:txBody>
      </p:sp>
      <p:sp>
        <p:nvSpPr>
          <p:cNvPr id="9648" name="Google Shape;9648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$19,217</a:t>
            </a:r>
            <a:endParaRPr/>
          </a:p>
        </p:txBody>
      </p:sp>
      <p:sp>
        <p:nvSpPr>
          <p:cNvPr id="9649" name="Google Shape;9649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$17,437</a:t>
            </a:r>
            <a:endParaRPr/>
          </a:p>
        </p:txBody>
      </p:sp>
      <p:sp>
        <p:nvSpPr>
          <p:cNvPr id="9650" name="Google Shape;9650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1" name="Google Shape;9651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$-16,857</a:t>
            </a:r>
            <a:endParaRPr/>
          </a:p>
        </p:txBody>
      </p:sp>
      <p:sp>
        <p:nvSpPr>
          <p:cNvPr id="9652" name="Google Shape;9652;p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3" name="Google Shape;9653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654" name="Google Shape;9654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$66,553</a:t>
            </a:r>
            <a:endParaRPr/>
          </a:p>
        </p:txBody>
      </p:sp>
      <p:sp>
        <p:nvSpPr>
          <p:cNvPr id="9655" name="Google Shape;9655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$51,226</a:t>
            </a:r>
            <a:endParaRPr/>
          </a:p>
        </p:txBody>
      </p:sp>
      <p:sp>
        <p:nvSpPr>
          <p:cNvPr id="9656" name="Google Shape;9656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$17,437</a:t>
            </a:r>
            <a:endParaRPr/>
          </a:p>
        </p:txBody>
      </p:sp>
      <p:sp>
        <p:nvSpPr>
          <p:cNvPr id="9657" name="Google Shape;9657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$-2,110</a:t>
            </a:r>
            <a:endParaRPr/>
          </a:p>
        </p:txBody>
      </p:sp>
      <p:sp>
        <p:nvSpPr>
          <p:cNvPr id="9658" name="Google Shape;9658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$-60,086</a:t>
            </a:r>
            <a:endParaRPr/>
          </a:p>
        </p:txBody>
      </p:sp>
      <p:sp>
        <p:nvSpPr>
          <p:cNvPr id="9659" name="Google Shape;9659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0" name="Google Shape;9660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661" name="Google Shape;9661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62" name="Google Shape;9662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663" name="Google Shape;9663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664" name="Google Shape;9664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665" name="Google Shape;9665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66" name="Google Shape;9666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67" name="Google Shape;9667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8" name="Google Shape;9668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69" name="Google Shape;9669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670" name="Google Shape;9670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71" name="Google Shape;9671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672" name="Google Shape;9672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73" name="Google Shape;9673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674" name="Google Shape;9674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5" name="Google Shape;9675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76" name="Google Shape;9676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677" name="Google Shape;9677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78" name="Google Shape;9678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679" name="Google Shape;9679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80" name="Google Shape;9680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9681" name="Google Shape;9681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2" name="Google Shape;9682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683" name="Google Shape;9683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84" name="Google Shape;9684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85" name="Google Shape;9685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86" name="Google Shape;9686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87" name="Google Shape;9687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9688" name="Google Shape;9688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9" name="Google Shape;9689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690" name="Google Shape;9690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691" name="Google Shape;9691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92" name="Google Shape;9692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693" name="Google Shape;9693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94" name="Google Shape;9694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695" name="Google Shape;9695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6" name="Google Shape;9696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97" name="Google Shape;9697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698" name="Google Shape;9698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99" name="Google Shape;9699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00" name="Google Shape;9700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01" name="Google Shape;9701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9702" name="Google Shape;9702;p6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3" name="Google Shape;9703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04" name="Google Shape;9704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9705" name="Google Shape;9705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06" name="Google Shape;9706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707" name="Google Shape;9707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08" name="Google Shape;9708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9709" name="Google Shape;9709;p6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0" name="Google Shape;9710;p6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711" name="Google Shape;9711;p6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712" name="Google Shape;9712;p6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713" name="Google Shape;9713;p6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714" name="Google Shape;9714;p6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715" name="Google Shape;9715;p6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716" name="Google Shape;9716;p6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717" name="Google Shape;9717;p6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718" name="Google Shape;9718;p6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719" name="Google Shape;9719;p6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720" name="Google Shape;9720;p6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721" name="Google Shape;9721;p6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722" name="Google Shape;9722;p6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723" name="Google Shape;9723;p6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724" name="Google Shape;9724;p6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25" name="Google Shape;9725;p6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26" name="Google Shape;9726;p6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727" name="Google Shape;9727;p6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28" name="Google Shape;9728;p6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29" name="Google Shape;9729;p6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30" name="Google Shape;9730;p6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31" name="Google Shape;9731;p6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32" name="Google Shape;9732;p6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33" name="Google Shape;9733;p6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34" name="Google Shape;9734;p6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35" name="Google Shape;9735;p6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36" name="Google Shape;9736;p6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9737" name="Google Shape;9737;p6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738" name="Google Shape;9738;p6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9" name="Google Shape;9739;p6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9740" name="Google Shape;9740;p6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1" name="Google Shape;9741;p6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2" name="Google Shape;9742;p6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3" name="Google Shape;9743;p6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$-5,550</a:t>
            </a:r>
            <a:endParaRPr/>
          </a:p>
        </p:txBody>
      </p:sp>
      <p:sp>
        <p:nvSpPr>
          <p:cNvPr id="9744" name="Google Shape;9744;p6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5" name="Google Shape;9745;p6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9746" name="Google Shape;9746;p6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9747" name="Google Shape;9747;p6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9748" name="Google Shape;9748;p6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9749" name="Google Shape;9749;p6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9750" name="Google Shape;9750;p6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1" name="Google Shape;9751;p6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752" name="Google Shape;9752;p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753" name="Google Shape;9753;p6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$66,553 YTD gross written premium</a:t>
            </a:r>
            <a:endParaRPr/>
          </a:p>
        </p:txBody>
      </p:sp>
      <p:sp>
        <p:nvSpPr>
          <p:cNvPr id="9754" name="Google Shape;9754;p6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755" name="Google Shape;9755;p6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$51,226 in new business production</a:t>
            </a:r>
            <a:endParaRPr/>
          </a:p>
        </p:txBody>
      </p:sp>
      <p:sp>
        <p:nvSpPr>
          <p:cNvPr id="9756" name="Google Shape;9756;p6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7" name="Google Shape;9757;p6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758" name="Google Shape;9758;p6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759" name="Google Shape;9759;p6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117% of new business ($60,086)</a:t>
            </a:r>
            <a:endParaRPr/>
          </a:p>
        </p:txBody>
      </p:sp>
      <p:sp>
        <p:nvSpPr>
          <p:cNvPr id="9760" name="Google Shape;9760;p6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1" name="Google Shape;9761;p6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762" name="Google Shape;9762;p6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763" name="Google Shape;9763;p6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$51,226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9764" name="Google Shape;9764;p6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765" name="Google Shape;9765;p6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$60,086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69" name="Shape 9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0" name="Google Shape;9770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1" name="Google Shape;9771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Transtar Insurance Brokers, Inc.</a:t>
            </a:r>
            <a:endParaRPr/>
          </a:p>
        </p:txBody>
      </p:sp>
      <p:sp>
        <p:nvSpPr>
          <p:cNvPr id="9772" name="Google Shape;9772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AZ  |  City: Phoenix</a:t>
            </a:r>
            <a:endParaRPr/>
          </a:p>
        </p:txBody>
      </p:sp>
      <p:sp>
        <p:nvSpPr>
          <p:cNvPr id="9773" name="Google Shape;9773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74" name="Google Shape;9774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775" name="Google Shape;9775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776" name="Google Shape;9776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$-45,277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777" name="Google Shape;9777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778" name="Google Shape;9778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$194,602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779" name="Google Shape;9779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$193,398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780" name="Google Shape;9780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781" name="Google Shape;9781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82" name="Google Shape;9782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83" name="Google Shape;9783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84" name="Google Shape;9784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$104,493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785" name="Google Shape;9785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$100,541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786" name="Google Shape;9786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7" name="Google Shape;9787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788" name="Google Shape;9788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89" name="Google Shape;9789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790" name="Google Shape;9790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791" name="Google Shape;9791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792" name="Google Shape;9792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793" name="Google Shape;9793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794" name="Google Shape;9794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5" name="Google Shape;9795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96" name="Google Shape;9796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$10,087</a:t>
            </a:r>
            <a:endParaRPr/>
          </a:p>
        </p:txBody>
      </p:sp>
      <p:sp>
        <p:nvSpPr>
          <p:cNvPr id="9797" name="Google Shape;9797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8" name="Google Shape;9798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9" name="Google Shape;9799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$10,087</a:t>
            </a:r>
            <a:endParaRPr/>
          </a:p>
        </p:txBody>
      </p:sp>
      <p:sp>
        <p:nvSpPr>
          <p:cNvPr id="9800" name="Google Shape;9800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1" name="Google Shape;9801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2" name="Google Shape;9802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03" name="Google Shape;9803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9804" name="Google Shape;9804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5" name="Google Shape;9805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6" name="Google Shape;9806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9807" name="Google Shape;9807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8" name="Google Shape;9808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9" name="Google Shape;9809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810" name="Google Shape;9810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</a:t>
            </a:r>
            <a:endParaRPr/>
          </a:p>
        </p:txBody>
      </p:sp>
      <p:sp>
        <p:nvSpPr>
          <p:cNvPr id="9811" name="Google Shape;9811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12" name="Google Shape;9812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13" name="Google Shape;9813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</a:t>
            </a:r>
            <a:endParaRPr/>
          </a:p>
        </p:txBody>
      </p:sp>
      <p:sp>
        <p:nvSpPr>
          <p:cNvPr id="9814" name="Google Shape;9814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15" name="Google Shape;9815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6" name="Google Shape;9816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817" name="Google Shape;9817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$51,995</a:t>
            </a:r>
            <a:endParaRPr/>
          </a:p>
        </p:txBody>
      </p:sp>
      <p:sp>
        <p:nvSpPr>
          <p:cNvPr id="9818" name="Google Shape;9818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</a:t>
            </a:r>
            <a:endParaRPr/>
          </a:p>
        </p:txBody>
      </p:sp>
      <p:sp>
        <p:nvSpPr>
          <p:cNvPr id="9819" name="Google Shape;9819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0" name="Google Shape;9820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$-54,298</a:t>
            </a:r>
            <a:endParaRPr/>
          </a:p>
        </p:txBody>
      </p:sp>
      <p:sp>
        <p:nvSpPr>
          <p:cNvPr id="9821" name="Google Shape;9821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2" name="Google Shape;9822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3" name="Google Shape;9823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824" name="Google Shape;9824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825" name="Google Shape;9825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6" name="Google Shape;9826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7" name="Google Shape;9827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828" name="Google Shape;9828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9" name="Google Shape;9829;p6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0" name="Google Shape;9830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831" name="Google Shape;9831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$61,016</a:t>
            </a:r>
            <a:endParaRPr/>
          </a:p>
        </p:txBody>
      </p:sp>
      <p:sp>
        <p:nvSpPr>
          <p:cNvPr id="9832" name="Google Shape;9832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</a:t>
            </a:r>
            <a:endParaRPr/>
          </a:p>
        </p:txBody>
      </p:sp>
      <p:sp>
        <p:nvSpPr>
          <p:cNvPr id="9833" name="Google Shape;9833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4" name="Google Shape;9834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$-45,277</a:t>
            </a:r>
            <a:endParaRPr/>
          </a:p>
        </p:txBody>
      </p:sp>
      <p:sp>
        <p:nvSpPr>
          <p:cNvPr id="9835" name="Google Shape;9835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6" name="Google Shape;9836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7" name="Google Shape;9837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838" name="Google Shape;9838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39" name="Google Shape;9839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840" name="Google Shape;9840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841" name="Google Shape;9841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842" name="Google Shape;9842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43" name="Google Shape;9843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44" name="Google Shape;9844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5" name="Google Shape;9845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46" name="Google Shape;9846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847" name="Google Shape;9847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848" name="Google Shape;9848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9849" name="Google Shape;9849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50" name="Google Shape;9850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9851" name="Google Shape;9851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2" name="Google Shape;9852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53" name="Google Shape;9853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9854" name="Google Shape;9854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55" name="Google Shape;9855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856" name="Google Shape;9856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57" name="Google Shape;9857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9858" name="Google Shape;9858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9" name="Google Shape;9859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860" name="Google Shape;9860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861" name="Google Shape;9861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862" name="Google Shape;9862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863" name="Google Shape;9863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64" name="Google Shape;9864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9865" name="Google Shape;9865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6" name="Google Shape;9866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867" name="Google Shape;9867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868" name="Google Shape;9868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869" name="Google Shape;9869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9870" name="Google Shape;9870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71" name="Google Shape;9871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9872" name="Google Shape;9872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3" name="Google Shape;9873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874" name="Google Shape;9874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875" name="Google Shape;9875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76" name="Google Shape;9876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877" name="Google Shape;9877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78" name="Google Shape;9878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9879" name="Google Shape;9879;p6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0" name="Google Shape;9880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881" name="Google Shape;9881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9882" name="Google Shape;9882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883" name="Google Shape;9883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9884" name="Google Shape;9884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885" name="Google Shape;9885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9886" name="Google Shape;9886;p6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7" name="Google Shape;9887;p6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888" name="Google Shape;9888;p6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889" name="Google Shape;9889;p6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890" name="Google Shape;9890;p6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891" name="Google Shape;9891;p6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892" name="Google Shape;9892;p6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893" name="Google Shape;9893;p6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894" name="Google Shape;9894;p6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895" name="Google Shape;9895;p6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896" name="Google Shape;9896;p6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897" name="Google Shape;9897;p6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898" name="Google Shape;9898;p6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899" name="Google Shape;9899;p6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900" name="Google Shape;9900;p6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901" name="Google Shape;9901;p6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902" name="Google Shape;9902;p6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9903" name="Google Shape;9903;p6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904" name="Google Shape;9904;p6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905" name="Google Shape;9905;p6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9906" name="Google Shape;9906;p6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9907" name="Google Shape;9907;p6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908" name="Google Shape;9908;p6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909" name="Google Shape;9909;p6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910" name="Google Shape;9910;p6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9911" name="Google Shape;9911;p6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912" name="Google Shape;9912;p6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224</a:t>
            </a:r>
            <a:endParaRPr/>
          </a:p>
        </p:txBody>
      </p:sp>
      <p:sp>
        <p:nvSpPr>
          <p:cNvPr id="9913" name="Google Shape;9913;p6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9914" name="Google Shape;9914;p6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915" name="Google Shape;9915;p6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916" name="Google Shape;9916;p6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9917" name="Google Shape;9917;p6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$-5,342</a:t>
            </a:r>
            <a:endParaRPr/>
          </a:p>
        </p:txBody>
      </p:sp>
      <p:sp>
        <p:nvSpPr>
          <p:cNvPr id="9918" name="Google Shape;9918;p6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9919" name="Google Shape;9919;p6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$-750</a:t>
            </a:r>
            <a:endParaRPr/>
          </a:p>
        </p:txBody>
      </p:sp>
      <p:sp>
        <p:nvSpPr>
          <p:cNvPr id="9920" name="Google Shape;9920;p6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</a:t>
            </a:r>
            <a:endParaRPr/>
          </a:p>
        </p:txBody>
      </p:sp>
      <p:sp>
        <p:nvSpPr>
          <p:cNvPr id="9921" name="Google Shape;9921;p6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9922" name="Google Shape;9922;p6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9923" name="Google Shape;9923;p6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$-16,230</a:t>
            </a:r>
            <a:endParaRPr/>
          </a:p>
        </p:txBody>
      </p:sp>
      <p:sp>
        <p:nvSpPr>
          <p:cNvPr id="9924" name="Google Shape;9924;p6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925" name="Google Shape;9925;p6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9926" name="Google Shape;9926;p6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9927" name="Google Shape;9927;p6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8" name="Google Shape;9928;p6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929" name="Google Shape;9929;p6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30" name="Google Shape;9930;p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$61,016 YTD gross written premium</a:t>
            </a:r>
            <a:endParaRPr/>
          </a:p>
        </p:txBody>
      </p:sp>
      <p:sp>
        <p:nvSpPr>
          <p:cNvPr id="9931" name="Google Shape;9931;p6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32" name="Google Shape;9932;p6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 in new business production</a:t>
            </a:r>
            <a:endParaRPr/>
          </a:p>
        </p:txBody>
      </p:sp>
      <p:sp>
        <p:nvSpPr>
          <p:cNvPr id="9933" name="Google Shape;9933;p6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4" name="Google Shape;9934;p6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935" name="Google Shape;9935;p6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936" name="Google Shape;9936;p6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9937" name="Google Shape;9937;p6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938" name="Google Shape;9938;p6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41 to 17 MoM</a:t>
            </a:r>
            <a:endParaRPr/>
          </a:p>
        </p:txBody>
      </p:sp>
      <p:sp>
        <p:nvSpPr>
          <p:cNvPr id="9939" name="Google Shape;9939;p6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0" name="Google Shape;9940;p6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941" name="Google Shape;9941;p6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942" name="Google Shape;9942;p6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$106,293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9943" name="Google Shape;9943;p6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944" name="Google Shape;9944;p6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48" name="Shape 9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9" name="Google Shape;9949;p6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0" name="Google Shape;9950;p6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Infinite Risk Management And Insurance Solutions Inc</a:t>
            </a:r>
            <a:endParaRPr/>
          </a:p>
        </p:txBody>
      </p:sp>
      <p:sp>
        <p:nvSpPr>
          <p:cNvPr id="9951" name="Google Shape;9951;p6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Los Angeles</a:t>
            </a:r>
            <a:endParaRPr/>
          </a:p>
        </p:txBody>
      </p:sp>
      <p:sp>
        <p:nvSpPr>
          <p:cNvPr id="9952" name="Google Shape;9952;p6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953" name="Google Shape;9953;p6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954" name="Google Shape;9954;p6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55" name="Google Shape;9955;p6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956" name="Google Shape;9956;p6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957" name="Google Shape;9957;p6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$397,569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958" name="Google Shape;9958;p6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$383,069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959" name="Google Shape;9959;p6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960" name="Google Shape;9960;p6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961" name="Google Shape;9961;p6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962" name="Google Shape;9962;p6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963" name="Google Shape;9963;p6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964" name="Google Shape;9964;p6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965" name="Google Shape;9965;p6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6" name="Google Shape;9966;p6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967" name="Google Shape;9967;p6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968" name="Google Shape;9968;p6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969" name="Google Shape;9969;p6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970" name="Google Shape;9970;p6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71" name="Google Shape;9971;p6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972" name="Google Shape;9972;p6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973" name="Google Shape;9973;p6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4" name="Google Shape;9974;p6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975" name="Google Shape;9975;p6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6" name="Google Shape;9976;p6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7" name="Google Shape;9977;p6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8" name="Google Shape;9978;p6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9" name="Google Shape;9979;p6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0" name="Google Shape;9980;p6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1" name="Google Shape;9981;p6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982" name="Google Shape;9982;p6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$14,262</a:t>
            </a:r>
            <a:endParaRPr/>
          </a:p>
        </p:txBody>
      </p:sp>
      <p:sp>
        <p:nvSpPr>
          <p:cNvPr id="9983" name="Google Shape;9983;p6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4" name="Google Shape;9984;p6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5" name="Google Shape;9985;p6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$14,262</a:t>
            </a:r>
            <a:endParaRPr/>
          </a:p>
        </p:txBody>
      </p:sp>
      <p:sp>
        <p:nvSpPr>
          <p:cNvPr id="9986" name="Google Shape;9986;p6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7" name="Google Shape;9987;p6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8" name="Google Shape;9988;p6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89" name="Google Shape;9989;p6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</a:t>
            </a:r>
            <a:endParaRPr/>
          </a:p>
        </p:txBody>
      </p:sp>
      <p:sp>
        <p:nvSpPr>
          <p:cNvPr id="9990" name="Google Shape;9990;p6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1" name="Google Shape;9991;p6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2" name="Google Shape;9992;p6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</a:t>
            </a:r>
            <a:endParaRPr/>
          </a:p>
        </p:txBody>
      </p:sp>
      <p:sp>
        <p:nvSpPr>
          <p:cNvPr id="9993" name="Google Shape;9993;p6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$-17,416</a:t>
            </a:r>
            <a:endParaRPr/>
          </a:p>
        </p:txBody>
      </p:sp>
      <p:sp>
        <p:nvSpPr>
          <p:cNvPr id="9994" name="Google Shape;9994;p6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5" name="Google Shape;9995;p6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96" name="Google Shape;9996;p6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</p:txBody>
      </p:sp>
      <p:sp>
        <p:nvSpPr>
          <p:cNvPr id="9997" name="Google Shape;9997;p6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</p:txBody>
      </p:sp>
      <p:sp>
        <p:nvSpPr>
          <p:cNvPr id="9998" name="Google Shape;9998;p6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9" name="Google Shape;9999;p6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0" name="Google Shape;10000;p6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1" name="Google Shape;10001;p6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2" name="Google Shape;10002;p6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003" name="Google Shape;10003;p6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$19,877</a:t>
            </a:r>
            <a:endParaRPr/>
          </a:p>
        </p:txBody>
      </p:sp>
      <p:sp>
        <p:nvSpPr>
          <p:cNvPr id="10004" name="Google Shape;10004;p6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5" name="Google Shape;10005;p6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6" name="Google Shape;10006;p6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$19,877</a:t>
            </a:r>
            <a:endParaRPr/>
          </a:p>
        </p:txBody>
      </p:sp>
      <p:sp>
        <p:nvSpPr>
          <p:cNvPr id="10007" name="Google Shape;10007;p6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8" name="Google Shape;10008;p6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9" name="Google Shape;10009;p6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010" name="Google Shape;10010;p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</p:txBody>
      </p:sp>
      <p:sp>
        <p:nvSpPr>
          <p:cNvPr id="10011" name="Google Shape;10011;p6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</p:txBody>
      </p:sp>
      <p:sp>
        <p:nvSpPr>
          <p:cNvPr id="10012" name="Google Shape;10012;p6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13" name="Google Shape;10013;p6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$34,526</a:t>
            </a:r>
            <a:endParaRPr/>
          </a:p>
        </p:txBody>
      </p:sp>
      <p:sp>
        <p:nvSpPr>
          <p:cNvPr id="10014" name="Google Shape;10014;p6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$-17,416</a:t>
            </a:r>
            <a:endParaRPr/>
          </a:p>
        </p:txBody>
      </p:sp>
      <p:sp>
        <p:nvSpPr>
          <p:cNvPr id="10015" name="Google Shape;10015;p6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6" name="Google Shape;10016;p6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017" name="Google Shape;10017;p6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18" name="Google Shape;10018;p6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019" name="Google Shape;10019;p6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020" name="Google Shape;10020;p6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021" name="Google Shape;10021;p6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22" name="Google Shape;10022;p6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23" name="Google Shape;10023;p6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4" name="Google Shape;10024;p6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25" name="Google Shape;10025;p6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026" name="Google Shape;10026;p6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27" name="Google Shape;10027;p6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028" name="Google Shape;10028;p6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29" name="Google Shape;10029;p6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0030" name="Google Shape;10030;p6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1" name="Google Shape;10031;p6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032" name="Google Shape;10032;p6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033" name="Google Shape;10033;p6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034" name="Google Shape;10034;p6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035" name="Google Shape;10035;p6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36" name="Google Shape;10036;p6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0037" name="Google Shape;10037;p6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8" name="Google Shape;10038;p6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039" name="Google Shape;10039;p6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040" name="Google Shape;10040;p6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041" name="Google Shape;10041;p6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042" name="Google Shape;10042;p6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43" name="Google Shape;10043;p6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10044" name="Google Shape;10044;p6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5" name="Google Shape;10045;p6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046" name="Google Shape;10046;p6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047" name="Google Shape;10047;p6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48" name="Google Shape;10048;p6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049" name="Google Shape;10049;p6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50" name="Google Shape;10050;p6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051" name="Google Shape;10051;p6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2" name="Google Shape;10052;p6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053" name="Google Shape;10053;p6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054" name="Google Shape;10054;p6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055" name="Google Shape;10055;p6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056" name="Google Shape;10056;p6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57" name="Google Shape;10057;p6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0058" name="Google Shape;10058;p6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9" name="Google Shape;10059;p6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060" name="Google Shape;10060;p6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10061" name="Google Shape;10061;p6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062" name="Google Shape;10062;p6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0063" name="Google Shape;10063;p6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64" name="Google Shape;10064;p6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10065" name="Google Shape;10065;p6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6" name="Google Shape;10066;p6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067" name="Google Shape;10067;p6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068" name="Google Shape;10068;p6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069" name="Google Shape;10069;p6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070" name="Google Shape;10070;p6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071" name="Google Shape;10071;p6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072" name="Google Shape;10072;p6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073" name="Google Shape;10073;p6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074" name="Google Shape;10074;p6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075" name="Google Shape;10075;p6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076" name="Google Shape;10076;p6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077" name="Google Shape;10077;p6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078" name="Google Shape;10078;p6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079" name="Google Shape;10079;p6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080" name="Google Shape;10080;p6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081" name="Google Shape;10081;p6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82" name="Google Shape;10082;p6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083" name="Google Shape;10083;p6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084" name="Google Shape;10084;p6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085" name="Google Shape;10085;p6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086" name="Google Shape;10086;p6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087" name="Google Shape;10087;p6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088" name="Google Shape;10088;p6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089" name="Google Shape;10089;p6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90" name="Google Shape;10090;p6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091" name="Google Shape;10091;p6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092" name="Google Shape;10092;p6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10093" name="Google Shape;10093;p6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094" name="Google Shape;10094;p6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95" name="Google Shape;10095;p6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96" name="Google Shape;10096;p6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97" name="Google Shape;10097;p6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10098" name="Google Shape;10098;p6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10099" name="Google Shape;10099;p6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</a:t>
            </a:r>
            <a:endParaRPr/>
          </a:p>
        </p:txBody>
      </p:sp>
      <p:sp>
        <p:nvSpPr>
          <p:cNvPr id="10100" name="Google Shape;10100;p6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01" name="Google Shape;10101;p6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10102" name="Google Shape;10102;p6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10103" name="Google Shape;10103;p6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10104" name="Google Shape;10104;p6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10105" name="Google Shape;10105;p6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10106" name="Google Shape;10106;p6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7" name="Google Shape;10107;p6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108" name="Google Shape;10108;p6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109" name="Google Shape;10109;p6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 YTD gross written premium</a:t>
            </a:r>
            <a:endParaRPr/>
          </a:p>
        </p:txBody>
      </p:sp>
      <p:sp>
        <p:nvSpPr>
          <p:cNvPr id="10110" name="Google Shape;10110;p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111" name="Google Shape;10111;p6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 in new business production</a:t>
            </a:r>
            <a:endParaRPr/>
          </a:p>
        </p:txBody>
      </p:sp>
      <p:sp>
        <p:nvSpPr>
          <p:cNvPr id="10112" name="Google Shape;10112;p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3" name="Google Shape;10113;p6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114" name="Google Shape;10114;p6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115" name="Google Shape;10115;p6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88% of new business ($17,416)</a:t>
            </a:r>
            <a:endParaRPr/>
          </a:p>
        </p:txBody>
      </p:sp>
      <p:sp>
        <p:nvSpPr>
          <p:cNvPr id="10116" name="Google Shape;10116;p6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7" name="Google Shape;10117;p6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118" name="Google Shape;10118;p6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119" name="Google Shape;10119;p6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$19,900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10120" name="Google Shape;10120;p6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121" name="Google Shape;10121;p6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$17,416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25" name="Shape 10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6" name="Google Shape;10126;p6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7" name="Google Shape;10127;p6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PCF Insurance Services of the West LLC DBA: Good's Insurance Agency</a:t>
            </a:r>
            <a:endParaRPr/>
          </a:p>
        </p:txBody>
      </p:sp>
      <p:sp>
        <p:nvSpPr>
          <p:cNvPr id="10128" name="Google Shape;10128;p6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Woodland Hills</a:t>
            </a:r>
            <a:endParaRPr/>
          </a:p>
        </p:txBody>
      </p:sp>
      <p:sp>
        <p:nvSpPr>
          <p:cNvPr id="10129" name="Google Shape;10129;p6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130" name="Google Shape;10130;p6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131" name="Google Shape;10131;p6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132" name="Google Shape;10132;p6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133" name="Google Shape;10133;p6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34" name="Google Shape;10134;p6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$236,689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135" name="Google Shape;10135;p6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$172,857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136" name="Google Shape;10136;p6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137" name="Google Shape;10137;p6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138" name="Google Shape;10138;p6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139" name="Google Shape;10139;p6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140" name="Google Shape;10140;p6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141" name="Google Shape;10141;p6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142" name="Google Shape;10142;p6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3" name="Google Shape;10143;p6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144" name="Google Shape;10144;p6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145" name="Google Shape;10145;p6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146" name="Google Shape;10146;p6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147" name="Google Shape;10147;p6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148" name="Google Shape;10148;p6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149" name="Google Shape;10149;p6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50" name="Google Shape;10150;p6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1" name="Google Shape;10151;p6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152" name="Google Shape;10152;p6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</a:t>
            </a:r>
            <a:endParaRPr/>
          </a:p>
        </p:txBody>
      </p:sp>
      <p:sp>
        <p:nvSpPr>
          <p:cNvPr id="10153" name="Google Shape;10153;p6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54" name="Google Shape;10154;p6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55" name="Google Shape;10155;p6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</a:t>
            </a:r>
            <a:endParaRPr/>
          </a:p>
        </p:txBody>
      </p:sp>
      <p:sp>
        <p:nvSpPr>
          <p:cNvPr id="10156" name="Google Shape;10156;p6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$-9,231</a:t>
            </a:r>
            <a:endParaRPr/>
          </a:p>
        </p:txBody>
      </p:sp>
      <p:sp>
        <p:nvSpPr>
          <p:cNvPr id="10157" name="Google Shape;10157;p6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8" name="Google Shape;10158;p6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159" name="Google Shape;10159;p6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0" name="Google Shape;10160;p6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1" name="Google Shape;10161;p6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2" name="Google Shape;10162;p6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3" name="Google Shape;10163;p6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4" name="Google Shape;10164;p6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5" name="Google Shape;10165;p6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166" name="Google Shape;10166;p6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7" name="Google Shape;10167;p6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8" name="Google Shape;10168;p6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9" name="Google Shape;10169;p6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0" name="Google Shape;10170;p6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1" name="Google Shape;10171;p6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2" name="Google Shape;10172;p6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173" name="Google Shape;10173;p6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$31,909</a:t>
            </a:r>
            <a:endParaRPr/>
          </a:p>
        </p:txBody>
      </p:sp>
      <p:sp>
        <p:nvSpPr>
          <p:cNvPr id="10174" name="Google Shape;10174;p6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5" name="Google Shape;10175;p6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</a:t>
            </a:r>
            <a:endParaRPr/>
          </a:p>
        </p:txBody>
      </p:sp>
      <p:sp>
        <p:nvSpPr>
          <p:cNvPr id="10176" name="Google Shape;10176;p6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$19,606</a:t>
            </a:r>
            <a:endParaRPr/>
          </a:p>
        </p:txBody>
      </p:sp>
      <p:sp>
        <p:nvSpPr>
          <p:cNvPr id="10177" name="Google Shape;10177;p6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8" name="Google Shape;10178;p6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9" name="Google Shape;10179;p6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180" name="Google Shape;10180;p6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1" name="Google Shape;10181;p6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2" name="Google Shape;10182;p6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3" name="Google Shape;10183;p6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4" name="Google Shape;10184;p6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5" name="Google Shape;10185;p6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6" name="Google Shape;10186;p6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187" name="Google Shape;10187;p6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$31,849</a:t>
            </a:r>
            <a:endParaRPr/>
          </a:p>
        </p:txBody>
      </p:sp>
      <p:sp>
        <p:nvSpPr>
          <p:cNvPr id="10188" name="Google Shape;10188;p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9" name="Google Shape;10189;p6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</a:t>
            </a:r>
            <a:endParaRPr/>
          </a:p>
        </p:txBody>
      </p:sp>
      <p:sp>
        <p:nvSpPr>
          <p:cNvPr id="10190" name="Google Shape;10190;p6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$19,545</a:t>
            </a:r>
            <a:endParaRPr/>
          </a:p>
        </p:txBody>
      </p:sp>
      <p:sp>
        <p:nvSpPr>
          <p:cNvPr id="10191" name="Google Shape;10191;p6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$-9,231</a:t>
            </a:r>
            <a:endParaRPr/>
          </a:p>
        </p:txBody>
      </p:sp>
      <p:sp>
        <p:nvSpPr>
          <p:cNvPr id="10192" name="Google Shape;10192;p6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3" name="Google Shape;10193;p6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194" name="Google Shape;10194;p6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195" name="Google Shape;10195;p6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196" name="Google Shape;10196;p6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197" name="Google Shape;10197;p6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198" name="Google Shape;10198;p6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199" name="Google Shape;10199;p6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00" name="Google Shape;10200;p6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1" name="Google Shape;10201;p6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02" name="Google Shape;10202;p6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203" name="Google Shape;10203;p6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04" name="Google Shape;10204;p6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205" name="Google Shape;10205;p6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06" name="Google Shape;10206;p6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0207" name="Google Shape;10207;p6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8" name="Google Shape;10208;p6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09" name="Google Shape;10209;p6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210" name="Google Shape;10210;p6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11" name="Google Shape;10211;p6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212" name="Google Shape;10212;p6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13" name="Google Shape;10213;p6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14" name="Google Shape;10214;p6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5" name="Google Shape;10215;p6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16" name="Google Shape;10216;p6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17" name="Google Shape;10217;p6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18" name="Google Shape;10218;p6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219" name="Google Shape;10219;p6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20" name="Google Shape;10220;p6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21" name="Google Shape;10221;p6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2" name="Google Shape;10222;p6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223" name="Google Shape;10223;p6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224" name="Google Shape;10224;p6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25" name="Google Shape;10225;p6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226" name="Google Shape;10226;p6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27" name="Google Shape;10227;p6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0228" name="Google Shape;10228;p6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9" name="Google Shape;10229;p6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230" name="Google Shape;10230;p6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231" name="Google Shape;10231;p6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232" name="Google Shape;10232;p6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233" name="Google Shape;10233;p6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34" name="Google Shape;10234;p6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0235" name="Google Shape;10235;p6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6" name="Google Shape;10236;p6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237" name="Google Shape;10237;p6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10238" name="Google Shape;10238;p6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39" name="Google Shape;10239;p6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0240" name="Google Shape;10240;p6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41" name="Google Shape;10241;p6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10242" name="Google Shape;10242;p6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3" name="Google Shape;10243;p6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244" name="Google Shape;10244;p6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245" name="Google Shape;10245;p6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246" name="Google Shape;10246;p6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247" name="Google Shape;10247;p6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248" name="Google Shape;10248;p6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249" name="Google Shape;10249;p6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250" name="Google Shape;10250;p6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251" name="Google Shape;10251;p6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252" name="Google Shape;10252;p6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253" name="Google Shape;10253;p6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254" name="Google Shape;10254;p6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255" name="Google Shape;10255;p6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256" name="Google Shape;10256;p6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257" name="Google Shape;10257;p6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258" name="Google Shape;10258;p6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259" name="Google Shape;10259;p6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260" name="Google Shape;10260;p6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261" name="Google Shape;10261;p6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262" name="Google Shape;10262;p6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263" name="Google Shape;10263;p6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64" name="Google Shape;10264;p6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265" name="Google Shape;10265;p6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266" name="Google Shape;10266;p6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267" name="Google Shape;10267;p6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268" name="Google Shape;10268;p6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10269" name="Google Shape;10269;p6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10270" name="Google Shape;10270;p6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271" name="Google Shape;10271;p6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$-390</a:t>
            </a:r>
            <a:endParaRPr/>
          </a:p>
        </p:txBody>
      </p:sp>
      <p:sp>
        <p:nvSpPr>
          <p:cNvPr id="10272" name="Google Shape;10272;p6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</a:t>
            </a:r>
            <a:endParaRPr/>
          </a:p>
        </p:txBody>
      </p:sp>
      <p:sp>
        <p:nvSpPr>
          <p:cNvPr id="10273" name="Google Shape;10273;p6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10274" name="Google Shape;10274;p6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5" name="Google Shape;10275;p6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6" name="Google Shape;10276;p6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7" name="Google Shape;10277;p6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10278" name="Google Shape;10278;p6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10279" name="Google Shape;10279;p6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10280" name="Google Shape;10280;p6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81" name="Google Shape;10281;p6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10282" name="Google Shape;10282;p6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10283" name="Google Shape;10283;p6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4" name="Google Shape;10284;p6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285" name="Google Shape;10285;p6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286" name="Google Shape;10286;p6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$31,849 YTD gross written premium</a:t>
            </a:r>
            <a:endParaRPr/>
          </a:p>
        </p:txBody>
      </p:sp>
      <p:sp>
        <p:nvSpPr>
          <p:cNvPr id="10287" name="Google Shape;10287;p6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288" name="Google Shape;10288;p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 in renewals - strong retention</a:t>
            </a:r>
            <a:endParaRPr/>
          </a:p>
        </p:txBody>
      </p:sp>
      <p:sp>
        <p:nvSpPr>
          <p:cNvPr id="10289" name="Google Shape;10289;p6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0" name="Google Shape;10290;p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291" name="Google Shape;10291;p6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292" name="Google Shape;10292;p6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2.6% hit ratio on 78 subs - needs coaching</a:t>
            </a:r>
            <a:endParaRPr/>
          </a:p>
        </p:txBody>
      </p:sp>
      <p:sp>
        <p:nvSpPr>
          <p:cNvPr id="10293" name="Google Shape;10293;p6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294" name="Google Shape;10294;p6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10295" name="Google Shape;10295;p6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6" name="Google Shape;10296;p6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297" name="Google Shape;10297;p6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298" name="Google Shape;10298;p6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(78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10299" name="Google Shape;10299;p6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300" name="Google Shape;10300;p6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04" name="Shape 10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5" name="Google Shape;10305;p6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6" name="Google Shape;10306;p6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Professionals, LLC</a:t>
            </a:r>
            <a:endParaRPr/>
          </a:p>
        </p:txBody>
      </p:sp>
      <p:sp>
        <p:nvSpPr>
          <p:cNvPr id="10307" name="Google Shape;10307;p6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Pahrump</a:t>
            </a:r>
            <a:endParaRPr/>
          </a:p>
        </p:txBody>
      </p:sp>
      <p:sp>
        <p:nvSpPr>
          <p:cNvPr id="10308" name="Google Shape;10308;p6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309" name="Google Shape;10309;p6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310" name="Google Shape;10310;p6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311" name="Google Shape;10311;p6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312" name="Google Shape;10312;p6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313" name="Google Shape;10313;p6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$191,089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314" name="Google Shape;10314;p6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$111,635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315" name="Google Shape;10315;p6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316" name="Google Shape;10316;p6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317" name="Google Shape;10317;p6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18" name="Google Shape;10318;p6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319" name="Google Shape;10319;p6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320" name="Google Shape;10320;p6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321" name="Google Shape;10321;p6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2" name="Google Shape;10322;p6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323" name="Google Shape;10323;p6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324" name="Google Shape;10324;p6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325" name="Google Shape;10325;p6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326" name="Google Shape;10326;p6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327" name="Google Shape;10327;p6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328" name="Google Shape;10328;p6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329" name="Google Shape;10329;p6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0" name="Google Shape;10330;p6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331" name="Google Shape;10331;p6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32" name="Google Shape;10332;p6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33" name="Google Shape;10333;p6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34" name="Google Shape;10334;p6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35" name="Google Shape;10335;p6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36" name="Google Shape;10336;p6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7" name="Google Shape;10337;p6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338" name="Google Shape;10338;p6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$4,302</a:t>
            </a:r>
            <a:endParaRPr/>
          </a:p>
        </p:txBody>
      </p:sp>
      <p:sp>
        <p:nvSpPr>
          <p:cNvPr id="10339" name="Google Shape;10339;p6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0" name="Google Shape;10340;p6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1" name="Google Shape;10341;p6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$4,302</a:t>
            </a:r>
            <a:endParaRPr/>
          </a:p>
        </p:txBody>
      </p:sp>
      <p:sp>
        <p:nvSpPr>
          <p:cNvPr id="10342" name="Google Shape;10342;p6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3" name="Google Shape;10343;p6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4" name="Google Shape;10344;p6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345" name="Google Shape;10345;p6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$7,001</a:t>
            </a:r>
            <a:endParaRPr/>
          </a:p>
        </p:txBody>
      </p:sp>
      <p:sp>
        <p:nvSpPr>
          <p:cNvPr id="10346" name="Google Shape;10346;p6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7" name="Google Shape;10347;p6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8" name="Google Shape;10348;p6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$7,001</a:t>
            </a:r>
            <a:endParaRPr/>
          </a:p>
        </p:txBody>
      </p:sp>
      <p:sp>
        <p:nvSpPr>
          <p:cNvPr id="10349" name="Google Shape;10349;p6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$-14,131</a:t>
            </a:r>
            <a:endParaRPr/>
          </a:p>
        </p:txBody>
      </p:sp>
      <p:sp>
        <p:nvSpPr>
          <p:cNvPr id="10350" name="Google Shape;10350;p6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1" name="Google Shape;10351;p6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352" name="Google Shape;10352;p6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3" name="Google Shape;10353;p6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4" name="Google Shape;10354;p6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5" name="Google Shape;10355;p6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6" name="Google Shape;10356;p6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7" name="Google Shape;10357;p6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8" name="Google Shape;10358;p6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359" name="Google Shape;10359;p6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0" name="Google Shape;10360;p6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1" name="Google Shape;10361;p6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2" name="Google Shape;10362;p6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3" name="Google Shape;10363;p6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4" name="Google Shape;10364;p6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5" name="Google Shape;10365;p6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366" name="Google Shape;10366;p6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</p:txBody>
      </p:sp>
      <p:sp>
        <p:nvSpPr>
          <p:cNvPr id="10367" name="Google Shape;10367;p6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8" name="Google Shape;10368;p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9" name="Google Shape;10369;p6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</p:txBody>
      </p:sp>
      <p:sp>
        <p:nvSpPr>
          <p:cNvPr id="10370" name="Google Shape;10370;p6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$-14,131</a:t>
            </a:r>
            <a:endParaRPr/>
          </a:p>
        </p:txBody>
      </p:sp>
      <p:sp>
        <p:nvSpPr>
          <p:cNvPr id="10371" name="Google Shape;10371;p6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2" name="Google Shape;10372;p6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373" name="Google Shape;10373;p6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374" name="Google Shape;10374;p6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75" name="Google Shape;10375;p6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376" name="Google Shape;10376;p6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377" name="Google Shape;10377;p6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78" name="Google Shape;10378;p6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379" name="Google Shape;10379;p6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0" name="Google Shape;10380;p6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381" name="Google Shape;10381;p6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382" name="Google Shape;10382;p6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83" name="Google Shape;10383;p6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384" name="Google Shape;10384;p6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85" name="Google Shape;10385;p6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86" name="Google Shape;10386;p6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7" name="Google Shape;10387;p6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388" name="Google Shape;10388;p6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389" name="Google Shape;10389;p6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90" name="Google Shape;10390;p6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391" name="Google Shape;10391;p6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92" name="Google Shape;10392;p6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0393" name="Google Shape;10393;p6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4" name="Google Shape;10394;p6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395" name="Google Shape;10395;p6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396" name="Google Shape;10396;p6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97" name="Google Shape;10397;p6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98" name="Google Shape;10398;p6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99" name="Google Shape;10399;p6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00" name="Google Shape;10400;p6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1" name="Google Shape;10401;p6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402" name="Google Shape;10402;p6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03" name="Google Shape;10403;p6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04" name="Google Shape;10404;p6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05" name="Google Shape;10405;p6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06" name="Google Shape;10406;p6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07" name="Google Shape;10407;p6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8" name="Google Shape;10408;p6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409" name="Google Shape;10409;p6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10" name="Google Shape;10410;p6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11" name="Google Shape;10411;p6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12" name="Google Shape;10412;p6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13" name="Google Shape;10413;p6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14" name="Google Shape;10414;p6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5" name="Google Shape;10415;p6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416" name="Google Shape;10416;p6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417" name="Google Shape;10417;p6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18" name="Google Shape;10418;p6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419" name="Google Shape;10419;p6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20" name="Google Shape;10420;p6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0421" name="Google Shape;10421;p6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2" name="Google Shape;10422;p6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423" name="Google Shape;10423;p6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424" name="Google Shape;10424;p6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425" name="Google Shape;10425;p6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426" name="Google Shape;10426;p6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427" name="Google Shape;10427;p6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428" name="Google Shape;10428;p6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429" name="Google Shape;10429;p6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430" name="Google Shape;10430;p6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431" name="Google Shape;10431;p6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432" name="Google Shape;10432;p6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433" name="Google Shape;10433;p6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434" name="Google Shape;10434;p6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435" name="Google Shape;10435;p6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436" name="Google Shape;10436;p6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437" name="Google Shape;10437;p6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438" name="Google Shape;10438;p6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439" name="Google Shape;10439;p6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40" name="Google Shape;10440;p6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441" name="Google Shape;10441;p6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42" name="Google Shape;10442;p6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443" name="Google Shape;10443;p6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444" name="Google Shape;10444;p6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45" name="Google Shape;10445;p6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446" name="Google Shape;10446;p6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47" name="Google Shape;10447;p6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448" name="Google Shape;10448;p6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449" name="Google Shape;10449;p6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450" name="Google Shape;10450;p6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1" name="Google Shape;10451;p6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2" name="Google Shape;10452;p6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</a:t>
            </a:r>
            <a:endParaRPr/>
          </a:p>
        </p:txBody>
      </p:sp>
      <p:sp>
        <p:nvSpPr>
          <p:cNvPr id="10453" name="Google Shape;10453;p6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10454" name="Google Shape;10454;p6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5" name="Google Shape;10455;p6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10456" name="Google Shape;10456;p6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10457" name="Google Shape;10457;p6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8" name="Google Shape;10458;p6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10459" name="Google Shape;10459;p6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0" name="Google Shape;10460;p6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10461" name="Google Shape;10461;p6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10462" name="Google Shape;10462;p6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3" name="Google Shape;10463;p6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464" name="Google Shape;10464;p6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465" name="Google Shape;10465;p6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 YTD gross written premium</a:t>
            </a:r>
            <a:endParaRPr/>
          </a:p>
        </p:txBody>
      </p:sp>
      <p:sp>
        <p:nvSpPr>
          <p:cNvPr id="10466" name="Google Shape;10466;p6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467" name="Google Shape;10467;p6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- highly active agency</a:t>
            </a:r>
            <a:endParaRPr/>
          </a:p>
        </p:txBody>
      </p:sp>
      <p:sp>
        <p:nvSpPr>
          <p:cNvPr id="10468" name="Google Shape;10468;p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9" name="Google Shape;10469;p6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470" name="Google Shape;10470;p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471" name="Google Shape;10471;p6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10472" name="Google Shape;10472;p6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3" name="Google Shape;10473;p6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474" name="Google Shape;10474;p6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475" name="Google Shape;10475;p6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79" name="Shape 10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0" name="Google Shape;10480;p6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1" name="Google Shape;10481;p6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 Destiny Insurance Services</a:t>
            </a:r>
            <a:endParaRPr/>
          </a:p>
        </p:txBody>
      </p:sp>
      <p:sp>
        <p:nvSpPr>
          <p:cNvPr id="10482" name="Google Shape;10482;p6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Fresno</a:t>
            </a:r>
            <a:endParaRPr/>
          </a:p>
        </p:txBody>
      </p:sp>
      <p:sp>
        <p:nvSpPr>
          <p:cNvPr id="10483" name="Google Shape;10483;p6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484" name="Google Shape;10484;p6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485" name="Google Shape;10485;p6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486" name="Google Shape;10486;p6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487" name="Google Shape;10487;p6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$-15,471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488" name="Google Shape;10488;p6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$162,597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489" name="Google Shape;10489;p6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490" name="Google Shape;10490;p6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491" name="Google Shape;10491;p6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492" name="Google Shape;10492;p6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493" name="Google Shape;10493;p6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94" name="Google Shape;10494;p6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495" name="Google Shape;10495;p6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$72,087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496" name="Google Shape;10496;p6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7" name="Google Shape;10497;p6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498" name="Google Shape;10498;p6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499" name="Google Shape;10499;p6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500" name="Google Shape;10500;p6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501" name="Google Shape;10501;p6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502" name="Google Shape;10502;p6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503" name="Google Shape;10503;p6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504" name="Google Shape;10504;p6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5" name="Google Shape;10505;p6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506" name="Google Shape;10506;p6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507" name="Google Shape;10507;p6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08" name="Google Shape;10508;p6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09" name="Google Shape;10509;p6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510" name="Google Shape;10510;p6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1" name="Google Shape;10511;p6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2" name="Google Shape;10512;p6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513" name="Google Shape;10513;p6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4" name="Google Shape;10514;p6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5" name="Google Shape;10515;p6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6" name="Google Shape;10516;p6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7" name="Google Shape;10517;p6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$-15,471</a:t>
            </a:r>
            <a:endParaRPr/>
          </a:p>
        </p:txBody>
      </p:sp>
      <p:sp>
        <p:nvSpPr>
          <p:cNvPr id="10518" name="Google Shape;10518;p6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9" name="Google Shape;10519;p6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520" name="Google Shape;10520;p6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1" name="Google Shape;10521;p6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2" name="Google Shape;10522;p6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3" name="Google Shape;10523;p6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4" name="Google Shape;10524;p6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5" name="Google Shape;10525;p6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6" name="Google Shape;10526;p6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527" name="Google Shape;10527;p6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8" name="Google Shape;10528;p6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9" name="Google Shape;10529;p6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0" name="Google Shape;10530;p6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1" name="Google Shape;10531;p6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2" name="Google Shape;10532;p6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3" name="Google Shape;10533;p6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534" name="Google Shape;10534;p6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5" name="Google Shape;10535;p6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6" name="Google Shape;10536;p6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7" name="Google Shape;10537;p6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8" name="Google Shape;10538;p6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39" name="Google Shape;10539;p6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0" name="Google Shape;10540;p6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541" name="Google Shape;10541;p6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542" name="Google Shape;10542;p6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43" name="Google Shape;10543;p6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44" name="Google Shape;10544;p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545" name="Google Shape;10545;p6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$-15,471</a:t>
            </a:r>
            <a:endParaRPr/>
          </a:p>
        </p:txBody>
      </p:sp>
      <p:sp>
        <p:nvSpPr>
          <p:cNvPr id="10546" name="Google Shape;10546;p6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7" name="Google Shape;10547;p6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548" name="Google Shape;10548;p6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549" name="Google Shape;10549;p6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550" name="Google Shape;10550;p6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551" name="Google Shape;10551;p6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552" name="Google Shape;10552;p6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553" name="Google Shape;10553;p6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554" name="Google Shape;10554;p6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5" name="Google Shape;10555;p6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556" name="Google Shape;10556;p6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557" name="Google Shape;10557;p6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8" name="Google Shape;10558;p6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559" name="Google Shape;10559;p6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60" name="Google Shape;10560;p6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0561" name="Google Shape;10561;p6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2" name="Google Shape;10562;p6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563" name="Google Shape;10563;p6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64" name="Google Shape;10564;p6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65" name="Google Shape;10565;p6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66" name="Google Shape;10566;p6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67" name="Google Shape;10567;p6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68" name="Google Shape;10568;p6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9" name="Google Shape;10569;p6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570" name="Google Shape;10570;p6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71" name="Google Shape;10571;p6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72" name="Google Shape;10572;p6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73" name="Google Shape;10573;p6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74" name="Google Shape;10574;p6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75" name="Google Shape;10575;p6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6" name="Google Shape;10576;p6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577" name="Google Shape;10577;p6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578" name="Google Shape;10578;p6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79" name="Google Shape;10579;p6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580" name="Google Shape;10580;p6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81" name="Google Shape;10581;p6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82" name="Google Shape;10582;p6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3" name="Google Shape;10583;p6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584" name="Google Shape;10584;p6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85" name="Google Shape;10585;p6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86" name="Google Shape;10586;p6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87" name="Google Shape;10587;p6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88" name="Google Shape;10588;p6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89" name="Google Shape;10589;p6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0" name="Google Shape;10590;p6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591" name="Google Shape;10591;p6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592" name="Google Shape;10592;p6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93" name="Google Shape;10593;p6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594" name="Google Shape;10594;p6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95" name="Google Shape;10595;p6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0596" name="Google Shape;10596;p6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7" name="Google Shape;10597;p6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598" name="Google Shape;10598;p6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599" name="Google Shape;10599;p6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600" name="Google Shape;10600;p6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601" name="Google Shape;10601;p6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602" name="Google Shape;10602;p6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603" name="Google Shape;10603;p6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604" name="Google Shape;10604;p6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605" name="Google Shape;10605;p6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606" name="Google Shape;10606;p6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607" name="Google Shape;10607;p6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608" name="Google Shape;10608;p6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609" name="Google Shape;10609;p6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610" name="Google Shape;10610;p6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611" name="Google Shape;10611;p6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612" name="Google Shape;10612;p6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13" name="Google Shape;10613;p6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614" name="Google Shape;10614;p6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615" name="Google Shape;10615;p6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16" name="Google Shape;10616;p6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17" name="Google Shape;10617;p6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18" name="Google Shape;10618;p6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619" name="Google Shape;10619;p6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20" name="Google Shape;10620;p6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621" name="Google Shape;10621;p6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2" name="Google Shape;10622;p6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0623" name="Google Shape;10623;p6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624" name="Google Shape;10624;p6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625" name="Google Shape;10625;p6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6" name="Google Shape;10626;p6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10627" name="Google Shape;10627;p6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8" name="Google Shape;10628;p6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9" name="Google Shape;10629;p6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0" name="Google Shape;10630;p6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1" name="Google Shape;10631;p6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$129K</a:t>
            </a:r>
            <a:endParaRPr/>
          </a:p>
        </p:txBody>
      </p:sp>
      <p:sp>
        <p:nvSpPr>
          <p:cNvPr id="10632" name="Google Shape;10632;p6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3" name="Google Shape;10633;p6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$-19,994</a:t>
            </a:r>
            <a:endParaRPr/>
          </a:p>
        </p:txBody>
      </p:sp>
      <p:sp>
        <p:nvSpPr>
          <p:cNvPr id="10634" name="Google Shape;10634;p6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5" name="Google Shape;10635;p6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10636" name="Google Shape;10636;p6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10637" name="Google Shape;10637;p6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8" name="Google Shape;10638;p6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639" name="Google Shape;10639;p6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640" name="Google Shape;10640;p6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 YTD gross written premium</a:t>
            </a:r>
            <a:endParaRPr/>
          </a:p>
        </p:txBody>
      </p:sp>
      <p:sp>
        <p:nvSpPr>
          <p:cNvPr id="10641" name="Google Shape;10641;p6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642" name="Google Shape;10642;p6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 hit ratio - above average conversion</a:t>
            </a:r>
            <a:endParaRPr/>
          </a:p>
        </p:txBody>
      </p:sp>
      <p:sp>
        <p:nvSpPr>
          <p:cNvPr id="10643" name="Google Shape;10643;p6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4" name="Google Shape;10644;p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645" name="Google Shape;10645;p6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646" name="Google Shape;10646;p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10647" name="Google Shape;10647;p6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648" name="Google Shape;10648;p6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10649" name="Google Shape;10649;p6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0" name="Google Shape;10650;p6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651" name="Google Shape;10651;p6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652" name="Google Shape;10652;p6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56" name="Shape 10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7" name="Google Shape;10657;p6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8" name="Google Shape;10658;p6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Cornerstone Insurance Solutions Inc. Dba: Cornerstone Premier Insurance Services</a:t>
            </a:r>
            <a:endParaRPr/>
          </a:p>
        </p:txBody>
      </p:sp>
      <p:sp>
        <p:nvSpPr>
          <p:cNvPr id="10659" name="Google Shape;10659;p6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Covina</a:t>
            </a:r>
            <a:endParaRPr/>
          </a:p>
        </p:txBody>
      </p:sp>
      <p:sp>
        <p:nvSpPr>
          <p:cNvPr id="10660" name="Google Shape;10660;p6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661" name="Google Shape;10661;p6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662" name="Google Shape;10662;p6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663" name="Google Shape;10663;p6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664" name="Google Shape;10664;p6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665" name="Google Shape;10665;p6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$144,555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666" name="Google Shape;10666;p6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$70,936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667" name="Google Shape;10667;p6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668" name="Google Shape;10668;p6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669" name="Google Shape;10669;p6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670" name="Google Shape;10670;p6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671" name="Google Shape;10671;p6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672" name="Google Shape;10672;p6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673" name="Google Shape;10673;p6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4" name="Google Shape;10674;p6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675" name="Google Shape;10675;p6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676" name="Google Shape;10676;p6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677" name="Google Shape;10677;p6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678" name="Google Shape;10678;p6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679" name="Google Shape;10679;p6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680" name="Google Shape;10680;p6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681" name="Google Shape;10681;p6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2" name="Google Shape;10682;p6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683" name="Google Shape;10683;p6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84" name="Google Shape;10684;p6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85" name="Google Shape;10685;p6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86" name="Google Shape;10686;p6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87" name="Google Shape;10687;p6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88" name="Google Shape;10688;p6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9" name="Google Shape;10689;p6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690" name="Google Shape;10690;p6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1" name="Google Shape;10691;p6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2" name="Google Shape;10692;p6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3" name="Google Shape;10693;p6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4" name="Google Shape;10694;p6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$-8,710</a:t>
            </a:r>
            <a:endParaRPr/>
          </a:p>
        </p:txBody>
      </p:sp>
      <p:sp>
        <p:nvSpPr>
          <p:cNvPr id="10695" name="Google Shape;10695;p6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6" name="Google Shape;10696;p6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697" name="Google Shape;10697;p6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</p:txBody>
      </p:sp>
      <p:sp>
        <p:nvSpPr>
          <p:cNvPr id="10698" name="Google Shape;10698;p6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</p:txBody>
      </p:sp>
      <p:sp>
        <p:nvSpPr>
          <p:cNvPr id="10699" name="Google Shape;10699;p6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0" name="Google Shape;10700;p6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1" name="Google Shape;10701;p6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2" name="Google Shape;10702;p6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3" name="Google Shape;10703;p6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704" name="Google Shape;10704;p6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5" name="Google Shape;10705;p6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6" name="Google Shape;10706;p6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7" name="Google Shape;10707;p6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8" name="Google Shape;10708;p6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9" name="Google Shape;10709;p6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0" name="Google Shape;10710;p6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711" name="Google Shape;10711;p6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12" name="Google Shape;10712;p6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13" name="Google Shape;10713;p6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14" name="Google Shape;10714;p6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15" name="Google Shape;10715;p6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16" name="Google Shape;10716;p6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7" name="Google Shape;10717;p6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718" name="Google Shape;10718;p6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</p:txBody>
      </p:sp>
      <p:sp>
        <p:nvSpPr>
          <p:cNvPr id="10719" name="Google Shape;10719;p6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</p:txBody>
      </p:sp>
      <p:sp>
        <p:nvSpPr>
          <p:cNvPr id="10720" name="Google Shape;10720;p6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21" name="Google Shape;10721;p6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22" name="Google Shape;10722;p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$-8,710</a:t>
            </a:r>
            <a:endParaRPr/>
          </a:p>
        </p:txBody>
      </p:sp>
      <p:sp>
        <p:nvSpPr>
          <p:cNvPr id="10723" name="Google Shape;10723;p6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4" name="Google Shape;10724;p6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725" name="Google Shape;10725;p6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726" name="Google Shape;10726;p6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727" name="Google Shape;10727;p6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728" name="Google Shape;10728;p6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729" name="Google Shape;10729;p6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730" name="Google Shape;10730;p6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731" name="Google Shape;10731;p6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2" name="Google Shape;10732;p6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733" name="Google Shape;10733;p6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34" name="Google Shape;10734;p6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35" name="Google Shape;10735;p6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36" name="Google Shape;10736;p6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37" name="Google Shape;10737;p6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38" name="Google Shape;10738;p6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9" name="Google Shape;10739;p6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740" name="Google Shape;10740;p6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41" name="Google Shape;10741;p6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42" name="Google Shape;10742;p6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43" name="Google Shape;10743;p6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44" name="Google Shape;10744;p6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45" name="Google Shape;10745;p6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6" name="Google Shape;10746;p6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747" name="Google Shape;10747;p6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48" name="Google Shape;10748;p6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49" name="Google Shape;10749;p6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50" name="Google Shape;10750;p6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51" name="Google Shape;10751;p6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10752" name="Google Shape;10752;p6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3" name="Google Shape;10753;p6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754" name="Google Shape;10754;p6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55" name="Google Shape;10755;p6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56" name="Google Shape;10756;p6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57" name="Google Shape;10757;p6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58" name="Google Shape;10758;p6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59" name="Google Shape;10759;p6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0" name="Google Shape;10760;p6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761" name="Google Shape;10761;p6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762" name="Google Shape;10762;p6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63" name="Google Shape;10763;p6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764" name="Google Shape;10764;p6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65" name="Google Shape;10765;p6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66" name="Google Shape;10766;p6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7" name="Google Shape;10767;p6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768" name="Google Shape;10768;p6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769" name="Google Shape;10769;p6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70" name="Google Shape;10770;p6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771" name="Google Shape;10771;p6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72" name="Google Shape;10772;p6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0773" name="Google Shape;10773;p6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4" name="Google Shape;10774;p6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775" name="Google Shape;10775;p6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776" name="Google Shape;10776;p6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777" name="Google Shape;10777;p6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778" name="Google Shape;10778;p6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779" name="Google Shape;10779;p6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780" name="Google Shape;10780;p6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781" name="Google Shape;10781;p6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782" name="Google Shape;10782;p6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783" name="Google Shape;10783;p6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784" name="Google Shape;10784;p6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785" name="Google Shape;10785;p6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786" name="Google Shape;10786;p6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787" name="Google Shape;10787;p6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788" name="Google Shape;10788;p6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789" name="Google Shape;10789;p6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790" name="Google Shape;10790;p6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91" name="Google Shape;10791;p6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792" name="Google Shape;10792;p6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93" name="Google Shape;10793;p6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794" name="Google Shape;10794;p6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95" name="Google Shape;10795;p6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796" name="Google Shape;10796;p6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97" name="Google Shape;10797;p6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798" name="Google Shape;10798;p6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799" name="Google Shape;10799;p6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0800" name="Google Shape;10800;p6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801" name="Google Shape;10801;p6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802" name="Google Shape;10802;p6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03" name="Google Shape;10803;p6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04" name="Google Shape;10804;p6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05" name="Google Shape;10805;p6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06" name="Google Shape;10806;p6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10807" name="Google Shape;10807;p6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10808" name="Google Shape;10808;p6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10809" name="Google Shape;10809;p6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10" name="Google Shape;10810;p6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10811" name="Google Shape;10811;p6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12" name="Google Shape;10812;p6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10813" name="Google Shape;10813;p6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10814" name="Google Shape;10814;p6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5" name="Google Shape;10815;p6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816" name="Google Shape;10816;p6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817" name="Google Shape;10817;p6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 YTD gross written premium</a:t>
            </a:r>
            <a:endParaRPr/>
          </a:p>
        </p:txBody>
      </p:sp>
      <p:sp>
        <p:nvSpPr>
          <p:cNvPr id="10818" name="Google Shape;10818;p6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819" name="Google Shape;10819;p6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 in new business production</a:t>
            </a:r>
            <a:endParaRPr/>
          </a:p>
        </p:txBody>
      </p:sp>
      <p:sp>
        <p:nvSpPr>
          <p:cNvPr id="10820" name="Google Shape;10820;p6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1" name="Google Shape;10821;p6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822" name="Google Shape;10822;p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823" name="Google Shape;10823;p6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174% of new business ($8,710)</a:t>
            </a:r>
            <a:endParaRPr/>
          </a:p>
        </p:txBody>
      </p:sp>
      <p:sp>
        <p:nvSpPr>
          <p:cNvPr id="10824" name="Google Shape;10824;p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5" name="Google Shape;10825;p6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826" name="Google Shape;10826;p6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827" name="Google Shape;10827;p6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$4,995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10828" name="Google Shape;10828;p6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829" name="Google Shape;10829;p6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$8,710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33" name="Shape 10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4" name="Google Shape;10834;p6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5" name="Google Shape;10835;p6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Davis &amp; Associates Insurance Agency LLC</a:t>
            </a:r>
            <a:endParaRPr/>
          </a:p>
        </p:txBody>
      </p:sp>
      <p:sp>
        <p:nvSpPr>
          <p:cNvPr id="10836" name="Google Shape;10836;p6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Las Vegas</a:t>
            </a:r>
            <a:endParaRPr/>
          </a:p>
        </p:txBody>
      </p:sp>
      <p:sp>
        <p:nvSpPr>
          <p:cNvPr id="10837" name="Google Shape;10837;p6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838" name="Google Shape;10838;p6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839" name="Google Shape;10839;p6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840" name="Google Shape;10840;p6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841" name="Google Shape;10841;p6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$-21,595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842" name="Google Shape;10842;p6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$340,383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843" name="Google Shape;10843;p6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844" name="Google Shape;10844;p6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845" name="Google Shape;10845;p6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846" name="Google Shape;10846;p6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847" name="Google Shape;10847;p6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848" name="Google Shape;10848;p6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849" name="Google Shape;10849;p6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850" name="Google Shape;10850;p6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1" name="Google Shape;10851;p6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852" name="Google Shape;10852;p6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853" name="Google Shape;10853;p6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854" name="Google Shape;10854;p6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855" name="Google Shape;10855;p6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856" name="Google Shape;10856;p6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857" name="Google Shape;10857;p6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858" name="Google Shape;10858;p6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9" name="Google Shape;10859;p6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860" name="Google Shape;10860;p6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1" name="Google Shape;10861;p6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2" name="Google Shape;10862;p6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3" name="Google Shape;10863;p6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4" name="Google Shape;10864;p6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$-11,137</a:t>
            </a:r>
            <a:endParaRPr/>
          </a:p>
        </p:txBody>
      </p:sp>
      <p:sp>
        <p:nvSpPr>
          <p:cNvPr id="10865" name="Google Shape;10865;p6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6" name="Google Shape;10866;p6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867" name="Google Shape;10867;p6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8" name="Google Shape;10868;p6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9" name="Google Shape;10869;p6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0" name="Google Shape;10870;p6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1" name="Google Shape;10871;p6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$-10,458</a:t>
            </a:r>
            <a:endParaRPr/>
          </a:p>
        </p:txBody>
      </p:sp>
      <p:sp>
        <p:nvSpPr>
          <p:cNvPr id="10872" name="Google Shape;10872;p6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3" name="Google Shape;10873;p6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874" name="Google Shape;10874;p6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5" name="Google Shape;10875;p6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6" name="Google Shape;10876;p6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7" name="Google Shape;10877;p6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8" name="Google Shape;10878;p6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9" name="Google Shape;10879;p6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0" name="Google Shape;10880;p6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881" name="Google Shape;10881;p6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882" name="Google Shape;10882;p6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83" name="Google Shape;10883;p6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84" name="Google Shape;10884;p6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885" name="Google Shape;10885;p6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86" name="Google Shape;10886;p6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7" name="Google Shape;10887;p6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888" name="Google Shape;10888;p6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89" name="Google Shape;10889;p6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90" name="Google Shape;10890;p6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91" name="Google Shape;10891;p6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92" name="Google Shape;10892;p6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93" name="Google Shape;10893;p6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4" name="Google Shape;10894;p6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895" name="Google Shape;10895;p6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896" name="Google Shape;10896;p6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97" name="Google Shape;10897;p6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98" name="Google Shape;10898;p6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899" name="Google Shape;10899;p6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$-21,595</a:t>
            </a:r>
            <a:endParaRPr/>
          </a:p>
        </p:txBody>
      </p:sp>
      <p:sp>
        <p:nvSpPr>
          <p:cNvPr id="10900" name="Google Shape;10900;p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1" name="Google Shape;10901;p6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902" name="Google Shape;10902;p6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903" name="Google Shape;10903;p6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904" name="Google Shape;10904;p6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905" name="Google Shape;10905;p6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906" name="Google Shape;10906;p6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907" name="Google Shape;10907;p6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908" name="Google Shape;10908;p6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9" name="Google Shape;10909;p6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910" name="Google Shape;10910;p6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911" name="Google Shape;10911;p6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2" name="Google Shape;10912;p6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913" name="Google Shape;10913;p6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4" name="Google Shape;10914;p6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15" name="Google Shape;10915;p6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6" name="Google Shape;10916;p6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917" name="Google Shape;10917;p6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918" name="Google Shape;10918;p6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9" name="Google Shape;10919;p6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920" name="Google Shape;10920;p6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21" name="Google Shape;10921;p6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22" name="Google Shape;10922;p6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3" name="Google Shape;10923;p6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924" name="Google Shape;10924;p6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925" name="Google Shape;10925;p6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26" name="Google Shape;10926;p6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927" name="Google Shape;10927;p6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28" name="Google Shape;10928;p6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29" name="Google Shape;10929;p6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0" name="Google Shape;10930;p6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931" name="Google Shape;10931;p6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932" name="Google Shape;10932;p6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33" name="Google Shape;10933;p6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934" name="Google Shape;10934;p6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35" name="Google Shape;10935;p6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36" name="Google Shape;10936;p6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7" name="Google Shape;10937;p6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938" name="Google Shape;10938;p6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39" name="Google Shape;10939;p6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40" name="Google Shape;10940;p6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41" name="Google Shape;10941;p6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42" name="Google Shape;10942;p6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43" name="Google Shape;10943;p6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4" name="Google Shape;10944;p6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945" name="Google Shape;10945;p6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10946" name="Google Shape;10946;p6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47" name="Google Shape;10947;p6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0948" name="Google Shape;10948;p6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49" name="Google Shape;10949;p6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50" name="Google Shape;10950;p6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1" name="Google Shape;10951;p6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952" name="Google Shape;10952;p6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953" name="Google Shape;10953;p6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954" name="Google Shape;10954;p6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955" name="Google Shape;10955;p6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956" name="Google Shape;10956;p6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957" name="Google Shape;10957;p6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958" name="Google Shape;10958;p6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959" name="Google Shape;10959;p6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960" name="Google Shape;10960;p6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961" name="Google Shape;10961;p6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962" name="Google Shape;10962;p6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963" name="Google Shape;10963;p6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964" name="Google Shape;10964;p6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965" name="Google Shape;10965;p6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966" name="Google Shape;10966;p6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967" name="Google Shape;10967;p6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968" name="Google Shape;10968;p6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0969" name="Google Shape;10969;p6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970" name="Google Shape;10970;p6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971" name="Google Shape;10971;p6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972" name="Google Shape;10972;p6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0973" name="Google Shape;10973;p6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974" name="Google Shape;10974;p6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10975" name="Google Shape;10975;p6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76" name="Google Shape;10976;p6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0977" name="Google Shape;10977;p6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10978" name="Google Shape;10978;p6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979" name="Google Shape;10979;p6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10980" name="Google Shape;10980;p6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81" name="Google Shape;10981;p6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82" name="Google Shape;10982;p6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83" name="Google Shape;10983;p6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10984" name="Google Shape;10984;p6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85" name="Google Shape;10985;p6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10986" name="Google Shape;10986;p6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987" name="Google Shape;10987;p6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$101K</a:t>
            </a:r>
            <a:endParaRPr/>
          </a:p>
        </p:txBody>
      </p:sp>
      <p:sp>
        <p:nvSpPr>
          <p:cNvPr id="10988" name="Google Shape;10988;p6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89" name="Google Shape;10989;p6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$161K</a:t>
            </a:r>
            <a:endParaRPr/>
          </a:p>
        </p:txBody>
      </p:sp>
      <p:sp>
        <p:nvSpPr>
          <p:cNvPr id="10990" name="Google Shape;10990;p6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991" name="Google Shape;10991;p6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2" name="Google Shape;10992;p6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993" name="Google Shape;10993;p6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994" name="Google Shape;10994;p6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 submissions - highly active agency</a:t>
            </a:r>
            <a:endParaRPr/>
          </a:p>
        </p:txBody>
      </p:sp>
      <p:sp>
        <p:nvSpPr>
          <p:cNvPr id="10995" name="Google Shape;10995;p6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996" name="Google Shape;10996;p6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 quotes generated - active in pipeline</a:t>
            </a:r>
            <a:endParaRPr/>
          </a:p>
        </p:txBody>
      </p:sp>
      <p:sp>
        <p:nvSpPr>
          <p:cNvPr id="10997" name="Google Shape;10997;p6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8" name="Google Shape;10998;p6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999" name="Google Shape;10999;p6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000" name="Google Shape;11000;p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($-821) - cancellations exceed production</a:t>
            </a:r>
            <a:endParaRPr/>
          </a:p>
        </p:txBody>
      </p:sp>
      <p:sp>
        <p:nvSpPr>
          <p:cNvPr id="11001" name="Google Shape;11001;p6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002" name="Google Shape;11002;p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 submissions with zero binds - zero conversion</a:t>
            </a:r>
            <a:endParaRPr/>
          </a:p>
        </p:txBody>
      </p:sp>
      <p:sp>
        <p:nvSpPr>
          <p:cNvPr id="11003" name="Google Shape;11003;p6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4" name="Google Shape;11004;p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005" name="Google Shape;11005;p6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006" name="Google Shape;11006;p6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95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1007" name="Google Shape;11007;p6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008" name="Google Shape;11008;p6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12" name="Shape 1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3" name="Google Shape;11013;p6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4" name="Google Shape;11014;p6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Century One Insurance Services, Llc</a:t>
            </a:r>
            <a:endParaRPr/>
          </a:p>
        </p:txBody>
      </p:sp>
      <p:sp>
        <p:nvSpPr>
          <p:cNvPr id="11015" name="Google Shape;11015;p6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Studio City</a:t>
            </a:r>
            <a:endParaRPr/>
          </a:p>
        </p:txBody>
      </p:sp>
      <p:sp>
        <p:nvSpPr>
          <p:cNvPr id="11016" name="Google Shape;11016;p6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017" name="Google Shape;11017;p6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018" name="Google Shape;11018;p6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019" name="Google Shape;11019;p6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020" name="Google Shape;11020;p6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021" name="Google Shape;11021;p6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1022" name="Google Shape;11022;p6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$134,244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23" name="Google Shape;11023;p6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024" name="Google Shape;11024;p6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025" name="Google Shape;11025;p6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026" name="Google Shape;11026;p6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027" name="Google Shape;11027;p6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028" name="Google Shape;11028;p6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1029" name="Google Shape;11029;p6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0" name="Google Shape;11030;p6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1031" name="Google Shape;11031;p6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032" name="Google Shape;11032;p6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1033" name="Google Shape;11033;p6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034" name="Google Shape;11034;p6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035" name="Google Shape;11035;p6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036" name="Google Shape;11036;p6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037" name="Google Shape;11037;p6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8" name="Google Shape;11038;p6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039" name="Google Shape;11039;p6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$-18,462</a:t>
            </a:r>
            <a:endParaRPr/>
          </a:p>
        </p:txBody>
      </p:sp>
      <p:sp>
        <p:nvSpPr>
          <p:cNvPr id="11040" name="Google Shape;11040;p6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1" name="Google Shape;11041;p6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2" name="Google Shape;11042;p6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$-18,462</a:t>
            </a:r>
            <a:endParaRPr/>
          </a:p>
        </p:txBody>
      </p:sp>
      <p:sp>
        <p:nvSpPr>
          <p:cNvPr id="11043" name="Google Shape;11043;p6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4" name="Google Shape;11044;p6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5" name="Google Shape;11045;p6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046" name="Google Shape;11046;p6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$21,858</a:t>
            </a:r>
            <a:endParaRPr/>
          </a:p>
        </p:txBody>
      </p:sp>
      <p:sp>
        <p:nvSpPr>
          <p:cNvPr id="11047" name="Google Shape;11047;p6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8" name="Google Shape;11048;p6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</a:t>
            </a:r>
            <a:endParaRPr/>
          </a:p>
        </p:txBody>
      </p:sp>
      <p:sp>
        <p:nvSpPr>
          <p:cNvPr id="11049" name="Google Shape;11049;p6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$1,041</a:t>
            </a:r>
            <a:endParaRPr/>
          </a:p>
        </p:txBody>
      </p:sp>
      <p:sp>
        <p:nvSpPr>
          <p:cNvPr id="11050" name="Google Shape;11050;p6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1" name="Google Shape;11051;p6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2" name="Google Shape;11052;p6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053" name="Google Shape;11053;p6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11054" name="Google Shape;11054;p6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5" name="Google Shape;11055;p6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6" name="Google Shape;11056;p6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11057" name="Google Shape;11057;p6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8" name="Google Shape;11058;p6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9" name="Google Shape;11059;p6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060" name="Google Shape;11060;p6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$-15,309</a:t>
            </a:r>
            <a:endParaRPr/>
          </a:p>
        </p:txBody>
      </p:sp>
      <p:sp>
        <p:nvSpPr>
          <p:cNvPr id="11061" name="Google Shape;11061;p6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2" name="Google Shape;11062;p6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3" name="Google Shape;11063;p6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$-15,309</a:t>
            </a:r>
            <a:endParaRPr/>
          </a:p>
        </p:txBody>
      </p:sp>
      <p:sp>
        <p:nvSpPr>
          <p:cNvPr id="11064" name="Google Shape;11064;p6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$-1,064</a:t>
            </a:r>
            <a:endParaRPr/>
          </a:p>
        </p:txBody>
      </p:sp>
      <p:sp>
        <p:nvSpPr>
          <p:cNvPr id="11065" name="Google Shape;11065;p6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6" name="Google Shape;11066;p6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067" name="Google Shape;11067;p6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8" name="Google Shape;11068;p6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9" name="Google Shape;11069;p6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70" name="Google Shape;11070;p6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71" name="Google Shape;11071;p6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$-17,496</a:t>
            </a:r>
            <a:endParaRPr/>
          </a:p>
        </p:txBody>
      </p:sp>
      <p:sp>
        <p:nvSpPr>
          <p:cNvPr id="11072" name="Google Shape;11072;p6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3" name="Google Shape;11073;p6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074" name="Google Shape;11074;p6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$-11,735</a:t>
            </a:r>
            <a:endParaRPr/>
          </a:p>
        </p:txBody>
      </p:sp>
      <p:sp>
        <p:nvSpPr>
          <p:cNvPr id="11075" name="Google Shape;11075;p6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76" name="Google Shape;11076;p6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</a:t>
            </a:r>
            <a:endParaRPr/>
          </a:p>
        </p:txBody>
      </p:sp>
      <p:sp>
        <p:nvSpPr>
          <p:cNvPr id="11077" name="Google Shape;11077;p6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$-32,552</a:t>
            </a:r>
            <a:endParaRPr/>
          </a:p>
        </p:txBody>
      </p:sp>
      <p:sp>
        <p:nvSpPr>
          <p:cNvPr id="11078" name="Google Shape;11078;p6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$-18,560</a:t>
            </a:r>
            <a:endParaRPr/>
          </a:p>
        </p:txBody>
      </p:sp>
      <p:sp>
        <p:nvSpPr>
          <p:cNvPr id="11079" name="Google Shape;11079;p6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0" name="Google Shape;11080;p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1081" name="Google Shape;11081;p6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082" name="Google Shape;11082;p6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1083" name="Google Shape;11083;p6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1084" name="Google Shape;11084;p6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1085" name="Google Shape;11085;p6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086" name="Google Shape;11086;p6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087" name="Google Shape;11087;p6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8" name="Google Shape;11088;p6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089" name="Google Shape;11089;p6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090" name="Google Shape;11090;p6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91" name="Google Shape;11091;p6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092" name="Google Shape;11092;p6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093" name="Google Shape;11093;p6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11094" name="Google Shape;11094;p6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5" name="Google Shape;11095;p6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096" name="Google Shape;11096;p6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097" name="Google Shape;11097;p6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98" name="Google Shape;11098;p6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099" name="Google Shape;11099;p6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00" name="Google Shape;11100;p6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1101" name="Google Shape;11101;p6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2" name="Google Shape;11102;p6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103" name="Google Shape;11103;p6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104" name="Google Shape;11104;p6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05" name="Google Shape;11105;p6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106" name="Google Shape;11106;p6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07" name="Google Shape;11107;p6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1108" name="Google Shape;11108;p6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9" name="Google Shape;11109;p6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110" name="Google Shape;11110;p6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11" name="Google Shape;11111;p6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2" name="Google Shape;11112;p6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13" name="Google Shape;11113;p6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4" name="Google Shape;11114;p6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15" name="Google Shape;11115;p6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6" name="Google Shape;11116;p6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117" name="Google Shape;11117;p6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18" name="Google Shape;11118;p6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9" name="Google Shape;11119;p6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20" name="Google Shape;11120;p6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21" name="Google Shape;11121;p6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22" name="Google Shape;11122;p6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3" name="Google Shape;11123;p6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124" name="Google Shape;11124;p6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125" name="Google Shape;11125;p6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26" name="Google Shape;11126;p6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1127" name="Google Shape;11127;p6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28" name="Google Shape;11128;p6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1129" name="Google Shape;11129;p6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0" name="Google Shape;11130;p6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1131" name="Google Shape;11131;p6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132" name="Google Shape;11132;p6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1133" name="Google Shape;11133;p6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1134" name="Google Shape;11134;p6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1135" name="Google Shape;11135;p6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1136" name="Google Shape;11136;p6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1137" name="Google Shape;11137;p6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1138" name="Google Shape;11138;p6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1139" name="Google Shape;11139;p6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1140" name="Google Shape;11140;p6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1141" name="Google Shape;11141;p6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1142" name="Google Shape;11142;p6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1143" name="Google Shape;11143;p6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1144" name="Google Shape;11144;p6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145" name="Google Shape;11145;p6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46" name="Google Shape;11146;p6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47" name="Google Shape;11147;p6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148" name="Google Shape;11148;p6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49" name="Google Shape;11149;p6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50" name="Google Shape;11150;p6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151" name="Google Shape;11151;p6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1152" name="Google Shape;11152;p6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53" name="Google Shape;11153;p6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54" name="Google Shape;11154;p6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55" name="Google Shape;11155;p6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156" name="Google Shape;11156;p6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157" name="Google Shape;11157;p6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1158" name="Google Shape;11158;p6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11159" name="Google Shape;11159;p6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$-18,462</a:t>
            </a:r>
            <a:endParaRPr/>
          </a:p>
        </p:txBody>
      </p:sp>
      <p:sp>
        <p:nvSpPr>
          <p:cNvPr id="11160" name="Google Shape;11160;p6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11161" name="Google Shape;11161;p6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11162" name="Google Shape;11162;p6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$-16,543</a:t>
            </a:r>
            <a:endParaRPr/>
          </a:p>
        </p:txBody>
      </p:sp>
      <p:sp>
        <p:nvSpPr>
          <p:cNvPr id="11163" name="Google Shape;11163;p6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11164" name="Google Shape;11164;p6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11165" name="Google Shape;11165;p6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$-15,309</a:t>
            </a:r>
            <a:endParaRPr/>
          </a:p>
        </p:txBody>
      </p:sp>
      <p:sp>
        <p:nvSpPr>
          <p:cNvPr id="11166" name="Google Shape;11166;p6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</a:t>
            </a:r>
            <a:endParaRPr/>
          </a:p>
        </p:txBody>
      </p:sp>
      <p:sp>
        <p:nvSpPr>
          <p:cNvPr id="11167" name="Google Shape;11167;p6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68" name="Google Shape;11168;p6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11169" name="Google Shape;11169;p6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$-11,735</a:t>
            </a:r>
            <a:endParaRPr/>
          </a:p>
        </p:txBody>
      </p:sp>
      <p:sp>
        <p:nvSpPr>
          <p:cNvPr id="11170" name="Google Shape;11170;p6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1" name="Google Shape;11171;p6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1172" name="Google Shape;11172;p6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173" name="Google Shape;11173;p6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 in renewals - strong retention</a:t>
            </a:r>
            <a:endParaRPr/>
          </a:p>
        </p:txBody>
      </p:sp>
      <p:sp>
        <p:nvSpPr>
          <p:cNvPr id="11174" name="Google Shape;11174;p6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175" name="Google Shape;11175;p6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 hit ratio - above average conversion</a:t>
            </a:r>
            <a:endParaRPr/>
          </a:p>
        </p:txBody>
      </p:sp>
      <p:sp>
        <p:nvSpPr>
          <p:cNvPr id="11176" name="Google Shape;11176;p6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7" name="Google Shape;11177;p6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1178" name="Google Shape;11178;p6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179" name="Google Shape;11179;p6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($-11,735) - cancellations exceed production</a:t>
            </a:r>
            <a:endParaRPr/>
          </a:p>
        </p:txBody>
      </p:sp>
      <p:sp>
        <p:nvSpPr>
          <p:cNvPr id="11180" name="Google Shape;11180;p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1" name="Google Shape;11181;p6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182" name="Google Shape;11182;p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183" name="Google Shape;11183;p6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11184" name="Google Shape;11184;p6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185" name="Google Shape;11185;p6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