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B5CF6"/>
                </a:solidFill>
                <a:latin typeface="Segoe UI"/>
              </a:defRPr>
            </a:pPr>
            <a:r>
              <a:t>COVER WHALE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Portia Lewis - Agency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4B5FD"/>
                </a:solidFill>
                <a:latin typeface="Segoe UI"/>
              </a:defRPr>
            </a:pPr>
            <a:r>
              <a:t>Jan–May 2026  |  Generated May 27, 2026  |  53 Agencies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Portia Lewis - 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53 Total Agencies  |  47 Active  |  6 Inactive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Agencies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08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(YTD)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$2,220,149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$1,658,243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76872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$100,776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$461,129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96728" y="868680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$-744,362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3973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Binds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7016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66944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2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Binds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3653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Subs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1389888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Binds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$3,790,370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$4,273,559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7016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$4,548,444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Annual Goal (40%)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66944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49%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76872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$648,590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$1,257,068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Non-Fleet Bound Prem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96728" y="1911095"/>
            <a:ext cx="1627632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11.9%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Retention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14600"/>
            <a:ext cx="7863840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532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TOP AGENCIES BY YTD GWP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862072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2862072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286207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 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862072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Renewals $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6207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8620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026664"/>
            <a:ext cx="7498079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08152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79" y="3081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$841,733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3081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$525,662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081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$44,107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30815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81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8152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27355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2826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328269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$171,604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28269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$133,703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328269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282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28269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348386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79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$162,392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31920" y="348386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$152,140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348386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4838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34838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348386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675888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68503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Zenith Insurance Partners, Inc.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36850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$140,015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68503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$117,226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6320" y="368503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368503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80" y="36850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0" y="368503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79" y="388620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$106,203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$89,533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3886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0" y="38862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12280" y="38862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0" y="38862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078224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0873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79" y="408736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0873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0" y="408736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0" y="408736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12280" y="408736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40873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428853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42885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$84,029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31920" y="428853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$31,402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46320" y="428853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$16,297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0" y="428853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1792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42885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15200" y="428853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480560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" y="448970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Insurance &amp; Beyond Llc Dba Elite In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26079" y="44897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$82,299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44897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$81,152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46320" y="4489704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0" y="448970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44897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0" y="4489704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469087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79" y="469087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$65,569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469087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$60,686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469087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9280" y="46908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12280" y="469087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15200" y="4690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65760" y="4882896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American Insurance Brokers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79" y="489204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4892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46320" y="489204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0" y="48920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1792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12280" y="48920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4892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65760" y="50932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6079" y="509320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$55,201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931920" y="509320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$55,841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46320" y="509320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0" y="509320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1792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2280" y="50932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315200" y="509320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285232"/>
            <a:ext cx="7498079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65760" y="52943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D28D9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926079" y="529437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$46,912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931920" y="52943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$24,611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46320" y="5294376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0" y="5294376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12280" y="52943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315200" y="5294376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29600" y="2514600"/>
            <a:ext cx="3749039" cy="292608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21040" y="25328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MONTHLY SUMMARY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27532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2862072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2862072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4128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744200" y="2862072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201400" y="286207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HR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275320" y="3026664"/>
            <a:ext cx="3566160" cy="731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7532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732520" y="30815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$526,954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509760" y="30815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$191,905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24128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799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44200" y="308152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01400" y="308152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7532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732520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$600,203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509760" y="333756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$188,133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24128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826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44200" y="333756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01400" y="3337560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7532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32520" y="35935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$1,135,271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09760" y="359359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$392,607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24128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744200" y="35935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201400" y="359359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27532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732520" y="3849624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$1,211,463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509760" y="38496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$572,833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24128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898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744200" y="38496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201400" y="3849624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7532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32520" y="410565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$707,254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509760" y="410565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$312,766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24128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105656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201400" y="4105656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8275320" y="4325112"/>
            <a:ext cx="356616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27532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732520" y="436168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$2,220,149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436168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$1,658,243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24128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3973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3616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201400" y="4361688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229600" y="4773168"/>
            <a:ext cx="3749039" cy="29260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321040" y="47914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2626"/>
                </a:solidFill>
                <a:latin typeface="Segoe UI"/>
              </a:defRPr>
            </a:pPr>
            <a:r>
              <a:t>INACTIVE AGENCIES (6)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8321040" y="51206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Allstars Insurance Partners, Inc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321040" y="53035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Assured Insurance Consultants, LLC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21040" y="54864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Clark Farley Insurance Agency - A Rela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321040" y="566928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Lake Marion Agency LLC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21040" y="585216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Paramount Trucking Specialist Llc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321040" y="603504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Patrick Phillips Insurance Agency,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OKR Scoreboard — Portia Lewis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BDA OKRs  |  Q2 measure (paced where applicable)  |  Matches BD Rep Scoreboard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960120"/>
            <a:ext cx="3200400" cy="1371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03327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Segoe UI"/>
              </a:defRPr>
            </a:pPr>
            <a:r>
              <a:t>86.2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91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280"/>
                </a:solidFill>
                <a:latin typeface="Segoe UI"/>
              </a:defRPr>
            </a:pPr>
            <a:r>
              <a:t>COMPOSITE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Segoe UI"/>
              </a:defRPr>
            </a:pPr>
            <a:r>
              <a:t>Green ≥ 70  |  Amber 45-69  |  Red &lt;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96012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6012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07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Subs YoY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673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≥+50%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+167%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51760"/>
            <a:ext cx="91440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92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Activity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Goal ≥ 100% (50/wk)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59%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8138160" cy="16002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91440" cy="160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280"/>
                </a:solidFill>
                <a:latin typeface="Segoe UI"/>
              </a:defRPr>
            </a:pPr>
            <a:r>
              <a:t>OKR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690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  <a:latin typeface="Segoe UI"/>
              </a:defRPr>
            </a:pPr>
            <a:r>
              <a:t>Portfolio Active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56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47 of 53 agencies  |  Goal 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26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59669"/>
                </a:solidFill>
                <a:latin typeface="Segoe UI"/>
              </a:defRPr>
            </a:pPr>
            <a:r>
              <a:t>89%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OKR 1: Q2 paced subs YoY — current Q2-YTD subs ÷ days-elapsed × 91 vs prior full Q2 (Apr–Jun 2025)  |  OKR 2: Q2 avg weekly calls + meetings vs 50/wk goal (outbound calls + meetings only, matches scoreboard)  |  OKR 3: % of HubSpot book with ≥1 submission in 2026  |  BDAs not scored on OKR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BD Activity  —  Portia Lewis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 |  Calls + Meetings  |  Weekly goal: 50 activities  |  Colored arrow = month-over-month trend vs prior complete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204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Calls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11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Meetings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215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10.2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20%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 (50/wk)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1–11  (Jan–Mar)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1/5–1/11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1/12–1/18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24328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1/19–1/25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28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4328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7160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1/26–2/1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928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24328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93008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01768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7160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2/2–2/8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928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24328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01768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6888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2/9–2/15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24328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93008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24528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01768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7160" y="362102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7160" y="362102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2/16–2/22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928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24328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3008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24528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01768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" y="386334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" y="386334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6888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2/23–3/1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24328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93008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01768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" y="410565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" y="410565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3/2–3/8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28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4328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93008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4528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01768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37160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37160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6888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3/9–3/15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928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24328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93008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24528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01768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" y="459028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37160" y="459028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6888" y="460857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3/16–3/22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928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24328" y="460857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93008" y="460857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24528" y="460857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01768" y="460857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199632" y="1600200"/>
            <a:ext cx="58521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09360" y="1636776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WEEKS 12–21  (Mar–May)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19385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Week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Calls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0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Meetings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287000" y="193852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% Goal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064240" y="1938528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45352" y="2112264"/>
            <a:ext cx="583387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199632" y="216712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99632" y="216712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09360" y="21854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3/23–3/29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552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6800" y="218541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555480" y="218541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287000" y="218541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64240" y="218541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99632" y="2409444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99632" y="2409444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309360" y="24277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3/30–4/5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86800" y="24277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24277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87000" y="242773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64240" y="242773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199632" y="2651760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199632" y="2651760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309360" y="2670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4/6–4/12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552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267004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555480" y="267004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287000" y="267004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064240" y="267004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199632" y="2894076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99632" y="2894076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09360" y="29123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4/13–4/19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9552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686800" y="291236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55480" y="29123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287000" y="29123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064240" y="291236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199632" y="313639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199632" y="313639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309360" y="31546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4/20–4/26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9552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686800" y="315468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55480" y="315468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287000" y="315468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66%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64240" y="315468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99632" y="3378708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99632" y="3378708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33969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4/27–5/3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552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6800" y="339699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33969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287000" y="339699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1064240" y="339699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99632" y="3621024"/>
            <a:ext cx="5852160" cy="24231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199632" y="3621024"/>
            <a:ext cx="50292" cy="24231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09360" y="36393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5/4–5/10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9552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0" y="36393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555480" y="363931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287000" y="3639312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106%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064240" y="363931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✓ Met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199632" y="3863340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199632" y="3863340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309360" y="388162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5/11–5/17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552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686800" y="388162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555480" y="3881628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287000" y="3881628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84%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1064240" y="388162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99632" y="4105656"/>
            <a:ext cx="5852160" cy="242316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199632" y="4105656"/>
            <a:ext cx="50292" cy="2423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309360" y="412394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5/18–5/24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552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686800" y="412394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555480" y="412394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287000" y="412394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86%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064240" y="412394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97706"/>
                </a:solidFill>
                <a:latin typeface="Segoe UI"/>
              </a:defRPr>
            </a:pPr>
            <a:r>
              <a:t>~ Near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99632" y="4347972"/>
            <a:ext cx="5852160" cy="242316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99632" y="4347972"/>
            <a:ext cx="50292" cy="2423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309360" y="436626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5/25–5/27*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9552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0" y="4366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555480" y="4366260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287000" y="43662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20%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064240" y="436626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✗ Miss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HubSpot CRM  |  Calls + meetings only (emails excluded)  |  * = current/partial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Submission Growth  —  Portia Lewis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Jan–May 2026 vs 2025  |  Green = growth  |  Red = decline  |  Hit ratio = binds / submissions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1611 ▲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Submissions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42580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34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Binds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00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B7280"/>
                </a:solidFill>
                <a:latin typeface="Segoe UI"/>
              </a:defRPr>
            </a:pPr>
            <a:r>
              <a:t>2.1% →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53421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-27.2%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Subs YOY vs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8842" y="850392"/>
            <a:ext cx="2295692" cy="64008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-78.3%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 YOY vs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600200"/>
            <a:ext cx="521208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636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MONTHLY BREAKDOWN  —  2026 vs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938528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Subs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2026 Binds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1938528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1938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2025 Subs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38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112264"/>
            <a:ext cx="50566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57984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20370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4056" y="22037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2037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2037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51917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9656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51917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25191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5191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788920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83464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19656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4056" y="283464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5848" y="28346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2834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315010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19656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1501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1.9%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1501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433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1501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+102%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419856"/>
            <a:ext cx="5212080" cy="33375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46557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9656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46557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2.3%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5848" y="34655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34655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+39%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82880" y="3717036"/>
            <a:ext cx="5120640" cy="9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888" y="37627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1,611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19656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34056" y="3762756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55848" y="37627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2,212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0248" y="37627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-27%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23560" y="1600200"/>
            <a:ext cx="64008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33288" y="16367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AGENCIES BY SUBMISSION VOLUME  —  YTD Ranked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33288" y="193852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7928" y="1938528"/>
            <a:ext cx="868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YTD Subs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6608" y="1938528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59568" y="193852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91088" y="193852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YOY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2112264"/>
            <a:ext cx="597103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3560" y="216712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33288" y="21854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218541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776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36608" y="218541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9568" y="218541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91088" y="21854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+557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24414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67928" y="244144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476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36608" y="244144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59568" y="244144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91088" y="244144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+476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267919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33288" y="26974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67928" y="269748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36608" y="26974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59568" y="269748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2697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+343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29535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Sbh Capital Llc Dba Southeastern Insur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67928" y="295351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333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36608" y="295351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259568" y="295351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91088" y="295351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23560" y="319125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33288" y="32095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67928" y="320954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36608" y="320954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59568" y="32095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991088" y="320954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-85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33288" y="34655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67928" y="346557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36608" y="346557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259568" y="346557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91088" y="346557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+285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703320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33288" y="37216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Orbis Insurance Group LLC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67928" y="372160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36608" y="3721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259568" y="372160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91088" y="372160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-82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33288" y="39776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Combined Insurance &amp; Tax of Florida In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67928" y="397764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36608" y="39776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59568" y="397764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91088" y="39776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+181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4215384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733288" y="4233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567928" y="42336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36608" y="423367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259568" y="423367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91088" y="423367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33288" y="4489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Verafy Insurance, LLC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67928" y="448970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436608" y="448970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59568" y="4489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91088" y="448970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-144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623560" y="4727448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733288" y="4745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567928" y="47457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36608" y="474573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259568" y="474573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91088" y="474573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+36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33288" y="50017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67928" y="5001768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36608" y="5001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259568" y="5001768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91088" y="500176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+58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23560" y="5239512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733288" y="52578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67928" y="5257800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436608" y="525780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259568" y="5257800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91088" y="52578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733288" y="551383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Barbee Jackson Insurance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67928" y="551383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36608" y="5513832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259568" y="5513832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91088" y="551383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+16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23560" y="5751576"/>
            <a:ext cx="6400800" cy="26517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33288" y="576986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567928" y="5769864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436608" y="576986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259568" y="576986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91088" y="5769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+6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733288" y="60258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111827"/>
                </a:solidFill>
                <a:latin typeface="Segoe UI"/>
              </a:defRPr>
            </a:pPr>
            <a:r>
              <a:t>Insurance &amp; Beyond Llc Dba Elite Insur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567928" y="602589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436608" y="6025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259568" y="6025896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91088" y="602589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-14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7160" y="6528816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Totals match Sales Scoreboard: Q1 → Q1 owner, Q2+ → current owner, 2025 baseline → current owner  |  Hit ratio = binds / submissions  |  Right-panel agency table shows current portfolio  |  Green ≥ 8%  Red &lt; 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Portia Lewis  |  53 Total Agencies  |  Jan–May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0424160" cy="32918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430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1430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New Biz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11430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Cancel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9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Quotes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399" y="11430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799" y="11430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$526,954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1499616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$191,905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4996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$17,397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49961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$-112,633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799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594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499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14996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773936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1828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$600,203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828800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$188,133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82880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$44,107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$-151,408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5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399" y="182880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799" y="18288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3.0%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157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579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$1,135,271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2157984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$392,607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157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7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$-173,597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5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820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399" y="215798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799" y="215798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432303"/>
            <a:ext cx="10424160" cy="32918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2487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$1,211,463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24871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$572,833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248716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$23,186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79" y="24871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$-119,451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5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898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09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Segoe UI"/>
              </a:defRPr>
            </a:pPr>
            <a:r>
              <a:t>642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399" y="24871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799" y="24871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81635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81635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$707,254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2816351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$312,766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816351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$14,917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79" y="281635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Segoe UI"/>
              </a:defRPr>
            </a:pPr>
            <a:r>
              <a:t>$-187,273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865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745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09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519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15399" y="2816351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799" y="2816351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1B1B"/>
                </a:solidFill>
                <a:latin typeface="Segoe UI"/>
              </a:defRPr>
            </a:pPr>
            <a:r>
              <a:t>2.7%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090671"/>
            <a:ext cx="10424160" cy="36576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16382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YTD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16382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$4,181,144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37560" y="3163823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$1,658,243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3163823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$100,776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79" y="31638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$-744,362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5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4,088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009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2,899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15399" y="3163823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139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799" y="3163823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Segoe UI"/>
              </a:defRPr>
            </a:pPr>
            <a:r>
              <a:t>3.4%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3611879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Green = up vs prior month  |  Red = down vs prior month or negative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DSG In My Portfolio — Portia Lewis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Dirt, Sand &amp; Gravel program performance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187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DSG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BOUND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$175,647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GROSS WRITTEN 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33856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DSG ACTIVITY BY AGENCY (top 8 by submissions)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Declined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700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00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8094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9809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9809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$26,295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9183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29183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2918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59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0273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60273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0273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13631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91363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87951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24527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245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22452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$23,662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35423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6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535423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53542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$91,546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809743"/>
            <a:ext cx="11338559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846319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8463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8463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5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Sbh Capital LLC Dba Southeastern Insurance Associates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6344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51572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157215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94360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States with DSG bound business in this book: CA, GA, TX, 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Fleet In My Portfolio — Portia Lewis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Fleet business (4+ power units) across this bda's agencies  |  2026 YTD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$3,373,840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GWP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188720"/>
            <a:ext cx="260604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UNITS / SUB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69494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6766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BY AGENCY (top 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00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22.9%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$1,128,131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$271,068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59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0273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60273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$203,340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136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136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87951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Sbh Capital LLC Dba Southeastern Insurance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2452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5354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53542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$81,735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9743"/>
            <a:ext cx="69494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463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39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8463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15721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Zenith Insurance Partners, Inc.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39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30.8%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1572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$333,831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0" y="2286000"/>
            <a:ext cx="420624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99248" y="2322576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FLEET SIZE MIX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4-5 units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26700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245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(63%)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3035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6-10 units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3035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4120" y="3035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(29%)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0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11-25 units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3401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(8%)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80960" y="3767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26-50 units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767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04120" y="37673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80960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51+ units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133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04120" y="413308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(0%)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1264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Bind rate on fleet: 12.4%  ·  Declined: 99  ·  Source: cw_rep.transportation_submissions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Agency Producers — Portia Lewis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Individual agents ranked by YTD submissions  |  Agent = broker_contact on submission  |  Trend =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3973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Subs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YTD Binds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6048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1.8%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Portfolio Hit Ratio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42631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Active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9215" y="841248"/>
            <a:ext cx="2249424" cy="56692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D28D9"/>
                </a:solidFill>
                <a:latin typeface="Segoe UI"/>
              </a:defRPr>
            </a:pPr>
            <a:r>
              <a:t>56%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5 Agent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TOP AGENTS BY SUBMISSIONS  —  Ranked 1–18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776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Karen Seeman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Jennifer Cifuentes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1368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18888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3248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Jorge Hernandez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1368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Sbh Capital Llc Dba Southeaste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13248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6888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Rasa Kacinskas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1368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16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Mary Racero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01368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8888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Mustapha Rahal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01368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Combined Insurance &amp; Tax of Fl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3016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8888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3248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Ariana Carrasquel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01368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Orbis Insurance Group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3016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2452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18888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3248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6888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DANIEL VERA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01368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Verafy Insurance, LLC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3016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2452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8888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13248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6888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Caleb Jackson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1368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Barbee Jackson Insurance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3016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8888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13248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6888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Andre Thomas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01368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3016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452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18888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13248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6888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Mariana Zorrilla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1368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3016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2452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818888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1.8%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13248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37160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46888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Christina Battle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01368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016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2452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18888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13248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46888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Rhonda Dixon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1368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3016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452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18888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13248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37160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KARLA HERRERA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01368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Insurance &amp; Beyond Llc Dba Eli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3016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452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18888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13248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46888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Diana Munoz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01368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3016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40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452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18888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3248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37160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Yulima Valcarcel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01368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White Bull Insurance Group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3016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452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18888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13248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6888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Patrick Phelan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01368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Relation Insurance Services Of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3016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2452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18888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13248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245352" y="1536192"/>
            <a:ext cx="576072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355080" y="15727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CONTINUED  —  Ranked 19–36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55080" y="187451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Agent Name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909560" y="187451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3836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3272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27080" y="1874519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Hit 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52144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1">
                <a:solidFill>
                  <a:srgbClr val="6B7280"/>
                </a:solidFill>
                <a:latin typeface="Segoe UI"/>
              </a:defRPr>
            </a:pPr>
            <a:r>
              <a:t>MoM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291072" y="2048255"/>
            <a:ext cx="5650992" cy="5486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245352" y="2103120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355080" y="21214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Jaime Louisdhon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909560" y="21214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Advantage Plus Insurance Inc.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73836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33272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27080" y="21214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521440" y="21214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355080" y="236098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Luis Laguado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909560" y="23609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73836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3272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927080" y="236098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521440" y="236098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245352" y="2582265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355080" y="260055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Markie Lethcho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909560" y="260055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Stagstone Risk Management, Llc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73836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33272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27080" y="260055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21440" y="260055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355080" y="284012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Danay De La Noval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909560" y="284012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Orbis Insurance Group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73836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3272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927080" y="284012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521440" y="284012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245352" y="3061411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355080" y="3079699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Jennifer Rheingold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09560" y="3079699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3836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33272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27080" y="3079699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21440" y="3079699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355080" y="33192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Jessica Creamer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7909560" y="33192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3836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33272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33192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21440" y="33192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45352" y="3540556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55080" y="355884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Hudson Nwakanma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09560" y="355884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Zenith Insurance Partners, Inc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73836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33272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0927080" y="355884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521440" y="355884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355080" y="379841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Kelli Ford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909560" y="379841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73836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33272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0927080" y="379841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059669"/>
                </a:solidFill>
                <a:latin typeface="Segoe UI"/>
              </a:defRPr>
            </a:pPr>
            <a:r>
              <a:t>9.5%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521440" y="379841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245352" y="4019702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355080" y="403799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Kimberly Oliveira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909560" y="403799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73836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33272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27080" y="403799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1521440" y="403799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355080" y="4277563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David Short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909560" y="4277563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Stewart Short Insurance Servic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3836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33272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927080" y="4277563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521440" y="4277563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6245352" y="4498848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355080" y="4517136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Jesus Rigoberto Huerta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909560" y="451713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Mas Insurance Group Inc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3836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033272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27080" y="4517136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521440" y="4517136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6355080" y="4756708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Diego Martinez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909560" y="475670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Mas Insurance Group Inc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73836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033272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27080" y="4756708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21440" y="4756708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245352" y="4977993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80" y="4996281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Justin Royster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909560" y="4996281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Rdr Insurance Services, Inc.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73836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033272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0927080" y="4996281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521440" y="4996281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355080" y="5235854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Osiel Giraldo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909560" y="523585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Beloved Insurance Agency Llc D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73836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33272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27080" y="5235854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1521440" y="5235854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B728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6245352" y="5457139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55080" y="5475427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TAWANDA BOWE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909560" y="5475427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973836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033272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927080" y="5475427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521440" y="5475427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355080" y="5715000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Harold Cutler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909560" y="571500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Untouchable Insurance Inc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973836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033272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927080" y="5715000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B7280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1521440" y="5715000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6245352" y="5936284"/>
            <a:ext cx="5760720" cy="248716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355080" y="5954572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Marisol Tiburcio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09560" y="595457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Tiburcio Professional Group Co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973836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33272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10927080" y="5954572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1521440" y="5954572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355080" y="6194145"/>
            <a:ext cx="15544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111827"/>
                </a:solidFill>
                <a:latin typeface="Segoe UI"/>
              </a:defRPr>
            </a:pPr>
            <a:r>
              <a:t>Lianny Soto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7909560" y="6194145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B7280"/>
                </a:solidFill>
                <a:latin typeface="Segoe UI"/>
              </a:defRPr>
            </a:pPr>
            <a:r>
              <a:t>PointeNorth Insurance Group, L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73836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3272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0927080" y="6194145"/>
            <a:ext cx="594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DC2626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1521440" y="6194145"/>
            <a:ext cx="457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▲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74320" y="6510528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Segoe UI"/>
              </a:defRPr>
            </a:pPr>
            <a:r>
              <a:t>Source: Metabase  |  Agent = broker_contact_user_id on submission record  |  Hit ratio = binds / subs  |  MoM = month-over-month  |  56 subs had no agent mapped (broker_contact_user_id not set)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Top Performers vs Underperformers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Jan–May 2026  |  Standouts and agencies needing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29184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EXCEEDING — Top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6792" y="914400"/>
            <a:ext cx="5486400" cy="329184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9601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— Bottom 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7160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$841,733  |  Subs 776  |  Binds 17  |  HR 2.2%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2.2% (portfolio avg: 1.8%)  |  $841,733 YTD GWP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7744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$162,392  |  Subs 344  |  Binds 5  |  HR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$162,392 YTD GWP  |  5 binds in Q1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8328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$171,604  |  Subs 73  |  Binds 5  |  HR 6.8%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6.8% (portfolio avg: 1.8%)  |  $171,604 YTD GWP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891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Nelson Legacy Group Llc Dba Nelson Insuran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$14,367  |  Subs 5  |  Binds 1  |  HR 20.0%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Hit ratio 20.0% (portfolio avg: 1.8%)  |  Submission volume up 200% MoM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9496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Lester Insurance Group, Inc.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6  |  Binds 0  |  HR 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5F46"/>
                </a:solidFill>
                <a:latin typeface="Segoe UI"/>
              </a:defRPr>
            </a:pPr>
            <a:r>
              <a:t>Submission volume up 400% MoM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13716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13533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Orbis Insurance Group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1554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$0  |  Subs 195  |  Binds 0  |  HR 0.0%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17922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195 submissions with 0 binds - zero conversion  |  131 quotes generated but 0 converted to binds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37744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35915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Barbee Jackson 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25603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$23,550  |  Subs 69  |  Binds 0  |  HR 0.0%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2798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69 submissions with 0 binds - zero conversion  |  Cancellations are 141% of new business ($33,206 vs $23,550)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338328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6499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Relation Insurance Services Of North Carol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5661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$10  |  Subs 29  |  Binds 0  |  HR 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80390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29 submissions with 0 binds - zero conversion  |  21 quotes generated but 0 converted to binds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82512" y="43891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437083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$36,883  |  Subs 476  |  Binds 3  |  HR 0.6%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809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0.6% on 476 subs  |  Submissions dropped 94% MoM (36 -&gt; 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539496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537667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11827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5577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D28D9"/>
                </a:solidFill>
                <a:latin typeface="Segoe UI"/>
              </a:defRPr>
            </a:pPr>
            <a:r>
              <a:t>GWP $46,912  |  Subs 127  |  Binds 2  |  HR 1.6%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58155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1B1B"/>
                </a:solidFill>
                <a:latin typeface="Segoe UI"/>
              </a:defRPr>
            </a:pPr>
            <a:r>
              <a:t>Hit ratio only 1.6% on 127 subs  |  Cancellations are 180% of new business ($44,281 vs $24,611)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Newly Appointed in My Portfolio — Portia Lewis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Agencies assigned to this BDA for onboarding in 2026  |  Production metrics since assignment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YTD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APPOINTED Q2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32d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SUB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58d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AVG TIME TO 1ST BIND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SUBS POST-APPT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11827"/>
                </a:solidFill>
                <a:latin typeface="Segoe UI"/>
              </a:defRPr>
            </a:pPr>
            <a:r>
              <a:t>Activation: 3/3 appointed agencies have submitted (100%)  •  1/3 have bound (33%)  •  Total bound: 1  •  Total GWP: $22,202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2768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APPOINTED AGENCIES (newest first)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Appointed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060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 to 1st Bind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606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169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Untouchable Insurance Inc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2026-03-16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169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169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58d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227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Gulf South Insurance Agency Llc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227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32278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57d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22783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227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02151"/>
            <a:ext cx="1014984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3872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Camp Insurance Llc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5387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2026-02-05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3538727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5387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3872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Source: HubSpot company records where onboarding_success_agent = Portia Lewis and createdate is within 2026 (= newly assigned to this BDA for onboarding). Metrics are subs/binds/GWP on each agency since their assignment date. BDAs not scored on OKR 4 — informational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Strategic Assessment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Portia Lewis Portfolio  |  Jan–May 2026  |  Strengths, gaps, and ranked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48640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Top 3 (Vantage Ins Llc, Ins Professionals Of Geor, In Trucks Insurance Corp) drive $1,175,729 (53%) of portfolio YTD GWP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Strong hit ratios: Business Expansion S (20.0%), Nelson Legacy Group  (20.0%), Yd Insurance &amp; Finan (12.5%)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 agencies converting submissions to bound business in Jan–May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3,973 total submissions across 47 active agencies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91B1B"/>
                </a:solidFill>
                <a:latin typeface="Segoe UI"/>
              </a:defRPr>
            </a:pPr>
            <a:r>
              <a:t>NEEDS ATTENTION - Areas for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371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 agencies with zero Jan–May 2026 activity: Allstars Insurance P, Assured Insurance Co, Clark Farley Insuran...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68249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824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 agencies submitting but 0 binds (429 subs): Orbis Insurance Grou (195), Barbee Jackson Insur (69)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99339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993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 hit ratios need coaching: Sbh Capital Llc Dba  (0.3%), Insurance Team Of Am (0.6%), Go Safe Agency Corp (0.7%)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042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04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Overall portfolio hit ratio 1.8% — below 5-8% 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71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TOP STRATEGIC PRIORITIES — Ranked by Estimated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2900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107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Lift Portfolio Hit Ratio to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Current: 1.8% (72 binds / 3,973 subs). Need 126 more binds. Focus on submission quality and appetite education.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6908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507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Improve Low Hit Ratio 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11 agencies with 20+ subs but &lt;3% HR: Sbh Capital Llc Dba  (0.3%), Insurance Team Of Am (0.6%), Go Safe Agency Corp (0.7%). Conduct submission quality training to lift conversion 2-3 points.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70916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Develop High-Volume Growth Candidates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194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14 agencies with 30+ subs and some binds but &lt;5% HR: Vantage Ins Llc (776s/17b), Insurance Team Of Am (476s/3b), In Trucks Insurance  (344s/5b). Small HR improvements on large volume = significant premium lift.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492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330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Close Quote-to-Bind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15 agencies have 275 quotes but 0 binds: Orbis Insurance Group LLC (131q), Barbee Jackson Insurance (40q), Relation Insurance Servic (21q). Follow up on pricing, coverage, response time gaps.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98932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710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827"/>
                </a:solidFill>
                <a:latin typeface="Segoe UI"/>
              </a:defRPr>
            </a:pPr>
            <a:r>
              <a:t>Diversify Revenue 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B5563"/>
                </a:solidFill>
                <a:latin typeface="Segoe UI"/>
              </a:defRPr>
            </a:pPr>
            <a:r>
              <a:t>Top 3 agencies drive 53% of premium. Develop mid-tier: Zenith Insurance Partners, Aligned Insurance, Llc, Go Safe Agency Corp. Target 25-50% growth 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Recently Bound Submissions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Portia Lewis  |  Last 25 Bound Submissions  |  72 Total Bound in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05840"/>
            <a:ext cx="2971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005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 (Account)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005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12680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59" y="100584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Bind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207008"/>
            <a:ext cx="111556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255008182541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1280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2801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OS LOGISTICS LLC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280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$43,368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59" y="128016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46304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4813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4813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261098435080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4813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METROHAUL LOGISTICS LLC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4813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$119,943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59" y="148132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68249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68249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262793909054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168249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68249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LOGOS EXPRESS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6824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$56,339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59" y="16824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26,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86537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8366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8836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262010851338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188366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18836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BSMB DISPATCH SOLUTIONS LLC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18836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Christina Battle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$20,375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59" y="18836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22,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20848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0848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262713191179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08483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0848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RAMTRANS LLC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08483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Jennifer Cifuentes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59" y="208483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20, 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226771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2860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252768380121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228600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Business Expansion Strategies,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228600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LOWES LOGISTICS 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286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Carlos Torres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$124,824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59" y="228600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24871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" y="24871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251590584351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248716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2487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 MINUTE INC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248716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Andre Thomas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$24,316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59" y="248716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19,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267004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26883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26883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268856830312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268833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Zenith Insurance Partners, Inc.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268833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I&amp;T TRUCKING LLC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268833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Hudson Nwakanma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12680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$19,423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59" y="2688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16,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288950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8895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261284235399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288950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28895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AUXVAC LLC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28895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Jessica Creamer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12680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$22,549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59" y="28895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14,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07238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09067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090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263806877206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0" y="309067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Untouchable Insurance Inc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00600" y="309067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VALIANT ENTERPRISES OF TEXAS LLC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09067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Harold Cutler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12680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$22,202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38559" y="309067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13,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3291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3291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268495088531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29184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0" y="3291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AMMA Logistics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3291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Jennifer Rheingold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12680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338559" y="3291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12,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347472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8640" y="3493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" y="3493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260118406736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8800" y="349300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800600" y="34930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ALC TRUCKING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34930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12680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$37,717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338559" y="34930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11, 2026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36941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3694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263665821438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369417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3694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TRANSP WILSON GUZMAN LLC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36941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80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$18,746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59" y="36941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08, 2026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" y="387705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89534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265603097956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389534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00600" y="389534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CAMC LOGISTICS LLC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89534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012680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$13,877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338559" y="38953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409651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4096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268342495732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409651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Mas Insurance Group Inc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00600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JTS LOGISTICS LLC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35240" y="40965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Diego Martinez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$2,752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338559" y="409651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07,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4279392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" y="4297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250440657611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429768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00600" y="4297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NOMADZ GLOBAL LLC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297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Rasa Kacinskas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12680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$16,181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338559" y="429768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06,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449884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4498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269140358808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828800" y="449884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800600" y="4498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DUNCAN ENTERPRISE OF CHARLOTTE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35240" y="449884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Rasa Kacinskas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12680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$20,411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338559" y="44988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May 01, 2026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57200" y="4681728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48640" y="470001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4400" y="470001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254360816370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828800" y="470001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00600" y="47000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SANCHEZ EXPRESS LLC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635240" y="470001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$12,930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38559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30, 2026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490118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14400" y="49011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262312486831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28800" y="490118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&amp; Beyond Llc Dba Elite I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800600" y="49011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PROFESSIONAL DELIVERY LLC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635240" y="490118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KARLA HERRERA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12680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$82,315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338559" y="490118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30, 2026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084064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48640" y="51023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51023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257778536580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828800" y="510235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00600" y="510235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C &amp; Z LOGISTICS INC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635240" y="51023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012680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$28,729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38559" y="510235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29, 2026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53035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5303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260130212901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828800" y="530352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800600" y="5303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LRZ TRANSPORTATION LLC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35240" y="5303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Koraima Pino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12680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1338559" y="53035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28, 2026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" y="5486400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48640" y="550468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5504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264366579790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28800" y="5504688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Zenith Insurance Partners, Inc.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800600" y="550468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BLUERIDGE LOGISTIC LLC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35240" y="550468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Hudson Nwakanma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012680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$15,447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338559" y="550468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28,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48640" y="570585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4400" y="57058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265935484994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828800" y="5705856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White Bull Insurance Group Llc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800600" y="570585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HERRERA PILOT LLC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35240" y="570585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Yulima Valcarcel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012680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$25,285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338559" y="57058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27, 2026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57200" y="5888736"/>
            <a:ext cx="11338560" cy="20116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48640" y="5907024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590702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261234067209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828800" y="5907024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800600" y="590702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MJM TRANSPORTATION LLC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7635240" y="59070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Diana Munoz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12680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$2,169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1338559" y="59070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25, 2026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8640" y="610819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14400" y="61081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262228899761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828800" y="6108192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800600" y="610819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GOLD CLASS TRUCKING LLC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635240" y="610819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TAWANDA BOWE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12680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338559" y="6108192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Apr 24, 2026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48640" y="6345936"/>
            <a:ext cx="11155680" cy="109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48640" y="64008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Total (Last 25 Submissions)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412480" y="6400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$732,648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Renewal Watch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Portia Lewis  |  Active in-force policies expiring through Aug 25,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$403,245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TOTAL 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EXPIRE ≤30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31-60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61-90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POLICIES EXPIRING (sorted by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9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Exp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591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59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70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700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255078974376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6700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JRC LOGISTICS LLC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6700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70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700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$33,494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59" y="267004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29809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9809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253928598753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29809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QUEEN OF THE ROAD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9809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809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298094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$2,800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59" y="298094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5526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Business Expansion Strategies,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9183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255767854495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2918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SYNERGY EXPRESS INC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918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10d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291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29183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59" y="329183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36027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Advantage Plus Insurance Inc.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60273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251582712237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360273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HERCULES TRANSPORTATION LLC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60273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24d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APD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360273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$4,393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59" y="360273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SC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77055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9136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Business Expansion Strategies,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91363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252768380121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3913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LOWES LOGISTICS INC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91363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2026-06-30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34d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9136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55480" y="391363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$105,922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59" y="391363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2245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422452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257713728754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422452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J SALDIVIA GROUP INC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22452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422452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TGL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422452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59" y="422452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4498847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53542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53542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258164280507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453542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THE CUCURU 056 LLC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453542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45d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58200" y="45354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55480" y="453542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$12,344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81359" y="453542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NJ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484631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8463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251590584351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0" y="48463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AM MINUTE INC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49440" y="48463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55d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58200" y="48463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555480" y="484631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$35,511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81359" y="484631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120639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515721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5157215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254367774752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515721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HUMBLE WEAR APPAREL LLC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0" y="51572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2026-07-24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58d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58200" y="51572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55480" y="515721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$14,473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81359" y="5157215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TX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4681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Advantage Plus Insurance Inc.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468111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258576398076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4681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FELICITY ENTERPRISES LLC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49440" y="54681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2026-08-01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5527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66d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58200" y="546811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55480" y="5468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$23,070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81359" y="5468111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742431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65760" y="57790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Tiburcio Professional Group Co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43200" y="57790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252651166959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57790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B M H TRUCKING INC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57790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5527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66d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58200" y="5779007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MTC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555480" y="577900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81359" y="5779007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FL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60899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Advantage Plus Insurance Inc.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743200" y="6089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254472807421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31920" y="608990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PAUL D TRUCKING LLC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949440" y="6089903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2026-08-06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95527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71d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58200" y="60899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555480" y="60899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$18,278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81359" y="608990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GA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5760" y="6364223"/>
            <a:ext cx="11018520" cy="310896"/>
          </a:xfrm>
          <a:prstGeom prst="rect">
            <a:avLst/>
          </a:prstGeom>
          <a:solidFill>
            <a:srgbClr val="F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5760" y="64007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43200" y="6400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258672826945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931920" y="64007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11827"/>
                </a:solidFill>
                <a:latin typeface="Segoe UI"/>
              </a:defRPr>
            </a:pPr>
            <a:r>
              <a:t>HOPE SOLUTION LLC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0" y="640079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2026-08-11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95527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Segoe UI"/>
              </a:defRPr>
            </a:pPr>
            <a:r>
              <a:t>76d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458200" y="640079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555480" y="640079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$30,664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881359" y="640079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CA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13 of 19 upcoming renewals  |  Source: dw_reader.policy_premium  |  Active in-force only  |  Sorted by expiration 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Pending Cancellations — Save List — Next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Segoe UI"/>
              </a:defRPr>
            </a:pPr>
            <a:r>
              <a:t>Portia Lewis  |  Policies with cancellation_date on or before Aug 25, 2026  |  Sorted by urgency — call these agencies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POLICIES PENDING CANCEL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PREMIUM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5966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DAYS (URGENT)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≤30 DAY PREMIUM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960120"/>
            <a:ext cx="2286000" cy="86868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D28D9"/>
                </a:solidFill>
                <a:latin typeface="Segoe UI"/>
              </a:defRPr>
            </a:pPr>
            <a:r>
              <a:t>—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TOP 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93392"/>
            <a:ext cx="11430000" cy="27432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29968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PENDING CANCELS (sorted by cancel date — earliest first)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591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Cancel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591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Sub #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Insured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591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Agency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LOB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3591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t>GWP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728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No pending cancellations in the next 90 days for this book. 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Showing 0 of 0 pending cancels  |  Source: dw_reader.policy_premium  |  Non-payment = green (most savable), Insured-requested = red, Days ≤14 = red  |  Action: contact agency, confirm reinstatement plan, escalate non-payment cases for billing 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Vantage Ins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$841,733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$525,662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$44,107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$271,963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$-374,009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$761,577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$1,498,415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92%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$163,311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$357,438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$86,046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$68,097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$17,948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$-17,037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$196,128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$103,155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$44,107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$48,865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$-114,675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$114,149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$48,762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$65,388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$-62,815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$199,219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$178,418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$-36,967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$246,190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$127,230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$118,961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$-142,515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$841,733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$525,662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$44,107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$271,963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$-374,009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776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709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219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$196K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$199K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$246K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$842K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$841,733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$525,662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2.2% hit ratio on 776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71% of new business ($374,009)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(776 subs, only 17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$525,662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 Professionals Of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Rex (Clayton)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$171,604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$133,703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$37,901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$-55,315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$21,525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$171,900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664%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$111,474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$20,879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$19,563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$19,563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$-19,563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$61,624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$62,477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$-854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$68,988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$49,796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$19,191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$-35,752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$171,604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$133,703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$37,901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$-55,315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$62K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$69K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$21K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$172K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$171,604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$133,703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41% of new business ($55,315)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$133,703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$55,315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 Trucks Insurance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Fort Lauderdale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$162,392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$152,140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$10,252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$162,392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344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$58,488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$83,856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$60,178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$60,178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$18,827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$57,589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$58,488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$25,480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$14,098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$11,382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$162,392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$152,140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$10,252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352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$58K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$162,392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$152,140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344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99%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(344 subs, only 5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$152,140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Zenith Insurance Partners,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$140,015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$117,226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$22,789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$-20,407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$113,243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$253,258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$55,277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$20,407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$-20,407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$99,960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$77,171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$22,789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$19,648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$19,648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$140,015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$117,226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$22,789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$-20,407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$140,015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$117,226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80%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$117,226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Aligned Insurance,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AL  |  City: Gadsden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$106,203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$89,533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$16,120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$49,732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$141,776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178%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$70,793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$34,911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$34,911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$35,085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$18,966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$16,120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$35,656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$35,656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$106,203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$89,533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$16,120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$106,203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$89,533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$89,533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Go Safe Agency Corp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$105,002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$105,002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$2,456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$105,002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3563%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$81,735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$23,267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$105,002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294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$105,002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$105,002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0.7% hit ratio on 292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(292 subs, only 2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$105,002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State &amp; Co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North Carolina  |  City: Charlotte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$84,029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$31,402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$16,297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$36,330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$-39,814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$479,965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$293,982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$86,859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$36,125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$16,297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$19,828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$-19,828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$4,960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$4,960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$-16,591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$26,172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$15,182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$10,990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$15,825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$16,219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$-3,395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$947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$84,029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$31,402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$16,297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$36,330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$-39,814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5.7%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$68K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$123K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$947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$84,029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$31,402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1.5% hit ratio on 325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127% of new business ($39,814)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(325 subs, only 5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$31,402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&amp; Beyond Llc Dba Elite Insurance &amp; Beyond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Florida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$82,299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$81,152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$152,072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$79,452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$82,315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$82,102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$81,152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$81,152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$1,148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$82,299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$81,152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$105K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$-1,430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$81K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$155K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$82K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$82,299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$81,152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99% month-over-month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$81,152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Navsav Holdings Ii,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NC  |  City: Beaumont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$65,569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$60,686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$4,883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$53,210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$118,504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103%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$23,649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$36,811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$36,811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$4,120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$4,120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$24,638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$23,874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$65,569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$60,686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$4,883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$274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$65,569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$60,686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71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(71 subs, only 2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$60,686 in new business. Ask: "What types of accounts are you seeing the most success with?" Use this to identify more of their book that fits our appetite.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American Insurance Brokers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Doral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$64,988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$64,988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$9,988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$64,988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542%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$64,988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$64,988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$64,988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$64,988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Art Insurance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GA  |  City: Conyers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$55,201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$-55,841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$155,908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$184,770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30%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$80,157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$55,841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$55,841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$-55,841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$55,201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$55,841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$-55,841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$56K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$-640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$55,201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$55,841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100% of new business ($55,841)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101%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Acknowledge their $55,841 in new business. Ask: "What types of accounts are you seeing the most success with?" Use this to identify more of their book that fits our appetite.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Address the $55,841 in cancellations. Ask: "Are we losing these to price, service, or coverage?" Proactive retention discussions can protect the book and strengthen the relationship.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Garzor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Orlando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$46,912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$24,611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$22,301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$-44,281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$15,111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$49,996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259%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$2,819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$23,662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$23,662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$-782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$23,250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$22,301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$-43,499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$46,912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$24,611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$22,301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$-44,281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$-6,538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$770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$46,912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$24,611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127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180% of new business ($44,281)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(127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$24,611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Combined Insurance &amp; Tax of Florida Inc DBA Insure Our Truck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Aventura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$45,960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$45,960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$-26,940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$22,692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$46,909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169%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$45,960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$11,370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$11,370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$34,589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$34,589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$-10,560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$-16,380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$45,960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$45,960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$-26,940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$11K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$35K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$45,960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$45,960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1.6% hit ratio on 186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59% of new business ($26,940)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(186 subs, only 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$45,960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Sbh Capital Llc Dba Southeastern Insurance Associates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Carrollton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$43,362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$18,251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$25,110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$51,083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$92,833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71%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333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$18,251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$18,251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$3,483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$3,483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$22,098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$22,098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$789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$-1,259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$-1,259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$43,362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$18,251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$25,110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1.5%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1.4%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333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$789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$-1,259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$43,362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$18,251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0.3% hit ratio on 333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260%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(333 subs, only 1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$18,251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Stewart Short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Albany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$39,564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$39,564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$50,506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$73,903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65%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$39,564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$39,564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$39,564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$39,564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$39,564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$39,564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 quotes but 0 binds - follow up on pricing/coverage gaps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18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$39,564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Insurance Team Of America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Medley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$36,883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$37,290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$-16,693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$65,916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$102,798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476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$36,090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$19,461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$19,869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$17,421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$17,421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$-16,693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$36,883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$37,290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$-16,693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157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1.2%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476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0.6%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152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480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$36,883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$37,290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0.6% hit ratio on 476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45% of new business ($16,693)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(476 subs, only 3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$37,290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White Bull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N/A  |  City: St. Petersburg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$25,261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$24,054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$1,207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$25,261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$25,285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$25,261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$24,054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$1,207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$25,261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$24,054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$1,207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$25,261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$24,054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2.8% hit ratio on 36 subs - needs coaching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(36 subs, only 1 binds). Ask: "What are the top 2 reasons your clients go elsewhere?" Use answers to tailor appetite and pricing discussions.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$24,054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Barbee Jackson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Crestview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$-33,206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$24,128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$47,678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$23,550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$-16,460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$-16,746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$23,550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$23,550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$-33,206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$23,550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$23,550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69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Cancellations at 141% of new business ($33,206)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69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$23,550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PointeNorth Insurance Group,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Georgia  |  City: Atlanta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$23,186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$22,799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$23,186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85%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$23,036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$23,186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$23,186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$23,186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$23,186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14.3%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3.8%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$23,186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$23,186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Untouchable Insurance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N/A  |  City: Miramar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$22,427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$22,427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$22,202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$22,427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$22,427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$22,427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$22,427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$22,427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$22,427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$22,427 in new business. Ask what made those deals work and how you can help replicate that success with similar accounts in their pipeline.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Nelson Legacy Group Llc Dba Nelson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WA  |  City: Thomson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$14,367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$14,367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$14,367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$14,367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$14,367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Business Expansion Strategies,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FL  |  City: Palm Harbor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$10,088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$10,088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$-10,324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$221,853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$195,685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$124,824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$2,013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$679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$9,281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$9,281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$-579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$-9,006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$10,088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$10,088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$-10,324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$-24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$679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$127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$10,088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20.0% hit ratio - above average conversion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99% month-over-month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5 to 2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Mas Insurance Group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Homestead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$6,371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$5,201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$1,170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$-632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$37,572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$18,471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$3,701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$-632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$4,252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$4,252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$6,371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$5,201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$1,170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$-632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18.2%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6.2%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$949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59669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$6,371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$5,201 in new business production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significant concerns identified this quarter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Continue monitoring performance metrics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Celebrate the $5,201 in new business. Ask what made those deals work and how you can help replicate that success with similar accounts in their pipeline.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Momentum is building - premium grew MoM. Keep the energy going: "Things are moving in the right direction. What do you need from me to keep this pace up?"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Verafy Insurance,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FL  |  City: Ocala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$2,092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$2,092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$-17,536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$334,773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$51,423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2.1%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$33,117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$2,092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$-16,343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$-1,193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$2,092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$2,092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$-17,536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8.3%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96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2.1%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241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$160K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$30K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$285K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$2,092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97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Low 2.1% hit ratio on 97 subs - needs coaching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Walk through recent lost quotes (97 subs, only 2 binds). Ask: "What are the top 2 reasons your clients go elsewhere?" Use answers to tailor appetite and pricing discussions.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Volume dropped significantly last month. Lead with curiosity, not concern: "I noticed things slowed down - anything going on I can help with?" Identify if it's seasonal, competitive, or operational.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Public Transportation Specialist,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 Lakes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$67,008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$468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1%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33.3%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$67K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5 to 2 MoM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Advantage Plus Insurance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SUNRISE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$519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$108,899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$72,764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$26,299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$550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$650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$519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$9K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$519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$519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$550 in renewals - strong retention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new business - all premium from renewals/endorsements only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Tiburcio Professional Group Corp Dba People Insurance Group Dba People Trucking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 Gardens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$-341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$85,970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$39,017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$-341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$-341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16.7%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90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$13K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$23K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21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21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Relation Insurance Services Of North Carolina,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NC  |  City: Charlotte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$10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$-206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$16,659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$560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$-206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$-206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11.1%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$16K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$10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 YTD gross written premium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29 submissions with zero binds - zero conversion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Written premium dropped 100% month-over-month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29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21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Allcom Insurance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Sunrise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Beloved Insurance Agency Llc Dba Sebanda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Hialeah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10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Camp Insurance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Casa Insurance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3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Crosswinds Insurance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SC  |  City: Fort Mill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9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12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12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9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Devon Property &amp; Casualty Company Dba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Hollywood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$19,374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Gulf South Insurance Agency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Central  |  State: N/A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4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Lester Insurance Group,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East  |  State: VA  |  City: Wytheville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4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Mas Insurance &amp; Accounting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Florida  |  City: Kissimmee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Orbis Insurance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Miami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$54,435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$34,180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195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61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190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48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195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$20K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195 submissions - highly active agency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131 quotes generated - active in pipeline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195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195 submissions with zero binds - zero conversion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195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131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Rdr Insurance Services,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NC  |  City: Charlotte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16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16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16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6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Stagstone Risk Management,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3  |  Region: Southeast  |  State: Tennessee  |  City: Nashville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$177,430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$139,903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$137,917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$26,323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5.0%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7.4%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$10K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$27K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$38K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7.4%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27 submissions - highly active agency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27 submissions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Submission volume dropped from 20 to 4 MoM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Bayou Agency, Llc Dba Bayou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LA  |  City: Monroe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$-42,226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$84,222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$84,222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$-42,226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$-42,226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2 submissions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TransRisk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AL  |  City: Troy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Agency has some Jan–May 2026 activity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Assigned to portfolio - opportunity for development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Tucker Agency,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TN  |  City: Nashville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$-5,814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$417,734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$-19,506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$-5,814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$-5,814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$144K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$461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$264K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$29K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$437K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8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14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14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Review their 14 quoted-not-bound submissions together. Ask which quotes were close and what competitors offered - identifies specific pricing or appetite gaps to escalate internally.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8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Venus Insurance Consulting Services Corp Dba Libre Commercial Insurance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GA  |  City: Marietta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$48,424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$-903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$19K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$14K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$17K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DC2626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$49K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Agency has some Jan–May 2026 activity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Assigned to portfolio - opportunity for development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1 submissions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 Insure,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5  |  Region: Southeast  |  State: FL  |  City: Sunrise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3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3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Yd Insurance &amp; Financial Services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FL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$18,247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$18,247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$2,184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100.0%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12.5%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12.5% hit ratio - above average conversion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2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85800" y="586130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 bind(s) - converting submissions to business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8 submissions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Open with a value-add: share a recent market update or new appetite expansion relevant to their book. Position yourself as a resource, not just a follow-up call.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57200" y="66568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2.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77240" y="6656831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Ask: "What's the biggest challenge in your trucking book right now?" Use their answer to tailor your next outreach with specific solutions.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0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Yomtob Inc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4B5FD"/>
                </a:solidFill>
                <a:latin typeface="Segoe UI"/>
              </a:defRPr>
            </a:pPr>
            <a:r>
              <a:t>Tier: Tier 4  |  Region: Southeast  |  State: SC  |  City: N/A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YTD GWP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914400"/>
            <a:ext cx="2212848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$-777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$45,858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2025 Full Year GWP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1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$45,858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Rolling 12M GWP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% to 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08576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19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Fleet Bound Prem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70464" y="1463040"/>
            <a:ext cx="1417320" cy="5029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  <a:p>
            <a:pPr algn="ctr">
              <a:defRPr sz="800">
                <a:solidFill>
                  <a:srgbClr val="6B7280"/>
                </a:solidFill>
                <a:latin typeface="Segoe UI"/>
              </a:defRPr>
            </a:pPr>
            <a:r>
              <a:t>NF Bound Prem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03120"/>
            <a:ext cx="566928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PRODUCTION BY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45059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Written Premium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245059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New Business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Renewals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Endorsements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Cancellations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5669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066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39" y="270662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953512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992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29992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79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246120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39" y="329184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79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538728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358444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39" y="35844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79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DC2626"/>
                </a:solidFill>
                <a:latin typeface="Segoe UI"/>
              </a:defRPr>
            </a:pPr>
            <a:r>
              <a:t>$-777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831335"/>
            <a:ext cx="566928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38770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77439" y="387705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79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133088"/>
            <a:ext cx="566928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" y="41696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77439" y="4169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76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12079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$-777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2121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Segoe UI"/>
              </a:defRPr>
            </a:pPr>
            <a:r>
              <a:t>SUBMISSIONS &amp;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B7280"/>
                </a:solidFill>
                <a:latin typeface="Segoe UI"/>
              </a:defRPr>
            </a:pPr>
            <a:r>
              <a:t>Month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Subs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Fleet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Non-Fleet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4080" y="2450592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Binds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245059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B7280"/>
                </a:solidFill>
                <a:latin typeface="Segoe UI"/>
              </a:defRPr>
            </a:pPr>
            <a:r>
              <a:t>Hit Ratio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09360" y="2633472"/>
            <a:ext cx="548640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0936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January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270662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07040" y="270662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2953512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0936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February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6968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5966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84080" y="299923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07040" y="29992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246120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0936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376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4672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6968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84080" y="32918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07040" y="3291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09360" y="3538728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0936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April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672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6968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84080" y="35844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07040" y="35844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309360" y="3831335"/>
            <a:ext cx="5486400" cy="45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0936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Segoe UI"/>
              </a:defRPr>
            </a:pPr>
            <a:r>
              <a:t>May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2376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4672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6968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84080" y="3877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607040" y="38770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111827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309360" y="4133088"/>
            <a:ext cx="54864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936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Q1 TOTAL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2376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6968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784080" y="416966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07040" y="41696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D28D9"/>
                </a:solidFill>
                <a:latin typeface="Segoe UI"/>
              </a:defRPr>
            </a:pPr>
            <a:r>
              <a:t>0.0%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489704"/>
            <a:ext cx="11430000" cy="2286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450799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D28D9"/>
                </a:solidFill>
                <a:latin typeface="Segoe UI"/>
              </a:defRPr>
            </a:pPr>
            <a:r>
              <a:t>YOY COMPARISON — Jan–May 2025 vs Jan–May 2026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476402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B7280"/>
                </a:solidFill>
                <a:latin typeface="Segoe UI"/>
              </a:defRPr>
            </a:pPr>
          </a:p>
        </p:txBody>
      </p:sp>
      <p:sp>
        <p:nvSpPr>
          <p:cNvPr id="121" name="TextBox 120"/>
          <p:cNvSpPr txBox="1"/>
          <p:nvPr/>
        </p:nvSpPr>
        <p:spPr>
          <a:xfrm>
            <a:off x="1463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148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834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520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Feb '26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06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920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Mar '26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778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Apr '26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494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35240" y="476402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May '26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32104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'25 Tot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76402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6B7280"/>
                </a:solidFill>
                <a:latin typeface="Segoe UI"/>
              </a:defRPr>
            </a:pPr>
            <a:r>
              <a:t>Jan–Ma '26 Tot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5760" y="494690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Submissions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63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34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20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920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5778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636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494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35240" y="49469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32104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09760" y="494690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" y="5129784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11827"/>
                </a:solidFill>
                <a:latin typeface="Segoe UI"/>
              </a:defRPr>
            </a:pPr>
            <a:r>
              <a:t>Bound Premium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63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148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834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06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8920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5778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636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94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35240" y="512978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111827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32104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509760" y="512978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D28D9"/>
                </a:solidFill>
                <a:latin typeface="Segoe UI"/>
              </a:defRPr>
            </a:pPr>
            <a:r>
              <a:t>$0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5760" y="5385816"/>
            <a:ext cx="5669280" cy="25603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572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5F46"/>
                </a:solidFill>
                <a:latin typeface="Segoe UI"/>
              </a:defRPr>
            </a:pPr>
            <a:r>
              <a:t>STRENGTHS - What's Working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85800" y="5660136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5 quotes generated - active in pipeline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09360" y="5385816"/>
            <a:ext cx="5486400" cy="25603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400800" y="540410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91B1B"/>
                </a:solidFill>
                <a:latin typeface="Segoe UI"/>
              </a:defRPr>
            </a:pPr>
            <a:r>
              <a:t>NEEDS ATTENTION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400800" y="566013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629400" y="566013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No written premium despite 7 submissions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00800" y="586130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29400" y="58613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7 submissions with zero binds - zero conversion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65760" y="6163055"/>
            <a:ext cx="11430000" cy="21945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57200" y="6172199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STRATEGIC SALES TIPS - Conversation Starters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41908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2400E"/>
                </a:solidFill>
                <a:latin typeface="Segoe UI"/>
              </a:defRPr>
            </a:pPr>
            <a:r>
              <a:t>1.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77240" y="6419088"/>
            <a:ext cx="10881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11827"/>
                </a:solidFill>
                <a:latin typeface="Segoe UI"/>
              </a:defRPr>
            </a:pPr>
            <a:r>
              <a:t>Pull up their 5 recent quotes and review together. Ask: "Which of these were closest to binding?" Offer to re-quote or adjust terms on the most promising 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