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</p:sldIdLst>
  <p:sldSz cy="6858000" cx="12191675"/>
  <p:notesSz cx="6858000" cy="9144000"/>
  <p:embeddedFontLst>
    <p:embeddedFont>
      <p:font typeface="Quattrocento Sans"/>
      <p:regular r:id="rId68"/>
      <p:bold r:id="rId69"/>
      <p:italic r:id="rId70"/>
      <p:boldItalic r:id="rId7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72" roundtripDataSignature="AMtx7mirSJEBzGiH4sULW7cR5GD+gjsWv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2" Type="http://customschemas.google.com/relationships/presentationmetadata" Target="metadata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1" Type="http://schemas.openxmlformats.org/officeDocument/2006/relationships/font" Target="fonts/QuattrocentoSans-boldItalic.fntdata"/><Relationship Id="rId70" Type="http://schemas.openxmlformats.org/officeDocument/2006/relationships/font" Target="fonts/QuattrocentoSans-italic.fntdata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font" Target="fonts/QuattrocentoSans-regular.fntdata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font" Target="fonts/QuattrocentoSans-bold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6" name="Google Shape;74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5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7" name="Google Shape;81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6" name="Google Shape;89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9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Google Shape;116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1" name="Google Shape;116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0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2" name="Google Shape;121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8" name="Google Shape;125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0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2" name="Google Shape;130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5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7" name="Google Shape;150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9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1" name="Google Shape;1641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1" name="Shape 1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2" name="Google Shape;171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3" name="Google Shape;171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0" name="Shape 1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1" name="Google Shape;189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2" name="Google Shape;1892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7" name="Shape 2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" name="Google Shape;206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9" name="Google Shape;2069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4" name="Shape 2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5" name="Google Shape;2245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6" name="Google Shape;2246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3" name="Shape 2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4" name="Google Shape;2424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5" name="Google Shape;2425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0" name="Shape 2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1" name="Google Shape;2601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2" name="Google Shape;2602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7" name="Shape 2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Google Shape;2778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9" name="Google Shape;2779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6" name="Shape 2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7" name="Google Shape;2957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8" name="Google Shape;2958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3" name="Shape 3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4" name="Google Shape;3134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5" name="Google Shape;3135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0" name="Shape 3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1" name="Google Shape;3311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2" name="Google Shape;3312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9" name="Shape 3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0" name="Google Shape;3490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1" name="Google Shape;3491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8" name="Shape 3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9" name="Google Shape;3669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0" name="Google Shape;3670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7" name="Shape 3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8" name="Google Shape;3848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9" name="Google Shape;3849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6" name="Shape 4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7" name="Google Shape;4027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8" name="Google Shape;4028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5" name="Shape 4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6" name="Google Shape;4206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7" name="Google Shape;4207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4" name="Shape 4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5" name="Google Shape;4385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6" name="Google Shape;4386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3" name="Shape 4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4" name="Google Shape;4564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5" name="Google Shape;4565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0" name="Shape 4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1" name="Google Shape;4741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2" name="Google Shape;4742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9" name="Shape 4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0" name="Google Shape;4920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1" name="Google Shape;4921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6" name="Shape 5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7" name="Google Shape;5097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8" name="Google Shape;5098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5" name="Shape 5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6" name="Google Shape;5276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7" name="Google Shape;5277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52" name="Shape 5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3" name="Google Shape;5453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4" name="Google Shape;5454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29" name="Shape 5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0" name="Google Shape;5630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1" name="Google Shape;5631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8" name="Shape 5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9" name="Google Shape;5809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0" name="Google Shape;5810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7" name="Shape 5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8" name="Google Shape;5988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9" name="Google Shape;5989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64" name="Shape 6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5" name="Google Shape;6165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6" name="Google Shape;6166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41" name="Shape 6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2" name="Google Shape;6342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43" name="Google Shape;6343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20" name="Shape 6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1" name="Google Shape;6521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2" name="Google Shape;6522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99" name="Shape 6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0" name="Google Shape;6700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1" name="Google Shape;6701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4" name="Shape 6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5" name="Google Shape;6875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76" name="Google Shape;6876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51" name="Shape 7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2" name="Google Shape;7052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53" name="Google Shape;7053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26" name="Shape 7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7" name="Google Shape;7227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28" name="Google Shape;7228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1" name="Shape 7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2" name="Google Shape;7402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3" name="Google Shape;7403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78" name="Shape 7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9" name="Google Shape;7579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0" name="Google Shape;7580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53" name="Shape 7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4" name="Google Shape;7754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5" name="Google Shape;7755;p5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8" name="Shape 7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9" name="Google Shape;7929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30" name="Google Shape;7930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03" name="Shape 8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4" name="Google Shape;8104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05" name="Google Shape;8105;p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80" name="Shape 8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1" name="Google Shape;8281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82" name="Google Shape;8282;p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59" name="Shape 8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0" name="Google Shape;8460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61" name="Google Shape;8461;p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36" name="Shape 8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7" name="Google Shape;8637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38" name="Google Shape;8638;p5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5" name="Shape 8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6" name="Google Shape;8816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17" name="Google Shape;8817;p5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90" name="Shape 8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1" name="Google Shape;8991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92" name="Google Shape;8992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67" name="Shape 9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8" name="Google Shape;9168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69" name="Google Shape;9169;p5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44" name="Shape 9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5" name="Google Shape;9345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46" name="Google Shape;9346;p5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21" name="Shape 9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2" name="Google Shape;9522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23" name="Google Shape;9523;p6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96" name="Shape 9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7" name="Google Shape;9697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98" name="Google Shape;9698;p6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73" name="Shape 9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4" name="Google Shape;9874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75" name="Google Shape;9875;p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6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6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6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6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6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6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7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7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7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7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7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7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7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7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7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7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7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7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7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7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28, 2026  |  53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53 Total Agencies  |  47 Active  |  6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$2,253,731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$1,683,467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$100,776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$469,488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$-789,078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$3,790,370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$4,307,142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$4,548,444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$709,071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$1,347,054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$851,003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$525,662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787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630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$171,604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$133,703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Inc.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$165,238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$142,450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12.1%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$162,392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$152,140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350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$106,203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$89,533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297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$84,029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$31,402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$16,297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330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248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&amp; Beyond Llc Dba Elite In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$82,299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$65,569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$60,686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American Insurance Brokers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$64,988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$64,988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 Insurance Family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$55,201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$46,912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$24,611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$526,954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$191,905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799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$600,203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$188,133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826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$1,160,019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$392,607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820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$1,190,108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$572,833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898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$772,492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$337,989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792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$2,253,731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$1,683,467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4019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274" name="Google Shape;274;p2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INACTIVE AGENCIES (6)</a:t>
            </a:r>
            <a:endParaRPr/>
          </a:p>
        </p:txBody>
      </p:sp>
      <p:sp>
        <p:nvSpPr>
          <p:cNvPr id="276" name="Google Shape;276;p2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Allstars Insurance Partners, Inc</a:t>
            </a:r>
            <a:endParaRPr/>
          </a:p>
        </p:txBody>
      </p:sp>
      <p:sp>
        <p:nvSpPr>
          <p:cNvPr id="277" name="Google Shape;277;p2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Assured Insurance Consultants, LLC</a:t>
            </a:r>
            <a:endParaRPr/>
          </a:p>
        </p:txBody>
      </p:sp>
      <p:sp>
        <p:nvSpPr>
          <p:cNvPr id="278" name="Google Shape;278;p2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Clark Farley Insurance Agency - A Rela</a:t>
            </a:r>
            <a:endParaRPr/>
          </a:p>
        </p:txBody>
      </p:sp>
      <p:sp>
        <p:nvSpPr>
          <p:cNvPr id="279" name="Google Shape;279;p2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 Marion Agency LLC</a:t>
            </a:r>
            <a:endParaRPr/>
          </a:p>
        </p:txBody>
      </p:sp>
      <p:sp>
        <p:nvSpPr>
          <p:cNvPr id="280" name="Google Shape;280;p2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Paramount Trucking Specialist Llc</a:t>
            </a:r>
            <a:endParaRPr/>
          </a:p>
        </p:txBody>
      </p:sp>
      <p:sp>
        <p:nvSpPr>
          <p:cNvPr id="281" name="Google Shape;281;p2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Patrick Phillips Insurance Agency,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Portia Lewis</a:t>
            </a:r>
            <a:endParaRPr/>
          </a:p>
        </p:txBody>
      </p:sp>
      <p:sp>
        <p:nvSpPr>
          <p:cNvPr id="288" name="Google Shape;288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BDA OKRs  |  Q2 measure (paced where applicable)  |  Matches BD Rep Scoreboard numbers</a:t>
            </a:r>
            <a:endParaRPr/>
          </a:p>
        </p:txBody>
      </p:sp>
      <p:sp>
        <p:nvSpPr>
          <p:cNvPr id="289" name="Google Shape;289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86.2</a:t>
            </a:r>
            <a:endParaRPr/>
          </a:p>
        </p:txBody>
      </p:sp>
      <p:sp>
        <p:nvSpPr>
          <p:cNvPr id="291" name="Google Shape;291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92" name="Google Shape;292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93" name="Google Shape;293;p3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3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96" name="Google Shape;296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97" name="Google Shape;297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≥+50%</a:t>
            </a:r>
            <a:endParaRPr/>
          </a:p>
        </p:txBody>
      </p:sp>
      <p:sp>
        <p:nvSpPr>
          <p:cNvPr id="298" name="Google Shape;298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+170%</a:t>
            </a:r>
            <a:endParaRPr/>
          </a:p>
        </p:txBody>
      </p:sp>
      <p:sp>
        <p:nvSpPr>
          <p:cNvPr id="299" name="Google Shape;299;p3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302" name="Google Shape;302;p3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303" name="Google Shape;303;p3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(50/wk)</a:t>
            </a:r>
            <a:endParaRPr/>
          </a:p>
        </p:txBody>
      </p:sp>
      <p:sp>
        <p:nvSpPr>
          <p:cNvPr id="304" name="Google Shape;304;p3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59%</a:t>
            </a:r>
            <a:endParaRPr/>
          </a:p>
        </p:txBody>
      </p:sp>
      <p:sp>
        <p:nvSpPr>
          <p:cNvPr id="305" name="Google Shape;305;p3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3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3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8" name="Google Shape;308;p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9" name="Google Shape;309;p3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 of 53 agencies  |  Goal 75%</a:t>
            </a:r>
            <a:endParaRPr/>
          </a:p>
        </p:txBody>
      </p:sp>
      <p:sp>
        <p:nvSpPr>
          <p:cNvPr id="310" name="Google Shape;310;p3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89%</a:t>
            </a:r>
            <a:endParaRPr/>
          </a:p>
        </p:txBody>
      </p:sp>
      <p:sp>
        <p:nvSpPr>
          <p:cNvPr id="311" name="Google Shape;311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Portia Lewis</a:t>
            </a:r>
            <a:endParaRPr/>
          </a:p>
        </p:txBody>
      </p:sp>
      <p:sp>
        <p:nvSpPr>
          <p:cNvPr id="318" name="Google Shape;318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50 activities  |  Colored arrow = month-over-month trend vs prior complete month</a:t>
            </a:r>
            <a:endParaRPr/>
          </a:p>
        </p:txBody>
      </p:sp>
      <p:sp>
        <p:nvSpPr>
          <p:cNvPr id="319" name="Google Shape;319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216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20" name="Google Shape;320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21" name="Google Shape;321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227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22" name="Google Shape;322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23" name="Google Shape;323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(50/wk)</a:t>
            </a:r>
            <a:endParaRPr/>
          </a:p>
        </p:txBody>
      </p:sp>
      <p:sp>
        <p:nvSpPr>
          <p:cNvPr id="324" name="Google Shape;324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1–11  (Jan–Mar)</a:t>
            </a:r>
            <a:endParaRPr/>
          </a:p>
        </p:txBody>
      </p:sp>
      <p:sp>
        <p:nvSpPr>
          <p:cNvPr id="326" name="Google Shape;326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7" name="Google Shape;327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8" name="Google Shape;328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9" name="Google Shape;329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30" name="Google Shape;330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31" name="Google Shape;331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32" name="Google Shape;332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6" name="Google Shape;336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7" name="Google Shape;337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8" name="Google Shape;338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9" name="Google Shape;339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0" name="Google Shape;340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1" name="Google Shape;341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44" name="Google Shape;344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5" name="Google Shape;345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6" name="Google Shape;346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7" name="Google Shape;347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8" name="Google Shape;348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9" name="Google Shape;349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5" name="Google Shape;355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56" name="Google Shape;356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7" name="Google Shape;357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3" name="Google Shape;363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64" name="Google Shape;364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5" name="Google Shape;365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9" name="Google Shape;369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" name="Google Shape;371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72" name="Google Shape;372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3" name="Google Shape;373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6" name="Google Shape;376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7" name="Google Shape;377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8" name="Google Shape;378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9" name="Google Shape;379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0" name="Google Shape;380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1" name="Google Shape;381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84" name="Google Shape;384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5" name="Google Shape;385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6" name="Google Shape;386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7" name="Google Shape;387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8" name="Google Shape;388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9" name="Google Shape;389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92" name="Google Shape;392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" name="Google Shape;393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" name="Google Shape;394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5" name="Google Shape;395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96" name="Google Shape;396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7" name="Google Shape;397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400" name="Google Shape;400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" name="Google Shape;401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" name="Google Shape;402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3" name="Google Shape;403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04" name="Google Shape;404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5" name="Google Shape;405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8" name="Google Shape;408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" name="Google Shape;409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1" name="Google Shape;411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12" name="Google Shape;412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3" name="Google Shape;413;p4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4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4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7" name="Google Shape;417;p4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" name="Google Shape;418;p4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" name="Google Shape;419;p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20" name="Google Shape;420;p4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21" name="Google Shape;421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12–21  (Mar–May)</a:t>
            </a:r>
            <a:endParaRPr/>
          </a:p>
        </p:txBody>
      </p:sp>
      <p:sp>
        <p:nvSpPr>
          <p:cNvPr id="423" name="Google Shape;423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24" name="Google Shape;424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26" name="Google Shape;426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27" name="Google Shape;427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28" name="Google Shape;428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29" name="Google Shape;429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33" name="Google Shape;433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4" name="Google Shape;434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5" name="Google Shape;435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" name="Google Shape;436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37" name="Google Shape;437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8" name="Google Shape;438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41" name="Google Shape;441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" name="Google Shape;442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3" name="Google Shape;443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4" name="Google Shape;444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45" name="Google Shape;445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46" name="Google Shape;446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9" name="Google Shape;449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0" name="Google Shape;450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1" name="Google Shape;451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2" name="Google Shape;452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53" name="Google Shape;453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4" name="Google Shape;454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7" name="Google Shape;457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" name="Google Shape;458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" name="Google Shape;459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" name="Google Shape;460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61" name="Google Shape;461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62" name="Google Shape;462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5" name="Google Shape;465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66" name="Google Shape;466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7" name="Google Shape;467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68" name="Google Shape;468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66%</a:t>
            </a:r>
            <a:endParaRPr/>
          </a:p>
        </p:txBody>
      </p:sp>
      <p:sp>
        <p:nvSpPr>
          <p:cNvPr id="469" name="Google Shape;469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70" name="Google Shape;470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73" name="Google Shape;473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74" name="Google Shape;474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5" name="Google Shape;475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476" name="Google Shape;476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68%</a:t>
            </a:r>
            <a:endParaRPr/>
          </a:p>
        </p:txBody>
      </p:sp>
      <p:sp>
        <p:nvSpPr>
          <p:cNvPr id="477" name="Google Shape;477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78" name="Google Shape;478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81" name="Google Shape;481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82" name="Google Shape;482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3" name="Google Shape;483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84" name="Google Shape;484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106%</a:t>
            </a:r>
            <a:endParaRPr/>
          </a:p>
        </p:txBody>
      </p:sp>
      <p:sp>
        <p:nvSpPr>
          <p:cNvPr id="485" name="Google Shape;485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86" name="Google Shape;486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9" name="Google Shape;489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490" name="Google Shape;490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1" name="Google Shape;491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92" name="Google Shape;492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84%</a:t>
            </a:r>
            <a:endParaRPr/>
          </a:p>
        </p:txBody>
      </p:sp>
      <p:sp>
        <p:nvSpPr>
          <p:cNvPr id="493" name="Google Shape;493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94" name="Google Shape;494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5/18–5/24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9" name="Google Shape;499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500" name="Google Shape;500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86%</a:t>
            </a:r>
            <a:endParaRPr/>
          </a:p>
        </p:txBody>
      </p:sp>
      <p:sp>
        <p:nvSpPr>
          <p:cNvPr id="501" name="Google Shape;501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502" name="Google Shape;502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5/25–5/28*</a:t>
            </a:r>
            <a:endParaRPr/>
          </a:p>
        </p:txBody>
      </p:sp>
      <p:sp>
        <p:nvSpPr>
          <p:cNvPr id="505" name="Google Shape;505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06" name="Google Shape;506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" name="Google Shape;507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08" name="Google Shape;508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44%</a:t>
            </a:r>
            <a:endParaRPr/>
          </a:p>
        </p:txBody>
      </p:sp>
      <p:sp>
        <p:nvSpPr>
          <p:cNvPr id="509" name="Google Shape;509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510" name="Google Shape;510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Portia Lewis</a:t>
            </a:r>
            <a:endParaRPr/>
          </a:p>
        </p:txBody>
      </p:sp>
      <p:sp>
        <p:nvSpPr>
          <p:cNvPr id="517" name="Google Shape;517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18" name="Google Shape;518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1656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19" name="Google Shape;519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20" name="Google Shape;520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1" name="Google Shape;521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-25.1%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22" name="Google Shape;522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-78.1%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23" name="Google Shape;523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25" name="Google Shape;525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29" name="Google Shape;529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30" name="Google Shape;530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31" name="Google Shape;531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400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3" name="Google Shape;543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395</a:t>
            </a:r>
            <a:endParaRPr/>
          </a:p>
        </p:txBody>
      </p:sp>
      <p:sp>
        <p:nvSpPr>
          <p:cNvPr id="544" name="Google Shape;544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45" name="Google Shape;545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455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53" name="Google Shape;553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874</a:t>
            </a:r>
            <a:endParaRPr/>
          </a:p>
        </p:txBody>
      </p:sp>
      <p:sp>
        <p:nvSpPr>
          <p:cNvPr id="554" name="Google Shape;554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55" name="Google Shape;555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556" name="Google Shape;556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433</a:t>
            </a:r>
            <a:endParaRPr/>
          </a:p>
        </p:txBody>
      </p:sp>
      <p:sp>
        <p:nvSpPr>
          <p:cNvPr id="557" name="Google Shape;557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+102%</a:t>
            </a:r>
            <a:endParaRPr/>
          </a:p>
        </p:txBody>
      </p:sp>
      <p:sp>
        <p:nvSpPr>
          <p:cNvPr id="558" name="Google Shape;558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0" name="Google Shape;560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781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563" name="Google Shape;563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529</a:t>
            </a:r>
            <a:endParaRPr/>
          </a:p>
        </p:txBody>
      </p:sp>
      <p:sp>
        <p:nvSpPr>
          <p:cNvPr id="564" name="Google Shape;564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+48%</a:t>
            </a:r>
            <a:endParaRPr/>
          </a:p>
        </p:txBody>
      </p:sp>
      <p:sp>
        <p:nvSpPr>
          <p:cNvPr id="565" name="Google Shape;565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67" name="Google Shape;567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1,656</a:t>
            </a:r>
            <a:endParaRPr/>
          </a:p>
        </p:txBody>
      </p:sp>
      <p:sp>
        <p:nvSpPr>
          <p:cNvPr id="568" name="Google Shape;568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569" name="Google Shape;569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570" name="Google Shape;570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2,212</a:t>
            </a:r>
            <a:endParaRPr/>
          </a:p>
        </p:txBody>
      </p:sp>
      <p:sp>
        <p:nvSpPr>
          <p:cNvPr id="571" name="Google Shape;571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-25%</a:t>
            </a:r>
            <a:endParaRPr/>
          </a:p>
        </p:txBody>
      </p:sp>
      <p:sp>
        <p:nvSpPr>
          <p:cNvPr id="572" name="Google Shape;572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7" name="Google Shape;577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78" name="Google Shape;578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79" name="Google Shape;579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787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+568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476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9" name="Google Shape;589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590" name="Google Shape;590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+476</a:t>
            </a:r>
            <a:endParaRPr/>
          </a:p>
        </p:txBody>
      </p:sp>
      <p:sp>
        <p:nvSpPr>
          <p:cNvPr id="591" name="Google Shape;591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350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95" name="Google Shape;595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+349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Southeastern Insur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334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0" name="Google Shape;600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601" name="Google Shape;601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+232</a:t>
            </a:r>
            <a:endParaRPr/>
          </a:p>
        </p:txBody>
      </p:sp>
      <p:sp>
        <p:nvSpPr>
          <p:cNvPr id="602" name="Google Shape;602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330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6" name="Google Shape;606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-80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297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1" name="Google Shape;611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612" name="Google Shape;612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+290</a:t>
            </a:r>
            <a:endParaRPr/>
          </a:p>
        </p:txBody>
      </p:sp>
      <p:sp>
        <p:nvSpPr>
          <p:cNvPr id="613" name="Google Shape;613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Orbis Insurance Group LLC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7" name="Google Shape;617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-78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Combined Insurance &amp; Tax of Florida In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186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2" name="Google Shape;622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623" name="Google Shape;623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+181</a:t>
            </a:r>
            <a:endParaRPr/>
          </a:p>
        </p:txBody>
      </p:sp>
      <p:sp>
        <p:nvSpPr>
          <p:cNvPr id="624" name="Google Shape;624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8" name="Google Shape;628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Verafy Insurance, LLC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3" name="Google Shape;633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634" name="Google Shape;634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-142</a:t>
            </a:r>
            <a:endParaRPr/>
          </a:p>
        </p:txBody>
      </p:sp>
      <p:sp>
        <p:nvSpPr>
          <p:cNvPr id="635" name="Google Shape;635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9" name="Google Shape;639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+37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44" name="Google Shape;644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645" name="Google Shape;645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+58</a:t>
            </a:r>
            <a:endParaRPr/>
          </a:p>
        </p:txBody>
      </p:sp>
      <p:sp>
        <p:nvSpPr>
          <p:cNvPr id="646" name="Google Shape;646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0" name="Google Shape;650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+8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Barbee Jackson Insurance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" name="Google Shape;655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6" name="Google Shape;656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+16</a:t>
            </a:r>
            <a:endParaRPr/>
          </a:p>
        </p:txBody>
      </p:sp>
      <p:sp>
        <p:nvSpPr>
          <p:cNvPr id="657" name="Google Shape;657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 Insurance Family</a:t>
            </a:r>
            <a:endParaRPr/>
          </a:p>
        </p:txBody>
      </p:sp>
      <p:sp>
        <p:nvSpPr>
          <p:cNvPr id="659" name="Google Shape;659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660" name="Google Shape;660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61" name="Google Shape;661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662" name="Google Shape;662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</a:t>
            </a:r>
            <a:endParaRPr/>
          </a:p>
        </p:txBody>
      </p:sp>
      <p:sp>
        <p:nvSpPr>
          <p:cNvPr id="663" name="Google Shape;663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&amp; Beyond Llc Dba Elite Insur</a:t>
            </a:r>
            <a:endParaRPr/>
          </a:p>
        </p:txBody>
      </p:sp>
      <p:sp>
        <p:nvSpPr>
          <p:cNvPr id="664" name="Google Shape;664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665" name="Google Shape;665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66" name="Google Shape;666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667" name="Google Shape;667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-14</a:t>
            </a:r>
            <a:endParaRPr/>
          </a:p>
        </p:txBody>
      </p:sp>
      <p:sp>
        <p:nvSpPr>
          <p:cNvPr id="668" name="Google Shape;668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75" name="Google Shape;675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 |  53 Total Agencies  |  Jan–May 2026</a:t>
            </a:r>
            <a:endParaRPr/>
          </a:p>
        </p:txBody>
      </p:sp>
      <p:sp>
        <p:nvSpPr>
          <p:cNvPr id="676" name="Google Shape;676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82" name="Google Shape;682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3" name="Google Shape;683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84" name="Google Shape;684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5" name="Google Shape;685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6" name="Google Shape;686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$526,954</a:t>
            </a:r>
            <a:endParaRPr/>
          </a:p>
        </p:txBody>
      </p:sp>
      <p:sp>
        <p:nvSpPr>
          <p:cNvPr id="688" name="Google Shape;688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$191,905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$17,397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$-112,633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799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594</a:t>
            </a:r>
            <a:endParaRPr/>
          </a:p>
        </p:txBody>
      </p:sp>
      <p:sp>
        <p:nvSpPr>
          <p:cNvPr id="693" name="Google Shape;693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694" name="Google Shape;694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695" name="Google Shape;695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$600,203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$188,133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$-151,408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826</a:t>
            </a:r>
            <a:endParaRPr/>
          </a:p>
        </p:txBody>
      </p:sp>
      <p:sp>
        <p:nvSpPr>
          <p:cNvPr id="702" name="Google Shape;702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567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$1,160,019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$392,607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$-173,597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820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577</a:t>
            </a:r>
            <a:endParaRPr/>
          </a:p>
        </p:txBody>
      </p:sp>
      <p:sp>
        <p:nvSpPr>
          <p:cNvPr id="712" name="Google Shape;712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713" name="Google Shape;713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714" name="Google Shape;714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$1,190,108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$572,833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$-119,451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898</a:t>
            </a:r>
            <a:endParaRPr/>
          </a:p>
        </p:txBody>
      </p:sp>
      <p:sp>
        <p:nvSpPr>
          <p:cNvPr id="721" name="Google Shape;721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642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$772,492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$337,989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$14,917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$-231,990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792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552</a:t>
            </a:r>
            <a:endParaRPr/>
          </a:p>
        </p:txBody>
      </p:sp>
      <p:sp>
        <p:nvSpPr>
          <p:cNvPr id="731" name="Google Shape;731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732" name="Google Shape;732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733" name="Google Shape;733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35" name="Google Shape;735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$4,249,775</a:t>
            </a:r>
            <a:endParaRPr/>
          </a:p>
        </p:txBody>
      </p:sp>
      <p:sp>
        <p:nvSpPr>
          <p:cNvPr id="736" name="Google Shape;736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$1,683,467</a:t>
            </a:r>
            <a:endParaRPr/>
          </a:p>
        </p:txBody>
      </p:sp>
      <p:sp>
        <p:nvSpPr>
          <p:cNvPr id="737" name="Google Shape;737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$100,776</a:t>
            </a:r>
            <a:endParaRPr/>
          </a:p>
        </p:txBody>
      </p:sp>
      <p:sp>
        <p:nvSpPr>
          <p:cNvPr id="738" name="Google Shape;738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$-789,078</a:t>
            </a:r>
            <a:endParaRPr/>
          </a:p>
        </p:txBody>
      </p:sp>
      <p:sp>
        <p:nvSpPr>
          <p:cNvPr id="739" name="Google Shape;739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4,135</a:t>
            </a:r>
            <a:endParaRPr/>
          </a:p>
        </p:txBody>
      </p:sp>
      <p:sp>
        <p:nvSpPr>
          <p:cNvPr id="740" name="Google Shape;740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2,932</a:t>
            </a:r>
            <a:endParaRPr/>
          </a:p>
        </p:txBody>
      </p:sp>
      <p:sp>
        <p:nvSpPr>
          <p:cNvPr id="741" name="Google Shape;741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140</a:t>
            </a:r>
            <a:endParaRPr/>
          </a:p>
        </p:txBody>
      </p:sp>
      <p:sp>
        <p:nvSpPr>
          <p:cNvPr id="742" name="Google Shape;742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743" name="Google Shape;743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Portia Lewis</a:t>
            </a:r>
            <a:endParaRPr/>
          </a:p>
        </p:txBody>
      </p:sp>
      <p:sp>
        <p:nvSpPr>
          <p:cNvPr id="749" name="Google Shape;749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bda's agencies  |  2026 YTD</a:t>
            </a:r>
            <a:endParaRPr/>
          </a:p>
        </p:txBody>
      </p:sp>
      <p:sp>
        <p:nvSpPr>
          <p:cNvPr id="750" name="Google Shape;750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51" name="Google Shape;751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52" name="Google Shape;752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$175,647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53" name="Google Shape;753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54" name="Google Shape;754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56" name="Google Shape;756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60" name="Google Shape;760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61" name="Google Shape;761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62" name="Google Shape;762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764" name="Google Shape;764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765" name="Google Shape;765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66" name="Google Shape;766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6.1%</a:t>
            </a:r>
            <a:endParaRPr/>
          </a:p>
        </p:txBody>
      </p:sp>
      <p:sp>
        <p:nvSpPr>
          <p:cNvPr id="768" name="Google Shape;768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$26,295</a:t>
            </a:r>
            <a:endParaRPr/>
          </a:p>
        </p:txBody>
      </p:sp>
      <p:sp>
        <p:nvSpPr>
          <p:cNvPr id="769" name="Google Shape;769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3" name="Google Shape;773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4" name="Google Shape;774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5" name="Google Shape;775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777" name="Google Shape;777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778" name="Google Shape;778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9" name="Google Shape;779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1" name="Google Shape;781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6" name="Google Shape;786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7" name="Google Shape;787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8" name="Google Shape;788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794" name="Google Shape;794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$23,662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" name="Google Shape;799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0" name="Google Shape;800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1" name="Google Shape;801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803" name="Google Shape;803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804" name="Google Shape;804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5" name="Google Shape;805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6" name="Google Shape;806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27.3%</a:t>
            </a:r>
            <a:endParaRPr/>
          </a:p>
        </p:txBody>
      </p:sp>
      <p:sp>
        <p:nvSpPr>
          <p:cNvPr id="807" name="Google Shape;807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$91,546</a:t>
            </a:r>
            <a:endParaRPr/>
          </a:p>
        </p:txBody>
      </p:sp>
      <p:sp>
        <p:nvSpPr>
          <p:cNvPr id="808" name="Google Shape;808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Southeastern Insurance Associates</a:t>
            </a:r>
            <a:endParaRPr/>
          </a:p>
        </p:txBody>
      </p:sp>
      <p:sp>
        <p:nvSpPr>
          <p:cNvPr id="809" name="Google Shape;809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10" name="Google Shape;810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11" name="Google Shape;811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2" name="Google Shape;812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3" name="Google Shape;813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14" name="Google Shape;814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CA, GA, TX, VA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Portia Lewis</a:t>
            </a:r>
            <a:endParaRPr/>
          </a:p>
        </p:txBody>
      </p:sp>
      <p:sp>
        <p:nvSpPr>
          <p:cNvPr id="820" name="Google Shape;820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bda's agencies  |  2026 YTD</a:t>
            </a:r>
            <a:endParaRPr/>
          </a:p>
        </p:txBody>
      </p:sp>
      <p:sp>
        <p:nvSpPr>
          <p:cNvPr id="821" name="Google Shape;821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22" name="Google Shape;822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23" name="Google Shape;823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$3,373,840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24" name="Google Shape;824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25" name="Google Shape;825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30" name="Google Shape;830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31" name="Google Shape;831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32" name="Google Shape;832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834" name="Google Shape;834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36" name="Google Shape;836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22.9%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$1,128,131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41" name="Google Shape;841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842" name="Google Shape;842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$271,068</a:t>
            </a:r>
            <a:endParaRPr/>
          </a:p>
        </p:txBody>
      </p:sp>
      <p:sp>
        <p:nvSpPr>
          <p:cNvPr id="843" name="Google Shape;843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" name="Google Shape;844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47" name="Google Shape;847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$203,340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2" name="Google Shape;852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3" name="Google Shape;853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54" name="Google Shape;854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Southeastern Insurance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8" name="Google Shape;858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63" name="Google Shape;863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864" name="Google Shape;864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$81,735</a:t>
            </a:r>
            <a:endParaRPr/>
          </a:p>
        </p:txBody>
      </p:sp>
      <p:sp>
        <p:nvSpPr>
          <p:cNvPr id="865" name="Google Shape;865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9" name="Google Shape;869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Inc.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74" name="Google Shape;874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30.8%</a:t>
            </a:r>
            <a:endParaRPr/>
          </a:p>
        </p:txBody>
      </p:sp>
      <p:sp>
        <p:nvSpPr>
          <p:cNvPr id="875" name="Google Shape;875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$333,831</a:t>
            </a:r>
            <a:endParaRPr/>
          </a:p>
        </p:txBody>
      </p:sp>
      <p:sp>
        <p:nvSpPr>
          <p:cNvPr id="876" name="Google Shape;876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248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(64%)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82" name="Google Shape;882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</a:t>
            </a:r>
            <a:endParaRPr/>
          </a:p>
        </p:txBody>
      </p:sp>
      <p:sp>
        <p:nvSpPr>
          <p:cNvPr id="883" name="Google Shape;883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(29%)</a:t>
            </a:r>
            <a:endParaRPr/>
          </a:p>
        </p:txBody>
      </p:sp>
      <p:sp>
        <p:nvSpPr>
          <p:cNvPr id="884" name="Google Shape;884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85" name="Google Shape;885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886" name="Google Shape;886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(7%)</a:t>
            </a:r>
            <a:endParaRPr/>
          </a:p>
        </p:txBody>
      </p:sp>
      <p:sp>
        <p:nvSpPr>
          <p:cNvPr id="887" name="Google Shape;887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88" name="Google Shape;888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9" name="Google Shape;889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90" name="Google Shape;890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91" name="Google Shape;891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" name="Google Shape;892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93" name="Google Shape;893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12.3%  ·  Declined: 100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Portia Lewis</a:t>
            </a:r>
            <a:endParaRPr/>
          </a:p>
        </p:txBody>
      </p:sp>
      <p:sp>
        <p:nvSpPr>
          <p:cNvPr id="900" name="Google Shape;900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901" name="Google Shape;901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902" name="Google Shape;902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903" name="Google Shape;903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904" name="Google Shape;904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905" name="Google Shape;905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906" name="Google Shape;906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908" name="Google Shape;908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909" name="Google Shape;909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2" name="Google Shape;912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13" name="Google Shape;913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14" name="Google Shape;914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917" name="Google Shape;917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918" name="Google Shape;918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787</a:t>
            </a:r>
            <a:endParaRPr/>
          </a:p>
        </p:txBody>
      </p:sp>
      <p:sp>
        <p:nvSpPr>
          <p:cNvPr id="919" name="Google Shape;919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920" name="Google Shape;920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921" name="Google Shape;921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2" name="Google Shape;922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Karen Seeman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456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26" name="Google Shape;926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927" name="Google Shape;927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28" name="Google Shape;928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Jennifer Cifuentes</a:t>
            </a:r>
            <a:endParaRPr/>
          </a:p>
        </p:txBody>
      </p:sp>
      <p:sp>
        <p:nvSpPr>
          <p:cNvPr id="930" name="Google Shape;930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931" name="Google Shape;931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350</a:t>
            </a:r>
            <a:endParaRPr/>
          </a:p>
        </p:txBody>
      </p:sp>
      <p:sp>
        <p:nvSpPr>
          <p:cNvPr id="932" name="Google Shape;932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934" name="Google Shape;934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Jorge Hernandez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334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9" name="Google Shape;939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940" name="Google Shape;940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41" name="Google Shape;941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Rasa Kacinskas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330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947" name="Google Shape;947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Mary Racero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297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2" name="Google Shape;952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953" name="Google Shape;953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4" name="Google Shape;954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Mustapha Rahal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Combined Insurance &amp; Tax of Fl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186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960" name="Google Shape;960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Ariana Carrasquel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Orbis Insurance Group LLC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5" name="Google Shape;965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66" name="Google Shape;966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67" name="Google Shape;967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" name="Google Shape;968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VERA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Verafy Insurance, LLC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973" name="Google Shape;973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Caleb Jackson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Barbee Jackson Insurance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8" name="Google Shape;978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9" name="Google Shape;979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0" name="Google Shape;980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Andre Thomas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 Insurance Family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986" name="Google Shape;986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Mariana Zorrilla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1" name="Google Shape;991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992" name="Google Shape;992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93" name="Google Shape;993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Christina Battle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999" name="Google Shape;999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Rhonda Dixon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04" name="Google Shape;1004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1005" name="Google Shape;1005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06" name="Google Shape;1006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KARLA HERRERA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&amp; Beyond Llc Dba Eli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1012" name="Google Shape;1012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Diana Munoz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17" name="Google Shape;1017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1018" name="Google Shape;1018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19" name="Google Shape;1019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Yulima Valcarcel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White Bull Insurance Group Llc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1025" name="Google Shape;1025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Patrick Phelan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Relation Insurance Services Of</a:t>
            </a:r>
            <a:endParaRPr/>
          </a:p>
        </p:txBody>
      </p:sp>
      <p:sp>
        <p:nvSpPr>
          <p:cNvPr id="1028" name="Google Shape;1028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029" name="Google Shape;1029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0" name="Google Shape;1030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1" name="Google Shape;1031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32" name="Google Shape;1032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3" name="Google Shape;1033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38" name="Google Shape;1038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39" name="Google Shape;1039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40" name="Google Shape;1040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" name="Google Shape;1041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" name="Google Shape;1042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Jaime Louisdhon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Advantage Plus Insurance Inc.</a:t>
            </a:r>
            <a:endParaRPr/>
          </a:p>
        </p:txBody>
      </p:sp>
      <p:sp>
        <p:nvSpPr>
          <p:cNvPr id="1044" name="Google Shape;1044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045" name="Google Shape;1045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1047" name="Google Shape;1047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Luis Laguado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2" name="Google Shape;1052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3" name="Google Shape;1053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54" name="Google Shape;1054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Jessica Creamer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057" name="Google Shape;1057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058" name="Google Shape;1058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1060" name="Google Shape;1060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Markie Lethcho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Stagstone Risk Management, Llc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5" name="Google Shape;1065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1066" name="Google Shape;1066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67" name="Google Shape;1067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" name="Google Shape;1068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Danay De La Noval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Orbis Insurance Group LLC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3" name="Google Shape;1073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Jennifer Rheingold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8" name="Google Shape;1078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1079" name="Google Shape;1079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80" name="Google Shape;1080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Kimberly Oliveira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6" name="Google Shape;1086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Hudson Nwakanma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91" name="Google Shape;1091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18.2%</a:t>
            </a:r>
            <a:endParaRPr/>
          </a:p>
        </p:txBody>
      </p:sp>
      <p:sp>
        <p:nvSpPr>
          <p:cNvPr id="1092" name="Google Shape;1092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93" name="Google Shape;1093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4" name="Google Shape;1094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Kelli Ford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9.5%</a:t>
            </a:r>
            <a:endParaRPr/>
          </a:p>
        </p:txBody>
      </p:sp>
      <p:sp>
        <p:nvSpPr>
          <p:cNvPr id="1099" name="Google Shape;1099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David Short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Stewart Short Insurance Servic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4" name="Google Shape;1104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5" name="Google Shape;1105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06" name="Google Shape;1106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" name="Google Shape;1107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Jesus Rigoberto Huerta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 Insurance Group Inc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112" name="Google Shape;1112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Diego Martinez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 Insurance Group Inc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7" name="Google Shape;1117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118" name="Google Shape;1118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19" name="Google Shape;1119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0" name="Google Shape;1120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Justin Royster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Rdr Insurance Services, Inc.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5" name="Google Shape;1125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Osiel Giraldo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Beloved Insurance Agency Llc D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0" name="Google Shape;1130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1" name="Google Shape;1131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32" name="Google Shape;1132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Harold Cutler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Untouchable Insurance Inc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8" name="Google Shape;1138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Marisol Tiburcio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Tiburcio Professional Group Co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43" name="Google Shape;1143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44" name="Google Shape;1144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45" name="Google Shape;1145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6" name="Google Shape;1146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TAWANDA BOWE</a:t>
            </a:r>
            <a:endParaRPr/>
          </a:p>
        </p:txBody>
      </p:sp>
      <p:sp>
        <p:nvSpPr>
          <p:cNvPr id="1147" name="Google Shape;1147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1148" name="Google Shape;1148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149" name="Google Shape;1149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50" name="Google Shape;1150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1151" name="Google Shape;1151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52" name="Google Shape;1152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Lianny Soto</a:t>
            </a:r>
            <a:endParaRPr/>
          </a:p>
        </p:txBody>
      </p:sp>
      <p:sp>
        <p:nvSpPr>
          <p:cNvPr id="1153" name="Google Shape;1153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PointeNorth Insurance Group, L</a:t>
            </a:r>
            <a:endParaRPr/>
          </a:p>
        </p:txBody>
      </p:sp>
      <p:sp>
        <p:nvSpPr>
          <p:cNvPr id="1154" name="Google Shape;1154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155" name="Google Shape;1155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56" name="Google Shape;1156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57" name="Google Shape;1157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58" name="Google Shape;1158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56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2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4" name="Google Shape;1164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65" name="Google Shape;1165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66" name="Google Shape;1166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68" name="Google Shape;1168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9" name="Google Shape;1169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70" name="Google Shape;1170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172" name="Google Shape;1172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$851,003  |  Subs 787  |  Binds 18  |  HR 2.3%</a:t>
            </a:r>
            <a:endParaRPr/>
          </a:p>
        </p:txBody>
      </p:sp>
      <p:sp>
        <p:nvSpPr>
          <p:cNvPr id="1173" name="Google Shape;1173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2.3% (portfolio avg: 1.8%)  |  $851,003 YTD GWP</a:t>
            </a:r>
            <a:endParaRPr/>
          </a:p>
        </p:txBody>
      </p:sp>
      <p:sp>
        <p:nvSpPr>
          <p:cNvPr id="1174" name="Google Shape;1174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75" name="Google Shape;1175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1176" name="Google Shape;1176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$162,392  |  Subs 350  |  Binds 5  |  HR 1.4%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$162,392 YTD GWP  |  5 binds in Q1</a:t>
            </a:r>
            <a:endParaRPr/>
          </a:p>
        </p:txBody>
      </p:sp>
      <p:sp>
        <p:nvSpPr>
          <p:cNvPr id="1178" name="Google Shape;1178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1180" name="Google Shape;1180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$171,604  |  Subs 73  |  Binds 5  |  HR 6.8%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6.8% (portfolio avg: 1.8%)  |  $171,604 YTD GWP</a:t>
            </a:r>
            <a:endParaRPr/>
          </a:p>
        </p:txBody>
      </p:sp>
      <p:sp>
        <p:nvSpPr>
          <p:cNvPr id="1182" name="Google Shape;1182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Nelson Legacy Group Llc Dba Nelson Insuran</a:t>
            </a:r>
            <a:endParaRPr/>
          </a:p>
        </p:txBody>
      </p:sp>
      <p:sp>
        <p:nvSpPr>
          <p:cNvPr id="1184" name="Google Shape;1184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$14,367  |  Subs 5  |  Binds 1  |  HR 20.0%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20.0% (portfolio avg: 1.8%)  |  Submission volume up 200% MoM</a:t>
            </a:r>
            <a:endParaRPr/>
          </a:p>
        </p:txBody>
      </p:sp>
      <p:sp>
        <p:nvSpPr>
          <p:cNvPr id="1186" name="Google Shape;1186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Lester Insurance Group, Inc.</a:t>
            </a:r>
            <a:endParaRPr/>
          </a:p>
        </p:txBody>
      </p:sp>
      <p:sp>
        <p:nvSpPr>
          <p:cNvPr id="1188" name="Google Shape;1188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6  |  Binds 0  |  HR 0.0%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up 400% MoM</a:t>
            </a:r>
            <a:endParaRPr/>
          </a:p>
        </p:txBody>
      </p:sp>
      <p:sp>
        <p:nvSpPr>
          <p:cNvPr id="1190" name="Google Shape;1190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Orbis Insurance Group LLC</a:t>
            </a:r>
            <a:endParaRPr/>
          </a:p>
        </p:txBody>
      </p:sp>
      <p:sp>
        <p:nvSpPr>
          <p:cNvPr id="1192" name="Google Shape;1192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199  |  Binds 0  |  HR 0.0%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 submissions with 0 binds - zero conversion  |  132 quotes generated but 0 converted to binds</a:t>
            </a:r>
            <a:endParaRPr/>
          </a:p>
        </p:txBody>
      </p:sp>
      <p:sp>
        <p:nvSpPr>
          <p:cNvPr id="1194" name="Google Shape;1194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Barbee Jackson Insurance</a:t>
            </a:r>
            <a:endParaRPr/>
          </a:p>
        </p:txBody>
      </p:sp>
      <p:sp>
        <p:nvSpPr>
          <p:cNvPr id="1196" name="Google Shape;1196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$23,550  |  Subs 69  |  Binds 0  |  HR 0.0%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 submissions with 0 binds - zero conversion  |  Cancellations are 141% of new business ($33,206 vs $23,550)</a:t>
            </a:r>
            <a:endParaRPr/>
          </a:p>
        </p:txBody>
      </p:sp>
      <p:sp>
        <p:nvSpPr>
          <p:cNvPr id="1198" name="Google Shape;1198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99" name="Google Shape;1199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Relation Insurance Services Of North Carol</a:t>
            </a:r>
            <a:endParaRPr/>
          </a:p>
        </p:txBody>
      </p:sp>
      <p:sp>
        <p:nvSpPr>
          <p:cNvPr id="1200" name="Google Shape;1200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$10  |  Subs 29  |  Binds 0  |  HR 0.0%</a:t>
            </a:r>
            <a:endParaRPr/>
          </a:p>
        </p:txBody>
      </p:sp>
      <p:sp>
        <p:nvSpPr>
          <p:cNvPr id="1201" name="Google Shape;1201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 submissions with 0 binds - zero conversion  |  21 quotes generated but 0 converted to binds</a:t>
            </a:r>
            <a:endParaRPr/>
          </a:p>
        </p:txBody>
      </p:sp>
      <p:sp>
        <p:nvSpPr>
          <p:cNvPr id="1202" name="Google Shape;1202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03" name="Google Shape;1203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1204" name="Google Shape;1204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$36,883  |  Subs 476  |  Binds 3  |  HR 0.6%</a:t>
            </a:r>
            <a:endParaRPr/>
          </a:p>
        </p:txBody>
      </p:sp>
      <p:sp>
        <p:nvSpPr>
          <p:cNvPr id="1205" name="Google Shape;1205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0.6% on 476 subs  |  Submissions dropped 94% MoM (36 -&gt; 2)</a:t>
            </a:r>
            <a:endParaRPr/>
          </a:p>
        </p:txBody>
      </p:sp>
      <p:sp>
        <p:nvSpPr>
          <p:cNvPr id="1206" name="Google Shape;1206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07" name="Google Shape;1207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Stewart Short Insurance Services</a:t>
            </a:r>
            <a:endParaRPr/>
          </a:p>
        </p:txBody>
      </p:sp>
      <p:sp>
        <p:nvSpPr>
          <p:cNvPr id="1208" name="Google Shape;1208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$39,564  |  Subs 19  |  Binds 0  |  HR 0.0%</a:t>
            </a:r>
            <a:endParaRPr/>
          </a:p>
        </p:txBody>
      </p:sp>
      <p:sp>
        <p:nvSpPr>
          <p:cNvPr id="1209" name="Google Shape;1209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 submissions with 0 binds - zero conversion  |  Cancellations are 86% of new business ($33,927 vs $39,564)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3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5" name="Google Shape;1215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Newly Appointed in My Portfolio — Portia Lewis</a:t>
            </a:r>
            <a:endParaRPr/>
          </a:p>
        </p:txBody>
      </p:sp>
      <p:sp>
        <p:nvSpPr>
          <p:cNvPr id="1216" name="Google Shape;1216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assigned to this BDA for onboarding in 2026  |  Production metrics since assignment date</a:t>
            </a:r>
            <a:endParaRPr/>
          </a:p>
        </p:txBody>
      </p:sp>
      <p:sp>
        <p:nvSpPr>
          <p:cNvPr id="1217" name="Google Shape;1217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18" name="Google Shape;1218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Q2</a:t>
            </a:r>
            <a:endParaRPr/>
          </a:p>
        </p:txBody>
      </p:sp>
      <p:sp>
        <p:nvSpPr>
          <p:cNvPr id="1219" name="Google Shape;1219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20" name="Google Shape;1220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21" name="Google Shape;1221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22" name="Google Shape;1222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3/3 appointed agencies have submitted (100%)  •  0/3 have bound (0%)  •  Total bound: 0  •  Total GWP: $0</a:t>
            </a:r>
            <a:endParaRPr/>
          </a:p>
        </p:txBody>
      </p:sp>
      <p:sp>
        <p:nvSpPr>
          <p:cNvPr id="1223" name="Google Shape;1223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4" name="Google Shape;1224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25" name="Google Shape;1225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26" name="Google Shape;1226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27" name="Google Shape;1227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8" name="Google Shape;1228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29" name="Google Shape;1229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30" name="Google Shape;1230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31" name="Google Shape;1231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32" name="Google Shape;1232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3" name="Google Shape;1233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Untouchable Insurance Inc</a:t>
            </a:r>
            <a:endParaRPr/>
          </a:p>
        </p:txBody>
      </p:sp>
      <p:sp>
        <p:nvSpPr>
          <p:cNvPr id="1234" name="Google Shape;1234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2026-03-16</a:t>
            </a:r>
            <a:endParaRPr/>
          </a:p>
        </p:txBody>
      </p:sp>
      <p:sp>
        <p:nvSpPr>
          <p:cNvPr id="1235" name="Google Shape;1235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236" name="Google Shape;1236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7d</a:t>
            </a:r>
            <a:endParaRPr/>
          </a:p>
        </p:txBody>
      </p:sp>
      <p:sp>
        <p:nvSpPr>
          <p:cNvPr id="1237" name="Google Shape;1237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8" name="Google Shape;1238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9" name="Google Shape;1239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0" name="Google Shape;1240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Gulf South Insurance Agency Llc</a:t>
            </a:r>
            <a:endParaRPr/>
          </a:p>
        </p:txBody>
      </p:sp>
      <p:sp>
        <p:nvSpPr>
          <p:cNvPr id="1241" name="Google Shape;1241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2026-02-23</a:t>
            </a:r>
            <a:endParaRPr/>
          </a:p>
        </p:txBody>
      </p:sp>
      <p:sp>
        <p:nvSpPr>
          <p:cNvPr id="1242" name="Google Shape;1242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243" name="Google Shape;1243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57d</a:t>
            </a:r>
            <a:endParaRPr/>
          </a:p>
        </p:txBody>
      </p:sp>
      <p:sp>
        <p:nvSpPr>
          <p:cNvPr id="1244" name="Google Shape;1244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5" name="Google Shape;1245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6" name="Google Shape;1246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7" name="Google Shape;1247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8" name="Google Shape;1248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Camp Insurance Llc</a:t>
            </a:r>
            <a:endParaRPr/>
          </a:p>
        </p:txBody>
      </p:sp>
      <p:sp>
        <p:nvSpPr>
          <p:cNvPr id="1249" name="Google Shape;1249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2026-02-05</a:t>
            </a:r>
            <a:endParaRPr/>
          </a:p>
        </p:txBody>
      </p:sp>
      <p:sp>
        <p:nvSpPr>
          <p:cNvPr id="1250" name="Google Shape;1250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251" name="Google Shape;1251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33d</a:t>
            </a:r>
            <a:endParaRPr/>
          </a:p>
        </p:txBody>
      </p:sp>
      <p:sp>
        <p:nvSpPr>
          <p:cNvPr id="1252" name="Google Shape;1252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3" name="Google Shape;1253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4" name="Google Shape;1254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5" name="Google Shape;1255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9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1" name="Google Shape;1261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62" name="Google Shape;1262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Portfolio  |  Jan–May 2026  |  Strengths, gaps, and ranked action items</a:t>
            </a:r>
            <a:endParaRPr/>
          </a:p>
        </p:txBody>
      </p:sp>
      <p:sp>
        <p:nvSpPr>
          <p:cNvPr id="1263" name="Google Shape;1263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4" name="Google Shape;1264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65" name="Google Shape;1265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6" name="Google Shape;1266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(Vantage Ins Llc, Ins Professionals Of Geor, Zenith Insurance Partners) drive $1,187,846 (53%) of portfolio YTD GWP</a:t>
            </a:r>
            <a:endParaRPr/>
          </a:p>
        </p:txBody>
      </p:sp>
      <p:sp>
        <p:nvSpPr>
          <p:cNvPr id="1267" name="Google Shape;1267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8" name="Google Shape;1268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Business Expansion S (20.0%), Nelson Legacy Group  (20.0%), Yd Insurance &amp; Finan (12.5%)</a:t>
            </a:r>
            <a:endParaRPr/>
          </a:p>
        </p:txBody>
      </p:sp>
      <p:sp>
        <p:nvSpPr>
          <p:cNvPr id="1269" name="Google Shape;1269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70" name="Google Shape;1270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agencies converting submissions to bound business in Jan–May 2026</a:t>
            </a:r>
            <a:endParaRPr/>
          </a:p>
        </p:txBody>
      </p:sp>
      <p:sp>
        <p:nvSpPr>
          <p:cNvPr id="1271" name="Google Shape;1271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72" name="Google Shape;1272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4,019 total submissions across 47 active agencies</a:t>
            </a:r>
            <a:endParaRPr/>
          </a:p>
        </p:txBody>
      </p:sp>
      <p:sp>
        <p:nvSpPr>
          <p:cNvPr id="1273" name="Google Shape;1273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4" name="Google Shape;1274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275" name="Google Shape;1275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6" name="Google Shape;1276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agencies with zero Jan–May 2026 activity: Allstars Insurance P, Assured Insurance Co, Clark Farley Insuran...</a:t>
            </a:r>
            <a:endParaRPr/>
          </a:p>
        </p:txBody>
      </p:sp>
      <p:sp>
        <p:nvSpPr>
          <p:cNvPr id="1277" name="Google Shape;1277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8" name="Google Shape;1278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 agencies submitting but 0 binds (455 subs): Orbis Insurance Grou (199), Barbee Jackson Insur (69)</a:t>
            </a:r>
            <a:endParaRPr/>
          </a:p>
        </p:txBody>
      </p:sp>
      <p:sp>
        <p:nvSpPr>
          <p:cNvPr id="1279" name="Google Shape;1279;p12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80" name="Google Shape;1280;p12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Sbh Capital Llc Dba  (0.6%), Insurance Team Of Am (0.6%), Go Safe Agency Corp (0.7%)</a:t>
            </a:r>
            <a:endParaRPr/>
          </a:p>
        </p:txBody>
      </p:sp>
      <p:sp>
        <p:nvSpPr>
          <p:cNvPr id="1281" name="Google Shape;1281;p1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82" name="Google Shape;1282;p12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Overall portfolio hit ratio 1.8% — below 5-8% target</a:t>
            </a:r>
            <a:endParaRPr/>
          </a:p>
        </p:txBody>
      </p:sp>
      <p:sp>
        <p:nvSpPr>
          <p:cNvPr id="1283" name="Google Shape;1283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4" name="Google Shape;1284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285" name="Google Shape;1285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86" name="Google Shape;1286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Lift Portfolio Hit Ratio to 5%</a:t>
            </a:r>
            <a:endParaRPr/>
          </a:p>
        </p:txBody>
      </p:sp>
      <p:sp>
        <p:nvSpPr>
          <p:cNvPr id="1287" name="Google Shape;1287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Current: 1.8% (74 binds / 4,019 subs). Need 126 more binds. Focus on submission quality and appetite education.</a:t>
            </a:r>
            <a:endParaRPr/>
          </a:p>
        </p:txBody>
      </p:sp>
      <p:sp>
        <p:nvSpPr>
          <p:cNvPr id="1288" name="Google Shape;1288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89" name="Google Shape;1289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290" name="Google Shape;1290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 agencies with 20+ subs but &lt;3% HR: Sbh Capital Llc Dba  (0.6%), Insurance Team Of Am (0.6%), Go Safe Agency Corp (0.7%). Conduct submission quality training to lift conversion 2-3 points.</a:t>
            </a:r>
            <a:endParaRPr/>
          </a:p>
        </p:txBody>
      </p:sp>
      <p:sp>
        <p:nvSpPr>
          <p:cNvPr id="1291" name="Google Shape;1291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92" name="Google Shape;1292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 High-Volume Growth Candidates</a:t>
            </a:r>
            <a:endParaRPr/>
          </a:p>
        </p:txBody>
      </p:sp>
      <p:sp>
        <p:nvSpPr>
          <p:cNvPr id="1293" name="Google Shape;1293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agencies with 30+ subs and some binds but &lt;5% HR: Vantage Ins Llc (787s/18b), Insurance Team Of Am (476s/3b), In Trucks Insurance  (350s/5b). Small HR improvements on large volume = significant premium lift.</a:t>
            </a:r>
            <a:endParaRPr/>
          </a:p>
        </p:txBody>
      </p:sp>
      <p:sp>
        <p:nvSpPr>
          <p:cNvPr id="1294" name="Google Shape;1294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95" name="Google Shape;1295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Close Quote-to-Bind Gap</a:t>
            </a:r>
            <a:endParaRPr/>
          </a:p>
        </p:txBody>
      </p:sp>
      <p:sp>
        <p:nvSpPr>
          <p:cNvPr id="1296" name="Google Shape;1296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agencies have 287 quotes but 0 binds: Orbis Insurance Group LLC (132q), Barbee Jackson Insurance (41q), Relation Insurance Servic (21q). Follow up on pricing, coverage, response time gaps.</a:t>
            </a:r>
            <a:endParaRPr/>
          </a:p>
        </p:txBody>
      </p:sp>
      <p:sp>
        <p:nvSpPr>
          <p:cNvPr id="1297" name="Google Shape;1297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98" name="Google Shape;1298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299" name="Google Shape;1299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agencies with cancellations &gt;40% of new biz: Vantage Ins Llc, Art Insurance Family, Ins Professionals Of Geor. $680,027 total cancellations - investigate retention.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3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5" name="Google Shape;1305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306" name="Google Shape;1306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 |  Last 25 Bound Submissions  |  74 Total Bound in Portfolio</a:t>
            </a:r>
            <a:endParaRPr/>
          </a:p>
        </p:txBody>
      </p:sp>
      <p:sp>
        <p:nvSpPr>
          <p:cNvPr id="1307" name="Google Shape;1307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308" name="Google Shape;1308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309" name="Google Shape;1309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310" name="Google Shape;1310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311" name="Google Shape;1311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312" name="Google Shape;1312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13" name="Google Shape;1313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14" name="Google Shape;1314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5" name="Google Shape;1315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16" name="Google Shape;1316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255008182541</a:t>
            </a:r>
            <a:endParaRPr/>
          </a:p>
        </p:txBody>
      </p:sp>
      <p:sp>
        <p:nvSpPr>
          <p:cNvPr id="1317" name="Google Shape;1317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318" name="Google Shape;1318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OS LOGISTICS LLC</a:t>
            </a:r>
            <a:endParaRPr/>
          </a:p>
        </p:txBody>
      </p:sp>
      <p:sp>
        <p:nvSpPr>
          <p:cNvPr id="1319" name="Google Shape;1319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320" name="Google Shape;1320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$43,368</a:t>
            </a:r>
            <a:endParaRPr/>
          </a:p>
        </p:txBody>
      </p:sp>
      <p:sp>
        <p:nvSpPr>
          <p:cNvPr id="1321" name="Google Shape;1321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22" name="Google Shape;1322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3" name="Google Shape;1323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24" name="Google Shape;1324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261098435080</a:t>
            </a:r>
            <a:endParaRPr/>
          </a:p>
        </p:txBody>
      </p:sp>
      <p:sp>
        <p:nvSpPr>
          <p:cNvPr id="1325" name="Google Shape;1325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326" name="Google Shape;1326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METROHAUL LOGISTICS LLC</a:t>
            </a:r>
            <a:endParaRPr/>
          </a:p>
        </p:txBody>
      </p:sp>
      <p:sp>
        <p:nvSpPr>
          <p:cNvPr id="1327" name="Google Shape;1327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328" name="Google Shape;1328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$119,943</a:t>
            </a:r>
            <a:endParaRPr/>
          </a:p>
        </p:txBody>
      </p:sp>
      <p:sp>
        <p:nvSpPr>
          <p:cNvPr id="1329" name="Google Shape;1329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30" name="Google Shape;1330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31" name="Google Shape;1331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262793909054</a:t>
            </a:r>
            <a:endParaRPr/>
          </a:p>
        </p:txBody>
      </p:sp>
      <p:sp>
        <p:nvSpPr>
          <p:cNvPr id="1332" name="Google Shape;1332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333" name="Google Shape;1333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LOGOS EXPRESS LLC</a:t>
            </a:r>
            <a:endParaRPr/>
          </a:p>
        </p:txBody>
      </p:sp>
      <p:sp>
        <p:nvSpPr>
          <p:cNvPr id="1334" name="Google Shape;1334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335" name="Google Shape;1335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$56,339</a:t>
            </a:r>
            <a:endParaRPr/>
          </a:p>
        </p:txBody>
      </p:sp>
      <p:sp>
        <p:nvSpPr>
          <p:cNvPr id="1336" name="Google Shape;1336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37" name="Google Shape;1337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8" name="Google Shape;1338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39" name="Google Shape;1339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258202203794</a:t>
            </a:r>
            <a:endParaRPr/>
          </a:p>
        </p:txBody>
      </p:sp>
      <p:sp>
        <p:nvSpPr>
          <p:cNvPr id="1340" name="Google Shape;1340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Southeastern I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OSEJO'S PRESTIGE HAULING LLC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Jorge Hernandez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$87,439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262010851338</a:t>
            </a:r>
            <a:endParaRPr/>
          </a:p>
        </p:txBody>
      </p:sp>
      <p:sp>
        <p:nvSpPr>
          <p:cNvPr id="1347" name="Google Shape;1347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1348" name="Google Shape;1348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BSMB DISPATCH SOLUTIONS LLC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Christina Battle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$20,375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352" name="Google Shape;1352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3" name="Google Shape;1353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54" name="Google Shape;1354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262713191179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RAMTRANS LLC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Jennifer Cifuentes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20, 2026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61" name="Google Shape;1361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252768380121</a:t>
            </a:r>
            <a:endParaRPr/>
          </a:p>
        </p:txBody>
      </p:sp>
      <p:sp>
        <p:nvSpPr>
          <p:cNvPr id="1362" name="Google Shape;1362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Expansion Strategies, Llc</a:t>
            </a:r>
            <a:endParaRPr/>
          </a:p>
        </p:txBody>
      </p:sp>
      <p:sp>
        <p:nvSpPr>
          <p:cNvPr id="1363" name="Google Shape;1363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LOWES LOGISTICS INC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Carlos Torres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$124,824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67" name="Google Shape;1367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8" name="Google Shape;1368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251590584351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 Insurance Family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 MINUTE INC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Andre Thomas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$24,316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76" name="Google Shape;1376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268856830312</a:t>
            </a:r>
            <a:endParaRPr/>
          </a:p>
        </p:txBody>
      </p:sp>
      <p:sp>
        <p:nvSpPr>
          <p:cNvPr id="1377" name="Google Shape;1377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Inc.</a:t>
            </a:r>
            <a:endParaRPr/>
          </a:p>
        </p:txBody>
      </p:sp>
      <p:sp>
        <p:nvSpPr>
          <p:cNvPr id="1378" name="Google Shape;1378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I&amp;T TRUCKING LLC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Hudson Nwakanma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$19,423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16, 2026</a:t>
            </a:r>
            <a:endParaRPr/>
          </a:p>
        </p:txBody>
      </p:sp>
      <p:sp>
        <p:nvSpPr>
          <p:cNvPr id="1382" name="Google Shape;1382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3" name="Google Shape;1383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261284235399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AUXVAC LLC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Jessica Creamer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$22,549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391" name="Google Shape;1391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268495088531</a:t>
            </a:r>
            <a:endParaRPr/>
          </a:p>
        </p:txBody>
      </p:sp>
      <p:sp>
        <p:nvSpPr>
          <p:cNvPr id="1392" name="Google Shape;1392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393" name="Google Shape;1393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AMMA Logistics LLC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Jennifer Rheingold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$1,100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397" name="Google Shape;1397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8" name="Google Shape;1398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260118406736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ALC TRUCKING LLC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$37,717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11, 2026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406" name="Google Shape;1406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263665821438</a:t>
            </a:r>
            <a:endParaRPr/>
          </a:p>
        </p:txBody>
      </p:sp>
      <p:sp>
        <p:nvSpPr>
          <p:cNvPr id="1407" name="Google Shape;1407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408" name="Google Shape;1408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 WILSON GUZMAN LLC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$18,746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412" name="Google Shape;1412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3" name="Google Shape;1413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265603097956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CAMC LOGISTICS LLC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$13,877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07, 2026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21" name="Google Shape;1421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268342495732</a:t>
            </a:r>
            <a:endParaRPr/>
          </a:p>
        </p:txBody>
      </p:sp>
      <p:sp>
        <p:nvSpPr>
          <p:cNvPr id="1422" name="Google Shape;1422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 Insurance Group Inc</a:t>
            </a:r>
            <a:endParaRPr/>
          </a:p>
        </p:txBody>
      </p:sp>
      <p:sp>
        <p:nvSpPr>
          <p:cNvPr id="1423" name="Google Shape;1423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JTS LOGISTICS LLC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Diego Martinez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$2,752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07, 2026</a:t>
            </a:r>
            <a:endParaRPr/>
          </a:p>
        </p:txBody>
      </p:sp>
      <p:sp>
        <p:nvSpPr>
          <p:cNvPr id="1427" name="Google Shape;1427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8" name="Google Shape;1428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250440657611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NOMADZ GLOBAL LLC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Rasa Kacinskas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$16,181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06, 2026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36" name="Google Shape;1436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269140358808</a:t>
            </a:r>
            <a:endParaRPr/>
          </a:p>
        </p:txBody>
      </p:sp>
      <p:sp>
        <p:nvSpPr>
          <p:cNvPr id="1437" name="Google Shape;1437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1438" name="Google Shape;1438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DUNCAN ENTERPRISE OF CHARLOTTE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Rasa Kacinskas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$20,411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01, 2026</a:t>
            </a:r>
            <a:endParaRPr/>
          </a:p>
        </p:txBody>
      </p:sp>
      <p:sp>
        <p:nvSpPr>
          <p:cNvPr id="1442" name="Google Shape;1442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3" name="Google Shape;1443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254360816370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SANCHEZ EXPRESS LLC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$12,930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30, 2026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51" name="Google Shape;1451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262312486831</a:t>
            </a:r>
            <a:endParaRPr/>
          </a:p>
        </p:txBody>
      </p:sp>
      <p:sp>
        <p:nvSpPr>
          <p:cNvPr id="1452" name="Google Shape;1452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&amp; Beyond Llc Dba Elite I</a:t>
            </a:r>
            <a:endParaRPr/>
          </a:p>
        </p:txBody>
      </p:sp>
      <p:sp>
        <p:nvSpPr>
          <p:cNvPr id="1453" name="Google Shape;1453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PROFESSIONAL DELIVERY LLC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KARLA HERRERA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$82,315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30, 2026</a:t>
            </a:r>
            <a:endParaRPr/>
          </a:p>
        </p:txBody>
      </p:sp>
      <p:sp>
        <p:nvSpPr>
          <p:cNvPr id="1457" name="Google Shape;1457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8" name="Google Shape;1458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257778536580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 &amp; Z LOGISTICS INC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$28,729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29, 2026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66" name="Google Shape;1466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260130212901</a:t>
            </a:r>
            <a:endParaRPr/>
          </a:p>
        </p:txBody>
      </p:sp>
      <p:sp>
        <p:nvSpPr>
          <p:cNvPr id="1467" name="Google Shape;1467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468" name="Google Shape;1468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LRZ TRANSPORTATION LLC</a:t>
            </a:r>
            <a:endParaRPr/>
          </a:p>
        </p:txBody>
      </p:sp>
      <p:sp>
        <p:nvSpPr>
          <p:cNvPr id="1469" name="Google Shape;1469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470" name="Google Shape;1470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471" name="Google Shape;1471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28, 2026</a:t>
            </a:r>
            <a:endParaRPr/>
          </a:p>
        </p:txBody>
      </p:sp>
      <p:sp>
        <p:nvSpPr>
          <p:cNvPr id="1472" name="Google Shape;1472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3" name="Google Shape;1473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74" name="Google Shape;1474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264366579790</a:t>
            </a:r>
            <a:endParaRPr/>
          </a:p>
        </p:txBody>
      </p:sp>
      <p:sp>
        <p:nvSpPr>
          <p:cNvPr id="1475" name="Google Shape;1475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Inc.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BLUERIDGE LOGISTIC LLC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Hudson Nwakanma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$15,447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28, 2026</a:t>
            </a:r>
            <a:endParaRPr/>
          </a:p>
        </p:txBody>
      </p:sp>
      <p:sp>
        <p:nvSpPr>
          <p:cNvPr id="1480" name="Google Shape;1480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481" name="Google Shape;1481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265935484994</a:t>
            </a:r>
            <a:endParaRPr/>
          </a:p>
        </p:txBody>
      </p:sp>
      <p:sp>
        <p:nvSpPr>
          <p:cNvPr id="1482" name="Google Shape;1482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White Bull Insurance Group Llc</a:t>
            </a:r>
            <a:endParaRPr/>
          </a:p>
        </p:txBody>
      </p:sp>
      <p:sp>
        <p:nvSpPr>
          <p:cNvPr id="1483" name="Google Shape;1483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HERRERA PILOT LLC</a:t>
            </a:r>
            <a:endParaRPr/>
          </a:p>
        </p:txBody>
      </p:sp>
      <p:sp>
        <p:nvSpPr>
          <p:cNvPr id="1484" name="Google Shape;1484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Yulima Valcarcel</a:t>
            </a:r>
            <a:endParaRPr/>
          </a:p>
        </p:txBody>
      </p:sp>
      <p:sp>
        <p:nvSpPr>
          <p:cNvPr id="1485" name="Google Shape;1485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$25,285</a:t>
            </a:r>
            <a:endParaRPr/>
          </a:p>
        </p:txBody>
      </p:sp>
      <p:sp>
        <p:nvSpPr>
          <p:cNvPr id="1486" name="Google Shape;1486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27, 2026</a:t>
            </a:r>
            <a:endParaRPr/>
          </a:p>
        </p:txBody>
      </p:sp>
      <p:sp>
        <p:nvSpPr>
          <p:cNvPr id="1487" name="Google Shape;1487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8" name="Google Shape;1488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489" name="Google Shape;1489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261234067209</a:t>
            </a:r>
            <a:endParaRPr/>
          </a:p>
        </p:txBody>
      </p:sp>
      <p:sp>
        <p:nvSpPr>
          <p:cNvPr id="1490" name="Google Shape;1490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MJM TRANSPORTATION LLC</a:t>
            </a:r>
            <a:endParaRPr/>
          </a:p>
        </p:txBody>
      </p:sp>
      <p:sp>
        <p:nvSpPr>
          <p:cNvPr id="1492" name="Google Shape;1492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Diana Munoz</a:t>
            </a:r>
            <a:endParaRPr/>
          </a:p>
        </p:txBody>
      </p:sp>
      <p:sp>
        <p:nvSpPr>
          <p:cNvPr id="1493" name="Google Shape;1493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$2,169</a:t>
            </a:r>
            <a:endParaRPr/>
          </a:p>
        </p:txBody>
      </p:sp>
      <p:sp>
        <p:nvSpPr>
          <p:cNvPr id="1494" name="Google Shape;1494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25, 2026</a:t>
            </a:r>
            <a:endParaRPr/>
          </a:p>
        </p:txBody>
      </p:sp>
      <p:sp>
        <p:nvSpPr>
          <p:cNvPr id="1495" name="Google Shape;1495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496" name="Google Shape;1496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262228899761</a:t>
            </a:r>
            <a:endParaRPr/>
          </a:p>
        </p:txBody>
      </p:sp>
      <p:sp>
        <p:nvSpPr>
          <p:cNvPr id="1497" name="Google Shape;1497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1498" name="Google Shape;1498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GOLD CLASS TRUCKING LLC</a:t>
            </a:r>
            <a:endParaRPr/>
          </a:p>
        </p:txBody>
      </p:sp>
      <p:sp>
        <p:nvSpPr>
          <p:cNvPr id="1499" name="Google Shape;1499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TAWANDA BOWE</a:t>
            </a:r>
            <a:endParaRPr/>
          </a:p>
        </p:txBody>
      </p:sp>
      <p:sp>
        <p:nvSpPr>
          <p:cNvPr id="1500" name="Google Shape;1500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501" name="Google Shape;1501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24, 2026</a:t>
            </a:r>
            <a:endParaRPr/>
          </a:p>
        </p:txBody>
      </p:sp>
      <p:sp>
        <p:nvSpPr>
          <p:cNvPr id="1502" name="Google Shape;1502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3" name="Google Shape;1503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504" name="Google Shape;1504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$797,886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8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" name="Google Shape;1509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0" name="Google Shape;1510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511" name="Google Shape;1511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 |  Active in-force policies expiring through Aug 26, 2026</a:t>
            </a:r>
            <a:endParaRPr/>
          </a:p>
        </p:txBody>
      </p:sp>
      <p:sp>
        <p:nvSpPr>
          <p:cNvPr id="1512" name="Google Shape;1512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13" name="Google Shape;1513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$408,474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14" name="Google Shape;1514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15" name="Google Shape;1515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16" name="Google Shape;1516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17" name="Google Shape;1517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8" name="Google Shape;1518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19" name="Google Shape;1519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20" name="Google Shape;1520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21" name="Google Shape;1521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22" name="Google Shape;1522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23" name="Google Shape;1523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24" name="Google Shape;1524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25" name="Google Shape;1525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26" name="Google Shape;1526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27" name="Google Shape;1527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8" name="Google Shape;1528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1529" name="Google Shape;1529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253928598753</a:t>
            </a:r>
            <a:endParaRPr/>
          </a:p>
        </p:txBody>
      </p:sp>
      <p:sp>
        <p:nvSpPr>
          <p:cNvPr id="1530" name="Google Shape;1530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QUEEN OF THE ROAD LLC</a:t>
            </a:r>
            <a:endParaRPr/>
          </a:p>
        </p:txBody>
      </p:sp>
      <p:sp>
        <p:nvSpPr>
          <p:cNvPr id="1531" name="Google Shape;1531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2026-06-06</a:t>
            </a:r>
            <a:endParaRPr/>
          </a:p>
        </p:txBody>
      </p:sp>
      <p:sp>
        <p:nvSpPr>
          <p:cNvPr id="1532" name="Google Shape;1532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9d</a:t>
            </a:r>
            <a:endParaRPr/>
          </a:p>
        </p:txBody>
      </p:sp>
      <p:sp>
        <p:nvSpPr>
          <p:cNvPr id="1533" name="Google Shape;1533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34" name="Google Shape;1534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$10,927</a:t>
            </a:r>
            <a:endParaRPr/>
          </a:p>
        </p:txBody>
      </p:sp>
      <p:sp>
        <p:nvSpPr>
          <p:cNvPr id="1535" name="Google Shape;1535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IL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537" name="Google Shape;1537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255078974376</a:t>
            </a:r>
            <a:endParaRPr/>
          </a:p>
        </p:txBody>
      </p:sp>
      <p:sp>
        <p:nvSpPr>
          <p:cNvPr id="1538" name="Google Shape;1538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JRC LOGISTICS LLC</a:t>
            </a:r>
            <a:endParaRPr/>
          </a:p>
        </p:txBody>
      </p:sp>
      <p:sp>
        <p:nvSpPr>
          <p:cNvPr id="1539" name="Google Shape;1539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2026-06-06</a:t>
            </a:r>
            <a:endParaRPr/>
          </a:p>
        </p:txBody>
      </p:sp>
      <p:sp>
        <p:nvSpPr>
          <p:cNvPr id="1540" name="Google Shape;1540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9d</a:t>
            </a:r>
            <a:endParaRPr/>
          </a:p>
        </p:txBody>
      </p:sp>
      <p:sp>
        <p:nvSpPr>
          <p:cNvPr id="1541" name="Google Shape;1541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42" name="Google Shape;1542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$33,494</a:t>
            </a:r>
            <a:endParaRPr/>
          </a:p>
        </p:txBody>
      </p:sp>
      <p:sp>
        <p:nvSpPr>
          <p:cNvPr id="1543" name="Google Shape;1543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NC</a:t>
            </a:r>
            <a:endParaRPr/>
          </a:p>
        </p:txBody>
      </p:sp>
      <p:sp>
        <p:nvSpPr>
          <p:cNvPr id="1544" name="Google Shape;1544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5" name="Google Shape;1545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Expansion Strategies,</a:t>
            </a:r>
            <a:endParaRPr/>
          </a:p>
        </p:txBody>
      </p:sp>
      <p:sp>
        <p:nvSpPr>
          <p:cNvPr id="1546" name="Google Shape;1546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255767854495</a:t>
            </a:r>
            <a:endParaRPr/>
          </a:p>
        </p:txBody>
      </p:sp>
      <p:sp>
        <p:nvSpPr>
          <p:cNvPr id="1547" name="Google Shape;1547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SYNERGY EXPRESS INC</a:t>
            </a:r>
            <a:endParaRPr/>
          </a:p>
        </p:txBody>
      </p:sp>
      <p:sp>
        <p:nvSpPr>
          <p:cNvPr id="1548" name="Google Shape;1548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2026-06-06</a:t>
            </a:r>
            <a:endParaRPr/>
          </a:p>
        </p:txBody>
      </p:sp>
      <p:sp>
        <p:nvSpPr>
          <p:cNvPr id="1549" name="Google Shape;1549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9d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$2,013</a:t>
            </a:r>
            <a:endParaRPr/>
          </a:p>
        </p:txBody>
      </p:sp>
      <p:sp>
        <p:nvSpPr>
          <p:cNvPr id="1552" name="Google Shape;1552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553" name="Google Shape;1553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Advantage Plus Insurance Inc.</a:t>
            </a:r>
            <a:endParaRPr/>
          </a:p>
        </p:txBody>
      </p:sp>
      <p:sp>
        <p:nvSpPr>
          <p:cNvPr id="1554" name="Google Shape;1554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251582712237</a:t>
            </a:r>
            <a:endParaRPr/>
          </a:p>
        </p:txBody>
      </p:sp>
      <p:sp>
        <p:nvSpPr>
          <p:cNvPr id="1555" name="Google Shape;1555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HERCULES TRANSPORTATION LLC</a:t>
            </a:r>
            <a:endParaRPr/>
          </a:p>
        </p:txBody>
      </p:sp>
      <p:sp>
        <p:nvSpPr>
          <p:cNvPr id="1556" name="Google Shape;1556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2026-06-20</a:t>
            </a:r>
            <a:endParaRPr/>
          </a:p>
        </p:txBody>
      </p:sp>
      <p:sp>
        <p:nvSpPr>
          <p:cNvPr id="1557" name="Google Shape;1557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23d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$4,393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</a:t>
            </a:r>
            <a:endParaRPr/>
          </a:p>
        </p:txBody>
      </p:sp>
      <p:sp>
        <p:nvSpPr>
          <p:cNvPr id="1561" name="Google Shape;1561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2" name="Google Shape;1562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Expansion Strategies,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252768380121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LOWES LOGISTICS INC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2026-06-30</a:t>
            </a:r>
            <a:endParaRPr/>
          </a:p>
        </p:txBody>
      </p:sp>
      <p:sp>
        <p:nvSpPr>
          <p:cNvPr id="1566" name="Google Shape;1566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33d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$105,922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257713728754</a:t>
            </a:r>
            <a:endParaRPr/>
          </a:p>
        </p:txBody>
      </p:sp>
      <p:sp>
        <p:nvSpPr>
          <p:cNvPr id="1572" name="Google Shape;1572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SALDIVIA GROUP INC</a:t>
            </a:r>
            <a:endParaRPr/>
          </a:p>
        </p:txBody>
      </p:sp>
      <p:sp>
        <p:nvSpPr>
          <p:cNvPr id="1573" name="Google Shape;1573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2026-07-09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42d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578" name="Google Shape;1578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9" name="Google Shape;1579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258164280507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CUCURU 056 LLC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2026-07-11</a:t>
            </a:r>
            <a:endParaRPr/>
          </a:p>
        </p:txBody>
      </p:sp>
      <p:sp>
        <p:nvSpPr>
          <p:cNvPr id="1583" name="Google Shape;1583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44d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$12,344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 Insurance Family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251590584351</a:t>
            </a:r>
            <a:endParaRPr/>
          </a:p>
        </p:txBody>
      </p:sp>
      <p:sp>
        <p:nvSpPr>
          <p:cNvPr id="1589" name="Google Shape;1589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 MINUTE INC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2026-07-21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54d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93" name="Google Shape;1593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$35,511</a:t>
            </a:r>
            <a:endParaRPr/>
          </a:p>
        </p:txBody>
      </p:sp>
      <p:sp>
        <p:nvSpPr>
          <p:cNvPr id="1594" name="Google Shape;1594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</a:t>
            </a:r>
            <a:endParaRPr/>
          </a:p>
        </p:txBody>
      </p:sp>
      <p:sp>
        <p:nvSpPr>
          <p:cNvPr id="1595" name="Google Shape;1595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6" name="Google Shape;1596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1597" name="Google Shape;1597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254367774752</a:t>
            </a:r>
            <a:endParaRPr/>
          </a:p>
        </p:txBody>
      </p:sp>
      <p:sp>
        <p:nvSpPr>
          <p:cNvPr id="1598" name="Google Shape;1598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HUMBLE WEAR APPAREL LLC</a:t>
            </a:r>
            <a:endParaRPr/>
          </a:p>
        </p:txBody>
      </p:sp>
      <p:sp>
        <p:nvSpPr>
          <p:cNvPr id="1599" name="Google Shape;1599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2026-07-24</a:t>
            </a:r>
            <a:endParaRPr/>
          </a:p>
        </p:txBody>
      </p:sp>
      <p:sp>
        <p:nvSpPr>
          <p:cNvPr id="1600" name="Google Shape;1600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57d</a:t>
            </a:r>
            <a:endParaRPr/>
          </a:p>
        </p:txBody>
      </p:sp>
      <p:sp>
        <p:nvSpPr>
          <p:cNvPr id="1601" name="Google Shape;1601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603" name="Google Shape;1603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04" name="Google Shape;1604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Tiburcio Professional Group Co</a:t>
            </a:r>
            <a:endParaRPr/>
          </a:p>
        </p:txBody>
      </p:sp>
      <p:sp>
        <p:nvSpPr>
          <p:cNvPr id="1605" name="Google Shape;1605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252651166959</a:t>
            </a:r>
            <a:endParaRPr/>
          </a:p>
        </p:txBody>
      </p:sp>
      <p:sp>
        <p:nvSpPr>
          <p:cNvPr id="1606" name="Google Shape;1606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 M H TRUCKING INC</a:t>
            </a:r>
            <a:endParaRPr/>
          </a:p>
        </p:txBody>
      </p:sp>
      <p:sp>
        <p:nvSpPr>
          <p:cNvPr id="1607" name="Google Shape;1607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2026-08-01</a:t>
            </a:r>
            <a:endParaRPr/>
          </a:p>
        </p:txBody>
      </p:sp>
      <p:sp>
        <p:nvSpPr>
          <p:cNvPr id="1608" name="Google Shape;1608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65d</a:t>
            </a:r>
            <a:endParaRPr/>
          </a:p>
        </p:txBody>
      </p:sp>
      <p:sp>
        <p:nvSpPr>
          <p:cNvPr id="1609" name="Google Shape;1609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10" name="Google Shape;1610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$911</a:t>
            </a:r>
            <a:endParaRPr/>
          </a:p>
        </p:txBody>
      </p:sp>
      <p:sp>
        <p:nvSpPr>
          <p:cNvPr id="1611" name="Google Shape;1611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12" name="Google Shape;1612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3" name="Google Shape;1613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Advantage Plus Insurance Inc.</a:t>
            </a:r>
            <a:endParaRPr/>
          </a:p>
        </p:txBody>
      </p:sp>
      <p:sp>
        <p:nvSpPr>
          <p:cNvPr id="1614" name="Google Shape;1614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258576398076</a:t>
            </a:r>
            <a:endParaRPr/>
          </a:p>
        </p:txBody>
      </p:sp>
      <p:sp>
        <p:nvSpPr>
          <p:cNvPr id="1615" name="Google Shape;1615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FELICITY ENTERPRISES LLC</a:t>
            </a:r>
            <a:endParaRPr/>
          </a:p>
        </p:txBody>
      </p:sp>
      <p:sp>
        <p:nvSpPr>
          <p:cNvPr id="1616" name="Google Shape;1616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2026-08-01</a:t>
            </a:r>
            <a:endParaRPr/>
          </a:p>
        </p:txBody>
      </p:sp>
      <p:sp>
        <p:nvSpPr>
          <p:cNvPr id="1617" name="Google Shape;1617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65d</a:t>
            </a:r>
            <a:endParaRPr/>
          </a:p>
        </p:txBody>
      </p:sp>
      <p:sp>
        <p:nvSpPr>
          <p:cNvPr id="1618" name="Google Shape;1618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19" name="Google Shape;1619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$1,613</a:t>
            </a:r>
            <a:endParaRPr/>
          </a:p>
        </p:txBody>
      </p:sp>
      <p:sp>
        <p:nvSpPr>
          <p:cNvPr id="1620" name="Google Shape;1620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</a:t>
            </a:r>
            <a:endParaRPr/>
          </a:p>
        </p:txBody>
      </p:sp>
      <p:sp>
        <p:nvSpPr>
          <p:cNvPr id="1621" name="Google Shape;1621;p14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Advantage Plus Insurance Inc.</a:t>
            </a:r>
            <a:endParaRPr/>
          </a:p>
        </p:txBody>
      </p:sp>
      <p:sp>
        <p:nvSpPr>
          <p:cNvPr id="1622" name="Google Shape;1622;p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254472807421</a:t>
            </a:r>
            <a:endParaRPr/>
          </a:p>
        </p:txBody>
      </p:sp>
      <p:sp>
        <p:nvSpPr>
          <p:cNvPr id="1623" name="Google Shape;1623;p14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PAUL D TRUCKING LLC</a:t>
            </a:r>
            <a:endParaRPr/>
          </a:p>
        </p:txBody>
      </p:sp>
      <p:sp>
        <p:nvSpPr>
          <p:cNvPr id="1624" name="Google Shape;1624;p14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2026-08-06</a:t>
            </a:r>
            <a:endParaRPr/>
          </a:p>
        </p:txBody>
      </p:sp>
      <p:sp>
        <p:nvSpPr>
          <p:cNvPr id="1625" name="Google Shape;1625;p14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70d</a:t>
            </a:r>
            <a:endParaRPr/>
          </a:p>
        </p:txBody>
      </p:sp>
      <p:sp>
        <p:nvSpPr>
          <p:cNvPr id="1626" name="Google Shape;1626;p14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27" name="Google Shape;1627;p14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$18,278</a:t>
            </a:r>
            <a:endParaRPr/>
          </a:p>
        </p:txBody>
      </p:sp>
      <p:sp>
        <p:nvSpPr>
          <p:cNvPr id="1628" name="Google Shape;1628;p14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</a:t>
            </a:r>
            <a:endParaRPr/>
          </a:p>
        </p:txBody>
      </p:sp>
      <p:sp>
        <p:nvSpPr>
          <p:cNvPr id="1629" name="Google Shape;1629;p14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0" name="Google Shape;1630;p14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631" name="Google Shape;1631;p14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258672826945</a:t>
            </a:r>
            <a:endParaRPr/>
          </a:p>
        </p:txBody>
      </p:sp>
      <p:sp>
        <p:nvSpPr>
          <p:cNvPr id="1632" name="Google Shape;1632;p1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HOPE SOLUTION LLC</a:t>
            </a:r>
            <a:endParaRPr/>
          </a:p>
        </p:txBody>
      </p:sp>
      <p:sp>
        <p:nvSpPr>
          <p:cNvPr id="1633" name="Google Shape;1633;p14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2026-08-11</a:t>
            </a:r>
            <a:endParaRPr/>
          </a:p>
        </p:txBody>
      </p:sp>
      <p:sp>
        <p:nvSpPr>
          <p:cNvPr id="1634" name="Google Shape;1634;p14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75d</a:t>
            </a:r>
            <a:endParaRPr/>
          </a:p>
        </p:txBody>
      </p:sp>
      <p:sp>
        <p:nvSpPr>
          <p:cNvPr id="1635" name="Google Shape;1635;p14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36" name="Google Shape;1636;p14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$1,729</a:t>
            </a:r>
            <a:endParaRPr/>
          </a:p>
        </p:txBody>
      </p:sp>
      <p:sp>
        <p:nvSpPr>
          <p:cNvPr id="1637" name="Google Shape;1637;p14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38" name="Google Shape;1638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20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42" name="Shape 1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Google Shape;1643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4" name="Google Shape;1644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45" name="Google Shape;1645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 |  Policies with cancellation_date on or before Aug 26, 2026  |  Sorted by urgency — call these agencies first</a:t>
            </a:r>
            <a:endParaRPr/>
          </a:p>
        </p:txBody>
      </p:sp>
      <p:sp>
        <p:nvSpPr>
          <p:cNvPr id="1646" name="Google Shape;1646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47" name="Google Shape;1647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$9,878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48" name="Google Shape;1648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49" name="Google Shape;1649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$9,878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50" name="Google Shape;1650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51" name="Google Shape;1651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2" name="Google Shape;1652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53" name="Google Shape;1653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54" name="Google Shape;1654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55" name="Google Shape;1655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56" name="Google Shape;1656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57" name="Google Shape;1657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58" name="Google Shape;1658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59" name="Google Shape;1659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60" name="Google Shape;1660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61" name="Google Shape;1661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62" name="Google Shape;1662;p15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3" name="Google Shape;1663;p15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64" name="Google Shape;1664;p15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65" name="Google Shape;1665;p15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256708199045</a:t>
            </a:r>
            <a:endParaRPr/>
          </a:p>
        </p:txBody>
      </p:sp>
      <p:sp>
        <p:nvSpPr>
          <p:cNvPr id="1666" name="Google Shape;1666;p15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RELIABLE ROUTE RUNNER LLC</a:t>
            </a:r>
            <a:endParaRPr/>
          </a:p>
        </p:txBody>
      </p:sp>
      <p:sp>
        <p:nvSpPr>
          <p:cNvPr id="1667" name="Google Shape;1667;p1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Stewart Short Insurance Ser</a:t>
            </a:r>
            <a:endParaRPr/>
          </a:p>
        </p:txBody>
      </p:sp>
      <p:sp>
        <p:nvSpPr>
          <p:cNvPr id="1668" name="Google Shape;1668;p15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669" name="Google Shape;1669;p15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</a:t>
            </a:r>
            <a:endParaRPr/>
          </a:p>
        </p:txBody>
      </p:sp>
      <p:sp>
        <p:nvSpPr>
          <p:cNvPr id="1670" name="Google Shape;1670;p15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$308</a:t>
            </a:r>
            <a:endParaRPr/>
          </a:p>
        </p:txBody>
      </p:sp>
      <p:sp>
        <p:nvSpPr>
          <p:cNvPr id="1671" name="Google Shape;1671;p15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672" name="Google Shape;1672;p15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73" name="Google Shape;1673;p15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74" name="Google Shape;1674;p15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256708199045</a:t>
            </a:r>
            <a:endParaRPr/>
          </a:p>
        </p:txBody>
      </p:sp>
      <p:sp>
        <p:nvSpPr>
          <p:cNvPr id="1675" name="Google Shape;1675;p15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RELIABLE ROUTE RUNNER LLC</a:t>
            </a:r>
            <a:endParaRPr/>
          </a:p>
        </p:txBody>
      </p:sp>
      <p:sp>
        <p:nvSpPr>
          <p:cNvPr id="1676" name="Google Shape;1676;p15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Stewart Short Insurance Ser</a:t>
            </a:r>
            <a:endParaRPr/>
          </a:p>
        </p:txBody>
      </p:sp>
      <p:sp>
        <p:nvSpPr>
          <p:cNvPr id="1677" name="Google Shape;1677;p1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78" name="Google Shape;1678;p15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</a:t>
            </a:r>
            <a:endParaRPr/>
          </a:p>
        </p:txBody>
      </p:sp>
      <p:sp>
        <p:nvSpPr>
          <p:cNvPr id="1679" name="Google Shape;1679;p15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</a:t>
            </a:r>
            <a:endParaRPr/>
          </a:p>
        </p:txBody>
      </p:sp>
      <p:sp>
        <p:nvSpPr>
          <p:cNvPr id="1680" name="Google Shape;1680;p15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681" name="Google Shape;1681;p15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2" name="Google Shape;1682;p15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83" name="Google Shape;1683;p15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84" name="Google Shape;1684;p15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256708199045</a:t>
            </a:r>
            <a:endParaRPr/>
          </a:p>
        </p:txBody>
      </p:sp>
      <p:sp>
        <p:nvSpPr>
          <p:cNvPr id="1685" name="Google Shape;1685;p15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RELIABLE ROUTE RUNNER LLC</a:t>
            </a:r>
            <a:endParaRPr/>
          </a:p>
        </p:txBody>
      </p:sp>
      <p:sp>
        <p:nvSpPr>
          <p:cNvPr id="1686" name="Google Shape;1686;p15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Stewart Short Insurance Ser</a:t>
            </a:r>
            <a:endParaRPr/>
          </a:p>
        </p:txBody>
      </p:sp>
      <p:sp>
        <p:nvSpPr>
          <p:cNvPr id="1687" name="Google Shape;1687;p1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88" name="Google Shape;1688;p15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</a:t>
            </a:r>
            <a:endParaRPr/>
          </a:p>
        </p:txBody>
      </p:sp>
      <p:sp>
        <p:nvSpPr>
          <p:cNvPr id="1689" name="Google Shape;1689;p15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$5,194</a:t>
            </a:r>
            <a:endParaRPr/>
          </a:p>
        </p:txBody>
      </p:sp>
      <p:sp>
        <p:nvSpPr>
          <p:cNvPr id="1690" name="Google Shape;1690;p15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691" name="Google Shape;1691;p15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92" name="Google Shape;1692;p15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93" name="Google Shape;1693;p15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269744345946</a:t>
            </a:r>
            <a:endParaRPr/>
          </a:p>
        </p:txBody>
      </p:sp>
      <p:sp>
        <p:nvSpPr>
          <p:cNvPr id="1694" name="Google Shape;1694;p15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J&amp;M AUTO MOBILE LLC</a:t>
            </a:r>
            <a:endParaRPr/>
          </a:p>
        </p:txBody>
      </p:sp>
      <p:sp>
        <p:nvSpPr>
          <p:cNvPr id="1695" name="Google Shape;1695;p15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1696" name="Google Shape;1696;p15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97" name="Google Shape;1697;p1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</a:t>
            </a:r>
            <a:endParaRPr/>
          </a:p>
        </p:txBody>
      </p:sp>
      <p:sp>
        <p:nvSpPr>
          <p:cNvPr id="1698" name="Google Shape;1698;p15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$4,086</a:t>
            </a:r>
            <a:endParaRPr/>
          </a:p>
        </p:txBody>
      </p:sp>
      <p:sp>
        <p:nvSpPr>
          <p:cNvPr id="1699" name="Google Shape;1699;p15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00" name="Google Shape;1700;p15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1" name="Google Shape;1701;p15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02" name="Google Shape;1702;p15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03" name="Google Shape;1703;p15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269744345946</a:t>
            </a:r>
            <a:endParaRPr/>
          </a:p>
        </p:txBody>
      </p:sp>
      <p:sp>
        <p:nvSpPr>
          <p:cNvPr id="1704" name="Google Shape;1704;p15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J&amp;M AUTO MOBILE LLC</a:t>
            </a:r>
            <a:endParaRPr/>
          </a:p>
        </p:txBody>
      </p:sp>
      <p:sp>
        <p:nvSpPr>
          <p:cNvPr id="1705" name="Google Shape;1705;p15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1706" name="Google Shape;1706;p15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707" name="Google Shape;1707;p1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</a:t>
            </a:r>
            <a:endParaRPr/>
          </a:p>
        </p:txBody>
      </p:sp>
      <p:sp>
        <p:nvSpPr>
          <p:cNvPr id="1708" name="Google Shape;1708;p15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</a:t>
            </a:r>
            <a:endParaRPr/>
          </a:p>
        </p:txBody>
      </p:sp>
      <p:sp>
        <p:nvSpPr>
          <p:cNvPr id="1709" name="Google Shape;1709;p15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10" name="Google Shape;1710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5 of 5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14" name="Shape 1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5" name="Google Shape;1715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6" name="Google Shape;1716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717" name="Google Shape;1717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N/A  |  City: N/A</a:t>
            </a:r>
            <a:endParaRPr/>
          </a:p>
        </p:txBody>
      </p:sp>
      <p:sp>
        <p:nvSpPr>
          <p:cNvPr id="1718" name="Google Shape;1718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$851,003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719" name="Google Shape;1719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$525,662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720" name="Google Shape;1720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721" name="Google Shape;1721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$281,234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722" name="Google Shape;1722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$-374,009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723" name="Google Shape;1723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$761,577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724" name="Google Shape;1724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$1,507,686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725" name="Google Shape;1725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726" name="Google Shape;1726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727" name="Google Shape;1727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28" name="Google Shape;1728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29" name="Google Shape;1729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$223,792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730" name="Google Shape;1730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$357,438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731" name="Google Shape;1731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2" name="Google Shape;1732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733" name="Google Shape;1733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34" name="Google Shape;1734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735" name="Google Shape;1735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736" name="Google Shape;1736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737" name="Google Shape;1737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738" name="Google Shape;1738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739" name="Google Shape;1739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0" name="Google Shape;1740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41" name="Google Shape;1741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$86,046</a:t>
            </a:r>
            <a:endParaRPr/>
          </a:p>
        </p:txBody>
      </p:sp>
      <p:sp>
        <p:nvSpPr>
          <p:cNvPr id="1742" name="Google Shape;1742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$68,097</a:t>
            </a:r>
            <a:endParaRPr/>
          </a:p>
        </p:txBody>
      </p:sp>
      <p:sp>
        <p:nvSpPr>
          <p:cNvPr id="1743" name="Google Shape;1743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44" name="Google Shape;1744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$17,948</a:t>
            </a:r>
            <a:endParaRPr/>
          </a:p>
        </p:txBody>
      </p:sp>
      <p:sp>
        <p:nvSpPr>
          <p:cNvPr id="1745" name="Google Shape;1745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$-17,037</a:t>
            </a:r>
            <a:endParaRPr/>
          </a:p>
        </p:txBody>
      </p:sp>
      <p:sp>
        <p:nvSpPr>
          <p:cNvPr id="1746" name="Google Shape;1746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7" name="Google Shape;1747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48" name="Google Shape;1748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$196,128</a:t>
            </a:r>
            <a:endParaRPr/>
          </a:p>
        </p:txBody>
      </p:sp>
      <p:sp>
        <p:nvSpPr>
          <p:cNvPr id="1749" name="Google Shape;1749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$103,155</a:t>
            </a:r>
            <a:endParaRPr/>
          </a:p>
        </p:txBody>
      </p:sp>
      <p:sp>
        <p:nvSpPr>
          <p:cNvPr id="1750" name="Google Shape;1750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1751" name="Google Shape;1751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$48,865</a:t>
            </a:r>
            <a:endParaRPr/>
          </a:p>
        </p:txBody>
      </p:sp>
      <p:sp>
        <p:nvSpPr>
          <p:cNvPr id="1752" name="Google Shape;1752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$-114,675</a:t>
            </a:r>
            <a:endParaRPr/>
          </a:p>
        </p:txBody>
      </p:sp>
      <p:sp>
        <p:nvSpPr>
          <p:cNvPr id="1753" name="Google Shape;1753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4" name="Google Shape;1754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55" name="Google Shape;1755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$114,149</a:t>
            </a:r>
            <a:endParaRPr/>
          </a:p>
        </p:txBody>
      </p:sp>
      <p:sp>
        <p:nvSpPr>
          <p:cNvPr id="1756" name="Google Shape;1756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$48,762</a:t>
            </a:r>
            <a:endParaRPr/>
          </a:p>
        </p:txBody>
      </p:sp>
      <p:sp>
        <p:nvSpPr>
          <p:cNvPr id="1757" name="Google Shape;1757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58" name="Google Shape;1758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$65,388</a:t>
            </a:r>
            <a:endParaRPr/>
          </a:p>
        </p:txBody>
      </p:sp>
      <p:sp>
        <p:nvSpPr>
          <p:cNvPr id="1759" name="Google Shape;1759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$-62,815</a:t>
            </a:r>
            <a:endParaRPr/>
          </a:p>
        </p:txBody>
      </p:sp>
      <p:sp>
        <p:nvSpPr>
          <p:cNvPr id="1760" name="Google Shape;1760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1" name="Google Shape;1761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62" name="Google Shape;1762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$199,219</a:t>
            </a:r>
            <a:endParaRPr/>
          </a:p>
        </p:txBody>
      </p:sp>
      <p:sp>
        <p:nvSpPr>
          <p:cNvPr id="1763" name="Google Shape;1763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$178,418</a:t>
            </a:r>
            <a:endParaRPr/>
          </a:p>
        </p:txBody>
      </p:sp>
      <p:sp>
        <p:nvSpPr>
          <p:cNvPr id="1764" name="Google Shape;1764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65" name="Google Shape;1765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$20,801</a:t>
            </a:r>
            <a:endParaRPr/>
          </a:p>
        </p:txBody>
      </p:sp>
      <p:sp>
        <p:nvSpPr>
          <p:cNvPr id="1766" name="Google Shape;1766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$-36,967</a:t>
            </a:r>
            <a:endParaRPr/>
          </a:p>
        </p:txBody>
      </p:sp>
      <p:sp>
        <p:nvSpPr>
          <p:cNvPr id="1767" name="Google Shape;1767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8" name="Google Shape;1768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69" name="Google Shape;1769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$255,461</a:t>
            </a:r>
            <a:endParaRPr/>
          </a:p>
        </p:txBody>
      </p:sp>
      <p:sp>
        <p:nvSpPr>
          <p:cNvPr id="1770" name="Google Shape;1770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$127,230</a:t>
            </a:r>
            <a:endParaRPr/>
          </a:p>
        </p:txBody>
      </p:sp>
      <p:sp>
        <p:nvSpPr>
          <p:cNvPr id="1771" name="Google Shape;1771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2" name="Google Shape;1772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$128,231</a:t>
            </a:r>
            <a:endParaRPr/>
          </a:p>
        </p:txBody>
      </p:sp>
      <p:sp>
        <p:nvSpPr>
          <p:cNvPr id="1773" name="Google Shape;1773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$-142,515</a:t>
            </a:r>
            <a:endParaRPr/>
          </a:p>
        </p:txBody>
      </p:sp>
      <p:sp>
        <p:nvSpPr>
          <p:cNvPr id="1774" name="Google Shape;1774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5" name="Google Shape;1775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76" name="Google Shape;1776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$851,003</a:t>
            </a:r>
            <a:endParaRPr/>
          </a:p>
        </p:txBody>
      </p:sp>
      <p:sp>
        <p:nvSpPr>
          <p:cNvPr id="1777" name="Google Shape;1777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$525,662</a:t>
            </a:r>
            <a:endParaRPr/>
          </a:p>
        </p:txBody>
      </p:sp>
      <p:sp>
        <p:nvSpPr>
          <p:cNvPr id="1778" name="Google Shape;1778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1779" name="Google Shape;1779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$281,234</a:t>
            </a:r>
            <a:endParaRPr/>
          </a:p>
        </p:txBody>
      </p:sp>
      <p:sp>
        <p:nvSpPr>
          <p:cNvPr id="1780" name="Google Shape;1780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$-374,009</a:t>
            </a:r>
            <a:endParaRPr/>
          </a:p>
        </p:txBody>
      </p:sp>
      <p:sp>
        <p:nvSpPr>
          <p:cNvPr id="1781" name="Google Shape;1781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2" name="Google Shape;1782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783" name="Google Shape;1783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84" name="Google Shape;1784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785" name="Google Shape;1785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786" name="Google Shape;1786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787" name="Google Shape;1787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88" name="Google Shape;1788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89" name="Google Shape;1789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0" name="Google Shape;1790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</a:t>
            </a:r>
            <a:endParaRPr/>
          </a:p>
        </p:txBody>
      </p:sp>
      <p:sp>
        <p:nvSpPr>
          <p:cNvPr id="1792" name="Google Shape;1792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793" name="Google Shape;1793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1794" name="Google Shape;1794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795" name="Google Shape;1795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1796" name="Google Shape;1796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7" name="Google Shape;1797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98" name="Google Shape;1798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1799" name="Google Shape;1799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800" name="Google Shape;1800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1801" name="Google Shape;1801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802" name="Google Shape;1802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1803" name="Google Shape;1803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4" name="Google Shape;1804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05" name="Google Shape;1805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1806" name="Google Shape;1806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807" name="Google Shape;1807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1808" name="Google Shape;1808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809" name="Google Shape;1809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1810" name="Google Shape;1810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1" name="Google Shape;1811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12" name="Google Shape;1812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191</a:t>
            </a:r>
            <a:endParaRPr/>
          </a:p>
        </p:txBody>
      </p:sp>
      <p:sp>
        <p:nvSpPr>
          <p:cNvPr id="1813" name="Google Shape;1813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814" name="Google Shape;1814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1815" name="Google Shape;1815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816" name="Google Shape;1816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1817" name="Google Shape;1817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8" name="Google Shape;1818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19" name="Google Shape;1819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1820" name="Google Shape;1820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821" name="Google Shape;1821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1822" name="Google Shape;1822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823" name="Google Shape;1823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1824" name="Google Shape;1824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5" name="Google Shape;1825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826" name="Google Shape;1826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787</a:t>
            </a:r>
            <a:endParaRPr/>
          </a:p>
        </p:txBody>
      </p:sp>
      <p:sp>
        <p:nvSpPr>
          <p:cNvPr id="1827" name="Google Shape;1827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1828" name="Google Shape;1828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720</a:t>
            </a:r>
            <a:endParaRPr/>
          </a:p>
        </p:txBody>
      </p:sp>
      <p:sp>
        <p:nvSpPr>
          <p:cNvPr id="1829" name="Google Shape;1829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830" name="Google Shape;1830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1831" name="Google Shape;1831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2" name="Google Shape;1832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833" name="Google Shape;1833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834" name="Google Shape;1834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835" name="Google Shape;1835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836" name="Google Shape;1836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837" name="Google Shape;1837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838" name="Google Shape;1838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839" name="Google Shape;1839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840" name="Google Shape;1840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841" name="Google Shape;1841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842" name="Google Shape;1842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843" name="Google Shape;1843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844" name="Google Shape;1844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845" name="Google Shape;1845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846" name="Google Shape;1846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47" name="Google Shape;1847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848" name="Google Shape;1848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</a:t>
            </a:r>
            <a:endParaRPr/>
          </a:p>
        </p:txBody>
      </p:sp>
      <p:sp>
        <p:nvSpPr>
          <p:cNvPr id="1849" name="Google Shape;1849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850" name="Google Shape;1850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1851" name="Google Shape;1851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852" name="Google Shape;1852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1853" name="Google Shape;1853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1854" name="Google Shape;1854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191</a:t>
            </a:r>
            <a:endParaRPr/>
          </a:p>
        </p:txBody>
      </p:sp>
      <p:sp>
        <p:nvSpPr>
          <p:cNvPr id="1855" name="Google Shape;1855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135</a:t>
            </a:r>
            <a:endParaRPr/>
          </a:p>
        </p:txBody>
      </p:sp>
      <p:sp>
        <p:nvSpPr>
          <p:cNvPr id="1856" name="Google Shape;1856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1857" name="Google Shape;1857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219</a:t>
            </a:r>
            <a:endParaRPr/>
          </a:p>
        </p:txBody>
      </p:sp>
      <p:sp>
        <p:nvSpPr>
          <p:cNvPr id="1858" name="Google Shape;1858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839</a:t>
            </a:r>
            <a:endParaRPr/>
          </a:p>
        </p:txBody>
      </p:sp>
      <p:sp>
        <p:nvSpPr>
          <p:cNvPr id="1859" name="Google Shape;1859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860" name="Google Shape;1860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1" name="Google Shape;1861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1862" name="Google Shape;1862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3" name="Google Shape;1863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$196K</a:t>
            </a:r>
            <a:endParaRPr/>
          </a:p>
        </p:txBody>
      </p:sp>
      <p:sp>
        <p:nvSpPr>
          <p:cNvPr id="1864" name="Google Shape;1864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5" name="Google Shape;1865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1866" name="Google Shape;1866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1867" name="Google Shape;1867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$199K</a:t>
            </a:r>
            <a:endParaRPr/>
          </a:p>
        </p:txBody>
      </p:sp>
      <p:sp>
        <p:nvSpPr>
          <p:cNvPr id="1868" name="Google Shape;1868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1869" name="Google Shape;1869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$255K</a:t>
            </a:r>
            <a:endParaRPr/>
          </a:p>
        </p:txBody>
      </p:sp>
      <p:sp>
        <p:nvSpPr>
          <p:cNvPr id="1870" name="Google Shape;1870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1871" name="Google Shape;1871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$851K</a:t>
            </a:r>
            <a:endParaRPr/>
          </a:p>
        </p:txBody>
      </p:sp>
      <p:sp>
        <p:nvSpPr>
          <p:cNvPr id="1872" name="Google Shape;1872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3" name="Google Shape;1873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874" name="Google Shape;1874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75" name="Google Shape;1875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$851,003 YTD gross written premium</a:t>
            </a:r>
            <a:endParaRPr/>
          </a:p>
        </p:txBody>
      </p:sp>
      <p:sp>
        <p:nvSpPr>
          <p:cNvPr id="1876" name="Google Shape;1876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77" name="Google Shape;1877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$525,662 in new business production</a:t>
            </a:r>
            <a:endParaRPr/>
          </a:p>
        </p:txBody>
      </p:sp>
      <p:sp>
        <p:nvSpPr>
          <p:cNvPr id="1878" name="Google Shape;1878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9" name="Google Shape;1879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880" name="Google Shape;1880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81" name="Google Shape;1881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2.3% hit ratio on 787 subs - needs coaching</a:t>
            </a:r>
            <a:endParaRPr/>
          </a:p>
        </p:txBody>
      </p:sp>
      <p:sp>
        <p:nvSpPr>
          <p:cNvPr id="1882" name="Google Shape;1882;p1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83" name="Google Shape;1883;p1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71% of new business ($374,009)</a:t>
            </a:r>
            <a:endParaRPr/>
          </a:p>
        </p:txBody>
      </p:sp>
      <p:sp>
        <p:nvSpPr>
          <p:cNvPr id="1884" name="Google Shape;1884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5" name="Google Shape;1885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886" name="Google Shape;1886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887" name="Google Shape;1887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(787 subs, only 18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1888" name="Google Shape;1888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889" name="Google Shape;1889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$525,662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93" name="Shape 1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" name="Google Shape;1894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5" name="Google Shape;1895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1896" name="Google Shape;1896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Rex (Clayton)</a:t>
            </a:r>
            <a:endParaRPr/>
          </a:p>
        </p:txBody>
      </p:sp>
      <p:sp>
        <p:nvSpPr>
          <p:cNvPr id="1897" name="Google Shape;1897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$171,604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98" name="Google Shape;1898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$133,703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99" name="Google Shape;1899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900" name="Google Shape;1900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901" name="Google Shape;1901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$-55,315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902" name="Google Shape;1902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903" name="Google Shape;1903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904" name="Google Shape;1904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905" name="Google Shape;1905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06" name="Google Shape;1906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07" name="Google Shape;1907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08" name="Google Shape;1908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909" name="Google Shape;1909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$111,474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910" name="Google Shape;1910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1" name="Google Shape;1911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912" name="Google Shape;1912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13" name="Google Shape;1913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914" name="Google Shape;1914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915" name="Google Shape;1915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916" name="Google Shape;1916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917" name="Google Shape;1917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918" name="Google Shape;1918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9" name="Google Shape;1919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20" name="Google Shape;1920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$20,879</a:t>
            </a:r>
            <a:endParaRPr/>
          </a:p>
        </p:txBody>
      </p:sp>
      <p:sp>
        <p:nvSpPr>
          <p:cNvPr id="1921" name="Google Shape;1921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$20,879</a:t>
            </a:r>
            <a:endParaRPr/>
          </a:p>
        </p:txBody>
      </p:sp>
      <p:sp>
        <p:nvSpPr>
          <p:cNvPr id="1922" name="Google Shape;1922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23" name="Google Shape;1923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24" name="Google Shape;1924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25" name="Google Shape;1925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6" name="Google Shape;1926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27" name="Google Shape;1927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$19,563</a:t>
            </a:r>
            <a:endParaRPr/>
          </a:p>
        </p:txBody>
      </p:sp>
      <p:sp>
        <p:nvSpPr>
          <p:cNvPr id="1928" name="Google Shape;1928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29" name="Google Shape;1929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30" name="Google Shape;1930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$19,563</a:t>
            </a:r>
            <a:endParaRPr/>
          </a:p>
        </p:txBody>
      </p:sp>
      <p:sp>
        <p:nvSpPr>
          <p:cNvPr id="1931" name="Google Shape;1931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$-19,563</a:t>
            </a:r>
            <a:endParaRPr/>
          </a:p>
        </p:txBody>
      </p:sp>
      <p:sp>
        <p:nvSpPr>
          <p:cNvPr id="1932" name="Google Shape;1932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3" name="Google Shape;1933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34" name="Google Shape;1934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$61,624</a:t>
            </a:r>
            <a:endParaRPr/>
          </a:p>
        </p:txBody>
      </p:sp>
      <p:sp>
        <p:nvSpPr>
          <p:cNvPr id="1935" name="Google Shape;1935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$62,477</a:t>
            </a:r>
            <a:endParaRPr/>
          </a:p>
        </p:txBody>
      </p:sp>
      <p:sp>
        <p:nvSpPr>
          <p:cNvPr id="1936" name="Google Shape;1936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37" name="Google Shape;1937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$-854</a:t>
            </a:r>
            <a:endParaRPr/>
          </a:p>
        </p:txBody>
      </p:sp>
      <p:sp>
        <p:nvSpPr>
          <p:cNvPr id="1938" name="Google Shape;1938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39" name="Google Shape;1939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0" name="Google Shape;1940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41" name="Google Shape;1941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942" name="Google Shape;1942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943" name="Google Shape;1943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44" name="Google Shape;1944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45" name="Google Shape;1945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46" name="Google Shape;1946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7" name="Google Shape;1947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48" name="Google Shape;1948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$68,988</a:t>
            </a:r>
            <a:endParaRPr/>
          </a:p>
        </p:txBody>
      </p:sp>
      <p:sp>
        <p:nvSpPr>
          <p:cNvPr id="1949" name="Google Shape;1949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$49,796</a:t>
            </a:r>
            <a:endParaRPr/>
          </a:p>
        </p:txBody>
      </p:sp>
      <p:sp>
        <p:nvSpPr>
          <p:cNvPr id="1950" name="Google Shape;1950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51" name="Google Shape;1951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$19,191</a:t>
            </a:r>
            <a:endParaRPr/>
          </a:p>
        </p:txBody>
      </p:sp>
      <p:sp>
        <p:nvSpPr>
          <p:cNvPr id="1952" name="Google Shape;1952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$-35,752</a:t>
            </a:r>
            <a:endParaRPr/>
          </a:p>
        </p:txBody>
      </p:sp>
      <p:sp>
        <p:nvSpPr>
          <p:cNvPr id="1953" name="Google Shape;1953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4" name="Google Shape;1954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55" name="Google Shape;1955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$171,604</a:t>
            </a:r>
            <a:endParaRPr/>
          </a:p>
        </p:txBody>
      </p:sp>
      <p:sp>
        <p:nvSpPr>
          <p:cNvPr id="1956" name="Google Shape;1956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$133,703</a:t>
            </a:r>
            <a:endParaRPr/>
          </a:p>
        </p:txBody>
      </p:sp>
      <p:sp>
        <p:nvSpPr>
          <p:cNvPr id="1957" name="Google Shape;1957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$37,901</a:t>
            </a:r>
            <a:endParaRPr/>
          </a:p>
        </p:txBody>
      </p:sp>
      <p:sp>
        <p:nvSpPr>
          <p:cNvPr id="1959" name="Google Shape;1959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$-55,315</a:t>
            </a:r>
            <a:endParaRPr/>
          </a:p>
        </p:txBody>
      </p:sp>
      <p:sp>
        <p:nvSpPr>
          <p:cNvPr id="1960" name="Google Shape;1960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1" name="Google Shape;1961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962" name="Google Shape;1962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63" name="Google Shape;1963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964" name="Google Shape;1964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965" name="Google Shape;1965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966" name="Google Shape;1966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67" name="Google Shape;1967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68" name="Google Shape;1968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9" name="Google Shape;1969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70" name="Google Shape;1970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971" name="Google Shape;1971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72" name="Google Shape;1972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973" name="Google Shape;1973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74" name="Google Shape;1974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1975" name="Google Shape;1975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6" name="Google Shape;1976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77" name="Google Shape;1977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978" name="Google Shape;1978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79" name="Google Shape;1979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980" name="Google Shape;1980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81" name="Google Shape;1981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18.2%</a:t>
            </a:r>
            <a:endParaRPr/>
          </a:p>
        </p:txBody>
      </p:sp>
      <p:sp>
        <p:nvSpPr>
          <p:cNvPr id="1982" name="Google Shape;1982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3" name="Google Shape;1983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84" name="Google Shape;1984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985" name="Google Shape;1985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86" name="Google Shape;1986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987" name="Google Shape;1987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88" name="Google Shape;1988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</p:txBody>
      </p:sp>
      <p:sp>
        <p:nvSpPr>
          <p:cNvPr id="1989" name="Google Shape;1989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0" name="Google Shape;1990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91" name="Google Shape;1991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992" name="Google Shape;1992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93" name="Google Shape;1993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994" name="Google Shape;1994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95" name="Google Shape;1995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8.7%</a:t>
            </a:r>
            <a:endParaRPr/>
          </a:p>
        </p:txBody>
      </p:sp>
      <p:sp>
        <p:nvSpPr>
          <p:cNvPr id="1996" name="Google Shape;1996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7" name="Google Shape;1997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98" name="Google Shape;1998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999" name="Google Shape;1999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00" name="Google Shape;2000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001" name="Google Shape;2001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002" name="Google Shape;2002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003" name="Google Shape;2003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4" name="Google Shape;2004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05" name="Google Shape;2005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2006" name="Google Shape;2006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07" name="Google Shape;2007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2008" name="Google Shape;2008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09" name="Google Shape;2009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2010" name="Google Shape;2010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1" name="Google Shape;2011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012" name="Google Shape;2012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13" name="Google Shape;2013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014" name="Google Shape;2014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015" name="Google Shape;2015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016" name="Google Shape;2016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017" name="Google Shape;2017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018" name="Google Shape;2018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019" name="Google Shape;2019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020" name="Google Shape;2020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021" name="Google Shape;2021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022" name="Google Shape;2022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023" name="Google Shape;2023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024" name="Google Shape;2024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025" name="Google Shape;2025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26" name="Google Shape;2026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27" name="Google Shape;2027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028" name="Google Shape;2028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029" name="Google Shape;2029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030" name="Google Shape;2030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031" name="Google Shape;2031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032" name="Google Shape;2032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033" name="Google Shape;2033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034" name="Google Shape;2034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35" name="Google Shape;2035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036" name="Google Shape;2036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037" name="Google Shape;2037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038" name="Google Shape;2038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039" name="Google Shape;2039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40" name="Google Shape;2040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2041" name="Google Shape;2041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42" name="Google Shape;2042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2043" name="Google Shape;2043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2044" name="Google Shape;2044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2045" name="Google Shape;2045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46" name="Google Shape;2046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047" name="Google Shape;2047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48" name="Google Shape;2048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2049" name="Google Shape;2049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2050" name="Google Shape;2050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$172K</a:t>
            </a:r>
            <a:endParaRPr/>
          </a:p>
        </p:txBody>
      </p:sp>
      <p:sp>
        <p:nvSpPr>
          <p:cNvPr id="2051" name="Google Shape;2051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2" name="Google Shape;2052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053" name="Google Shape;2053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54" name="Google Shape;2054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$171,604 YTD gross written premium</a:t>
            </a:r>
            <a:endParaRPr/>
          </a:p>
        </p:txBody>
      </p:sp>
      <p:sp>
        <p:nvSpPr>
          <p:cNvPr id="2055" name="Google Shape;2055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56" name="Google Shape;2056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$133,703 in new business production</a:t>
            </a:r>
            <a:endParaRPr/>
          </a:p>
        </p:txBody>
      </p:sp>
      <p:sp>
        <p:nvSpPr>
          <p:cNvPr id="2057" name="Google Shape;2057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8" name="Google Shape;2058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059" name="Google Shape;2059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60" name="Google Shape;2060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41% of new business ($55,315)</a:t>
            </a:r>
            <a:endParaRPr/>
          </a:p>
        </p:txBody>
      </p:sp>
      <p:sp>
        <p:nvSpPr>
          <p:cNvPr id="2061" name="Google Shape;2061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2" name="Google Shape;2062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063" name="Google Shape;2063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064" name="Google Shape;2064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$133,703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065" name="Google Shape;2065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066" name="Google Shape;2066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$55,315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0" name="Shape 2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1" name="Google Shape;2071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2" name="Google Shape;2072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Inc.</a:t>
            </a:r>
            <a:endParaRPr/>
          </a:p>
        </p:txBody>
      </p:sp>
      <p:sp>
        <p:nvSpPr>
          <p:cNvPr id="2073" name="Google Shape;2073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N/A  |  City: N/A</a:t>
            </a:r>
            <a:endParaRPr/>
          </a:p>
        </p:txBody>
      </p:sp>
      <p:sp>
        <p:nvSpPr>
          <p:cNvPr id="2074" name="Google Shape;2074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$165,238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075" name="Google Shape;2075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$142,450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76" name="Google Shape;2076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77" name="Google Shape;2077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78" name="Google Shape;2078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$-20,407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79" name="Google Shape;2079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$113,243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080" name="Google Shape;2080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$278,481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081" name="Google Shape;2081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082" name="Google Shape;2082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83" name="Google Shape;2083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84" name="Google Shape;2084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85" name="Google Shape;2085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086" name="Google Shape;2086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$80,026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087" name="Google Shape;2087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8" name="Google Shape;2088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089" name="Google Shape;2089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90" name="Google Shape;2090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091" name="Google Shape;2091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92" name="Google Shape;2092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93" name="Google Shape;2093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94" name="Google Shape;2094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95" name="Google Shape;2095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6" name="Google Shape;2096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97" name="Google Shape;2097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98" name="Google Shape;2098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99" name="Google Shape;2099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0" name="Google Shape;2100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1" name="Google Shape;2101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2" name="Google Shape;2102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3" name="Google Shape;2103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04" name="Google Shape;2104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5" name="Google Shape;2105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6" name="Google Shape;2106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7" name="Google Shape;2107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8" name="Google Shape;2108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9" name="Google Shape;2109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0" name="Google Shape;2110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11" name="Google Shape;2111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$20,407</a:t>
            </a:r>
            <a:endParaRPr/>
          </a:p>
        </p:txBody>
      </p:sp>
      <p:sp>
        <p:nvSpPr>
          <p:cNvPr id="2112" name="Google Shape;2112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$20,407</a:t>
            </a:r>
            <a:endParaRPr/>
          </a:p>
        </p:txBody>
      </p:sp>
      <p:sp>
        <p:nvSpPr>
          <p:cNvPr id="2113" name="Google Shape;2113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14" name="Google Shape;2114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15" name="Google Shape;2115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$-20,407</a:t>
            </a:r>
            <a:endParaRPr/>
          </a:p>
        </p:txBody>
      </p:sp>
      <p:sp>
        <p:nvSpPr>
          <p:cNvPr id="2116" name="Google Shape;2116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7" name="Google Shape;2117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18" name="Google Shape;2118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$99,960</a:t>
            </a:r>
            <a:endParaRPr/>
          </a:p>
        </p:txBody>
      </p:sp>
      <p:sp>
        <p:nvSpPr>
          <p:cNvPr id="2119" name="Google Shape;2119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$77,171</a:t>
            </a:r>
            <a:endParaRPr/>
          </a:p>
        </p:txBody>
      </p:sp>
      <p:sp>
        <p:nvSpPr>
          <p:cNvPr id="2120" name="Google Shape;2120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1" name="Google Shape;2121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$22,789</a:t>
            </a:r>
            <a:endParaRPr/>
          </a:p>
        </p:txBody>
      </p:sp>
      <p:sp>
        <p:nvSpPr>
          <p:cNvPr id="2122" name="Google Shape;2122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3" name="Google Shape;2123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4" name="Google Shape;2124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25" name="Google Shape;2125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$44,872</a:t>
            </a:r>
            <a:endParaRPr/>
          </a:p>
        </p:txBody>
      </p:sp>
      <p:sp>
        <p:nvSpPr>
          <p:cNvPr id="2126" name="Google Shape;2126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$44,872</a:t>
            </a:r>
            <a:endParaRPr/>
          </a:p>
        </p:txBody>
      </p:sp>
      <p:sp>
        <p:nvSpPr>
          <p:cNvPr id="2127" name="Google Shape;2127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8" name="Google Shape;2128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9" name="Google Shape;2129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0" name="Google Shape;2130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1" name="Google Shape;2131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32" name="Google Shape;2132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$165,238</a:t>
            </a:r>
            <a:endParaRPr/>
          </a:p>
        </p:txBody>
      </p:sp>
      <p:sp>
        <p:nvSpPr>
          <p:cNvPr id="2133" name="Google Shape;2133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$142,450</a:t>
            </a:r>
            <a:endParaRPr/>
          </a:p>
        </p:txBody>
      </p:sp>
      <p:sp>
        <p:nvSpPr>
          <p:cNvPr id="2134" name="Google Shape;2134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5" name="Google Shape;2135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$22,789</a:t>
            </a:r>
            <a:endParaRPr/>
          </a:p>
        </p:txBody>
      </p:sp>
      <p:sp>
        <p:nvSpPr>
          <p:cNvPr id="2136" name="Google Shape;2136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$-20,407</a:t>
            </a:r>
            <a:endParaRPr/>
          </a:p>
        </p:txBody>
      </p:sp>
      <p:sp>
        <p:nvSpPr>
          <p:cNvPr id="2137" name="Google Shape;2137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8" name="Google Shape;2138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139" name="Google Shape;2139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40" name="Google Shape;2140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141" name="Google Shape;2141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142" name="Google Shape;2142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143" name="Google Shape;2143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44" name="Google Shape;2144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45" name="Google Shape;2145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6" name="Google Shape;2146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47" name="Google Shape;2147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148" name="Google Shape;2148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50" name="Google Shape;2150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51" name="Google Shape;2151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152" name="Google Shape;2152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3" name="Google Shape;2153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54" name="Google Shape;2154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55" name="Google Shape;2155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56" name="Google Shape;2156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57" name="Google Shape;2157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58" name="Google Shape;2158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159" name="Google Shape;2159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0" name="Google Shape;2160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61" name="Google Shape;2161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162" name="Google Shape;2162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63" name="Google Shape;2163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164" name="Google Shape;2164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65" name="Google Shape;2165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166" name="Google Shape;2166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7" name="Google Shape;2167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68" name="Google Shape;2168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169" name="Google Shape;2169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70" name="Google Shape;2170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171" name="Google Shape;2171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72" name="Google Shape;2172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2173" name="Google Shape;2173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4" name="Google Shape;2174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75" name="Google Shape;2175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176" name="Google Shape;2176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77" name="Google Shape;2177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178" name="Google Shape;2178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79" name="Google Shape;2179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2180" name="Google Shape;2180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1" name="Google Shape;2181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82" name="Google Shape;2182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183" name="Google Shape;2183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84" name="Google Shape;2184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185" name="Google Shape;2185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86" name="Google Shape;2186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12.1%</a:t>
            </a:r>
            <a:endParaRPr/>
          </a:p>
        </p:txBody>
      </p:sp>
      <p:sp>
        <p:nvSpPr>
          <p:cNvPr id="2187" name="Google Shape;2187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8" name="Google Shape;2188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189" name="Google Shape;2189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90" name="Google Shape;2190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191" name="Google Shape;2191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192" name="Google Shape;2192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93" name="Google Shape;2193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94" name="Google Shape;2194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95" name="Google Shape;2195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96" name="Google Shape;2196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97" name="Google Shape;2197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98" name="Google Shape;2198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199" name="Google Shape;2199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200" name="Google Shape;2200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201" name="Google Shape;2201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202" name="Google Shape;2202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03" name="Google Shape;2203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04" name="Google Shape;2204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05" name="Google Shape;2205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06" name="Google Shape;2206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07" name="Google Shape;2207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08" name="Google Shape;2208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09" name="Google Shape;2209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10" name="Google Shape;2210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211" name="Google Shape;2211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12" name="Google Shape;2212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13" name="Google Shape;2213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14" name="Google Shape;2214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215" name="Google Shape;2215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216" name="Google Shape;2216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7" name="Google Shape;2217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8" name="Google Shape;2218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9" name="Google Shape;2219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0" name="Google Shape;2220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1" name="Google Shape;2221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2222" name="Google Shape;2222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3" name="Google Shape;2223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$100K</a:t>
            </a:r>
            <a:endParaRPr/>
          </a:p>
        </p:txBody>
      </p:sp>
      <p:sp>
        <p:nvSpPr>
          <p:cNvPr id="2224" name="Google Shape;2224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5" name="Google Shape;2225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2226" name="Google Shape;2226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7" name="Google Shape;2227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$165K</a:t>
            </a:r>
            <a:endParaRPr/>
          </a:p>
        </p:txBody>
      </p:sp>
      <p:sp>
        <p:nvSpPr>
          <p:cNvPr id="2228" name="Google Shape;2228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9" name="Google Shape;2229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230" name="Google Shape;2230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231" name="Google Shape;2231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$165,238 YTD gross written premium</a:t>
            </a:r>
            <a:endParaRPr/>
          </a:p>
        </p:txBody>
      </p:sp>
      <p:sp>
        <p:nvSpPr>
          <p:cNvPr id="2232" name="Google Shape;2232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233" name="Google Shape;2233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$142,450 in new business production</a:t>
            </a:r>
            <a:endParaRPr/>
          </a:p>
        </p:txBody>
      </p:sp>
      <p:sp>
        <p:nvSpPr>
          <p:cNvPr id="2234" name="Google Shape;2234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5" name="Google Shape;2235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236" name="Google Shape;2236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237" name="Google Shape;2237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55% month-over-month</a:t>
            </a:r>
            <a:endParaRPr/>
          </a:p>
        </p:txBody>
      </p:sp>
      <p:sp>
        <p:nvSpPr>
          <p:cNvPr id="2238" name="Google Shape;2238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9" name="Google Shape;2239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240" name="Google Shape;2240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241" name="Google Shape;2241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$142,450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242" name="Google Shape;2242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243" name="Google Shape;2243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47" name="Shape 2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8" name="Google Shape;2248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9" name="Google Shape;2249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2250" name="Google Shape;2250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Fort Lauderdale</a:t>
            </a:r>
            <a:endParaRPr/>
          </a:p>
        </p:txBody>
      </p:sp>
      <p:sp>
        <p:nvSpPr>
          <p:cNvPr id="2251" name="Google Shape;2251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$162,392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252" name="Google Shape;2252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$152,140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53" name="Google Shape;2253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54" name="Google Shape;2254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$10,252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55" name="Google Shape;2255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$-10,789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56" name="Google Shape;2256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257" name="Google Shape;2257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$162,392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258" name="Google Shape;2258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259" name="Google Shape;2259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60" name="Google Shape;2260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61" name="Google Shape;2261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62" name="Google Shape;2262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$58,488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263" name="Google Shape;2263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$83,856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264" name="Google Shape;2264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5" name="Google Shape;2265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266" name="Google Shape;2266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67" name="Google Shape;2267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268" name="Google Shape;2268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69" name="Google Shape;2269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70" name="Google Shape;2270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71" name="Google Shape;2271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72" name="Google Shape;2272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3" name="Google Shape;2273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74" name="Google Shape;2274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$60,178</a:t>
            </a:r>
            <a:endParaRPr/>
          </a:p>
        </p:txBody>
      </p:sp>
      <p:sp>
        <p:nvSpPr>
          <p:cNvPr id="2275" name="Google Shape;2275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$60,178</a:t>
            </a:r>
            <a:endParaRPr/>
          </a:p>
        </p:txBody>
      </p:sp>
      <p:sp>
        <p:nvSpPr>
          <p:cNvPr id="2276" name="Google Shape;2276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77" name="Google Shape;2277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78" name="Google Shape;2278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79" name="Google Shape;2279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0" name="Google Shape;2280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81" name="Google Shape;2281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$18,827</a:t>
            </a:r>
            <a:endParaRPr/>
          </a:p>
        </p:txBody>
      </p:sp>
      <p:sp>
        <p:nvSpPr>
          <p:cNvPr id="2282" name="Google Shape;2282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$18,827</a:t>
            </a:r>
            <a:endParaRPr/>
          </a:p>
        </p:txBody>
      </p:sp>
      <p:sp>
        <p:nvSpPr>
          <p:cNvPr id="2283" name="Google Shape;2283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84" name="Google Shape;2284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85" name="Google Shape;2285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86" name="Google Shape;2286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7" name="Google Shape;2287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88" name="Google Shape;2288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$57,589</a:t>
            </a:r>
            <a:endParaRPr/>
          </a:p>
        </p:txBody>
      </p:sp>
      <p:sp>
        <p:nvSpPr>
          <p:cNvPr id="2289" name="Google Shape;2289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$58,488</a:t>
            </a:r>
            <a:endParaRPr/>
          </a:p>
        </p:txBody>
      </p:sp>
      <p:sp>
        <p:nvSpPr>
          <p:cNvPr id="2290" name="Google Shape;2290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91" name="Google Shape;2291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$-900</a:t>
            </a:r>
            <a:endParaRPr/>
          </a:p>
        </p:txBody>
      </p:sp>
      <p:sp>
        <p:nvSpPr>
          <p:cNvPr id="2292" name="Google Shape;2292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93" name="Google Shape;2293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4" name="Google Shape;2294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95" name="Google Shape;2295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$25,480</a:t>
            </a:r>
            <a:endParaRPr/>
          </a:p>
        </p:txBody>
      </p:sp>
      <p:sp>
        <p:nvSpPr>
          <p:cNvPr id="2296" name="Google Shape;2296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$14,098</a:t>
            </a:r>
            <a:endParaRPr/>
          </a:p>
        </p:txBody>
      </p:sp>
      <p:sp>
        <p:nvSpPr>
          <p:cNvPr id="2297" name="Google Shape;2297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98" name="Google Shape;2298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$11,382</a:t>
            </a:r>
            <a:endParaRPr/>
          </a:p>
        </p:txBody>
      </p:sp>
      <p:sp>
        <p:nvSpPr>
          <p:cNvPr id="2299" name="Google Shape;2299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0" name="Google Shape;2300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1" name="Google Shape;2301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02" name="Google Shape;2302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$320</a:t>
            </a:r>
            <a:endParaRPr/>
          </a:p>
        </p:txBody>
      </p:sp>
      <p:sp>
        <p:nvSpPr>
          <p:cNvPr id="2303" name="Google Shape;2303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304" name="Google Shape;2304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5" name="Google Shape;2305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$-230</a:t>
            </a:r>
            <a:endParaRPr/>
          </a:p>
        </p:txBody>
      </p:sp>
      <p:sp>
        <p:nvSpPr>
          <p:cNvPr id="2306" name="Google Shape;2306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$-10,789</a:t>
            </a:r>
            <a:endParaRPr/>
          </a:p>
        </p:txBody>
      </p:sp>
      <p:sp>
        <p:nvSpPr>
          <p:cNvPr id="2307" name="Google Shape;2307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8" name="Google Shape;2308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09" name="Google Shape;2309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$162,392</a:t>
            </a:r>
            <a:endParaRPr/>
          </a:p>
        </p:txBody>
      </p:sp>
      <p:sp>
        <p:nvSpPr>
          <p:cNvPr id="2310" name="Google Shape;2310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$152,140</a:t>
            </a:r>
            <a:endParaRPr/>
          </a:p>
        </p:txBody>
      </p:sp>
      <p:sp>
        <p:nvSpPr>
          <p:cNvPr id="2311" name="Google Shape;2311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12" name="Google Shape;2312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$10,252</a:t>
            </a:r>
            <a:endParaRPr/>
          </a:p>
        </p:txBody>
      </p:sp>
      <p:sp>
        <p:nvSpPr>
          <p:cNvPr id="2313" name="Google Shape;2313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$-10,789</a:t>
            </a:r>
            <a:endParaRPr/>
          </a:p>
        </p:txBody>
      </p:sp>
      <p:sp>
        <p:nvSpPr>
          <p:cNvPr id="2314" name="Google Shape;2314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5" name="Google Shape;2315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316" name="Google Shape;2316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7" name="Google Shape;2317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18" name="Google Shape;2318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319" name="Google Shape;2319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320" name="Google Shape;2320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21" name="Google Shape;2321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22" name="Google Shape;2322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3" name="Google Shape;2323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24" name="Google Shape;2324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326" name="Google Shape;2326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2327" name="Google Shape;2327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28" name="Google Shape;2328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2329" name="Google Shape;2329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0" name="Google Shape;2330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31" name="Google Shape;2331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2332" name="Google Shape;2332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333" name="Google Shape;2333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334" name="Google Shape;2334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35" name="Google Shape;2335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2336" name="Google Shape;2336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7" name="Google Shape;2337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338" name="Google Shape;2338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2339" name="Google Shape;2339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340" name="Google Shape;2340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2341" name="Google Shape;2341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342" name="Google Shape;2342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</a:t>
            </a:r>
            <a:endParaRPr/>
          </a:p>
        </p:txBody>
      </p:sp>
      <p:sp>
        <p:nvSpPr>
          <p:cNvPr id="2343" name="Google Shape;2343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4" name="Google Shape;2344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45" name="Google Shape;2345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2346" name="Google Shape;2346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347" name="Google Shape;2347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2348" name="Google Shape;2348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49" name="Google Shape;2349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2350" name="Google Shape;2350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1" name="Google Shape;2351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52" name="Google Shape;2352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2353" name="Google Shape;2353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354" name="Google Shape;2354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2355" name="Google Shape;2355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56" name="Google Shape;2356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2357" name="Google Shape;2357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8" name="Google Shape;2358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59" name="Google Shape;2359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350</a:t>
            </a:r>
            <a:endParaRPr/>
          </a:p>
        </p:txBody>
      </p:sp>
      <p:sp>
        <p:nvSpPr>
          <p:cNvPr id="2360" name="Google Shape;2360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361" name="Google Shape;2361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316</a:t>
            </a:r>
            <a:endParaRPr/>
          </a:p>
        </p:txBody>
      </p:sp>
      <p:sp>
        <p:nvSpPr>
          <p:cNvPr id="2362" name="Google Shape;2362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363" name="Google Shape;2363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2364" name="Google Shape;2364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5" name="Google Shape;2365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366" name="Google Shape;2366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67" name="Google Shape;2367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368" name="Google Shape;2368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369" name="Google Shape;2369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370" name="Google Shape;2370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371" name="Google Shape;2371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372" name="Google Shape;2372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373" name="Google Shape;2373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374" name="Google Shape;2374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375" name="Google Shape;2375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376" name="Google Shape;2376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377" name="Google Shape;2377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378" name="Google Shape;2378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379" name="Google Shape;2379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80" name="Google Shape;2380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81" name="Google Shape;2381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2382" name="Google Shape;2382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83" name="Google Shape;2383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2384" name="Google Shape;2384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85" name="Google Shape;2385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2386" name="Google Shape;2386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87" name="Google Shape;2387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2388" name="Google Shape;2388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89" name="Google Shape;2389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2390" name="Google Shape;2390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91" name="Google Shape;2391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358</a:t>
            </a:r>
            <a:endParaRPr/>
          </a:p>
        </p:txBody>
      </p:sp>
      <p:sp>
        <p:nvSpPr>
          <p:cNvPr id="2392" name="Google Shape;2392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393" name="Google Shape;2393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4" name="Google Shape;2394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2395" name="Google Shape;2395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6" name="Google Shape;2396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2397" name="Google Shape;2397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8" name="Google Shape;2398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2399" name="Google Shape;2399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0" name="Google Shape;2400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2401" name="Google Shape;2401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2" name="Google Shape;2402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$320</a:t>
            </a:r>
            <a:endParaRPr/>
          </a:p>
        </p:txBody>
      </p:sp>
      <p:sp>
        <p:nvSpPr>
          <p:cNvPr id="2403" name="Google Shape;2403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4" name="Google Shape;2404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$162K</a:t>
            </a:r>
            <a:endParaRPr/>
          </a:p>
        </p:txBody>
      </p:sp>
      <p:sp>
        <p:nvSpPr>
          <p:cNvPr id="2405" name="Google Shape;2405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6" name="Google Shape;2406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407" name="Google Shape;2407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08" name="Google Shape;2408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$162,392 YTD gross written premium</a:t>
            </a:r>
            <a:endParaRPr/>
          </a:p>
        </p:txBody>
      </p:sp>
      <p:sp>
        <p:nvSpPr>
          <p:cNvPr id="2409" name="Google Shape;2409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10" name="Google Shape;2410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$152,140 in new business production</a:t>
            </a:r>
            <a:endParaRPr/>
          </a:p>
        </p:txBody>
      </p:sp>
      <p:sp>
        <p:nvSpPr>
          <p:cNvPr id="2411" name="Google Shape;2411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2" name="Google Shape;2412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413" name="Google Shape;2413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414" name="Google Shape;2414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1.4% hit ratio on 350 subs - needs coaching</a:t>
            </a:r>
            <a:endParaRPr/>
          </a:p>
        </p:txBody>
      </p:sp>
      <p:sp>
        <p:nvSpPr>
          <p:cNvPr id="2415" name="Google Shape;2415;p1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416" name="Google Shape;2416;p1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99% month-over-month</a:t>
            </a:r>
            <a:endParaRPr/>
          </a:p>
        </p:txBody>
      </p:sp>
      <p:sp>
        <p:nvSpPr>
          <p:cNvPr id="2417" name="Google Shape;2417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8" name="Google Shape;2418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419" name="Google Shape;2419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420" name="Google Shape;2420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(350 subs, only 5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421" name="Google Shape;2421;p1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422" name="Google Shape;2422;p1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$152,140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26" name="Shape 2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Google Shape;2427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8" name="Google Shape;2428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2429" name="Google Shape;2429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AL  |  City: Gadsden</a:t>
            </a:r>
            <a:endParaRPr/>
          </a:p>
        </p:txBody>
      </p:sp>
      <p:sp>
        <p:nvSpPr>
          <p:cNvPr id="2430" name="Google Shape;2430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431" name="Google Shape;2431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$89,533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432" name="Google Shape;2432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433" name="Google Shape;2433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434" name="Google Shape;2434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435" name="Google Shape;2435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$49,732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436" name="Google Shape;2436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$141,776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437" name="Google Shape;2437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438" name="Google Shape;2438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39" name="Google Shape;2439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40" name="Google Shape;2440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41" name="Google Shape;2441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442" name="Google Shape;2442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$70,793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443" name="Google Shape;2443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4" name="Google Shape;2444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445" name="Google Shape;2445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46" name="Google Shape;2446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447" name="Google Shape;2447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448" name="Google Shape;2448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449" name="Google Shape;2449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450" name="Google Shape;2450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451" name="Google Shape;2451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2" name="Google Shape;2452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53" name="Google Shape;2453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454" name="Google Shape;2454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55" name="Google Shape;2455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456" name="Google Shape;2456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57" name="Google Shape;2457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58" name="Google Shape;2458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9" name="Google Shape;2459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60" name="Google Shape;2460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$34,911</a:t>
            </a:r>
            <a:endParaRPr/>
          </a:p>
        </p:txBody>
      </p:sp>
      <p:sp>
        <p:nvSpPr>
          <p:cNvPr id="2461" name="Google Shape;2461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$34,911</a:t>
            </a:r>
            <a:endParaRPr/>
          </a:p>
        </p:txBody>
      </p:sp>
      <p:sp>
        <p:nvSpPr>
          <p:cNvPr id="2462" name="Google Shape;2462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63" name="Google Shape;2463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64" name="Google Shape;2464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65" name="Google Shape;2465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6" name="Google Shape;2466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67" name="Google Shape;2467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$35,085</a:t>
            </a:r>
            <a:endParaRPr/>
          </a:p>
        </p:txBody>
      </p:sp>
      <p:sp>
        <p:nvSpPr>
          <p:cNvPr id="2468" name="Google Shape;2468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$18,966</a:t>
            </a:r>
            <a:endParaRPr/>
          </a:p>
        </p:txBody>
      </p:sp>
      <p:sp>
        <p:nvSpPr>
          <p:cNvPr id="2469" name="Google Shape;2469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0" name="Google Shape;2470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$16,120</a:t>
            </a:r>
            <a:endParaRPr/>
          </a:p>
        </p:txBody>
      </p:sp>
      <p:sp>
        <p:nvSpPr>
          <p:cNvPr id="2471" name="Google Shape;2471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2" name="Google Shape;2472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3" name="Google Shape;2473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74" name="Google Shape;2474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$35,656</a:t>
            </a:r>
            <a:endParaRPr/>
          </a:p>
        </p:txBody>
      </p:sp>
      <p:sp>
        <p:nvSpPr>
          <p:cNvPr id="2475" name="Google Shape;2475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$35,656</a:t>
            </a:r>
            <a:endParaRPr/>
          </a:p>
        </p:txBody>
      </p:sp>
      <p:sp>
        <p:nvSpPr>
          <p:cNvPr id="2476" name="Google Shape;2476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7" name="Google Shape;2477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8" name="Google Shape;2478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9" name="Google Shape;2479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0" name="Google Shape;2480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81" name="Google Shape;2481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2" name="Google Shape;2482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3" name="Google Shape;2483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4" name="Google Shape;2484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5" name="Google Shape;2485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6" name="Google Shape;2486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7" name="Google Shape;2487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88" name="Google Shape;2488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$106,203</a:t>
            </a:r>
            <a:endParaRPr/>
          </a:p>
        </p:txBody>
      </p:sp>
      <p:sp>
        <p:nvSpPr>
          <p:cNvPr id="2489" name="Google Shape;2489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$89,533</a:t>
            </a:r>
            <a:endParaRPr/>
          </a:p>
        </p:txBody>
      </p:sp>
      <p:sp>
        <p:nvSpPr>
          <p:cNvPr id="2490" name="Google Shape;2490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491" name="Google Shape;2491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$16,120</a:t>
            </a:r>
            <a:endParaRPr/>
          </a:p>
        </p:txBody>
      </p:sp>
      <p:sp>
        <p:nvSpPr>
          <p:cNvPr id="2492" name="Google Shape;2492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93" name="Google Shape;2493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4" name="Google Shape;2494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495" name="Google Shape;2495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96" name="Google Shape;2496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497" name="Google Shape;2497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498" name="Google Shape;2498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499" name="Google Shape;2499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00" name="Google Shape;2500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01" name="Google Shape;2501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2" name="Google Shape;2502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03" name="Google Shape;2503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504" name="Google Shape;2504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05" name="Google Shape;2505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506" name="Google Shape;2506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07" name="Google Shape;2507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508" name="Google Shape;2508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9" name="Google Shape;2509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10" name="Google Shape;2510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511" name="Google Shape;2511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12" name="Google Shape;2512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513" name="Google Shape;2513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514" name="Google Shape;2514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2515" name="Google Shape;2515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6" name="Google Shape;2516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17" name="Google Shape;2517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518" name="Google Shape;2518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19" name="Google Shape;2519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520" name="Google Shape;2520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521" name="Google Shape;2521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18.8%</a:t>
            </a:r>
            <a:endParaRPr/>
          </a:p>
        </p:txBody>
      </p:sp>
      <p:sp>
        <p:nvSpPr>
          <p:cNvPr id="2522" name="Google Shape;2522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3" name="Google Shape;2523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24" name="Google Shape;2524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525" name="Google Shape;2525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26" name="Google Shape;2526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527" name="Google Shape;2527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28" name="Google Shape;2528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2529" name="Google Shape;2529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0" name="Google Shape;2530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31" name="Google Shape;2531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532" name="Google Shape;2532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33" name="Google Shape;2533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534" name="Google Shape;2534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35" name="Google Shape;2535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536" name="Google Shape;2536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7" name="Google Shape;2537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38" name="Google Shape;2538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2539" name="Google Shape;2539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540" name="Google Shape;2540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2541" name="Google Shape;2541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542" name="Google Shape;2542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543" name="Google Shape;2543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4" name="Google Shape;2544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545" name="Google Shape;2545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46" name="Google Shape;2546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547" name="Google Shape;2547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548" name="Google Shape;2548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549" name="Google Shape;2549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550" name="Google Shape;2550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551" name="Google Shape;2551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552" name="Google Shape;2552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553" name="Google Shape;2553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554" name="Google Shape;2554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555" name="Google Shape;2555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556" name="Google Shape;2556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557" name="Google Shape;2557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558" name="Google Shape;2558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59" name="Google Shape;2559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560" name="Google Shape;2560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561" name="Google Shape;2561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562" name="Google Shape;2562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563" name="Google Shape;2563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564" name="Google Shape;2564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565" name="Google Shape;2565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566" name="Google Shape;2566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567" name="Google Shape;2567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68" name="Google Shape;2568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569" name="Google Shape;2569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570" name="Google Shape;2570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2571" name="Google Shape;2571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572" name="Google Shape;2572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</a:t>
            </a:r>
            <a:endParaRPr/>
          </a:p>
        </p:txBody>
      </p:sp>
      <p:sp>
        <p:nvSpPr>
          <p:cNvPr id="2573" name="Google Shape;2573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574" name="Google Shape;2574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2575" name="Google Shape;2575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2576" name="Google Shape;2576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2577" name="Google Shape;2577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2578" name="Google Shape;2578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9" name="Google Shape;2579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2580" name="Google Shape;2580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1" name="Google Shape;2581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2" name="Google Shape;2582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2583" name="Google Shape;2583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$106K</a:t>
            </a:r>
            <a:endParaRPr/>
          </a:p>
        </p:txBody>
      </p:sp>
      <p:sp>
        <p:nvSpPr>
          <p:cNvPr id="2584" name="Google Shape;2584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5" name="Google Shape;2585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586" name="Google Shape;2586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87" name="Google Shape;2587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$106,203 YTD gross written premium</a:t>
            </a:r>
            <a:endParaRPr/>
          </a:p>
        </p:txBody>
      </p:sp>
      <p:sp>
        <p:nvSpPr>
          <p:cNvPr id="2588" name="Google Shape;2588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89" name="Google Shape;2589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$89,533 in new business production</a:t>
            </a:r>
            <a:endParaRPr/>
          </a:p>
        </p:txBody>
      </p:sp>
      <p:sp>
        <p:nvSpPr>
          <p:cNvPr id="2590" name="Google Shape;2590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1" name="Google Shape;2591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592" name="Google Shape;2592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93" name="Google Shape;2593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2594" name="Google Shape;2594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5" name="Google Shape;2595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596" name="Google Shape;2596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597" name="Google Shape;2597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$89,533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598" name="Google Shape;2598;p2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599" name="Google Shape;2599;p2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03" name="Shape 2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4" name="Google Shape;2604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5" name="Google Shape;2605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2606" name="Google Shape;2606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Miami</a:t>
            </a:r>
            <a:endParaRPr/>
          </a:p>
        </p:txBody>
      </p:sp>
      <p:sp>
        <p:nvSpPr>
          <p:cNvPr id="2607" name="Google Shape;2607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608" name="Google Shape;2608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609" name="Google Shape;2609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610" name="Google Shape;2610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611" name="Google Shape;2611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612" name="Google Shape;2612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613" name="Google Shape;2613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614" name="Google Shape;2614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3563%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615" name="Google Shape;2615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16" name="Google Shape;2616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617" name="Google Shape;2617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618" name="Google Shape;2618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$81,735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619" name="Google Shape;2619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620" name="Google Shape;2620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1" name="Google Shape;2621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622" name="Google Shape;2622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623" name="Google Shape;2623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624" name="Google Shape;2624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625" name="Google Shape;2625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626" name="Google Shape;2626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627" name="Google Shape;2627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628" name="Google Shape;2628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9" name="Google Shape;2629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630" name="Google Shape;2630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31" name="Google Shape;2631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32" name="Google Shape;2632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33" name="Google Shape;2633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34" name="Google Shape;2634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35" name="Google Shape;2635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6" name="Google Shape;2636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37" name="Google Shape;2637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38" name="Google Shape;2638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39" name="Google Shape;2639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40" name="Google Shape;2640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41" name="Google Shape;2641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42" name="Google Shape;2642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3" name="Google Shape;2643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44" name="Google Shape;2644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45" name="Google Shape;2645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46" name="Google Shape;2646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47" name="Google Shape;2647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48" name="Google Shape;2648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49" name="Google Shape;2649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0" name="Google Shape;2650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51" name="Google Shape;2651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2652" name="Google Shape;2652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2653" name="Google Shape;2653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54" name="Google Shape;2654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55" name="Google Shape;2655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56" name="Google Shape;2656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7" name="Google Shape;2657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58" name="Google Shape;2658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59" name="Google Shape;2659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0" name="Google Shape;2660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1" name="Google Shape;2661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2" name="Google Shape;2662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3" name="Google Shape;2663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4" name="Google Shape;2664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65" name="Google Shape;2665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2666" name="Google Shape;2666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2667" name="Google Shape;2667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8" name="Google Shape;2668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9" name="Google Shape;2669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70" name="Google Shape;2670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1" name="Google Shape;2671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672" name="Google Shape;2672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673" name="Google Shape;2673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674" name="Google Shape;2674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675" name="Google Shape;2675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676" name="Google Shape;2676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677" name="Google Shape;2677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678" name="Google Shape;2678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9" name="Google Shape;2679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680" name="Google Shape;2680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81" name="Google Shape;2681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82" name="Google Shape;2682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83" name="Google Shape;2683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84" name="Google Shape;2684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685" name="Google Shape;2685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6" name="Google Shape;2686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87" name="Google Shape;2687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88" name="Google Shape;2688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89" name="Google Shape;2689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90" name="Google Shape;2690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91" name="Google Shape;2691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692" name="Google Shape;2692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3" name="Google Shape;2693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94" name="Google Shape;2694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695" name="Google Shape;2695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696" name="Google Shape;2696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2697" name="Google Shape;2697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98" name="Google Shape;2698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2699" name="Google Shape;2699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0" name="Google Shape;2700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01" name="Google Shape;2701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</a:t>
            </a:r>
            <a:endParaRPr/>
          </a:p>
        </p:txBody>
      </p:sp>
      <p:sp>
        <p:nvSpPr>
          <p:cNvPr id="2702" name="Google Shape;2702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03" name="Google Shape;2703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704" name="Google Shape;2704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05" name="Google Shape;2705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2706" name="Google Shape;2706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7" name="Google Shape;2707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08" name="Google Shape;2708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134</a:t>
            </a:r>
            <a:endParaRPr/>
          </a:p>
        </p:txBody>
      </p:sp>
      <p:sp>
        <p:nvSpPr>
          <p:cNvPr id="2709" name="Google Shape;2709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710" name="Google Shape;2710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2711" name="Google Shape;2711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12" name="Google Shape;2712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13" name="Google Shape;2713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4" name="Google Shape;2714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15" name="Google Shape;2715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297</a:t>
            </a:r>
            <a:endParaRPr/>
          </a:p>
        </p:txBody>
      </p:sp>
      <p:sp>
        <p:nvSpPr>
          <p:cNvPr id="2716" name="Google Shape;2716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717" name="Google Shape;2717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274</a:t>
            </a:r>
            <a:endParaRPr/>
          </a:p>
        </p:txBody>
      </p:sp>
      <p:sp>
        <p:nvSpPr>
          <p:cNvPr id="2718" name="Google Shape;2718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719" name="Google Shape;2719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2720" name="Google Shape;2720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1" name="Google Shape;2721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722" name="Google Shape;2722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723" name="Google Shape;2723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724" name="Google Shape;2724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725" name="Google Shape;2725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726" name="Google Shape;2726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727" name="Google Shape;2727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728" name="Google Shape;2728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729" name="Google Shape;2729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730" name="Google Shape;2730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731" name="Google Shape;2731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732" name="Google Shape;2732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733" name="Google Shape;2733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734" name="Google Shape;2734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735" name="Google Shape;2735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36" name="Google Shape;2736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737" name="Google Shape;2737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38" name="Google Shape;2738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739" name="Google Shape;2739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40" name="Google Shape;2740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41" name="Google Shape;2741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742" name="Google Shape;2742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43" name="Google Shape;2743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</a:t>
            </a:r>
            <a:endParaRPr/>
          </a:p>
        </p:txBody>
      </p:sp>
      <p:sp>
        <p:nvSpPr>
          <p:cNvPr id="2744" name="Google Shape;2744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45" name="Google Shape;2745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134</a:t>
            </a:r>
            <a:endParaRPr/>
          </a:p>
        </p:txBody>
      </p:sp>
      <p:sp>
        <p:nvSpPr>
          <p:cNvPr id="2746" name="Google Shape;2746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747" name="Google Shape;2747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299</a:t>
            </a:r>
            <a:endParaRPr/>
          </a:p>
        </p:txBody>
      </p:sp>
      <p:sp>
        <p:nvSpPr>
          <p:cNvPr id="2748" name="Google Shape;2748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749" name="Google Shape;2749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0" name="Google Shape;2750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1" name="Google Shape;2751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2" name="Google Shape;2752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3" name="Google Shape;2753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2754" name="Google Shape;2754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5" name="Google Shape;2755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6" name="Google Shape;2756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2757" name="Google Shape;2757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8" name="Google Shape;2758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9" name="Google Shape;2759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2760" name="Google Shape;2760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2761" name="Google Shape;2761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2" name="Google Shape;2762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763" name="Google Shape;2763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64" name="Google Shape;2764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 YTD gross written premium</a:t>
            </a:r>
            <a:endParaRPr/>
          </a:p>
        </p:txBody>
      </p:sp>
      <p:sp>
        <p:nvSpPr>
          <p:cNvPr id="2765" name="Google Shape;2765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66" name="Google Shape;2766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 in new business production</a:t>
            </a:r>
            <a:endParaRPr/>
          </a:p>
        </p:txBody>
      </p:sp>
      <p:sp>
        <p:nvSpPr>
          <p:cNvPr id="2767" name="Google Shape;2767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8" name="Google Shape;2768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769" name="Google Shape;2769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770" name="Google Shape;2770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0.7% hit ratio on 297 subs - needs coaching</a:t>
            </a:r>
            <a:endParaRPr/>
          </a:p>
        </p:txBody>
      </p:sp>
      <p:sp>
        <p:nvSpPr>
          <p:cNvPr id="2771" name="Google Shape;2771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2" name="Google Shape;2772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773" name="Google Shape;2773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774" name="Google Shape;2774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(297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775" name="Google Shape;2775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776" name="Google Shape;2776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$105,002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80" name="Shape 2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Google Shape;2781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2" name="Google Shape;2782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2783" name="Google Shape;2783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North Carolina  |  City: Charlotte</a:t>
            </a:r>
            <a:endParaRPr/>
          </a:p>
        </p:txBody>
      </p:sp>
      <p:sp>
        <p:nvSpPr>
          <p:cNvPr id="2784" name="Google Shape;2784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$84,029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785" name="Google Shape;2785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86" name="Google Shape;2786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87" name="Google Shape;2787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$36,330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88" name="Google Shape;2788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$-39,814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89" name="Google Shape;2789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$479,965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790" name="Google Shape;2790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$293,982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91" name="Google Shape;2791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92" name="Google Shape;2792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93" name="Google Shape;2793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94" name="Google Shape;2794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95" name="Google Shape;2795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96" name="Google Shape;2796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$86,859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97" name="Google Shape;2797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8" name="Google Shape;2798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99" name="Google Shape;2799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00" name="Google Shape;2800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801" name="Google Shape;2801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02" name="Google Shape;2802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03" name="Google Shape;2803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04" name="Google Shape;2804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05" name="Google Shape;2805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6" name="Google Shape;2806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807" name="Google Shape;2807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$36,125</a:t>
            </a:r>
            <a:endParaRPr/>
          </a:p>
        </p:txBody>
      </p:sp>
      <p:sp>
        <p:nvSpPr>
          <p:cNvPr id="2808" name="Google Shape;2808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09" name="Google Shape;2809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$16,297</a:t>
            </a:r>
            <a:endParaRPr/>
          </a:p>
        </p:txBody>
      </p:sp>
      <p:sp>
        <p:nvSpPr>
          <p:cNvPr id="2810" name="Google Shape;2810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$19,828</a:t>
            </a:r>
            <a:endParaRPr/>
          </a:p>
        </p:txBody>
      </p:sp>
      <p:sp>
        <p:nvSpPr>
          <p:cNvPr id="2811" name="Google Shape;2811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$-19,828</a:t>
            </a:r>
            <a:endParaRPr/>
          </a:p>
        </p:txBody>
      </p:sp>
      <p:sp>
        <p:nvSpPr>
          <p:cNvPr id="2812" name="Google Shape;2812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3" name="Google Shape;2813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14" name="Google Shape;2814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$4,960</a:t>
            </a:r>
            <a:endParaRPr/>
          </a:p>
        </p:txBody>
      </p:sp>
      <p:sp>
        <p:nvSpPr>
          <p:cNvPr id="2815" name="Google Shape;2815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16" name="Google Shape;2816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17" name="Google Shape;2817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$4,960</a:t>
            </a:r>
            <a:endParaRPr/>
          </a:p>
        </p:txBody>
      </p:sp>
      <p:sp>
        <p:nvSpPr>
          <p:cNvPr id="2818" name="Google Shape;2818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$-16,591</a:t>
            </a:r>
            <a:endParaRPr/>
          </a:p>
        </p:txBody>
      </p:sp>
      <p:sp>
        <p:nvSpPr>
          <p:cNvPr id="2819" name="Google Shape;2819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0" name="Google Shape;2820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821" name="Google Shape;2821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$26,172</a:t>
            </a:r>
            <a:endParaRPr/>
          </a:p>
        </p:txBody>
      </p:sp>
      <p:sp>
        <p:nvSpPr>
          <p:cNvPr id="2822" name="Google Shape;2822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$15,182</a:t>
            </a:r>
            <a:endParaRPr/>
          </a:p>
        </p:txBody>
      </p:sp>
      <p:sp>
        <p:nvSpPr>
          <p:cNvPr id="2823" name="Google Shape;2823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4" name="Google Shape;2824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$10,990</a:t>
            </a:r>
            <a:endParaRPr/>
          </a:p>
        </p:txBody>
      </p:sp>
      <p:sp>
        <p:nvSpPr>
          <p:cNvPr id="2825" name="Google Shape;2825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6" name="Google Shape;2826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7" name="Google Shape;2827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28" name="Google Shape;2828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$15,825</a:t>
            </a:r>
            <a:endParaRPr/>
          </a:p>
        </p:txBody>
      </p:sp>
      <p:sp>
        <p:nvSpPr>
          <p:cNvPr id="2829" name="Google Shape;2829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$16,219</a:t>
            </a:r>
            <a:endParaRPr/>
          </a:p>
        </p:txBody>
      </p:sp>
      <p:sp>
        <p:nvSpPr>
          <p:cNvPr id="2830" name="Google Shape;2830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31" name="Google Shape;2831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$-394</a:t>
            </a:r>
            <a:endParaRPr/>
          </a:p>
        </p:txBody>
      </p:sp>
      <p:sp>
        <p:nvSpPr>
          <p:cNvPr id="2832" name="Google Shape;2832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$-3,395</a:t>
            </a:r>
            <a:endParaRPr/>
          </a:p>
        </p:txBody>
      </p:sp>
      <p:sp>
        <p:nvSpPr>
          <p:cNvPr id="2833" name="Google Shape;2833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4" name="Google Shape;2834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35" name="Google Shape;2835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$947</a:t>
            </a:r>
            <a:endParaRPr/>
          </a:p>
        </p:txBody>
      </p:sp>
      <p:sp>
        <p:nvSpPr>
          <p:cNvPr id="2836" name="Google Shape;2836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37" name="Google Shape;2837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38" name="Google Shape;2838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$947</a:t>
            </a:r>
            <a:endParaRPr/>
          </a:p>
        </p:txBody>
      </p:sp>
      <p:sp>
        <p:nvSpPr>
          <p:cNvPr id="2839" name="Google Shape;2839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40" name="Google Shape;2840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1" name="Google Shape;2841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42" name="Google Shape;2842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$84,029</a:t>
            </a:r>
            <a:endParaRPr/>
          </a:p>
        </p:txBody>
      </p:sp>
      <p:sp>
        <p:nvSpPr>
          <p:cNvPr id="2843" name="Google Shape;2843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$31,402</a:t>
            </a:r>
            <a:endParaRPr/>
          </a:p>
        </p:txBody>
      </p:sp>
      <p:sp>
        <p:nvSpPr>
          <p:cNvPr id="2844" name="Google Shape;2844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$16,297</a:t>
            </a:r>
            <a:endParaRPr/>
          </a:p>
        </p:txBody>
      </p:sp>
      <p:sp>
        <p:nvSpPr>
          <p:cNvPr id="2845" name="Google Shape;2845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$36,330</a:t>
            </a:r>
            <a:endParaRPr/>
          </a:p>
        </p:txBody>
      </p:sp>
      <p:sp>
        <p:nvSpPr>
          <p:cNvPr id="2846" name="Google Shape;2846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$-39,814</a:t>
            </a:r>
            <a:endParaRPr/>
          </a:p>
        </p:txBody>
      </p:sp>
      <p:sp>
        <p:nvSpPr>
          <p:cNvPr id="2847" name="Google Shape;2847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8" name="Google Shape;2848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849" name="Google Shape;2849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50" name="Google Shape;2850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851" name="Google Shape;2851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852" name="Google Shape;2852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853" name="Google Shape;2853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854" name="Google Shape;2854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855" name="Google Shape;2855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6" name="Google Shape;2856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857" name="Google Shape;2857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858" name="Google Shape;2858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859" name="Google Shape;2859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2860" name="Google Shape;2860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61" name="Google Shape;2861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862" name="Google Shape;2862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3" name="Google Shape;2863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64" name="Google Shape;2864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2865" name="Google Shape;2865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866" name="Google Shape;2866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867" name="Google Shape;2867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868" name="Google Shape;2868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2869" name="Google Shape;2869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0" name="Google Shape;2870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871" name="Google Shape;2871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2872" name="Google Shape;2872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873" name="Google Shape;2873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2874" name="Google Shape;2874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75" name="Google Shape;2875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2876" name="Google Shape;2876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7" name="Google Shape;2877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78" name="Google Shape;2878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879" name="Google Shape;2879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880" name="Google Shape;2880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2881" name="Google Shape;2881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82" name="Google Shape;2882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2883" name="Google Shape;2883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4" name="Google Shape;2884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85" name="Google Shape;2885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2886" name="Google Shape;2886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887" name="Google Shape;2887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2888" name="Google Shape;2888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89" name="Google Shape;2889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2890" name="Google Shape;2890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1" name="Google Shape;2891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92" name="Google Shape;2892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330</a:t>
            </a:r>
            <a:endParaRPr/>
          </a:p>
        </p:txBody>
      </p:sp>
      <p:sp>
        <p:nvSpPr>
          <p:cNvPr id="2893" name="Google Shape;2893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894" name="Google Shape;2894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282</a:t>
            </a:r>
            <a:endParaRPr/>
          </a:p>
        </p:txBody>
      </p:sp>
      <p:sp>
        <p:nvSpPr>
          <p:cNvPr id="2895" name="Google Shape;2895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896" name="Google Shape;2896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2897" name="Google Shape;2897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8" name="Google Shape;2898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899" name="Google Shape;2899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00" name="Google Shape;2900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901" name="Google Shape;2901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902" name="Google Shape;2902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903" name="Google Shape;2903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904" name="Google Shape;2904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905" name="Google Shape;2905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906" name="Google Shape;2906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907" name="Google Shape;2907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908" name="Google Shape;2908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909" name="Google Shape;2909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910" name="Google Shape;2910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911" name="Google Shape;2911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912" name="Google Shape;2912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13" name="Google Shape;2913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2914" name="Google Shape;2914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915" name="Google Shape;2915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</a:t>
            </a:r>
            <a:endParaRPr/>
          </a:p>
        </p:txBody>
      </p:sp>
      <p:sp>
        <p:nvSpPr>
          <p:cNvPr id="2916" name="Google Shape;2916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2917" name="Google Shape;2917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918" name="Google Shape;2918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2919" name="Google Shape;2919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2920" name="Google Shape;2920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921" name="Google Shape;2921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2922" name="Google Shape;2922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2923" name="Google Shape;2923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410</a:t>
            </a:r>
            <a:endParaRPr/>
          </a:p>
        </p:txBody>
      </p:sp>
      <p:sp>
        <p:nvSpPr>
          <p:cNvPr id="2924" name="Google Shape;2924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343</a:t>
            </a:r>
            <a:endParaRPr/>
          </a:p>
        </p:txBody>
      </p:sp>
      <p:sp>
        <p:nvSpPr>
          <p:cNvPr id="2925" name="Google Shape;2925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926" name="Google Shape;2926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2927" name="Google Shape;2927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2928" name="Google Shape;2928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2929" name="Google Shape;2929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2930" name="Google Shape;2930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2931" name="Google Shape;2931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2932" name="Google Shape;2932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$68K</a:t>
            </a:r>
            <a:endParaRPr/>
          </a:p>
        </p:txBody>
      </p:sp>
      <p:sp>
        <p:nvSpPr>
          <p:cNvPr id="2933" name="Google Shape;2933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934" name="Google Shape;2934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$123K</a:t>
            </a:r>
            <a:endParaRPr/>
          </a:p>
        </p:txBody>
      </p:sp>
      <p:sp>
        <p:nvSpPr>
          <p:cNvPr id="2935" name="Google Shape;2935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$947</a:t>
            </a:r>
            <a:endParaRPr/>
          </a:p>
        </p:txBody>
      </p:sp>
      <p:sp>
        <p:nvSpPr>
          <p:cNvPr id="2936" name="Google Shape;2936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$270K</a:t>
            </a:r>
            <a:endParaRPr/>
          </a:p>
        </p:txBody>
      </p:sp>
      <p:sp>
        <p:nvSpPr>
          <p:cNvPr id="2937" name="Google Shape;2937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$84K</a:t>
            </a:r>
            <a:endParaRPr/>
          </a:p>
        </p:txBody>
      </p:sp>
      <p:sp>
        <p:nvSpPr>
          <p:cNvPr id="2938" name="Google Shape;2938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9" name="Google Shape;2939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940" name="Google Shape;2940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941" name="Google Shape;2941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$84,029 YTD gross written premium</a:t>
            </a:r>
            <a:endParaRPr/>
          </a:p>
        </p:txBody>
      </p:sp>
      <p:sp>
        <p:nvSpPr>
          <p:cNvPr id="2942" name="Google Shape;2942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943" name="Google Shape;2943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$31,402 in new business production</a:t>
            </a:r>
            <a:endParaRPr/>
          </a:p>
        </p:txBody>
      </p:sp>
      <p:sp>
        <p:nvSpPr>
          <p:cNvPr id="2944" name="Google Shape;2944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5" name="Google Shape;2945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946" name="Google Shape;2946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947" name="Google Shape;2947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1.5% hit ratio on 330 subs - needs coaching</a:t>
            </a:r>
            <a:endParaRPr/>
          </a:p>
        </p:txBody>
      </p:sp>
      <p:sp>
        <p:nvSpPr>
          <p:cNvPr id="2948" name="Google Shape;2948;p2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949" name="Google Shape;2949;p2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127% of new business ($39,814)</a:t>
            </a:r>
            <a:endParaRPr/>
          </a:p>
        </p:txBody>
      </p:sp>
      <p:sp>
        <p:nvSpPr>
          <p:cNvPr id="2950" name="Google Shape;2950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1" name="Google Shape;2951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952" name="Google Shape;2952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953" name="Google Shape;2953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(330 subs, only 5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954" name="Google Shape;2954;p2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955" name="Google Shape;2955;p2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$31,402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59" name="Shape 2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0" name="Google Shape;2960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1" name="Google Shape;2961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&amp; Beyond Llc Dba Elite Insurance &amp; Beyond</a:t>
            </a:r>
            <a:endParaRPr/>
          </a:p>
        </p:txBody>
      </p:sp>
      <p:sp>
        <p:nvSpPr>
          <p:cNvPr id="2962" name="Google Shape;2962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Florida  |  City: Miami</a:t>
            </a:r>
            <a:endParaRPr/>
          </a:p>
        </p:txBody>
      </p:sp>
      <p:sp>
        <p:nvSpPr>
          <p:cNvPr id="2963" name="Google Shape;2963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964" name="Google Shape;2964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65" name="Google Shape;2965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66" name="Google Shape;2966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67" name="Google Shape;2967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68" name="Google Shape;2968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$152,072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969" name="Google Shape;2969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$79,452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970" name="Google Shape;2970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971" name="Google Shape;2971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72" name="Google Shape;2972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73" name="Google Shape;2973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74" name="Google Shape;2974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$82,315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975" name="Google Shape;2975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$82,102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976" name="Google Shape;2976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7" name="Google Shape;2977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978" name="Google Shape;2978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79" name="Google Shape;2979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980" name="Google Shape;2980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81" name="Google Shape;2981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82" name="Google Shape;2982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83" name="Google Shape;2983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84" name="Google Shape;2984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5" name="Google Shape;2985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86" name="Google Shape;2986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7" name="Google Shape;2987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8" name="Google Shape;2988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9" name="Google Shape;2989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90" name="Google Shape;2990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91" name="Google Shape;2991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2" name="Google Shape;2992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93" name="Google Shape;2993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94" name="Google Shape;2994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95" name="Google Shape;2995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96" name="Google Shape;2996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97" name="Google Shape;2997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98" name="Google Shape;2998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9" name="Google Shape;2999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00" name="Google Shape;3000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01" name="Google Shape;3001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02" name="Google Shape;3002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03" name="Google Shape;3003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04" name="Google Shape;3004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05" name="Google Shape;3005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6" name="Google Shape;3006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07" name="Google Shape;3007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</a:t>
            </a:r>
            <a:endParaRPr/>
          </a:p>
        </p:txBody>
      </p:sp>
      <p:sp>
        <p:nvSpPr>
          <p:cNvPr id="3008" name="Google Shape;3008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</a:t>
            </a:r>
            <a:endParaRPr/>
          </a:p>
        </p:txBody>
      </p:sp>
      <p:sp>
        <p:nvSpPr>
          <p:cNvPr id="3009" name="Google Shape;3009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0" name="Google Shape;3010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1" name="Google Shape;3011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2" name="Google Shape;3012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3" name="Google Shape;3013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14" name="Google Shape;3014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$1,148</a:t>
            </a:r>
            <a:endParaRPr/>
          </a:p>
        </p:txBody>
      </p:sp>
      <p:sp>
        <p:nvSpPr>
          <p:cNvPr id="3015" name="Google Shape;3015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6" name="Google Shape;3016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7" name="Google Shape;3017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$1,148</a:t>
            </a:r>
            <a:endParaRPr/>
          </a:p>
        </p:txBody>
      </p:sp>
      <p:sp>
        <p:nvSpPr>
          <p:cNvPr id="3018" name="Google Shape;3018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9" name="Google Shape;3019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0" name="Google Shape;3020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021" name="Google Shape;3021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$82,299</a:t>
            </a:r>
            <a:endParaRPr/>
          </a:p>
        </p:txBody>
      </p:sp>
      <p:sp>
        <p:nvSpPr>
          <p:cNvPr id="3022" name="Google Shape;3022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</a:t>
            </a:r>
            <a:endParaRPr/>
          </a:p>
        </p:txBody>
      </p:sp>
      <p:sp>
        <p:nvSpPr>
          <p:cNvPr id="3023" name="Google Shape;3023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24" name="Google Shape;3024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$1,148</a:t>
            </a:r>
            <a:endParaRPr/>
          </a:p>
        </p:txBody>
      </p:sp>
      <p:sp>
        <p:nvSpPr>
          <p:cNvPr id="3025" name="Google Shape;3025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26" name="Google Shape;3026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7" name="Google Shape;3027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028" name="Google Shape;3028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029" name="Google Shape;3029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030" name="Google Shape;3030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031" name="Google Shape;3031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032" name="Google Shape;3032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33" name="Google Shape;3033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34" name="Google Shape;3034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5" name="Google Shape;3035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036" name="Google Shape;3036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37" name="Google Shape;3037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38" name="Google Shape;3038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039" name="Google Shape;3039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40" name="Google Shape;3040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41" name="Google Shape;3041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2" name="Google Shape;3042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043" name="Google Shape;3043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044" name="Google Shape;3044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45" name="Google Shape;3045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046" name="Google Shape;3046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047" name="Google Shape;3047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3048" name="Google Shape;3048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9" name="Google Shape;3049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50" name="Google Shape;3050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051" name="Google Shape;3051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052" name="Google Shape;3052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053" name="Google Shape;3053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54" name="Google Shape;3054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55" name="Google Shape;3055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6" name="Google Shape;3056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57" name="Google Shape;3057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058" name="Google Shape;3058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59" name="Google Shape;3059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060" name="Google Shape;3060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061" name="Google Shape;3061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3062" name="Google Shape;3062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3" name="Google Shape;3063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64" name="Google Shape;3064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065" name="Google Shape;3065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66" name="Google Shape;3066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067" name="Google Shape;3067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68" name="Google Shape;3068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69" name="Google Shape;3069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0" name="Google Shape;3070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071" name="Google Shape;3071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072" name="Google Shape;3072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073" name="Google Shape;3073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074" name="Google Shape;3074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75" name="Google Shape;3075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3076" name="Google Shape;3076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7" name="Google Shape;3077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078" name="Google Shape;3078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79" name="Google Shape;3079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080" name="Google Shape;3080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081" name="Google Shape;3081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082" name="Google Shape;3082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083" name="Google Shape;3083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084" name="Google Shape;3084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085" name="Google Shape;3085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086" name="Google Shape;3086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087" name="Google Shape;3087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088" name="Google Shape;3088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089" name="Google Shape;3089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090" name="Google Shape;3090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091" name="Google Shape;3091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92" name="Google Shape;3092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93" name="Google Shape;3093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94" name="Google Shape;3094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095" name="Google Shape;3095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096" name="Google Shape;3096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097" name="Google Shape;3097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098" name="Google Shape;3098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099" name="Google Shape;3099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100" name="Google Shape;3100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101" name="Google Shape;3101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102" name="Google Shape;3102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3103" name="Google Shape;3103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3104" name="Google Shape;3104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105" name="Google Shape;3105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</a:t>
            </a:r>
            <a:endParaRPr/>
          </a:p>
        </p:txBody>
      </p:sp>
      <p:sp>
        <p:nvSpPr>
          <p:cNvPr id="3106" name="Google Shape;3106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7" name="Google Shape;3107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3108" name="Google Shape;3108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9" name="Google Shape;3109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$-1,430</a:t>
            </a:r>
            <a:endParaRPr/>
          </a:p>
        </p:txBody>
      </p:sp>
      <p:sp>
        <p:nvSpPr>
          <p:cNvPr id="3110" name="Google Shape;3110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1" name="Google Shape;3111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3112" name="Google Shape;3112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3113" name="Google Shape;3113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4" name="Google Shape;3114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3115" name="Google Shape;3115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$155K</a:t>
            </a:r>
            <a:endParaRPr/>
          </a:p>
        </p:txBody>
      </p:sp>
      <p:sp>
        <p:nvSpPr>
          <p:cNvPr id="3116" name="Google Shape;3116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$82K</a:t>
            </a:r>
            <a:endParaRPr/>
          </a:p>
        </p:txBody>
      </p:sp>
      <p:sp>
        <p:nvSpPr>
          <p:cNvPr id="3117" name="Google Shape;3117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8" name="Google Shape;3118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119" name="Google Shape;3119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120" name="Google Shape;3120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$82,299 YTD gross written premium</a:t>
            </a:r>
            <a:endParaRPr/>
          </a:p>
        </p:txBody>
      </p:sp>
      <p:sp>
        <p:nvSpPr>
          <p:cNvPr id="3121" name="Google Shape;3121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122" name="Google Shape;3122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 in new business production</a:t>
            </a:r>
            <a:endParaRPr/>
          </a:p>
        </p:txBody>
      </p:sp>
      <p:sp>
        <p:nvSpPr>
          <p:cNvPr id="3123" name="Google Shape;3123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4" name="Google Shape;3124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125" name="Google Shape;3125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126" name="Google Shape;3126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99% month-over-month</a:t>
            </a:r>
            <a:endParaRPr/>
          </a:p>
        </p:txBody>
      </p:sp>
      <p:sp>
        <p:nvSpPr>
          <p:cNvPr id="3127" name="Google Shape;3127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8" name="Google Shape;3128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129" name="Google Shape;3129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130" name="Google Shape;3130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$81,152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131" name="Google Shape;3131;p2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132" name="Google Shape;3132;p2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6" name="Shape 3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7" name="Google Shape;3137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8" name="Google Shape;3138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3139" name="Google Shape;3139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NC  |  City: Beaumont</a:t>
            </a:r>
            <a:endParaRPr/>
          </a:p>
        </p:txBody>
      </p:sp>
      <p:sp>
        <p:nvSpPr>
          <p:cNvPr id="3140" name="Google Shape;3140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$65,569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141" name="Google Shape;3141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142" name="Google Shape;3142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143" name="Google Shape;3143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144" name="Google Shape;3144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145" name="Google Shape;3145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$53,210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146" name="Google Shape;3146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$118,504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147" name="Google Shape;3147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148" name="Google Shape;3148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49" name="Google Shape;3149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50" name="Google Shape;3150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51" name="Google Shape;3151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152" name="Google Shape;3152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153" name="Google Shape;3153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4" name="Google Shape;3154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155" name="Google Shape;3155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56" name="Google Shape;3156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157" name="Google Shape;3157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158" name="Google Shape;3158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159" name="Google Shape;3159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160" name="Google Shape;3160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161" name="Google Shape;3161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2" name="Google Shape;3162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63" name="Google Shape;3163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4" name="Google Shape;3164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5" name="Google Shape;3165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6" name="Google Shape;3166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7" name="Google Shape;3167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8" name="Google Shape;3168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9" name="Google Shape;3169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70" name="Google Shape;3170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1" name="Google Shape;3171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2" name="Google Shape;3172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3" name="Google Shape;3173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4" name="Google Shape;3174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5" name="Google Shape;3175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6" name="Google Shape;3176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77" name="Google Shape;3177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$36,811</a:t>
            </a:r>
            <a:endParaRPr/>
          </a:p>
        </p:txBody>
      </p:sp>
      <p:sp>
        <p:nvSpPr>
          <p:cNvPr id="3178" name="Google Shape;3178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$36,811</a:t>
            </a:r>
            <a:endParaRPr/>
          </a:p>
        </p:txBody>
      </p:sp>
      <p:sp>
        <p:nvSpPr>
          <p:cNvPr id="3179" name="Google Shape;3179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80" name="Google Shape;3180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81" name="Google Shape;3181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82" name="Google Shape;3182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3" name="Google Shape;3183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84" name="Google Shape;3184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$4,120</a:t>
            </a:r>
            <a:endParaRPr/>
          </a:p>
        </p:txBody>
      </p:sp>
      <p:sp>
        <p:nvSpPr>
          <p:cNvPr id="3185" name="Google Shape;3185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86" name="Google Shape;3186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87" name="Google Shape;3187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$4,120</a:t>
            </a:r>
            <a:endParaRPr/>
          </a:p>
        </p:txBody>
      </p:sp>
      <p:sp>
        <p:nvSpPr>
          <p:cNvPr id="3188" name="Google Shape;3188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89" name="Google Shape;3189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0" name="Google Shape;3190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91" name="Google Shape;3191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$24,638</a:t>
            </a:r>
            <a:endParaRPr/>
          </a:p>
        </p:txBody>
      </p:sp>
      <p:sp>
        <p:nvSpPr>
          <p:cNvPr id="3192" name="Google Shape;3192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$23,874</a:t>
            </a:r>
            <a:endParaRPr/>
          </a:p>
        </p:txBody>
      </p:sp>
      <p:sp>
        <p:nvSpPr>
          <p:cNvPr id="3193" name="Google Shape;3193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94" name="Google Shape;3194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$764</a:t>
            </a:r>
            <a:endParaRPr/>
          </a:p>
        </p:txBody>
      </p:sp>
      <p:sp>
        <p:nvSpPr>
          <p:cNvPr id="3195" name="Google Shape;3195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96" name="Google Shape;3196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7" name="Google Shape;3197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98" name="Google Shape;3198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$65,569</a:t>
            </a:r>
            <a:endParaRPr/>
          </a:p>
        </p:txBody>
      </p:sp>
      <p:sp>
        <p:nvSpPr>
          <p:cNvPr id="3199" name="Google Shape;3199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$60,686</a:t>
            </a:r>
            <a:endParaRPr/>
          </a:p>
        </p:txBody>
      </p:sp>
      <p:sp>
        <p:nvSpPr>
          <p:cNvPr id="3200" name="Google Shape;3200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01" name="Google Shape;3201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$4,883</a:t>
            </a:r>
            <a:endParaRPr/>
          </a:p>
        </p:txBody>
      </p:sp>
      <p:sp>
        <p:nvSpPr>
          <p:cNvPr id="3202" name="Google Shape;3202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03" name="Google Shape;3203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4" name="Google Shape;3204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205" name="Google Shape;3205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06" name="Google Shape;3206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207" name="Google Shape;3207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208" name="Google Shape;3208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209" name="Google Shape;3209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10" name="Google Shape;3210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11" name="Google Shape;3211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2" name="Google Shape;3212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13" name="Google Shape;3213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214" name="Google Shape;3214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15" name="Google Shape;3215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216" name="Google Shape;3216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17" name="Google Shape;3217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218" name="Google Shape;3218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9" name="Google Shape;3219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20" name="Google Shape;3220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221" name="Google Shape;3221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22" name="Google Shape;3222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223" name="Google Shape;3223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24" name="Google Shape;3224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225" name="Google Shape;3225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6" name="Google Shape;3226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227" name="Google Shape;3227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228" name="Google Shape;3228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229" name="Google Shape;3229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230" name="Google Shape;3230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231" name="Google Shape;3231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3232" name="Google Shape;3232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3" name="Google Shape;3233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34" name="Google Shape;3234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235" name="Google Shape;3235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236" name="Google Shape;3236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237" name="Google Shape;3237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38" name="Google Shape;3238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239" name="Google Shape;3239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0" name="Google Shape;3240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241" name="Google Shape;3241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242" name="Google Shape;3242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243" name="Google Shape;3243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244" name="Google Shape;3244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245" name="Google Shape;3245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3246" name="Google Shape;3246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7" name="Google Shape;3247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248" name="Google Shape;3248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3249" name="Google Shape;3249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250" name="Google Shape;3250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3251" name="Google Shape;3251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252" name="Google Shape;3252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3253" name="Google Shape;3253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4" name="Google Shape;3254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255" name="Google Shape;3255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56" name="Google Shape;3256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257" name="Google Shape;3257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258" name="Google Shape;3258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259" name="Google Shape;3259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260" name="Google Shape;3260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261" name="Google Shape;3261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262" name="Google Shape;3262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263" name="Google Shape;3263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264" name="Google Shape;3264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265" name="Google Shape;3265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266" name="Google Shape;3266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267" name="Google Shape;3267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268" name="Google Shape;3268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69" name="Google Shape;3269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270" name="Google Shape;3270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271" name="Google Shape;3271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272" name="Google Shape;3272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273" name="Google Shape;3273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274" name="Google Shape;3274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275" name="Google Shape;3275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276" name="Google Shape;3276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277" name="Google Shape;3277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278" name="Google Shape;3278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279" name="Google Shape;3279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3280" name="Google Shape;3280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3281" name="Google Shape;3281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282" name="Google Shape;3282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3" name="Google Shape;3283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4" name="Google Shape;3284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$274</a:t>
            </a:r>
            <a:endParaRPr/>
          </a:p>
        </p:txBody>
      </p:sp>
      <p:sp>
        <p:nvSpPr>
          <p:cNvPr id="3285" name="Google Shape;3285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6" name="Google Shape;3286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7" name="Google Shape;3287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3288" name="Google Shape;3288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9" name="Google Shape;3289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290" name="Google Shape;3290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1" name="Google Shape;3291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3292" name="Google Shape;3292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$274</a:t>
            </a:r>
            <a:endParaRPr/>
          </a:p>
        </p:txBody>
      </p:sp>
      <p:sp>
        <p:nvSpPr>
          <p:cNvPr id="3293" name="Google Shape;3293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3294" name="Google Shape;3294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5" name="Google Shape;3295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96" name="Google Shape;3296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97" name="Google Shape;3297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$65,569 YTD gross written premium</a:t>
            </a:r>
            <a:endParaRPr/>
          </a:p>
        </p:txBody>
      </p:sp>
      <p:sp>
        <p:nvSpPr>
          <p:cNvPr id="3298" name="Google Shape;3298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99" name="Google Shape;3299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$60,686 in new business production</a:t>
            </a:r>
            <a:endParaRPr/>
          </a:p>
        </p:txBody>
      </p:sp>
      <p:sp>
        <p:nvSpPr>
          <p:cNvPr id="3300" name="Google Shape;3300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1" name="Google Shape;3301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302" name="Google Shape;3302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303" name="Google Shape;3303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2.7% hit ratio on 73 subs - needs coaching</a:t>
            </a:r>
            <a:endParaRPr/>
          </a:p>
        </p:txBody>
      </p:sp>
      <p:sp>
        <p:nvSpPr>
          <p:cNvPr id="3304" name="Google Shape;3304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5" name="Google Shape;3305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306" name="Google Shape;3306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307" name="Google Shape;3307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(73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308" name="Google Shape;3308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309" name="Google Shape;3309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$60,686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13" name="Shape 3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4" name="Google Shape;3314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5" name="Google Shape;3315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American Insurance Brokers</a:t>
            </a:r>
            <a:endParaRPr/>
          </a:p>
        </p:txBody>
      </p:sp>
      <p:sp>
        <p:nvSpPr>
          <p:cNvPr id="3316" name="Google Shape;3316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Doral</a:t>
            </a:r>
            <a:endParaRPr/>
          </a:p>
        </p:txBody>
      </p:sp>
      <p:sp>
        <p:nvSpPr>
          <p:cNvPr id="3317" name="Google Shape;3317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318" name="Google Shape;3318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319" name="Google Shape;3319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320" name="Google Shape;3320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321" name="Google Shape;3321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322" name="Google Shape;3322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$9,988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323" name="Google Shape;3323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324" name="Google Shape;3324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325" name="Google Shape;3325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26" name="Google Shape;3326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27" name="Google Shape;3327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28" name="Google Shape;3328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329" name="Google Shape;3329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330" name="Google Shape;3330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1" name="Google Shape;3331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332" name="Google Shape;3332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33" name="Google Shape;3333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334" name="Google Shape;3334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335" name="Google Shape;3335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336" name="Google Shape;3336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337" name="Google Shape;3337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338" name="Google Shape;3338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9" name="Google Shape;3339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40" name="Google Shape;3340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1" name="Google Shape;3341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2" name="Google Shape;3342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3" name="Google Shape;3343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4" name="Google Shape;3344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5" name="Google Shape;3345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6" name="Google Shape;3346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47" name="Google Shape;3347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8" name="Google Shape;3348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9" name="Google Shape;3349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0" name="Google Shape;3350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1" name="Google Shape;3351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2" name="Google Shape;3352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3" name="Google Shape;3353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54" name="Google Shape;3354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5" name="Google Shape;3355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6" name="Google Shape;3356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7" name="Google Shape;3357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8" name="Google Shape;3358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9" name="Google Shape;3359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0" name="Google Shape;3360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61" name="Google Shape;3361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2" name="Google Shape;3362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3" name="Google Shape;3363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4" name="Google Shape;3364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5" name="Google Shape;3365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6" name="Google Shape;3366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7" name="Google Shape;3367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68" name="Google Shape;3368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$64,988</a:t>
            </a:r>
            <a:endParaRPr/>
          </a:p>
        </p:txBody>
      </p:sp>
      <p:sp>
        <p:nvSpPr>
          <p:cNvPr id="3369" name="Google Shape;3369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$64,988</a:t>
            </a:r>
            <a:endParaRPr/>
          </a:p>
        </p:txBody>
      </p:sp>
      <p:sp>
        <p:nvSpPr>
          <p:cNvPr id="3370" name="Google Shape;3370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1" name="Google Shape;3371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2" name="Google Shape;3372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3" name="Google Shape;3373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4" name="Google Shape;3374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75" name="Google Shape;3375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$64,988</a:t>
            </a:r>
            <a:endParaRPr/>
          </a:p>
        </p:txBody>
      </p:sp>
      <p:sp>
        <p:nvSpPr>
          <p:cNvPr id="3376" name="Google Shape;3376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$64,988</a:t>
            </a:r>
            <a:endParaRPr/>
          </a:p>
        </p:txBody>
      </p:sp>
      <p:sp>
        <p:nvSpPr>
          <p:cNvPr id="3377" name="Google Shape;3377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8" name="Google Shape;3378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9" name="Google Shape;3379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80" name="Google Shape;3380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1" name="Google Shape;3381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382" name="Google Shape;3382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83" name="Google Shape;3383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384" name="Google Shape;3384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385" name="Google Shape;3385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386" name="Google Shape;3386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87" name="Google Shape;3387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88" name="Google Shape;3388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9" name="Google Shape;3389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90" name="Google Shape;3390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91" name="Google Shape;3391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92" name="Google Shape;3392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93" name="Google Shape;3393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94" name="Google Shape;3394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95" name="Google Shape;3395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6" name="Google Shape;3396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97" name="Google Shape;3397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98" name="Google Shape;3398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99" name="Google Shape;3399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00" name="Google Shape;3400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01" name="Google Shape;3401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402" name="Google Shape;3402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3" name="Google Shape;3403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04" name="Google Shape;3404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05" name="Google Shape;3405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06" name="Google Shape;3406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07" name="Google Shape;3407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08" name="Google Shape;3408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3409" name="Google Shape;3409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0" name="Google Shape;3410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11" name="Google Shape;3411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2" name="Google Shape;3412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3" name="Google Shape;3413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4" name="Google Shape;3414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5" name="Google Shape;3415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416" name="Google Shape;3416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7" name="Google Shape;3417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18" name="Google Shape;3418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19" name="Google Shape;3419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20" name="Google Shape;3420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21" name="Google Shape;3421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22" name="Google Shape;3422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423" name="Google Shape;3423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4" name="Google Shape;3424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425" name="Google Shape;3425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426" name="Google Shape;3426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27" name="Google Shape;3427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428" name="Google Shape;3428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29" name="Google Shape;3429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430" name="Google Shape;3430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1" name="Google Shape;3431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432" name="Google Shape;3432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33" name="Google Shape;3433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434" name="Google Shape;3434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435" name="Google Shape;3435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436" name="Google Shape;3436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437" name="Google Shape;3437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438" name="Google Shape;3438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439" name="Google Shape;3439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440" name="Google Shape;3440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441" name="Google Shape;3441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442" name="Google Shape;3442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443" name="Google Shape;3443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444" name="Google Shape;3444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445" name="Google Shape;3445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46" name="Google Shape;3446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447" name="Google Shape;3447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48" name="Google Shape;3448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49" name="Google Shape;3449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50" name="Google Shape;3450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51" name="Google Shape;3451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52" name="Google Shape;3452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453" name="Google Shape;3453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54" name="Google Shape;3454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55" name="Google Shape;3455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56" name="Google Shape;3456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457" name="Google Shape;3457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458" name="Google Shape;3458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459" name="Google Shape;3459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0" name="Google Shape;3460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1" name="Google Shape;3461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2" name="Google Shape;3462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3" name="Google Shape;3463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3464" name="Google Shape;3464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5" name="Google Shape;3465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6" name="Google Shape;3466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7" name="Google Shape;3467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8" name="Google Shape;3468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$65K</a:t>
            </a:r>
            <a:endParaRPr/>
          </a:p>
        </p:txBody>
      </p:sp>
      <p:sp>
        <p:nvSpPr>
          <p:cNvPr id="3469" name="Google Shape;3469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3470" name="Google Shape;3470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$65K</a:t>
            </a:r>
            <a:endParaRPr/>
          </a:p>
        </p:txBody>
      </p:sp>
      <p:sp>
        <p:nvSpPr>
          <p:cNvPr id="3471" name="Google Shape;3471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2" name="Google Shape;3472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473" name="Google Shape;3473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74" name="Google Shape;3474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$64,988 YTD gross written premium</a:t>
            </a:r>
            <a:endParaRPr/>
          </a:p>
        </p:txBody>
      </p:sp>
      <p:sp>
        <p:nvSpPr>
          <p:cNvPr id="3475" name="Google Shape;3475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76" name="Google Shape;3476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$64,988 in new business production</a:t>
            </a:r>
            <a:endParaRPr/>
          </a:p>
        </p:txBody>
      </p:sp>
      <p:sp>
        <p:nvSpPr>
          <p:cNvPr id="3477" name="Google Shape;3477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8" name="Google Shape;3478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479" name="Google Shape;3479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80" name="Google Shape;3480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submissions with zero binds - zero conversion</a:t>
            </a:r>
            <a:endParaRPr/>
          </a:p>
        </p:txBody>
      </p:sp>
      <p:sp>
        <p:nvSpPr>
          <p:cNvPr id="3481" name="Google Shape;3481;p2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82" name="Google Shape;3482;p2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quotes but 0 binds - follow up on pricing/coverage gaps</a:t>
            </a:r>
            <a:endParaRPr/>
          </a:p>
        </p:txBody>
      </p:sp>
      <p:sp>
        <p:nvSpPr>
          <p:cNvPr id="3483" name="Google Shape;3483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4" name="Google Shape;3484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485" name="Google Shape;3485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486" name="Google Shape;3486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$64,988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487" name="Google Shape;3487;p2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488" name="Google Shape;3488;p2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92" name="Shape 3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3" name="Google Shape;3493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4" name="Google Shape;3494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 Insurance Family</a:t>
            </a:r>
            <a:endParaRPr/>
          </a:p>
        </p:txBody>
      </p:sp>
      <p:sp>
        <p:nvSpPr>
          <p:cNvPr id="3495" name="Google Shape;3495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GA  |  City: Conyers</a:t>
            </a:r>
            <a:endParaRPr/>
          </a:p>
        </p:txBody>
      </p:sp>
      <p:sp>
        <p:nvSpPr>
          <p:cNvPr id="3496" name="Google Shape;3496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$55,201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97" name="Google Shape;3497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98" name="Google Shape;3498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99" name="Google Shape;3499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500" name="Google Shape;3500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$-55,841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501" name="Google Shape;3501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$155,908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502" name="Google Shape;3502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$184,770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503" name="Google Shape;3503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504" name="Google Shape;3504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05" name="Google Shape;3505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06" name="Google Shape;3506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07" name="Google Shape;3507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508" name="Google Shape;3508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$80,157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509" name="Google Shape;3509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0" name="Google Shape;3510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511" name="Google Shape;3511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12" name="Google Shape;3512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513" name="Google Shape;3513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514" name="Google Shape;3514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15" name="Google Shape;3515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516" name="Google Shape;3516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517" name="Google Shape;3517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8" name="Google Shape;3518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19" name="Google Shape;3519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0" name="Google Shape;3520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1" name="Google Shape;3521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2" name="Google Shape;3522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3" name="Google Shape;3523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4" name="Google Shape;3524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5" name="Google Shape;3525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26" name="Google Shape;3526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7" name="Google Shape;3527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8" name="Google Shape;3528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9" name="Google Shape;3529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0" name="Google Shape;3530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1" name="Google Shape;3531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2" name="Google Shape;3532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33" name="Google Shape;3533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</p:txBody>
      </p:sp>
      <p:sp>
        <p:nvSpPr>
          <p:cNvPr id="3534" name="Google Shape;3534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</p:txBody>
      </p:sp>
      <p:sp>
        <p:nvSpPr>
          <p:cNvPr id="3535" name="Google Shape;3535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6" name="Google Shape;3536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7" name="Google Shape;3537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$-55,841</a:t>
            </a:r>
            <a:endParaRPr/>
          </a:p>
        </p:txBody>
      </p:sp>
      <p:sp>
        <p:nvSpPr>
          <p:cNvPr id="3538" name="Google Shape;3538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9" name="Google Shape;3539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40" name="Google Shape;3540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1" name="Google Shape;3541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2" name="Google Shape;3542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3" name="Google Shape;3543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4" name="Google Shape;3544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5" name="Google Shape;3545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6" name="Google Shape;3546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47" name="Google Shape;3547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$-640</a:t>
            </a:r>
            <a:endParaRPr/>
          </a:p>
        </p:txBody>
      </p:sp>
      <p:sp>
        <p:nvSpPr>
          <p:cNvPr id="3548" name="Google Shape;3548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9" name="Google Shape;3549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0" name="Google Shape;3550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$-640</a:t>
            </a:r>
            <a:endParaRPr/>
          </a:p>
        </p:txBody>
      </p:sp>
      <p:sp>
        <p:nvSpPr>
          <p:cNvPr id="3551" name="Google Shape;3551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2" name="Google Shape;3552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3" name="Google Shape;3553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54" name="Google Shape;3554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$55,201</a:t>
            </a:r>
            <a:endParaRPr/>
          </a:p>
        </p:txBody>
      </p:sp>
      <p:sp>
        <p:nvSpPr>
          <p:cNvPr id="3555" name="Google Shape;3555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</p:txBody>
      </p:sp>
      <p:sp>
        <p:nvSpPr>
          <p:cNvPr id="3556" name="Google Shape;3556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7" name="Google Shape;3557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$-640</a:t>
            </a:r>
            <a:endParaRPr/>
          </a:p>
        </p:txBody>
      </p:sp>
      <p:sp>
        <p:nvSpPr>
          <p:cNvPr id="3558" name="Google Shape;3558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$-55,841</a:t>
            </a:r>
            <a:endParaRPr/>
          </a:p>
        </p:txBody>
      </p:sp>
      <p:sp>
        <p:nvSpPr>
          <p:cNvPr id="3559" name="Google Shape;3559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0" name="Google Shape;3560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561" name="Google Shape;3561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62" name="Google Shape;3562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563" name="Google Shape;3563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564" name="Google Shape;3564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565" name="Google Shape;3565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66" name="Google Shape;3566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67" name="Google Shape;3567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8" name="Google Shape;3568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69" name="Google Shape;3569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570" name="Google Shape;3570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71" name="Google Shape;3571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572" name="Google Shape;3572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73" name="Google Shape;3573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74" name="Google Shape;3574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5" name="Google Shape;3575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76" name="Google Shape;3576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577" name="Google Shape;3577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78" name="Google Shape;3578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579" name="Google Shape;3579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80" name="Google Shape;3580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81" name="Google Shape;3581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2" name="Google Shape;3582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83" name="Google Shape;3583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584" name="Google Shape;3584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85" name="Google Shape;3585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586" name="Google Shape;3586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87" name="Google Shape;3587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3588" name="Google Shape;3588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9" name="Google Shape;3589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90" name="Google Shape;3590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591" name="Google Shape;3591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2" name="Google Shape;3592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593" name="Google Shape;3593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4" name="Google Shape;3594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95" name="Google Shape;3595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6" name="Google Shape;3596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97" name="Google Shape;3597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598" name="Google Shape;3598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99" name="Google Shape;3599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600" name="Google Shape;3600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01" name="Google Shape;3601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3602" name="Google Shape;3602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3" name="Google Shape;3603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04" name="Google Shape;3604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605" name="Google Shape;3605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06" name="Google Shape;3606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607" name="Google Shape;3607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08" name="Google Shape;3608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3609" name="Google Shape;3609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0" name="Google Shape;3610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611" name="Google Shape;3611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12" name="Google Shape;3612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613" name="Google Shape;3613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614" name="Google Shape;3614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615" name="Google Shape;3615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616" name="Google Shape;3616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617" name="Google Shape;3617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618" name="Google Shape;3618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619" name="Google Shape;3619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620" name="Google Shape;3620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621" name="Google Shape;3621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622" name="Google Shape;3622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623" name="Google Shape;3623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624" name="Google Shape;3624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25" name="Google Shape;3625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626" name="Google Shape;3626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627" name="Google Shape;3627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628" name="Google Shape;3628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629" name="Google Shape;3629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630" name="Google Shape;3630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631" name="Google Shape;3631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632" name="Google Shape;3632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633" name="Google Shape;3633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634" name="Google Shape;3634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635" name="Google Shape;3635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636" name="Google Shape;3636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3637" name="Google Shape;3637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638" name="Google Shape;3638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9" name="Google Shape;3639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0" name="Google Shape;3640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1" name="Google Shape;3641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2" name="Google Shape;3642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3" name="Google Shape;3643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3644" name="Google Shape;3644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645" name="Google Shape;3645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6" name="Google Shape;3646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647" name="Google Shape;3647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$-640</a:t>
            </a:r>
            <a:endParaRPr/>
          </a:p>
        </p:txBody>
      </p:sp>
      <p:sp>
        <p:nvSpPr>
          <p:cNvPr id="3648" name="Google Shape;3648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3649" name="Google Shape;3649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$55K</a:t>
            </a:r>
            <a:endParaRPr/>
          </a:p>
        </p:txBody>
      </p:sp>
      <p:sp>
        <p:nvSpPr>
          <p:cNvPr id="3650" name="Google Shape;3650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1" name="Google Shape;3651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652" name="Google Shape;3652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53" name="Google Shape;3653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$55,201 YTD gross written premium</a:t>
            </a:r>
            <a:endParaRPr/>
          </a:p>
        </p:txBody>
      </p:sp>
      <p:sp>
        <p:nvSpPr>
          <p:cNvPr id="3654" name="Google Shape;3654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55" name="Google Shape;3655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 in new business production</a:t>
            </a:r>
            <a:endParaRPr/>
          </a:p>
        </p:txBody>
      </p:sp>
      <p:sp>
        <p:nvSpPr>
          <p:cNvPr id="3656" name="Google Shape;3656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7" name="Google Shape;3657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658" name="Google Shape;3658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59" name="Google Shape;3659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($55,841)</a:t>
            </a:r>
            <a:endParaRPr/>
          </a:p>
        </p:txBody>
      </p:sp>
      <p:sp>
        <p:nvSpPr>
          <p:cNvPr id="3660" name="Google Shape;3660;p2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61" name="Google Shape;3661;p2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101% month-over-month</a:t>
            </a:r>
            <a:endParaRPr/>
          </a:p>
        </p:txBody>
      </p:sp>
      <p:sp>
        <p:nvSpPr>
          <p:cNvPr id="3662" name="Google Shape;3662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3" name="Google Shape;3663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664" name="Google Shape;3664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665" name="Google Shape;3665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$55,841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666" name="Google Shape;3666;p2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667" name="Google Shape;3667;p2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$55,841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71" name="Shape 3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2" name="Google Shape;3672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3" name="Google Shape;3673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3674" name="Google Shape;3674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Orlando</a:t>
            </a:r>
            <a:endParaRPr/>
          </a:p>
        </p:txBody>
      </p:sp>
      <p:sp>
        <p:nvSpPr>
          <p:cNvPr id="3675" name="Google Shape;3675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$46,912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676" name="Google Shape;3676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77" name="Google Shape;3677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78" name="Google Shape;3678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79" name="Google Shape;3679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$-44,281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80" name="Google Shape;3680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$15,111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681" name="Google Shape;3681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$49,996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682" name="Google Shape;3682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683" name="Google Shape;3683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84" name="Google Shape;3684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85" name="Google Shape;3685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86" name="Google Shape;3686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687" name="Google Shape;3687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688" name="Google Shape;3688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9" name="Google Shape;3689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690" name="Google Shape;3690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91" name="Google Shape;3691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692" name="Google Shape;3692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93" name="Google Shape;3693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94" name="Google Shape;3694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95" name="Google Shape;3695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96" name="Google Shape;3696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7" name="Google Shape;3697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98" name="Google Shape;3698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9" name="Google Shape;3699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0" name="Google Shape;3700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1" name="Google Shape;3701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2" name="Google Shape;3702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3" name="Google Shape;3703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4" name="Google Shape;3704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05" name="Google Shape;3705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6" name="Google Shape;3706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7" name="Google Shape;3707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8" name="Google Shape;3708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9" name="Google Shape;3709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10" name="Google Shape;3710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1" name="Google Shape;3711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12" name="Google Shape;3712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$23,662</a:t>
            </a:r>
            <a:endParaRPr/>
          </a:p>
        </p:txBody>
      </p:sp>
      <p:sp>
        <p:nvSpPr>
          <p:cNvPr id="3713" name="Google Shape;3713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$23,662</a:t>
            </a:r>
            <a:endParaRPr/>
          </a:p>
        </p:txBody>
      </p:sp>
      <p:sp>
        <p:nvSpPr>
          <p:cNvPr id="3714" name="Google Shape;3714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15" name="Google Shape;3715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16" name="Google Shape;3716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$-782</a:t>
            </a:r>
            <a:endParaRPr/>
          </a:p>
        </p:txBody>
      </p:sp>
      <p:sp>
        <p:nvSpPr>
          <p:cNvPr id="3717" name="Google Shape;3717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8" name="Google Shape;3718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19" name="Google Shape;3719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$23,250</a:t>
            </a:r>
            <a:endParaRPr/>
          </a:p>
        </p:txBody>
      </p:sp>
      <p:sp>
        <p:nvSpPr>
          <p:cNvPr id="3720" name="Google Shape;3720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3721" name="Google Shape;3721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2" name="Google Shape;3722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$22,301</a:t>
            </a:r>
            <a:endParaRPr/>
          </a:p>
        </p:txBody>
      </p:sp>
      <p:sp>
        <p:nvSpPr>
          <p:cNvPr id="3723" name="Google Shape;3723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$-43,499</a:t>
            </a:r>
            <a:endParaRPr/>
          </a:p>
        </p:txBody>
      </p:sp>
      <p:sp>
        <p:nvSpPr>
          <p:cNvPr id="3724" name="Google Shape;3724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5" name="Google Shape;3725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26" name="Google Shape;3726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7" name="Google Shape;3727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8" name="Google Shape;3728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9" name="Google Shape;3729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0" name="Google Shape;3730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1" name="Google Shape;3731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2" name="Google Shape;3732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33" name="Google Shape;3733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$46,912</a:t>
            </a:r>
            <a:endParaRPr/>
          </a:p>
        </p:txBody>
      </p:sp>
      <p:sp>
        <p:nvSpPr>
          <p:cNvPr id="3734" name="Google Shape;3734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$24,611</a:t>
            </a:r>
            <a:endParaRPr/>
          </a:p>
        </p:txBody>
      </p:sp>
      <p:sp>
        <p:nvSpPr>
          <p:cNvPr id="3735" name="Google Shape;3735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6" name="Google Shape;3736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$22,301</a:t>
            </a:r>
            <a:endParaRPr/>
          </a:p>
        </p:txBody>
      </p:sp>
      <p:sp>
        <p:nvSpPr>
          <p:cNvPr id="3737" name="Google Shape;3737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$-44,281</a:t>
            </a:r>
            <a:endParaRPr/>
          </a:p>
        </p:txBody>
      </p:sp>
      <p:sp>
        <p:nvSpPr>
          <p:cNvPr id="3738" name="Google Shape;3738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9" name="Google Shape;3739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740" name="Google Shape;3740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41" name="Google Shape;3741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742" name="Google Shape;3742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743" name="Google Shape;3743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744" name="Google Shape;3744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45" name="Google Shape;3745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46" name="Google Shape;3746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7" name="Google Shape;3747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48" name="Google Shape;3748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749" name="Google Shape;3749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0" name="Google Shape;3750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751" name="Google Shape;3751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52" name="Google Shape;3752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3753" name="Google Shape;3753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4" name="Google Shape;3754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55" name="Google Shape;3755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756" name="Google Shape;3756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57" name="Google Shape;3757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758" name="Google Shape;3758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9" name="Google Shape;3759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60" name="Google Shape;3760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1" name="Google Shape;3761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62" name="Google Shape;3762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763" name="Google Shape;3763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64" name="Google Shape;3764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765" name="Google Shape;3765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66" name="Google Shape;3766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3767" name="Google Shape;3767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8" name="Google Shape;3768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69" name="Google Shape;3769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770" name="Google Shape;3770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71" name="Google Shape;3771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772" name="Google Shape;3772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73" name="Google Shape;3773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3774" name="Google Shape;3774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5" name="Google Shape;3775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76" name="Google Shape;3776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777" name="Google Shape;3777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78" name="Google Shape;3778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779" name="Google Shape;3779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80" name="Google Shape;3780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81" name="Google Shape;3781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2" name="Google Shape;3782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83" name="Google Shape;3783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3784" name="Google Shape;3784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85" name="Google Shape;3785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3786" name="Google Shape;3786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87" name="Google Shape;3787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3788" name="Google Shape;3788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9" name="Google Shape;3789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790" name="Google Shape;3790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91" name="Google Shape;3791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792" name="Google Shape;3792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793" name="Google Shape;3793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794" name="Google Shape;3794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95" name="Google Shape;3795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96" name="Google Shape;3796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97" name="Google Shape;3797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98" name="Google Shape;3798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99" name="Google Shape;3799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800" name="Google Shape;3800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801" name="Google Shape;3801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802" name="Google Shape;3802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803" name="Google Shape;3803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04" name="Google Shape;3804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805" name="Google Shape;3805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806" name="Google Shape;3806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807" name="Google Shape;3807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808" name="Google Shape;3808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809" name="Google Shape;3809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810" name="Google Shape;3810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811" name="Google Shape;3811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812" name="Google Shape;3812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813" name="Google Shape;3813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814" name="Google Shape;3814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</p:txBody>
      </p:sp>
      <p:sp>
        <p:nvSpPr>
          <p:cNvPr id="3815" name="Google Shape;3815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</a:t>
            </a:r>
            <a:endParaRPr/>
          </a:p>
        </p:txBody>
      </p:sp>
      <p:sp>
        <p:nvSpPr>
          <p:cNvPr id="3816" name="Google Shape;3816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817" name="Google Shape;3817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$-6,538</a:t>
            </a:r>
            <a:endParaRPr/>
          </a:p>
        </p:txBody>
      </p:sp>
      <p:sp>
        <p:nvSpPr>
          <p:cNvPr id="3818" name="Google Shape;3818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9" name="Google Shape;3819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3820" name="Google Shape;3820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1" name="Google Shape;3821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$770</a:t>
            </a:r>
            <a:endParaRPr/>
          </a:p>
        </p:txBody>
      </p:sp>
      <p:sp>
        <p:nvSpPr>
          <p:cNvPr id="3822" name="Google Shape;3822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823" name="Google Shape;3823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4" name="Google Shape;3824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3825" name="Google Shape;3825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6" name="Google Shape;3826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7" name="Google Shape;3827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3828" name="Google Shape;3828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3829" name="Google Shape;3829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0" name="Google Shape;3830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831" name="Google Shape;3831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832" name="Google Shape;3832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$46,912 YTD gross written premium</a:t>
            </a:r>
            <a:endParaRPr/>
          </a:p>
        </p:txBody>
      </p:sp>
      <p:sp>
        <p:nvSpPr>
          <p:cNvPr id="3833" name="Google Shape;3833;p2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834" name="Google Shape;3834;p2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$24,611 in new business production</a:t>
            </a:r>
            <a:endParaRPr/>
          </a:p>
        </p:txBody>
      </p:sp>
      <p:sp>
        <p:nvSpPr>
          <p:cNvPr id="3835" name="Google Shape;3835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6" name="Google Shape;3836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837" name="Google Shape;3837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38" name="Google Shape;3838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1.6% hit ratio on 127 subs - needs coaching</a:t>
            </a:r>
            <a:endParaRPr/>
          </a:p>
        </p:txBody>
      </p:sp>
      <p:sp>
        <p:nvSpPr>
          <p:cNvPr id="3839" name="Google Shape;3839;p2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40" name="Google Shape;3840;p2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180% of new business ($44,281)</a:t>
            </a:r>
            <a:endParaRPr/>
          </a:p>
        </p:txBody>
      </p:sp>
      <p:sp>
        <p:nvSpPr>
          <p:cNvPr id="3841" name="Google Shape;3841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2" name="Google Shape;3842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843" name="Google Shape;3843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844" name="Google Shape;3844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(127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845" name="Google Shape;3845;p2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846" name="Google Shape;3846;p2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$24,611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50" name="Shape 3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1" name="Google Shape;3851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2" name="Google Shape;3852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Combined Insurance &amp; Tax of Florida Inc DBA Insure Our Truck</a:t>
            </a:r>
            <a:endParaRPr/>
          </a:p>
        </p:txBody>
      </p:sp>
      <p:sp>
        <p:nvSpPr>
          <p:cNvPr id="3853" name="Google Shape;3853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Aventura</a:t>
            </a:r>
            <a:endParaRPr/>
          </a:p>
        </p:txBody>
      </p:sp>
      <p:sp>
        <p:nvSpPr>
          <p:cNvPr id="3854" name="Google Shape;3854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855" name="Google Shape;3855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56" name="Google Shape;3856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57" name="Google Shape;3857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58" name="Google Shape;3858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$-26,940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59" name="Google Shape;3859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860" name="Google Shape;3860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$46,909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861" name="Google Shape;3861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862" name="Google Shape;3862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63" name="Google Shape;3863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64" name="Google Shape;3864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65" name="Google Shape;3865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866" name="Google Shape;3866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867" name="Google Shape;3867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8" name="Google Shape;3868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869" name="Google Shape;3869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70" name="Google Shape;3870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871" name="Google Shape;3871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72" name="Google Shape;3872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73" name="Google Shape;3873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74" name="Google Shape;3874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75" name="Google Shape;3875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6" name="Google Shape;3876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77" name="Google Shape;3877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8" name="Google Shape;3878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9" name="Google Shape;3879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0" name="Google Shape;3880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1" name="Google Shape;3881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2" name="Google Shape;3882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3" name="Google Shape;3883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84" name="Google Shape;3884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$11,370</a:t>
            </a:r>
            <a:endParaRPr/>
          </a:p>
        </p:txBody>
      </p:sp>
      <p:sp>
        <p:nvSpPr>
          <p:cNvPr id="3885" name="Google Shape;3885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$11,370</a:t>
            </a:r>
            <a:endParaRPr/>
          </a:p>
        </p:txBody>
      </p:sp>
      <p:sp>
        <p:nvSpPr>
          <p:cNvPr id="3886" name="Google Shape;3886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7" name="Google Shape;3887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8" name="Google Shape;3888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9" name="Google Shape;3889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0" name="Google Shape;3890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91" name="Google Shape;3891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$34,589</a:t>
            </a:r>
            <a:endParaRPr/>
          </a:p>
        </p:txBody>
      </p:sp>
      <p:sp>
        <p:nvSpPr>
          <p:cNvPr id="3892" name="Google Shape;3892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$34,589</a:t>
            </a:r>
            <a:endParaRPr/>
          </a:p>
        </p:txBody>
      </p:sp>
      <p:sp>
        <p:nvSpPr>
          <p:cNvPr id="3893" name="Google Shape;3893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4" name="Google Shape;3894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5" name="Google Shape;3895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$-10,560</a:t>
            </a:r>
            <a:endParaRPr/>
          </a:p>
        </p:txBody>
      </p:sp>
      <p:sp>
        <p:nvSpPr>
          <p:cNvPr id="3896" name="Google Shape;3896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7" name="Google Shape;3897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98" name="Google Shape;3898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9" name="Google Shape;3899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0" name="Google Shape;3900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1" name="Google Shape;3901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2" name="Google Shape;3902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$-16,380</a:t>
            </a:r>
            <a:endParaRPr/>
          </a:p>
        </p:txBody>
      </p:sp>
      <p:sp>
        <p:nvSpPr>
          <p:cNvPr id="3903" name="Google Shape;3903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4" name="Google Shape;3904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05" name="Google Shape;3905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6" name="Google Shape;3906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7" name="Google Shape;3907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8" name="Google Shape;3908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9" name="Google Shape;3909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10" name="Google Shape;3910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1" name="Google Shape;3911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12" name="Google Shape;3912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</p:txBody>
      </p:sp>
      <p:sp>
        <p:nvSpPr>
          <p:cNvPr id="3913" name="Google Shape;3913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</p:txBody>
      </p:sp>
      <p:sp>
        <p:nvSpPr>
          <p:cNvPr id="3914" name="Google Shape;3914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15" name="Google Shape;3915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16" name="Google Shape;3916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$-26,940</a:t>
            </a:r>
            <a:endParaRPr/>
          </a:p>
        </p:txBody>
      </p:sp>
      <p:sp>
        <p:nvSpPr>
          <p:cNvPr id="3917" name="Google Shape;3917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8" name="Google Shape;3918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919" name="Google Shape;3919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20" name="Google Shape;3920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921" name="Google Shape;3921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922" name="Google Shape;3922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923" name="Google Shape;3923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24" name="Google Shape;3924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25" name="Google Shape;3925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6" name="Google Shape;3926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27" name="Google Shape;3927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928" name="Google Shape;3928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29" name="Google Shape;3929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3930" name="Google Shape;3930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31" name="Google Shape;3931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3932" name="Google Shape;3932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3" name="Google Shape;3933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34" name="Google Shape;3934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935" name="Google Shape;3935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36" name="Google Shape;3936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3937" name="Google Shape;3937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38" name="Google Shape;3938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3939" name="Google Shape;3939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0" name="Google Shape;3940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41" name="Google Shape;3941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942" name="Google Shape;3942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3" name="Google Shape;3943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944" name="Google Shape;3944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45" name="Google Shape;3945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3946" name="Google Shape;3946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7" name="Google Shape;3947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48" name="Google Shape;3948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949" name="Google Shape;3949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50" name="Google Shape;3950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951" name="Google Shape;3951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52" name="Google Shape;3952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53" name="Google Shape;3953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4" name="Google Shape;3954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55" name="Google Shape;3955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3956" name="Google Shape;3956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57" name="Google Shape;3957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3958" name="Google Shape;3958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59" name="Google Shape;3959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60" name="Google Shape;3960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1" name="Google Shape;3961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62" name="Google Shape;3962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186</a:t>
            </a:r>
            <a:endParaRPr/>
          </a:p>
        </p:txBody>
      </p:sp>
      <p:sp>
        <p:nvSpPr>
          <p:cNvPr id="3963" name="Google Shape;3963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964" name="Google Shape;3964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3965" name="Google Shape;3965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966" name="Google Shape;3966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3967" name="Google Shape;3967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8" name="Google Shape;3968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969" name="Google Shape;3969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70" name="Google Shape;3970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971" name="Google Shape;3971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972" name="Google Shape;3972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973" name="Google Shape;3973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974" name="Google Shape;3974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975" name="Google Shape;3975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976" name="Google Shape;3976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977" name="Google Shape;3977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978" name="Google Shape;3978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979" name="Google Shape;3979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980" name="Google Shape;3980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981" name="Google Shape;3981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982" name="Google Shape;3982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83" name="Google Shape;3983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4" name="Google Shape;3984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985" name="Google Shape;3985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6" name="Google Shape;3986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987" name="Google Shape;3987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988" name="Google Shape;3988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989" name="Google Shape;3989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90" name="Google Shape;3990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991" name="Google Shape;3991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92" name="Google Shape;3992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3993" name="Google Shape;3993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994" name="Google Shape;3994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188</a:t>
            </a:r>
            <a:endParaRPr/>
          </a:p>
        </p:txBody>
      </p:sp>
      <p:sp>
        <p:nvSpPr>
          <p:cNvPr id="3995" name="Google Shape;3995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996" name="Google Shape;3996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7" name="Google Shape;3997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8" name="Google Shape;3998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9" name="Google Shape;3999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4000" name="Google Shape;4000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1" name="Google Shape;4001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4002" name="Google Shape;4002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4003" name="Google Shape;4003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4" name="Google Shape;4004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5" name="Google Shape;4005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6" name="Google Shape;4006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4007" name="Google Shape;4007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4008" name="Google Shape;4008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9" name="Google Shape;4009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010" name="Google Shape;4010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11" name="Google Shape;4011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 YTD gross written premium</a:t>
            </a:r>
            <a:endParaRPr/>
          </a:p>
        </p:txBody>
      </p:sp>
      <p:sp>
        <p:nvSpPr>
          <p:cNvPr id="4012" name="Google Shape;4012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13" name="Google Shape;4013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 in new business production</a:t>
            </a:r>
            <a:endParaRPr/>
          </a:p>
        </p:txBody>
      </p:sp>
      <p:sp>
        <p:nvSpPr>
          <p:cNvPr id="4014" name="Google Shape;4014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5" name="Google Shape;4015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016" name="Google Shape;4016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17" name="Google Shape;4017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1.6% hit ratio on 186 subs - needs coaching</a:t>
            </a:r>
            <a:endParaRPr/>
          </a:p>
        </p:txBody>
      </p:sp>
      <p:sp>
        <p:nvSpPr>
          <p:cNvPr id="4018" name="Google Shape;4018;p2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19" name="Google Shape;4019;p2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59% of new business ($26,940)</a:t>
            </a:r>
            <a:endParaRPr/>
          </a:p>
        </p:txBody>
      </p:sp>
      <p:sp>
        <p:nvSpPr>
          <p:cNvPr id="4020" name="Google Shape;4020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1" name="Google Shape;4021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022" name="Google Shape;4022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023" name="Google Shape;4023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(186 subs, only 3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024" name="Google Shape;4024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025" name="Google Shape;4025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$45,960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29" name="Shape 4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0" name="Google Shape;4030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1" name="Google Shape;4031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Southeastern Insurance Associates</a:t>
            </a:r>
            <a:endParaRPr/>
          </a:p>
        </p:txBody>
      </p:sp>
      <p:sp>
        <p:nvSpPr>
          <p:cNvPr id="4032" name="Google Shape;4032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Carrollton</a:t>
            </a:r>
            <a:endParaRPr/>
          </a:p>
        </p:txBody>
      </p:sp>
      <p:sp>
        <p:nvSpPr>
          <p:cNvPr id="4033" name="Google Shape;4033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$42,450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034" name="Google Shape;4034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35" name="Google Shape;4035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36" name="Google Shape;4036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37" name="Google Shape;4037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38" name="Google Shape;4038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$51,083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039" name="Google Shape;4039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$91,922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040" name="Google Shape;4040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041" name="Google Shape;4041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42" name="Google Shape;4042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43" name="Google Shape;4043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44" name="Google Shape;4044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045" name="Google Shape;4045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$105,691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046" name="Google Shape;4046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7" name="Google Shape;4047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048" name="Google Shape;4048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49" name="Google Shape;4049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050" name="Google Shape;4050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51" name="Google Shape;4051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52" name="Google Shape;4052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53" name="Google Shape;4053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54" name="Google Shape;4054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5" name="Google Shape;4055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56" name="Google Shape;4056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$18,251</a:t>
            </a:r>
            <a:endParaRPr/>
          </a:p>
        </p:txBody>
      </p:sp>
      <p:sp>
        <p:nvSpPr>
          <p:cNvPr id="4057" name="Google Shape;4057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$18,251</a:t>
            </a:r>
            <a:endParaRPr/>
          </a:p>
        </p:txBody>
      </p:sp>
      <p:sp>
        <p:nvSpPr>
          <p:cNvPr id="4058" name="Google Shape;4058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59" name="Google Shape;4059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0" name="Google Shape;4060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1" name="Google Shape;4061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2" name="Google Shape;4062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63" name="Google Shape;4063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$3,483</a:t>
            </a:r>
            <a:endParaRPr/>
          </a:p>
        </p:txBody>
      </p:sp>
      <p:sp>
        <p:nvSpPr>
          <p:cNvPr id="4064" name="Google Shape;4064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5" name="Google Shape;4065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6" name="Google Shape;4066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$3,483</a:t>
            </a:r>
            <a:endParaRPr/>
          </a:p>
        </p:txBody>
      </p:sp>
      <p:sp>
        <p:nvSpPr>
          <p:cNvPr id="4067" name="Google Shape;4067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8" name="Google Shape;4068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9" name="Google Shape;4069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70" name="Google Shape;4070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$22,098</a:t>
            </a:r>
            <a:endParaRPr/>
          </a:p>
        </p:txBody>
      </p:sp>
      <p:sp>
        <p:nvSpPr>
          <p:cNvPr id="4071" name="Google Shape;4071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2" name="Google Shape;4072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3" name="Google Shape;4073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$22,098</a:t>
            </a:r>
            <a:endParaRPr/>
          </a:p>
        </p:txBody>
      </p:sp>
      <p:sp>
        <p:nvSpPr>
          <p:cNvPr id="4074" name="Google Shape;4074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5" name="Google Shape;4075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6" name="Google Shape;4076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77" name="Google Shape;4077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$789</a:t>
            </a:r>
            <a:endParaRPr/>
          </a:p>
        </p:txBody>
      </p:sp>
      <p:sp>
        <p:nvSpPr>
          <p:cNvPr id="4078" name="Google Shape;4078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9" name="Google Shape;4079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0" name="Google Shape;4080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$789</a:t>
            </a:r>
            <a:endParaRPr/>
          </a:p>
        </p:txBody>
      </p:sp>
      <p:sp>
        <p:nvSpPr>
          <p:cNvPr id="4081" name="Google Shape;4081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2" name="Google Shape;4082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3" name="Google Shape;4083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84" name="Google Shape;4084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$-2,170</a:t>
            </a:r>
            <a:endParaRPr/>
          </a:p>
        </p:txBody>
      </p:sp>
      <p:sp>
        <p:nvSpPr>
          <p:cNvPr id="4085" name="Google Shape;4085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6" name="Google Shape;4086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7" name="Google Shape;4087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$-2,170</a:t>
            </a:r>
            <a:endParaRPr/>
          </a:p>
        </p:txBody>
      </p:sp>
      <p:sp>
        <p:nvSpPr>
          <p:cNvPr id="4088" name="Google Shape;4088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9" name="Google Shape;4089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0" name="Google Shape;4090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91" name="Google Shape;4091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$42,450</a:t>
            </a:r>
            <a:endParaRPr/>
          </a:p>
        </p:txBody>
      </p:sp>
      <p:sp>
        <p:nvSpPr>
          <p:cNvPr id="4092" name="Google Shape;4092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$18,251</a:t>
            </a:r>
            <a:endParaRPr/>
          </a:p>
        </p:txBody>
      </p:sp>
      <p:sp>
        <p:nvSpPr>
          <p:cNvPr id="4093" name="Google Shape;4093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4" name="Google Shape;4094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$24,199</a:t>
            </a:r>
            <a:endParaRPr/>
          </a:p>
        </p:txBody>
      </p:sp>
      <p:sp>
        <p:nvSpPr>
          <p:cNvPr id="4095" name="Google Shape;4095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6" name="Google Shape;4096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7" name="Google Shape;4097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098" name="Google Shape;4098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99" name="Google Shape;4099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100" name="Google Shape;4100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101" name="Google Shape;4101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102" name="Google Shape;4102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03" name="Google Shape;4103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04" name="Google Shape;4104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5" name="Google Shape;4105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06" name="Google Shape;4106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4107" name="Google Shape;4107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108" name="Google Shape;4108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4109" name="Google Shape;4109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10" name="Google Shape;4110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4111" name="Google Shape;4111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2" name="Google Shape;4112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13" name="Google Shape;4113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4114" name="Google Shape;4114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115" name="Google Shape;4115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4116" name="Google Shape;4116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17" name="Google Shape;4117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4118" name="Google Shape;4118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9" name="Google Shape;4119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20" name="Google Shape;4120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4121" name="Google Shape;4121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122" name="Google Shape;4122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4123" name="Google Shape;4123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24" name="Google Shape;4124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4125" name="Google Shape;4125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6" name="Google Shape;4126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27" name="Google Shape;4127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4128" name="Google Shape;4128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129" name="Google Shape;4129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4130" name="Google Shape;4130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31" name="Google Shape;4131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4132" name="Google Shape;4132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3" name="Google Shape;4133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34" name="Google Shape;4134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135" name="Google Shape;4135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36" name="Google Shape;4136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137" name="Google Shape;4137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38" name="Google Shape;4138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4139" name="Google Shape;4139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0" name="Google Shape;4140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41" name="Google Shape;4141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334</a:t>
            </a:r>
            <a:endParaRPr/>
          </a:p>
        </p:txBody>
      </p:sp>
      <p:sp>
        <p:nvSpPr>
          <p:cNvPr id="4142" name="Google Shape;4142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143" name="Google Shape;4143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309</a:t>
            </a:r>
            <a:endParaRPr/>
          </a:p>
        </p:txBody>
      </p:sp>
      <p:sp>
        <p:nvSpPr>
          <p:cNvPr id="4144" name="Google Shape;4144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45" name="Google Shape;4145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4146" name="Google Shape;4146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7" name="Google Shape;4147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148" name="Google Shape;4148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149" name="Google Shape;4149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150" name="Google Shape;4150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151" name="Google Shape;4151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152" name="Google Shape;4152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153" name="Google Shape;4153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154" name="Google Shape;4154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155" name="Google Shape;4155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156" name="Google Shape;4156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157" name="Google Shape;4157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158" name="Google Shape;4158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159" name="Google Shape;4159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160" name="Google Shape;4160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161" name="Google Shape;4161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62" name="Google Shape;4162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4163" name="Google Shape;4163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4164" name="Google Shape;4164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165" name="Google Shape;4165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4166" name="Google Shape;4166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167" name="Google Shape;4167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4168" name="Google Shape;4168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169" name="Google Shape;4169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4170" name="Google Shape;4170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4171" name="Google Shape;4171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172" name="Google Shape;4172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</a:t>
            </a:r>
            <a:endParaRPr/>
          </a:p>
        </p:txBody>
      </p:sp>
      <p:sp>
        <p:nvSpPr>
          <p:cNvPr id="4173" name="Google Shape;4173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337</a:t>
            </a:r>
            <a:endParaRPr/>
          </a:p>
        </p:txBody>
      </p:sp>
      <p:sp>
        <p:nvSpPr>
          <p:cNvPr id="4174" name="Google Shape;4174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175" name="Google Shape;4175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6" name="Google Shape;4176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4177" name="Google Shape;4177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8" name="Google Shape;4178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4179" name="Google Shape;4179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0" name="Google Shape;4180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4181" name="Google Shape;4181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2" name="Google Shape;4182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$789</a:t>
            </a:r>
            <a:endParaRPr/>
          </a:p>
        </p:txBody>
      </p:sp>
      <p:sp>
        <p:nvSpPr>
          <p:cNvPr id="4183" name="Google Shape;4183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4184" name="Google Shape;4184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$-2,170</a:t>
            </a:r>
            <a:endParaRPr/>
          </a:p>
        </p:txBody>
      </p:sp>
      <p:sp>
        <p:nvSpPr>
          <p:cNvPr id="4185" name="Google Shape;4185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4186" name="Google Shape;4186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4187" name="Google Shape;4187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8" name="Google Shape;4188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189" name="Google Shape;4189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90" name="Google Shape;4190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$42,450 YTD gross written premium</a:t>
            </a:r>
            <a:endParaRPr/>
          </a:p>
        </p:txBody>
      </p:sp>
      <p:sp>
        <p:nvSpPr>
          <p:cNvPr id="4191" name="Google Shape;4191;p2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92" name="Google Shape;4192;p2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$18,251 in new business production</a:t>
            </a:r>
            <a:endParaRPr/>
          </a:p>
        </p:txBody>
      </p:sp>
      <p:sp>
        <p:nvSpPr>
          <p:cNvPr id="4193" name="Google Shape;4193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4" name="Google Shape;4194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195" name="Google Shape;4195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96" name="Google Shape;4196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0.6% hit ratio on 334 subs - needs coaching</a:t>
            </a:r>
            <a:endParaRPr/>
          </a:p>
        </p:txBody>
      </p:sp>
      <p:sp>
        <p:nvSpPr>
          <p:cNvPr id="4197" name="Google Shape;4197;p2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98" name="Google Shape;4198;p2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375% month-over-month</a:t>
            </a:r>
            <a:endParaRPr/>
          </a:p>
        </p:txBody>
      </p:sp>
      <p:sp>
        <p:nvSpPr>
          <p:cNvPr id="4199" name="Google Shape;4199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0" name="Google Shape;4200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201" name="Google Shape;4201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202" name="Google Shape;4202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(334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203" name="Google Shape;4203;p2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204" name="Google Shape;4204;p2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$18,251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08" name="Shape 4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9" name="Google Shape;4209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0" name="Google Shape;4210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Stewart Short Insurance Services</a:t>
            </a:r>
            <a:endParaRPr/>
          </a:p>
        </p:txBody>
      </p:sp>
      <p:sp>
        <p:nvSpPr>
          <p:cNvPr id="4211" name="Google Shape;4211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Albany</a:t>
            </a:r>
            <a:endParaRPr/>
          </a:p>
        </p:txBody>
      </p:sp>
      <p:sp>
        <p:nvSpPr>
          <p:cNvPr id="4212" name="Google Shape;4212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213" name="Google Shape;4213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214" name="Google Shape;4214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215" name="Google Shape;4215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216" name="Google Shape;4216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17" name="Google Shape;4217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$50,506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218" name="Google Shape;4218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$73,903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219" name="Google Shape;4219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220" name="Google Shape;4220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21" name="Google Shape;4221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22" name="Google Shape;4222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23" name="Google Shape;4223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224" name="Google Shape;4224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225" name="Google Shape;4225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6" name="Google Shape;4226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227" name="Google Shape;4227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228" name="Google Shape;4228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229" name="Google Shape;4229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230" name="Google Shape;4230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231" name="Google Shape;4231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232" name="Google Shape;4232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33" name="Google Shape;4233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4" name="Google Shape;4234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35" name="Google Shape;4235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36" name="Google Shape;4236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37" name="Google Shape;4237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38" name="Google Shape;4238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39" name="Google Shape;4239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0" name="Google Shape;4240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1" name="Google Shape;4241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42" name="Google Shape;4242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3" name="Google Shape;4243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4" name="Google Shape;4244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5" name="Google Shape;4245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6" name="Google Shape;4246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7" name="Google Shape;4247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8" name="Google Shape;4248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49" name="Google Shape;4249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0" name="Google Shape;4250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1" name="Google Shape;4251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2" name="Google Shape;4252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3" name="Google Shape;4253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4" name="Google Shape;4254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5" name="Google Shape;4255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56" name="Google Shape;4256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</p:txBody>
      </p:sp>
      <p:sp>
        <p:nvSpPr>
          <p:cNvPr id="4257" name="Google Shape;4257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</p:txBody>
      </p:sp>
      <p:sp>
        <p:nvSpPr>
          <p:cNvPr id="4258" name="Google Shape;4258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9" name="Google Shape;4259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0" name="Google Shape;4260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1" name="Google Shape;4261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2" name="Google Shape;4262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63" name="Google Shape;4263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4" name="Google Shape;4264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5" name="Google Shape;4265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6" name="Google Shape;4266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7" name="Google Shape;4267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$-33,927</a:t>
            </a:r>
            <a:endParaRPr/>
          </a:p>
        </p:txBody>
      </p:sp>
      <p:sp>
        <p:nvSpPr>
          <p:cNvPr id="4268" name="Google Shape;4268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9" name="Google Shape;4269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70" name="Google Shape;4270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</p:txBody>
      </p:sp>
      <p:sp>
        <p:nvSpPr>
          <p:cNvPr id="4271" name="Google Shape;4271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</p:txBody>
      </p:sp>
      <p:sp>
        <p:nvSpPr>
          <p:cNvPr id="4272" name="Google Shape;4272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73" name="Google Shape;4273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74" name="Google Shape;4274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$-33,927</a:t>
            </a:r>
            <a:endParaRPr/>
          </a:p>
        </p:txBody>
      </p:sp>
      <p:sp>
        <p:nvSpPr>
          <p:cNvPr id="4275" name="Google Shape;4275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6" name="Google Shape;4276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277" name="Google Shape;4277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278" name="Google Shape;4278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279" name="Google Shape;4279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280" name="Google Shape;4280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281" name="Google Shape;4281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82" name="Google Shape;4282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83" name="Google Shape;4283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4" name="Google Shape;4284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85" name="Google Shape;4285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86" name="Google Shape;4286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87" name="Google Shape;4287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88" name="Google Shape;4288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89" name="Google Shape;4289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90" name="Google Shape;4290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1" name="Google Shape;4291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92" name="Google Shape;4292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93" name="Google Shape;4293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94" name="Google Shape;4294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95" name="Google Shape;4295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96" name="Google Shape;4296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97" name="Google Shape;4297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8" name="Google Shape;4298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99" name="Google Shape;4299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00" name="Google Shape;4300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01" name="Google Shape;4301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02" name="Google Shape;4302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03" name="Google Shape;4303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04" name="Google Shape;4304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5" name="Google Shape;4305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06" name="Google Shape;4306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307" name="Google Shape;4307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08" name="Google Shape;4308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309" name="Google Shape;4309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10" name="Google Shape;4310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11" name="Google Shape;4311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2" name="Google Shape;4312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13" name="Google Shape;4313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314" name="Google Shape;4314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15" name="Google Shape;4315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316" name="Google Shape;4316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17" name="Google Shape;4317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18" name="Google Shape;4318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9" name="Google Shape;4319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20" name="Google Shape;4320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321" name="Google Shape;4321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22" name="Google Shape;4322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323" name="Google Shape;4323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24" name="Google Shape;4324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25" name="Google Shape;4325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6" name="Google Shape;4326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327" name="Google Shape;4327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28" name="Google Shape;4328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329" name="Google Shape;4329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330" name="Google Shape;4330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331" name="Google Shape;4331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332" name="Google Shape;4332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333" name="Google Shape;4333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334" name="Google Shape;4334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335" name="Google Shape;4335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336" name="Google Shape;4336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337" name="Google Shape;4337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338" name="Google Shape;4338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339" name="Google Shape;4339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340" name="Google Shape;4340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41" name="Google Shape;4341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42" name="Google Shape;4342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43" name="Google Shape;4343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44" name="Google Shape;4344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45" name="Google Shape;4345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46" name="Google Shape;4346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47" name="Google Shape;4347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48" name="Google Shape;4348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349" name="Google Shape;4349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50" name="Google Shape;4350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351" name="Google Shape;4351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352" name="Google Shape;4352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353" name="Google Shape;4353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354" name="Google Shape;4354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4355" name="Google Shape;4355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6" name="Google Shape;4356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7" name="Google Shape;4357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8" name="Google Shape;4358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9" name="Google Shape;4359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0" name="Google Shape;4360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1" name="Google Shape;4361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4362" name="Google Shape;4362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3" name="Google Shape;4363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4" name="Google Shape;4364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4365" name="Google Shape;4365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4366" name="Google Shape;4366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7" name="Google Shape;4367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368" name="Google Shape;4368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69" name="Google Shape;4369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 YTD gross written premium</a:t>
            </a:r>
            <a:endParaRPr/>
          </a:p>
        </p:txBody>
      </p:sp>
      <p:sp>
        <p:nvSpPr>
          <p:cNvPr id="4370" name="Google Shape;4370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71" name="Google Shape;4371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 in new business production</a:t>
            </a:r>
            <a:endParaRPr/>
          </a:p>
        </p:txBody>
      </p:sp>
      <p:sp>
        <p:nvSpPr>
          <p:cNvPr id="4372" name="Google Shape;4372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3" name="Google Shape;4373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374" name="Google Shape;4374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75" name="Google Shape;4375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 submissions with zero binds - zero conversion</a:t>
            </a:r>
            <a:endParaRPr/>
          </a:p>
        </p:txBody>
      </p:sp>
      <p:sp>
        <p:nvSpPr>
          <p:cNvPr id="4376" name="Google Shape;4376;p3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77" name="Google Shape;4377;p3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86% of new business ($33,927)</a:t>
            </a:r>
            <a:endParaRPr/>
          </a:p>
        </p:txBody>
      </p:sp>
      <p:sp>
        <p:nvSpPr>
          <p:cNvPr id="4378" name="Google Shape;4378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9" name="Google Shape;4379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380" name="Google Shape;4380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381" name="Google Shape;4381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19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382" name="Google Shape;4382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383" name="Google Shape;4383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$39,564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87" name="Shape 4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8" name="Google Shape;4388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9" name="Google Shape;4389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4390" name="Google Shape;4390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Medley</a:t>
            </a:r>
            <a:endParaRPr/>
          </a:p>
        </p:txBody>
      </p:sp>
      <p:sp>
        <p:nvSpPr>
          <p:cNvPr id="4391" name="Google Shape;4391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392" name="Google Shape;4392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$37,290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93" name="Google Shape;4393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94" name="Google Shape;4394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95" name="Google Shape;4395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$-16,693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96" name="Google Shape;4396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$65,916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397" name="Google Shape;4397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$102,798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398" name="Google Shape;4398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399" name="Google Shape;4399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00" name="Google Shape;4400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01" name="Google Shape;4401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02" name="Google Shape;4402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403" name="Google Shape;4403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404" name="Google Shape;4404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5" name="Google Shape;4405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406" name="Google Shape;4406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07" name="Google Shape;4407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408" name="Google Shape;4408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09" name="Google Shape;4409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10" name="Google Shape;4410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11" name="Google Shape;4411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12" name="Google Shape;4412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3" name="Google Shape;4413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414" name="Google Shape;4414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5" name="Google Shape;4415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6" name="Google Shape;4416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7" name="Google Shape;4417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8" name="Google Shape;4418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9" name="Google Shape;4419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0" name="Google Shape;4420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21" name="Google Shape;4421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$19,461</a:t>
            </a:r>
            <a:endParaRPr/>
          </a:p>
        </p:txBody>
      </p:sp>
      <p:sp>
        <p:nvSpPr>
          <p:cNvPr id="4422" name="Google Shape;4422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$19,869</a:t>
            </a:r>
            <a:endParaRPr/>
          </a:p>
        </p:txBody>
      </p:sp>
      <p:sp>
        <p:nvSpPr>
          <p:cNvPr id="4423" name="Google Shape;4423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24" name="Google Shape;4424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$-408</a:t>
            </a:r>
            <a:endParaRPr/>
          </a:p>
        </p:txBody>
      </p:sp>
      <p:sp>
        <p:nvSpPr>
          <p:cNvPr id="4425" name="Google Shape;4425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26" name="Google Shape;4426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7" name="Google Shape;4427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428" name="Google Shape;4428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$17,421</a:t>
            </a:r>
            <a:endParaRPr/>
          </a:p>
        </p:txBody>
      </p:sp>
      <p:sp>
        <p:nvSpPr>
          <p:cNvPr id="4429" name="Google Shape;4429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$17,421</a:t>
            </a:r>
            <a:endParaRPr/>
          </a:p>
        </p:txBody>
      </p:sp>
      <p:sp>
        <p:nvSpPr>
          <p:cNvPr id="4430" name="Google Shape;4430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1" name="Google Shape;4431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2" name="Google Shape;4432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3" name="Google Shape;4433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4" name="Google Shape;4434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35" name="Google Shape;4435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6" name="Google Shape;4436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7" name="Google Shape;4437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8" name="Google Shape;4438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9" name="Google Shape;4439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$-16,693</a:t>
            </a:r>
            <a:endParaRPr/>
          </a:p>
        </p:txBody>
      </p:sp>
      <p:sp>
        <p:nvSpPr>
          <p:cNvPr id="4440" name="Google Shape;4440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1" name="Google Shape;4441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42" name="Google Shape;4442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43" name="Google Shape;4443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44" name="Google Shape;4444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45" name="Google Shape;4445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46" name="Google Shape;4446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47" name="Google Shape;4447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8" name="Google Shape;4448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49" name="Google Shape;4449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$36,883</a:t>
            </a:r>
            <a:endParaRPr/>
          </a:p>
        </p:txBody>
      </p:sp>
      <p:sp>
        <p:nvSpPr>
          <p:cNvPr id="4450" name="Google Shape;4450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$37,290</a:t>
            </a:r>
            <a:endParaRPr/>
          </a:p>
        </p:txBody>
      </p:sp>
      <p:sp>
        <p:nvSpPr>
          <p:cNvPr id="4451" name="Google Shape;4451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52" name="Google Shape;4452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$-408</a:t>
            </a:r>
            <a:endParaRPr/>
          </a:p>
        </p:txBody>
      </p:sp>
      <p:sp>
        <p:nvSpPr>
          <p:cNvPr id="4453" name="Google Shape;4453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$-16,693</a:t>
            </a:r>
            <a:endParaRPr/>
          </a:p>
        </p:txBody>
      </p:sp>
      <p:sp>
        <p:nvSpPr>
          <p:cNvPr id="4454" name="Google Shape;4454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5" name="Google Shape;4455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456" name="Google Shape;4456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57" name="Google Shape;4457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458" name="Google Shape;4458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459" name="Google Shape;4459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460" name="Google Shape;4460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61" name="Google Shape;4461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62" name="Google Shape;4462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3" name="Google Shape;4463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464" name="Google Shape;4464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152</a:t>
            </a:r>
            <a:endParaRPr/>
          </a:p>
        </p:txBody>
      </p:sp>
      <p:sp>
        <p:nvSpPr>
          <p:cNvPr id="4465" name="Google Shape;4465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66" name="Google Shape;4466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4467" name="Google Shape;4467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68" name="Google Shape;4468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4469" name="Google Shape;4469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0" name="Google Shape;4470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71" name="Google Shape;4471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</p:txBody>
      </p:sp>
      <p:sp>
        <p:nvSpPr>
          <p:cNvPr id="4472" name="Google Shape;4472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473" name="Google Shape;4473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157</a:t>
            </a:r>
            <a:endParaRPr/>
          </a:p>
        </p:txBody>
      </p:sp>
      <p:sp>
        <p:nvSpPr>
          <p:cNvPr id="4474" name="Google Shape;4474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75" name="Google Shape;4475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4476" name="Google Shape;4476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7" name="Google Shape;4477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478" name="Google Shape;4478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4479" name="Google Shape;4479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480" name="Google Shape;4480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</a:t>
            </a:r>
            <a:endParaRPr/>
          </a:p>
        </p:txBody>
      </p:sp>
      <p:sp>
        <p:nvSpPr>
          <p:cNvPr id="4481" name="Google Shape;4481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82" name="Google Shape;4482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4483" name="Google Shape;4483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4" name="Google Shape;4484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85" name="Google Shape;4485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486" name="Google Shape;4486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87" name="Google Shape;4487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488" name="Google Shape;4488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89" name="Google Shape;4489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90" name="Google Shape;4490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1" name="Google Shape;4491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92" name="Google Shape;4492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93" name="Google Shape;4493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94" name="Google Shape;4494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95" name="Google Shape;4495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96" name="Google Shape;4496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97" name="Google Shape;4497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8" name="Google Shape;4498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99" name="Google Shape;4499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476</a:t>
            </a:r>
            <a:endParaRPr/>
          </a:p>
        </p:txBody>
      </p:sp>
      <p:sp>
        <p:nvSpPr>
          <p:cNvPr id="4500" name="Google Shape;4500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501" name="Google Shape;4501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440</a:t>
            </a:r>
            <a:endParaRPr/>
          </a:p>
        </p:txBody>
      </p:sp>
      <p:sp>
        <p:nvSpPr>
          <p:cNvPr id="4502" name="Google Shape;4502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03" name="Google Shape;4503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4504" name="Google Shape;4504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5" name="Google Shape;4505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506" name="Google Shape;4506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507" name="Google Shape;4507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508" name="Google Shape;4508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509" name="Google Shape;4509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510" name="Google Shape;4510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511" name="Google Shape;4511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512" name="Google Shape;4512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513" name="Google Shape;4513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514" name="Google Shape;4514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515" name="Google Shape;4515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516" name="Google Shape;4516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517" name="Google Shape;4517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518" name="Google Shape;4518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519" name="Google Shape;4519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20" name="Google Shape;4520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21" name="Google Shape;4521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152</a:t>
            </a:r>
            <a:endParaRPr/>
          </a:p>
        </p:txBody>
      </p:sp>
      <p:sp>
        <p:nvSpPr>
          <p:cNvPr id="4522" name="Google Shape;4522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23" name="Google Shape;4523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</p:txBody>
      </p:sp>
      <p:sp>
        <p:nvSpPr>
          <p:cNvPr id="4524" name="Google Shape;4524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25" name="Google Shape;4525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4526" name="Google Shape;4526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27" name="Google Shape;4527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528" name="Google Shape;4528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29" name="Google Shape;4529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30" name="Google Shape;4530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31" name="Google Shape;4531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480</a:t>
            </a:r>
            <a:endParaRPr/>
          </a:p>
        </p:txBody>
      </p:sp>
      <p:sp>
        <p:nvSpPr>
          <p:cNvPr id="4532" name="Google Shape;4532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533" name="Google Shape;4533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4" name="Google Shape;4534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5" name="Google Shape;4535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6" name="Google Shape;4536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4537" name="Google Shape;4537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8" name="Google Shape;4538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4539" name="Google Shape;4539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0" name="Google Shape;4540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1" name="Google Shape;4541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2" name="Google Shape;4542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3" name="Google Shape;4543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4" name="Google Shape;4544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4545" name="Google Shape;4545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6" name="Google Shape;4546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547" name="Google Shape;4547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548" name="Google Shape;4548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$36,883 YTD gross written premium</a:t>
            </a:r>
            <a:endParaRPr/>
          </a:p>
        </p:txBody>
      </p:sp>
      <p:sp>
        <p:nvSpPr>
          <p:cNvPr id="4549" name="Google Shape;4549;p3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550" name="Google Shape;4550;p3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$37,290 in new business production</a:t>
            </a:r>
            <a:endParaRPr/>
          </a:p>
        </p:txBody>
      </p:sp>
      <p:sp>
        <p:nvSpPr>
          <p:cNvPr id="4551" name="Google Shape;4551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2" name="Google Shape;4552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553" name="Google Shape;4553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554" name="Google Shape;4554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0.6% hit ratio on 476 subs - needs coaching</a:t>
            </a:r>
            <a:endParaRPr/>
          </a:p>
        </p:txBody>
      </p:sp>
      <p:sp>
        <p:nvSpPr>
          <p:cNvPr id="4555" name="Google Shape;4555;p3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556" name="Google Shape;4556;p3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45% of new business ($16,693)</a:t>
            </a:r>
            <a:endParaRPr/>
          </a:p>
        </p:txBody>
      </p:sp>
      <p:sp>
        <p:nvSpPr>
          <p:cNvPr id="4557" name="Google Shape;4557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8" name="Google Shape;4558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559" name="Google Shape;4559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560" name="Google Shape;4560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(476 subs, only 3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561" name="Google Shape;4561;p3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562" name="Google Shape;4562;p3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$37,290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66" name="Shape 4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7" name="Google Shape;4567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8" name="Google Shape;4568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White Bull Insurance Group Llc</a:t>
            </a:r>
            <a:endParaRPr/>
          </a:p>
        </p:txBody>
      </p:sp>
      <p:sp>
        <p:nvSpPr>
          <p:cNvPr id="4569" name="Google Shape;4569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N/A  |  City: St. Petersburg</a:t>
            </a:r>
            <a:endParaRPr/>
          </a:p>
        </p:txBody>
      </p:sp>
      <p:sp>
        <p:nvSpPr>
          <p:cNvPr id="4570" name="Google Shape;4570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571" name="Google Shape;4571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72" name="Google Shape;4572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73" name="Google Shape;4573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74" name="Google Shape;4574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75" name="Google Shape;4575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576" name="Google Shape;4576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577" name="Google Shape;4577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578" name="Google Shape;4578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79" name="Google Shape;4579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80" name="Google Shape;4580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81" name="Google Shape;4581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582" name="Google Shape;4582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583" name="Google Shape;4583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4" name="Google Shape;4584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585" name="Google Shape;4585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86" name="Google Shape;4586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587" name="Google Shape;4587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88" name="Google Shape;4588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89" name="Google Shape;4589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90" name="Google Shape;4590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91" name="Google Shape;4591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2" name="Google Shape;4592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93" name="Google Shape;4593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4" name="Google Shape;4594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5" name="Google Shape;4595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6" name="Google Shape;4596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7" name="Google Shape;4597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8" name="Google Shape;4598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9" name="Google Shape;4599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00" name="Google Shape;4600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1" name="Google Shape;4601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2" name="Google Shape;4602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3" name="Google Shape;4603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4" name="Google Shape;4604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5" name="Google Shape;4605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6" name="Google Shape;4606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07" name="Google Shape;4607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8" name="Google Shape;4608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9" name="Google Shape;4609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0" name="Google Shape;4610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1" name="Google Shape;4611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2" name="Google Shape;4612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3" name="Google Shape;4613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614" name="Google Shape;4614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$25,261</a:t>
            </a:r>
            <a:endParaRPr/>
          </a:p>
        </p:txBody>
      </p:sp>
      <p:sp>
        <p:nvSpPr>
          <p:cNvPr id="4615" name="Google Shape;4615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$24,054</a:t>
            </a:r>
            <a:endParaRPr/>
          </a:p>
        </p:txBody>
      </p:sp>
      <p:sp>
        <p:nvSpPr>
          <p:cNvPr id="4616" name="Google Shape;4616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7" name="Google Shape;4617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$1,207</a:t>
            </a:r>
            <a:endParaRPr/>
          </a:p>
        </p:txBody>
      </p:sp>
      <p:sp>
        <p:nvSpPr>
          <p:cNvPr id="4618" name="Google Shape;4618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9" name="Google Shape;4619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0" name="Google Shape;4620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21" name="Google Shape;4621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22" name="Google Shape;4622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23" name="Google Shape;4623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24" name="Google Shape;4624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25" name="Google Shape;4625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26" name="Google Shape;4626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7" name="Google Shape;4627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28" name="Google Shape;4628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$25,261</a:t>
            </a:r>
            <a:endParaRPr/>
          </a:p>
        </p:txBody>
      </p:sp>
      <p:sp>
        <p:nvSpPr>
          <p:cNvPr id="4629" name="Google Shape;4629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$24,054</a:t>
            </a:r>
            <a:endParaRPr/>
          </a:p>
        </p:txBody>
      </p:sp>
      <p:sp>
        <p:nvSpPr>
          <p:cNvPr id="4630" name="Google Shape;4630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31" name="Google Shape;4631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$1,207</a:t>
            </a:r>
            <a:endParaRPr/>
          </a:p>
        </p:txBody>
      </p:sp>
      <p:sp>
        <p:nvSpPr>
          <p:cNvPr id="4632" name="Google Shape;4632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33" name="Google Shape;4633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4" name="Google Shape;4634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635" name="Google Shape;4635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636" name="Google Shape;4636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637" name="Google Shape;4637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638" name="Google Shape;4638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639" name="Google Shape;4639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40" name="Google Shape;4640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41" name="Google Shape;4641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2" name="Google Shape;4642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643" name="Google Shape;4643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44" name="Google Shape;4644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45" name="Google Shape;4645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46" name="Google Shape;4646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47" name="Google Shape;4647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48" name="Google Shape;4648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9" name="Google Shape;4649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50" name="Google Shape;4650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51" name="Google Shape;4651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52" name="Google Shape;4652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53" name="Google Shape;4653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54" name="Google Shape;4654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55" name="Google Shape;4655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6" name="Google Shape;4656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57" name="Google Shape;4657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58" name="Google Shape;4658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59" name="Google Shape;4659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60" name="Google Shape;4660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61" name="Google Shape;4661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62" name="Google Shape;4662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3" name="Google Shape;4663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664" name="Google Shape;4664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665" name="Google Shape;4665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66" name="Google Shape;4666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667" name="Google Shape;4667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68" name="Google Shape;4668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4669" name="Google Shape;4669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0" name="Google Shape;4670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71" name="Google Shape;4671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672" name="Google Shape;4672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73" name="Google Shape;4673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674" name="Google Shape;4674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75" name="Google Shape;4675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76" name="Google Shape;4676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7" name="Google Shape;4677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78" name="Google Shape;4678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4679" name="Google Shape;4679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80" name="Google Shape;4680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681" name="Google Shape;4681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82" name="Google Shape;4682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4683" name="Google Shape;4683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4" name="Google Shape;4684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685" name="Google Shape;4685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86" name="Google Shape;4686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687" name="Google Shape;4687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688" name="Google Shape;4688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689" name="Google Shape;4689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690" name="Google Shape;4690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691" name="Google Shape;4691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692" name="Google Shape;4692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693" name="Google Shape;4693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694" name="Google Shape;4694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695" name="Google Shape;4695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696" name="Google Shape;4696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697" name="Google Shape;4697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698" name="Google Shape;4698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99" name="Google Shape;4699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00" name="Google Shape;4700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01" name="Google Shape;4701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02" name="Google Shape;4702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03" name="Google Shape;4703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04" name="Google Shape;4704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05" name="Google Shape;4705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06" name="Google Shape;4706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707" name="Google Shape;4707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08" name="Google Shape;4708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709" name="Google Shape;4709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10" name="Google Shape;4710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4711" name="Google Shape;4711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712" name="Google Shape;4712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3" name="Google Shape;4713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4" name="Google Shape;4714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5" name="Google Shape;4715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6" name="Google Shape;4716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7" name="Google Shape;4717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8" name="Google Shape;4718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9" name="Google Shape;4719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4720" name="Google Shape;4720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1" name="Google Shape;4721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2" name="Google Shape;4722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3" name="Google Shape;4723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4724" name="Google Shape;4724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5" name="Google Shape;4725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726" name="Google Shape;4726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727" name="Google Shape;4727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$25,261 YTD gross written premium</a:t>
            </a:r>
            <a:endParaRPr/>
          </a:p>
        </p:txBody>
      </p:sp>
      <p:sp>
        <p:nvSpPr>
          <p:cNvPr id="4728" name="Google Shape;4728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729" name="Google Shape;4729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$24,054 in new business production</a:t>
            </a:r>
            <a:endParaRPr/>
          </a:p>
        </p:txBody>
      </p:sp>
      <p:sp>
        <p:nvSpPr>
          <p:cNvPr id="4730" name="Google Shape;4730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1" name="Google Shape;4731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732" name="Google Shape;4732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733" name="Google Shape;4733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2.7% hit ratio on 37 subs - needs coaching</a:t>
            </a:r>
            <a:endParaRPr/>
          </a:p>
        </p:txBody>
      </p:sp>
      <p:sp>
        <p:nvSpPr>
          <p:cNvPr id="4734" name="Google Shape;4734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5" name="Google Shape;4735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736" name="Google Shape;4736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737" name="Google Shape;4737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(37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738" name="Google Shape;4738;p3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739" name="Google Shape;4739;p3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$24,054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43" name="Shape 4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4" name="Google Shape;4744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5" name="Google Shape;4745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Barbee Jackson Insurance</a:t>
            </a:r>
            <a:endParaRPr/>
          </a:p>
        </p:txBody>
      </p:sp>
      <p:sp>
        <p:nvSpPr>
          <p:cNvPr id="4746" name="Google Shape;4746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Crestview</a:t>
            </a:r>
            <a:endParaRPr/>
          </a:p>
        </p:txBody>
      </p:sp>
      <p:sp>
        <p:nvSpPr>
          <p:cNvPr id="4747" name="Google Shape;4747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748" name="Google Shape;4748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749" name="Google Shape;4749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50" name="Google Shape;4750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51" name="Google Shape;4751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$-33,206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52" name="Google Shape;4752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753" name="Google Shape;4753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$47,678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754" name="Google Shape;4754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755" name="Google Shape;4755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56" name="Google Shape;4756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57" name="Google Shape;4757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58" name="Google Shape;4758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759" name="Google Shape;4759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760" name="Google Shape;4760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1" name="Google Shape;4761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762" name="Google Shape;4762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63" name="Google Shape;4763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764" name="Google Shape;4764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765" name="Google Shape;4765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66" name="Google Shape;4766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67" name="Google Shape;4767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68" name="Google Shape;4768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9" name="Google Shape;4769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70" name="Google Shape;4770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</p:txBody>
      </p:sp>
      <p:sp>
        <p:nvSpPr>
          <p:cNvPr id="4771" name="Google Shape;4771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</p:txBody>
      </p:sp>
      <p:sp>
        <p:nvSpPr>
          <p:cNvPr id="4772" name="Google Shape;4772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73" name="Google Shape;4773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74" name="Google Shape;4774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$-16,460</a:t>
            </a:r>
            <a:endParaRPr/>
          </a:p>
        </p:txBody>
      </p:sp>
      <p:sp>
        <p:nvSpPr>
          <p:cNvPr id="4775" name="Google Shape;4775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6" name="Google Shape;4776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77" name="Google Shape;4777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78" name="Google Shape;4778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79" name="Google Shape;4779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0" name="Google Shape;4780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1" name="Google Shape;4781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2" name="Google Shape;4782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3" name="Google Shape;4783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84" name="Google Shape;4784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5" name="Google Shape;4785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6" name="Google Shape;4786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7" name="Google Shape;4787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8" name="Google Shape;4788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$-16,746</a:t>
            </a:r>
            <a:endParaRPr/>
          </a:p>
        </p:txBody>
      </p:sp>
      <p:sp>
        <p:nvSpPr>
          <p:cNvPr id="4789" name="Google Shape;4789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0" name="Google Shape;4790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91" name="Google Shape;4791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2" name="Google Shape;4792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3" name="Google Shape;4793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4" name="Google Shape;4794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5" name="Google Shape;4795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6" name="Google Shape;4796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7" name="Google Shape;4797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98" name="Google Shape;4798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9" name="Google Shape;4799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0" name="Google Shape;4800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1" name="Google Shape;4801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2" name="Google Shape;4802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3" name="Google Shape;4803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4" name="Google Shape;4804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05" name="Google Shape;4805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</p:txBody>
      </p:sp>
      <p:sp>
        <p:nvSpPr>
          <p:cNvPr id="4806" name="Google Shape;4806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</p:txBody>
      </p:sp>
      <p:sp>
        <p:nvSpPr>
          <p:cNvPr id="4807" name="Google Shape;4807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8" name="Google Shape;4808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9" name="Google Shape;4809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$-33,206</a:t>
            </a:r>
            <a:endParaRPr/>
          </a:p>
        </p:txBody>
      </p:sp>
      <p:sp>
        <p:nvSpPr>
          <p:cNvPr id="4810" name="Google Shape;4810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1" name="Google Shape;4811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812" name="Google Shape;4812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13" name="Google Shape;4813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814" name="Google Shape;4814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815" name="Google Shape;4815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816" name="Google Shape;4816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17" name="Google Shape;4817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18" name="Google Shape;4818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9" name="Google Shape;4819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20" name="Google Shape;4820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821" name="Google Shape;4821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22" name="Google Shape;4822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823" name="Google Shape;4823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24" name="Google Shape;4824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25" name="Google Shape;4825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6" name="Google Shape;4826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27" name="Google Shape;4827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828" name="Google Shape;4828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29" name="Google Shape;4829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830" name="Google Shape;4830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31" name="Google Shape;4831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32" name="Google Shape;4832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3" name="Google Shape;4833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834" name="Google Shape;4834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835" name="Google Shape;4835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36" name="Google Shape;4836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837" name="Google Shape;4837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38" name="Google Shape;4838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39" name="Google Shape;4839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0" name="Google Shape;4840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841" name="Google Shape;4841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842" name="Google Shape;4842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43" name="Google Shape;4843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844" name="Google Shape;4844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45" name="Google Shape;4845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46" name="Google Shape;4846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7" name="Google Shape;4847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848" name="Google Shape;4848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849" name="Google Shape;4849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50" name="Google Shape;4850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851" name="Google Shape;4851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52" name="Google Shape;4852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53" name="Google Shape;4853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4" name="Google Shape;4854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55" name="Google Shape;4855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4856" name="Google Shape;4856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857" name="Google Shape;4857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4858" name="Google Shape;4858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59" name="Google Shape;4859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60" name="Google Shape;4860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1" name="Google Shape;4861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862" name="Google Shape;4862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863" name="Google Shape;4863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864" name="Google Shape;4864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865" name="Google Shape;4865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866" name="Google Shape;4866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867" name="Google Shape;4867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868" name="Google Shape;4868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869" name="Google Shape;4869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870" name="Google Shape;4870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871" name="Google Shape;4871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872" name="Google Shape;4872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873" name="Google Shape;4873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874" name="Google Shape;4874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875" name="Google Shape;4875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76" name="Google Shape;4876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877" name="Google Shape;4877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878" name="Google Shape;4878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879" name="Google Shape;4879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880" name="Google Shape;4880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881" name="Google Shape;4881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882" name="Google Shape;4882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883" name="Google Shape;4883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884" name="Google Shape;4884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885" name="Google Shape;4885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886" name="Google Shape;4886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887" name="Google Shape;4887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4888" name="Google Shape;4888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889" name="Google Shape;4889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0" name="Google Shape;4890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891" name="Google Shape;4891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2" name="Google Shape;4892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3" name="Google Shape;4893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4" name="Google Shape;4894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5" name="Google Shape;4895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6" name="Google Shape;4896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7" name="Google Shape;4897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8" name="Google Shape;4898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9" name="Google Shape;4899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0" name="Google Shape;4900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901" name="Google Shape;4901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2" name="Google Shape;4902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903" name="Google Shape;4903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904" name="Google Shape;4904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 YTD gross written premium</a:t>
            </a:r>
            <a:endParaRPr/>
          </a:p>
        </p:txBody>
      </p:sp>
      <p:sp>
        <p:nvSpPr>
          <p:cNvPr id="4905" name="Google Shape;4905;p3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906" name="Google Shape;4906;p3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 in new business production</a:t>
            </a:r>
            <a:endParaRPr/>
          </a:p>
        </p:txBody>
      </p:sp>
      <p:sp>
        <p:nvSpPr>
          <p:cNvPr id="4907" name="Google Shape;4907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8" name="Google Shape;4908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909" name="Google Shape;4909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910" name="Google Shape;4910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 submissions with zero binds - zero conversion</a:t>
            </a:r>
            <a:endParaRPr/>
          </a:p>
        </p:txBody>
      </p:sp>
      <p:sp>
        <p:nvSpPr>
          <p:cNvPr id="4911" name="Google Shape;4911;p3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912" name="Google Shape;4912;p3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141% of new business ($33,206)</a:t>
            </a:r>
            <a:endParaRPr/>
          </a:p>
        </p:txBody>
      </p:sp>
      <p:sp>
        <p:nvSpPr>
          <p:cNvPr id="4913" name="Google Shape;4913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4" name="Google Shape;4914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915" name="Google Shape;4915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916" name="Google Shape;4916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69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917" name="Google Shape;4917;p3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918" name="Google Shape;4918;p3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$23,550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22" name="Shape 4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3" name="Google Shape;4923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4" name="Google Shape;4924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PointeNorth Insurance Group, LLC</a:t>
            </a:r>
            <a:endParaRPr/>
          </a:p>
        </p:txBody>
      </p:sp>
      <p:sp>
        <p:nvSpPr>
          <p:cNvPr id="4925" name="Google Shape;4925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Georgia  |  City: Atlanta</a:t>
            </a:r>
            <a:endParaRPr/>
          </a:p>
        </p:txBody>
      </p:sp>
      <p:sp>
        <p:nvSpPr>
          <p:cNvPr id="4926" name="Google Shape;4926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927" name="Google Shape;4927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928" name="Google Shape;4928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929" name="Google Shape;4929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930" name="Google Shape;4930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931" name="Google Shape;4931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932" name="Google Shape;4932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933" name="Google Shape;4933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934" name="Google Shape;4934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35" name="Google Shape;4935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36" name="Google Shape;4936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37" name="Google Shape;4937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938" name="Google Shape;4938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$23,036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939" name="Google Shape;4939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0" name="Google Shape;4940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941" name="Google Shape;4941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42" name="Google Shape;4942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943" name="Google Shape;4943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944" name="Google Shape;4944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945" name="Google Shape;4945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946" name="Google Shape;4946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947" name="Google Shape;4947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8" name="Google Shape;4948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49" name="Google Shape;4949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0" name="Google Shape;4950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1" name="Google Shape;4951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2" name="Google Shape;4952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3" name="Google Shape;4953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4" name="Google Shape;4954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5" name="Google Shape;4955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56" name="Google Shape;4956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7" name="Google Shape;4957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8" name="Google Shape;4958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9" name="Google Shape;4959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0" name="Google Shape;4960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1" name="Google Shape;4961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2" name="Google Shape;4962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63" name="Google Shape;4963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4" name="Google Shape;4964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5" name="Google Shape;4965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6" name="Google Shape;4966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7" name="Google Shape;4967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8" name="Google Shape;4968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9" name="Google Shape;4969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70" name="Google Shape;4970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</p:txBody>
      </p:sp>
      <p:sp>
        <p:nvSpPr>
          <p:cNvPr id="4971" name="Google Shape;4971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2" name="Google Shape;4972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</p:txBody>
      </p:sp>
      <p:sp>
        <p:nvSpPr>
          <p:cNvPr id="4973" name="Google Shape;4973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4" name="Google Shape;4974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5" name="Google Shape;4975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6" name="Google Shape;4976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77" name="Google Shape;4977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8" name="Google Shape;4978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9" name="Google Shape;4979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80" name="Google Shape;4980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81" name="Google Shape;4981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82" name="Google Shape;4982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3" name="Google Shape;4983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84" name="Google Shape;4984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</p:txBody>
      </p:sp>
      <p:sp>
        <p:nvSpPr>
          <p:cNvPr id="4985" name="Google Shape;4985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86" name="Google Shape;4986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</p:txBody>
      </p:sp>
      <p:sp>
        <p:nvSpPr>
          <p:cNvPr id="4987" name="Google Shape;4987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88" name="Google Shape;4988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89" name="Google Shape;4989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0" name="Google Shape;4990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991" name="Google Shape;4991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92" name="Google Shape;4992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993" name="Google Shape;4993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994" name="Google Shape;4994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995" name="Google Shape;4995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96" name="Google Shape;4996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97" name="Google Shape;4997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8" name="Google Shape;4998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99" name="Google Shape;4999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000" name="Google Shape;5000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1" name="Google Shape;5001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002" name="Google Shape;5002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03" name="Google Shape;5003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5004" name="Google Shape;5004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5" name="Google Shape;5005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06" name="Google Shape;5006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007" name="Google Shape;5007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8" name="Google Shape;5008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009" name="Google Shape;5009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10" name="Google Shape;5010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11" name="Google Shape;5011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2" name="Google Shape;5012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13" name="Google Shape;5013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014" name="Google Shape;5014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015" name="Google Shape;5015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016" name="Google Shape;5016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17" name="Google Shape;5017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18" name="Google Shape;5018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9" name="Google Shape;5019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20" name="Google Shape;5020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021" name="Google Shape;5021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22" name="Google Shape;5022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023" name="Google Shape;5023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24" name="Google Shape;5024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25" name="Google Shape;5025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6" name="Google Shape;5026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27" name="Google Shape;5027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028" name="Google Shape;5028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29" name="Google Shape;5029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30" name="Google Shape;5030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31" name="Google Shape;5031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32" name="Google Shape;5032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3" name="Google Shape;5033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34" name="Google Shape;5034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5035" name="Google Shape;5035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036" name="Google Shape;5036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037" name="Google Shape;5037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38" name="Google Shape;5038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5039" name="Google Shape;5039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0" name="Google Shape;5040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041" name="Google Shape;5041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042" name="Google Shape;5042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043" name="Google Shape;5043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044" name="Google Shape;5044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045" name="Google Shape;5045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046" name="Google Shape;5046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047" name="Google Shape;5047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048" name="Google Shape;5048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049" name="Google Shape;5049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050" name="Google Shape;5050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051" name="Google Shape;5051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052" name="Google Shape;5052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053" name="Google Shape;5053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054" name="Google Shape;5054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55" name="Google Shape;5055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56" name="Google Shape;5056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057" name="Google Shape;5057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58" name="Google Shape;5058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059" name="Google Shape;5059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60" name="Google Shape;5060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061" name="Google Shape;5061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062" name="Google Shape;5062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063" name="Google Shape;5063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064" name="Google Shape;5064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065" name="Google Shape;5065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066" name="Google Shape;5066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5067" name="Google Shape;5067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068" name="Google Shape;5068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9" name="Google Shape;5069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0" name="Google Shape;5070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1" name="Google Shape;5071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2" name="Google Shape;5072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3" name="Google Shape;5073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4" name="Google Shape;5074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075" name="Google Shape;5075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076" name="Google Shape;5076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7" name="Google Shape;5077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8" name="Google Shape;5078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079" name="Google Shape;5079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080" name="Google Shape;5080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1" name="Google Shape;5081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082" name="Google Shape;5082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83" name="Google Shape;5083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 YTD gross written premium</a:t>
            </a:r>
            <a:endParaRPr/>
          </a:p>
        </p:txBody>
      </p:sp>
      <p:sp>
        <p:nvSpPr>
          <p:cNvPr id="5084" name="Google Shape;5084;p3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85" name="Google Shape;5085;p3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 in renewals - strong retention</a:t>
            </a:r>
            <a:endParaRPr/>
          </a:p>
        </p:txBody>
      </p:sp>
      <p:sp>
        <p:nvSpPr>
          <p:cNvPr id="5086" name="Google Shape;5086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7" name="Google Shape;5087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088" name="Google Shape;5088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89" name="Google Shape;5089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5090" name="Google Shape;5090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1" name="Google Shape;5091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092" name="Google Shape;5092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093" name="Google Shape;5093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094" name="Google Shape;5094;p3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095" name="Google Shape;5095;p3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99" name="Shape 5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0" name="Google Shape;5100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1" name="Google Shape;5101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Untouchable Insurance Inc</a:t>
            </a:r>
            <a:endParaRPr/>
          </a:p>
        </p:txBody>
      </p:sp>
      <p:sp>
        <p:nvSpPr>
          <p:cNvPr id="5102" name="Google Shape;5102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N/A  |  City: Miramar</a:t>
            </a:r>
            <a:endParaRPr/>
          </a:p>
        </p:txBody>
      </p:sp>
      <p:sp>
        <p:nvSpPr>
          <p:cNvPr id="5103" name="Google Shape;5103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104" name="Google Shape;5104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105" name="Google Shape;5105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106" name="Google Shape;5106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107" name="Google Shape;5107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108" name="Google Shape;5108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109" name="Google Shape;5109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110" name="Google Shape;5110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111" name="Google Shape;5111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12" name="Google Shape;5112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13" name="Google Shape;5113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14" name="Google Shape;5114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115" name="Google Shape;5115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116" name="Google Shape;5116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7" name="Google Shape;5117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118" name="Google Shape;5118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19" name="Google Shape;5119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120" name="Google Shape;5120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121" name="Google Shape;5121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122" name="Google Shape;5122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123" name="Google Shape;5123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124" name="Google Shape;5124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5" name="Google Shape;5125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26" name="Google Shape;5126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7" name="Google Shape;5127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8" name="Google Shape;5128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9" name="Google Shape;5129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0" name="Google Shape;5130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1" name="Google Shape;5131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2" name="Google Shape;5132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33" name="Google Shape;5133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4" name="Google Shape;5134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5" name="Google Shape;5135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6" name="Google Shape;5136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7" name="Google Shape;5137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8" name="Google Shape;5138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9" name="Google Shape;5139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40" name="Google Shape;5140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1" name="Google Shape;5141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2" name="Google Shape;5142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3" name="Google Shape;5143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4" name="Google Shape;5144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5" name="Google Shape;5145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6" name="Google Shape;5146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47" name="Google Shape;5147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8" name="Google Shape;5148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9" name="Google Shape;5149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0" name="Google Shape;5150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1" name="Google Shape;5151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2" name="Google Shape;5152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3" name="Google Shape;5153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54" name="Google Shape;5154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</p:txBody>
      </p:sp>
      <p:sp>
        <p:nvSpPr>
          <p:cNvPr id="5155" name="Google Shape;5155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</p:txBody>
      </p:sp>
      <p:sp>
        <p:nvSpPr>
          <p:cNvPr id="5156" name="Google Shape;5156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7" name="Google Shape;5157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8" name="Google Shape;5158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9" name="Google Shape;5159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0" name="Google Shape;5160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61" name="Google Shape;5161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</p:txBody>
      </p:sp>
      <p:sp>
        <p:nvSpPr>
          <p:cNvPr id="5162" name="Google Shape;5162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</p:txBody>
      </p:sp>
      <p:sp>
        <p:nvSpPr>
          <p:cNvPr id="5163" name="Google Shape;5163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64" name="Google Shape;5164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65" name="Google Shape;5165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66" name="Google Shape;5166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7" name="Google Shape;5167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168" name="Google Shape;5168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69" name="Google Shape;5169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170" name="Google Shape;5170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171" name="Google Shape;5171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172" name="Google Shape;5172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73" name="Google Shape;5173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74" name="Google Shape;5174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5" name="Google Shape;5175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76" name="Google Shape;5176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77" name="Google Shape;5177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78" name="Google Shape;5178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79" name="Google Shape;5179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0" name="Google Shape;5180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81" name="Google Shape;5181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2" name="Google Shape;5182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83" name="Google Shape;5183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4" name="Google Shape;5184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5" name="Google Shape;5185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6" name="Google Shape;5186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7" name="Google Shape;5187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88" name="Google Shape;5188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9" name="Google Shape;5189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90" name="Google Shape;5190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91" name="Google Shape;5191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92" name="Google Shape;5192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93" name="Google Shape;5193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94" name="Google Shape;5194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95" name="Google Shape;5195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6" name="Google Shape;5196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97" name="Google Shape;5197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98" name="Google Shape;5198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99" name="Google Shape;5199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00" name="Google Shape;5200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01" name="Google Shape;5201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02" name="Google Shape;5202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3" name="Google Shape;5203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04" name="Google Shape;5204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205" name="Google Shape;5205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06" name="Google Shape;5206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207" name="Google Shape;5207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08" name="Google Shape;5208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09" name="Google Shape;5209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0" name="Google Shape;5210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11" name="Google Shape;5211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212" name="Google Shape;5212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13" name="Google Shape;5213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214" name="Google Shape;5214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15" name="Google Shape;5215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16" name="Google Shape;5216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7" name="Google Shape;5217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218" name="Google Shape;5218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19" name="Google Shape;5219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220" name="Google Shape;5220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221" name="Google Shape;5221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222" name="Google Shape;5222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223" name="Google Shape;5223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224" name="Google Shape;5224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225" name="Google Shape;5225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226" name="Google Shape;5226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227" name="Google Shape;5227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228" name="Google Shape;5228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229" name="Google Shape;5229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230" name="Google Shape;5230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231" name="Google Shape;5231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32" name="Google Shape;5232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33" name="Google Shape;5233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34" name="Google Shape;5234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35" name="Google Shape;5235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36" name="Google Shape;5236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37" name="Google Shape;5237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38" name="Google Shape;5238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39" name="Google Shape;5239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40" name="Google Shape;5240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41" name="Google Shape;5241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242" name="Google Shape;5242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43" name="Google Shape;5243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244" name="Google Shape;5244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245" name="Google Shape;5245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6" name="Google Shape;5246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7" name="Google Shape;5247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8" name="Google Shape;5248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9" name="Google Shape;5249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0" name="Google Shape;5250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1" name="Google Shape;5251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2" name="Google Shape;5252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3" name="Google Shape;5253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4" name="Google Shape;5254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255" name="Google Shape;5255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6" name="Google Shape;5256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257" name="Google Shape;5257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8" name="Google Shape;5258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259" name="Google Shape;5259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60" name="Google Shape;5260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 YTD gross written premium</a:t>
            </a:r>
            <a:endParaRPr/>
          </a:p>
        </p:txBody>
      </p:sp>
      <p:sp>
        <p:nvSpPr>
          <p:cNvPr id="5261" name="Google Shape;5261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62" name="Google Shape;5262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 in new business production</a:t>
            </a:r>
            <a:endParaRPr/>
          </a:p>
        </p:txBody>
      </p:sp>
      <p:sp>
        <p:nvSpPr>
          <p:cNvPr id="5263" name="Google Shape;5263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4" name="Google Shape;5264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265" name="Google Shape;5265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66" name="Google Shape;5266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submissions with zero binds - zero conversion</a:t>
            </a:r>
            <a:endParaRPr/>
          </a:p>
        </p:txBody>
      </p:sp>
      <p:sp>
        <p:nvSpPr>
          <p:cNvPr id="5267" name="Google Shape;5267;p3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68" name="Google Shape;5268;p3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quotes but 0 binds - follow up on pricing/coverage gaps</a:t>
            </a:r>
            <a:endParaRPr/>
          </a:p>
        </p:txBody>
      </p:sp>
      <p:sp>
        <p:nvSpPr>
          <p:cNvPr id="5269" name="Google Shape;5269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0" name="Google Shape;5270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271" name="Google Shape;5271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272" name="Google Shape;5272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273" name="Google Shape;5273;p3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274" name="Google Shape;5274;p3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$22,427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78" name="Shape 5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9" name="Google Shape;5279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0" name="Google Shape;5280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Nelson Legacy Group Llc Dba Nelson Insurance</a:t>
            </a:r>
            <a:endParaRPr/>
          </a:p>
        </p:txBody>
      </p:sp>
      <p:sp>
        <p:nvSpPr>
          <p:cNvPr id="5281" name="Google Shape;5281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WA  |  City: Thomson</a:t>
            </a:r>
            <a:endParaRPr/>
          </a:p>
        </p:txBody>
      </p:sp>
      <p:sp>
        <p:nvSpPr>
          <p:cNvPr id="5282" name="Google Shape;5282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283" name="Google Shape;5283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84" name="Google Shape;5284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85" name="Google Shape;5285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86" name="Google Shape;5286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87" name="Google Shape;5287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288" name="Google Shape;5288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289" name="Google Shape;5289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290" name="Google Shape;5290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91" name="Google Shape;5291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92" name="Google Shape;5292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93" name="Google Shape;5293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294" name="Google Shape;5294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295" name="Google Shape;5295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6" name="Google Shape;5296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297" name="Google Shape;5297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98" name="Google Shape;5298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299" name="Google Shape;5299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00" name="Google Shape;5300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01" name="Google Shape;5301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02" name="Google Shape;5302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03" name="Google Shape;5303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4" name="Google Shape;5304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05" name="Google Shape;5305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6" name="Google Shape;5306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7" name="Google Shape;5307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8" name="Google Shape;5308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9" name="Google Shape;5309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0" name="Google Shape;5310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1" name="Google Shape;5311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12" name="Google Shape;5312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3" name="Google Shape;5313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4" name="Google Shape;5314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5" name="Google Shape;5315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6" name="Google Shape;5316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7" name="Google Shape;5317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8" name="Google Shape;5318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19" name="Google Shape;5319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0" name="Google Shape;5320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1" name="Google Shape;5321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2" name="Google Shape;5322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3" name="Google Shape;5323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4" name="Google Shape;5324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5" name="Google Shape;5325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26" name="Google Shape;5326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7" name="Google Shape;5327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8" name="Google Shape;5328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9" name="Google Shape;5329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0" name="Google Shape;5330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1" name="Google Shape;5331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2" name="Google Shape;5332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33" name="Google Shape;5333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$14,367</a:t>
            </a:r>
            <a:endParaRPr/>
          </a:p>
        </p:txBody>
      </p:sp>
      <p:sp>
        <p:nvSpPr>
          <p:cNvPr id="5334" name="Google Shape;5334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5" name="Google Shape;5335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$14,367</a:t>
            </a:r>
            <a:endParaRPr/>
          </a:p>
        </p:txBody>
      </p:sp>
      <p:sp>
        <p:nvSpPr>
          <p:cNvPr id="5336" name="Google Shape;5336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7" name="Google Shape;5337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8" name="Google Shape;5338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9" name="Google Shape;5339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40" name="Google Shape;5340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$14,367</a:t>
            </a:r>
            <a:endParaRPr/>
          </a:p>
        </p:txBody>
      </p:sp>
      <p:sp>
        <p:nvSpPr>
          <p:cNvPr id="5341" name="Google Shape;5341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42" name="Google Shape;5342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$14,367</a:t>
            </a:r>
            <a:endParaRPr/>
          </a:p>
        </p:txBody>
      </p:sp>
      <p:sp>
        <p:nvSpPr>
          <p:cNvPr id="5343" name="Google Shape;5343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44" name="Google Shape;5344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45" name="Google Shape;5345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6" name="Google Shape;5346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347" name="Google Shape;5347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348" name="Google Shape;5348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349" name="Google Shape;5349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350" name="Google Shape;5350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351" name="Google Shape;5351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52" name="Google Shape;5352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53" name="Google Shape;5353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4" name="Google Shape;5354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55" name="Google Shape;5355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56" name="Google Shape;5356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57" name="Google Shape;5357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58" name="Google Shape;5358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59" name="Google Shape;5359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60" name="Google Shape;5360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1" name="Google Shape;5361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62" name="Google Shape;5362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63" name="Google Shape;5363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64" name="Google Shape;5364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65" name="Google Shape;5365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66" name="Google Shape;5366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5367" name="Google Shape;5367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8" name="Google Shape;5368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69" name="Google Shape;5369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70" name="Google Shape;5370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1" name="Google Shape;5371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72" name="Google Shape;5372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3" name="Google Shape;5373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74" name="Google Shape;5374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5" name="Google Shape;5375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76" name="Google Shape;5376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77" name="Google Shape;5377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8" name="Google Shape;5378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79" name="Google Shape;5379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80" name="Google Shape;5380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81" name="Google Shape;5381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2" name="Google Shape;5382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83" name="Google Shape;5383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84" name="Google Shape;5384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85" name="Google Shape;5385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86" name="Google Shape;5386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87" name="Google Shape;5387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88" name="Google Shape;5388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9" name="Google Shape;5389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90" name="Google Shape;5390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391" name="Google Shape;5391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92" name="Google Shape;5392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393" name="Google Shape;5393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94" name="Google Shape;5394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5395" name="Google Shape;5395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6" name="Google Shape;5396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397" name="Google Shape;5397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98" name="Google Shape;5398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399" name="Google Shape;5399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400" name="Google Shape;5400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401" name="Google Shape;5401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402" name="Google Shape;5402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403" name="Google Shape;5403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404" name="Google Shape;5404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405" name="Google Shape;5405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406" name="Google Shape;5406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407" name="Google Shape;5407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408" name="Google Shape;5408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409" name="Google Shape;5409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410" name="Google Shape;5410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11" name="Google Shape;5411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12" name="Google Shape;5412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13" name="Google Shape;5413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14" name="Google Shape;5414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15" name="Google Shape;5415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16" name="Google Shape;5416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17" name="Google Shape;5417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18" name="Google Shape;5418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419" name="Google Shape;5419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0" name="Google Shape;5420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1" name="Google Shape;5421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2" name="Google Shape;5422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23" name="Google Shape;5423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424" name="Google Shape;5424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5" name="Google Shape;5425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6" name="Google Shape;5426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7" name="Google Shape;5427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8" name="Google Shape;5428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9" name="Google Shape;5429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0" name="Google Shape;5430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1" name="Google Shape;5431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2" name="Google Shape;5432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3" name="Google Shape;5433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5434" name="Google Shape;5434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5" name="Google Shape;5435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5436" name="Google Shape;5436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7" name="Google Shape;5437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438" name="Google Shape;5438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439" name="Google Shape;5439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$14,367 YTD gross written premium</a:t>
            </a:r>
            <a:endParaRPr/>
          </a:p>
        </p:txBody>
      </p:sp>
      <p:sp>
        <p:nvSpPr>
          <p:cNvPr id="5440" name="Google Shape;5440;p3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441" name="Google Shape;5441;p3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$14,367 in renewals - strong retention</a:t>
            </a:r>
            <a:endParaRPr/>
          </a:p>
        </p:txBody>
      </p:sp>
      <p:sp>
        <p:nvSpPr>
          <p:cNvPr id="5442" name="Google Shape;5442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3" name="Google Shape;5443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444" name="Google Shape;5444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445" name="Google Shape;5445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5446" name="Google Shape;5446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7" name="Google Shape;5447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448" name="Google Shape;5448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449" name="Google Shape;5449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450" name="Google Shape;5450;p3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451" name="Google Shape;5451;p3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55" name="Shape 5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6" name="Google Shape;5456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7" name="Google Shape;5457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Expansion Strategies, Llc</a:t>
            </a:r>
            <a:endParaRPr/>
          </a:p>
        </p:txBody>
      </p:sp>
      <p:sp>
        <p:nvSpPr>
          <p:cNvPr id="5458" name="Google Shape;5458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FL  |  City: Palm Harbor</a:t>
            </a:r>
            <a:endParaRPr/>
          </a:p>
        </p:txBody>
      </p:sp>
      <p:sp>
        <p:nvSpPr>
          <p:cNvPr id="5459" name="Google Shape;5459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$10,088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460" name="Google Shape;5460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61" name="Google Shape;5461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62" name="Google Shape;5462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$10,088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63" name="Google Shape;5463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$-10,324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64" name="Google Shape;5464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$221,853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465" name="Google Shape;5465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$195,685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466" name="Google Shape;5466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467" name="Google Shape;5467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68" name="Google Shape;5468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69" name="Google Shape;5469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70" name="Google Shape;5470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$124,824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471" name="Google Shape;5471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472" name="Google Shape;5472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3" name="Google Shape;5473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474" name="Google Shape;5474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75" name="Google Shape;5475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476" name="Google Shape;5476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77" name="Google Shape;5477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78" name="Google Shape;5478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79" name="Google Shape;5479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80" name="Google Shape;5480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1" name="Google Shape;5481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82" name="Google Shape;5482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$679</a:t>
            </a:r>
            <a:endParaRPr/>
          </a:p>
        </p:txBody>
      </p:sp>
      <p:sp>
        <p:nvSpPr>
          <p:cNvPr id="5483" name="Google Shape;5483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4" name="Google Shape;5484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5" name="Google Shape;5485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$679</a:t>
            </a:r>
            <a:endParaRPr/>
          </a:p>
        </p:txBody>
      </p:sp>
      <p:sp>
        <p:nvSpPr>
          <p:cNvPr id="5486" name="Google Shape;5486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$-739</a:t>
            </a:r>
            <a:endParaRPr/>
          </a:p>
        </p:txBody>
      </p:sp>
      <p:sp>
        <p:nvSpPr>
          <p:cNvPr id="5487" name="Google Shape;5487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8" name="Google Shape;5488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89" name="Google Shape;5489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$9,281</a:t>
            </a:r>
            <a:endParaRPr/>
          </a:p>
        </p:txBody>
      </p:sp>
      <p:sp>
        <p:nvSpPr>
          <p:cNvPr id="5490" name="Google Shape;5490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1" name="Google Shape;5491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2" name="Google Shape;5492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$9,281</a:t>
            </a:r>
            <a:endParaRPr/>
          </a:p>
        </p:txBody>
      </p:sp>
      <p:sp>
        <p:nvSpPr>
          <p:cNvPr id="5493" name="Google Shape;5493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$-579</a:t>
            </a:r>
            <a:endParaRPr/>
          </a:p>
        </p:txBody>
      </p:sp>
      <p:sp>
        <p:nvSpPr>
          <p:cNvPr id="5494" name="Google Shape;5494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5" name="Google Shape;5495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96" name="Google Shape;5496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7" name="Google Shape;5497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8" name="Google Shape;5498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9" name="Google Shape;5499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0" name="Google Shape;5500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1" name="Google Shape;5501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2" name="Google Shape;5502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03" name="Google Shape;5503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4" name="Google Shape;5504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5" name="Google Shape;5505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6" name="Google Shape;5506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7" name="Google Shape;5507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8" name="Google Shape;5508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9" name="Google Shape;5509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10" name="Google Shape;5510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</a:t>
            </a:r>
            <a:endParaRPr/>
          </a:p>
        </p:txBody>
      </p:sp>
      <p:sp>
        <p:nvSpPr>
          <p:cNvPr id="5511" name="Google Shape;5511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12" name="Google Shape;5512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13" name="Google Shape;5513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</a:t>
            </a:r>
            <a:endParaRPr/>
          </a:p>
        </p:txBody>
      </p:sp>
      <p:sp>
        <p:nvSpPr>
          <p:cNvPr id="5514" name="Google Shape;5514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$-9,006</a:t>
            </a:r>
            <a:endParaRPr/>
          </a:p>
        </p:txBody>
      </p:sp>
      <p:sp>
        <p:nvSpPr>
          <p:cNvPr id="5515" name="Google Shape;5515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6" name="Google Shape;5516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17" name="Google Shape;5517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$10,088</a:t>
            </a:r>
            <a:endParaRPr/>
          </a:p>
        </p:txBody>
      </p:sp>
      <p:sp>
        <p:nvSpPr>
          <p:cNvPr id="5518" name="Google Shape;5518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19" name="Google Shape;5519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0" name="Google Shape;5520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$10,088</a:t>
            </a:r>
            <a:endParaRPr/>
          </a:p>
        </p:txBody>
      </p:sp>
      <p:sp>
        <p:nvSpPr>
          <p:cNvPr id="5521" name="Google Shape;5521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$-10,324</a:t>
            </a:r>
            <a:endParaRPr/>
          </a:p>
        </p:txBody>
      </p:sp>
      <p:sp>
        <p:nvSpPr>
          <p:cNvPr id="5522" name="Google Shape;5522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3" name="Google Shape;5523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524" name="Google Shape;5524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25" name="Google Shape;5525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526" name="Google Shape;5526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527" name="Google Shape;5527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528" name="Google Shape;5528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29" name="Google Shape;5529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30" name="Google Shape;5530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1" name="Google Shape;5531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32" name="Google Shape;5532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33" name="Google Shape;5533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34" name="Google Shape;5534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35" name="Google Shape;5535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36" name="Google Shape;5536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5537" name="Google Shape;5537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8" name="Google Shape;5538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39" name="Google Shape;5539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40" name="Google Shape;5540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41" name="Google Shape;5541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42" name="Google Shape;5542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43" name="Google Shape;5543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5544" name="Google Shape;5544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5" name="Google Shape;5545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546" name="Google Shape;5546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47" name="Google Shape;5547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48" name="Google Shape;5548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49" name="Google Shape;5549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50" name="Google Shape;5550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51" name="Google Shape;5551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2" name="Google Shape;5552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53" name="Google Shape;5553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54" name="Google Shape;5554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55" name="Google Shape;5555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556" name="Google Shape;5556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57" name="Google Shape;5557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5558" name="Google Shape;5558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9" name="Google Shape;5559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60" name="Google Shape;5560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61" name="Google Shape;5561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62" name="Google Shape;5562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63" name="Google Shape;5563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64" name="Google Shape;5564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5565" name="Google Shape;5565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6" name="Google Shape;5566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67" name="Google Shape;5567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568" name="Google Shape;5568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69" name="Google Shape;5569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570" name="Google Shape;5570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71" name="Google Shape;5571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5572" name="Google Shape;5572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3" name="Google Shape;5573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574" name="Google Shape;5574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575" name="Google Shape;5575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576" name="Google Shape;5576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577" name="Google Shape;5577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578" name="Google Shape;5578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579" name="Google Shape;5579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580" name="Google Shape;5580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581" name="Google Shape;5581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582" name="Google Shape;5582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583" name="Google Shape;5583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584" name="Google Shape;5584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585" name="Google Shape;5585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586" name="Google Shape;5586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587" name="Google Shape;5587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88" name="Google Shape;5588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89" name="Google Shape;5589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90" name="Google Shape;5590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91" name="Google Shape;5591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92" name="Google Shape;5592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93" name="Google Shape;5593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94" name="Google Shape;5594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95" name="Google Shape;5595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96" name="Google Shape;5596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97" name="Google Shape;5597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98" name="Google Shape;5598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599" name="Google Shape;5599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600" name="Google Shape;5600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601" name="Google Shape;5601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</a:t>
            </a:r>
            <a:endParaRPr/>
          </a:p>
        </p:txBody>
      </p:sp>
      <p:sp>
        <p:nvSpPr>
          <p:cNvPr id="5602" name="Google Shape;5602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$679</a:t>
            </a:r>
            <a:endParaRPr/>
          </a:p>
        </p:txBody>
      </p:sp>
      <p:sp>
        <p:nvSpPr>
          <p:cNvPr id="5603" name="Google Shape;5603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5604" name="Google Shape;5604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5605" name="Google Shape;5605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6" name="Google Shape;5606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7" name="Google Shape;5607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8" name="Google Shape;5608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9" name="Google Shape;5609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</a:t>
            </a:r>
            <a:endParaRPr/>
          </a:p>
        </p:txBody>
      </p:sp>
      <p:sp>
        <p:nvSpPr>
          <p:cNvPr id="5610" name="Google Shape;5610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</a:t>
            </a:r>
            <a:endParaRPr/>
          </a:p>
        </p:txBody>
      </p:sp>
      <p:sp>
        <p:nvSpPr>
          <p:cNvPr id="5611" name="Google Shape;5611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5612" name="Google Shape;5612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5613" name="Google Shape;5613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4" name="Google Shape;5614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615" name="Google Shape;5615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616" name="Google Shape;5616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$10,088 YTD gross written premium</a:t>
            </a:r>
            <a:endParaRPr/>
          </a:p>
        </p:txBody>
      </p:sp>
      <p:sp>
        <p:nvSpPr>
          <p:cNvPr id="5617" name="Google Shape;5617;p3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618" name="Google Shape;5618;p3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 hit ratio - above average conversion</a:t>
            </a:r>
            <a:endParaRPr/>
          </a:p>
        </p:txBody>
      </p:sp>
      <p:sp>
        <p:nvSpPr>
          <p:cNvPr id="5619" name="Google Shape;5619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0" name="Google Shape;5620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621" name="Google Shape;5621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22" name="Google Shape;5622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99% month-over-month</a:t>
            </a:r>
            <a:endParaRPr/>
          </a:p>
        </p:txBody>
      </p:sp>
      <p:sp>
        <p:nvSpPr>
          <p:cNvPr id="5623" name="Google Shape;5623;p3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24" name="Google Shape;5624;p3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5 to 2 MoM</a:t>
            </a:r>
            <a:endParaRPr/>
          </a:p>
        </p:txBody>
      </p:sp>
      <p:sp>
        <p:nvSpPr>
          <p:cNvPr id="5625" name="Google Shape;5625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6" name="Google Shape;5626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627" name="Google Shape;5627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628" name="Google Shape;5628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32" name="Shape 5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3" name="Google Shape;5633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4" name="Google Shape;5634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 Insurance Group Inc</a:t>
            </a:r>
            <a:endParaRPr/>
          </a:p>
        </p:txBody>
      </p:sp>
      <p:sp>
        <p:nvSpPr>
          <p:cNvPr id="5635" name="Google Shape;5635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Homestead</a:t>
            </a:r>
            <a:endParaRPr/>
          </a:p>
        </p:txBody>
      </p:sp>
      <p:sp>
        <p:nvSpPr>
          <p:cNvPr id="5636" name="Google Shape;5636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637" name="Google Shape;5637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$5,201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38" name="Google Shape;5638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39" name="Google Shape;5639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40" name="Google Shape;5640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41" name="Google Shape;5641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642" name="Google Shape;5642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643" name="Google Shape;5643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644" name="Google Shape;5644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45" name="Google Shape;5645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46" name="Google Shape;5646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47" name="Google Shape;5647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648" name="Google Shape;5648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649" name="Google Shape;5649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0" name="Google Shape;5650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651" name="Google Shape;5651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52" name="Google Shape;5652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653" name="Google Shape;5653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54" name="Google Shape;5654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55" name="Google Shape;5655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56" name="Google Shape;5656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57" name="Google Shape;5657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8" name="Google Shape;5658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59" name="Google Shape;5659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5660" name="Google Shape;5660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5661" name="Google Shape;5661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2" name="Google Shape;5662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3" name="Google Shape;5663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4" name="Google Shape;5664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5" name="Google Shape;5665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66" name="Google Shape;5666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7" name="Google Shape;5667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8" name="Google Shape;5668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9" name="Google Shape;5669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0" name="Google Shape;5670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1" name="Google Shape;5671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2" name="Google Shape;5672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73" name="Google Shape;5673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</p:txBody>
      </p:sp>
      <p:sp>
        <p:nvSpPr>
          <p:cNvPr id="5674" name="Google Shape;5674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5" name="Google Shape;5675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</p:txBody>
      </p:sp>
      <p:sp>
        <p:nvSpPr>
          <p:cNvPr id="5676" name="Google Shape;5676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7" name="Google Shape;5677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$-632</a:t>
            </a:r>
            <a:endParaRPr/>
          </a:p>
        </p:txBody>
      </p:sp>
      <p:sp>
        <p:nvSpPr>
          <p:cNvPr id="5678" name="Google Shape;5678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9" name="Google Shape;5679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80" name="Google Shape;5680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1" name="Google Shape;5681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2" name="Google Shape;5682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3" name="Google Shape;5683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4" name="Google Shape;5684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5" name="Google Shape;5685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6" name="Google Shape;5686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87" name="Google Shape;5687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$4,252</a:t>
            </a:r>
            <a:endParaRPr/>
          </a:p>
        </p:txBody>
      </p:sp>
      <p:sp>
        <p:nvSpPr>
          <p:cNvPr id="5688" name="Google Shape;5688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$4,252</a:t>
            </a:r>
            <a:endParaRPr/>
          </a:p>
        </p:txBody>
      </p:sp>
      <p:sp>
        <p:nvSpPr>
          <p:cNvPr id="5689" name="Google Shape;5689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90" name="Google Shape;5690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91" name="Google Shape;5691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92" name="Google Shape;5692;p3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3" name="Google Shape;5693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94" name="Google Shape;5694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$6,371</a:t>
            </a:r>
            <a:endParaRPr/>
          </a:p>
        </p:txBody>
      </p:sp>
      <p:sp>
        <p:nvSpPr>
          <p:cNvPr id="5695" name="Google Shape;5695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$5,201</a:t>
            </a:r>
            <a:endParaRPr/>
          </a:p>
        </p:txBody>
      </p:sp>
      <p:sp>
        <p:nvSpPr>
          <p:cNvPr id="5696" name="Google Shape;5696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</p:txBody>
      </p:sp>
      <p:sp>
        <p:nvSpPr>
          <p:cNvPr id="5697" name="Google Shape;5697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98" name="Google Shape;5698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$-632</a:t>
            </a:r>
            <a:endParaRPr/>
          </a:p>
        </p:txBody>
      </p:sp>
      <p:sp>
        <p:nvSpPr>
          <p:cNvPr id="5699" name="Google Shape;5699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0" name="Google Shape;5700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701" name="Google Shape;5701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02" name="Google Shape;5702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703" name="Google Shape;5703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704" name="Google Shape;5704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705" name="Google Shape;5705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06" name="Google Shape;5706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07" name="Google Shape;5707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8" name="Google Shape;5708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09" name="Google Shape;5709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710" name="Google Shape;5710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11" name="Google Shape;5711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712" name="Google Shape;5712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13" name="Google Shape;5713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18.2%</a:t>
            </a:r>
            <a:endParaRPr/>
          </a:p>
        </p:txBody>
      </p:sp>
      <p:sp>
        <p:nvSpPr>
          <p:cNvPr id="5714" name="Google Shape;5714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5" name="Google Shape;5715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16" name="Google Shape;5716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17" name="Google Shape;5717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18" name="Google Shape;5718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719" name="Google Shape;5719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20" name="Google Shape;5720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21" name="Google Shape;5721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2" name="Google Shape;5722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23" name="Google Shape;5723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24" name="Google Shape;5724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25" name="Google Shape;5725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726" name="Google Shape;5726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27" name="Google Shape;5727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28" name="Google Shape;5728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9" name="Google Shape;5729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30" name="Google Shape;5730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731" name="Google Shape;5731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32" name="Google Shape;5732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733" name="Google Shape;5733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34" name="Google Shape;5734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35" name="Google Shape;5735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6" name="Google Shape;5736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37" name="Google Shape;5737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38" name="Google Shape;5738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39" name="Google Shape;5739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40" name="Google Shape;5740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41" name="Google Shape;5741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5742" name="Google Shape;5742;p3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3" name="Google Shape;5743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744" name="Google Shape;5744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5745" name="Google Shape;5745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46" name="Google Shape;5746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5747" name="Google Shape;5747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48" name="Google Shape;5748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5749" name="Google Shape;5749;p3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0" name="Google Shape;5750;p3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751" name="Google Shape;5751;p3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752" name="Google Shape;5752;p3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753" name="Google Shape;5753;p3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754" name="Google Shape;5754;p3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755" name="Google Shape;5755;p3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756" name="Google Shape;5756;p3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757" name="Google Shape;5757;p3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758" name="Google Shape;5758;p3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759" name="Google Shape;5759;p3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760" name="Google Shape;5760;p3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761" name="Google Shape;5761;p3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762" name="Google Shape;5762;p3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763" name="Google Shape;5763;p3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764" name="Google Shape;5764;p3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65" name="Google Shape;5765;p3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766" name="Google Shape;5766;p3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767" name="Google Shape;5767;p3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768" name="Google Shape;5768;p3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69" name="Google Shape;5769;p3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770" name="Google Shape;5770;p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71" name="Google Shape;5771;p3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772" name="Google Shape;5772;p3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773" name="Google Shape;5773;p3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774" name="Google Shape;5774;p3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75" name="Google Shape;5775;p3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5776" name="Google Shape;5776;p3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5777" name="Google Shape;5777;p3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778" name="Google Shape;5778;p3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5779" name="Google Shape;5779;p3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5780" name="Google Shape;5780;p3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1" name="Google Shape;5781;p3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2" name="Google Shape;5782;p3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5783" name="Google Shape;5783;p3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5784" name="Google Shape;5784;p3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5785" name="Google Shape;5785;p3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6" name="Google Shape;5786;p3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</a:t>
            </a:r>
            <a:endParaRPr/>
          </a:p>
        </p:txBody>
      </p:sp>
      <p:sp>
        <p:nvSpPr>
          <p:cNvPr id="5787" name="Google Shape;5787;p3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788" name="Google Shape;5788;p3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5789" name="Google Shape;5789;p3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5790" name="Google Shape;5790;p3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1" name="Google Shape;5791;p3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792" name="Google Shape;5792;p3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93" name="Google Shape;5793;p3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$6,371 YTD gross written premium</a:t>
            </a:r>
            <a:endParaRPr/>
          </a:p>
        </p:txBody>
      </p:sp>
      <p:sp>
        <p:nvSpPr>
          <p:cNvPr id="5794" name="Google Shape;5794;p3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95" name="Google Shape;5795;p3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$5,201 in new business production</a:t>
            </a:r>
            <a:endParaRPr/>
          </a:p>
        </p:txBody>
      </p:sp>
      <p:sp>
        <p:nvSpPr>
          <p:cNvPr id="5796" name="Google Shape;5796;p3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7" name="Google Shape;5797;p3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798" name="Google Shape;5798;p3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99" name="Google Shape;5799;p3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800" name="Google Shape;5800;p3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801" name="Google Shape;5801;p3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802" name="Google Shape;5802;p3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3" name="Google Shape;5803;p3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804" name="Google Shape;5804;p3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805" name="Google Shape;5805;p3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$5,201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806" name="Google Shape;5806;p3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807" name="Google Shape;5807;p3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11" name="Shape 5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2" name="Google Shape;5812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3" name="Google Shape;5813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Verafy Insurance, LLC</a:t>
            </a:r>
            <a:endParaRPr/>
          </a:p>
        </p:txBody>
      </p:sp>
      <p:sp>
        <p:nvSpPr>
          <p:cNvPr id="5814" name="Google Shape;5814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FL  |  City: Ocala</a:t>
            </a:r>
            <a:endParaRPr/>
          </a:p>
        </p:txBody>
      </p:sp>
      <p:sp>
        <p:nvSpPr>
          <p:cNvPr id="5815" name="Google Shape;5815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816" name="Google Shape;5816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17" name="Google Shape;5817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18" name="Google Shape;5818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19" name="Google Shape;5819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$-17,536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20" name="Google Shape;5820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$334,773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821" name="Google Shape;5821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822" name="Google Shape;5822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823" name="Google Shape;5823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24" name="Google Shape;5824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25" name="Google Shape;5825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26" name="Google Shape;5826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827" name="Google Shape;5827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$33,117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828" name="Google Shape;5828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9" name="Google Shape;5829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830" name="Google Shape;5830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31" name="Google Shape;5831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832" name="Google Shape;5832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33" name="Google Shape;5833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34" name="Google Shape;5834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35" name="Google Shape;5835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36" name="Google Shape;5836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7" name="Google Shape;5837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38" name="Google Shape;5838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</p:txBody>
      </p:sp>
      <p:sp>
        <p:nvSpPr>
          <p:cNvPr id="5839" name="Google Shape;5839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0" name="Google Shape;5840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1" name="Google Shape;5841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</p:txBody>
      </p:sp>
      <p:sp>
        <p:nvSpPr>
          <p:cNvPr id="5842" name="Google Shape;5842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$-16,343</a:t>
            </a:r>
            <a:endParaRPr/>
          </a:p>
        </p:txBody>
      </p:sp>
      <p:sp>
        <p:nvSpPr>
          <p:cNvPr id="5843" name="Google Shape;5843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4" name="Google Shape;5844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45" name="Google Shape;5845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6" name="Google Shape;5846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7" name="Google Shape;5847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8" name="Google Shape;5848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9" name="Google Shape;5849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0" name="Google Shape;5850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1" name="Google Shape;5851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52" name="Google Shape;5852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3" name="Google Shape;5853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4" name="Google Shape;5854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5" name="Google Shape;5855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6" name="Google Shape;5856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7" name="Google Shape;5857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8" name="Google Shape;5858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59" name="Google Shape;5859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0" name="Google Shape;5860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1" name="Google Shape;5861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2" name="Google Shape;5862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3" name="Google Shape;5863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$-1,193</a:t>
            </a:r>
            <a:endParaRPr/>
          </a:p>
        </p:txBody>
      </p:sp>
      <p:sp>
        <p:nvSpPr>
          <p:cNvPr id="5864" name="Google Shape;5864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5" name="Google Shape;5865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66" name="Google Shape;5866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7" name="Google Shape;5867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8" name="Google Shape;5868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9" name="Google Shape;5869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0" name="Google Shape;5870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1" name="Google Shape;5871;p3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2" name="Google Shape;5872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73" name="Google Shape;5873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</p:txBody>
      </p:sp>
      <p:sp>
        <p:nvSpPr>
          <p:cNvPr id="5874" name="Google Shape;5874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5" name="Google Shape;5875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6" name="Google Shape;5876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</p:txBody>
      </p:sp>
      <p:sp>
        <p:nvSpPr>
          <p:cNvPr id="5877" name="Google Shape;5877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$-17,536</a:t>
            </a:r>
            <a:endParaRPr/>
          </a:p>
        </p:txBody>
      </p:sp>
      <p:sp>
        <p:nvSpPr>
          <p:cNvPr id="5878" name="Google Shape;5878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9" name="Google Shape;5879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880" name="Google Shape;5880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81" name="Google Shape;5881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882" name="Google Shape;5882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883" name="Google Shape;5883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884" name="Google Shape;5884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85" name="Google Shape;5885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86" name="Google Shape;5886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7" name="Google Shape;5887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88" name="Google Shape;5888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889" name="Google Shape;5889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90" name="Google Shape;5890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891" name="Google Shape;5891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92" name="Google Shape;5892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5893" name="Google Shape;5893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4" name="Google Shape;5894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95" name="Google Shape;5895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896" name="Google Shape;5896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97" name="Google Shape;5897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898" name="Google Shape;5898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99" name="Google Shape;5899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00" name="Google Shape;5900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1" name="Google Shape;5901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02" name="Google Shape;5902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903" name="Google Shape;5903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04" name="Google Shape;5904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905" name="Google Shape;5905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06" name="Google Shape;5906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07" name="Google Shape;5907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8" name="Google Shape;5908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09" name="Google Shape;5909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910" name="Google Shape;5910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11" name="Google Shape;5911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912" name="Google Shape;5912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13" name="Google Shape;5913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14" name="Google Shape;5914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5" name="Google Shape;5915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16" name="Google Shape;5916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917" name="Google Shape;5917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18" name="Google Shape;5918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919" name="Google Shape;5919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20" name="Google Shape;5920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21" name="Google Shape;5921;p3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2" name="Google Shape;5922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23" name="Google Shape;5923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5924" name="Google Shape;5924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25" name="Google Shape;5925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5926" name="Google Shape;5926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27" name="Google Shape;5927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5928" name="Google Shape;5928;p3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9" name="Google Shape;5929;p3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930" name="Google Shape;5930;p3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931" name="Google Shape;5931;p3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932" name="Google Shape;5932;p3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933" name="Google Shape;5933;p3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934" name="Google Shape;5934;p3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935" name="Google Shape;5935;p3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936" name="Google Shape;5936;p3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937" name="Google Shape;5937;p3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938" name="Google Shape;5938;p3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939" name="Google Shape;5939;p3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940" name="Google Shape;5940;p3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941" name="Google Shape;5941;p3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942" name="Google Shape;5942;p3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943" name="Google Shape;5943;p3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44" name="Google Shape;5944;p3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5945" name="Google Shape;5945;p3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946" name="Google Shape;5946;p3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5947" name="Google Shape;5947;p3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948" name="Google Shape;5948;p3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5949" name="Google Shape;5949;p3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950" name="Google Shape;5950;p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5951" name="Google Shape;5951;p3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952" name="Google Shape;5952;p3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5953" name="Google Shape;5953;p3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954" name="Google Shape;5954;p3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</p:txBody>
      </p:sp>
      <p:sp>
        <p:nvSpPr>
          <p:cNvPr id="5955" name="Google Shape;5955;p3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5956" name="Google Shape;5956;p3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957" name="Google Shape;5957;p3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5958" name="Google Shape;5958;p3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959" name="Google Shape;5959;p3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0" name="Google Shape;5960;p3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1" name="Google Shape;5961;p3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$160K</a:t>
            </a:r>
            <a:endParaRPr/>
          </a:p>
        </p:txBody>
      </p:sp>
      <p:sp>
        <p:nvSpPr>
          <p:cNvPr id="5962" name="Google Shape;5962;p3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3" name="Google Shape;5963;p3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$63K</a:t>
            </a:r>
            <a:endParaRPr/>
          </a:p>
        </p:txBody>
      </p:sp>
      <p:sp>
        <p:nvSpPr>
          <p:cNvPr id="5964" name="Google Shape;5964;p3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5" name="Google Shape;5965;p3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5966" name="Google Shape;5966;p3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7" name="Google Shape;5967;p3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$285K</a:t>
            </a:r>
            <a:endParaRPr/>
          </a:p>
        </p:txBody>
      </p:sp>
      <p:sp>
        <p:nvSpPr>
          <p:cNvPr id="5968" name="Google Shape;5968;p3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969" name="Google Shape;5969;p3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0" name="Google Shape;5970;p3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971" name="Google Shape;5971;p3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72" name="Google Shape;5972;p3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 YTD gross written premium</a:t>
            </a:r>
            <a:endParaRPr/>
          </a:p>
        </p:txBody>
      </p:sp>
      <p:sp>
        <p:nvSpPr>
          <p:cNvPr id="5973" name="Google Shape;5973;p3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74" name="Google Shape;5974;p3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 submissions - highly active agency</a:t>
            </a:r>
            <a:endParaRPr/>
          </a:p>
        </p:txBody>
      </p:sp>
      <p:sp>
        <p:nvSpPr>
          <p:cNvPr id="5975" name="Google Shape;5975;p3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6" name="Google Shape;5976;p3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977" name="Google Shape;5977;p3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78" name="Google Shape;5978;p3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2.0% hit ratio on 99 subs - needs coaching</a:t>
            </a:r>
            <a:endParaRPr/>
          </a:p>
        </p:txBody>
      </p:sp>
      <p:sp>
        <p:nvSpPr>
          <p:cNvPr id="5979" name="Google Shape;5979;p3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80" name="Google Shape;5980;p3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5981" name="Google Shape;5981;p3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2" name="Google Shape;5982;p3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983" name="Google Shape;5983;p3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984" name="Google Shape;5984;p3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(99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5985" name="Google Shape;5985;p3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986" name="Google Shape;5986;p3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90" name="Shape 5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1" name="Google Shape;5991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2" name="Google Shape;5992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Public Transportation Specialist, Inc</a:t>
            </a:r>
            <a:endParaRPr/>
          </a:p>
        </p:txBody>
      </p:sp>
      <p:sp>
        <p:nvSpPr>
          <p:cNvPr id="5993" name="Google Shape;5993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Miami Lakes</a:t>
            </a:r>
            <a:endParaRPr/>
          </a:p>
        </p:txBody>
      </p:sp>
      <p:sp>
        <p:nvSpPr>
          <p:cNvPr id="5994" name="Google Shape;5994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995" name="Google Shape;5995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96" name="Google Shape;5996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97" name="Google Shape;5997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98" name="Google Shape;5998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99" name="Google Shape;5999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$67,008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000" name="Google Shape;6000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001" name="Google Shape;6001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002" name="Google Shape;6002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03" name="Google Shape;6003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04" name="Google Shape;6004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05" name="Google Shape;6005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006" name="Google Shape;6006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007" name="Google Shape;6007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8" name="Google Shape;6008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009" name="Google Shape;6009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10" name="Google Shape;6010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011" name="Google Shape;6011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12" name="Google Shape;6012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13" name="Google Shape;6013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14" name="Google Shape;6014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15" name="Google Shape;6015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6" name="Google Shape;6016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17" name="Google Shape;6017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8" name="Google Shape;6018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9" name="Google Shape;6019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0" name="Google Shape;6020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1" name="Google Shape;6021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2" name="Google Shape;6022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3" name="Google Shape;6023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24" name="Google Shape;6024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5" name="Google Shape;6025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6" name="Google Shape;6026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7" name="Google Shape;6027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8" name="Google Shape;6028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9" name="Google Shape;6029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0" name="Google Shape;6030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31" name="Google Shape;6031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2" name="Google Shape;6032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3" name="Google Shape;6033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4" name="Google Shape;6034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5" name="Google Shape;6035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6" name="Google Shape;6036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7" name="Google Shape;6037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38" name="Google Shape;6038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9" name="Google Shape;6039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0" name="Google Shape;6040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1" name="Google Shape;6041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2" name="Google Shape;6042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3" name="Google Shape;6043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4" name="Google Shape;6044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45" name="Google Shape;6045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046" name="Google Shape;6046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7" name="Google Shape;6047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048" name="Google Shape;6048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9" name="Google Shape;6049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0" name="Google Shape;6050;p4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1" name="Google Shape;6051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52" name="Google Shape;6052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053" name="Google Shape;6053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4" name="Google Shape;6054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055" name="Google Shape;6055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6" name="Google Shape;6056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7" name="Google Shape;6057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8" name="Google Shape;6058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059" name="Google Shape;6059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60" name="Google Shape;6060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061" name="Google Shape;6061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062" name="Google Shape;6062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063" name="Google Shape;6063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64" name="Google Shape;6064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65" name="Google Shape;6065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6" name="Google Shape;6066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67" name="Google Shape;6067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68" name="Google Shape;6068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69" name="Google Shape;6069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70" name="Google Shape;6070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71" name="Google Shape;6071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72" name="Google Shape;6072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3" name="Google Shape;6073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74" name="Google Shape;6074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75" name="Google Shape;6075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76" name="Google Shape;6076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77" name="Google Shape;6077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78" name="Google Shape;6078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6079" name="Google Shape;6079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0" name="Google Shape;6080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81" name="Google Shape;6081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082" name="Google Shape;6082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83" name="Google Shape;6083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084" name="Google Shape;6084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85" name="Google Shape;6085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86" name="Google Shape;6086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7" name="Google Shape;6087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88" name="Google Shape;6088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89" name="Google Shape;6089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90" name="Google Shape;6090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91" name="Google Shape;6091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92" name="Google Shape;6092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93" name="Google Shape;6093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4" name="Google Shape;6094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95" name="Google Shape;6095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96" name="Google Shape;6096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97" name="Google Shape;6097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98" name="Google Shape;6098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99" name="Google Shape;6099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00" name="Google Shape;6100;p4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1" name="Google Shape;6101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02" name="Google Shape;6102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6103" name="Google Shape;6103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04" name="Google Shape;6104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105" name="Google Shape;6105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06" name="Google Shape;6106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6107" name="Google Shape;6107;p4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8" name="Google Shape;6108;p4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109" name="Google Shape;6109;p4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110" name="Google Shape;6110;p4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111" name="Google Shape;6111;p4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112" name="Google Shape;6112;p4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113" name="Google Shape;6113;p4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114" name="Google Shape;6114;p4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115" name="Google Shape;6115;p4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116" name="Google Shape;6116;p4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117" name="Google Shape;6117;p4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118" name="Google Shape;6118;p4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119" name="Google Shape;6119;p4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120" name="Google Shape;6120;p4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121" name="Google Shape;6121;p4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122" name="Google Shape;6122;p4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23" name="Google Shape;6123;p4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124" name="Google Shape;6124;p4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25" name="Google Shape;6125;p4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126" name="Google Shape;6126;p4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27" name="Google Shape;6127;p4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128" name="Google Shape;6128;p4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129" name="Google Shape;6129;p4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130" name="Google Shape;6130;p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31" name="Google Shape;6131;p4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132" name="Google Shape;6132;p4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133" name="Google Shape;6133;p4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6134" name="Google Shape;6134;p4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6135" name="Google Shape;6135;p4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136" name="Google Shape;6136;p4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6137" name="Google Shape;6137;p4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8" name="Google Shape;6138;p4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139" name="Google Shape;6139;p4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0" name="Google Shape;6140;p4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6141" name="Google Shape;6141;p4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2" name="Google Shape;6142;p4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3" name="Google Shape;6143;p4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4" name="Google Shape;6144;p4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$57K</a:t>
            </a:r>
            <a:endParaRPr/>
          </a:p>
        </p:txBody>
      </p:sp>
      <p:sp>
        <p:nvSpPr>
          <p:cNvPr id="6145" name="Google Shape;6145;p4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146" name="Google Shape;6146;p4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6147" name="Google Shape;6147;p4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148" name="Google Shape;6148;p4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9" name="Google Shape;6149;p4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150" name="Google Shape;6150;p4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151" name="Google Shape;6151;p4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 YTD gross written premium</a:t>
            </a:r>
            <a:endParaRPr/>
          </a:p>
        </p:txBody>
      </p:sp>
      <p:sp>
        <p:nvSpPr>
          <p:cNvPr id="6152" name="Google Shape;6152;p4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153" name="Google Shape;6153;p4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 in renewals - strong retention</a:t>
            </a:r>
            <a:endParaRPr/>
          </a:p>
        </p:txBody>
      </p:sp>
      <p:sp>
        <p:nvSpPr>
          <p:cNvPr id="6154" name="Google Shape;6154;p4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5" name="Google Shape;6155;p4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156" name="Google Shape;6156;p4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157" name="Google Shape;6157;p4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158" name="Google Shape;6158;p4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9" name="Google Shape;6159;p4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160" name="Google Shape;6160;p4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161" name="Google Shape;6161;p4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162" name="Google Shape;6162;p4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163" name="Google Shape;6163;p4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67" name="Shape 6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8" name="Google Shape;6168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9" name="Google Shape;6169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Advantage Plus Insurance Inc.</a:t>
            </a:r>
            <a:endParaRPr/>
          </a:p>
        </p:txBody>
      </p:sp>
      <p:sp>
        <p:nvSpPr>
          <p:cNvPr id="6170" name="Google Shape;6170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SUNRISE</a:t>
            </a:r>
            <a:endParaRPr/>
          </a:p>
        </p:txBody>
      </p:sp>
      <p:sp>
        <p:nvSpPr>
          <p:cNvPr id="6171" name="Google Shape;6171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172" name="Google Shape;6172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73" name="Google Shape;6173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74" name="Google Shape;6174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75" name="Google Shape;6175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76" name="Google Shape;6176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$108,899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177" name="Google Shape;6177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$72,764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178" name="Google Shape;6178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179" name="Google Shape;6179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80" name="Google Shape;6180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81" name="Google Shape;6181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82" name="Google Shape;6182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183" name="Google Shape;6183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184" name="Google Shape;6184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5" name="Google Shape;6185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186" name="Google Shape;6186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87" name="Google Shape;6187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188" name="Google Shape;6188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89" name="Google Shape;6189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90" name="Google Shape;6190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91" name="Google Shape;6191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92" name="Google Shape;6192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3" name="Google Shape;6193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94" name="Google Shape;6194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</p:txBody>
      </p:sp>
      <p:sp>
        <p:nvSpPr>
          <p:cNvPr id="6195" name="Google Shape;6195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6" name="Google Shape;6196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197" name="Google Shape;6197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</p:txBody>
      </p:sp>
      <p:sp>
        <p:nvSpPr>
          <p:cNvPr id="6198" name="Google Shape;6198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9" name="Google Shape;6199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0" name="Google Shape;6200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201" name="Google Shape;6201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2" name="Google Shape;6202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3" name="Google Shape;6203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4" name="Google Shape;6204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5" name="Google Shape;6205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6" name="Google Shape;6206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7" name="Google Shape;6207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208" name="Google Shape;6208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9" name="Google Shape;6209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10" name="Google Shape;6210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11" name="Google Shape;6211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12" name="Google Shape;6212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13" name="Google Shape;6213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4" name="Google Shape;6214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215" name="Google Shape;6215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16" name="Google Shape;6216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17" name="Google Shape;6217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18" name="Google Shape;6218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19" name="Google Shape;6219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20" name="Google Shape;6220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1" name="Google Shape;6221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222" name="Google Shape;6222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23" name="Google Shape;6223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24" name="Google Shape;6224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25" name="Google Shape;6225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26" name="Google Shape;6226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27" name="Google Shape;6227;p4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8" name="Google Shape;6228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29" name="Google Shape;6229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</p:txBody>
      </p:sp>
      <p:sp>
        <p:nvSpPr>
          <p:cNvPr id="6230" name="Google Shape;6230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31" name="Google Shape;6231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6232" name="Google Shape;6232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</p:txBody>
      </p:sp>
      <p:sp>
        <p:nvSpPr>
          <p:cNvPr id="6233" name="Google Shape;6233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34" name="Google Shape;6234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5" name="Google Shape;6235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236" name="Google Shape;6236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237" name="Google Shape;6237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238" name="Google Shape;6238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239" name="Google Shape;6239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240" name="Google Shape;6240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241" name="Google Shape;6241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242" name="Google Shape;6242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3" name="Google Shape;6243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244" name="Google Shape;6244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45" name="Google Shape;6245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46" name="Google Shape;6246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47" name="Google Shape;6247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48" name="Google Shape;6248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249" name="Google Shape;6249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0" name="Google Shape;6250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251" name="Google Shape;6251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252" name="Google Shape;6252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53" name="Google Shape;6253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254" name="Google Shape;6254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55" name="Google Shape;6255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56" name="Google Shape;6256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7" name="Google Shape;6257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258" name="Google Shape;6258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59" name="Google Shape;6259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60" name="Google Shape;6260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61" name="Google Shape;6261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62" name="Google Shape;6262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63" name="Google Shape;6263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4" name="Google Shape;6264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265" name="Google Shape;6265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266" name="Google Shape;6266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67" name="Google Shape;6267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268" name="Google Shape;6268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69" name="Google Shape;6269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6270" name="Google Shape;6270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1" name="Google Shape;6271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272" name="Google Shape;6272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73" name="Google Shape;6273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74" name="Google Shape;6274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75" name="Google Shape;6275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76" name="Google Shape;6276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77" name="Google Shape;6277;p4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8" name="Google Shape;6278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79" name="Google Shape;6279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6280" name="Google Shape;6280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81" name="Google Shape;6281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6282" name="Google Shape;6282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83" name="Google Shape;6283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6284" name="Google Shape;6284;p4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5" name="Google Shape;6285;p4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286" name="Google Shape;6286;p4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287" name="Google Shape;6287;p4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288" name="Google Shape;6288;p4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289" name="Google Shape;6289;p4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290" name="Google Shape;6290;p4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291" name="Google Shape;6291;p4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292" name="Google Shape;6292;p4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293" name="Google Shape;6293;p4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294" name="Google Shape;6294;p4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295" name="Google Shape;6295;p4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296" name="Google Shape;6296;p4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297" name="Google Shape;6297;p4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298" name="Google Shape;6298;p4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299" name="Google Shape;6299;p4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300" name="Google Shape;6300;p4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301" name="Google Shape;6301;p4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302" name="Google Shape;6302;p4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303" name="Google Shape;6303;p4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304" name="Google Shape;6304;p4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305" name="Google Shape;6305;p4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06" name="Google Shape;6306;p4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307" name="Google Shape;6307;p4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08" name="Google Shape;6308;p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309" name="Google Shape;6309;p4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310" name="Google Shape;6310;p4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6311" name="Google Shape;6311;p4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6312" name="Google Shape;6312;p4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313" name="Google Shape;6313;p4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6314" name="Google Shape;6314;p4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</p:txBody>
      </p:sp>
      <p:sp>
        <p:nvSpPr>
          <p:cNvPr id="6315" name="Google Shape;6315;p4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6316" name="Google Shape;6316;p4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7" name="Google Shape;6317;p4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318" name="Google Shape;6318;p4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9" name="Google Shape;6319;p4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6320" name="Google Shape;6320;p4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1" name="Google Shape;6321;p4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322" name="Google Shape;6322;p4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3" name="Google Shape;6323;p4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6324" name="Google Shape;6324;p4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</p:txBody>
      </p:sp>
      <p:sp>
        <p:nvSpPr>
          <p:cNvPr id="6325" name="Google Shape;6325;p4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6" name="Google Shape;6326;p4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327" name="Google Shape;6327;p4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328" name="Google Shape;6328;p4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 YTD gross written premium</a:t>
            </a:r>
            <a:endParaRPr/>
          </a:p>
        </p:txBody>
      </p:sp>
      <p:sp>
        <p:nvSpPr>
          <p:cNvPr id="6329" name="Google Shape;6329;p4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330" name="Google Shape;6330;p4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 in renewals - strong retention</a:t>
            </a:r>
            <a:endParaRPr/>
          </a:p>
        </p:txBody>
      </p:sp>
      <p:sp>
        <p:nvSpPr>
          <p:cNvPr id="6331" name="Google Shape;6331;p4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2" name="Google Shape;6332;p4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333" name="Google Shape;6333;p4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334" name="Google Shape;6334;p4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335" name="Google Shape;6335;p4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6" name="Google Shape;6336;p4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337" name="Google Shape;6337;p4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338" name="Google Shape;6338;p4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339" name="Google Shape;6339;p4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340" name="Google Shape;6340;p4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44" name="Shape 6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5" name="Google Shape;6345;p4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6" name="Google Shape;6346;p4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Tiburcio Professional Group Corp Dba People Insurance Group Dba People Trucking Insurance</a:t>
            </a:r>
            <a:endParaRPr/>
          </a:p>
        </p:txBody>
      </p:sp>
      <p:sp>
        <p:nvSpPr>
          <p:cNvPr id="6347" name="Google Shape;6347;p4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Miami Gardens</a:t>
            </a:r>
            <a:endParaRPr/>
          </a:p>
        </p:txBody>
      </p:sp>
      <p:sp>
        <p:nvSpPr>
          <p:cNvPr id="6348" name="Google Shape;6348;p4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349" name="Google Shape;6349;p4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50" name="Google Shape;6350;p4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51" name="Google Shape;6351;p4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52" name="Google Shape;6352;p4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53" name="Google Shape;6353;p4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$85,970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354" name="Google Shape;6354;p4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$39,017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355" name="Google Shape;6355;p4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356" name="Google Shape;6356;p4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357" name="Google Shape;6357;p4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58" name="Google Shape;6358;p4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59" name="Google Shape;6359;p4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360" name="Google Shape;6360;p4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361" name="Google Shape;6361;p4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2" name="Google Shape;6362;p4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363" name="Google Shape;6363;p4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64" name="Google Shape;6364;p4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365" name="Google Shape;6365;p4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66" name="Google Shape;6366;p4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67" name="Google Shape;6367;p4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68" name="Google Shape;6368;p4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69" name="Google Shape;6369;p4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0" name="Google Shape;6370;p4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71" name="Google Shape;6371;p4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6372" name="Google Shape;6372;p4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3" name="Google Shape;6373;p4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4" name="Google Shape;6374;p4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6375" name="Google Shape;6375;p4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6" name="Google Shape;6376;p4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7" name="Google Shape;6377;p4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78" name="Google Shape;6378;p4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9" name="Google Shape;6379;p4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0" name="Google Shape;6380;p4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1" name="Google Shape;6381;p4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2" name="Google Shape;6382;p4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3" name="Google Shape;6383;p4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4" name="Google Shape;6384;p4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85" name="Google Shape;6385;p4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6" name="Google Shape;6386;p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7" name="Google Shape;6387;p4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8" name="Google Shape;6388;p4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9" name="Google Shape;6389;p4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90" name="Google Shape;6390;p4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1" name="Google Shape;6391;p4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92" name="Google Shape;6392;p4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93" name="Google Shape;6393;p4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94" name="Google Shape;6394;p4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95" name="Google Shape;6395;p4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96" name="Google Shape;6396;p4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$-341</a:t>
            </a:r>
            <a:endParaRPr/>
          </a:p>
        </p:txBody>
      </p:sp>
      <p:sp>
        <p:nvSpPr>
          <p:cNvPr id="6397" name="Google Shape;6397;p4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8" name="Google Shape;6398;p4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99" name="Google Shape;6399;p4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00" name="Google Shape;6400;p4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01" name="Google Shape;6401;p4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02" name="Google Shape;6402;p4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03" name="Google Shape;6403;p4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04" name="Google Shape;6404;p4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5" name="Google Shape;6405;p4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406" name="Google Shape;6406;p4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6407" name="Google Shape;6407;p4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08" name="Google Shape;6408;p4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09" name="Google Shape;6409;p4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6410" name="Google Shape;6410;p4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$-341</a:t>
            </a:r>
            <a:endParaRPr/>
          </a:p>
        </p:txBody>
      </p:sp>
      <p:sp>
        <p:nvSpPr>
          <p:cNvPr id="6411" name="Google Shape;6411;p4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2" name="Google Shape;6412;p4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413" name="Google Shape;6413;p4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14" name="Google Shape;6414;p4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415" name="Google Shape;6415;p4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416" name="Google Shape;6416;p4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417" name="Google Shape;6417;p4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18" name="Google Shape;6418;p4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19" name="Google Shape;6419;p4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0" name="Google Shape;6420;p4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421" name="Google Shape;6421;p4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422" name="Google Shape;6422;p4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23" name="Google Shape;6423;p4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424" name="Google Shape;6424;p4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25" name="Google Shape;6425;p4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6426" name="Google Shape;6426;p4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7" name="Google Shape;6427;p4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428" name="Google Shape;6428;p4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429" name="Google Shape;6429;p4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30" name="Google Shape;6430;p4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431" name="Google Shape;6431;p4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32" name="Google Shape;6432;p4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33" name="Google Shape;6433;p4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4" name="Google Shape;6434;p4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435" name="Google Shape;6435;p4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36" name="Google Shape;6436;p4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37" name="Google Shape;6437;p4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38" name="Google Shape;6438;p4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39" name="Google Shape;6439;p4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40" name="Google Shape;6440;p4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1" name="Google Shape;6441;p4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442" name="Google Shape;6442;p4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43" name="Google Shape;6443;p4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44" name="Google Shape;6444;p4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45" name="Google Shape;6445;p4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46" name="Google Shape;6446;p4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47" name="Google Shape;6447;p4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8" name="Google Shape;6448;p4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449" name="Google Shape;6449;p4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50" name="Google Shape;6450;p4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51" name="Google Shape;6451;p4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52" name="Google Shape;6452;p4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53" name="Google Shape;6453;p4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54" name="Google Shape;6454;p4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5" name="Google Shape;6455;p4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456" name="Google Shape;6456;p4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457" name="Google Shape;6457;p4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58" name="Google Shape;6458;p4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459" name="Google Shape;6459;p4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60" name="Google Shape;6460;p4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61" name="Google Shape;6461;p4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2" name="Google Shape;6462;p4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463" name="Google Shape;6463;p4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464" name="Google Shape;6464;p4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465" name="Google Shape;6465;p4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466" name="Google Shape;6466;p4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467" name="Google Shape;6467;p4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468" name="Google Shape;6468;p4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469" name="Google Shape;6469;p4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470" name="Google Shape;6470;p4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471" name="Google Shape;6471;p4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472" name="Google Shape;6472;p4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473" name="Google Shape;6473;p4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474" name="Google Shape;6474;p4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475" name="Google Shape;6475;p4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476" name="Google Shape;6476;p4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77" name="Google Shape;6477;p4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478" name="Google Shape;6478;p4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479" name="Google Shape;6479;p4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480" name="Google Shape;6480;p4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481" name="Google Shape;6481;p4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482" name="Google Shape;6482;p4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83" name="Google Shape;6483;p4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484" name="Google Shape;6484;p4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85" name="Google Shape;6485;p4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486" name="Google Shape;6486;p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87" name="Google Shape;6487;p4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6488" name="Google Shape;6488;p4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489" name="Google Shape;6489;p4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490" name="Google Shape;6490;p4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6491" name="Google Shape;6491;p4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6492" name="Google Shape;6492;p4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3" name="Google Shape;6493;p4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4" name="Google Shape;6494;p4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6495" name="Google Shape;6495;p4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6" name="Google Shape;6496;p4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497" name="Google Shape;6497;p4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8" name="Google Shape;6498;p4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6499" name="Google Shape;6499;p4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0" name="Google Shape;6500;p4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6501" name="Google Shape;6501;p4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6502" name="Google Shape;6502;p4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3" name="Google Shape;6503;p4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504" name="Google Shape;6504;p4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505" name="Google Shape;6505;p4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 YTD gross written premium</a:t>
            </a:r>
            <a:endParaRPr/>
          </a:p>
        </p:txBody>
      </p:sp>
      <p:sp>
        <p:nvSpPr>
          <p:cNvPr id="6506" name="Google Shape;6506;p4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507" name="Google Shape;6507;p4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 submissions - highly active agency</a:t>
            </a:r>
            <a:endParaRPr/>
          </a:p>
        </p:txBody>
      </p:sp>
      <p:sp>
        <p:nvSpPr>
          <p:cNvPr id="6508" name="Google Shape;6508;p4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9" name="Google Shape;6509;p4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510" name="Google Shape;6510;p4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511" name="Google Shape;6511;p4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 submissions with zero binds - zero conversion</a:t>
            </a:r>
            <a:endParaRPr/>
          </a:p>
        </p:txBody>
      </p:sp>
      <p:sp>
        <p:nvSpPr>
          <p:cNvPr id="6512" name="Google Shape;6512;p4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513" name="Google Shape;6513;p4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6514" name="Google Shape;6514;p4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5" name="Google Shape;6515;p4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516" name="Google Shape;6516;p4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517" name="Google Shape;6517;p4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22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518" name="Google Shape;6518;p4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519" name="Google Shape;6519;p4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23" name="Shape 6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4" name="Google Shape;6524;p4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5" name="Google Shape;6525;p4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Relation Insurance Services Of North Carolina, Inc.</a:t>
            </a:r>
            <a:endParaRPr/>
          </a:p>
        </p:txBody>
      </p:sp>
      <p:sp>
        <p:nvSpPr>
          <p:cNvPr id="6526" name="Google Shape;6526;p4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NC  |  City: Charlotte</a:t>
            </a:r>
            <a:endParaRPr/>
          </a:p>
        </p:txBody>
      </p:sp>
      <p:sp>
        <p:nvSpPr>
          <p:cNvPr id="6527" name="Google Shape;6527;p4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528" name="Google Shape;6528;p4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529" name="Google Shape;6529;p4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530" name="Google Shape;6530;p4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531" name="Google Shape;6531;p4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532" name="Google Shape;6532;p4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533" name="Google Shape;6533;p4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534" name="Google Shape;6534;p4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535" name="Google Shape;6535;p4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536" name="Google Shape;6536;p4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37" name="Google Shape;6537;p4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38" name="Google Shape;6538;p4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539" name="Google Shape;6539;p4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540" name="Google Shape;6540;p4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1" name="Google Shape;6541;p4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542" name="Google Shape;6542;p4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43" name="Google Shape;6543;p4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544" name="Google Shape;6544;p4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545" name="Google Shape;6545;p4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546" name="Google Shape;6546;p4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547" name="Google Shape;6547;p4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548" name="Google Shape;6548;p4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9" name="Google Shape;6549;p4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50" name="Google Shape;6550;p4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1" name="Google Shape;6551;p4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2" name="Google Shape;6552;p4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3" name="Google Shape;6553;p4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4" name="Google Shape;6554;p4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5" name="Google Shape;6555;p4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6" name="Google Shape;6556;p4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57" name="Google Shape;6557;p4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8" name="Google Shape;6558;p4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9" name="Google Shape;6559;p4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0" name="Google Shape;6560;p4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1" name="Google Shape;6561;p4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2" name="Google Shape;6562;p4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3" name="Google Shape;6563;p4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64" name="Google Shape;6564;p4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565" name="Google Shape;6565;p4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6" name="Google Shape;6566;p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7" name="Google Shape;6567;p4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568" name="Google Shape;6568;p4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9" name="Google Shape;6569;p4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0" name="Google Shape;6570;p4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71" name="Google Shape;6571;p4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2" name="Google Shape;6572;p4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3" name="Google Shape;6573;p4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4" name="Google Shape;6574;p4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5" name="Google Shape;6575;p4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</a:t>
            </a:r>
            <a:endParaRPr/>
          </a:p>
        </p:txBody>
      </p:sp>
      <p:sp>
        <p:nvSpPr>
          <p:cNvPr id="6576" name="Google Shape;6576;p4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7" name="Google Shape;6577;p4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78" name="Google Shape;6578;p4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9" name="Google Shape;6579;p4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80" name="Google Shape;6580;p4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81" name="Google Shape;6581;p4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82" name="Google Shape;6582;p4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83" name="Google Shape;6583;p4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4" name="Google Shape;6584;p4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85" name="Google Shape;6585;p4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586" name="Google Shape;6586;p4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87" name="Google Shape;6587;p4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88" name="Google Shape;6588;p4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589" name="Google Shape;6589;p4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</a:t>
            </a:r>
            <a:endParaRPr/>
          </a:p>
        </p:txBody>
      </p:sp>
      <p:sp>
        <p:nvSpPr>
          <p:cNvPr id="6590" name="Google Shape;6590;p4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1" name="Google Shape;6591;p4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592" name="Google Shape;6592;p4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93" name="Google Shape;6593;p4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594" name="Google Shape;6594;p4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595" name="Google Shape;6595;p4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596" name="Google Shape;6596;p4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97" name="Google Shape;6597;p4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98" name="Google Shape;6598;p4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9" name="Google Shape;6599;p4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00" name="Google Shape;6600;p4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01" name="Google Shape;6601;p4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02" name="Google Shape;6602;p4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03" name="Google Shape;6603;p4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04" name="Google Shape;6604;p4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05" name="Google Shape;6605;p4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6" name="Google Shape;6606;p4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07" name="Google Shape;6607;p4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08" name="Google Shape;6608;p4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609" name="Google Shape;6609;p4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610" name="Google Shape;6610;p4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11" name="Google Shape;6611;p4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12" name="Google Shape;6612;p4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3" name="Google Shape;6613;p4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614" name="Google Shape;6614;p4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615" name="Google Shape;6615;p4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16" name="Google Shape;6616;p4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617" name="Google Shape;6617;p4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618" name="Google Shape;6618;p4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6619" name="Google Shape;6619;p4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0" name="Google Shape;6620;p4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621" name="Google Shape;6621;p4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22" name="Google Shape;6622;p4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23" name="Google Shape;6623;p4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24" name="Google Shape;6624;p4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25" name="Google Shape;6625;p4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26" name="Google Shape;6626;p4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7" name="Google Shape;6627;p4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628" name="Google Shape;6628;p4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29" name="Google Shape;6629;p4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30" name="Google Shape;6630;p4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31" name="Google Shape;6631;p4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32" name="Google Shape;6632;p4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33" name="Google Shape;6633;p4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4" name="Google Shape;6634;p4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635" name="Google Shape;6635;p4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636" name="Google Shape;6636;p4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637" name="Google Shape;6637;p4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6638" name="Google Shape;6638;p4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39" name="Google Shape;6639;p4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40" name="Google Shape;6640;p4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1" name="Google Shape;6641;p4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642" name="Google Shape;6642;p4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643" name="Google Shape;6643;p4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644" name="Google Shape;6644;p4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645" name="Google Shape;6645;p4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646" name="Google Shape;6646;p4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647" name="Google Shape;6647;p4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648" name="Google Shape;6648;p4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649" name="Google Shape;6649;p4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650" name="Google Shape;6650;p4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651" name="Google Shape;6651;p4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652" name="Google Shape;6652;p4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653" name="Google Shape;6653;p4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654" name="Google Shape;6654;p4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655" name="Google Shape;6655;p4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56" name="Google Shape;6656;p4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657" name="Google Shape;6657;p4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58" name="Google Shape;6658;p4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59" name="Google Shape;6659;p4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60" name="Google Shape;6660;p4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661" name="Google Shape;6661;p4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662" name="Google Shape;6662;p4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63" name="Google Shape;6663;p4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64" name="Google Shape;6664;p4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65" name="Google Shape;6665;p4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66" name="Google Shape;6666;p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667" name="Google Shape;6667;p4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6668" name="Google Shape;6668;p4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669" name="Google Shape;6669;p4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0" name="Google Shape;6670;p4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1" name="Google Shape;6671;p4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2" name="Google Shape;6672;p4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3" name="Google Shape;6673;p4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4" name="Google Shape;6674;p4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675" name="Google Shape;6675;p4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6676" name="Google Shape;6676;p4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7" name="Google Shape;6677;p4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8" name="Google Shape;6678;p4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9" name="Google Shape;6679;p4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6680" name="Google Shape;6680;p4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681" name="Google Shape;6681;p4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2" name="Google Shape;6682;p4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683" name="Google Shape;6683;p4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84" name="Google Shape;6684;p4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 YTD gross written premium</a:t>
            </a:r>
            <a:endParaRPr/>
          </a:p>
        </p:txBody>
      </p:sp>
      <p:sp>
        <p:nvSpPr>
          <p:cNvPr id="6685" name="Google Shape;6685;p4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86" name="Google Shape;6686;p4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 submissions - highly active agency</a:t>
            </a:r>
            <a:endParaRPr/>
          </a:p>
        </p:txBody>
      </p:sp>
      <p:sp>
        <p:nvSpPr>
          <p:cNvPr id="6687" name="Google Shape;6687;p4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8" name="Google Shape;6688;p4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689" name="Google Shape;6689;p4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90" name="Google Shape;6690;p4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 submissions with zero binds - zero conversion</a:t>
            </a:r>
            <a:endParaRPr/>
          </a:p>
        </p:txBody>
      </p:sp>
      <p:sp>
        <p:nvSpPr>
          <p:cNvPr id="6691" name="Google Shape;6691;p4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92" name="Google Shape;6692;p4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6693" name="Google Shape;6693;p4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4" name="Google Shape;6694;p4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695" name="Google Shape;6695;p4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696" name="Google Shape;6696;p4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29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697" name="Google Shape;6697;p4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698" name="Google Shape;6698;p4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21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02" name="Shape 6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3" name="Google Shape;6703;p4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4" name="Google Shape;6704;p4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Allcom Insurance Corporation</a:t>
            </a:r>
            <a:endParaRPr/>
          </a:p>
        </p:txBody>
      </p:sp>
      <p:sp>
        <p:nvSpPr>
          <p:cNvPr id="6705" name="Google Shape;6705;p4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Sunrise</a:t>
            </a:r>
            <a:endParaRPr/>
          </a:p>
        </p:txBody>
      </p:sp>
      <p:sp>
        <p:nvSpPr>
          <p:cNvPr id="6706" name="Google Shape;6706;p4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707" name="Google Shape;6707;p4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708" name="Google Shape;6708;p4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09" name="Google Shape;6709;p4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710" name="Google Shape;6710;p4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711" name="Google Shape;6711;p4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712" name="Google Shape;6712;p4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713" name="Google Shape;6713;p4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714" name="Google Shape;6714;p4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715" name="Google Shape;6715;p4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16" name="Google Shape;6716;p4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17" name="Google Shape;6717;p4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718" name="Google Shape;6718;p4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719" name="Google Shape;6719;p4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0" name="Google Shape;6720;p4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721" name="Google Shape;6721;p4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22" name="Google Shape;6722;p4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723" name="Google Shape;6723;p4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724" name="Google Shape;6724;p4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25" name="Google Shape;6725;p4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726" name="Google Shape;6726;p4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727" name="Google Shape;6727;p4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8" name="Google Shape;6728;p4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29" name="Google Shape;6729;p4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0" name="Google Shape;6730;p4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1" name="Google Shape;6731;p4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2" name="Google Shape;6732;p4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3" name="Google Shape;6733;p4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4" name="Google Shape;6734;p4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5" name="Google Shape;6735;p4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36" name="Google Shape;6736;p4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7" name="Google Shape;6737;p4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8" name="Google Shape;6738;p4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9" name="Google Shape;6739;p4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0" name="Google Shape;6740;p4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1" name="Google Shape;6741;p4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2" name="Google Shape;6742;p4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43" name="Google Shape;6743;p4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4" name="Google Shape;6744;p4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5" name="Google Shape;6745;p4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6" name="Google Shape;6746;p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7" name="Google Shape;6747;p4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48" name="Google Shape;6748;p4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9" name="Google Shape;6749;p4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50" name="Google Shape;6750;p4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1" name="Google Shape;6751;p4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2" name="Google Shape;6752;p4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3" name="Google Shape;6753;p4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4" name="Google Shape;6754;p4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5" name="Google Shape;6755;p4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6" name="Google Shape;6756;p4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57" name="Google Shape;6757;p4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8" name="Google Shape;6758;p4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9" name="Google Shape;6759;p4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0" name="Google Shape;6760;p4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1" name="Google Shape;6761;p4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2" name="Google Shape;6762;p4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3" name="Google Shape;6763;p4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64" name="Google Shape;6764;p4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5" name="Google Shape;6765;p4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6" name="Google Shape;6766;p4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7" name="Google Shape;6767;p4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8" name="Google Shape;6768;p4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9" name="Google Shape;6769;p4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0" name="Google Shape;6770;p4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771" name="Google Shape;6771;p4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72" name="Google Shape;6772;p4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73" name="Google Shape;6773;p4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774" name="Google Shape;6774;p4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775" name="Google Shape;6775;p4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76" name="Google Shape;6776;p4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77" name="Google Shape;6777;p4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8" name="Google Shape;6778;p4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79" name="Google Shape;6779;p4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0" name="Google Shape;6780;p4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1" name="Google Shape;6781;p4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2" name="Google Shape;6782;p4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3" name="Google Shape;6783;p4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84" name="Google Shape;6784;p4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5" name="Google Shape;6785;p4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86" name="Google Shape;6786;p4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7" name="Google Shape;6787;p4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8" name="Google Shape;6788;p4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9" name="Google Shape;6789;p4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90" name="Google Shape;6790;p4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91" name="Google Shape;6791;p4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2" name="Google Shape;6792;p4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93" name="Google Shape;6793;p4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94" name="Google Shape;6794;p4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95" name="Google Shape;6795;p4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96" name="Google Shape;6796;p4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97" name="Google Shape;6797;p4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98" name="Google Shape;6798;p4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9" name="Google Shape;6799;p4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800" name="Google Shape;6800;p4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01" name="Google Shape;6801;p4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02" name="Google Shape;6802;p4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03" name="Google Shape;6803;p4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04" name="Google Shape;6804;p4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05" name="Google Shape;6805;p4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6" name="Google Shape;6806;p4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807" name="Google Shape;6807;p4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808" name="Google Shape;6808;p4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09" name="Google Shape;6809;p4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810" name="Google Shape;6810;p4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11" name="Google Shape;6811;p4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12" name="Google Shape;6812;p4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3" name="Google Shape;6813;p4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814" name="Google Shape;6814;p4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815" name="Google Shape;6815;p4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16" name="Google Shape;6816;p4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817" name="Google Shape;6817;p4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18" name="Google Shape;6818;p4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19" name="Google Shape;6819;p4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0" name="Google Shape;6820;p4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821" name="Google Shape;6821;p4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822" name="Google Shape;6822;p4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823" name="Google Shape;6823;p4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824" name="Google Shape;6824;p4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825" name="Google Shape;6825;p4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826" name="Google Shape;6826;p4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827" name="Google Shape;6827;p4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828" name="Google Shape;6828;p4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829" name="Google Shape;6829;p4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830" name="Google Shape;6830;p4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831" name="Google Shape;6831;p4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832" name="Google Shape;6832;p4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833" name="Google Shape;6833;p4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834" name="Google Shape;6834;p4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35" name="Google Shape;6835;p4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36" name="Google Shape;6836;p4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37" name="Google Shape;6837;p4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38" name="Google Shape;6838;p4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39" name="Google Shape;6839;p4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40" name="Google Shape;6840;p4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41" name="Google Shape;6841;p4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42" name="Google Shape;6842;p4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43" name="Google Shape;6843;p4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44" name="Google Shape;6844;p4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845" name="Google Shape;6845;p4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46" name="Google Shape;6846;p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847" name="Google Shape;6847;p4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848" name="Google Shape;6848;p4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9" name="Google Shape;6849;p4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0" name="Google Shape;6850;p4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1" name="Google Shape;6851;p4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2" name="Google Shape;6852;p4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3" name="Google Shape;6853;p4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4" name="Google Shape;6854;p4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5" name="Google Shape;6855;p4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6" name="Google Shape;6856;p4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7" name="Google Shape;6857;p4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8" name="Google Shape;6858;p4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9" name="Google Shape;6859;p4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0" name="Google Shape;6860;p4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1" name="Google Shape;6861;p4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862" name="Google Shape;6862;p4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863" name="Google Shape;6863;p4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quotes generated - active in pipeline</a:t>
            </a:r>
            <a:endParaRPr/>
          </a:p>
        </p:txBody>
      </p:sp>
      <p:sp>
        <p:nvSpPr>
          <p:cNvPr id="6864" name="Google Shape;6864;p4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5" name="Google Shape;6865;p4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866" name="Google Shape;6866;p4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867" name="Google Shape;6867;p4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7 submissions</a:t>
            </a:r>
            <a:endParaRPr/>
          </a:p>
        </p:txBody>
      </p:sp>
      <p:sp>
        <p:nvSpPr>
          <p:cNvPr id="6868" name="Google Shape;6868;p4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869" name="Google Shape;6869;p4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6870" name="Google Shape;6870;p4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1" name="Google Shape;6871;p4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872" name="Google Shape;6872;p4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873" name="Google Shape;6873;p4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77" name="Shape 6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8" name="Google Shape;6878;p4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9" name="Google Shape;6879;p4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Beloved Insurance Agency Llc Dba Sebanda Insurance</a:t>
            </a:r>
            <a:endParaRPr/>
          </a:p>
        </p:txBody>
      </p:sp>
      <p:sp>
        <p:nvSpPr>
          <p:cNvPr id="6880" name="Google Shape;6880;p4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Hialeah</a:t>
            </a:r>
            <a:endParaRPr/>
          </a:p>
        </p:txBody>
      </p:sp>
      <p:sp>
        <p:nvSpPr>
          <p:cNvPr id="6881" name="Google Shape;6881;p4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882" name="Google Shape;6882;p4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83" name="Google Shape;6883;p4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84" name="Google Shape;6884;p4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85" name="Google Shape;6885;p4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86" name="Google Shape;6886;p4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887" name="Google Shape;6887;p4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888" name="Google Shape;6888;p4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889" name="Google Shape;6889;p4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90" name="Google Shape;6890;p4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91" name="Google Shape;6891;p4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92" name="Google Shape;6892;p4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893" name="Google Shape;6893;p4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894" name="Google Shape;6894;p4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5" name="Google Shape;6895;p4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896" name="Google Shape;6896;p4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97" name="Google Shape;6897;p4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898" name="Google Shape;6898;p4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99" name="Google Shape;6899;p4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900" name="Google Shape;6900;p4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901" name="Google Shape;6901;p4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902" name="Google Shape;6902;p4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3" name="Google Shape;6903;p4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904" name="Google Shape;6904;p4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5" name="Google Shape;6905;p4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6" name="Google Shape;6906;p4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7" name="Google Shape;6907;p4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8" name="Google Shape;6908;p4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9" name="Google Shape;6909;p4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0" name="Google Shape;6910;p4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11" name="Google Shape;6911;p4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2" name="Google Shape;6912;p4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3" name="Google Shape;6913;p4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4" name="Google Shape;6914;p4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5" name="Google Shape;6915;p4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6" name="Google Shape;6916;p4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7" name="Google Shape;6917;p4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18" name="Google Shape;6918;p4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9" name="Google Shape;6919;p4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0" name="Google Shape;6920;p4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1" name="Google Shape;6921;p4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2" name="Google Shape;6922;p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3" name="Google Shape;6923;p4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4" name="Google Shape;6924;p4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25" name="Google Shape;6925;p4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6" name="Google Shape;6926;p4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7" name="Google Shape;6927;p4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8" name="Google Shape;6928;p4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9" name="Google Shape;6929;p4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30" name="Google Shape;6930;p4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1" name="Google Shape;6931;p4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32" name="Google Shape;6932;p4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33" name="Google Shape;6933;p4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34" name="Google Shape;6934;p4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35" name="Google Shape;6935;p4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36" name="Google Shape;6936;p4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37" name="Google Shape;6937;p4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8" name="Google Shape;6938;p4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39" name="Google Shape;6939;p4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40" name="Google Shape;6940;p4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41" name="Google Shape;6941;p4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42" name="Google Shape;6942;p4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43" name="Google Shape;6943;p4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44" name="Google Shape;6944;p4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5" name="Google Shape;6945;p4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946" name="Google Shape;6946;p4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947" name="Google Shape;6947;p4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948" name="Google Shape;6948;p4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949" name="Google Shape;6949;p4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950" name="Google Shape;6950;p4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951" name="Google Shape;6951;p4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952" name="Google Shape;6952;p4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3" name="Google Shape;6953;p4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954" name="Google Shape;6954;p4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5" name="Google Shape;6955;p4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6" name="Google Shape;6956;p4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7" name="Google Shape;6957;p4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8" name="Google Shape;6958;p4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59" name="Google Shape;6959;p4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0" name="Google Shape;6960;p4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61" name="Google Shape;6961;p4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62" name="Google Shape;6962;p4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3" name="Google Shape;6963;p4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64" name="Google Shape;6964;p4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5" name="Google Shape;6965;p4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66" name="Google Shape;6966;p4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7" name="Google Shape;6967;p4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68" name="Google Shape;6968;p4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69" name="Google Shape;6969;p4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70" name="Google Shape;6970;p4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71" name="Google Shape;6971;p4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72" name="Google Shape;6972;p4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73" name="Google Shape;6973;p4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4" name="Google Shape;6974;p4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75" name="Google Shape;6975;p4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76" name="Google Shape;6976;p4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77" name="Google Shape;6977;p4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78" name="Google Shape;6978;p4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79" name="Google Shape;6979;p4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80" name="Google Shape;6980;p4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1" name="Google Shape;6981;p4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82" name="Google Shape;6982;p4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83" name="Google Shape;6983;p4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84" name="Google Shape;6984;p4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85" name="Google Shape;6985;p4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86" name="Google Shape;6986;p4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87" name="Google Shape;6987;p4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8" name="Google Shape;6988;p4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89" name="Google Shape;6989;p4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990" name="Google Shape;6990;p4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91" name="Google Shape;6991;p4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992" name="Google Shape;6992;p4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93" name="Google Shape;6993;p4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94" name="Google Shape;6994;p4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5" name="Google Shape;6995;p4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996" name="Google Shape;6996;p4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997" name="Google Shape;6997;p4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998" name="Google Shape;6998;p4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999" name="Google Shape;6999;p4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000" name="Google Shape;7000;p4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001" name="Google Shape;7001;p4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002" name="Google Shape;7002;p4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003" name="Google Shape;7003;p4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004" name="Google Shape;7004;p4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005" name="Google Shape;7005;p4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006" name="Google Shape;7006;p4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007" name="Google Shape;7007;p4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008" name="Google Shape;7008;p4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009" name="Google Shape;7009;p4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10" name="Google Shape;7010;p4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11" name="Google Shape;7011;p4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12" name="Google Shape;7012;p4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13" name="Google Shape;7013;p4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014" name="Google Shape;7014;p4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15" name="Google Shape;7015;p4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16" name="Google Shape;7016;p4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17" name="Google Shape;7017;p4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18" name="Google Shape;7018;p4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19" name="Google Shape;7019;p4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020" name="Google Shape;7020;p4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21" name="Google Shape;7021;p4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022" name="Google Shape;7022;p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023" name="Google Shape;7023;p4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4" name="Google Shape;7024;p4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5" name="Google Shape;7025;p4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6" name="Google Shape;7026;p4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7" name="Google Shape;7027;p4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8" name="Google Shape;7028;p4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9" name="Google Shape;7029;p4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0" name="Google Shape;7030;p4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1" name="Google Shape;7031;p4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2" name="Google Shape;7032;p4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3" name="Google Shape;7033;p4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4" name="Google Shape;7034;p4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5" name="Google Shape;7035;p4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6" name="Google Shape;7036;p4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037" name="Google Shape;7037;p4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038" name="Google Shape;7038;p4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quotes generated - active in pipeline</a:t>
            </a:r>
            <a:endParaRPr/>
          </a:p>
        </p:txBody>
      </p:sp>
      <p:sp>
        <p:nvSpPr>
          <p:cNvPr id="7039" name="Google Shape;7039;p4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0" name="Google Shape;7040;p4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041" name="Google Shape;7041;p4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042" name="Google Shape;7042;p4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14 submissions</a:t>
            </a:r>
            <a:endParaRPr/>
          </a:p>
        </p:txBody>
      </p:sp>
      <p:sp>
        <p:nvSpPr>
          <p:cNvPr id="7043" name="Google Shape;7043;p4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044" name="Google Shape;7044;p4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submissions with zero binds - zero conversion</a:t>
            </a:r>
            <a:endParaRPr/>
          </a:p>
        </p:txBody>
      </p:sp>
      <p:sp>
        <p:nvSpPr>
          <p:cNvPr id="7045" name="Google Shape;7045;p4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6" name="Google Shape;7046;p4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047" name="Google Shape;7047;p4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048" name="Google Shape;7048;p4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049" name="Google Shape;7049;p4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050" name="Google Shape;7050;p4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10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054" name="Shape 7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5" name="Google Shape;7055;p4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6" name="Google Shape;7056;p4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Camp Insurance Llc</a:t>
            </a:r>
            <a:endParaRPr/>
          </a:p>
        </p:txBody>
      </p:sp>
      <p:sp>
        <p:nvSpPr>
          <p:cNvPr id="7057" name="Google Shape;7057;p4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N/A  |  City: N/A</a:t>
            </a:r>
            <a:endParaRPr/>
          </a:p>
        </p:txBody>
      </p:sp>
      <p:sp>
        <p:nvSpPr>
          <p:cNvPr id="7058" name="Google Shape;7058;p4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059" name="Google Shape;7059;p4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60" name="Google Shape;7060;p4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61" name="Google Shape;7061;p4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62" name="Google Shape;7062;p4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63" name="Google Shape;7063;p4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064" name="Google Shape;7064;p4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065" name="Google Shape;7065;p4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066" name="Google Shape;7066;p4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67" name="Google Shape;7067;p4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68" name="Google Shape;7068;p4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69" name="Google Shape;7069;p4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070" name="Google Shape;7070;p4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071" name="Google Shape;7071;p4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2" name="Google Shape;7072;p4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073" name="Google Shape;7073;p4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74" name="Google Shape;7074;p4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075" name="Google Shape;7075;p4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76" name="Google Shape;7076;p4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77" name="Google Shape;7077;p4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78" name="Google Shape;7078;p4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79" name="Google Shape;7079;p4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0" name="Google Shape;7080;p4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81" name="Google Shape;7081;p4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2" name="Google Shape;7082;p4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3" name="Google Shape;7083;p4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4" name="Google Shape;7084;p4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5" name="Google Shape;7085;p4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6" name="Google Shape;7086;p4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7" name="Google Shape;7087;p4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88" name="Google Shape;7088;p4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9" name="Google Shape;7089;p4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0" name="Google Shape;7090;p4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1" name="Google Shape;7091;p4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2" name="Google Shape;7092;p4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3" name="Google Shape;7093;p4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4" name="Google Shape;7094;p4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95" name="Google Shape;7095;p4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6" name="Google Shape;7096;p4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7" name="Google Shape;7097;p4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8" name="Google Shape;7098;p4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9" name="Google Shape;7099;p4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0" name="Google Shape;7100;p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1" name="Google Shape;7101;p4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02" name="Google Shape;7102;p4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3" name="Google Shape;7103;p4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4" name="Google Shape;7104;p4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5" name="Google Shape;7105;p4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6" name="Google Shape;7106;p4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7" name="Google Shape;7107;p4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8" name="Google Shape;7108;p4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09" name="Google Shape;7109;p4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0" name="Google Shape;7110;p4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1" name="Google Shape;7111;p4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2" name="Google Shape;7112;p4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3" name="Google Shape;7113;p4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4" name="Google Shape;7114;p4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5" name="Google Shape;7115;p4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16" name="Google Shape;7116;p4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7" name="Google Shape;7117;p4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8" name="Google Shape;7118;p4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9" name="Google Shape;7119;p4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20" name="Google Shape;7120;p4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21" name="Google Shape;7121;p4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2" name="Google Shape;7122;p4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123" name="Google Shape;7123;p4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124" name="Google Shape;7124;p4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125" name="Google Shape;7125;p4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126" name="Google Shape;7126;p4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127" name="Google Shape;7127;p4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128" name="Google Shape;7128;p4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129" name="Google Shape;7129;p4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0" name="Google Shape;7130;p4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131" name="Google Shape;7131;p4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2" name="Google Shape;7132;p4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3" name="Google Shape;7133;p4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4" name="Google Shape;7134;p4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5" name="Google Shape;7135;p4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36" name="Google Shape;7136;p4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7" name="Google Shape;7137;p4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138" name="Google Shape;7138;p4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9" name="Google Shape;7139;p4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0" name="Google Shape;7140;p4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1" name="Google Shape;7141;p4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2" name="Google Shape;7142;p4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43" name="Google Shape;7143;p4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4" name="Google Shape;7144;p4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145" name="Google Shape;7145;p4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46" name="Google Shape;7146;p4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7" name="Google Shape;7147;p4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48" name="Google Shape;7148;p4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9" name="Google Shape;7149;p4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50" name="Google Shape;7150;p4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1" name="Google Shape;7151;p4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52" name="Google Shape;7152;p4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53" name="Google Shape;7153;p4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54" name="Google Shape;7154;p4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55" name="Google Shape;7155;p4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56" name="Google Shape;7156;p4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57" name="Google Shape;7157;p4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8" name="Google Shape;7158;p4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59" name="Google Shape;7159;p4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60" name="Google Shape;7160;p4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61" name="Google Shape;7161;p4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62" name="Google Shape;7162;p4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63" name="Google Shape;7163;p4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64" name="Google Shape;7164;p4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5" name="Google Shape;7165;p4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66" name="Google Shape;7166;p4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67" name="Google Shape;7167;p4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68" name="Google Shape;7168;p4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69" name="Google Shape;7169;p4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70" name="Google Shape;7170;p4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71" name="Google Shape;7171;p4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2" name="Google Shape;7172;p4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173" name="Google Shape;7173;p4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174" name="Google Shape;7174;p4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175" name="Google Shape;7175;p4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176" name="Google Shape;7176;p4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177" name="Google Shape;7177;p4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178" name="Google Shape;7178;p4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179" name="Google Shape;7179;p4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180" name="Google Shape;7180;p4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181" name="Google Shape;7181;p4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182" name="Google Shape;7182;p4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183" name="Google Shape;7183;p4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184" name="Google Shape;7184;p4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185" name="Google Shape;7185;p4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186" name="Google Shape;7186;p4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87" name="Google Shape;7187;p4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88" name="Google Shape;7188;p4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89" name="Google Shape;7189;p4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90" name="Google Shape;7190;p4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91" name="Google Shape;7191;p4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92" name="Google Shape;7192;p4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93" name="Google Shape;7193;p4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94" name="Google Shape;7194;p4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95" name="Google Shape;7195;p4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96" name="Google Shape;7196;p4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97" name="Google Shape;7197;p4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98" name="Google Shape;7198;p4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99" name="Google Shape;7199;p4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200" name="Google Shape;7200;p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1" name="Google Shape;7201;p4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2" name="Google Shape;7202;p4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3" name="Google Shape;7203;p4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4" name="Google Shape;7204;p4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5" name="Google Shape;7205;p4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6" name="Google Shape;7206;p4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7" name="Google Shape;7207;p4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8" name="Google Shape;7208;p4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9" name="Google Shape;7209;p4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0" name="Google Shape;7210;p4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1" name="Google Shape;7211;p4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2" name="Google Shape;7212;p4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3" name="Google Shape;7213;p4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214" name="Google Shape;7214;p4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215" name="Google Shape;7215;p4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7216" name="Google Shape;7216;p4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7" name="Google Shape;7217;p4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218" name="Google Shape;7218;p4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219" name="Google Shape;7219;p4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7220" name="Google Shape;7220;p4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1" name="Google Shape;7221;p4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222" name="Google Shape;7222;p4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223" name="Google Shape;7223;p4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224" name="Google Shape;7224;p4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225" name="Google Shape;7225;p4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29" name="Shape 7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0" name="Google Shape;7230;p4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1" name="Google Shape;7231;p4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Casa Insurance Services</a:t>
            </a:r>
            <a:endParaRPr/>
          </a:p>
        </p:txBody>
      </p:sp>
      <p:sp>
        <p:nvSpPr>
          <p:cNvPr id="7232" name="Google Shape;7232;p4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Miami</a:t>
            </a:r>
            <a:endParaRPr/>
          </a:p>
        </p:txBody>
      </p:sp>
      <p:sp>
        <p:nvSpPr>
          <p:cNvPr id="7233" name="Google Shape;7233;p4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234" name="Google Shape;7234;p4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235" name="Google Shape;7235;p4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236" name="Google Shape;7236;p4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237" name="Google Shape;7237;p4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238" name="Google Shape;7238;p4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239" name="Google Shape;7239;p4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240" name="Google Shape;7240;p4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241" name="Google Shape;7241;p4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242" name="Google Shape;7242;p4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43" name="Google Shape;7243;p4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44" name="Google Shape;7244;p4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245" name="Google Shape;7245;p4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246" name="Google Shape;7246;p4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7" name="Google Shape;7247;p4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248" name="Google Shape;7248;p4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49" name="Google Shape;7249;p4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250" name="Google Shape;7250;p4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251" name="Google Shape;7251;p4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252" name="Google Shape;7252;p4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253" name="Google Shape;7253;p4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254" name="Google Shape;7254;p4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5" name="Google Shape;7255;p4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56" name="Google Shape;7256;p4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7" name="Google Shape;7257;p4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8" name="Google Shape;7258;p4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9" name="Google Shape;7259;p4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0" name="Google Shape;7260;p4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1" name="Google Shape;7261;p4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2" name="Google Shape;7262;p4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63" name="Google Shape;7263;p4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4" name="Google Shape;7264;p4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5" name="Google Shape;7265;p4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6" name="Google Shape;7266;p4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7" name="Google Shape;7267;p4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8" name="Google Shape;7268;p4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9" name="Google Shape;7269;p4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70" name="Google Shape;7270;p4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1" name="Google Shape;7271;p4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2" name="Google Shape;7272;p4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3" name="Google Shape;7273;p4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4" name="Google Shape;7274;p4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5" name="Google Shape;7275;p4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6" name="Google Shape;7276;p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77" name="Google Shape;7277;p4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8" name="Google Shape;7278;p4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79" name="Google Shape;7279;p4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0" name="Google Shape;7280;p4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1" name="Google Shape;7281;p4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2" name="Google Shape;7282;p4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3" name="Google Shape;7283;p4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84" name="Google Shape;7284;p4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5" name="Google Shape;7285;p4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6" name="Google Shape;7286;p4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7" name="Google Shape;7287;p4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8" name="Google Shape;7288;p4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9" name="Google Shape;7289;p4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0" name="Google Shape;7290;p4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91" name="Google Shape;7291;p4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2" name="Google Shape;7292;p4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3" name="Google Shape;7293;p4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4" name="Google Shape;7294;p4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5" name="Google Shape;7295;p4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6" name="Google Shape;7296;p4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7" name="Google Shape;7297;p4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298" name="Google Shape;7298;p4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99" name="Google Shape;7299;p4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300" name="Google Shape;7300;p4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301" name="Google Shape;7301;p4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302" name="Google Shape;7302;p4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303" name="Google Shape;7303;p4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304" name="Google Shape;7304;p4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5" name="Google Shape;7305;p4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306" name="Google Shape;7306;p4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7" name="Google Shape;7307;p4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8" name="Google Shape;7308;p4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9" name="Google Shape;7309;p4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10" name="Google Shape;7310;p4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11" name="Google Shape;7311;p4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2" name="Google Shape;7312;p4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313" name="Google Shape;7313;p4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14" name="Google Shape;7314;p4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15" name="Google Shape;7315;p4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16" name="Google Shape;7316;p4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17" name="Google Shape;7317;p4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18" name="Google Shape;7318;p4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9" name="Google Shape;7319;p4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320" name="Google Shape;7320;p4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1" name="Google Shape;7321;p4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2" name="Google Shape;7322;p4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3" name="Google Shape;7323;p4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4" name="Google Shape;7324;p4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25" name="Google Shape;7325;p4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6" name="Google Shape;7326;p4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27" name="Google Shape;7327;p4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328" name="Google Shape;7328;p4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29" name="Google Shape;7329;p4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30" name="Google Shape;7330;p4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31" name="Google Shape;7331;p4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32" name="Google Shape;7332;p4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3" name="Google Shape;7333;p4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34" name="Google Shape;7334;p4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35" name="Google Shape;7335;p4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36" name="Google Shape;7336;p4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37" name="Google Shape;7337;p4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38" name="Google Shape;7338;p4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39" name="Google Shape;7339;p4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0" name="Google Shape;7340;p4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341" name="Google Shape;7341;p4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342" name="Google Shape;7342;p4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43" name="Google Shape;7343;p4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44" name="Google Shape;7344;p4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45" name="Google Shape;7345;p4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46" name="Google Shape;7346;p4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7" name="Google Shape;7347;p4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348" name="Google Shape;7348;p4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349" name="Google Shape;7349;p4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350" name="Google Shape;7350;p4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351" name="Google Shape;7351;p4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352" name="Google Shape;7352;p4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353" name="Google Shape;7353;p4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354" name="Google Shape;7354;p4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355" name="Google Shape;7355;p4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356" name="Google Shape;7356;p4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357" name="Google Shape;7357;p4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358" name="Google Shape;7358;p4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359" name="Google Shape;7359;p4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360" name="Google Shape;7360;p4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361" name="Google Shape;7361;p4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62" name="Google Shape;7362;p4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363" name="Google Shape;7363;p4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64" name="Google Shape;7364;p4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65" name="Google Shape;7365;p4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66" name="Google Shape;7366;p4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67" name="Google Shape;7367;p4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68" name="Google Shape;7368;p4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69" name="Google Shape;7369;p4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370" name="Google Shape;7370;p4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71" name="Google Shape;7371;p4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72" name="Google Shape;7372;p4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373" name="Google Shape;7373;p4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374" name="Google Shape;7374;p4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375" name="Google Shape;7375;p4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6" name="Google Shape;7376;p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7" name="Google Shape;7377;p4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8" name="Google Shape;7378;p4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9" name="Google Shape;7379;p4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0" name="Google Shape;7380;p4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1" name="Google Shape;7381;p4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2" name="Google Shape;7382;p4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3" name="Google Shape;7383;p4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4" name="Google Shape;7384;p4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5" name="Google Shape;7385;p4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6" name="Google Shape;7386;p4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7" name="Google Shape;7387;p4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8" name="Google Shape;7388;p4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389" name="Google Shape;7389;p4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90" name="Google Shape;7390;p4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7391" name="Google Shape;7391;p4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2" name="Google Shape;7392;p4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393" name="Google Shape;7393;p4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94" name="Google Shape;7394;p4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 submissions</a:t>
            </a:r>
            <a:endParaRPr/>
          </a:p>
        </p:txBody>
      </p:sp>
      <p:sp>
        <p:nvSpPr>
          <p:cNvPr id="7395" name="Google Shape;7395;p4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6" name="Google Shape;7396;p4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397" name="Google Shape;7397;p4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398" name="Google Shape;7398;p4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399" name="Google Shape;7399;p4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400" name="Google Shape;7400;p4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04" name="Shape 7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5" name="Google Shape;7405;p4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6" name="Google Shape;7406;p4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Crosswinds Insurance Agency, Llc</a:t>
            </a:r>
            <a:endParaRPr/>
          </a:p>
        </p:txBody>
      </p:sp>
      <p:sp>
        <p:nvSpPr>
          <p:cNvPr id="7407" name="Google Shape;7407;p4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SC  |  City: Fort Mill</a:t>
            </a:r>
            <a:endParaRPr/>
          </a:p>
        </p:txBody>
      </p:sp>
      <p:sp>
        <p:nvSpPr>
          <p:cNvPr id="7408" name="Google Shape;7408;p4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409" name="Google Shape;7409;p4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410" name="Google Shape;7410;p4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411" name="Google Shape;7411;p4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412" name="Google Shape;7412;p4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413" name="Google Shape;7413;p4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414" name="Google Shape;7414;p4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415" name="Google Shape;7415;p4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416" name="Google Shape;7416;p4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417" name="Google Shape;7417;p4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418" name="Google Shape;7418;p4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419" name="Google Shape;7419;p4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420" name="Google Shape;7420;p4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421" name="Google Shape;7421;p4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2" name="Google Shape;7422;p4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423" name="Google Shape;7423;p4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24" name="Google Shape;7424;p4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425" name="Google Shape;7425;p4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426" name="Google Shape;7426;p4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427" name="Google Shape;7427;p4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428" name="Google Shape;7428;p4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429" name="Google Shape;7429;p4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0" name="Google Shape;7430;p4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31" name="Google Shape;7431;p4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2" name="Google Shape;7432;p4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3" name="Google Shape;7433;p4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4" name="Google Shape;7434;p4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5" name="Google Shape;7435;p4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6" name="Google Shape;7436;p4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7" name="Google Shape;7437;p4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38" name="Google Shape;7438;p4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9" name="Google Shape;7439;p4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0" name="Google Shape;7440;p4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1" name="Google Shape;7441;p4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2" name="Google Shape;7442;p4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3" name="Google Shape;7443;p4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4" name="Google Shape;7444;p4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45" name="Google Shape;7445;p4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6" name="Google Shape;7446;p4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7" name="Google Shape;7447;p4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8" name="Google Shape;7448;p4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9" name="Google Shape;7449;p4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50" name="Google Shape;7450;p4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1" name="Google Shape;7451;p4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52" name="Google Shape;7452;p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53" name="Google Shape;7453;p4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54" name="Google Shape;7454;p4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55" name="Google Shape;7455;p4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56" name="Google Shape;7456;p4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57" name="Google Shape;7457;p4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8" name="Google Shape;7458;p4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59" name="Google Shape;7459;p4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60" name="Google Shape;7460;p4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61" name="Google Shape;7461;p4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62" name="Google Shape;7462;p4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63" name="Google Shape;7463;p4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64" name="Google Shape;7464;p4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5" name="Google Shape;7465;p4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66" name="Google Shape;7466;p4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67" name="Google Shape;7467;p4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68" name="Google Shape;7468;p4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69" name="Google Shape;7469;p4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70" name="Google Shape;7470;p4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71" name="Google Shape;7471;p4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2" name="Google Shape;7472;p4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473" name="Google Shape;7473;p4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74" name="Google Shape;7474;p4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75" name="Google Shape;7475;p4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476" name="Google Shape;7476;p4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477" name="Google Shape;7477;p4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478" name="Google Shape;7478;p4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479" name="Google Shape;7479;p4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0" name="Google Shape;7480;p4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81" name="Google Shape;7481;p4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2" name="Google Shape;7482;p4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3" name="Google Shape;7483;p4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4" name="Google Shape;7484;p4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5" name="Google Shape;7485;p4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86" name="Google Shape;7486;p4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7" name="Google Shape;7487;p4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88" name="Google Shape;7488;p4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489" name="Google Shape;7489;p4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0" name="Google Shape;7490;p4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491" name="Google Shape;7491;p4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2" name="Google Shape;7492;p4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93" name="Google Shape;7493;p4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4" name="Google Shape;7494;p4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95" name="Google Shape;7495;p4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6" name="Google Shape;7496;p4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7" name="Google Shape;7497;p4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8" name="Google Shape;7498;p4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9" name="Google Shape;7499;p4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00" name="Google Shape;7500;p4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1" name="Google Shape;7501;p4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502" name="Google Shape;7502;p4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03" name="Google Shape;7503;p4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04" name="Google Shape;7504;p4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05" name="Google Shape;7505;p4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06" name="Google Shape;7506;p4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07" name="Google Shape;7507;p4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8" name="Google Shape;7508;p4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509" name="Google Shape;7509;p4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10" name="Google Shape;7510;p4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11" name="Google Shape;7511;p4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12" name="Google Shape;7512;p4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13" name="Google Shape;7513;p4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14" name="Google Shape;7514;p4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5" name="Google Shape;7515;p4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516" name="Google Shape;7516;p4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517" name="Google Shape;7517;p4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18" name="Google Shape;7518;p4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519" name="Google Shape;7519;p4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20" name="Google Shape;7520;p4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21" name="Google Shape;7521;p4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2" name="Google Shape;7522;p4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523" name="Google Shape;7523;p4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24" name="Google Shape;7524;p4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525" name="Google Shape;7525;p4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526" name="Google Shape;7526;p4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527" name="Google Shape;7527;p4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528" name="Google Shape;7528;p4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529" name="Google Shape;7529;p4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530" name="Google Shape;7530;p4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531" name="Google Shape;7531;p4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532" name="Google Shape;7532;p4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533" name="Google Shape;7533;p4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534" name="Google Shape;7534;p4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535" name="Google Shape;7535;p4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536" name="Google Shape;7536;p4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37" name="Google Shape;7537;p4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38" name="Google Shape;7538;p4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39" name="Google Shape;7539;p4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40" name="Google Shape;7540;p4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541" name="Google Shape;7541;p4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42" name="Google Shape;7542;p4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43" name="Google Shape;7543;p4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44" name="Google Shape;7544;p4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45" name="Google Shape;7545;p4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46" name="Google Shape;7546;p4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47" name="Google Shape;7547;p4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548" name="Google Shape;7548;p4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549" name="Google Shape;7549;p4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550" name="Google Shape;7550;p4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1" name="Google Shape;7551;p4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2" name="Google Shape;7552;p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3" name="Google Shape;7553;p4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4" name="Google Shape;7554;p4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5" name="Google Shape;7555;p4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6" name="Google Shape;7556;p4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7" name="Google Shape;7557;p4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8" name="Google Shape;7558;p4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9" name="Google Shape;7559;p4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0" name="Google Shape;7560;p4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1" name="Google Shape;7561;p4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2" name="Google Shape;7562;p4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3" name="Google Shape;7563;p4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564" name="Google Shape;7564;p4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565" name="Google Shape;7565;p4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quotes generated - active in pipeline</a:t>
            </a:r>
            <a:endParaRPr/>
          </a:p>
        </p:txBody>
      </p:sp>
      <p:sp>
        <p:nvSpPr>
          <p:cNvPr id="7566" name="Google Shape;7566;p4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7" name="Google Shape;7567;p4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568" name="Google Shape;7568;p4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69" name="Google Shape;7569;p4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12 submissions</a:t>
            </a:r>
            <a:endParaRPr/>
          </a:p>
        </p:txBody>
      </p:sp>
      <p:sp>
        <p:nvSpPr>
          <p:cNvPr id="7570" name="Google Shape;7570;p4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71" name="Google Shape;7571;p4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submissions with zero binds - zero conversion</a:t>
            </a:r>
            <a:endParaRPr/>
          </a:p>
        </p:txBody>
      </p:sp>
      <p:sp>
        <p:nvSpPr>
          <p:cNvPr id="7572" name="Google Shape;7572;p4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3" name="Google Shape;7573;p4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574" name="Google Shape;7574;p4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575" name="Google Shape;7575;p4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12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576" name="Google Shape;7576;p4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577" name="Google Shape;7577;p4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9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81" name="Shape 7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2" name="Google Shape;7582;p4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3" name="Google Shape;7583;p4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Devon Property &amp; Casualty Company Dba Radius</a:t>
            </a:r>
            <a:endParaRPr/>
          </a:p>
        </p:txBody>
      </p:sp>
      <p:sp>
        <p:nvSpPr>
          <p:cNvPr id="7584" name="Google Shape;7584;p4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Hollywood</a:t>
            </a:r>
            <a:endParaRPr/>
          </a:p>
        </p:txBody>
      </p:sp>
      <p:sp>
        <p:nvSpPr>
          <p:cNvPr id="7585" name="Google Shape;7585;p4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586" name="Google Shape;7586;p4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87" name="Google Shape;7587;p4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88" name="Google Shape;7588;p4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89" name="Google Shape;7589;p4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90" name="Google Shape;7590;p4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591" name="Google Shape;7591;p4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592" name="Google Shape;7592;p4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593" name="Google Shape;7593;p4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94" name="Google Shape;7594;p4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95" name="Google Shape;7595;p4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96" name="Google Shape;7596;p4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597" name="Google Shape;7597;p4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598" name="Google Shape;7598;p4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9" name="Google Shape;7599;p4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600" name="Google Shape;7600;p4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601" name="Google Shape;7601;p4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602" name="Google Shape;7602;p4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603" name="Google Shape;7603;p4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604" name="Google Shape;7604;p4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605" name="Google Shape;7605;p4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606" name="Google Shape;7606;p4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7" name="Google Shape;7607;p4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608" name="Google Shape;7608;p4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9" name="Google Shape;7609;p4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0" name="Google Shape;7610;p4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1" name="Google Shape;7611;p4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2" name="Google Shape;7612;p4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3" name="Google Shape;7613;p4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4" name="Google Shape;7614;p4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615" name="Google Shape;7615;p4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6" name="Google Shape;7616;p4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7" name="Google Shape;7617;p4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8" name="Google Shape;7618;p4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9" name="Google Shape;7619;p4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0" name="Google Shape;7620;p4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1" name="Google Shape;7621;p4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622" name="Google Shape;7622;p4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3" name="Google Shape;7623;p4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4" name="Google Shape;7624;p4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5" name="Google Shape;7625;p4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6" name="Google Shape;7626;p4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7" name="Google Shape;7627;p4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8" name="Google Shape;7628;p4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29" name="Google Shape;7629;p4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30" name="Google Shape;7630;p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31" name="Google Shape;7631;p4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32" name="Google Shape;7632;p4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33" name="Google Shape;7633;p4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34" name="Google Shape;7634;p4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5" name="Google Shape;7635;p4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36" name="Google Shape;7636;p4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37" name="Google Shape;7637;p4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38" name="Google Shape;7638;p4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39" name="Google Shape;7639;p4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40" name="Google Shape;7640;p4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41" name="Google Shape;7641;p4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2" name="Google Shape;7642;p4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43" name="Google Shape;7643;p4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44" name="Google Shape;7644;p4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45" name="Google Shape;7645;p4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46" name="Google Shape;7646;p4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47" name="Google Shape;7647;p4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48" name="Google Shape;7648;p4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9" name="Google Shape;7649;p4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650" name="Google Shape;7650;p4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651" name="Google Shape;7651;p4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652" name="Google Shape;7652;p4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653" name="Google Shape;7653;p4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654" name="Google Shape;7654;p4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655" name="Google Shape;7655;p4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656" name="Google Shape;7656;p4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7" name="Google Shape;7657;p4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658" name="Google Shape;7658;p4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59" name="Google Shape;7659;p4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60" name="Google Shape;7660;p4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61" name="Google Shape;7661;p4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62" name="Google Shape;7662;p4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63" name="Google Shape;7663;p4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4" name="Google Shape;7664;p4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665" name="Google Shape;7665;p4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66" name="Google Shape;7666;p4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67" name="Google Shape;7667;p4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68" name="Google Shape;7668;p4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69" name="Google Shape;7669;p4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70" name="Google Shape;7670;p4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1" name="Google Shape;7671;p4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672" name="Google Shape;7672;p4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73" name="Google Shape;7673;p4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74" name="Google Shape;7674;p4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75" name="Google Shape;7675;p4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76" name="Google Shape;7676;p4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77" name="Google Shape;7677;p4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8" name="Google Shape;7678;p4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79" name="Google Shape;7679;p4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80" name="Google Shape;7680;p4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81" name="Google Shape;7681;p4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82" name="Google Shape;7682;p4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83" name="Google Shape;7683;p4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84" name="Google Shape;7684;p4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5" name="Google Shape;7685;p4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86" name="Google Shape;7686;p4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87" name="Google Shape;7687;p4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88" name="Google Shape;7688;p4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89" name="Google Shape;7689;p4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90" name="Google Shape;7690;p4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91" name="Google Shape;7691;p4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2" name="Google Shape;7692;p4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93" name="Google Shape;7693;p4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94" name="Google Shape;7694;p4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95" name="Google Shape;7695;p4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96" name="Google Shape;7696;p4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97" name="Google Shape;7697;p4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98" name="Google Shape;7698;p4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9" name="Google Shape;7699;p4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700" name="Google Shape;7700;p4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701" name="Google Shape;7701;p4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702" name="Google Shape;7702;p4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703" name="Google Shape;7703;p4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704" name="Google Shape;7704;p4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705" name="Google Shape;7705;p4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706" name="Google Shape;7706;p4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707" name="Google Shape;7707;p4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708" name="Google Shape;7708;p4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709" name="Google Shape;7709;p4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710" name="Google Shape;7710;p4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711" name="Google Shape;7711;p4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712" name="Google Shape;7712;p4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713" name="Google Shape;7713;p4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714" name="Google Shape;7714;p4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15" name="Google Shape;7715;p4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16" name="Google Shape;7716;p4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17" name="Google Shape;7717;p4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18" name="Google Shape;7718;p4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19" name="Google Shape;7719;p4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20" name="Google Shape;7720;p4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21" name="Google Shape;7721;p4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22" name="Google Shape;7722;p4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23" name="Google Shape;7723;p4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24" name="Google Shape;7724;p4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725" name="Google Shape;7725;p4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26" name="Google Shape;7726;p4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727" name="Google Shape;7727;p4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8" name="Google Shape;7728;p4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9" name="Google Shape;7729;p4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0" name="Google Shape;7730;p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1" name="Google Shape;7731;p4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2" name="Google Shape;7732;p4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3" name="Google Shape;7733;p4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4" name="Google Shape;7734;p4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5" name="Google Shape;7735;p4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6" name="Google Shape;7736;p4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7" name="Google Shape;7737;p4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8" name="Google Shape;7738;p4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9" name="Google Shape;7739;p4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0" name="Google Shape;7740;p4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741" name="Google Shape;7741;p4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742" name="Google Shape;7742;p4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7743" name="Google Shape;7743;p4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4" name="Google Shape;7744;p4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745" name="Google Shape;7745;p4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746" name="Google Shape;7746;p4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7747" name="Google Shape;7747;p4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8" name="Google Shape;7748;p4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749" name="Google Shape;7749;p4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750" name="Google Shape;7750;p4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751" name="Google Shape;7751;p4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752" name="Google Shape;7752;p4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756" name="Shape 7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7" name="Google Shape;7757;p5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8" name="Google Shape;7758;p5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Gulf South Insurance Agency Llc</a:t>
            </a:r>
            <a:endParaRPr/>
          </a:p>
        </p:txBody>
      </p:sp>
      <p:sp>
        <p:nvSpPr>
          <p:cNvPr id="7759" name="Google Shape;7759;p5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Central  |  State: N/A  |  City: N/A</a:t>
            </a:r>
            <a:endParaRPr/>
          </a:p>
        </p:txBody>
      </p:sp>
      <p:sp>
        <p:nvSpPr>
          <p:cNvPr id="7760" name="Google Shape;7760;p5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761" name="Google Shape;7761;p5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762" name="Google Shape;7762;p5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763" name="Google Shape;7763;p5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64" name="Google Shape;7764;p5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65" name="Google Shape;7765;p5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766" name="Google Shape;7766;p5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767" name="Google Shape;7767;p5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768" name="Google Shape;7768;p5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769" name="Google Shape;7769;p5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70" name="Google Shape;7770;p5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71" name="Google Shape;7771;p5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772" name="Google Shape;7772;p5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773" name="Google Shape;7773;p5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4" name="Google Shape;7774;p5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775" name="Google Shape;7775;p5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76" name="Google Shape;7776;p5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777" name="Google Shape;7777;p5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778" name="Google Shape;7778;p5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779" name="Google Shape;7779;p5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80" name="Google Shape;7780;p5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81" name="Google Shape;7781;p5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2" name="Google Shape;7782;p5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83" name="Google Shape;7783;p5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4" name="Google Shape;7784;p5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5" name="Google Shape;7785;p5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6" name="Google Shape;7786;p5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7" name="Google Shape;7787;p5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8" name="Google Shape;7788;p5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9" name="Google Shape;7789;p5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90" name="Google Shape;7790;p5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1" name="Google Shape;7791;p5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2" name="Google Shape;7792;p5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3" name="Google Shape;7793;p5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4" name="Google Shape;7794;p5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5" name="Google Shape;7795;p5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6" name="Google Shape;7796;p5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97" name="Google Shape;7797;p5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8" name="Google Shape;7798;p5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99" name="Google Shape;7799;p5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0" name="Google Shape;7800;p5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1" name="Google Shape;7801;p5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2" name="Google Shape;7802;p5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3" name="Google Shape;7803;p5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804" name="Google Shape;7804;p5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5" name="Google Shape;7805;p5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6" name="Google Shape;7806;p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7" name="Google Shape;7807;p5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8" name="Google Shape;7808;p5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9" name="Google Shape;7809;p5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0" name="Google Shape;7810;p5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811" name="Google Shape;7811;p5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2" name="Google Shape;7812;p5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3" name="Google Shape;7813;p5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4" name="Google Shape;7814;p5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5" name="Google Shape;7815;p5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6" name="Google Shape;7816;p5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7" name="Google Shape;7817;p5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818" name="Google Shape;7818;p5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9" name="Google Shape;7819;p5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20" name="Google Shape;7820;p5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21" name="Google Shape;7821;p5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22" name="Google Shape;7822;p5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23" name="Google Shape;7823;p5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4" name="Google Shape;7824;p5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825" name="Google Shape;7825;p5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826" name="Google Shape;7826;p5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827" name="Google Shape;7827;p5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828" name="Google Shape;7828;p5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829" name="Google Shape;7829;p5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830" name="Google Shape;7830;p5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831" name="Google Shape;7831;p5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2" name="Google Shape;7832;p5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833" name="Google Shape;7833;p5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4" name="Google Shape;7834;p5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5" name="Google Shape;7835;p5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6" name="Google Shape;7836;p5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7" name="Google Shape;7837;p5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38" name="Google Shape;7838;p5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9" name="Google Shape;7839;p5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840" name="Google Shape;7840;p5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1" name="Google Shape;7841;p5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2" name="Google Shape;7842;p5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3" name="Google Shape;7843;p5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4" name="Google Shape;7844;p5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45" name="Google Shape;7845;p5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6" name="Google Shape;7846;p5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847" name="Google Shape;7847;p5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8" name="Google Shape;7848;p5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49" name="Google Shape;7849;p5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50" name="Google Shape;7850;p5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51" name="Google Shape;7851;p5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52" name="Google Shape;7852;p5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3" name="Google Shape;7853;p5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854" name="Google Shape;7854;p5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55" name="Google Shape;7855;p5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56" name="Google Shape;7856;p5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57" name="Google Shape;7857;p5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58" name="Google Shape;7858;p5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59" name="Google Shape;7859;p5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0" name="Google Shape;7860;p5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861" name="Google Shape;7861;p5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862" name="Google Shape;7862;p5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63" name="Google Shape;7863;p5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864" name="Google Shape;7864;p5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65" name="Google Shape;7865;p5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66" name="Google Shape;7866;p5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7" name="Google Shape;7867;p5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868" name="Google Shape;7868;p5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69" name="Google Shape;7869;p5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70" name="Google Shape;7870;p5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71" name="Google Shape;7871;p5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72" name="Google Shape;7872;p5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73" name="Google Shape;7873;p5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4" name="Google Shape;7874;p5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875" name="Google Shape;7875;p5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876" name="Google Shape;7876;p5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877" name="Google Shape;7877;p5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878" name="Google Shape;7878;p5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879" name="Google Shape;7879;p5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880" name="Google Shape;7880;p5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881" name="Google Shape;7881;p5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882" name="Google Shape;7882;p5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883" name="Google Shape;7883;p5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884" name="Google Shape;7884;p5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885" name="Google Shape;7885;p5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886" name="Google Shape;7886;p5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887" name="Google Shape;7887;p5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888" name="Google Shape;7888;p5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89" name="Google Shape;7889;p5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90" name="Google Shape;7890;p5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91" name="Google Shape;7891;p5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92" name="Google Shape;7892;p5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93" name="Google Shape;7893;p5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94" name="Google Shape;7894;p5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95" name="Google Shape;7895;p5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96" name="Google Shape;7896;p5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97" name="Google Shape;7897;p5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98" name="Google Shape;7898;p5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899" name="Google Shape;7899;p5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00" name="Google Shape;7900;p5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901" name="Google Shape;7901;p5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902" name="Google Shape;7902;p5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3" name="Google Shape;7903;p5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4" name="Google Shape;7904;p5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5" name="Google Shape;7905;p5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6" name="Google Shape;7906;p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7" name="Google Shape;7907;p5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8" name="Google Shape;7908;p5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9" name="Google Shape;7909;p5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0" name="Google Shape;7910;p5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1" name="Google Shape;7911;p5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2" name="Google Shape;7912;p5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3" name="Google Shape;7913;p5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4" name="Google Shape;7914;p5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5" name="Google Shape;7915;p5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916" name="Google Shape;7916;p5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917" name="Google Shape;7917;p5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7918" name="Google Shape;7918;p5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9" name="Google Shape;7919;p5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920" name="Google Shape;7920;p5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921" name="Google Shape;7921;p5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5 submissions</a:t>
            </a:r>
            <a:endParaRPr/>
          </a:p>
        </p:txBody>
      </p:sp>
      <p:sp>
        <p:nvSpPr>
          <p:cNvPr id="7922" name="Google Shape;7922;p5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923" name="Google Shape;7923;p5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submissions with zero binds - zero conversion</a:t>
            </a:r>
            <a:endParaRPr/>
          </a:p>
        </p:txBody>
      </p:sp>
      <p:sp>
        <p:nvSpPr>
          <p:cNvPr id="7924" name="Google Shape;7924;p5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5" name="Google Shape;7925;p5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926" name="Google Shape;7926;p5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927" name="Google Shape;7927;p5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31" name="Shape 7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2" name="Google Shape;7932;p5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3" name="Google Shape;7933;p5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Lester Insurance Group, Inc.</a:t>
            </a:r>
            <a:endParaRPr/>
          </a:p>
        </p:txBody>
      </p:sp>
      <p:sp>
        <p:nvSpPr>
          <p:cNvPr id="7934" name="Google Shape;7934;p5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VA  |  City: Wytheville</a:t>
            </a:r>
            <a:endParaRPr/>
          </a:p>
        </p:txBody>
      </p:sp>
      <p:sp>
        <p:nvSpPr>
          <p:cNvPr id="7935" name="Google Shape;7935;p5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936" name="Google Shape;7936;p5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937" name="Google Shape;7937;p5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938" name="Google Shape;7938;p5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939" name="Google Shape;7939;p5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940" name="Google Shape;7940;p5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941" name="Google Shape;7941;p5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942" name="Google Shape;7942;p5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943" name="Google Shape;7943;p5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944" name="Google Shape;7944;p5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945" name="Google Shape;7945;p5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946" name="Google Shape;7946;p5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947" name="Google Shape;7947;p5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948" name="Google Shape;7948;p5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9" name="Google Shape;7949;p5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950" name="Google Shape;7950;p5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951" name="Google Shape;7951;p5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952" name="Google Shape;7952;p5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953" name="Google Shape;7953;p5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954" name="Google Shape;7954;p5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955" name="Google Shape;7955;p5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956" name="Google Shape;7956;p5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7" name="Google Shape;7957;p5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958" name="Google Shape;7958;p5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9" name="Google Shape;7959;p5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0" name="Google Shape;7960;p5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1" name="Google Shape;7961;p5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2" name="Google Shape;7962;p5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3" name="Google Shape;7963;p5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4" name="Google Shape;7964;p5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965" name="Google Shape;7965;p5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6" name="Google Shape;7966;p5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7" name="Google Shape;7967;p5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8" name="Google Shape;7968;p5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9" name="Google Shape;7969;p5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0" name="Google Shape;7970;p5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1" name="Google Shape;7971;p5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72" name="Google Shape;7972;p5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3" name="Google Shape;7973;p5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4" name="Google Shape;7974;p5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5" name="Google Shape;7975;p5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6" name="Google Shape;7976;p5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77" name="Google Shape;7977;p5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8" name="Google Shape;7978;p5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79" name="Google Shape;7979;p5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0" name="Google Shape;7980;p5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1" name="Google Shape;7981;p5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2" name="Google Shape;7982;p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3" name="Google Shape;7983;p5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4" name="Google Shape;7984;p5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5" name="Google Shape;7985;p5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986" name="Google Shape;7986;p5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7" name="Google Shape;7987;p5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8" name="Google Shape;7988;p5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89" name="Google Shape;7989;p5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90" name="Google Shape;7990;p5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91" name="Google Shape;7991;p5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2" name="Google Shape;7992;p5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93" name="Google Shape;7993;p5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94" name="Google Shape;7994;p5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95" name="Google Shape;7995;p5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96" name="Google Shape;7996;p5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97" name="Google Shape;7997;p5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98" name="Google Shape;7998;p5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9" name="Google Shape;7999;p5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000" name="Google Shape;8000;p5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001" name="Google Shape;8001;p5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002" name="Google Shape;8002;p5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003" name="Google Shape;8003;p5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004" name="Google Shape;8004;p5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005" name="Google Shape;8005;p5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006" name="Google Shape;8006;p5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7" name="Google Shape;8007;p5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008" name="Google Shape;8008;p5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9" name="Google Shape;8009;p5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0" name="Google Shape;8010;p5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1" name="Google Shape;8011;p5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2" name="Google Shape;8012;p5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13" name="Google Shape;8013;p5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4" name="Google Shape;8014;p5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015" name="Google Shape;8015;p5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6" name="Google Shape;8016;p5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7" name="Google Shape;8017;p5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8" name="Google Shape;8018;p5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9" name="Google Shape;8019;p5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20" name="Google Shape;8020;p5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1" name="Google Shape;8021;p5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022" name="Google Shape;8022;p5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23" name="Google Shape;8023;p5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24" name="Google Shape;8024;p5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25" name="Google Shape;8025;p5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26" name="Google Shape;8026;p5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27" name="Google Shape;8027;p5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8" name="Google Shape;8028;p5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029" name="Google Shape;8029;p5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30" name="Google Shape;8030;p5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31" name="Google Shape;8031;p5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32" name="Google Shape;8032;p5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33" name="Google Shape;8033;p5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34" name="Google Shape;8034;p5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5" name="Google Shape;8035;p5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036" name="Google Shape;8036;p5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37" name="Google Shape;8037;p5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038" name="Google Shape;8038;p5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39" name="Google Shape;8039;p5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40" name="Google Shape;8040;p5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41" name="Google Shape;8041;p5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2" name="Google Shape;8042;p5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043" name="Google Shape;8043;p5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044" name="Google Shape;8044;p5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045" name="Google Shape;8045;p5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046" name="Google Shape;8046;p5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47" name="Google Shape;8047;p5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48" name="Google Shape;8048;p5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9" name="Google Shape;8049;p5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050" name="Google Shape;8050;p5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051" name="Google Shape;8051;p5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052" name="Google Shape;8052;p5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053" name="Google Shape;8053;p5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054" name="Google Shape;8054;p5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055" name="Google Shape;8055;p5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056" name="Google Shape;8056;p5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057" name="Google Shape;8057;p5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058" name="Google Shape;8058;p5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059" name="Google Shape;8059;p5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060" name="Google Shape;8060;p5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061" name="Google Shape;8061;p5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062" name="Google Shape;8062;p5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063" name="Google Shape;8063;p5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64" name="Google Shape;8064;p5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65" name="Google Shape;8065;p5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66" name="Google Shape;8066;p5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67" name="Google Shape;8067;p5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68" name="Google Shape;8068;p5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69" name="Google Shape;8069;p5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70" name="Google Shape;8070;p5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71" name="Google Shape;8071;p5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72" name="Google Shape;8072;p5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73" name="Google Shape;8073;p5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74" name="Google Shape;8074;p5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75" name="Google Shape;8075;p5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076" name="Google Shape;8076;p5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077" name="Google Shape;8077;p5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8" name="Google Shape;8078;p5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9" name="Google Shape;8079;p5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0" name="Google Shape;8080;p5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1" name="Google Shape;8081;p5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2" name="Google Shape;8082;p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3" name="Google Shape;8083;p5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4" name="Google Shape;8084;p5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5" name="Google Shape;8085;p5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6" name="Google Shape;8086;p5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7" name="Google Shape;8087;p5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8" name="Google Shape;8088;p5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9" name="Google Shape;8089;p5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0" name="Google Shape;8090;p5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091" name="Google Shape;8091;p5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092" name="Google Shape;8092;p5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8093" name="Google Shape;8093;p5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4" name="Google Shape;8094;p5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095" name="Google Shape;8095;p5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96" name="Google Shape;8096;p5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6 submissions</a:t>
            </a:r>
            <a:endParaRPr/>
          </a:p>
        </p:txBody>
      </p:sp>
      <p:sp>
        <p:nvSpPr>
          <p:cNvPr id="8097" name="Google Shape;8097;p5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98" name="Google Shape;8098;p5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submissions with zero binds - zero conversion</a:t>
            </a:r>
            <a:endParaRPr/>
          </a:p>
        </p:txBody>
      </p:sp>
      <p:sp>
        <p:nvSpPr>
          <p:cNvPr id="8099" name="Google Shape;8099;p5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0" name="Google Shape;8100;p5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101" name="Google Shape;8101;p5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102" name="Google Shape;8102;p5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06" name="Shape 8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7" name="Google Shape;8107;p5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8" name="Google Shape;8108;p5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 Insurance &amp; Accounting Llc</a:t>
            </a:r>
            <a:endParaRPr/>
          </a:p>
        </p:txBody>
      </p:sp>
      <p:sp>
        <p:nvSpPr>
          <p:cNvPr id="8109" name="Google Shape;8109;p5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Florida  |  City: Kissimmee</a:t>
            </a:r>
            <a:endParaRPr/>
          </a:p>
        </p:txBody>
      </p:sp>
      <p:sp>
        <p:nvSpPr>
          <p:cNvPr id="8110" name="Google Shape;8110;p5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111" name="Google Shape;8111;p5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112" name="Google Shape;8112;p5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113" name="Google Shape;8113;p5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114" name="Google Shape;8114;p5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115" name="Google Shape;8115;p5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116" name="Google Shape;8116;p5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117" name="Google Shape;8117;p5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118" name="Google Shape;8118;p5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119" name="Google Shape;8119;p5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120" name="Google Shape;8120;p5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121" name="Google Shape;8121;p5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122" name="Google Shape;8122;p5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123" name="Google Shape;8123;p5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4" name="Google Shape;8124;p5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125" name="Google Shape;8125;p5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126" name="Google Shape;8126;p5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127" name="Google Shape;8127;p5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128" name="Google Shape;8128;p5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129" name="Google Shape;8129;p5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130" name="Google Shape;8130;p5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131" name="Google Shape;8131;p5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2" name="Google Shape;8132;p5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133" name="Google Shape;8133;p5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4" name="Google Shape;8134;p5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5" name="Google Shape;8135;p5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6" name="Google Shape;8136;p5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7" name="Google Shape;8137;p5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8" name="Google Shape;8138;p5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9" name="Google Shape;8139;p5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140" name="Google Shape;8140;p5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1" name="Google Shape;8141;p5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2" name="Google Shape;8142;p5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3" name="Google Shape;8143;p5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4" name="Google Shape;8144;p5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5" name="Google Shape;8145;p5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6" name="Google Shape;8146;p5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147" name="Google Shape;8147;p5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8" name="Google Shape;8148;p5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9" name="Google Shape;8149;p5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0" name="Google Shape;8150;p5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1" name="Google Shape;8151;p5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2" name="Google Shape;8152;p5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3" name="Google Shape;8153;p5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154" name="Google Shape;8154;p5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5" name="Google Shape;8155;p5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6" name="Google Shape;8156;p5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7" name="Google Shape;8157;p5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8" name="Google Shape;8158;p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59" name="Google Shape;8159;p5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0" name="Google Shape;8160;p5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61" name="Google Shape;8161;p5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62" name="Google Shape;8162;p5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63" name="Google Shape;8163;p5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64" name="Google Shape;8164;p5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65" name="Google Shape;8165;p5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66" name="Google Shape;8166;p5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7" name="Google Shape;8167;p5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68" name="Google Shape;8168;p5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69" name="Google Shape;8169;p5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70" name="Google Shape;8170;p5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71" name="Google Shape;8171;p5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72" name="Google Shape;8172;p5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73" name="Google Shape;8173;p5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4" name="Google Shape;8174;p5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175" name="Google Shape;8175;p5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176" name="Google Shape;8176;p5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77" name="Google Shape;8177;p5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178" name="Google Shape;8178;p5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179" name="Google Shape;8179;p5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180" name="Google Shape;8180;p5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181" name="Google Shape;8181;p5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2" name="Google Shape;8182;p5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183" name="Google Shape;8183;p5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4" name="Google Shape;8184;p5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5" name="Google Shape;8185;p5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6" name="Google Shape;8186;p5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7" name="Google Shape;8187;p5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88" name="Google Shape;8188;p5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9" name="Google Shape;8189;p5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190" name="Google Shape;8190;p5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91" name="Google Shape;8191;p5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92" name="Google Shape;8192;p5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93" name="Google Shape;8193;p5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94" name="Google Shape;8194;p5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95" name="Google Shape;8195;p5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6" name="Google Shape;8196;p5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197" name="Google Shape;8197;p5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98" name="Google Shape;8198;p5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99" name="Google Shape;8199;p5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00" name="Google Shape;8200;p5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01" name="Google Shape;8201;p5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202" name="Google Shape;8202;p5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3" name="Google Shape;8203;p5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204" name="Google Shape;8204;p5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205" name="Google Shape;8205;p5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06" name="Google Shape;8206;p5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207" name="Google Shape;8207;p5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08" name="Google Shape;8208;p5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209" name="Google Shape;8209;p5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0" name="Google Shape;8210;p5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211" name="Google Shape;8211;p5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12" name="Google Shape;8212;p5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13" name="Google Shape;8213;p5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14" name="Google Shape;8214;p5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15" name="Google Shape;8215;p5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216" name="Google Shape;8216;p5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7" name="Google Shape;8217;p5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218" name="Google Shape;8218;p5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219" name="Google Shape;8219;p5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20" name="Google Shape;8220;p5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221" name="Google Shape;8221;p5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22" name="Google Shape;8222;p5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223" name="Google Shape;8223;p5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4" name="Google Shape;8224;p5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225" name="Google Shape;8225;p5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226" name="Google Shape;8226;p5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227" name="Google Shape;8227;p5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228" name="Google Shape;8228;p5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229" name="Google Shape;8229;p5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230" name="Google Shape;8230;p5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231" name="Google Shape;8231;p5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232" name="Google Shape;8232;p5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233" name="Google Shape;8233;p5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234" name="Google Shape;8234;p5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235" name="Google Shape;8235;p5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236" name="Google Shape;8236;p5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237" name="Google Shape;8237;p5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238" name="Google Shape;8238;p5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239" name="Google Shape;8239;p5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40" name="Google Shape;8240;p5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41" name="Google Shape;8241;p5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42" name="Google Shape;8242;p5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43" name="Google Shape;8243;p5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44" name="Google Shape;8244;p5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45" name="Google Shape;8245;p5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46" name="Google Shape;8246;p5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247" name="Google Shape;8247;p5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48" name="Google Shape;8248;p5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49" name="Google Shape;8249;p5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50" name="Google Shape;8250;p5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251" name="Google Shape;8251;p5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252" name="Google Shape;8252;p5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3" name="Google Shape;8253;p5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4" name="Google Shape;8254;p5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5" name="Google Shape;8255;p5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6" name="Google Shape;8256;p5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7" name="Google Shape;8257;p5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8" name="Google Shape;8258;p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9" name="Google Shape;8259;p5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0" name="Google Shape;8260;p5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1" name="Google Shape;8261;p5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2" name="Google Shape;8262;p5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3" name="Google Shape;8263;p5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4" name="Google Shape;8264;p5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5" name="Google Shape;8265;p5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266" name="Google Shape;8266;p5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267" name="Google Shape;8267;p5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8268" name="Google Shape;8268;p5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9" name="Google Shape;8269;p5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270" name="Google Shape;8270;p5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71" name="Google Shape;8271;p5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7 submissions</a:t>
            </a:r>
            <a:endParaRPr/>
          </a:p>
        </p:txBody>
      </p:sp>
      <p:sp>
        <p:nvSpPr>
          <p:cNvPr id="8272" name="Google Shape;8272;p5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73" name="Google Shape;8273;p5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8274" name="Google Shape;8274;p5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5" name="Google Shape;8275;p5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276" name="Google Shape;8276;p5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277" name="Google Shape;8277;p5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8278" name="Google Shape;8278;p5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279" name="Google Shape;8279;p5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83" name="Shape 8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4" name="Google Shape;8284;p5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5" name="Google Shape;8285;p5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Orbis Insurance Group LLC</a:t>
            </a:r>
            <a:endParaRPr/>
          </a:p>
        </p:txBody>
      </p:sp>
      <p:sp>
        <p:nvSpPr>
          <p:cNvPr id="8286" name="Google Shape;8286;p5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Miami</a:t>
            </a:r>
            <a:endParaRPr/>
          </a:p>
        </p:txBody>
      </p:sp>
      <p:sp>
        <p:nvSpPr>
          <p:cNvPr id="8287" name="Google Shape;8287;p5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288" name="Google Shape;8288;p5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89" name="Google Shape;8289;p5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90" name="Google Shape;8290;p5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91" name="Google Shape;8291;p5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92" name="Google Shape;8292;p5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293" name="Google Shape;8293;p5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$34,180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294" name="Google Shape;8294;p5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295" name="Google Shape;8295;p5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296" name="Google Shape;8296;p5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297" name="Google Shape;8297;p5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298" name="Google Shape;8298;p5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299" name="Google Shape;8299;p5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300" name="Google Shape;8300;p5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1" name="Google Shape;8301;p5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302" name="Google Shape;8302;p5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303" name="Google Shape;8303;p5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304" name="Google Shape;8304;p5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305" name="Google Shape;8305;p5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306" name="Google Shape;8306;p5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307" name="Google Shape;8307;p5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308" name="Google Shape;8308;p5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9" name="Google Shape;8309;p5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310" name="Google Shape;8310;p5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1" name="Google Shape;8311;p5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2" name="Google Shape;8312;p5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3" name="Google Shape;8313;p5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4" name="Google Shape;8314;p5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5" name="Google Shape;8315;p5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6" name="Google Shape;8316;p5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317" name="Google Shape;8317;p5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8" name="Google Shape;8318;p5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9" name="Google Shape;8319;p5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0" name="Google Shape;8320;p5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1" name="Google Shape;8321;p5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2" name="Google Shape;8322;p5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3" name="Google Shape;8323;p5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324" name="Google Shape;8324;p5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5" name="Google Shape;8325;p5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6" name="Google Shape;8326;p5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7" name="Google Shape;8327;p5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8" name="Google Shape;8328;p5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29" name="Google Shape;8329;p5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0" name="Google Shape;8330;p5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331" name="Google Shape;8331;p5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2" name="Google Shape;8332;p5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3" name="Google Shape;8333;p5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4" name="Google Shape;8334;p5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5" name="Google Shape;8335;p5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6" name="Google Shape;8336;p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7" name="Google Shape;8337;p5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338" name="Google Shape;8338;p5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39" name="Google Shape;8339;p5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40" name="Google Shape;8340;p5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41" name="Google Shape;8341;p5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42" name="Google Shape;8342;p5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43" name="Google Shape;8343;p5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4" name="Google Shape;8344;p5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345" name="Google Shape;8345;p5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46" name="Google Shape;8346;p5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47" name="Google Shape;8347;p5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48" name="Google Shape;8348;p5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49" name="Google Shape;8349;p5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50" name="Google Shape;8350;p5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1" name="Google Shape;8351;p5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352" name="Google Shape;8352;p5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353" name="Google Shape;8353;p5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354" name="Google Shape;8354;p5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355" name="Google Shape;8355;p5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356" name="Google Shape;8356;p5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357" name="Google Shape;8357;p5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358" name="Google Shape;8358;p5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9" name="Google Shape;8359;p5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360" name="Google Shape;8360;p5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8361" name="Google Shape;8361;p5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2" name="Google Shape;8362;p5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8363" name="Google Shape;8363;p5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4" name="Google Shape;8364;p5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65" name="Google Shape;8365;p5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6" name="Google Shape;8366;p5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367" name="Google Shape;8367;p5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8368" name="Google Shape;8368;p5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9" name="Google Shape;8369;p5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8370" name="Google Shape;8370;p5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71" name="Google Shape;8371;p5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72" name="Google Shape;8372;p5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3" name="Google Shape;8373;p5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374" name="Google Shape;8374;p5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8375" name="Google Shape;8375;p5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76" name="Google Shape;8376;p5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8377" name="Google Shape;8377;p5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78" name="Google Shape;8378;p5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79" name="Google Shape;8379;p5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0" name="Google Shape;8380;p5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381" name="Google Shape;8381;p5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8382" name="Google Shape;8382;p5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83" name="Google Shape;8383;p5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384" name="Google Shape;8384;p5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85" name="Google Shape;8385;p5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86" name="Google Shape;8386;p5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7" name="Google Shape;8387;p5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388" name="Google Shape;8388;p5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8389" name="Google Shape;8389;p5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90" name="Google Shape;8390;p5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8391" name="Google Shape;8391;p5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92" name="Google Shape;8392;p5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93" name="Google Shape;8393;p5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4" name="Google Shape;8394;p5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395" name="Google Shape;8395;p5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8396" name="Google Shape;8396;p5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397" name="Google Shape;8397;p5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194</a:t>
            </a:r>
            <a:endParaRPr/>
          </a:p>
        </p:txBody>
      </p:sp>
      <p:sp>
        <p:nvSpPr>
          <p:cNvPr id="8398" name="Google Shape;8398;p5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99" name="Google Shape;8399;p5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00" name="Google Shape;8400;p5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1" name="Google Shape;8401;p5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402" name="Google Shape;8402;p5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403" name="Google Shape;8403;p5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404" name="Google Shape;8404;p5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405" name="Google Shape;8405;p5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406" name="Google Shape;8406;p5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407" name="Google Shape;8407;p5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408" name="Google Shape;8408;p5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409" name="Google Shape;8409;p5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410" name="Google Shape;8410;p5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411" name="Google Shape;8411;p5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412" name="Google Shape;8412;p5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413" name="Google Shape;8413;p5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414" name="Google Shape;8414;p5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415" name="Google Shape;8415;p5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416" name="Google Shape;8416;p5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8417" name="Google Shape;8417;p5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8418" name="Google Shape;8418;p5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8419" name="Google Shape;8419;p5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8420" name="Google Shape;8420;p5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8421" name="Google Shape;8421;p5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8422" name="Google Shape;8422;p5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8423" name="Google Shape;8423;p5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8424" name="Google Shape;8424;p5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8425" name="Google Shape;8425;p5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8426" name="Google Shape;8426;p5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277</a:t>
            </a:r>
            <a:endParaRPr/>
          </a:p>
        </p:txBody>
      </p:sp>
      <p:sp>
        <p:nvSpPr>
          <p:cNvPr id="8427" name="Google Shape;8427;p5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</a:t>
            </a:r>
            <a:endParaRPr/>
          </a:p>
        </p:txBody>
      </p:sp>
      <p:sp>
        <p:nvSpPr>
          <p:cNvPr id="8428" name="Google Shape;8428;p5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429" name="Google Shape;8429;p5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0" name="Google Shape;8430;p5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1" name="Google Shape;8431;p5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2" name="Google Shape;8432;p5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3" name="Google Shape;8433;p5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4" name="Google Shape;8434;p5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5" name="Google Shape;8435;p5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6" name="Google Shape;8436;p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7" name="Google Shape;8437;p5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8438" name="Google Shape;8438;p5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9" name="Google Shape;8439;p5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8440" name="Google Shape;8440;p5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1" name="Google Shape;8441;p5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2" name="Google Shape;8442;p5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443" name="Google Shape;8443;p5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444" name="Google Shape;8444;p5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 submissions - highly active agency</a:t>
            </a:r>
            <a:endParaRPr/>
          </a:p>
        </p:txBody>
      </p:sp>
      <p:sp>
        <p:nvSpPr>
          <p:cNvPr id="8445" name="Google Shape;8445;p5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446" name="Google Shape;8446;p5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 quotes generated - active in pipeline</a:t>
            </a:r>
            <a:endParaRPr/>
          </a:p>
        </p:txBody>
      </p:sp>
      <p:sp>
        <p:nvSpPr>
          <p:cNvPr id="8447" name="Google Shape;8447;p5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8" name="Google Shape;8448;p5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449" name="Google Shape;8449;p5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450" name="Google Shape;8450;p5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199 submissions</a:t>
            </a:r>
            <a:endParaRPr/>
          </a:p>
        </p:txBody>
      </p:sp>
      <p:sp>
        <p:nvSpPr>
          <p:cNvPr id="8451" name="Google Shape;8451;p5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452" name="Google Shape;8452;p5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 submissions with zero binds - zero conversion</a:t>
            </a:r>
            <a:endParaRPr/>
          </a:p>
        </p:txBody>
      </p:sp>
      <p:sp>
        <p:nvSpPr>
          <p:cNvPr id="8453" name="Google Shape;8453;p5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4" name="Google Shape;8454;p5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455" name="Google Shape;8455;p5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456" name="Google Shape;8456;p5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199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457" name="Google Shape;8457;p5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458" name="Google Shape;8458;p5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132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62" name="Shape 8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3" name="Google Shape;8463;p5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4" name="Google Shape;8464;p5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Rdr Insurance Services, Inc.</a:t>
            </a:r>
            <a:endParaRPr/>
          </a:p>
        </p:txBody>
      </p:sp>
      <p:sp>
        <p:nvSpPr>
          <p:cNvPr id="8465" name="Google Shape;8465;p5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NC  |  City: Charlotte</a:t>
            </a:r>
            <a:endParaRPr/>
          </a:p>
        </p:txBody>
      </p:sp>
      <p:sp>
        <p:nvSpPr>
          <p:cNvPr id="8466" name="Google Shape;8466;p5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467" name="Google Shape;8467;p5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68" name="Google Shape;8468;p5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69" name="Google Shape;8469;p5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70" name="Google Shape;8470;p5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71" name="Google Shape;8471;p5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472" name="Google Shape;8472;p5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473" name="Google Shape;8473;p5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474" name="Google Shape;8474;p5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475" name="Google Shape;8475;p5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476" name="Google Shape;8476;p5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477" name="Google Shape;8477;p5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478" name="Google Shape;8478;p5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479" name="Google Shape;8479;p5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0" name="Google Shape;8480;p5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481" name="Google Shape;8481;p5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82" name="Google Shape;8482;p5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483" name="Google Shape;8483;p5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84" name="Google Shape;8484;p5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85" name="Google Shape;8485;p5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86" name="Google Shape;8486;p5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87" name="Google Shape;8487;p5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8" name="Google Shape;8488;p5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489" name="Google Shape;8489;p5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0" name="Google Shape;8490;p5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1" name="Google Shape;8491;p5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2" name="Google Shape;8492;p5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3" name="Google Shape;8493;p5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4" name="Google Shape;8494;p5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5" name="Google Shape;8495;p5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496" name="Google Shape;8496;p5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7" name="Google Shape;8497;p5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8" name="Google Shape;8498;p5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9" name="Google Shape;8499;p5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0" name="Google Shape;8500;p5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1" name="Google Shape;8501;p5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2" name="Google Shape;8502;p5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503" name="Google Shape;8503;p5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4" name="Google Shape;8504;p5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5" name="Google Shape;8505;p5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6" name="Google Shape;8506;p5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7" name="Google Shape;8507;p5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8" name="Google Shape;8508;p5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9" name="Google Shape;8509;p5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510" name="Google Shape;8510;p5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11" name="Google Shape;8511;p5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12" name="Google Shape;8512;p5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13" name="Google Shape;8513;p5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14" name="Google Shape;8514;p5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15" name="Google Shape;8515;p5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6" name="Google Shape;8516;p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517" name="Google Shape;8517;p5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18" name="Google Shape;8518;p5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19" name="Google Shape;8519;p5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20" name="Google Shape;8520;p5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21" name="Google Shape;8521;p5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22" name="Google Shape;8522;p5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3" name="Google Shape;8523;p5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524" name="Google Shape;8524;p5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25" name="Google Shape;8525;p5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26" name="Google Shape;8526;p5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27" name="Google Shape;8527;p5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28" name="Google Shape;8528;p5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29" name="Google Shape;8529;p5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0" name="Google Shape;8530;p5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531" name="Google Shape;8531;p5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532" name="Google Shape;8532;p5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533" name="Google Shape;8533;p5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534" name="Google Shape;8534;p5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535" name="Google Shape;8535;p5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536" name="Google Shape;8536;p5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537" name="Google Shape;8537;p5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8" name="Google Shape;8538;p5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539" name="Google Shape;8539;p5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0" name="Google Shape;8540;p5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1" name="Google Shape;8541;p5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2" name="Google Shape;8542;p5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3" name="Google Shape;8543;p5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44" name="Google Shape;8544;p5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5" name="Google Shape;8545;p5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546" name="Google Shape;8546;p5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547" name="Google Shape;8547;p5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48" name="Google Shape;8548;p5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49" name="Google Shape;8549;p5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0" name="Google Shape;8550;p5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51" name="Google Shape;8551;p5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2" name="Google Shape;8552;p5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553" name="Google Shape;8553;p5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54" name="Google Shape;8554;p5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5" name="Google Shape;8555;p5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56" name="Google Shape;8556;p5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7" name="Google Shape;8557;p5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58" name="Google Shape;8558;p5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9" name="Google Shape;8559;p5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560" name="Google Shape;8560;p5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61" name="Google Shape;8561;p5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62" name="Google Shape;8562;p5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63" name="Google Shape;8563;p5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64" name="Google Shape;8564;p5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65" name="Google Shape;8565;p5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6" name="Google Shape;8566;p5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567" name="Google Shape;8567;p5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68" name="Google Shape;8568;p5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69" name="Google Shape;8569;p5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70" name="Google Shape;8570;p5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71" name="Google Shape;8571;p5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72" name="Google Shape;8572;p5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3" name="Google Shape;8573;p5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574" name="Google Shape;8574;p5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575" name="Google Shape;8575;p5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76" name="Google Shape;8576;p5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577" name="Google Shape;8577;p5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78" name="Google Shape;8578;p5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79" name="Google Shape;8579;p5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0" name="Google Shape;8580;p5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581" name="Google Shape;8581;p5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582" name="Google Shape;8582;p5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583" name="Google Shape;8583;p5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584" name="Google Shape;8584;p5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585" name="Google Shape;8585;p5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586" name="Google Shape;8586;p5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587" name="Google Shape;8587;p5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588" name="Google Shape;8588;p5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589" name="Google Shape;8589;p5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590" name="Google Shape;8590;p5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591" name="Google Shape;8591;p5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592" name="Google Shape;8592;p5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593" name="Google Shape;8593;p5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594" name="Google Shape;8594;p5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595" name="Google Shape;8595;p5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596" name="Google Shape;8596;p5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97" name="Google Shape;8597;p5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98" name="Google Shape;8598;p5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599" name="Google Shape;8599;p5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600" name="Google Shape;8600;p5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01" name="Google Shape;8601;p5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602" name="Google Shape;8602;p5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603" name="Google Shape;8603;p5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604" name="Google Shape;8604;p5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05" name="Google Shape;8605;p5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606" name="Google Shape;8606;p5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607" name="Google Shape;8607;p5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608" name="Google Shape;8608;p5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9" name="Google Shape;8609;p5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0" name="Google Shape;8610;p5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1" name="Google Shape;8611;p5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2" name="Google Shape;8612;p5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3" name="Google Shape;8613;p5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4" name="Google Shape;8614;p5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5" name="Google Shape;8615;p5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6" name="Google Shape;8616;p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7" name="Google Shape;8617;p5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8" name="Google Shape;8618;p5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9" name="Google Shape;8619;p5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0" name="Google Shape;8620;p5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1" name="Google Shape;8621;p5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622" name="Google Shape;8622;p5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623" name="Google Shape;8623;p5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quotes generated - active in pipeline</a:t>
            </a:r>
            <a:endParaRPr/>
          </a:p>
        </p:txBody>
      </p:sp>
      <p:sp>
        <p:nvSpPr>
          <p:cNvPr id="8624" name="Google Shape;8624;p5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5" name="Google Shape;8625;p5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626" name="Google Shape;8626;p5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627" name="Google Shape;8627;p5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16 submissions</a:t>
            </a:r>
            <a:endParaRPr/>
          </a:p>
        </p:txBody>
      </p:sp>
      <p:sp>
        <p:nvSpPr>
          <p:cNvPr id="8628" name="Google Shape;8628;p5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629" name="Google Shape;8629;p5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submissions with zero binds - zero conversion</a:t>
            </a:r>
            <a:endParaRPr/>
          </a:p>
        </p:txBody>
      </p:sp>
      <p:sp>
        <p:nvSpPr>
          <p:cNvPr id="8630" name="Google Shape;8630;p5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1" name="Google Shape;8631;p5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632" name="Google Shape;8632;p5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633" name="Google Shape;8633;p5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16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634" name="Google Shape;8634;p5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635" name="Google Shape;8635;p5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639" name="Shape 8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0" name="Google Shape;8640;p5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1" name="Google Shape;8641;p5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Stagstone Risk Management, Llc</a:t>
            </a:r>
            <a:endParaRPr/>
          </a:p>
        </p:txBody>
      </p:sp>
      <p:sp>
        <p:nvSpPr>
          <p:cNvPr id="8642" name="Google Shape;8642;p5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Tennessee  |  City: Nashville</a:t>
            </a:r>
            <a:endParaRPr/>
          </a:p>
        </p:txBody>
      </p:sp>
      <p:sp>
        <p:nvSpPr>
          <p:cNvPr id="8643" name="Google Shape;8643;p5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644" name="Google Shape;8644;p5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645" name="Google Shape;8645;p5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646" name="Google Shape;8646;p5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647" name="Google Shape;8647;p5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648" name="Google Shape;8648;p5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$177,430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649" name="Google Shape;8649;p5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$139,903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650" name="Google Shape;8650;p5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651" name="Google Shape;8651;p5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652" name="Google Shape;8652;p5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653" name="Google Shape;8653;p5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654" name="Google Shape;8654;p5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$137,917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655" name="Google Shape;8655;p5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$26,323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656" name="Google Shape;8656;p5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7" name="Google Shape;8657;p5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658" name="Google Shape;8658;p5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659" name="Google Shape;8659;p5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660" name="Google Shape;8660;p5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661" name="Google Shape;8661;p5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662" name="Google Shape;8662;p5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663" name="Google Shape;8663;p5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664" name="Google Shape;8664;p5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5" name="Google Shape;8665;p5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66" name="Google Shape;8666;p5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7" name="Google Shape;8667;p5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8" name="Google Shape;8668;p5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9" name="Google Shape;8669;p5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0" name="Google Shape;8670;p5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1" name="Google Shape;8671;p5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2" name="Google Shape;8672;p5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73" name="Google Shape;8673;p5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4" name="Google Shape;8674;p5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5" name="Google Shape;8675;p5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6" name="Google Shape;8676;p5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7" name="Google Shape;8677;p5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8" name="Google Shape;8678;p5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9" name="Google Shape;8679;p5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80" name="Google Shape;8680;p5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1" name="Google Shape;8681;p5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2" name="Google Shape;8682;p5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3" name="Google Shape;8683;p5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4" name="Google Shape;8684;p5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5" name="Google Shape;8685;p5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6" name="Google Shape;8686;p5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687" name="Google Shape;8687;p5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8" name="Google Shape;8688;p5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9" name="Google Shape;8689;p5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0" name="Google Shape;8690;p5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1" name="Google Shape;8691;p5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2" name="Google Shape;8692;p5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3" name="Google Shape;8693;p5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694" name="Google Shape;8694;p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5" name="Google Shape;8695;p5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6" name="Google Shape;8696;p5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7" name="Google Shape;8697;p5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8" name="Google Shape;8698;p5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9" name="Google Shape;8699;p5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0" name="Google Shape;8700;p5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701" name="Google Shape;8701;p5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02" name="Google Shape;8702;p5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03" name="Google Shape;8703;p5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04" name="Google Shape;8704;p5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05" name="Google Shape;8705;p5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06" name="Google Shape;8706;p5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7" name="Google Shape;8707;p5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708" name="Google Shape;8708;p5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709" name="Google Shape;8709;p5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710" name="Google Shape;8710;p5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711" name="Google Shape;8711;p5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712" name="Google Shape;8712;p5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713" name="Google Shape;8713;p5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714" name="Google Shape;8714;p5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5" name="Google Shape;8715;p5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716" name="Google Shape;8716;p5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17" name="Google Shape;8717;p5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18" name="Google Shape;8718;p5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9" name="Google Shape;8719;p5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0" name="Google Shape;8720;p5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21" name="Google Shape;8721;p5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2" name="Google Shape;8722;p5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723" name="Google Shape;8723;p5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24" name="Google Shape;8724;p5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5" name="Google Shape;8725;p5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26" name="Google Shape;8726;p5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7" name="Google Shape;8727;p5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28" name="Google Shape;8728;p5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9" name="Google Shape;8729;p5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730" name="Google Shape;8730;p5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31" name="Google Shape;8731;p5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32" name="Google Shape;8732;p5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33" name="Google Shape;8733;p5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34" name="Google Shape;8734;p5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8735" name="Google Shape;8735;p5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6" name="Google Shape;8736;p5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737" name="Google Shape;8737;p5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738" name="Google Shape;8738;p5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739" name="Google Shape;8739;p5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740" name="Google Shape;8740;p5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41" name="Google Shape;8741;p5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8742" name="Google Shape;8742;p5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3" name="Google Shape;8743;p5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744" name="Google Shape;8744;p5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745" name="Google Shape;8745;p5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46" name="Google Shape;8746;p5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747" name="Google Shape;8747;p5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48" name="Google Shape;8748;p5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49" name="Google Shape;8749;p5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0" name="Google Shape;8750;p5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751" name="Google Shape;8751;p5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752" name="Google Shape;8752;p5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753" name="Google Shape;8753;p5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754" name="Google Shape;8754;p5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55" name="Google Shape;8755;p5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8756" name="Google Shape;8756;p5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7" name="Google Shape;8757;p5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758" name="Google Shape;8758;p5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759" name="Google Shape;8759;p5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760" name="Google Shape;8760;p5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761" name="Google Shape;8761;p5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762" name="Google Shape;8762;p5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763" name="Google Shape;8763;p5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764" name="Google Shape;8764;p5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765" name="Google Shape;8765;p5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766" name="Google Shape;8766;p5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767" name="Google Shape;8767;p5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768" name="Google Shape;8768;p5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769" name="Google Shape;8769;p5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770" name="Google Shape;8770;p5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771" name="Google Shape;8771;p5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772" name="Google Shape;8772;p5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73" name="Google Shape;8773;p5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74" name="Google Shape;8774;p5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75" name="Google Shape;8775;p5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76" name="Google Shape;8776;p5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777" name="Google Shape;8777;p5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78" name="Google Shape;8778;p5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779" name="Google Shape;8779;p5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780" name="Google Shape;8780;p5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81" name="Google Shape;8781;p5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782" name="Google Shape;8782;p5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783" name="Google Shape;8783;p5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784" name="Google Shape;8784;p5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785" name="Google Shape;8785;p5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8786" name="Google Shape;8786;p5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7" name="Google Shape;8787;p5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8788" name="Google Shape;8788;p5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9" name="Google Shape;8789;p5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8790" name="Google Shape;8790;p5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1" name="Google Shape;8791;p5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2" name="Google Shape;8792;p5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3" name="Google Shape;8793;p5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4" name="Google Shape;8794;p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5" name="Google Shape;8795;p5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8796" name="Google Shape;8796;p5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7" name="Google Shape;8797;p5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8" name="Google Shape;8798;p5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799" name="Google Shape;8799;p5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800" name="Google Shape;8800;p5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 hit ratio - above average conversion</a:t>
            </a:r>
            <a:endParaRPr/>
          </a:p>
        </p:txBody>
      </p:sp>
      <p:sp>
        <p:nvSpPr>
          <p:cNvPr id="8801" name="Google Shape;8801;p5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802" name="Google Shape;8802;p5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 submissions - highly active agency</a:t>
            </a:r>
            <a:endParaRPr/>
          </a:p>
        </p:txBody>
      </p:sp>
      <p:sp>
        <p:nvSpPr>
          <p:cNvPr id="8803" name="Google Shape;8803;p5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4" name="Google Shape;8804;p5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805" name="Google Shape;8805;p5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806" name="Google Shape;8806;p5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27 submissions</a:t>
            </a:r>
            <a:endParaRPr/>
          </a:p>
        </p:txBody>
      </p:sp>
      <p:sp>
        <p:nvSpPr>
          <p:cNvPr id="8807" name="Google Shape;8807;p5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808" name="Google Shape;8808;p5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20 to 4 MoM</a:t>
            </a:r>
            <a:endParaRPr/>
          </a:p>
        </p:txBody>
      </p:sp>
      <p:sp>
        <p:nvSpPr>
          <p:cNvPr id="8809" name="Google Shape;8809;p5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0" name="Google Shape;8810;p5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811" name="Google Shape;8811;p5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812" name="Google Shape;8812;p5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8813" name="Google Shape;8813;p5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814" name="Google Shape;8814;p5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18" name="Shape 8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9" name="Google Shape;8819;p5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0" name="Google Shape;8820;p5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Bayou Agency, Llc Dba Bayou Insurance</a:t>
            </a:r>
            <a:endParaRPr/>
          </a:p>
        </p:txBody>
      </p:sp>
      <p:sp>
        <p:nvSpPr>
          <p:cNvPr id="8821" name="Google Shape;8821;p5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LA  |  City: Monroe</a:t>
            </a:r>
            <a:endParaRPr/>
          </a:p>
        </p:txBody>
      </p:sp>
      <p:sp>
        <p:nvSpPr>
          <p:cNvPr id="8822" name="Google Shape;8822;p5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823" name="Google Shape;8823;p5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824" name="Google Shape;8824;p5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825" name="Google Shape;8825;p5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826" name="Google Shape;8826;p5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827" name="Google Shape;8827;p5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$84,222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828" name="Google Shape;8828;p5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$84,222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829" name="Google Shape;8829;p5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830" name="Google Shape;8830;p5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831" name="Google Shape;8831;p5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832" name="Google Shape;8832;p5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833" name="Google Shape;8833;p5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834" name="Google Shape;8834;p5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835" name="Google Shape;8835;p5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6" name="Google Shape;8836;p5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837" name="Google Shape;8837;p5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838" name="Google Shape;8838;p5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839" name="Google Shape;8839;p5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840" name="Google Shape;8840;p5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841" name="Google Shape;8841;p5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842" name="Google Shape;8842;p5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843" name="Google Shape;8843;p5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4" name="Google Shape;8844;p5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845" name="Google Shape;8845;p5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6" name="Google Shape;8846;p5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7" name="Google Shape;8847;p5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8" name="Google Shape;8848;p5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9" name="Google Shape;8849;p5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$-42,226</a:t>
            </a:r>
            <a:endParaRPr/>
          </a:p>
        </p:txBody>
      </p:sp>
      <p:sp>
        <p:nvSpPr>
          <p:cNvPr id="8850" name="Google Shape;8850;p5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1" name="Google Shape;8851;p5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852" name="Google Shape;8852;p5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3" name="Google Shape;8853;p5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4" name="Google Shape;8854;p5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5" name="Google Shape;8855;p5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6" name="Google Shape;8856;p5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7" name="Google Shape;8857;p5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8" name="Google Shape;8858;p5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859" name="Google Shape;8859;p5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0" name="Google Shape;8860;p5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1" name="Google Shape;8861;p5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2" name="Google Shape;8862;p5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3" name="Google Shape;8863;p5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4" name="Google Shape;8864;p5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5" name="Google Shape;8865;p5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866" name="Google Shape;8866;p5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7" name="Google Shape;8867;p5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8" name="Google Shape;8868;p5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9" name="Google Shape;8869;p5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0" name="Google Shape;8870;p5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1" name="Google Shape;8871;p5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2" name="Google Shape;8872;p5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73" name="Google Shape;8873;p5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4" name="Google Shape;8874;p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5" name="Google Shape;8875;p5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6" name="Google Shape;8876;p5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7" name="Google Shape;8877;p5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8" name="Google Shape;8878;p5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9" name="Google Shape;8879;p5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880" name="Google Shape;8880;p5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81" name="Google Shape;8881;p5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82" name="Google Shape;8882;p5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83" name="Google Shape;8883;p5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84" name="Google Shape;8884;p5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$-42,226</a:t>
            </a:r>
            <a:endParaRPr/>
          </a:p>
        </p:txBody>
      </p:sp>
      <p:sp>
        <p:nvSpPr>
          <p:cNvPr id="8885" name="Google Shape;8885;p5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6" name="Google Shape;8886;p5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887" name="Google Shape;8887;p5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888" name="Google Shape;8888;p5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889" name="Google Shape;8889;p5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890" name="Google Shape;8890;p5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891" name="Google Shape;8891;p5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892" name="Google Shape;8892;p5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893" name="Google Shape;8893;p5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4" name="Google Shape;8894;p5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895" name="Google Shape;8895;p5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96" name="Google Shape;8896;p5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7" name="Google Shape;8897;p5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98" name="Google Shape;8898;p5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9" name="Google Shape;8899;p5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00" name="Google Shape;8900;p5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1" name="Google Shape;8901;p5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902" name="Google Shape;8902;p5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03" name="Google Shape;8903;p5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04" name="Google Shape;8904;p5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05" name="Google Shape;8905;p5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06" name="Google Shape;8906;p5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07" name="Google Shape;8907;p5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8" name="Google Shape;8908;p5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909" name="Google Shape;8909;p5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10" name="Google Shape;8910;p5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11" name="Google Shape;8911;p5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12" name="Google Shape;8912;p5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13" name="Google Shape;8913;p5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14" name="Google Shape;8914;p5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5" name="Google Shape;8915;p5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916" name="Google Shape;8916;p5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17" name="Google Shape;8917;p5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18" name="Google Shape;8918;p5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19" name="Google Shape;8919;p5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0" name="Google Shape;8920;p5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21" name="Google Shape;8921;p5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2" name="Google Shape;8922;p5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923" name="Google Shape;8923;p5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4" name="Google Shape;8924;p5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5" name="Google Shape;8925;p5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6" name="Google Shape;8926;p5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7" name="Google Shape;8927;p5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28" name="Google Shape;8928;p5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9" name="Google Shape;8929;p5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930" name="Google Shape;8930;p5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31" name="Google Shape;8931;p5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32" name="Google Shape;8932;p5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33" name="Google Shape;8933;p5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34" name="Google Shape;8934;p5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35" name="Google Shape;8935;p5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6" name="Google Shape;8936;p5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937" name="Google Shape;8937;p5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938" name="Google Shape;8938;p5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939" name="Google Shape;8939;p5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940" name="Google Shape;8940;p5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941" name="Google Shape;8941;p5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942" name="Google Shape;8942;p5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943" name="Google Shape;8943;p5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944" name="Google Shape;8944;p5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945" name="Google Shape;8945;p5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946" name="Google Shape;8946;p5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947" name="Google Shape;8947;p5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948" name="Google Shape;8948;p5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949" name="Google Shape;8949;p5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950" name="Google Shape;8950;p5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951" name="Google Shape;8951;p5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52" name="Google Shape;8952;p5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53" name="Google Shape;8953;p5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54" name="Google Shape;8954;p5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55" name="Google Shape;8955;p5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56" name="Google Shape;8956;p5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57" name="Google Shape;8957;p5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58" name="Google Shape;8958;p5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59" name="Google Shape;8959;p5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960" name="Google Shape;8960;p5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61" name="Google Shape;8961;p5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962" name="Google Shape;8962;p5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63" name="Google Shape;8963;p5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964" name="Google Shape;8964;p5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5" name="Google Shape;8965;p5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6" name="Google Shape;8966;p5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7" name="Google Shape;8967;p5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8" name="Google Shape;8968;p5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9" name="Google Shape;8969;p5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0" name="Google Shape;8970;p5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1" name="Google Shape;8971;p5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2" name="Google Shape;8972;p5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3" name="Google Shape;8973;p5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4" name="Google Shape;8974;p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5" name="Google Shape;8975;p5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6" name="Google Shape;8976;p5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7" name="Google Shape;8977;p5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978" name="Google Shape;8978;p5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979" name="Google Shape;8979;p5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8980" name="Google Shape;8980;p5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1" name="Google Shape;8981;p5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982" name="Google Shape;8982;p5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983" name="Google Shape;8983;p5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8984" name="Google Shape;8984;p5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5" name="Google Shape;8985;p5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986" name="Google Shape;8986;p5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987" name="Google Shape;8987;p5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8988" name="Google Shape;8988;p5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989" name="Google Shape;8989;p5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93" name="Shape 8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4" name="Google Shape;8994;p5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5" name="Google Shape;8995;p5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TransRisk LLC</a:t>
            </a:r>
            <a:endParaRPr/>
          </a:p>
        </p:txBody>
      </p:sp>
      <p:sp>
        <p:nvSpPr>
          <p:cNvPr id="8996" name="Google Shape;8996;p5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AL  |  City: Troy</a:t>
            </a:r>
            <a:endParaRPr/>
          </a:p>
        </p:txBody>
      </p:sp>
      <p:sp>
        <p:nvSpPr>
          <p:cNvPr id="8997" name="Google Shape;8997;p5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998" name="Google Shape;8998;p5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99" name="Google Shape;8999;p5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000" name="Google Shape;9000;p5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001" name="Google Shape;9001;p5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002" name="Google Shape;9002;p5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003" name="Google Shape;9003;p5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004" name="Google Shape;9004;p5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005" name="Google Shape;9005;p5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006" name="Google Shape;9006;p5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07" name="Google Shape;9007;p5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008" name="Google Shape;9008;p5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009" name="Google Shape;9009;p5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010" name="Google Shape;9010;p5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1" name="Google Shape;9011;p5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012" name="Google Shape;9012;p5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013" name="Google Shape;9013;p5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014" name="Google Shape;9014;p5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015" name="Google Shape;9015;p5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016" name="Google Shape;9016;p5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017" name="Google Shape;9017;p5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018" name="Google Shape;9018;p5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9" name="Google Shape;9019;p5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020" name="Google Shape;9020;p5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1" name="Google Shape;9021;p5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2" name="Google Shape;9022;p5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3" name="Google Shape;9023;p5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4" name="Google Shape;9024;p5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5" name="Google Shape;9025;p5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6" name="Google Shape;9026;p5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027" name="Google Shape;9027;p5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8" name="Google Shape;9028;p5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9" name="Google Shape;9029;p5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0" name="Google Shape;9030;p5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1" name="Google Shape;9031;p5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2" name="Google Shape;9032;p5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3" name="Google Shape;9033;p5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034" name="Google Shape;9034;p5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5" name="Google Shape;9035;p5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6" name="Google Shape;9036;p5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7" name="Google Shape;9037;p5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8" name="Google Shape;9038;p5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9" name="Google Shape;9039;p5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0" name="Google Shape;9040;p5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041" name="Google Shape;9041;p5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42" name="Google Shape;9042;p5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43" name="Google Shape;9043;p5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44" name="Google Shape;9044;p5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45" name="Google Shape;9045;p5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46" name="Google Shape;9046;p5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7" name="Google Shape;9047;p5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048" name="Google Shape;9048;p5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49" name="Google Shape;9049;p5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0" name="Google Shape;9050;p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1" name="Google Shape;9051;p5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2" name="Google Shape;9052;p5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3" name="Google Shape;9053;p5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4" name="Google Shape;9054;p5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055" name="Google Shape;9055;p5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6" name="Google Shape;9056;p5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7" name="Google Shape;9057;p5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8" name="Google Shape;9058;p5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9" name="Google Shape;9059;p5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60" name="Google Shape;9060;p5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1" name="Google Shape;9061;p5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062" name="Google Shape;9062;p5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063" name="Google Shape;9063;p5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64" name="Google Shape;9064;p5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065" name="Google Shape;9065;p5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066" name="Google Shape;9066;p5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67" name="Google Shape;9067;p5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068" name="Google Shape;9068;p5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9" name="Google Shape;9069;p5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070" name="Google Shape;9070;p5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1" name="Google Shape;9071;p5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2" name="Google Shape;9072;p5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3" name="Google Shape;9073;p5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4" name="Google Shape;9074;p5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75" name="Google Shape;9075;p5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6" name="Google Shape;9076;p5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077" name="Google Shape;9077;p5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8" name="Google Shape;9078;p5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9" name="Google Shape;9079;p5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80" name="Google Shape;9080;p5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81" name="Google Shape;9081;p5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82" name="Google Shape;9082;p5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3" name="Google Shape;9083;p5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084" name="Google Shape;9084;p5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85" name="Google Shape;9085;p5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86" name="Google Shape;9086;p5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87" name="Google Shape;9087;p5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88" name="Google Shape;9088;p5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89" name="Google Shape;9089;p5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0" name="Google Shape;9090;p5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091" name="Google Shape;9091;p5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92" name="Google Shape;9092;p5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93" name="Google Shape;9093;p5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94" name="Google Shape;9094;p5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95" name="Google Shape;9095;p5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96" name="Google Shape;9096;p5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7" name="Google Shape;9097;p5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098" name="Google Shape;9098;p5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99" name="Google Shape;9099;p5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00" name="Google Shape;9100;p5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01" name="Google Shape;9101;p5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02" name="Google Shape;9102;p5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03" name="Google Shape;9103;p5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4" name="Google Shape;9104;p5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105" name="Google Shape;9105;p5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06" name="Google Shape;9106;p5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07" name="Google Shape;9107;p5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08" name="Google Shape;9108;p5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09" name="Google Shape;9109;p5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10" name="Google Shape;9110;p5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1" name="Google Shape;9111;p5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112" name="Google Shape;9112;p5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113" name="Google Shape;9113;p5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114" name="Google Shape;9114;p5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115" name="Google Shape;9115;p5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116" name="Google Shape;9116;p5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117" name="Google Shape;9117;p5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118" name="Google Shape;9118;p5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119" name="Google Shape;9119;p5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120" name="Google Shape;9120;p5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121" name="Google Shape;9121;p5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122" name="Google Shape;9122;p5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123" name="Google Shape;9123;p5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124" name="Google Shape;9124;p5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125" name="Google Shape;9125;p5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126" name="Google Shape;9126;p5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27" name="Google Shape;9127;p5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28" name="Google Shape;9128;p5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29" name="Google Shape;9129;p5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30" name="Google Shape;9130;p5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31" name="Google Shape;9131;p5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32" name="Google Shape;9132;p5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33" name="Google Shape;9133;p5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34" name="Google Shape;9134;p5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35" name="Google Shape;9135;p5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36" name="Google Shape;9136;p5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137" name="Google Shape;9137;p5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38" name="Google Shape;9138;p5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139" name="Google Shape;9139;p5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0" name="Google Shape;9140;p5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1" name="Google Shape;9141;p5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2" name="Google Shape;9142;p5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3" name="Google Shape;9143;p5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4" name="Google Shape;9144;p5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5" name="Google Shape;9145;p5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6" name="Google Shape;9146;p5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7" name="Google Shape;9147;p5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8" name="Google Shape;9148;p5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9" name="Google Shape;9149;p5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0" name="Google Shape;9150;p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1" name="Google Shape;9151;p5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2" name="Google Shape;9152;p5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153" name="Google Shape;9153;p5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154" name="Google Shape;9154;p5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has some Jan–May 2026 activity</a:t>
            </a:r>
            <a:endParaRPr/>
          </a:p>
        </p:txBody>
      </p:sp>
      <p:sp>
        <p:nvSpPr>
          <p:cNvPr id="9155" name="Google Shape;9155;p5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156" name="Google Shape;9156;p5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Assigned to portfolio - opportunity for development</a:t>
            </a:r>
            <a:endParaRPr/>
          </a:p>
        </p:txBody>
      </p:sp>
      <p:sp>
        <p:nvSpPr>
          <p:cNvPr id="9157" name="Google Shape;9157;p5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8" name="Google Shape;9158;p5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159" name="Google Shape;9159;p5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160" name="Google Shape;9160;p5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9161" name="Google Shape;9161;p5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2" name="Google Shape;9162;p5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163" name="Google Shape;9163;p5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164" name="Google Shape;9164;p5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165" name="Google Shape;9165;p5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166" name="Google Shape;9166;p5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70" name="Shape 9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1" name="Google Shape;9171;p5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2" name="Google Shape;9172;p5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Tucker Agency, Llc</a:t>
            </a:r>
            <a:endParaRPr/>
          </a:p>
        </p:txBody>
      </p:sp>
      <p:sp>
        <p:nvSpPr>
          <p:cNvPr id="9173" name="Google Shape;9173;p5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TN  |  City: Nashville</a:t>
            </a:r>
            <a:endParaRPr/>
          </a:p>
        </p:txBody>
      </p:sp>
      <p:sp>
        <p:nvSpPr>
          <p:cNvPr id="9174" name="Google Shape;9174;p5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175" name="Google Shape;9175;p5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76" name="Google Shape;9176;p5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77" name="Google Shape;9177;p5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78" name="Google Shape;9178;p5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79" name="Google Shape;9179;p5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$417,734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180" name="Google Shape;9180;p5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$-19,506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181" name="Google Shape;9181;p5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182" name="Google Shape;9182;p5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183" name="Google Shape;9183;p5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84" name="Google Shape;9184;p5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185" name="Google Shape;9185;p5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186" name="Google Shape;9186;p5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187" name="Google Shape;9187;p5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8" name="Google Shape;9188;p5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189" name="Google Shape;9189;p5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190" name="Google Shape;9190;p5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191" name="Google Shape;9191;p5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92" name="Google Shape;9192;p5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93" name="Google Shape;9193;p5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94" name="Google Shape;9194;p5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95" name="Google Shape;9195;p5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6" name="Google Shape;9196;p5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197" name="Google Shape;9197;p5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8" name="Google Shape;9198;p5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9" name="Google Shape;9199;p5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0" name="Google Shape;9200;p5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1" name="Google Shape;9201;p5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2" name="Google Shape;9202;p5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3" name="Google Shape;9203;p5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204" name="Google Shape;9204;p5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5" name="Google Shape;9205;p5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6" name="Google Shape;9206;p5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7" name="Google Shape;9207;p5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8" name="Google Shape;9208;p5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9" name="Google Shape;9209;p5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0" name="Google Shape;9210;p5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211" name="Google Shape;9211;p5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12" name="Google Shape;9212;p5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13" name="Google Shape;9213;p5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14" name="Google Shape;9214;p5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15" name="Google Shape;9215;p5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$-5,814</a:t>
            </a:r>
            <a:endParaRPr/>
          </a:p>
        </p:txBody>
      </p:sp>
      <p:sp>
        <p:nvSpPr>
          <p:cNvPr id="9216" name="Google Shape;9216;p5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7" name="Google Shape;9217;p5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218" name="Google Shape;9218;p5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19" name="Google Shape;9219;p5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20" name="Google Shape;9220;p5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21" name="Google Shape;9221;p5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22" name="Google Shape;9222;p5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23" name="Google Shape;9223;p5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4" name="Google Shape;9224;p5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225" name="Google Shape;9225;p5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26" name="Google Shape;9226;p5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27" name="Google Shape;9227;p5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28" name="Google Shape;9228;p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29" name="Google Shape;9229;p5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30" name="Google Shape;9230;p5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1" name="Google Shape;9231;p5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232" name="Google Shape;9232;p5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33" name="Google Shape;9233;p5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34" name="Google Shape;9234;p5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35" name="Google Shape;9235;p5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36" name="Google Shape;9236;p5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$-5,814</a:t>
            </a:r>
            <a:endParaRPr/>
          </a:p>
        </p:txBody>
      </p:sp>
      <p:sp>
        <p:nvSpPr>
          <p:cNvPr id="9237" name="Google Shape;9237;p5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8" name="Google Shape;9238;p5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239" name="Google Shape;9239;p5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240" name="Google Shape;9240;p5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241" name="Google Shape;9241;p5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242" name="Google Shape;9242;p5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243" name="Google Shape;9243;p5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244" name="Google Shape;9244;p5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245" name="Google Shape;9245;p5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6" name="Google Shape;9246;p5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247" name="Google Shape;9247;p5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48" name="Google Shape;9248;p5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49" name="Google Shape;9249;p5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50" name="Google Shape;9250;p5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1" name="Google Shape;9251;p5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52" name="Google Shape;9252;p5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3" name="Google Shape;9253;p5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254" name="Google Shape;9254;p5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55" name="Google Shape;9255;p5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56" name="Google Shape;9256;p5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257" name="Google Shape;9257;p5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8" name="Google Shape;9258;p5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59" name="Google Shape;9259;p5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0" name="Google Shape;9260;p5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261" name="Google Shape;9261;p5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262" name="Google Shape;9262;p5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63" name="Google Shape;9263;p5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264" name="Google Shape;9264;p5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65" name="Google Shape;9265;p5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66" name="Google Shape;9266;p5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7" name="Google Shape;9267;p5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268" name="Google Shape;9268;p5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69" name="Google Shape;9269;p5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70" name="Google Shape;9270;p5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71" name="Google Shape;9271;p5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72" name="Google Shape;9272;p5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73" name="Google Shape;9273;p5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4" name="Google Shape;9274;p5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275" name="Google Shape;9275;p5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76" name="Google Shape;9276;p5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77" name="Google Shape;9277;p5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78" name="Google Shape;9278;p5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79" name="Google Shape;9279;p5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80" name="Google Shape;9280;p5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1" name="Google Shape;9281;p5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282" name="Google Shape;9282;p5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283" name="Google Shape;9283;p5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84" name="Google Shape;9284;p5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285" name="Google Shape;9285;p5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86" name="Google Shape;9286;p5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87" name="Google Shape;9287;p5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8" name="Google Shape;9288;p5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289" name="Google Shape;9289;p5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290" name="Google Shape;9290;p5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291" name="Google Shape;9291;p5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292" name="Google Shape;9292;p5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293" name="Google Shape;9293;p5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294" name="Google Shape;9294;p5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295" name="Google Shape;9295;p5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296" name="Google Shape;9296;p5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297" name="Google Shape;9297;p5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298" name="Google Shape;9298;p5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299" name="Google Shape;9299;p5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300" name="Google Shape;9300;p5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301" name="Google Shape;9301;p5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302" name="Google Shape;9302;p5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303" name="Google Shape;9303;p5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04" name="Google Shape;9304;p5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05" name="Google Shape;9305;p5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306" name="Google Shape;9306;p5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307" name="Google Shape;9307;p5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308" name="Google Shape;9308;p5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309" name="Google Shape;9309;p5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310" name="Google Shape;9310;p5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11" name="Google Shape;9311;p5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312" name="Google Shape;9312;p5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13" name="Google Shape;9313;p5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9314" name="Google Shape;9314;p5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315" name="Google Shape;9315;p5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316" name="Google Shape;9316;p5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$144K</a:t>
            </a:r>
            <a:endParaRPr/>
          </a:p>
        </p:txBody>
      </p:sp>
      <p:sp>
        <p:nvSpPr>
          <p:cNvPr id="9317" name="Google Shape;9317;p5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8" name="Google Shape;9318;p5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$461</a:t>
            </a:r>
            <a:endParaRPr/>
          </a:p>
        </p:txBody>
      </p:sp>
      <p:sp>
        <p:nvSpPr>
          <p:cNvPr id="9319" name="Google Shape;9319;p5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0" name="Google Shape;9320;p5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$264K</a:t>
            </a:r>
            <a:endParaRPr/>
          </a:p>
        </p:txBody>
      </p:sp>
      <p:sp>
        <p:nvSpPr>
          <p:cNvPr id="9321" name="Google Shape;9321;p5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2" name="Google Shape;9322;p5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3" name="Google Shape;9323;p5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4" name="Google Shape;9324;p5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9325" name="Google Shape;9325;p5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6" name="Google Shape;9326;p5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$437K</a:t>
            </a:r>
            <a:endParaRPr/>
          </a:p>
        </p:txBody>
      </p:sp>
      <p:sp>
        <p:nvSpPr>
          <p:cNvPr id="9327" name="Google Shape;9327;p5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8" name="Google Shape;9328;p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9" name="Google Shape;9329;p5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330" name="Google Shape;9330;p5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331" name="Google Shape;9331;p5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quotes generated - active in pipeline</a:t>
            </a:r>
            <a:endParaRPr/>
          </a:p>
        </p:txBody>
      </p:sp>
      <p:sp>
        <p:nvSpPr>
          <p:cNvPr id="9332" name="Google Shape;9332;p5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3" name="Google Shape;9333;p5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334" name="Google Shape;9334;p5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335" name="Google Shape;9335;p5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14 submissions</a:t>
            </a:r>
            <a:endParaRPr/>
          </a:p>
        </p:txBody>
      </p:sp>
      <p:sp>
        <p:nvSpPr>
          <p:cNvPr id="9336" name="Google Shape;9336;p5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337" name="Google Shape;9337;p5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submissions with zero binds - zero conversion</a:t>
            </a:r>
            <a:endParaRPr/>
          </a:p>
        </p:txBody>
      </p:sp>
      <p:sp>
        <p:nvSpPr>
          <p:cNvPr id="9338" name="Google Shape;9338;p5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9" name="Google Shape;9339;p5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340" name="Google Shape;9340;p5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341" name="Google Shape;9341;p5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9342" name="Google Shape;9342;p5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343" name="Google Shape;9343;p5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8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47" name="Shape 9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8" name="Google Shape;9348;p5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9" name="Google Shape;9349;p5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Venus Insurance Consulting Services Corp Dba Libre Commercial Insurance Group</a:t>
            </a:r>
            <a:endParaRPr/>
          </a:p>
        </p:txBody>
      </p:sp>
      <p:sp>
        <p:nvSpPr>
          <p:cNvPr id="9350" name="Google Shape;9350;p5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Marietta</a:t>
            </a:r>
            <a:endParaRPr/>
          </a:p>
        </p:txBody>
      </p:sp>
      <p:sp>
        <p:nvSpPr>
          <p:cNvPr id="9351" name="Google Shape;9351;p5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352" name="Google Shape;9352;p5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353" name="Google Shape;9353;p5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354" name="Google Shape;9354;p5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355" name="Google Shape;9355;p5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356" name="Google Shape;9356;p5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$48,424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357" name="Google Shape;9357;p5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358" name="Google Shape;9358;p5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359" name="Google Shape;9359;p5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360" name="Google Shape;9360;p5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361" name="Google Shape;9361;p5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362" name="Google Shape;9362;p5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363" name="Google Shape;9363;p5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364" name="Google Shape;9364;p5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5" name="Google Shape;9365;p5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366" name="Google Shape;9366;p5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367" name="Google Shape;9367;p5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368" name="Google Shape;9368;p5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369" name="Google Shape;9369;p5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370" name="Google Shape;9370;p5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371" name="Google Shape;9371;p5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372" name="Google Shape;9372;p5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3" name="Google Shape;9373;p5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374" name="Google Shape;9374;p5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75" name="Google Shape;9375;p5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76" name="Google Shape;9376;p5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77" name="Google Shape;9377;p5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78" name="Google Shape;9378;p5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79" name="Google Shape;9379;p5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0" name="Google Shape;9380;p5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381" name="Google Shape;9381;p5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2" name="Google Shape;9382;p5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3" name="Google Shape;9383;p5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4" name="Google Shape;9384;p5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5" name="Google Shape;9385;p5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6" name="Google Shape;9386;p5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7" name="Google Shape;9387;p5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388" name="Google Shape;9388;p5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9" name="Google Shape;9389;p5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0" name="Google Shape;9390;p5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1" name="Google Shape;9391;p5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2" name="Google Shape;9392;p5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3" name="Google Shape;9393;p5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4" name="Google Shape;9394;p5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395" name="Google Shape;9395;p5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6" name="Google Shape;9396;p5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7" name="Google Shape;9397;p5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8" name="Google Shape;9398;p5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9" name="Google Shape;9399;p5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00" name="Google Shape;9400;p5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1" name="Google Shape;9401;p5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402" name="Google Shape;9402;p5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03" name="Google Shape;9403;p5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04" name="Google Shape;9404;p5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05" name="Google Shape;9405;p5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06" name="Google Shape;9406;p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07" name="Google Shape;9407;p5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8" name="Google Shape;9408;p5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409" name="Google Shape;9409;p5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10" name="Google Shape;9410;p5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11" name="Google Shape;9411;p5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12" name="Google Shape;9412;p5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13" name="Google Shape;9413;p5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14" name="Google Shape;9414;p5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5" name="Google Shape;9415;p5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416" name="Google Shape;9416;p5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417" name="Google Shape;9417;p5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418" name="Google Shape;9418;p5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419" name="Google Shape;9419;p5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420" name="Google Shape;9420;p5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421" name="Google Shape;9421;p5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422" name="Google Shape;9422;p5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3" name="Google Shape;9423;p5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424" name="Google Shape;9424;p5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25" name="Google Shape;9425;p5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6" name="Google Shape;9426;p5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27" name="Google Shape;9427;p5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8" name="Google Shape;9428;p5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29" name="Google Shape;9429;p5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0" name="Google Shape;9430;p5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431" name="Google Shape;9431;p5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32" name="Google Shape;9432;p5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33" name="Google Shape;9433;p5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34" name="Google Shape;9434;p5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35" name="Google Shape;9435;p5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36" name="Google Shape;9436;p5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7" name="Google Shape;9437;p5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438" name="Google Shape;9438;p5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39" name="Google Shape;9439;p5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40" name="Google Shape;9440;p5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41" name="Google Shape;9441;p5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42" name="Google Shape;9442;p5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43" name="Google Shape;9443;p5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4" name="Google Shape;9444;p5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445" name="Google Shape;9445;p5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46" name="Google Shape;9446;p5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47" name="Google Shape;9447;p5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48" name="Google Shape;9448;p5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49" name="Google Shape;9449;p5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50" name="Google Shape;9450;p5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1" name="Google Shape;9451;p5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452" name="Google Shape;9452;p5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53" name="Google Shape;9453;p5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54" name="Google Shape;9454;p5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55" name="Google Shape;9455;p5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56" name="Google Shape;9456;p5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57" name="Google Shape;9457;p5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8" name="Google Shape;9458;p5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459" name="Google Shape;9459;p5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60" name="Google Shape;9460;p5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61" name="Google Shape;9461;p5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62" name="Google Shape;9462;p5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63" name="Google Shape;9463;p5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64" name="Google Shape;9464;p5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5" name="Google Shape;9465;p5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466" name="Google Shape;9466;p5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467" name="Google Shape;9467;p5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468" name="Google Shape;9468;p5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469" name="Google Shape;9469;p5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470" name="Google Shape;9470;p5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471" name="Google Shape;9471;p5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472" name="Google Shape;9472;p5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473" name="Google Shape;9473;p5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474" name="Google Shape;9474;p5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475" name="Google Shape;9475;p5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476" name="Google Shape;9476;p5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477" name="Google Shape;9477;p5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478" name="Google Shape;9478;p5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479" name="Google Shape;9479;p5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480" name="Google Shape;9480;p5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481" name="Google Shape;9481;p5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82" name="Google Shape;9482;p5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83" name="Google Shape;9483;p5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84" name="Google Shape;9484;p5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485" name="Google Shape;9485;p5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86" name="Google Shape;9486;p5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487" name="Google Shape;9487;p5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88" name="Google Shape;9488;p5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489" name="Google Shape;9489;p5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90" name="Google Shape;9490;p5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9491" name="Google Shape;9491;p5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92" name="Google Shape;9492;p5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493" name="Google Shape;9493;p5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9494" name="Google Shape;9494;p5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5" name="Google Shape;9495;p5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6" name="Google Shape;9496;p5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7" name="Google Shape;9497;p5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8" name="Google Shape;9498;p5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9" name="Google Shape;9499;p5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9500" name="Google Shape;9500;p5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1" name="Google Shape;9501;p5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9502" name="Google Shape;9502;p5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3" name="Google Shape;9503;p5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9504" name="Google Shape;9504;p5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5" name="Google Shape;9505;p5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6" name="Google Shape;9506;p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507" name="Google Shape;9507;p5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508" name="Google Shape;9508;p5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has some Jan–May 2026 activity</a:t>
            </a:r>
            <a:endParaRPr/>
          </a:p>
        </p:txBody>
      </p:sp>
      <p:sp>
        <p:nvSpPr>
          <p:cNvPr id="9509" name="Google Shape;9509;p5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510" name="Google Shape;9510;p5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Assigned to portfolio - opportunity for development</a:t>
            </a:r>
            <a:endParaRPr/>
          </a:p>
        </p:txBody>
      </p:sp>
      <p:sp>
        <p:nvSpPr>
          <p:cNvPr id="9511" name="Google Shape;9511;p5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2" name="Google Shape;9512;p5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513" name="Google Shape;9513;p5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514" name="Google Shape;9514;p5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9515" name="Google Shape;9515;p5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6" name="Google Shape;9516;p5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517" name="Google Shape;9517;p5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518" name="Google Shape;9518;p5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519" name="Google Shape;9519;p5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520" name="Google Shape;9520;p5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524" name="Shape 9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5" name="Google Shape;9525;p6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6" name="Google Shape;9526;p6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 Insure, LLC</a:t>
            </a:r>
            <a:endParaRPr/>
          </a:p>
        </p:txBody>
      </p:sp>
      <p:sp>
        <p:nvSpPr>
          <p:cNvPr id="9527" name="Google Shape;9527;p6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Sunrise</a:t>
            </a:r>
            <a:endParaRPr/>
          </a:p>
        </p:txBody>
      </p:sp>
      <p:sp>
        <p:nvSpPr>
          <p:cNvPr id="9528" name="Google Shape;9528;p6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529" name="Google Shape;9529;p6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530" name="Google Shape;9530;p6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531" name="Google Shape;9531;p6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532" name="Google Shape;9532;p6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533" name="Google Shape;9533;p6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534" name="Google Shape;9534;p6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535" name="Google Shape;9535;p6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536" name="Google Shape;9536;p6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537" name="Google Shape;9537;p6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538" name="Google Shape;9538;p6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539" name="Google Shape;9539;p6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540" name="Google Shape;9540;p6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541" name="Google Shape;9541;p6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2" name="Google Shape;9542;p6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543" name="Google Shape;9543;p6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544" name="Google Shape;9544;p6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545" name="Google Shape;9545;p6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546" name="Google Shape;9546;p6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547" name="Google Shape;9547;p6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548" name="Google Shape;9548;p6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549" name="Google Shape;9549;p6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0" name="Google Shape;9550;p6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551" name="Google Shape;9551;p6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2" name="Google Shape;9552;p6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3" name="Google Shape;9553;p6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4" name="Google Shape;9554;p6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5" name="Google Shape;9555;p6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6" name="Google Shape;9556;p6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7" name="Google Shape;9557;p6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558" name="Google Shape;9558;p6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9" name="Google Shape;9559;p6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0" name="Google Shape;9560;p6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1" name="Google Shape;9561;p6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2" name="Google Shape;9562;p6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3" name="Google Shape;9563;p6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4" name="Google Shape;9564;p6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565" name="Google Shape;9565;p6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6" name="Google Shape;9566;p6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7" name="Google Shape;9567;p6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8" name="Google Shape;9568;p6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9" name="Google Shape;9569;p6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70" name="Google Shape;9570;p6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1" name="Google Shape;9571;p6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572" name="Google Shape;9572;p6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73" name="Google Shape;9573;p6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74" name="Google Shape;9574;p6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75" name="Google Shape;9575;p6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76" name="Google Shape;9576;p6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77" name="Google Shape;9577;p6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8" name="Google Shape;9578;p6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579" name="Google Shape;9579;p6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0" name="Google Shape;9580;p6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1" name="Google Shape;9581;p6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2" name="Google Shape;9582;p6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3" name="Google Shape;9583;p6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4" name="Google Shape;9584;p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5" name="Google Shape;9585;p6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586" name="Google Shape;9586;p6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7" name="Google Shape;9587;p6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8" name="Google Shape;9588;p6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9" name="Google Shape;9589;p6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90" name="Google Shape;9590;p6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91" name="Google Shape;9591;p6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2" name="Google Shape;9592;p6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593" name="Google Shape;9593;p6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594" name="Google Shape;9594;p6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595" name="Google Shape;9595;p6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596" name="Google Shape;9596;p6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597" name="Google Shape;9597;p6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598" name="Google Shape;9598;p6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599" name="Google Shape;9599;p6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0" name="Google Shape;9600;p6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601" name="Google Shape;9601;p6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02" name="Google Shape;9602;p6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03" name="Google Shape;9603;p6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04" name="Google Shape;9604;p6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05" name="Google Shape;9605;p6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606" name="Google Shape;9606;p6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7" name="Google Shape;9607;p6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608" name="Google Shape;9608;p6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09" name="Google Shape;9609;p6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10" name="Google Shape;9610;p6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11" name="Google Shape;9611;p6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12" name="Google Shape;9612;p6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613" name="Google Shape;9613;p6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4" name="Google Shape;9614;p6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615" name="Google Shape;9615;p6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16" name="Google Shape;9616;p6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17" name="Google Shape;9617;p6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18" name="Google Shape;9618;p6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19" name="Google Shape;9619;p6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620" name="Google Shape;9620;p6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1" name="Google Shape;9621;p6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622" name="Google Shape;9622;p6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23" name="Google Shape;9623;p6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24" name="Google Shape;9624;p6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25" name="Google Shape;9625;p6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26" name="Google Shape;9626;p6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627" name="Google Shape;9627;p6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8" name="Google Shape;9628;p6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629" name="Google Shape;9629;p6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630" name="Google Shape;9630;p6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31" name="Google Shape;9631;p6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632" name="Google Shape;9632;p6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33" name="Google Shape;9633;p6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634" name="Google Shape;9634;p6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5" name="Google Shape;9635;p6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636" name="Google Shape;9636;p6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637" name="Google Shape;9637;p6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38" name="Google Shape;9638;p6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639" name="Google Shape;9639;p6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40" name="Google Shape;9640;p6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641" name="Google Shape;9641;p6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2" name="Google Shape;9642;p6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643" name="Google Shape;9643;p6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644" name="Google Shape;9644;p6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645" name="Google Shape;9645;p6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646" name="Google Shape;9646;p6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647" name="Google Shape;9647;p6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648" name="Google Shape;9648;p6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649" name="Google Shape;9649;p6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650" name="Google Shape;9650;p6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651" name="Google Shape;9651;p6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652" name="Google Shape;9652;p6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653" name="Google Shape;9653;p6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654" name="Google Shape;9654;p6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655" name="Google Shape;9655;p6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656" name="Google Shape;9656;p6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657" name="Google Shape;9657;p6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58" name="Google Shape;9658;p6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59" name="Google Shape;9659;p6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60" name="Google Shape;9660;p6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61" name="Google Shape;9661;p6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62" name="Google Shape;9662;p6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63" name="Google Shape;9663;p6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64" name="Google Shape;9664;p6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65" name="Google Shape;9665;p6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66" name="Google Shape;9666;p6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667" name="Google Shape;9667;p6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68" name="Google Shape;9668;p6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669" name="Google Shape;9669;p6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670" name="Google Shape;9670;p6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1" name="Google Shape;9671;p6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2" name="Google Shape;9672;p6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3" name="Google Shape;9673;p6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4" name="Google Shape;9674;p6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5" name="Google Shape;9675;p6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6" name="Google Shape;9676;p6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7" name="Google Shape;9677;p6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8" name="Google Shape;9678;p6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9" name="Google Shape;9679;p6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0" name="Google Shape;9680;p6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1" name="Google Shape;9681;p6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2" name="Google Shape;9682;p6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3" name="Google Shape;9683;p6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684" name="Google Shape;9684;p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685" name="Google Shape;9685;p6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9686" name="Google Shape;9686;p6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7" name="Google Shape;9687;p6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688" name="Google Shape;9688;p6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689" name="Google Shape;9689;p6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7 submissions</a:t>
            </a:r>
            <a:endParaRPr/>
          </a:p>
        </p:txBody>
      </p:sp>
      <p:sp>
        <p:nvSpPr>
          <p:cNvPr id="9690" name="Google Shape;9690;p6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691" name="Google Shape;9691;p6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9692" name="Google Shape;9692;p6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3" name="Google Shape;9693;p6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694" name="Google Shape;9694;p6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695" name="Google Shape;9695;p6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99" name="Shape 9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0" name="Google Shape;9700;p6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1" name="Google Shape;9701;p6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Yd Insurance &amp; Financial Services Llc</a:t>
            </a:r>
            <a:endParaRPr/>
          </a:p>
        </p:txBody>
      </p:sp>
      <p:sp>
        <p:nvSpPr>
          <p:cNvPr id="9702" name="Google Shape;9702;p6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N/A</a:t>
            </a:r>
            <a:endParaRPr/>
          </a:p>
        </p:txBody>
      </p:sp>
      <p:sp>
        <p:nvSpPr>
          <p:cNvPr id="9703" name="Google Shape;9703;p6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04" name="Google Shape;9704;p6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705" name="Google Shape;9705;p6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706" name="Google Shape;9706;p6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707" name="Google Shape;9707;p6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708" name="Google Shape;9708;p6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709" name="Google Shape;9709;p6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710" name="Google Shape;9710;p6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711" name="Google Shape;9711;p6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712" name="Google Shape;9712;p6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713" name="Google Shape;9713;p6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714" name="Google Shape;9714;p6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715" name="Google Shape;9715;p6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716" name="Google Shape;9716;p6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7" name="Google Shape;9717;p6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718" name="Google Shape;9718;p6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719" name="Google Shape;9719;p6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720" name="Google Shape;9720;p6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721" name="Google Shape;9721;p6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722" name="Google Shape;9722;p6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723" name="Google Shape;9723;p6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724" name="Google Shape;9724;p6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5" name="Google Shape;9725;p6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726" name="Google Shape;9726;p6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27" name="Google Shape;9727;p6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28" name="Google Shape;9728;p6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29" name="Google Shape;9729;p6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0" name="Google Shape;9730;p6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1" name="Google Shape;9731;p6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2" name="Google Shape;9732;p6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733" name="Google Shape;9733;p6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4" name="Google Shape;9734;p6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5" name="Google Shape;9735;p6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6" name="Google Shape;9736;p6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7" name="Google Shape;9737;p6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8" name="Google Shape;9738;p6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9" name="Google Shape;9739;p6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740" name="Google Shape;9740;p6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1" name="Google Shape;9741;p6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2" name="Google Shape;9742;p6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3" name="Google Shape;9743;p6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4" name="Google Shape;9744;p6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5" name="Google Shape;9745;p6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6" name="Google Shape;9746;p6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747" name="Google Shape;9747;p6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8" name="Google Shape;9748;p6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9" name="Google Shape;9749;p6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50" name="Google Shape;9750;p6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51" name="Google Shape;9751;p6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52" name="Google Shape;9752;p6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3" name="Google Shape;9753;p6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754" name="Google Shape;9754;p6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55" name="Google Shape;9755;p6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56" name="Google Shape;9756;p6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57" name="Google Shape;9757;p6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58" name="Google Shape;9758;p6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59" name="Google Shape;9759;p6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0" name="Google Shape;9760;p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761" name="Google Shape;9761;p6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62" name="Google Shape;9762;p6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63" name="Google Shape;9763;p6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64" name="Google Shape;9764;p6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65" name="Google Shape;9765;p6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66" name="Google Shape;9766;p6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7" name="Google Shape;9767;p6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768" name="Google Shape;9768;p6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769" name="Google Shape;9769;p6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770" name="Google Shape;9770;p6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771" name="Google Shape;9771;p6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772" name="Google Shape;9772;p6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773" name="Google Shape;9773;p6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774" name="Google Shape;9774;p6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5" name="Google Shape;9775;p6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776" name="Google Shape;9776;p6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77" name="Google Shape;9777;p6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78" name="Google Shape;9778;p6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79" name="Google Shape;9779;p6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80" name="Google Shape;9780;p6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9781" name="Google Shape;9781;p6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2" name="Google Shape;9782;p6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783" name="Google Shape;9783;p6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84" name="Google Shape;9784;p6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85" name="Google Shape;9785;p6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86" name="Google Shape;9786;p6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87" name="Google Shape;9787;p6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88" name="Google Shape;9788;p6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9" name="Google Shape;9789;p6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790" name="Google Shape;9790;p6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91" name="Google Shape;9791;p6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92" name="Google Shape;9792;p6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93" name="Google Shape;9793;p6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94" name="Google Shape;9794;p6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95" name="Google Shape;9795;p6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6" name="Google Shape;9796;p6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797" name="Google Shape;9797;p6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98" name="Google Shape;9798;p6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99" name="Google Shape;9799;p6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00" name="Google Shape;9800;p6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01" name="Google Shape;9801;p6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802" name="Google Shape;9802;p6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3" name="Google Shape;9803;p6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804" name="Google Shape;9804;p6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05" name="Google Shape;9805;p6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06" name="Google Shape;9806;p6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07" name="Google Shape;9807;p6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08" name="Google Shape;9808;p6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809" name="Google Shape;9809;p6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0" name="Google Shape;9810;p6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811" name="Google Shape;9811;p6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812" name="Google Shape;9812;p6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13" name="Google Shape;9813;p6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814" name="Google Shape;9814;p6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15" name="Google Shape;9815;p6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9816" name="Google Shape;9816;p6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7" name="Google Shape;9817;p6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818" name="Google Shape;9818;p6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819" name="Google Shape;9819;p6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820" name="Google Shape;9820;p6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821" name="Google Shape;9821;p6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822" name="Google Shape;9822;p6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823" name="Google Shape;9823;p6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824" name="Google Shape;9824;p6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825" name="Google Shape;9825;p6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826" name="Google Shape;9826;p6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827" name="Google Shape;9827;p6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828" name="Google Shape;9828;p6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829" name="Google Shape;9829;p6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830" name="Google Shape;9830;p6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831" name="Google Shape;9831;p6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832" name="Google Shape;9832;p6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33" name="Google Shape;9833;p6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34" name="Google Shape;9834;p6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35" name="Google Shape;9835;p6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36" name="Google Shape;9836;p6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37" name="Google Shape;9837;p6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38" name="Google Shape;9838;p6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39" name="Google Shape;9839;p6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40" name="Google Shape;9840;p6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41" name="Google Shape;9841;p6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842" name="Google Shape;9842;p6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843" name="Google Shape;9843;p6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844" name="Google Shape;9844;p6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845" name="Google Shape;9845;p6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6" name="Google Shape;9846;p6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7" name="Google Shape;9847;p6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8" name="Google Shape;9848;p6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9" name="Google Shape;9849;p6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0" name="Google Shape;9850;p6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1" name="Google Shape;9851;p6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2" name="Google Shape;9852;p6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3" name="Google Shape;9853;p6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4" name="Google Shape;9854;p6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5" name="Google Shape;9855;p6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6" name="Google Shape;9856;p6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7" name="Google Shape;9857;p6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8" name="Google Shape;9858;p6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859" name="Google Shape;9859;p6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860" name="Google Shape;9860;p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 hit ratio - above average conversion</a:t>
            </a:r>
            <a:endParaRPr/>
          </a:p>
        </p:txBody>
      </p:sp>
      <p:sp>
        <p:nvSpPr>
          <p:cNvPr id="9861" name="Google Shape;9861;p6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862" name="Google Shape;9862;p6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bind(s) - converting submissions to business</a:t>
            </a:r>
            <a:endParaRPr/>
          </a:p>
        </p:txBody>
      </p:sp>
      <p:sp>
        <p:nvSpPr>
          <p:cNvPr id="9863" name="Google Shape;9863;p6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4" name="Google Shape;9864;p6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865" name="Google Shape;9865;p6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866" name="Google Shape;9866;p6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8 submissions</a:t>
            </a:r>
            <a:endParaRPr/>
          </a:p>
        </p:txBody>
      </p:sp>
      <p:sp>
        <p:nvSpPr>
          <p:cNvPr id="9867" name="Google Shape;9867;p6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8" name="Google Shape;9868;p6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869" name="Google Shape;9869;p6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870" name="Google Shape;9870;p6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871" name="Google Shape;9871;p6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872" name="Google Shape;9872;p6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76" name="Shape 9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7" name="Google Shape;9877;p6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8" name="Google Shape;9878;p6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Yomtob Inc</a:t>
            </a:r>
            <a:endParaRPr/>
          </a:p>
        </p:txBody>
      </p:sp>
      <p:sp>
        <p:nvSpPr>
          <p:cNvPr id="9879" name="Google Shape;9879;p6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SC  |  City: N/A</a:t>
            </a:r>
            <a:endParaRPr/>
          </a:p>
        </p:txBody>
      </p:sp>
      <p:sp>
        <p:nvSpPr>
          <p:cNvPr id="9880" name="Google Shape;9880;p6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881" name="Google Shape;9881;p6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82" name="Google Shape;9882;p6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883" name="Google Shape;9883;p6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884" name="Google Shape;9884;p6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885" name="Google Shape;9885;p6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$45,858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886" name="Google Shape;9886;p6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$45,858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887" name="Google Shape;9887;p6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888" name="Google Shape;9888;p6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889" name="Google Shape;9889;p6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890" name="Google Shape;9890;p6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891" name="Google Shape;9891;p6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892" name="Google Shape;9892;p6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893" name="Google Shape;9893;p6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4" name="Google Shape;9894;p6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895" name="Google Shape;9895;p6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896" name="Google Shape;9896;p6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897" name="Google Shape;9897;p6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98" name="Google Shape;9898;p6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899" name="Google Shape;9899;p6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900" name="Google Shape;9900;p6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901" name="Google Shape;9901;p6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2" name="Google Shape;9902;p6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903" name="Google Shape;9903;p6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4" name="Google Shape;9904;p6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5" name="Google Shape;9905;p6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6" name="Google Shape;9906;p6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7" name="Google Shape;9907;p6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8" name="Google Shape;9908;p6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9" name="Google Shape;9909;p6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910" name="Google Shape;9910;p6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1" name="Google Shape;9911;p6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2" name="Google Shape;9912;p6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3" name="Google Shape;9913;p6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4" name="Google Shape;9914;p6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5" name="Google Shape;9915;p6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6" name="Google Shape;9916;p6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917" name="Google Shape;9917;p6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8" name="Google Shape;9918;p6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9" name="Google Shape;9919;p6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20" name="Google Shape;9920;p6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21" name="Google Shape;9921;p6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22" name="Google Shape;9922;p6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3" name="Google Shape;9923;p6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924" name="Google Shape;9924;p6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25" name="Google Shape;9925;p6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26" name="Google Shape;9926;p6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27" name="Google Shape;9927;p6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28" name="Google Shape;9928;p6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$-777</a:t>
            </a:r>
            <a:endParaRPr/>
          </a:p>
        </p:txBody>
      </p:sp>
      <p:sp>
        <p:nvSpPr>
          <p:cNvPr id="9929" name="Google Shape;9929;p6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0" name="Google Shape;9930;p6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931" name="Google Shape;9931;p6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32" name="Google Shape;9932;p6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33" name="Google Shape;9933;p6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34" name="Google Shape;9934;p6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35" name="Google Shape;9935;p6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36" name="Google Shape;9936;p6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7" name="Google Shape;9937;p6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938" name="Google Shape;9938;p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39" name="Google Shape;9939;p6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40" name="Google Shape;9940;p6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41" name="Google Shape;9941;p6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42" name="Google Shape;9942;p6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$-777</a:t>
            </a:r>
            <a:endParaRPr/>
          </a:p>
        </p:txBody>
      </p:sp>
      <p:sp>
        <p:nvSpPr>
          <p:cNvPr id="9943" name="Google Shape;9943;p6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4" name="Google Shape;9944;p6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945" name="Google Shape;9945;p6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946" name="Google Shape;9946;p6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947" name="Google Shape;9947;p6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948" name="Google Shape;9948;p6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949" name="Google Shape;9949;p6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950" name="Google Shape;9950;p6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951" name="Google Shape;9951;p6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2" name="Google Shape;9952;p6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953" name="Google Shape;9953;p6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54" name="Google Shape;9954;p6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55" name="Google Shape;9955;p6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56" name="Google Shape;9956;p6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57" name="Google Shape;9957;p6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58" name="Google Shape;9958;p6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9" name="Google Shape;9959;p6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960" name="Google Shape;9960;p6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61" name="Google Shape;9961;p6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62" name="Google Shape;9962;p6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63" name="Google Shape;9963;p6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64" name="Google Shape;9964;p6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65" name="Google Shape;9965;p6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6" name="Google Shape;9966;p6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967" name="Google Shape;9967;p6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68" name="Google Shape;9968;p6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69" name="Google Shape;9969;p6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70" name="Google Shape;9970;p6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71" name="Google Shape;9971;p6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72" name="Google Shape;9972;p6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3" name="Google Shape;9973;p6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974" name="Google Shape;9974;p6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75" name="Google Shape;9975;p6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76" name="Google Shape;9976;p6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77" name="Google Shape;9977;p6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78" name="Google Shape;9978;p6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79" name="Google Shape;9979;p6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0" name="Google Shape;9980;p6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981" name="Google Shape;9981;p6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82" name="Google Shape;9982;p6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83" name="Google Shape;9983;p6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84" name="Google Shape;9984;p6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85" name="Google Shape;9985;p6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86" name="Google Shape;9986;p6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7" name="Google Shape;9987;p6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988" name="Google Shape;9988;p6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989" name="Google Shape;9989;p6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90" name="Google Shape;9990;p6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991" name="Google Shape;9991;p6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92" name="Google Shape;9992;p6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93" name="Google Shape;9993;p6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4" name="Google Shape;9994;p6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995" name="Google Shape;9995;p6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996" name="Google Shape;9996;p6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997" name="Google Shape;9997;p6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998" name="Google Shape;9998;p6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999" name="Google Shape;9999;p6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000" name="Google Shape;10000;p6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001" name="Google Shape;10001;p6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002" name="Google Shape;10002;p6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003" name="Google Shape;10003;p6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004" name="Google Shape;10004;p6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005" name="Google Shape;10005;p6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006" name="Google Shape;10006;p6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007" name="Google Shape;10007;p6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008" name="Google Shape;10008;p6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009" name="Google Shape;10009;p6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10" name="Google Shape;10010;p6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11" name="Google Shape;10011;p6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12" name="Google Shape;10012;p6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013" name="Google Shape;10013;p6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14" name="Google Shape;10014;p6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015" name="Google Shape;10015;p6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16" name="Google Shape;10016;p6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017" name="Google Shape;10017;p6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018" name="Google Shape;10018;p6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019" name="Google Shape;10019;p6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020" name="Google Shape;10020;p6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021" name="Google Shape;10021;p6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022" name="Google Shape;10022;p6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23" name="Google Shape;10023;p6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24" name="Google Shape;10024;p6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25" name="Google Shape;10025;p6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26" name="Google Shape;10026;p6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27" name="Google Shape;10027;p6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28" name="Google Shape;10028;p6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29" name="Google Shape;10029;p6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30" name="Google Shape;10030;p6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31" name="Google Shape;10031;p6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32" name="Google Shape;10032;p6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33" name="Google Shape;10033;p6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34" name="Google Shape;10034;p6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5" name="Google Shape;10035;p6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036" name="Google Shape;10036;p6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037" name="Google Shape;10037;p6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quotes generated - active in pipeline</a:t>
            </a:r>
            <a:endParaRPr/>
          </a:p>
        </p:txBody>
      </p:sp>
      <p:sp>
        <p:nvSpPr>
          <p:cNvPr id="10038" name="Google Shape;10038;p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9" name="Google Shape;10039;p6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040" name="Google Shape;10040;p6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041" name="Google Shape;10041;p6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7 submissions</a:t>
            </a:r>
            <a:endParaRPr/>
          </a:p>
        </p:txBody>
      </p:sp>
      <p:sp>
        <p:nvSpPr>
          <p:cNvPr id="10042" name="Google Shape;10042;p6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043" name="Google Shape;10043;p6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10044" name="Google Shape;10044;p6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5" name="Google Shape;10045;p6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046" name="Google Shape;10046;p6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047" name="Google Shape;10047;p6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