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</p:sldIdLst>
  <p:sldSz cy="6858000" cx="12191675"/>
  <p:notesSz cx="6858000" cy="9144000"/>
  <p:embeddedFontLst>
    <p:embeddedFont>
      <p:font typeface="Quattrocento Sans"/>
      <p:regular r:id="rId64"/>
      <p:bold r:id="rId65"/>
      <p:italic r:id="rId66"/>
      <p:boldItalic r:id="rId6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68" roundtripDataSignature="AMtx7mjJjJgEAS34N/8nvWrL5v9qSuZa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font" Target="fonts/QuattrocentoSans-regular.fntdata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font" Target="fonts/QuattrocentoSans-italic.fntdata"/><Relationship Id="rId21" Type="http://schemas.openxmlformats.org/officeDocument/2006/relationships/slide" Target="slides/slide16.xml"/><Relationship Id="rId65" Type="http://schemas.openxmlformats.org/officeDocument/2006/relationships/font" Target="fonts/QuattrocentoSans-bold.fntdata"/><Relationship Id="rId24" Type="http://schemas.openxmlformats.org/officeDocument/2006/relationships/slide" Target="slides/slide19.xml"/><Relationship Id="rId68" Type="http://customschemas.google.com/relationships/presentationmetadata" Target="metadata"/><Relationship Id="rId23" Type="http://schemas.openxmlformats.org/officeDocument/2006/relationships/slide" Target="slides/slide18.xml"/><Relationship Id="rId67" Type="http://schemas.openxmlformats.org/officeDocument/2006/relationships/font" Target="fonts/QuattrocentoSans-boldItalic.fntdata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8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0" name="Google Shape;121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4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6" name="Google Shape;125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8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0" name="Google Shape;130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3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5" name="Google Shape;150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7" name="Shape 1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Google Shape;163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9" name="Google Shape;163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0" name="Shape 1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Google Shape;169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2" name="Google Shape;169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9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1" name="Google Shape;187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8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0" name="Google Shape;205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7" name="Shape 2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8" name="Google Shape;222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9" name="Google Shape;2229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4" name="Shape 2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5" name="Google Shape;240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6" name="Google Shape;2406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1" name="Shape 2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2" name="Google Shape;258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3" name="Google Shape;2583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0" name="Shape 2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1" name="Google Shape;2761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2" name="Google Shape;2762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9" name="Shape 2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0" name="Google Shape;294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1" name="Google Shape;2941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8" name="Shape 3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9" name="Google Shape;311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0" name="Google Shape;3120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7" name="Shape 3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8" name="Google Shape;3298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9" name="Google Shape;3299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4" name="Shape 3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5" name="Google Shape;3475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6" name="Google Shape;3476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9" name="Shape 3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0" name="Google Shape;3650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1" name="Google Shape;3651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8" name="Shape 3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9" name="Google Shape;3829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0" name="Google Shape;3830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7" name="Shape 4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8" name="Google Shape;4008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9" name="Google Shape;4009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6" name="Shape 4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7" name="Google Shape;4187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8" name="Google Shape;4188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5" name="Shape 4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6" name="Google Shape;4366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7" name="Google Shape;4367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2" name="Shape 4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3" name="Google Shape;4543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4" name="Google Shape;4544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1" name="Shape 4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2" name="Google Shape;4722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3" name="Google Shape;4723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0" name="Shape 4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1" name="Google Shape;4901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2" name="Google Shape;4902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9" name="Shape 5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0" name="Google Shape;5080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1" name="Google Shape;5081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6" name="Shape 5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7" name="Google Shape;5257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8" name="Google Shape;5258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3" name="Shape 5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4" name="Google Shape;5434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5" name="Google Shape;5435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12" name="Shape 5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3" name="Google Shape;5613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4" name="Google Shape;5614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9" name="Shape 5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0" name="Google Shape;5790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1" name="Google Shape;5791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8" name="Shape 5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9" name="Google Shape;5969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0" name="Google Shape;5970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5" name="Shape 6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Google Shape;6146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7" name="Google Shape;6147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4" name="Shape 6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5" name="Google Shape;6325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6" name="Google Shape;6326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3" name="Shape 6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4" name="Google Shape;6504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5" name="Google Shape;6505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2" name="Shape 6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3" name="Google Shape;6683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4" name="Google Shape;6684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9" name="Shape 6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" name="Google Shape;6860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1" name="Google Shape;6861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36" name="Shape 7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7" name="Google Shape;7037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8" name="Google Shape;7038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9" name="Shape 7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0" name="Google Shape;7210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1" name="Google Shape;7211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4" name="Shape 7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5" name="Google Shape;7385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6" name="Google Shape;7386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1" name="Shape 7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2" name="Google Shape;7562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63" name="Google Shape;7563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40" name="Shape 7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1" name="Google Shape;7741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42" name="Google Shape;7742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5" name="Shape 7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6" name="Google Shape;7916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17" name="Google Shape;7917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0" name="Shape 8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1" name="Google Shape;8091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92" name="Google Shape;8092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67" name="Shape 8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8" name="Google Shape;8268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9" name="Google Shape;8269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42" name="Shape 8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3" name="Google Shape;8443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4" name="Google Shape;8444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17" name="Shape 8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8" name="Google Shape;8618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19" name="Google Shape;8619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2" name="Shape 8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3" name="Google Shape;8793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4" name="Google Shape;8794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1" name="Shape 8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2" name="Google Shape;8972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73" name="Google Shape;8973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48" name="Shape 9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9" name="Google Shape;9149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50" name="Google Shape;9150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6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6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6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6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6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6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6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6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6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6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6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6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7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7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7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5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5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5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5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Erika Cabrera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28, 2026  |  47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Erika Cabrera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47 Total Agencies  |  42 Active  |  4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$1,662,786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$1,160,982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$406,093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$-795,586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$5,969,270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$5,403,402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$7,163,124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$439,868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$1,557,222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$403,565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$294,524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$17,044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770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$403,565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$294,524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$17,044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770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$275,674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$231,073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2789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2006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Ultra Coverage Inc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$115,692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$67,015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Trucker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$112,668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$106,070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670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454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Services, In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$112,037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$56,356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$11,056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1078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565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Dubeh Insurance Inc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$90,374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$63,443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Faraon Industries Inc.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Trucking Insurance Services Llc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$66,280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$38,782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Sbk Insurance Inc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$53,557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$31,944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Oakbridge Insurance Agency Llc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$40,197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$22,606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Mitchell Hecht Llc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$824,301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$96,234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1498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$843,922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$182,487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1283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$803,056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$227,099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1437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$899,422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$356,774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1606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$619,586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$298,390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1277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$1,662,786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$1,160,982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6984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274" name="Google Shape;274;p2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INACTIVE AGENCIES (4)</a:t>
            </a:r>
            <a:endParaRPr/>
          </a:p>
        </p:txBody>
      </p:sp>
      <p:sp>
        <p:nvSpPr>
          <p:cNvPr id="276" name="Google Shape;276;p2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J.c.a. Consultant, Inc.</a:t>
            </a:r>
            <a:endParaRPr/>
          </a:p>
        </p:txBody>
      </p:sp>
      <p:sp>
        <p:nvSpPr>
          <p:cNvPr id="277" name="Google Shape;277;p2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Simplex Group</a:t>
            </a:r>
            <a:endParaRPr/>
          </a:p>
        </p:txBody>
      </p:sp>
      <p:sp>
        <p:nvSpPr>
          <p:cNvPr id="278" name="Google Shape;278;p2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Llc Dba Trucke</a:t>
            </a:r>
            <a:endParaRPr/>
          </a:p>
        </p:txBody>
      </p:sp>
      <p:sp>
        <p:nvSpPr>
          <p:cNvPr id="279" name="Google Shape;279;p2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True Coverage Insurance Agency, Llc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Erika Cabrera</a:t>
            </a:r>
            <a:endParaRPr/>
          </a:p>
        </p:txBody>
      </p:sp>
      <p:sp>
        <p:nvSpPr>
          <p:cNvPr id="286" name="Google Shape;286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87" name="Google Shape;287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84.3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90" name="Google Shape;290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91" name="Google Shape;291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+133%</a:t>
            </a:r>
            <a:endParaRPr/>
          </a:p>
        </p:txBody>
      </p:sp>
      <p:sp>
        <p:nvSpPr>
          <p:cNvPr id="297" name="Google Shape;297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53%</a:t>
            </a:r>
            <a:endParaRPr/>
          </a:p>
        </p:txBody>
      </p:sp>
      <p:sp>
        <p:nvSpPr>
          <p:cNvPr id="303" name="Google Shape;303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7" name="Google Shape;307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 of 47 agencies  |  Goal 75%</a:t>
            </a:r>
            <a:endParaRPr/>
          </a:p>
        </p:txBody>
      </p:sp>
      <p:sp>
        <p:nvSpPr>
          <p:cNvPr id="308" name="Google Shape;308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91%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Erika Cabrera</a:t>
            </a:r>
            <a:endParaRPr/>
          </a:p>
        </p:txBody>
      </p:sp>
      <p:sp>
        <p:nvSpPr>
          <p:cNvPr id="316" name="Google Shape;316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1–11  (Jan–Mar)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0" name="Google Shape;330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9" name="Google Shape;339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7" name="Google Shape;347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5" name="Google Shape;355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3" name="Google Shape;363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1" name="Google Shape;371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9" name="Google Shape;379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7" name="Google Shape;387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5" name="Google Shape;395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3" name="Google Shape;403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1" name="Google Shape;411;p4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4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4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9" name="Google Shape;419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12–21  (Mar–May)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22" name="Google Shape;422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27" name="Google Shape;427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6" name="Google Shape;436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4" name="Google Shape;444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2" name="Google Shape;452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60" name="Google Shape;460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68" name="Google Shape;468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78%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76" name="Google Shape;476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28%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84" name="Google Shape;484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114%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92" name="Google Shape;492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5/18–5/24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500" name="Google Shape;500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5/25–5/28*</a:t>
            </a:r>
            <a:endParaRPr/>
          </a:p>
        </p:txBody>
      </p:sp>
      <p:sp>
        <p:nvSpPr>
          <p:cNvPr id="503" name="Google Shape;503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04" name="Google Shape;504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05" name="Google Shape;505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06" name="Google Shape;506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32%</a:t>
            </a:r>
            <a:endParaRPr/>
          </a:p>
        </p:txBody>
      </p:sp>
      <p:sp>
        <p:nvSpPr>
          <p:cNvPr id="507" name="Google Shape;507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08" name="Google Shape;508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Erika Cabrera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16" name="Google Shape;516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3067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17" name="Google Shape;517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18" name="Google Shape;518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9" name="Google Shape;519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20" name="Google Shape;520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-76.4%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21" name="Google Shape;521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23" name="Google Shape;523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29" name="Google Shape;529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33" name="Google Shape;533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503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-92%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471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-82%</a:t>
            </a:r>
            <a:endParaRPr/>
          </a:p>
        </p:txBody>
      </p:sp>
      <p:sp>
        <p:nvSpPr>
          <p:cNvPr id="543" name="Google Shape;543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578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-85%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1,587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779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+104%</a:t>
            </a:r>
            <a:endParaRPr/>
          </a:p>
        </p:txBody>
      </p:sp>
      <p:sp>
        <p:nvSpPr>
          <p:cNvPr id="556" name="Google Shape;556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1,268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1,145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+11%</a:t>
            </a:r>
            <a:endParaRPr/>
          </a:p>
        </p:txBody>
      </p:sp>
      <p:sp>
        <p:nvSpPr>
          <p:cNvPr id="563" name="Google Shape;563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3,067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3,476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-12%</a:t>
            </a:r>
            <a:endParaRPr/>
          </a:p>
        </p:txBody>
      </p:sp>
      <p:sp>
        <p:nvSpPr>
          <p:cNvPr id="570" name="Google Shape;570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77" name="Google Shape;577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2,789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+2,580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Services, Inc.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1,078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+558</a:t>
            </a:r>
            <a:endParaRPr/>
          </a:p>
        </p:txBody>
      </p:sp>
      <p:sp>
        <p:nvSpPr>
          <p:cNvPr id="589" name="Google Shape;589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Simp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770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Trucker Pa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670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+249</a:t>
            </a:r>
            <a:endParaRPr/>
          </a:p>
        </p:txBody>
      </p:sp>
      <p:sp>
        <p:nvSpPr>
          <p:cNvPr id="600" name="Google Shape;600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Nikolov Agency, Llc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Karen &amp; King LLC Agency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+90</a:t>
            </a:r>
            <a:endParaRPr/>
          </a:p>
        </p:txBody>
      </p:sp>
      <p:sp>
        <p:nvSpPr>
          <p:cNvPr id="611" name="Google Shape;611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Morales Agency LLC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+17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Faraon Industries Inc.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+139</a:t>
            </a:r>
            <a:endParaRPr/>
          </a:p>
        </p:txBody>
      </p:sp>
      <p:sp>
        <p:nvSpPr>
          <p:cNvPr id="622" name="Google Shape;622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Tailor'd Insurance Llc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-126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Trucking Insurance Services Llc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+88</a:t>
            </a:r>
            <a:endParaRPr/>
          </a:p>
        </p:txBody>
      </p:sp>
      <p:sp>
        <p:nvSpPr>
          <p:cNvPr id="633" name="Google Shape;633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Ultra Coverage Inc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+72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Dubeh Insurance Inc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+50</a:t>
            </a:r>
            <a:endParaRPr/>
          </a:p>
        </p:txBody>
      </p:sp>
      <p:sp>
        <p:nvSpPr>
          <p:cNvPr id="644" name="Google Shape;644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National Transportation Insurance Spec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+39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Integrity Insurance Underwriters Llc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+14</a:t>
            </a:r>
            <a:endParaRPr/>
          </a:p>
        </p:txBody>
      </p:sp>
      <p:sp>
        <p:nvSpPr>
          <p:cNvPr id="655" name="Google Shape;655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Professional Insurance Agency Group In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-11</a:t>
            </a:r>
            <a:endParaRPr/>
          </a:p>
        </p:txBody>
      </p:sp>
      <p:sp>
        <p:nvSpPr>
          <p:cNvPr id="661" name="Google Shape;661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Sbk Insurance Inc</a:t>
            </a:r>
            <a:endParaRPr/>
          </a:p>
        </p:txBody>
      </p:sp>
      <p:sp>
        <p:nvSpPr>
          <p:cNvPr id="662" name="Google Shape;662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63" name="Google Shape;663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4" name="Google Shape;664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665" name="Google Shape;665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+47</a:t>
            </a:r>
            <a:endParaRPr/>
          </a:p>
        </p:txBody>
      </p:sp>
      <p:sp>
        <p:nvSpPr>
          <p:cNvPr id="666" name="Google Shape;666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Erika Cabrera  |  47 Total Agencies  |  Jan–May 2026</a:t>
            </a:r>
            <a:endParaRPr/>
          </a:p>
        </p:txBody>
      </p:sp>
      <p:sp>
        <p:nvSpPr>
          <p:cNvPr id="674" name="Google Shape;674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$824,301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$96,234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$19,952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$-158,688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1,498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1,046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693" name="Google Shape;693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$843,922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$182,487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$37,043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$-187,091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1,283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834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$803,056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$227,099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$38,715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$-179,096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1,437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947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712" name="Google Shape;712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$899,422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$356,774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$-139,804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1,606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1,101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$619,586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$298,390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$-130,907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1,277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867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731" name="Google Shape;731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$3,990,286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$1,160,982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$95,710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$-795,586</a:t>
            </a:r>
            <a:endParaRPr/>
          </a:p>
        </p:txBody>
      </p:sp>
      <p:sp>
        <p:nvSpPr>
          <p:cNvPr id="737" name="Google Shape;737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7,101</a:t>
            </a:r>
            <a:endParaRPr/>
          </a:p>
        </p:txBody>
      </p:sp>
      <p:sp>
        <p:nvSpPr>
          <p:cNvPr id="738" name="Google Shape;738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4,795</a:t>
            </a:r>
            <a:endParaRPr/>
          </a:p>
        </p:txBody>
      </p:sp>
      <p:sp>
        <p:nvSpPr>
          <p:cNvPr id="739" name="Google Shape;739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</a:t>
            </a:r>
            <a:endParaRPr/>
          </a:p>
        </p:txBody>
      </p:sp>
      <p:sp>
        <p:nvSpPr>
          <p:cNvPr id="740" name="Google Shape;740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741" name="Google Shape;741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Erika Cabrera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48" name="Google Shape;748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49" name="Google Shape;749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50" name="Google Shape;750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51" name="Google Shape;751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52" name="Google Shape;752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60" name="Google Shape;760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Trucker Path Insurance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$38,628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3" name="Google Shape;773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Tailor'D Insurance LLC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$11,445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Morales Agency LLC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6" name="Google Shape;786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Simplex Insurance Ser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$11,350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GEORGIA'S INSURANCE SOURCE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99" name="Google Shape;799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Nikolov Agency, LLC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Karen &amp; King LLC Agency</a:t>
            </a:r>
            <a:endParaRPr/>
          </a:p>
        </p:txBody>
      </p:sp>
      <p:sp>
        <p:nvSpPr>
          <p:cNvPr id="807" name="Google Shape;807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8" name="Google Shape;808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9" name="Google Shape;809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0" name="Google Shape;810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1" name="Google Shape;811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12" name="Google Shape;812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NC, NE, SC, TX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Erika Cabrera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19" name="Google Shape;819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20" name="Google Shape;820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21" name="Google Shape;821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$3,145,292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22" name="Google Shape;822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23" name="Google Shape;823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30" name="Google Shape;830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Services, Inc.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32.9%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$2,605,242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Simplex 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1" name="Google Shape;841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Faraon Industries Inc.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2" name="Google Shape;852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Sbk Insurance Inc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Trucker Path I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3" name="Google Shape;863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Karen &amp; King LLC Agency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Tailor'D Insurance LLC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$8,480</a:t>
            </a:r>
            <a:endParaRPr/>
          </a:p>
        </p:txBody>
      </p:sp>
      <p:sp>
        <p:nvSpPr>
          <p:cNvPr id="874" name="Google Shape;874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160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(61%)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(32%)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(7%)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86" name="Google Shape;886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7" name="Google Shape;887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8" name="Google Shape;888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89" name="Google Shape;889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0" name="Google Shape;890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91" name="Google Shape;891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11.1%  ·  Declined: 103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Erika Cabrera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99" name="Google Shape;899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900" name="Google Shape;900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901" name="Google Shape;901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902" name="Google Shape;902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903" name="Google Shape;903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904" name="Google Shape;904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12" name="Google Shape;912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 +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3512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0.1%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Isabel Rincon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692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26" name="Google Shape;926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Summers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Milen Nikolov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Nikolov Agency, Llc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39" name="Google Shape;939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Karen McLean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Karen &amp; King LLC Agency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Raykes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163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2" name="Google Shape;952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Wilfredo Leguisamon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Faraon Industries Inc.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Morales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Morales Agency LLC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5" name="Google Shape;965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William Mckinley Kremer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Trucking Insurance Services Ll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Todd Chafee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Tailor'd Insurance Llc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78" name="Google Shape;978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Brayan Felix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Olga Kopylova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Ultra Coverage Inc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1" name="Google Shape;991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Jack Swan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Bryson Braswell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04" name="Google Shape;1004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Corey Sullivan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Charles Beale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17" name="Google Shape;1017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Hassan Omar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Dubeh Insurance Inc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Sydenham Moran Castro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3.9%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30" name="Google Shape;1030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38" name="Google Shape;1038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Nicole Zacapa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Integrity Insurance Underwrite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Ian Llanes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2" name="Google Shape;1052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Andrew Thomas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Betsy Alonso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Insurance Services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5" name="Google Shape;1065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Rogelio Garcia Gomez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#29 - Family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Anthony Melius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78" name="Google Shape;1078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Sandra Alonzo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Wao Insurance Group Inc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Bayram Ayvazov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National Transportation Insura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1" name="Google Shape;1091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Roy Richards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Motive Insurance Agency Llc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Testa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Professional Insurance Agency 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4" name="Google Shape;1104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Nykita Shearin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Georgia's Insurance Source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ISABEL DIAZ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Insurance &amp; More, Corp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7" name="Google Shape;1117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Sarah Wagner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Nicholas Rogers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30" name="Google Shape;1130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Scott Steward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Sbk Insurance Inc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Rose-Danielle Francois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43" name="Google Shape;1143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Javier Hernandez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Deborah Risken</a:t>
            </a:r>
            <a:endParaRPr/>
          </a:p>
        </p:txBody>
      </p:sp>
      <p:sp>
        <p:nvSpPr>
          <p:cNvPr id="1151" name="Google Shape;1151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Checker Associates, Llc</a:t>
            </a:r>
            <a:endParaRPr/>
          </a:p>
        </p:txBody>
      </p:sp>
      <p:sp>
        <p:nvSpPr>
          <p:cNvPr id="1152" name="Google Shape;1152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153" name="Google Shape;1153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54" name="Google Shape;1154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1155" name="Google Shape;1155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6" name="Google Shape;1156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10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64" name="Google Shape;1164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5" name="Google Shape;1165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66" name="Google Shape;1166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68" name="Google Shape;1168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1170" name="Google Shape;1170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$275,674  |  Subs 2789  |  Binds 16  |  HR 0.6%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$275,674 YTD GWP  |  16 binds in Q1</a:t>
            </a:r>
            <a:endParaRPr/>
          </a:p>
        </p:txBody>
      </p:sp>
      <p:sp>
        <p:nvSpPr>
          <p:cNvPr id="1172" name="Google Shape;1172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Simplex </a:t>
            </a:r>
            <a:endParaRPr/>
          </a:p>
        </p:txBody>
      </p:sp>
      <p:sp>
        <p:nvSpPr>
          <p:cNvPr id="1174" name="Google Shape;1174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$403,565  |  Subs 770  |  Binds 12  |  HR 1.6%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1.6% (portfolio avg: 1.3%)  |  $403,565 YTD GWP</a:t>
            </a:r>
            <a:endParaRPr/>
          </a:p>
        </p:txBody>
      </p:sp>
      <p:sp>
        <p:nvSpPr>
          <p:cNvPr id="1176" name="Google Shape;1176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Simplex 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$403,565  |  Subs 770  |  Binds 12  |  HR 1.6%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1.6% (portfolio avg: 1.3%)  |  $403,565 YTD GWP</a:t>
            </a:r>
            <a:endParaRPr/>
          </a:p>
        </p:txBody>
      </p:sp>
      <p:sp>
        <p:nvSpPr>
          <p:cNvPr id="1180" name="Google Shape;1180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Trucker Path I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$112,668  |  Subs 670  |  Binds 16  |  HR 2.4%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2.4% (portfolio avg: 1.3%)  |  $112,668 YTD GWP</a:t>
            </a:r>
            <a:endParaRPr/>
          </a:p>
        </p:txBody>
      </p:sp>
      <p:sp>
        <p:nvSpPr>
          <p:cNvPr id="1184" name="Google Shape;1184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Integrity Insurance Underwriters Llc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$21,939  |  Subs 49  |  Binds 1  |  HR 2.0%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2.0% (portfolio avg: 1.3%)  |  $21,939 in new business</a:t>
            </a:r>
            <a:endParaRPr/>
          </a:p>
        </p:txBody>
      </p:sp>
      <p:sp>
        <p:nvSpPr>
          <p:cNvPr id="1188" name="Google Shape;1188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Nikolov Agency, Llc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$4,174  |  Subs 171  |  Binds 0  |  HR 0.0%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 submissions with 0 binds - zero conversion  |  108 quotes generated but 0 converted to binds</a:t>
            </a:r>
            <a:endParaRPr/>
          </a:p>
        </p:txBody>
      </p:sp>
      <p:sp>
        <p:nvSpPr>
          <p:cNvPr id="1192" name="Google Shape;1192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Georgia's Insurance Source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$6,505  |  Subs 37  |  Binds 1  |  HR 2.7%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2.7% on 37 subs  |  Cancellations are 1251% of new business ($28,459 vs $2,275)</a:t>
            </a:r>
            <a:endParaRPr/>
          </a:p>
        </p:txBody>
      </p:sp>
      <p:sp>
        <p:nvSpPr>
          <p:cNvPr id="1196" name="Google Shape;1196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National Transportation Insurance Speciali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$24,036  |  Subs 50  |  Binds 0  |  HR 0.0%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 submissions with 0 binds - zero conversion  |  New business dropped sharply MoM</a:t>
            </a:r>
            <a:endParaRPr/>
          </a:p>
        </p:txBody>
      </p:sp>
      <p:sp>
        <p:nvSpPr>
          <p:cNvPr id="1200" name="Google Shape;1200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Wao Insurance Group Inc</a:t>
            </a:r>
            <a:endParaRPr/>
          </a:p>
        </p:txBody>
      </p:sp>
      <p:sp>
        <p:nvSpPr>
          <p:cNvPr id="1202" name="Google Shape;1202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42  |  Binds 0  |  HR 0.0%</a:t>
            </a:r>
            <a:endParaRPr/>
          </a:p>
        </p:txBody>
      </p:sp>
      <p:sp>
        <p:nvSpPr>
          <p:cNvPr id="1203" name="Google Shape;1203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 submissions with 0 binds - zero conversion  |  31 quotes generated but 0 converted to binds</a:t>
            </a:r>
            <a:endParaRPr/>
          </a:p>
        </p:txBody>
      </p:sp>
      <p:sp>
        <p:nvSpPr>
          <p:cNvPr id="1204" name="Google Shape;1204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05" name="Google Shape;1205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Motive Insurance Agency Llc</a:t>
            </a:r>
            <a:endParaRPr/>
          </a:p>
        </p:txBody>
      </p:sp>
      <p:sp>
        <p:nvSpPr>
          <p:cNvPr id="1206" name="Google Shape;1206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$21,726  |  Subs 41  |  Binds 0  |  HR 0.0%</a:t>
            </a:r>
            <a:endParaRPr/>
          </a:p>
        </p:txBody>
      </p:sp>
      <p:sp>
        <p:nvSpPr>
          <p:cNvPr id="1207" name="Google Shape;1207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 submissions with 0 binds - zero conversion  |  25 quotes generated but 0 converted to binds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Erika Cabrera</a:t>
            </a:r>
            <a:endParaRPr/>
          </a:p>
        </p:txBody>
      </p:sp>
      <p:sp>
        <p:nvSpPr>
          <p:cNvPr id="1214" name="Google Shape;1214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15" name="Google Shape;1215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16" name="Google Shape;1216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17" name="Google Shape;1217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18" name="Google Shape;1218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19" name="Google Shape;1219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20" name="Google Shape;1220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2/3 appointed agencies have submitted (67%)  •  2/3 have bound (67%)  •  Total bound: 12  •  Total GWP: $291,636</a:t>
            </a:r>
            <a:endParaRPr/>
          </a:p>
        </p:txBody>
      </p:sp>
      <p:sp>
        <p:nvSpPr>
          <p:cNvPr id="1221" name="Google Shape;1221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2" name="Google Shape;1222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30" name="Google Shape;1230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1" name="Google Shape;1231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Faraon Industries Inc.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2026-03-16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11d</a:t>
            </a:r>
            <a:endParaRPr/>
          </a:p>
        </p:txBody>
      </p:sp>
      <p:sp>
        <p:nvSpPr>
          <p:cNvPr id="1235" name="Google Shape;1235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24d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Greatflorida Insurance Of Flagler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2026-03-04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5" name="Google Shape;1245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6" name="Google Shape;1246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Simplex Insu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2026-03-04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440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251" name="Google Shape;1251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5d</a:t>
            </a:r>
            <a:endParaRPr/>
          </a:p>
        </p:txBody>
      </p:sp>
      <p:sp>
        <p:nvSpPr>
          <p:cNvPr id="1252" name="Google Shape;1252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$211,877</a:t>
            </a:r>
            <a:endParaRPr/>
          </a:p>
        </p:txBody>
      </p:sp>
      <p:sp>
        <p:nvSpPr>
          <p:cNvPr id="1253" name="Google Shape;1253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7" name="Shape 1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9" name="Google Shape;1259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60" name="Google Shape;1260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Erika Cabrera Portfolio  |  Jan–May 2026  |  Strengths, gaps, and ranked action items</a:t>
            </a:r>
            <a:endParaRPr/>
          </a:p>
        </p:txBody>
      </p:sp>
      <p:sp>
        <p:nvSpPr>
          <p:cNvPr id="1261" name="Google Shape;1261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2" name="Google Shape;1262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63" name="Google Shape;1263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4" name="Google Shape;1264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(Regis Insurance Services,, Regis Insurance Services,, Cslr Insurance Services, ) drive $1,082,804 (65%) of portfolio YTD GWP</a:t>
            </a:r>
            <a:endParaRPr/>
          </a:p>
        </p:txBody>
      </p:sp>
      <p:sp>
        <p:nvSpPr>
          <p:cNvPr id="1265" name="Google Shape;1265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6" name="Google Shape;1266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Mitchell Hecht Llc (33.3%), Total Insurance-ga (28.6%), Alabama Ins Agency I (14.3%)</a:t>
            </a:r>
            <a:endParaRPr/>
          </a:p>
        </p:txBody>
      </p:sp>
      <p:sp>
        <p:nvSpPr>
          <p:cNvPr id="1267" name="Google Shape;1267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8" name="Google Shape;1268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agencies converting submissions to bound business in Jan–May 2026</a:t>
            </a:r>
            <a:endParaRPr/>
          </a:p>
        </p:txBody>
      </p:sp>
      <p:sp>
        <p:nvSpPr>
          <p:cNvPr id="1269" name="Google Shape;1269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70" name="Google Shape;1270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6,984 total submissions across 42 active agencies</a:t>
            </a:r>
            <a:endParaRPr/>
          </a:p>
        </p:txBody>
      </p:sp>
      <p:sp>
        <p:nvSpPr>
          <p:cNvPr id="1271" name="Google Shape;1271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2" name="Google Shape;1272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73" name="Google Shape;1273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4" name="Google Shape;1274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agencies with zero Jan–May 2026 activity: J.c.a. Consultant, I, Simplex Group, Truckers Best Insura...</a:t>
            </a:r>
            <a:endParaRPr/>
          </a:p>
        </p:txBody>
      </p:sp>
      <p:sp>
        <p:nvSpPr>
          <p:cNvPr id="1275" name="Google Shape;1275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6" name="Google Shape;1276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agencies submitting but 0 binds (426 subs): Nikolov Agency, Llc (171), National Transportat (50)</a:t>
            </a:r>
            <a:endParaRPr/>
          </a:p>
        </p:txBody>
      </p:sp>
      <p:sp>
        <p:nvSpPr>
          <p:cNvPr id="1277" name="Google Shape;1277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8" name="Google Shape;1278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Cslr Insurance Servi (0.6%), Southwestern Insuran (0.6%), Karen &amp; King LLC Age (1.2%)</a:t>
            </a:r>
            <a:endParaRPr/>
          </a:p>
        </p:txBody>
      </p:sp>
      <p:sp>
        <p:nvSpPr>
          <p:cNvPr id="1279" name="Google Shape;1279;p1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80" name="Google Shape;1280;p12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1.3% — below 5-8% target</a:t>
            </a:r>
            <a:endParaRPr/>
          </a:p>
        </p:txBody>
      </p:sp>
      <p:sp>
        <p:nvSpPr>
          <p:cNvPr id="1281" name="Google Shape;1281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2" name="Google Shape;1282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83" name="Google Shape;1283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84" name="Google Shape;1284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285" name="Google Shape;1285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1.3% (90 binds / 6,984 subs). Need 259 more binds. Focus on submission quality and appetite education.</a:t>
            </a:r>
            <a:endParaRPr/>
          </a:p>
        </p:txBody>
      </p:sp>
      <p:sp>
        <p:nvSpPr>
          <p:cNvPr id="1286" name="Google Shape;1286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87" name="Google Shape;1287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288" name="Google Shape;1288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agencies with 20+ subs but &lt;3% HR: Cslr Insurance Servi (0.6%), Southwestern Insuran (0.6%), Karen &amp; King LLC Age (1.2%). Conduct submission quality training to lift conversion 2-3 points.</a:t>
            </a:r>
            <a:endParaRPr/>
          </a:p>
        </p:txBody>
      </p:sp>
      <p:sp>
        <p:nvSpPr>
          <p:cNvPr id="1289" name="Google Shape;1289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90" name="Google Shape;1290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291" name="Google Shape;1291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agencies with 30+ subs and some binds but &lt;5% HR: Cslr Insurance Servi (2789s/16b), Southwestern Insuran (1078s/7b), Regis Insurance Serv (770s/12b). Small HR improvements on large volume = significant premium lift.</a:t>
            </a:r>
            <a:endParaRPr/>
          </a:p>
        </p:txBody>
      </p:sp>
      <p:sp>
        <p:nvSpPr>
          <p:cNvPr id="1292" name="Google Shape;1292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93" name="Google Shape;1293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294" name="Google Shape;1294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have 274 quotes but 0 binds: Nikolov Agency, Llc (108q), Wao Insurance Group Inc (31q), Genesis Insurance &amp; More, (27q). Follow up on pricing, coverage, response time gaps.</a:t>
            </a:r>
            <a:endParaRPr/>
          </a:p>
        </p:txBody>
      </p:sp>
      <p:sp>
        <p:nvSpPr>
          <p:cNvPr id="1295" name="Google Shape;1295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96" name="Google Shape;1296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97" name="Google Shape;1297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agencies with cancellations &gt;40% of new biz: Regis Insurance Services,, Regis Insurance Services,, Cslr Insurance Services, . $808,205 total cancellations - investigate retention.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1" name="Shape 1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Google Shape;1302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3" name="Google Shape;1303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04" name="Google Shape;1304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Erika Cabrera  |  Last 25 Bound Submissions  |  90 Total Bound in Portfolio</a:t>
            </a:r>
            <a:endParaRPr/>
          </a:p>
        </p:txBody>
      </p:sp>
      <p:sp>
        <p:nvSpPr>
          <p:cNvPr id="1305" name="Google Shape;1305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06" name="Google Shape;1306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07" name="Google Shape;1307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08" name="Google Shape;1308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09" name="Google Shape;1309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10" name="Google Shape;1310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11" name="Google Shape;1311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12" name="Google Shape;1312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3" name="Google Shape;1313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14" name="Google Shape;1314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252218218602</a:t>
            </a:r>
            <a:endParaRPr/>
          </a:p>
        </p:txBody>
      </p:sp>
      <p:sp>
        <p:nvSpPr>
          <p:cNvPr id="1315" name="Google Shape;1315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</a:t>
            </a:r>
            <a:endParaRPr/>
          </a:p>
        </p:txBody>
      </p:sp>
      <p:sp>
        <p:nvSpPr>
          <p:cNvPr id="1316" name="Google Shape;1316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COLETRANE SOLUTIONS LLC</a:t>
            </a:r>
            <a:endParaRPr/>
          </a:p>
        </p:txBody>
      </p:sp>
      <p:sp>
        <p:nvSpPr>
          <p:cNvPr id="1317" name="Google Shape;1317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$55,797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20" name="Google Shape;1320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264134898729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ETHEREDGE AUTOTRANSPORT LLC</a:t>
            </a:r>
            <a:endParaRPr/>
          </a:p>
        </p:txBody>
      </p:sp>
      <p:sp>
        <p:nvSpPr>
          <p:cNvPr id="1325" name="Google Shape;1325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Frances Neely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$10,400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260921347854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Faraon Industries Inc.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A1 DEVELOPMENT INC</a:t>
            </a:r>
            <a:endParaRPr/>
          </a:p>
        </p:txBody>
      </p:sp>
      <p:sp>
        <p:nvSpPr>
          <p:cNvPr id="1332" name="Google Shape;1332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Wilfredo Leguisamon</a:t>
            </a:r>
            <a:endParaRPr/>
          </a:p>
        </p:txBody>
      </p:sp>
      <p:sp>
        <p:nvSpPr>
          <p:cNvPr id="1333" name="Google Shape;1333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$25,185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35" name="Google Shape;1335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6" name="Google Shape;1336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261990185768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Faraon Industries Inc.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RAY'S WAY DELIVERY LLC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Wilfredo Leguisamon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$17,757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257712870483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Trucking Insurance Services Llc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LAWRENCE KNIGHT HAWK TRUCKING LL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William Mckinley Kremer</a:t>
            </a:r>
            <a:endParaRPr/>
          </a:p>
        </p:txBody>
      </p:sp>
      <p:sp>
        <p:nvSpPr>
          <p:cNvPr id="1348" name="Google Shape;1348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$14,253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350" name="Google Shape;1350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1" name="Google Shape;1351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253093287549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Services, I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D&amp;S TRANSPORTATION LLC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Brayan Felix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$9,395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268410643908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#29 - Family F M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LEON SANTANA HAULING LLC</a:t>
            </a:r>
            <a:endParaRPr/>
          </a:p>
        </p:txBody>
      </p:sp>
      <p:sp>
        <p:nvSpPr>
          <p:cNvPr id="1362" name="Google Shape;1362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Rogelio Garcia Gomez</a:t>
            </a:r>
            <a:endParaRPr/>
          </a:p>
        </p:txBody>
      </p:sp>
      <p:sp>
        <p:nvSpPr>
          <p:cNvPr id="1363" name="Google Shape;1363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$15,695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365" name="Google Shape;1365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250961036837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Insurance-ga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HRF PRODUCTIONS LLC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Kaleb Waller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$17,603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262843395438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Ultra Coverage Inc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TRUSTWAY AUTO TRANSPORT LLC</a:t>
            </a:r>
            <a:endParaRPr/>
          </a:p>
        </p:txBody>
      </p:sp>
      <p:sp>
        <p:nvSpPr>
          <p:cNvPr id="1377" name="Google Shape;1377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Olga Kopylova</a:t>
            </a:r>
            <a:endParaRPr/>
          </a:p>
        </p:txBody>
      </p:sp>
      <p:sp>
        <p:nvSpPr>
          <p:cNvPr id="1378" name="Google Shape;1378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$15,830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20, 2026</a:t>
            </a:r>
            <a:endParaRPr/>
          </a:p>
        </p:txBody>
      </p:sp>
      <p:sp>
        <p:nvSpPr>
          <p:cNvPr id="1380" name="Google Shape;1380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1" name="Google Shape;1381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252500252000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SUPPLY STACKER LLC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Raykes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$18,848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251388876402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CJS TRANSPORTS LLC</a:t>
            </a:r>
            <a:endParaRPr/>
          </a:p>
        </p:txBody>
      </p:sp>
      <p:sp>
        <p:nvSpPr>
          <p:cNvPr id="1392" name="Google Shape;1392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Summers</a:t>
            </a:r>
            <a:endParaRPr/>
          </a:p>
        </p:txBody>
      </p:sp>
      <p:sp>
        <p:nvSpPr>
          <p:cNvPr id="1393" name="Google Shape;1393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$15,736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95" name="Google Shape;1395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6" name="Google Shape;1396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263710943673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HOUSE OF TRUCKS LLC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Summers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$23,787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263460902054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Checker Associates, Llc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DDD TRANSPORT LLC</a:t>
            </a:r>
            <a:endParaRPr/>
          </a:p>
        </p:txBody>
      </p:sp>
      <p:sp>
        <p:nvSpPr>
          <p:cNvPr id="1407" name="Google Shape;1407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Deborah Risken</a:t>
            </a:r>
            <a:endParaRPr/>
          </a:p>
        </p:txBody>
      </p:sp>
      <p:sp>
        <p:nvSpPr>
          <p:cNvPr id="1408" name="Google Shape;1408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$3,738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410" name="Google Shape;1410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1" name="Google Shape;1411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258743060516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#29 - Family F M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REX CARGO EXPRESS CORP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Rogelio Garcia Gomez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$64,262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262621603611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STRAIGHTDROP TRANSPORT LLC</a:t>
            </a:r>
            <a:endParaRPr/>
          </a:p>
        </p:txBody>
      </p:sp>
      <p:sp>
        <p:nvSpPr>
          <p:cNvPr id="1422" name="Google Shape;1422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1423" name="Google Shape;1423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$23,086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425" name="Google Shape;1425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6" name="Google Shape;1426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262122159092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Integrity Insurance Underwriters L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ANTHONY SAULSBERRY LOGISTICS SER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Nicole Zacapa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268993930880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MVN GLOBAL LOGISTICS LLC</a:t>
            </a:r>
            <a:endParaRPr/>
          </a:p>
        </p:txBody>
      </p:sp>
      <p:sp>
        <p:nvSpPr>
          <p:cNvPr id="1437" name="Google Shape;1437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Raykes</a:t>
            </a:r>
            <a:endParaRPr/>
          </a:p>
        </p:txBody>
      </p:sp>
      <p:sp>
        <p:nvSpPr>
          <p:cNvPr id="1438" name="Google Shape;1438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$36,871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440" name="Google Shape;1440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1" name="Google Shape;1441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267927981714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Ultra Coverage Inc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YH LOGISTICS LLC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Olga Kopylova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$1,600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258447050495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SEVEN FORTY FOUR LOGISTICS</a:t>
            </a:r>
            <a:endParaRPr/>
          </a:p>
        </p:txBody>
      </p:sp>
      <p:sp>
        <p:nvSpPr>
          <p:cNvPr id="1452" name="Google Shape;1452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Summers</a:t>
            </a:r>
            <a:endParaRPr/>
          </a:p>
        </p:txBody>
      </p:sp>
      <p:sp>
        <p:nvSpPr>
          <p:cNvPr id="1453" name="Google Shape;1453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$35,731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455" name="Google Shape;1455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6" name="Google Shape;1456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263572429902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Georgia's Insurance Source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IDRISA BENDU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Nykita Shearin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$2,050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267940575531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BRUNSON TRANSPORT LLC</a:t>
            </a:r>
            <a:endParaRPr/>
          </a:p>
        </p:txBody>
      </p:sp>
      <p:sp>
        <p:nvSpPr>
          <p:cNvPr id="1467" name="Google Shape;1467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Raykes</a:t>
            </a:r>
            <a:endParaRPr/>
          </a:p>
        </p:txBody>
      </p:sp>
      <p:sp>
        <p:nvSpPr>
          <p:cNvPr id="1468" name="Google Shape;1468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$23,748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07, 2026</a:t>
            </a:r>
            <a:endParaRPr/>
          </a:p>
        </p:txBody>
      </p:sp>
      <p:sp>
        <p:nvSpPr>
          <p:cNvPr id="1470" name="Google Shape;1470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1" name="Google Shape;1471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264021731699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BABU INC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Charles Beale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$23,210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05, 2026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260943943045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DELORES MAE HARVEY</a:t>
            </a:r>
            <a:endParaRPr/>
          </a:p>
        </p:txBody>
      </p:sp>
      <p:sp>
        <p:nvSpPr>
          <p:cNvPr id="1482" name="Google Shape;1482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Isabel Rincon</a:t>
            </a:r>
            <a:endParaRPr/>
          </a:p>
        </p:txBody>
      </p:sp>
      <p:sp>
        <p:nvSpPr>
          <p:cNvPr id="1483" name="Google Shape;1483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$24,367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04, 2026</a:t>
            </a:r>
            <a:endParaRPr/>
          </a:p>
        </p:txBody>
      </p:sp>
      <p:sp>
        <p:nvSpPr>
          <p:cNvPr id="1485" name="Google Shape;1485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6" name="Google Shape;1486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260637086354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Ultra Coverage Inc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ALPHA PRIME LOGISTICS LLC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Olga Kopylova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$13,391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01, 2026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254362492692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</a:t>
            </a:r>
            <a:endParaRPr/>
          </a:p>
        </p:txBody>
      </p:sp>
      <p:sp>
        <p:nvSpPr>
          <p:cNvPr id="1496" name="Google Shape;1496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Younguns Trucking LLC</a:t>
            </a:r>
            <a:endParaRPr/>
          </a:p>
        </p:txBody>
      </p:sp>
      <p:sp>
        <p:nvSpPr>
          <p:cNvPr id="1497" name="Google Shape;1497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Sarah Wagner</a:t>
            </a:r>
            <a:endParaRPr/>
          </a:p>
        </p:txBody>
      </p:sp>
      <p:sp>
        <p:nvSpPr>
          <p:cNvPr id="1498" name="Google Shape;1498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$16,884</a:t>
            </a:r>
            <a:endParaRPr/>
          </a:p>
        </p:txBody>
      </p:sp>
      <p:sp>
        <p:nvSpPr>
          <p:cNvPr id="1499" name="Google Shape;1499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30, 2026</a:t>
            </a:r>
            <a:endParaRPr/>
          </a:p>
        </p:txBody>
      </p:sp>
      <p:sp>
        <p:nvSpPr>
          <p:cNvPr id="1500" name="Google Shape;1500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1" name="Google Shape;1501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502" name="Google Shape;1502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$531,160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6" name="Shape 1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Google Shape;1507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8" name="Google Shape;1508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09" name="Google Shape;1509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Erika Cabrera  |  Active in-force policies expiring through Aug 26, 2026</a:t>
            </a:r>
            <a:endParaRPr/>
          </a:p>
        </p:txBody>
      </p:sp>
      <p:sp>
        <p:nvSpPr>
          <p:cNvPr id="1510" name="Google Shape;1510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11" name="Google Shape;1511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$408,253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12" name="Google Shape;1512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13" name="Google Shape;1513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14" name="Google Shape;1514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15" name="Google Shape;1515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6" name="Google Shape;1516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17" name="Google Shape;1517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18" name="Google Shape;1518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19" name="Google Shape;1519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20" name="Google Shape;1520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21" name="Google Shape;1521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22" name="Google Shape;1522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23" name="Google Shape;1523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24" name="Google Shape;1524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25" name="Google Shape;1525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6" name="Google Shape;1526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1527" name="Google Shape;1527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251180258364</a:t>
            </a:r>
            <a:endParaRPr/>
          </a:p>
        </p:txBody>
      </p:sp>
      <p:sp>
        <p:nvSpPr>
          <p:cNvPr id="1528" name="Google Shape;1528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MARTINS HOMES LLC</a:t>
            </a:r>
            <a:endParaRPr/>
          </a:p>
        </p:txBody>
      </p:sp>
      <p:sp>
        <p:nvSpPr>
          <p:cNvPr id="1529" name="Google Shape;1529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$3,344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257902358783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SJ National Trucking LLC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2026-06-15</a:t>
            </a:r>
            <a:endParaRPr/>
          </a:p>
        </p:txBody>
      </p:sp>
      <p:sp>
        <p:nvSpPr>
          <p:cNvPr id="1538" name="Google Shape;1538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18d</a:t>
            </a:r>
            <a:endParaRPr/>
          </a:p>
        </p:txBody>
      </p:sp>
      <p:sp>
        <p:nvSpPr>
          <p:cNvPr id="1539" name="Google Shape;1539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$1,974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542" name="Google Shape;1542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Diversified Solutions Agency I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254161407402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GLENDAS SON INC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2026-06-16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19d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$7,465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TN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257561050507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VENTURY TRANSPORT LLC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2026-06-19</a:t>
            </a:r>
            <a:endParaRPr/>
          </a:p>
        </p:txBody>
      </p:sp>
      <p:sp>
        <p:nvSpPr>
          <p:cNvPr id="1555" name="Google Shape;1555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22d</a:t>
            </a:r>
            <a:endParaRPr/>
          </a:p>
        </p:txBody>
      </p:sp>
      <p:sp>
        <p:nvSpPr>
          <p:cNvPr id="1556" name="Google Shape;1556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$11,046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</a:t>
            </a:r>
            <a:endParaRPr/>
          </a:p>
        </p:txBody>
      </p:sp>
      <p:sp>
        <p:nvSpPr>
          <p:cNvPr id="1559" name="Google Shape;1559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0" name="Google Shape;1560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Sbk Insurance Inc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259590175962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ALFA TRANSPORTATION LLC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2026-06-20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23d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$16,535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Morales Agency LLC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254810779502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YFD TRUCKING LLC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2026-06-23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26d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$21,560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76" name="Google Shape;1576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7" name="Google Shape;1577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254362492692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YOUNGUNS TRUCKING LLC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2026-06-23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26d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$45,108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Alabama Ins Agency Inc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252532683485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HARRISON JONES TRUCKING LLC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2026-06-24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27d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$3,077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93" name="Google Shape;1593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4" name="Google Shape;1594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255226962782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JJ SUN TRUCKING LLC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2026-06-24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27d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$16,914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Tailor'd Insurance Llc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258594724191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ATLANTA TRANSPORTATION &amp; LOGISTICS LLC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2026-06-26</a:t>
            </a:r>
            <a:endParaRPr/>
          </a:p>
        </p:txBody>
      </p:sp>
      <p:sp>
        <p:nvSpPr>
          <p:cNvPr id="1606" name="Google Shape;1606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29d</a:t>
            </a:r>
            <a:endParaRPr/>
          </a:p>
        </p:txBody>
      </p:sp>
      <p:sp>
        <p:nvSpPr>
          <p:cNvPr id="1607" name="Google Shape;1607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NTL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610" name="Google Shape;1610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1" name="Google Shape;1611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Llc Db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254752119724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AZALEA LOGISTICS LLC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2026-06-27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30d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NTL</a:t>
            </a:r>
            <a:endParaRPr/>
          </a:p>
        </p:txBody>
      </p:sp>
      <p:sp>
        <p:nvSpPr>
          <p:cNvPr id="1617" name="Google Shape;1617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1618" name="Google Shape;1618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255120849756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JOHN'S C LOGISTICS LLC</a:t>
            </a:r>
            <a:endParaRPr/>
          </a:p>
        </p:txBody>
      </p:sp>
      <p:sp>
        <p:nvSpPr>
          <p:cNvPr id="1622" name="Google Shape;1622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2026-06-30</a:t>
            </a:r>
            <a:endParaRPr/>
          </a:p>
        </p:txBody>
      </p:sp>
      <p:sp>
        <p:nvSpPr>
          <p:cNvPr id="1623" name="Google Shape;1623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33d</a:t>
            </a:r>
            <a:endParaRPr/>
          </a:p>
        </p:txBody>
      </p:sp>
      <p:sp>
        <p:nvSpPr>
          <p:cNvPr id="1624" name="Google Shape;1624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$46,468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</a:t>
            </a:r>
            <a:endParaRPr/>
          </a:p>
        </p:txBody>
      </p:sp>
      <p:sp>
        <p:nvSpPr>
          <p:cNvPr id="1627" name="Google Shape;1627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8" name="Google Shape;1628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1629" name="Google Shape;1629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251287351054</a:t>
            </a:r>
            <a:endParaRPr/>
          </a:p>
        </p:txBody>
      </p:sp>
      <p:sp>
        <p:nvSpPr>
          <p:cNvPr id="1630" name="Google Shape;1630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MATTEO ENTERPRISE INC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2026-07-09</a:t>
            </a:r>
            <a:endParaRPr/>
          </a:p>
        </p:txBody>
      </p:sp>
      <p:sp>
        <p:nvSpPr>
          <p:cNvPr id="1632" name="Google Shape;1632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42d</a:t>
            </a:r>
            <a:endParaRPr/>
          </a:p>
        </p:txBody>
      </p:sp>
      <p:sp>
        <p:nvSpPr>
          <p:cNvPr id="1633" name="Google Shape;1633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34" name="Google Shape;1634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35" name="Google Shape;1635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36" name="Google Shape;1636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37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0" name="Shape 1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1" name="Google Shape;1641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2" name="Google Shape;1642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43" name="Google Shape;1643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Erika Cabrera  |  Policies with cancellation_date on or before Aug 26, 2026  |  Sorted by urgency — call these agencies first</a:t>
            </a:r>
            <a:endParaRPr/>
          </a:p>
        </p:txBody>
      </p:sp>
      <p:sp>
        <p:nvSpPr>
          <p:cNvPr id="1644" name="Google Shape;1644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45" name="Google Shape;1645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46" name="Google Shape;1646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47" name="Google Shape;1647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48" name="Google Shape;1648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49" name="Google Shape;1649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0" name="Google Shape;1650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51" name="Google Shape;1651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52" name="Google Shape;1652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53" name="Google Shape;1653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54" name="Google Shape;1654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55" name="Google Shape;1655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56" name="Google Shape;1656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57" name="Google Shape;1657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58" name="Google Shape;1658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59" name="Google Shape;1659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60" name="Google Shape;1660;p15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1" name="Google Shape;1661;p15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62" name="Google Shape;1662;p15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63" name="Google Shape;1663;p15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266466421066</a:t>
            </a:r>
            <a:endParaRPr/>
          </a:p>
        </p:txBody>
      </p:sp>
      <p:sp>
        <p:nvSpPr>
          <p:cNvPr id="1664" name="Google Shape;1664;p15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 CAMPO INDUSTRIES LLC</a:t>
            </a:r>
            <a:endParaRPr/>
          </a:p>
        </p:txBody>
      </p:sp>
      <p:sp>
        <p:nvSpPr>
          <p:cNvPr id="1665" name="Google Shape;1665;p1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</a:t>
            </a:r>
            <a:endParaRPr/>
          </a:p>
        </p:txBody>
      </p:sp>
      <p:sp>
        <p:nvSpPr>
          <p:cNvPr id="1666" name="Google Shape;1666;p15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67" name="Google Shape;1667;p15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68" name="Google Shape;1668;p15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$5,699</a:t>
            </a:r>
            <a:endParaRPr/>
          </a:p>
        </p:txBody>
      </p:sp>
      <p:sp>
        <p:nvSpPr>
          <p:cNvPr id="1669" name="Google Shape;1669;p15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70" name="Google Shape;1670;p15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71" name="Google Shape;1671;p15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72" name="Google Shape;1672;p15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266466421066</a:t>
            </a:r>
            <a:endParaRPr/>
          </a:p>
        </p:txBody>
      </p:sp>
      <p:sp>
        <p:nvSpPr>
          <p:cNvPr id="1673" name="Google Shape;1673;p15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 CAMPO INDUSTRIES LLC</a:t>
            </a:r>
            <a:endParaRPr/>
          </a:p>
        </p:txBody>
      </p:sp>
      <p:sp>
        <p:nvSpPr>
          <p:cNvPr id="1674" name="Google Shape;1674;p15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</a:t>
            </a:r>
            <a:endParaRPr/>
          </a:p>
        </p:txBody>
      </p:sp>
      <p:sp>
        <p:nvSpPr>
          <p:cNvPr id="1675" name="Google Shape;1675;p1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76" name="Google Shape;1676;p15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77" name="Google Shape;1677;p15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$195</a:t>
            </a:r>
            <a:endParaRPr/>
          </a:p>
        </p:txBody>
      </p:sp>
      <p:sp>
        <p:nvSpPr>
          <p:cNvPr id="1678" name="Google Shape;1678;p15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79" name="Google Shape;1679;p15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15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81" name="Google Shape;1681;p15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82" name="Google Shape;1682;p15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266466421066</a:t>
            </a:r>
            <a:endParaRPr/>
          </a:p>
        </p:txBody>
      </p:sp>
      <p:sp>
        <p:nvSpPr>
          <p:cNvPr id="1683" name="Google Shape;1683;p15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 CAMPO INDUSTRIES LLC</a:t>
            </a:r>
            <a:endParaRPr/>
          </a:p>
        </p:txBody>
      </p:sp>
      <p:sp>
        <p:nvSpPr>
          <p:cNvPr id="1684" name="Google Shape;1684;p15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</a:t>
            </a:r>
            <a:endParaRPr/>
          </a:p>
        </p:txBody>
      </p:sp>
      <p:sp>
        <p:nvSpPr>
          <p:cNvPr id="1685" name="Google Shape;1685;p1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86" name="Google Shape;1686;p15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87" name="Google Shape;1687;p15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</a:t>
            </a:r>
            <a:endParaRPr/>
          </a:p>
        </p:txBody>
      </p:sp>
      <p:sp>
        <p:nvSpPr>
          <p:cNvPr id="1688" name="Google Shape;1688;p15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89" name="Google Shape;1689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93" name="Shape 1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Google Shape;1694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5" name="Google Shape;1695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Simplex Insurance Services</a:t>
            </a:r>
            <a:endParaRPr/>
          </a:p>
        </p:txBody>
      </p:sp>
      <p:sp>
        <p:nvSpPr>
          <p:cNvPr id="1696" name="Google Shape;1696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FL  |  City: N/A</a:t>
            </a:r>
            <a:endParaRPr/>
          </a:p>
        </p:txBody>
      </p:sp>
      <p:sp>
        <p:nvSpPr>
          <p:cNvPr id="1697" name="Google Shape;1697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$403,565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98" name="Google Shape;1698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$294,524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99" name="Google Shape;1699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00" name="Google Shape;1700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$91,996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01" name="Google Shape;1701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$-196,778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02" name="Google Shape;1702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$1,069,670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703" name="Google Shape;1703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$1,079,787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704" name="Google Shape;1704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705" name="Google Shape;1705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06" name="Google Shape;1706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07" name="Google Shape;1707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08" name="Google Shape;1708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709" name="Google Shape;1709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$289,350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710" name="Google Shape;1710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1" name="Google Shape;1711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13" name="Google Shape;1713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714" name="Google Shape;1714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715" name="Google Shape;1715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16" name="Google Shape;1716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17" name="Google Shape;1717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18" name="Google Shape;1718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9" name="Google Shape;1719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20" name="Google Shape;1720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$50,413</a:t>
            </a:r>
            <a:endParaRPr/>
          </a:p>
        </p:txBody>
      </p:sp>
      <p:sp>
        <p:nvSpPr>
          <p:cNvPr id="1721" name="Google Shape;1721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$31,057</a:t>
            </a:r>
            <a:endParaRPr/>
          </a:p>
        </p:txBody>
      </p:sp>
      <p:sp>
        <p:nvSpPr>
          <p:cNvPr id="1722" name="Google Shape;1722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23" name="Google Shape;1723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$19,356</a:t>
            </a:r>
            <a:endParaRPr/>
          </a:p>
        </p:txBody>
      </p:sp>
      <p:sp>
        <p:nvSpPr>
          <p:cNvPr id="1724" name="Google Shape;1724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$-10,414</a:t>
            </a:r>
            <a:endParaRPr/>
          </a:p>
        </p:txBody>
      </p:sp>
      <p:sp>
        <p:nvSpPr>
          <p:cNvPr id="1725" name="Google Shape;1725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6" name="Google Shape;1726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27" name="Google Shape;1727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$92,510</a:t>
            </a:r>
            <a:endParaRPr/>
          </a:p>
        </p:txBody>
      </p:sp>
      <p:sp>
        <p:nvSpPr>
          <p:cNvPr id="1728" name="Google Shape;1728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$81,370</a:t>
            </a:r>
            <a:endParaRPr/>
          </a:p>
        </p:txBody>
      </p:sp>
      <p:sp>
        <p:nvSpPr>
          <p:cNvPr id="1729" name="Google Shape;1729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0" name="Google Shape;1730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$11,140</a:t>
            </a:r>
            <a:endParaRPr/>
          </a:p>
        </p:txBody>
      </p:sp>
      <p:sp>
        <p:nvSpPr>
          <p:cNvPr id="1731" name="Google Shape;1731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$-28,403</a:t>
            </a:r>
            <a:endParaRPr/>
          </a:p>
        </p:txBody>
      </p:sp>
      <p:sp>
        <p:nvSpPr>
          <p:cNvPr id="1732" name="Google Shape;1732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3" name="Google Shape;1733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$89,480</a:t>
            </a:r>
            <a:endParaRPr/>
          </a:p>
        </p:txBody>
      </p:sp>
      <p:sp>
        <p:nvSpPr>
          <p:cNvPr id="1735" name="Google Shape;1735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$64,080</a:t>
            </a:r>
            <a:endParaRPr/>
          </a:p>
        </p:txBody>
      </p:sp>
      <p:sp>
        <p:nvSpPr>
          <p:cNvPr id="1736" name="Google Shape;1736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$17,044</a:t>
            </a:r>
            <a:endParaRPr/>
          </a:p>
        </p:txBody>
      </p:sp>
      <p:sp>
        <p:nvSpPr>
          <p:cNvPr id="1737" name="Google Shape;1737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$8,356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$-80,106</a:t>
            </a:r>
            <a:endParaRPr/>
          </a:p>
        </p:txBody>
      </p:sp>
      <p:sp>
        <p:nvSpPr>
          <p:cNvPr id="1739" name="Google Shape;1739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0" name="Google Shape;1740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$105,379</a:t>
            </a:r>
            <a:endParaRPr/>
          </a:p>
        </p:txBody>
      </p:sp>
      <p:sp>
        <p:nvSpPr>
          <p:cNvPr id="1742" name="Google Shape;1742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$93,651</a:t>
            </a:r>
            <a:endParaRPr/>
          </a:p>
        </p:txBody>
      </p:sp>
      <p:sp>
        <p:nvSpPr>
          <p:cNvPr id="1743" name="Google Shape;1743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44" name="Google Shape;1744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$11,728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$-21,441</a:t>
            </a:r>
            <a:endParaRPr/>
          </a:p>
        </p:txBody>
      </p:sp>
      <p:sp>
        <p:nvSpPr>
          <p:cNvPr id="1746" name="Google Shape;1746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7" name="Google Shape;1747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$65,782</a:t>
            </a:r>
            <a:endParaRPr/>
          </a:p>
        </p:txBody>
      </p:sp>
      <p:sp>
        <p:nvSpPr>
          <p:cNvPr id="1749" name="Google Shape;1749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$24,367</a:t>
            </a:r>
            <a:endParaRPr/>
          </a:p>
        </p:txBody>
      </p:sp>
      <p:sp>
        <p:nvSpPr>
          <p:cNvPr id="1750" name="Google Shape;1750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51" name="Google Shape;1751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$41,416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$-56,415</a:t>
            </a:r>
            <a:endParaRPr/>
          </a:p>
        </p:txBody>
      </p:sp>
      <p:sp>
        <p:nvSpPr>
          <p:cNvPr id="1753" name="Google Shape;1753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4" name="Google Shape;1754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$403,565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$294,524</a:t>
            </a:r>
            <a:endParaRPr/>
          </a:p>
        </p:txBody>
      </p:sp>
      <p:sp>
        <p:nvSpPr>
          <p:cNvPr id="1757" name="Google Shape;1757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$17,044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$91,996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$-196,778</a:t>
            </a:r>
            <a:endParaRPr/>
          </a:p>
        </p:txBody>
      </p:sp>
      <p:sp>
        <p:nvSpPr>
          <p:cNvPr id="1760" name="Google Shape;1760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1" name="Google Shape;1761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64" name="Google Shape;1764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67" name="Google Shape;1767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68" name="Google Shape;1768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9" name="Google Shape;1769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771" name="Google Shape;1771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74" name="Google Shape;1774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775" name="Google Shape;1775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6" name="Google Shape;1776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77" name="Google Shape;1777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1778" name="Google Shape;1778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780" name="Google Shape;1780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1782" name="Google Shape;1782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3" name="Google Shape;1783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1789" name="Google Shape;1789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0" name="Google Shape;1790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795" name="Google Shape;1795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1796" name="Google Shape;1796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7" name="Google Shape;1797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162</a:t>
            </a:r>
            <a:endParaRPr/>
          </a:p>
        </p:txBody>
      </p:sp>
      <p:sp>
        <p:nvSpPr>
          <p:cNvPr id="1801" name="Google Shape;1801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02" name="Google Shape;1802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803" name="Google Shape;1803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770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807" name="Google Shape;1807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746</a:t>
            </a:r>
            <a:endParaRPr/>
          </a:p>
        </p:txBody>
      </p:sp>
      <p:sp>
        <p:nvSpPr>
          <p:cNvPr id="1808" name="Google Shape;1808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809" name="Google Shape;1809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1810" name="Google Shape;1810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1" name="Google Shape;1811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812" name="Google Shape;1812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13" name="Google Shape;1813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814" name="Google Shape;1814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815" name="Google Shape;1815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816" name="Google Shape;1816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817" name="Google Shape;1817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818" name="Google Shape;1818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819" name="Google Shape;1819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821" name="Google Shape;1821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822" name="Google Shape;1822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823" name="Google Shape;1823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824" name="Google Shape;1824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825" name="Google Shape;1825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1827" name="Google Shape;1827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828" name="Google Shape;1828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1829" name="Google Shape;1829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1830" name="Google Shape;1830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160</a:t>
            </a:r>
            <a:endParaRPr/>
          </a:p>
        </p:txBody>
      </p:sp>
      <p:sp>
        <p:nvSpPr>
          <p:cNvPr id="1831" name="Google Shape;1831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1833" name="Google Shape;1833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834" name="Google Shape;1834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205</a:t>
            </a:r>
            <a:endParaRPr/>
          </a:p>
        </p:txBody>
      </p:sp>
      <p:sp>
        <p:nvSpPr>
          <p:cNvPr id="1835" name="Google Shape;1835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1836" name="Google Shape;1836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775</a:t>
            </a:r>
            <a:endParaRPr/>
          </a:p>
        </p:txBody>
      </p:sp>
      <p:sp>
        <p:nvSpPr>
          <p:cNvPr id="1837" name="Google Shape;1837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800</a:t>
            </a:r>
            <a:endParaRPr/>
          </a:p>
        </p:txBody>
      </p:sp>
      <p:sp>
        <p:nvSpPr>
          <p:cNvPr id="1838" name="Google Shape;1838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839" name="Google Shape;1839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0" name="Google Shape;1840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1841" name="Google Shape;1841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1842" name="Google Shape;1842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1843" name="Google Shape;1843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1844" name="Google Shape;1844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$89K</a:t>
            </a:r>
            <a:endParaRPr/>
          </a:p>
        </p:txBody>
      </p:sp>
      <p:sp>
        <p:nvSpPr>
          <p:cNvPr id="1845" name="Google Shape;1845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$99K</a:t>
            </a:r>
            <a:endParaRPr/>
          </a:p>
        </p:txBody>
      </p:sp>
      <p:sp>
        <p:nvSpPr>
          <p:cNvPr id="1846" name="Google Shape;1846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1847" name="Google Shape;1847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1848" name="Google Shape;1848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1849" name="Google Shape;1849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$393K</a:t>
            </a:r>
            <a:endParaRPr/>
          </a:p>
        </p:txBody>
      </p:sp>
      <p:sp>
        <p:nvSpPr>
          <p:cNvPr id="1850" name="Google Shape;1850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$404K</a:t>
            </a:r>
            <a:endParaRPr/>
          </a:p>
        </p:txBody>
      </p:sp>
      <p:sp>
        <p:nvSpPr>
          <p:cNvPr id="1851" name="Google Shape;1851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2" name="Google Shape;1852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853" name="Google Shape;1853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54" name="Google Shape;1854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$403,565 YTD gross written premium</a:t>
            </a:r>
            <a:endParaRPr/>
          </a:p>
        </p:txBody>
      </p:sp>
      <p:sp>
        <p:nvSpPr>
          <p:cNvPr id="1855" name="Google Shape;1855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56" name="Google Shape;1856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$294,524 in new business production</a:t>
            </a:r>
            <a:endParaRPr/>
          </a:p>
        </p:txBody>
      </p:sp>
      <p:sp>
        <p:nvSpPr>
          <p:cNvPr id="1857" name="Google Shape;1857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859" name="Google Shape;1859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60" name="Google Shape;1860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1.6% hit ratio on 770 subs - needs coaching</a:t>
            </a:r>
            <a:endParaRPr/>
          </a:p>
        </p:txBody>
      </p:sp>
      <p:sp>
        <p:nvSpPr>
          <p:cNvPr id="1861" name="Google Shape;1861;p1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62" name="Google Shape;1862;p1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67% of new business ($196,778)</a:t>
            </a:r>
            <a:endParaRPr/>
          </a:p>
        </p:txBody>
      </p:sp>
      <p:sp>
        <p:nvSpPr>
          <p:cNvPr id="1863" name="Google Shape;1863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4" name="Google Shape;1864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865" name="Google Shape;1865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866" name="Google Shape;1866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(770 subs, only 12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1867" name="Google Shape;1867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868" name="Google Shape;1868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$294,524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2" name="Shape 1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Google Shape;1873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4" name="Google Shape;1874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 Insurance Services, Inc Dba Simplex Insurance Services</a:t>
            </a:r>
            <a:endParaRPr/>
          </a:p>
        </p:txBody>
      </p:sp>
      <p:sp>
        <p:nvSpPr>
          <p:cNvPr id="1875" name="Google Shape;1875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Southeast  |  State: FL  |  City: N/A</a:t>
            </a:r>
            <a:endParaRPr/>
          </a:p>
        </p:txBody>
      </p:sp>
      <p:sp>
        <p:nvSpPr>
          <p:cNvPr id="1876" name="Google Shape;1876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$403,565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77" name="Google Shape;1877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$294,524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78" name="Google Shape;1878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79" name="Google Shape;1879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$91,996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80" name="Google Shape;1880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$-196,778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81" name="Google Shape;1881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$1,069,670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82" name="Google Shape;1882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$1,079,787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83" name="Google Shape;1883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84" name="Google Shape;1884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85" name="Google Shape;1885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86" name="Google Shape;1886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87" name="Google Shape;1887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88" name="Google Shape;1888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$289,350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89" name="Google Shape;1889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0" name="Google Shape;1890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91" name="Google Shape;1891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92" name="Google Shape;1892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93" name="Google Shape;1893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94" name="Google Shape;1894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95" name="Google Shape;1895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96" name="Google Shape;1896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97" name="Google Shape;1897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8" name="Google Shape;1898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99" name="Google Shape;1899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$50,413</a:t>
            </a:r>
            <a:endParaRPr/>
          </a:p>
        </p:txBody>
      </p:sp>
      <p:sp>
        <p:nvSpPr>
          <p:cNvPr id="1900" name="Google Shape;1900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$31,057</a:t>
            </a:r>
            <a:endParaRPr/>
          </a:p>
        </p:txBody>
      </p:sp>
      <p:sp>
        <p:nvSpPr>
          <p:cNvPr id="1901" name="Google Shape;1901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2" name="Google Shape;1902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$19,356</a:t>
            </a:r>
            <a:endParaRPr/>
          </a:p>
        </p:txBody>
      </p:sp>
      <p:sp>
        <p:nvSpPr>
          <p:cNvPr id="1903" name="Google Shape;1903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$-10,414</a:t>
            </a:r>
            <a:endParaRPr/>
          </a:p>
        </p:txBody>
      </p:sp>
      <p:sp>
        <p:nvSpPr>
          <p:cNvPr id="1904" name="Google Shape;1904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5" name="Google Shape;1905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06" name="Google Shape;1906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$92,510</a:t>
            </a:r>
            <a:endParaRPr/>
          </a:p>
        </p:txBody>
      </p:sp>
      <p:sp>
        <p:nvSpPr>
          <p:cNvPr id="1907" name="Google Shape;1907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$81,370</a:t>
            </a:r>
            <a:endParaRPr/>
          </a:p>
        </p:txBody>
      </p:sp>
      <p:sp>
        <p:nvSpPr>
          <p:cNvPr id="1908" name="Google Shape;1908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9" name="Google Shape;1909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$11,140</a:t>
            </a:r>
            <a:endParaRPr/>
          </a:p>
        </p:txBody>
      </p:sp>
      <p:sp>
        <p:nvSpPr>
          <p:cNvPr id="1910" name="Google Shape;1910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$-28,403</a:t>
            </a:r>
            <a:endParaRPr/>
          </a:p>
        </p:txBody>
      </p:sp>
      <p:sp>
        <p:nvSpPr>
          <p:cNvPr id="1911" name="Google Shape;1911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2" name="Google Shape;1912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13" name="Google Shape;1913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$89,480</a:t>
            </a:r>
            <a:endParaRPr/>
          </a:p>
        </p:txBody>
      </p:sp>
      <p:sp>
        <p:nvSpPr>
          <p:cNvPr id="1914" name="Google Shape;1914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$64,080</a:t>
            </a:r>
            <a:endParaRPr/>
          </a:p>
        </p:txBody>
      </p:sp>
      <p:sp>
        <p:nvSpPr>
          <p:cNvPr id="1915" name="Google Shape;1915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$17,044</a:t>
            </a:r>
            <a:endParaRPr/>
          </a:p>
        </p:txBody>
      </p:sp>
      <p:sp>
        <p:nvSpPr>
          <p:cNvPr id="1916" name="Google Shape;1916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$8,356</a:t>
            </a:r>
            <a:endParaRPr/>
          </a:p>
        </p:txBody>
      </p:sp>
      <p:sp>
        <p:nvSpPr>
          <p:cNvPr id="1917" name="Google Shape;1917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$-80,106</a:t>
            </a:r>
            <a:endParaRPr/>
          </a:p>
        </p:txBody>
      </p:sp>
      <p:sp>
        <p:nvSpPr>
          <p:cNvPr id="1918" name="Google Shape;1918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9" name="Google Shape;1919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20" name="Google Shape;1920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$105,379</a:t>
            </a:r>
            <a:endParaRPr/>
          </a:p>
        </p:txBody>
      </p:sp>
      <p:sp>
        <p:nvSpPr>
          <p:cNvPr id="1921" name="Google Shape;1921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$93,651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$11,728</a:t>
            </a:r>
            <a:endParaRPr/>
          </a:p>
        </p:txBody>
      </p:sp>
      <p:sp>
        <p:nvSpPr>
          <p:cNvPr id="1924" name="Google Shape;1924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$-21,441</a:t>
            </a:r>
            <a:endParaRPr/>
          </a:p>
        </p:txBody>
      </p:sp>
      <p:sp>
        <p:nvSpPr>
          <p:cNvPr id="1925" name="Google Shape;1925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6" name="Google Shape;1926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27" name="Google Shape;1927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$65,782</a:t>
            </a:r>
            <a:endParaRPr/>
          </a:p>
        </p:txBody>
      </p:sp>
      <p:sp>
        <p:nvSpPr>
          <p:cNvPr id="1928" name="Google Shape;1928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$24,367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$41,416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$-56,415</a:t>
            </a:r>
            <a:endParaRPr/>
          </a:p>
        </p:txBody>
      </p:sp>
      <p:sp>
        <p:nvSpPr>
          <p:cNvPr id="1932" name="Google Shape;1932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3" name="Google Shape;1933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34" name="Google Shape;1934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$403,565</a:t>
            </a:r>
            <a:endParaRPr/>
          </a:p>
        </p:txBody>
      </p:sp>
      <p:sp>
        <p:nvSpPr>
          <p:cNvPr id="1935" name="Google Shape;1935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$294,524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$17,044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$91,996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$-196,778</a:t>
            </a:r>
            <a:endParaRPr/>
          </a:p>
        </p:txBody>
      </p:sp>
      <p:sp>
        <p:nvSpPr>
          <p:cNvPr id="1939" name="Google Shape;1939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0" name="Google Shape;1940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42" name="Google Shape;1942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46" name="Google Shape;1946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47" name="Google Shape;1947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8" name="Google Shape;1948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49" name="Google Shape;1949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53" name="Google Shape;1953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954" name="Google Shape;1954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5" name="Google Shape;1955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56" name="Google Shape;1956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1957" name="Google Shape;1957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1961" name="Google Shape;1961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2" name="Google Shape;1962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63" name="Google Shape;1963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1968" name="Google Shape;1968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9" name="Google Shape;1969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74" name="Google Shape;1974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1975" name="Google Shape;1975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6" name="Google Shape;1976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77" name="Google Shape;1977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1978" name="Google Shape;1978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79" name="Google Shape;1979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162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982" name="Google Shape;1982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3" name="Google Shape;1983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84" name="Google Shape;1984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770</a:t>
            </a:r>
            <a:endParaRPr/>
          </a:p>
        </p:txBody>
      </p:sp>
      <p:sp>
        <p:nvSpPr>
          <p:cNvPr id="1985" name="Google Shape;1985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986" name="Google Shape;1986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746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1989" name="Google Shape;1989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0" name="Google Shape;1990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91" name="Google Shape;1991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92" name="Google Shape;1992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93" name="Google Shape;1993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94" name="Google Shape;1994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95" name="Google Shape;1995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96" name="Google Shape;1996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97" name="Google Shape;1997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98" name="Google Shape;1998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99" name="Google Shape;1999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000" name="Google Shape;2000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003" name="Google Shape;2003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004" name="Google Shape;2004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05" name="Google Shape;2005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006" name="Google Shape;2006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2007" name="Google Shape;2007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160</a:t>
            </a:r>
            <a:endParaRPr/>
          </a:p>
        </p:txBody>
      </p:sp>
      <p:sp>
        <p:nvSpPr>
          <p:cNvPr id="2010" name="Google Shape;2010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2011" name="Google Shape;2011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2012" name="Google Shape;2012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2013" name="Google Shape;2013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205</a:t>
            </a:r>
            <a:endParaRPr/>
          </a:p>
        </p:txBody>
      </p:sp>
      <p:sp>
        <p:nvSpPr>
          <p:cNvPr id="2014" name="Google Shape;2014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2015" name="Google Shape;2015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775</a:t>
            </a:r>
            <a:endParaRPr/>
          </a:p>
        </p:txBody>
      </p:sp>
      <p:sp>
        <p:nvSpPr>
          <p:cNvPr id="2016" name="Google Shape;2016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800</a:t>
            </a:r>
            <a:endParaRPr/>
          </a:p>
        </p:txBody>
      </p:sp>
      <p:sp>
        <p:nvSpPr>
          <p:cNvPr id="2017" name="Google Shape;2017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018" name="Google Shape;2018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9" name="Google Shape;2019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2020" name="Google Shape;2020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2021" name="Google Shape;2021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2022" name="Google Shape;2022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2023" name="Google Shape;2023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$89K</a:t>
            </a:r>
            <a:endParaRPr/>
          </a:p>
        </p:txBody>
      </p:sp>
      <p:sp>
        <p:nvSpPr>
          <p:cNvPr id="2024" name="Google Shape;2024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$99K</a:t>
            </a:r>
            <a:endParaRPr/>
          </a:p>
        </p:txBody>
      </p:sp>
      <p:sp>
        <p:nvSpPr>
          <p:cNvPr id="2025" name="Google Shape;2025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026" name="Google Shape;2026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027" name="Google Shape;2027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2028" name="Google Shape;2028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$393K</a:t>
            </a:r>
            <a:endParaRPr/>
          </a:p>
        </p:txBody>
      </p:sp>
      <p:sp>
        <p:nvSpPr>
          <p:cNvPr id="2029" name="Google Shape;2029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$404K</a:t>
            </a:r>
            <a:endParaRPr/>
          </a:p>
        </p:txBody>
      </p:sp>
      <p:sp>
        <p:nvSpPr>
          <p:cNvPr id="2030" name="Google Shape;2030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1" name="Google Shape;2031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032" name="Google Shape;2032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33" name="Google Shape;2033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$403,565 YTD gross written premium</a:t>
            </a:r>
            <a:endParaRPr/>
          </a:p>
        </p:txBody>
      </p:sp>
      <p:sp>
        <p:nvSpPr>
          <p:cNvPr id="2034" name="Google Shape;2034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35" name="Google Shape;2035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$294,524 in new business production</a:t>
            </a:r>
            <a:endParaRPr/>
          </a:p>
        </p:txBody>
      </p:sp>
      <p:sp>
        <p:nvSpPr>
          <p:cNvPr id="2036" name="Google Shape;2036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7" name="Google Shape;2037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038" name="Google Shape;2038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39" name="Google Shape;2039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1.6% hit ratio on 770 subs - needs coaching</a:t>
            </a:r>
            <a:endParaRPr/>
          </a:p>
        </p:txBody>
      </p:sp>
      <p:sp>
        <p:nvSpPr>
          <p:cNvPr id="2040" name="Google Shape;2040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41" name="Google Shape;2041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67% of new business ($196,778)</a:t>
            </a:r>
            <a:endParaRPr/>
          </a:p>
        </p:txBody>
      </p:sp>
      <p:sp>
        <p:nvSpPr>
          <p:cNvPr id="2042" name="Google Shape;2042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3" name="Google Shape;2043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044" name="Google Shape;2044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045" name="Google Shape;2045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(770 subs, only 12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046" name="Google Shape;2046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047" name="Google Shape;2047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$294,524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5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Cslr Insurance Services, Llc</a:t>
            </a:r>
            <a:endParaRPr/>
          </a:p>
        </p:txBody>
      </p:sp>
      <p:sp>
        <p:nvSpPr>
          <p:cNvPr id="2054" name="Google Shape;2054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NC  |  City: Chicago</a:t>
            </a:r>
            <a:endParaRPr/>
          </a:p>
        </p:txBody>
      </p:sp>
      <p:sp>
        <p:nvSpPr>
          <p:cNvPr id="2055" name="Google Shape;2055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$275,674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056" name="Google Shape;2056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$231,073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57" name="Google Shape;2057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58" name="Google Shape;2058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$44,601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59" name="Google Shape;2059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$-190,290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60" name="Google Shape;2060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$762,570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061" name="Google Shape;2061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$862,964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062" name="Google Shape;2062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063" name="Google Shape;2063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64" name="Google Shape;2064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65" name="Google Shape;2065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66" name="Google Shape;2066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67" name="Google Shape;2067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$224,307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68" name="Google Shape;2068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9" name="Google Shape;2069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70" name="Google Shape;2070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71" name="Google Shape;2071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72" name="Google Shape;2072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73" name="Google Shape;2073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74" name="Google Shape;2074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75" name="Google Shape;2075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76" name="Google Shape;2076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7" name="Google Shape;2077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78" name="Google Shape;2078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$15,281</a:t>
            </a:r>
            <a:endParaRPr/>
          </a:p>
        </p:txBody>
      </p:sp>
      <p:sp>
        <p:nvSpPr>
          <p:cNvPr id="2079" name="Google Shape;2079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$14,448</a:t>
            </a:r>
            <a:endParaRPr/>
          </a:p>
        </p:txBody>
      </p:sp>
      <p:sp>
        <p:nvSpPr>
          <p:cNvPr id="2080" name="Google Shape;2080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1" name="Google Shape;2081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$833</a:t>
            </a:r>
            <a:endParaRPr/>
          </a:p>
        </p:txBody>
      </p:sp>
      <p:sp>
        <p:nvSpPr>
          <p:cNvPr id="2082" name="Google Shape;2082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$-14,250</a:t>
            </a:r>
            <a:endParaRPr/>
          </a:p>
        </p:txBody>
      </p:sp>
      <p:sp>
        <p:nvSpPr>
          <p:cNvPr id="2083" name="Google Shape;2083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4" name="Google Shape;2084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85" name="Google Shape;2085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$69,079</a:t>
            </a:r>
            <a:endParaRPr/>
          </a:p>
        </p:txBody>
      </p:sp>
      <p:sp>
        <p:nvSpPr>
          <p:cNvPr id="2086" name="Google Shape;2086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$36,254</a:t>
            </a:r>
            <a:endParaRPr/>
          </a:p>
        </p:txBody>
      </p:sp>
      <p:sp>
        <p:nvSpPr>
          <p:cNvPr id="2087" name="Google Shape;2087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8" name="Google Shape;2088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$32,825</a:t>
            </a:r>
            <a:endParaRPr/>
          </a:p>
        </p:txBody>
      </p:sp>
      <p:sp>
        <p:nvSpPr>
          <p:cNvPr id="2089" name="Google Shape;2089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$-83,996</a:t>
            </a:r>
            <a:endParaRPr/>
          </a:p>
        </p:txBody>
      </p:sp>
      <p:sp>
        <p:nvSpPr>
          <p:cNvPr id="2090" name="Google Shape;2090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1" name="Google Shape;2091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$71,432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$52,765</a:t>
            </a:r>
            <a:endParaRPr/>
          </a:p>
        </p:txBody>
      </p:sp>
      <p:sp>
        <p:nvSpPr>
          <p:cNvPr id="2094" name="Google Shape;2094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95" name="Google Shape;2095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$18,667</a:t>
            </a:r>
            <a:endParaRPr/>
          </a:p>
        </p:txBody>
      </p:sp>
      <p:sp>
        <p:nvSpPr>
          <p:cNvPr id="2096" name="Google Shape;2096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$-46,219</a:t>
            </a:r>
            <a:endParaRPr/>
          </a:p>
        </p:txBody>
      </p:sp>
      <p:sp>
        <p:nvSpPr>
          <p:cNvPr id="2097" name="Google Shape;2097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8" name="Google Shape;2098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$27,682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$30,082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2" name="Google Shape;2102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$-2,400</a:t>
            </a:r>
            <a:endParaRPr/>
          </a:p>
        </p:txBody>
      </p:sp>
      <p:sp>
        <p:nvSpPr>
          <p:cNvPr id="2103" name="Google Shape;2103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$-14,286</a:t>
            </a:r>
            <a:endParaRPr/>
          </a:p>
        </p:txBody>
      </p:sp>
      <p:sp>
        <p:nvSpPr>
          <p:cNvPr id="2104" name="Google Shape;2104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5" name="Google Shape;2105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$92,201</a:t>
            </a:r>
            <a:endParaRPr/>
          </a:p>
        </p:txBody>
      </p:sp>
      <p:sp>
        <p:nvSpPr>
          <p:cNvPr id="2107" name="Google Shape;2107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$97,524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$-5,323</a:t>
            </a:r>
            <a:endParaRPr/>
          </a:p>
        </p:txBody>
      </p:sp>
      <p:sp>
        <p:nvSpPr>
          <p:cNvPr id="2110" name="Google Shape;2110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$-31,539</a:t>
            </a:r>
            <a:endParaRPr/>
          </a:p>
        </p:txBody>
      </p:sp>
      <p:sp>
        <p:nvSpPr>
          <p:cNvPr id="2111" name="Google Shape;2111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2" name="Google Shape;2112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$275,674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$231,073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$44,601</a:t>
            </a:r>
            <a:endParaRPr/>
          </a:p>
        </p:txBody>
      </p:sp>
      <p:sp>
        <p:nvSpPr>
          <p:cNvPr id="2117" name="Google Shape;2117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$-190,290</a:t>
            </a:r>
            <a:endParaRPr/>
          </a:p>
        </p:txBody>
      </p:sp>
      <p:sp>
        <p:nvSpPr>
          <p:cNvPr id="2118" name="Google Shape;2118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9" name="Google Shape;2119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124" name="Google Shape;2124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25" name="Google Shape;2125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26" name="Google Shape;2126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7" name="Google Shape;2127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716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711</a:t>
            </a:r>
            <a:endParaRPr/>
          </a:p>
        </p:txBody>
      </p:sp>
      <p:sp>
        <p:nvSpPr>
          <p:cNvPr id="2131" name="Google Shape;2131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32" name="Google Shape;2132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0.4%</a:t>
            </a:r>
            <a:endParaRPr/>
          </a:p>
        </p:txBody>
      </p:sp>
      <p:sp>
        <p:nvSpPr>
          <p:cNvPr id="2133" name="Google Shape;2133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4" name="Google Shape;2134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35" name="Google Shape;2135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558</a:t>
            </a:r>
            <a:endParaRPr/>
          </a:p>
        </p:txBody>
      </p:sp>
      <p:sp>
        <p:nvSpPr>
          <p:cNvPr id="2136" name="Google Shape;2136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552</a:t>
            </a:r>
            <a:endParaRPr/>
          </a:p>
        </p:txBody>
      </p:sp>
      <p:sp>
        <p:nvSpPr>
          <p:cNvPr id="2138" name="Google Shape;2138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39" name="Google Shape;2139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2140" name="Google Shape;2140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1" name="Google Shape;2141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549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545</a:t>
            </a:r>
            <a:endParaRPr/>
          </a:p>
        </p:txBody>
      </p:sp>
      <p:sp>
        <p:nvSpPr>
          <p:cNvPr id="2145" name="Google Shape;2145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46" name="Google Shape;2146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2147" name="Google Shape;2147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8" name="Google Shape;2148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538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</p:txBody>
      </p:sp>
      <p:sp>
        <p:nvSpPr>
          <p:cNvPr id="2152" name="Google Shape;2152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53" name="Google Shape;2153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2154" name="Google Shape;2154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5" name="Google Shape;2155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445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443</a:t>
            </a:r>
            <a:endParaRPr/>
          </a:p>
        </p:txBody>
      </p:sp>
      <p:sp>
        <p:nvSpPr>
          <p:cNvPr id="2159" name="Google Shape;2159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60" name="Google Shape;2160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</p:txBody>
      </p:sp>
      <p:sp>
        <p:nvSpPr>
          <p:cNvPr id="2161" name="Google Shape;2161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2" name="Google Shape;2162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2789</a:t>
            </a:r>
            <a:endParaRPr/>
          </a:p>
        </p:txBody>
      </p:sp>
      <p:sp>
        <p:nvSpPr>
          <p:cNvPr id="2164" name="Google Shape;2164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165" name="Google Shape;2165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2769</a:t>
            </a:r>
            <a:endParaRPr/>
          </a:p>
        </p:txBody>
      </p:sp>
      <p:sp>
        <p:nvSpPr>
          <p:cNvPr id="2166" name="Google Shape;2166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167" name="Google Shape;2167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2168" name="Google Shape;2168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9" name="Google Shape;2169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71" name="Google Shape;2171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72" name="Google Shape;2172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73" name="Google Shape;2173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74" name="Google Shape;2174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75" name="Google Shape;2175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78" name="Google Shape;2178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79" name="Google Shape;2179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80" name="Google Shape;2180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81" name="Google Shape;2181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82" name="Google Shape;2182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83" name="Google Shape;2183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185" name="Google Shape;2185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716</a:t>
            </a:r>
            <a:endParaRPr/>
          </a:p>
        </p:txBody>
      </p:sp>
      <p:sp>
        <p:nvSpPr>
          <p:cNvPr id="2186" name="Google Shape;2186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187" name="Google Shape;2187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558</a:t>
            </a:r>
            <a:endParaRPr/>
          </a:p>
        </p:txBody>
      </p:sp>
      <p:sp>
        <p:nvSpPr>
          <p:cNvPr id="2188" name="Google Shape;2188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189" name="Google Shape;2189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549</a:t>
            </a:r>
            <a:endParaRPr/>
          </a:p>
        </p:txBody>
      </p:sp>
      <p:sp>
        <p:nvSpPr>
          <p:cNvPr id="2190" name="Google Shape;2190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191" name="Google Shape;2191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538</a:t>
            </a:r>
            <a:endParaRPr/>
          </a:p>
        </p:txBody>
      </p:sp>
      <p:sp>
        <p:nvSpPr>
          <p:cNvPr id="2192" name="Google Shape;2192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2193" name="Google Shape;2193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445</a:t>
            </a:r>
            <a:endParaRPr/>
          </a:p>
        </p:txBody>
      </p:sp>
      <p:sp>
        <p:nvSpPr>
          <p:cNvPr id="2194" name="Google Shape;2194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209</a:t>
            </a:r>
            <a:endParaRPr/>
          </a:p>
        </p:txBody>
      </p:sp>
      <p:sp>
        <p:nvSpPr>
          <p:cNvPr id="2195" name="Google Shape;2195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2806</a:t>
            </a:r>
            <a:endParaRPr/>
          </a:p>
        </p:txBody>
      </p:sp>
      <p:sp>
        <p:nvSpPr>
          <p:cNvPr id="2196" name="Google Shape;2196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97" name="Google Shape;2197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2198" name="Google Shape;2198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2199" name="Google Shape;2199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$-7,581</a:t>
            </a:r>
            <a:endParaRPr/>
          </a:p>
        </p:txBody>
      </p:sp>
      <p:sp>
        <p:nvSpPr>
          <p:cNvPr id="2200" name="Google Shape;2200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2201" name="Google Shape;2201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2202" name="Google Shape;2202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$71K</a:t>
            </a:r>
            <a:endParaRPr/>
          </a:p>
        </p:txBody>
      </p:sp>
      <p:sp>
        <p:nvSpPr>
          <p:cNvPr id="2203" name="Google Shape;2203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2204" name="Google Shape;2204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2205" name="Google Shape;2205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206" name="Google Shape;2206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$92K</a:t>
            </a:r>
            <a:endParaRPr/>
          </a:p>
        </p:txBody>
      </p:sp>
      <p:sp>
        <p:nvSpPr>
          <p:cNvPr id="2207" name="Google Shape;2207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$175K</a:t>
            </a:r>
            <a:endParaRPr/>
          </a:p>
        </p:txBody>
      </p:sp>
      <p:sp>
        <p:nvSpPr>
          <p:cNvPr id="2208" name="Google Shape;2208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$276K</a:t>
            </a:r>
            <a:endParaRPr/>
          </a:p>
        </p:txBody>
      </p:sp>
      <p:sp>
        <p:nvSpPr>
          <p:cNvPr id="2209" name="Google Shape;2209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0" name="Google Shape;2210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211" name="Google Shape;2211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12" name="Google Shape;2212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$275,674 YTD gross written premium</a:t>
            </a:r>
            <a:endParaRPr/>
          </a:p>
        </p:txBody>
      </p:sp>
      <p:sp>
        <p:nvSpPr>
          <p:cNvPr id="2213" name="Google Shape;2213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14" name="Google Shape;2214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$231,073 in new business production</a:t>
            </a:r>
            <a:endParaRPr/>
          </a:p>
        </p:txBody>
      </p:sp>
      <p:sp>
        <p:nvSpPr>
          <p:cNvPr id="2215" name="Google Shape;2215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6" name="Google Shape;2216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217" name="Google Shape;2217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18" name="Google Shape;2218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0.6% hit ratio on 2789 subs - needs coaching</a:t>
            </a:r>
            <a:endParaRPr/>
          </a:p>
        </p:txBody>
      </p:sp>
      <p:sp>
        <p:nvSpPr>
          <p:cNvPr id="2219" name="Google Shape;2219;p1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20" name="Google Shape;2220;p1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82% of new business ($190,290)</a:t>
            </a:r>
            <a:endParaRPr/>
          </a:p>
        </p:txBody>
      </p:sp>
      <p:sp>
        <p:nvSpPr>
          <p:cNvPr id="2221" name="Google Shape;2221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2" name="Google Shape;2222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223" name="Google Shape;2223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224" name="Google Shape;2224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(2789 subs, only 16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225" name="Google Shape;2225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226" name="Google Shape;2226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$231,073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0" name="Shape 2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1" name="Google Shape;2231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2" name="Google Shape;2232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Ultra Coverage Inc</a:t>
            </a:r>
            <a:endParaRPr/>
          </a:p>
        </p:txBody>
      </p:sp>
      <p:sp>
        <p:nvSpPr>
          <p:cNvPr id="2233" name="Google Shape;2233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Deerfield Beach</a:t>
            </a:r>
            <a:endParaRPr/>
          </a:p>
        </p:txBody>
      </p:sp>
      <p:sp>
        <p:nvSpPr>
          <p:cNvPr id="2234" name="Google Shape;2234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$115,692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235" name="Google Shape;2235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$67,015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36" name="Google Shape;2236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37" name="Google Shape;2237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$48,677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38" name="Google Shape;2238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$-16,980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39" name="Google Shape;2239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$68,603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240" name="Google Shape;2240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$171,361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241" name="Google Shape;2241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242" name="Google Shape;2242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43" name="Google Shape;2243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44" name="Google Shape;2244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45" name="Google Shape;2245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246" name="Google Shape;2246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$104,730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247" name="Google Shape;2247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8" name="Google Shape;2248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249" name="Google Shape;2249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251" name="Google Shape;2251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52" name="Google Shape;2252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53" name="Google Shape;2253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54" name="Google Shape;2254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55" name="Google Shape;2255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6" name="Google Shape;2256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57" name="Google Shape;2257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$16,713</a:t>
            </a:r>
            <a:endParaRPr/>
          </a:p>
        </p:txBody>
      </p:sp>
      <p:sp>
        <p:nvSpPr>
          <p:cNvPr id="2258" name="Google Shape;2258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9" name="Google Shape;2259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60" name="Google Shape;2260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$16,713</a:t>
            </a:r>
            <a:endParaRPr/>
          </a:p>
        </p:txBody>
      </p:sp>
      <p:sp>
        <p:nvSpPr>
          <p:cNvPr id="2261" name="Google Shape;2261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$-16,980</a:t>
            </a:r>
            <a:endParaRPr/>
          </a:p>
        </p:txBody>
      </p:sp>
      <p:sp>
        <p:nvSpPr>
          <p:cNvPr id="2262" name="Google Shape;2262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3" name="Google Shape;2263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64" name="Google Shape;2264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$17,114</a:t>
            </a:r>
            <a:endParaRPr/>
          </a:p>
        </p:txBody>
      </p:sp>
      <p:sp>
        <p:nvSpPr>
          <p:cNvPr id="2265" name="Google Shape;2265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$17,114</a:t>
            </a:r>
            <a:endParaRPr/>
          </a:p>
        </p:txBody>
      </p:sp>
      <p:sp>
        <p:nvSpPr>
          <p:cNvPr id="2266" name="Google Shape;2266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67" name="Google Shape;2267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68" name="Google Shape;2268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69" name="Google Shape;2269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0" name="Google Shape;2270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71" name="Google Shape;2271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$35,231</a:t>
            </a:r>
            <a:endParaRPr/>
          </a:p>
        </p:txBody>
      </p:sp>
      <p:sp>
        <p:nvSpPr>
          <p:cNvPr id="2272" name="Google Shape;2272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$21,147</a:t>
            </a:r>
            <a:endParaRPr/>
          </a:p>
        </p:txBody>
      </p:sp>
      <p:sp>
        <p:nvSpPr>
          <p:cNvPr id="2273" name="Google Shape;2273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74" name="Google Shape;2274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$14,085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76" name="Google Shape;2276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7" name="Google Shape;2277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$39,584</a:t>
            </a:r>
            <a:endParaRPr/>
          </a:p>
        </p:txBody>
      </p:sp>
      <p:sp>
        <p:nvSpPr>
          <p:cNvPr id="2279" name="Google Shape;2279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$25,755</a:t>
            </a:r>
            <a:endParaRPr/>
          </a:p>
        </p:txBody>
      </p:sp>
      <p:sp>
        <p:nvSpPr>
          <p:cNvPr id="2280" name="Google Shape;2280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1" name="Google Shape;2281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$13,829</a:t>
            </a:r>
            <a:endParaRPr/>
          </a:p>
        </p:txBody>
      </p:sp>
      <p:sp>
        <p:nvSpPr>
          <p:cNvPr id="2282" name="Google Shape;2282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3" name="Google Shape;2283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4" name="Google Shape;2284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$7,050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$2,999</a:t>
            </a:r>
            <a:endParaRPr/>
          </a:p>
        </p:txBody>
      </p:sp>
      <p:sp>
        <p:nvSpPr>
          <p:cNvPr id="2287" name="Google Shape;2287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8" name="Google Shape;2288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$4,051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90" name="Google Shape;2290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1" name="Google Shape;2291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$115,692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$67,015</a:t>
            </a:r>
            <a:endParaRPr/>
          </a:p>
        </p:txBody>
      </p:sp>
      <p:sp>
        <p:nvSpPr>
          <p:cNvPr id="2294" name="Google Shape;2294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95" name="Google Shape;2295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$48,677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$-16,980</a:t>
            </a:r>
            <a:endParaRPr/>
          </a:p>
        </p:txBody>
      </p:sp>
      <p:sp>
        <p:nvSpPr>
          <p:cNvPr id="2297" name="Google Shape;2297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8" name="Google Shape;2298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01" name="Google Shape;2301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302" name="Google Shape;2302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05" name="Google Shape;2305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6" name="Google Shape;2306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07" name="Google Shape;2307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308" name="Google Shape;2308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09" name="Google Shape;2309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312" name="Google Shape;2312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3" name="Google Shape;2313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14" name="Google Shape;2314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315" name="Google Shape;2315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16" name="Google Shape;2316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2319" name="Google Shape;2319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0" name="Google Shape;2320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21" name="Google Shape;2321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22" name="Google Shape;2322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23" name="Google Shape;2323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2326" name="Google Shape;2326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7" name="Google Shape;2327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30" name="Google Shape;2330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331" name="Google Shape;2331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2333" name="Google Shape;2333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4" name="Google Shape;2334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35" name="Google Shape;2335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338" name="Google Shape;2338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340" name="Google Shape;2340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1" name="Google Shape;2341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42" name="Google Shape;2342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343" name="Google Shape;2343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344" name="Google Shape;2344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2345" name="Google Shape;2345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346" name="Google Shape;2346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2347" name="Google Shape;2347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8" name="Google Shape;2348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349" name="Google Shape;2349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50" name="Google Shape;2350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351" name="Google Shape;2351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352" name="Google Shape;2352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353" name="Google Shape;2353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356" name="Google Shape;2356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357" name="Google Shape;2357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358" name="Google Shape;2358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359" name="Google Shape;2359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360" name="Google Shape;2360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362" name="Google Shape;2362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63" name="Google Shape;2363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64" name="Google Shape;2364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365" name="Google Shape;2365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66" name="Google Shape;2366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367" name="Google Shape;2367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70" name="Google Shape;2370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71" name="Google Shape;2371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72" name="Google Shape;2372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373" name="Google Shape;2373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74" name="Google Shape;2374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2375" name="Google Shape;2375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76" name="Google Shape;2376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$395</a:t>
            </a:r>
            <a:endParaRPr/>
          </a:p>
        </p:txBody>
      </p:sp>
      <p:sp>
        <p:nvSpPr>
          <p:cNvPr id="2377" name="Google Shape;2377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2378" name="Google Shape;2378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$-1,137</a:t>
            </a:r>
            <a:endParaRPr/>
          </a:p>
        </p:txBody>
      </p:sp>
      <p:sp>
        <p:nvSpPr>
          <p:cNvPr id="2379" name="Google Shape;2379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2380" name="Google Shape;2380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81" name="Google Shape;2381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382" name="Google Shape;2382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2383" name="Google Shape;2383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2384" name="Google Shape;2384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85" name="Google Shape;2385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2386" name="Google Shape;2386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2387" name="Google Shape;2387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$116K</a:t>
            </a:r>
            <a:endParaRPr/>
          </a:p>
        </p:txBody>
      </p:sp>
      <p:sp>
        <p:nvSpPr>
          <p:cNvPr id="2388" name="Google Shape;2388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9" name="Google Shape;2389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90" name="Google Shape;2390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91" name="Google Shape;2391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$115,692 YTD gross written premium</a:t>
            </a:r>
            <a:endParaRPr/>
          </a:p>
        </p:txBody>
      </p:sp>
      <p:sp>
        <p:nvSpPr>
          <p:cNvPr id="2392" name="Google Shape;2392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93" name="Google Shape;2393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$67,015 in new business production</a:t>
            </a:r>
            <a:endParaRPr/>
          </a:p>
        </p:txBody>
      </p:sp>
      <p:sp>
        <p:nvSpPr>
          <p:cNvPr id="2394" name="Google Shape;2394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5" name="Google Shape;2395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96" name="Google Shape;2396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97" name="Google Shape;2397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82% month-over-month</a:t>
            </a:r>
            <a:endParaRPr/>
          </a:p>
        </p:txBody>
      </p:sp>
      <p:sp>
        <p:nvSpPr>
          <p:cNvPr id="2398" name="Google Shape;2398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9" name="Google Shape;2399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400" name="Google Shape;2400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401" name="Google Shape;2401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$67,015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402" name="Google Shape;2402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403" name="Google Shape;2403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07" name="Shape 2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8" name="Google Shape;2408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9" name="Google Shape;2409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Best Insurance Dba Trucker Path Insurance</a:t>
            </a:r>
            <a:endParaRPr/>
          </a:p>
        </p:txBody>
      </p:sp>
      <p:sp>
        <p:nvSpPr>
          <p:cNvPr id="2410" name="Google Shape;2410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SC  |  City: Mt. Pleasant</a:t>
            </a:r>
            <a:endParaRPr/>
          </a:p>
        </p:txBody>
      </p:sp>
      <p:sp>
        <p:nvSpPr>
          <p:cNvPr id="2411" name="Google Shape;2411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$112,668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412" name="Google Shape;2412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$106,070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13" name="Google Shape;2413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14" name="Google Shape;2414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15" name="Google Shape;2415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$-36,866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16" name="Google Shape;2416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$488,188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417" name="Google Shape;2417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$551,784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418" name="Google Shape;2418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419" name="Google Shape;2419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20" name="Google Shape;2420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21" name="Google Shape;2421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22" name="Google Shape;2422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423" name="Google Shape;2423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$250,415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424" name="Google Shape;2424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5" name="Google Shape;2425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426" name="Google Shape;2426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27" name="Google Shape;2427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428" name="Google Shape;2428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29" name="Google Shape;2429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30" name="Google Shape;2430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31" name="Google Shape;2431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32" name="Google Shape;2432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3" name="Google Shape;2433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34" name="Google Shape;2434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$14,782</a:t>
            </a:r>
            <a:endParaRPr/>
          </a:p>
        </p:txBody>
      </p:sp>
      <p:sp>
        <p:nvSpPr>
          <p:cNvPr id="2435" name="Google Shape;2435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$15,430</a:t>
            </a:r>
            <a:endParaRPr/>
          </a:p>
        </p:txBody>
      </p:sp>
      <p:sp>
        <p:nvSpPr>
          <p:cNvPr id="2436" name="Google Shape;2436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437" name="Google Shape;2437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$-1,198</a:t>
            </a:r>
            <a:endParaRPr/>
          </a:p>
        </p:txBody>
      </p:sp>
      <p:sp>
        <p:nvSpPr>
          <p:cNvPr id="2438" name="Google Shape;2438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$-3,009</a:t>
            </a:r>
            <a:endParaRPr/>
          </a:p>
        </p:txBody>
      </p:sp>
      <p:sp>
        <p:nvSpPr>
          <p:cNvPr id="2439" name="Google Shape;2439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0" name="Google Shape;2440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41" name="Google Shape;2441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</a:t>
            </a:r>
            <a:endParaRPr/>
          </a:p>
        </p:txBody>
      </p:sp>
      <p:sp>
        <p:nvSpPr>
          <p:cNvPr id="2442" name="Google Shape;2442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43" name="Google Shape;2443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44" name="Google Shape;2444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</a:t>
            </a:r>
            <a:endParaRPr/>
          </a:p>
        </p:txBody>
      </p:sp>
      <p:sp>
        <p:nvSpPr>
          <p:cNvPr id="2445" name="Google Shape;2445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$-7,557</a:t>
            </a:r>
            <a:endParaRPr/>
          </a:p>
        </p:txBody>
      </p:sp>
      <p:sp>
        <p:nvSpPr>
          <p:cNvPr id="2446" name="Google Shape;2446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7" name="Google Shape;2447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48" name="Google Shape;2448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$5,621</a:t>
            </a:r>
            <a:endParaRPr/>
          </a:p>
        </p:txBody>
      </p:sp>
      <p:sp>
        <p:nvSpPr>
          <p:cNvPr id="2449" name="Google Shape;2449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$4,537</a:t>
            </a:r>
            <a:endParaRPr/>
          </a:p>
        </p:txBody>
      </p:sp>
      <p:sp>
        <p:nvSpPr>
          <p:cNvPr id="2450" name="Google Shape;2450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51" name="Google Shape;2451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$1,084</a:t>
            </a:r>
            <a:endParaRPr/>
          </a:p>
        </p:txBody>
      </p:sp>
      <p:sp>
        <p:nvSpPr>
          <p:cNvPr id="2452" name="Google Shape;2452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$-11,839</a:t>
            </a:r>
            <a:endParaRPr/>
          </a:p>
        </p:txBody>
      </p:sp>
      <p:sp>
        <p:nvSpPr>
          <p:cNvPr id="2453" name="Google Shape;2453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4" name="Google Shape;2454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55" name="Google Shape;2455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$7,946</a:t>
            </a:r>
            <a:endParaRPr/>
          </a:p>
        </p:txBody>
      </p:sp>
      <p:sp>
        <p:nvSpPr>
          <p:cNvPr id="2456" name="Google Shape;2456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57" name="Google Shape;2457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58" name="Google Shape;2458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$7,946</a:t>
            </a:r>
            <a:endParaRPr/>
          </a:p>
        </p:txBody>
      </p:sp>
      <p:sp>
        <p:nvSpPr>
          <p:cNvPr id="2459" name="Google Shape;2459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$-14,080</a:t>
            </a:r>
            <a:endParaRPr/>
          </a:p>
        </p:txBody>
      </p:sp>
      <p:sp>
        <p:nvSpPr>
          <p:cNvPr id="2460" name="Google Shape;2460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1" name="Google Shape;2461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62" name="Google Shape;2462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$84,114</a:t>
            </a:r>
            <a:endParaRPr/>
          </a:p>
        </p:txBody>
      </p:sp>
      <p:sp>
        <p:nvSpPr>
          <p:cNvPr id="2463" name="Google Shape;2463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$86,103</a:t>
            </a:r>
            <a:endParaRPr/>
          </a:p>
        </p:txBody>
      </p:sp>
      <p:sp>
        <p:nvSpPr>
          <p:cNvPr id="2464" name="Google Shape;2464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65" name="Google Shape;2465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$-1,990</a:t>
            </a:r>
            <a:endParaRPr/>
          </a:p>
        </p:txBody>
      </p:sp>
      <p:sp>
        <p:nvSpPr>
          <p:cNvPr id="2466" name="Google Shape;2466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$-381</a:t>
            </a:r>
            <a:endParaRPr/>
          </a:p>
        </p:txBody>
      </p:sp>
      <p:sp>
        <p:nvSpPr>
          <p:cNvPr id="2467" name="Google Shape;2467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8" name="Google Shape;2468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69" name="Google Shape;2469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$112,668</a:t>
            </a:r>
            <a:endParaRPr/>
          </a:p>
        </p:txBody>
      </p:sp>
      <p:sp>
        <p:nvSpPr>
          <p:cNvPr id="2470" name="Google Shape;2470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$106,070</a:t>
            </a:r>
            <a:endParaRPr/>
          </a:p>
        </p:txBody>
      </p:sp>
      <p:sp>
        <p:nvSpPr>
          <p:cNvPr id="2471" name="Google Shape;2471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472" name="Google Shape;2472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$6,048</a:t>
            </a:r>
            <a:endParaRPr/>
          </a:p>
        </p:txBody>
      </p:sp>
      <p:sp>
        <p:nvSpPr>
          <p:cNvPr id="2473" name="Google Shape;2473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$-36,866</a:t>
            </a:r>
            <a:endParaRPr/>
          </a:p>
        </p:txBody>
      </p:sp>
      <p:sp>
        <p:nvSpPr>
          <p:cNvPr id="2474" name="Google Shape;2474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5" name="Google Shape;2475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77" name="Google Shape;2477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78" name="Google Shape;2478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79" name="Google Shape;2479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80" name="Google Shape;2480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82" name="Google Shape;2482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3" name="Google Shape;2483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84" name="Google Shape;2484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485" name="Google Shape;2485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86" name="Google Shape;2486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487" name="Google Shape;2487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2489" name="Google Shape;2489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0" name="Google Shape;2490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91" name="Google Shape;2491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492" name="Google Shape;2492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493" name="Google Shape;2493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494" name="Google Shape;2494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2496" name="Google Shape;2496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7" name="Google Shape;2497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98" name="Google Shape;2498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2501" name="Google Shape;2501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502" name="Google Shape;2502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2503" name="Google Shape;2503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4" name="Google Shape;2504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221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</a:t>
            </a:r>
            <a:endParaRPr/>
          </a:p>
        </p:txBody>
      </p:sp>
      <p:sp>
        <p:nvSpPr>
          <p:cNvPr id="2508" name="Google Shape;2508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509" name="Google Shape;2509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2510" name="Google Shape;2510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1" name="Google Shape;2511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12" name="Google Shape;2512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249</a:t>
            </a:r>
            <a:endParaRPr/>
          </a:p>
        </p:txBody>
      </p:sp>
      <p:sp>
        <p:nvSpPr>
          <p:cNvPr id="2513" name="Google Shape;2513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514" name="Google Shape;2514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244</a:t>
            </a:r>
            <a:endParaRPr/>
          </a:p>
        </p:txBody>
      </p:sp>
      <p:sp>
        <p:nvSpPr>
          <p:cNvPr id="2515" name="Google Shape;2515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2517" name="Google Shape;2517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8" name="Google Shape;2518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19" name="Google Shape;2519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670</a:t>
            </a:r>
            <a:endParaRPr/>
          </a:p>
        </p:txBody>
      </p:sp>
      <p:sp>
        <p:nvSpPr>
          <p:cNvPr id="2520" name="Google Shape;2520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521" name="Google Shape;2521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656</a:t>
            </a:r>
            <a:endParaRPr/>
          </a:p>
        </p:txBody>
      </p:sp>
      <p:sp>
        <p:nvSpPr>
          <p:cNvPr id="2522" name="Google Shape;2522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523" name="Google Shape;2523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2524" name="Google Shape;2524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5" name="Google Shape;2525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526" name="Google Shape;2526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27" name="Google Shape;2527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528" name="Google Shape;2528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529" name="Google Shape;2529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530" name="Google Shape;2530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531" name="Google Shape;2531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532" name="Google Shape;2532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533" name="Google Shape;2533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534" name="Google Shape;2534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535" name="Google Shape;2535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536" name="Google Shape;2536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537" name="Google Shape;2537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538" name="Google Shape;2538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539" name="Google Shape;2539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40" name="Google Shape;2540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541" name="Google Shape;2541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542" name="Google Shape;2542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543" name="Google Shape;2543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544" name="Google Shape;2544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545" name="Google Shape;2545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546" name="Google Shape;2546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2547" name="Google Shape;2547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221</a:t>
            </a:r>
            <a:endParaRPr/>
          </a:p>
        </p:txBody>
      </p:sp>
      <p:sp>
        <p:nvSpPr>
          <p:cNvPr id="2548" name="Google Shape;2548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236</a:t>
            </a:r>
            <a:endParaRPr/>
          </a:p>
        </p:txBody>
      </p:sp>
      <p:sp>
        <p:nvSpPr>
          <p:cNvPr id="2549" name="Google Shape;2549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249</a:t>
            </a:r>
            <a:endParaRPr/>
          </a:p>
        </p:txBody>
      </p:sp>
      <p:sp>
        <p:nvSpPr>
          <p:cNvPr id="2550" name="Google Shape;2550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421</a:t>
            </a:r>
            <a:endParaRPr/>
          </a:p>
        </p:txBody>
      </p:sp>
      <p:sp>
        <p:nvSpPr>
          <p:cNvPr id="2551" name="Google Shape;2551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685</a:t>
            </a:r>
            <a:endParaRPr/>
          </a:p>
        </p:txBody>
      </p:sp>
      <p:sp>
        <p:nvSpPr>
          <p:cNvPr id="2552" name="Google Shape;2552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553" name="Google Shape;2553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4" name="Google Shape;2554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2555" name="Google Shape;2555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6" name="Google Shape;2556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</a:t>
            </a:r>
            <a:endParaRPr/>
          </a:p>
        </p:txBody>
      </p:sp>
      <p:sp>
        <p:nvSpPr>
          <p:cNvPr id="2557" name="Google Shape;2557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8" name="Google Shape;2558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2559" name="Google Shape;2559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2560" name="Google Shape;2560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2561" name="Google Shape;2561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2" name="Google Shape;2562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2563" name="Google Shape;2563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2564" name="Google Shape;2564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$113K</a:t>
            </a:r>
            <a:endParaRPr/>
          </a:p>
        </p:txBody>
      </p:sp>
      <p:sp>
        <p:nvSpPr>
          <p:cNvPr id="2565" name="Google Shape;2565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6" name="Google Shape;2566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567" name="Google Shape;2567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68" name="Google Shape;2568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$112,668 YTD gross written premium</a:t>
            </a:r>
            <a:endParaRPr/>
          </a:p>
        </p:txBody>
      </p:sp>
      <p:sp>
        <p:nvSpPr>
          <p:cNvPr id="2569" name="Google Shape;2569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70" name="Google Shape;2570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$106,070 in new business production</a:t>
            </a:r>
            <a:endParaRPr/>
          </a:p>
        </p:txBody>
      </p:sp>
      <p:sp>
        <p:nvSpPr>
          <p:cNvPr id="2571" name="Google Shape;2571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2" name="Google Shape;2572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73" name="Google Shape;2573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74" name="Google Shape;2574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2.4% hit ratio on 670 subs - needs coaching</a:t>
            </a:r>
            <a:endParaRPr/>
          </a:p>
        </p:txBody>
      </p:sp>
      <p:sp>
        <p:nvSpPr>
          <p:cNvPr id="2575" name="Google Shape;2575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6" name="Google Shape;2576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77" name="Google Shape;2577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78" name="Google Shape;2578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(670 subs, only 16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579" name="Google Shape;2579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80" name="Google Shape;2580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$106,070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84" name="Shape 2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5" name="Google Shape;2585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6" name="Google Shape;2586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Southwestern Insurance Services, Inc.</a:t>
            </a:r>
            <a:endParaRPr/>
          </a:p>
        </p:txBody>
      </p:sp>
      <p:sp>
        <p:nvSpPr>
          <p:cNvPr id="2587" name="Google Shape;2587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Florida  |  City: Miami</a:t>
            </a:r>
            <a:endParaRPr/>
          </a:p>
        </p:txBody>
      </p:sp>
      <p:sp>
        <p:nvSpPr>
          <p:cNvPr id="2588" name="Google Shape;2588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$112,037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89" name="Google Shape;2589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90" name="Google Shape;2590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91" name="Google Shape;2591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$44,625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92" name="Google Shape;2592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$-94,938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93" name="Google Shape;2593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$675,879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94" name="Google Shape;2594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$613,662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95" name="Google Shape;2595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96" name="Google Shape;2596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97" name="Google Shape;2597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98" name="Google Shape;2598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99" name="Google Shape;2599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$168,149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600" name="Google Shape;2600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601" name="Google Shape;2601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2" name="Google Shape;2602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603" name="Google Shape;2603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04" name="Google Shape;2604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605" name="Google Shape;2605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06" name="Google Shape;2606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07" name="Google Shape;2607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08" name="Google Shape;2608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09" name="Google Shape;2609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0" name="Google Shape;2610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11" name="Google Shape;2611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$67,746</a:t>
            </a:r>
            <a:endParaRPr/>
          </a:p>
        </p:txBody>
      </p:sp>
      <p:sp>
        <p:nvSpPr>
          <p:cNvPr id="2612" name="Google Shape;2612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$22,027</a:t>
            </a:r>
            <a:endParaRPr/>
          </a:p>
        </p:txBody>
      </p:sp>
      <p:sp>
        <p:nvSpPr>
          <p:cNvPr id="2613" name="Google Shape;2613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4" name="Google Shape;2614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$45,719</a:t>
            </a:r>
            <a:endParaRPr/>
          </a:p>
        </p:txBody>
      </p:sp>
      <p:sp>
        <p:nvSpPr>
          <p:cNvPr id="2615" name="Google Shape;2615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$-44,003</a:t>
            </a:r>
            <a:endParaRPr/>
          </a:p>
        </p:txBody>
      </p:sp>
      <p:sp>
        <p:nvSpPr>
          <p:cNvPr id="2616" name="Google Shape;2616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7" name="Google Shape;2617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18" name="Google Shape;2618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$13,237</a:t>
            </a:r>
            <a:endParaRPr/>
          </a:p>
        </p:txBody>
      </p:sp>
      <p:sp>
        <p:nvSpPr>
          <p:cNvPr id="2619" name="Google Shape;2619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$2,530</a:t>
            </a:r>
            <a:endParaRPr/>
          </a:p>
        </p:txBody>
      </p:sp>
      <p:sp>
        <p:nvSpPr>
          <p:cNvPr id="2620" name="Google Shape;2620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$11,056</a:t>
            </a:r>
            <a:endParaRPr/>
          </a:p>
        </p:txBody>
      </p:sp>
      <p:sp>
        <p:nvSpPr>
          <p:cNvPr id="2621" name="Google Shape;2621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$-349</a:t>
            </a:r>
            <a:endParaRPr/>
          </a:p>
        </p:txBody>
      </p:sp>
      <p:sp>
        <p:nvSpPr>
          <p:cNvPr id="2622" name="Google Shape;2622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$-481</a:t>
            </a:r>
            <a:endParaRPr/>
          </a:p>
        </p:txBody>
      </p:sp>
      <p:sp>
        <p:nvSpPr>
          <p:cNvPr id="2623" name="Google Shape;2623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4" name="Google Shape;2624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25" name="Google Shape;2625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$4,113</a:t>
            </a:r>
            <a:endParaRPr/>
          </a:p>
        </p:txBody>
      </p:sp>
      <p:sp>
        <p:nvSpPr>
          <p:cNvPr id="2626" name="Google Shape;2626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$4,668</a:t>
            </a:r>
            <a:endParaRPr/>
          </a:p>
        </p:txBody>
      </p:sp>
      <p:sp>
        <p:nvSpPr>
          <p:cNvPr id="2627" name="Google Shape;2627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28" name="Google Shape;2628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$-556</a:t>
            </a:r>
            <a:endParaRPr/>
          </a:p>
        </p:txBody>
      </p:sp>
      <p:sp>
        <p:nvSpPr>
          <p:cNvPr id="2629" name="Google Shape;2629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0" name="Google Shape;2630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1" name="Google Shape;2631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32" name="Google Shape;2632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$27,031</a:t>
            </a:r>
            <a:endParaRPr/>
          </a:p>
        </p:txBody>
      </p:sp>
      <p:sp>
        <p:nvSpPr>
          <p:cNvPr id="2633" name="Google Shape;2633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$27,131</a:t>
            </a:r>
            <a:endParaRPr/>
          </a:p>
        </p:txBody>
      </p:sp>
      <p:sp>
        <p:nvSpPr>
          <p:cNvPr id="2634" name="Google Shape;2634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5" name="Google Shape;2635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$-99</a:t>
            </a:r>
            <a:endParaRPr/>
          </a:p>
        </p:txBody>
      </p:sp>
      <p:sp>
        <p:nvSpPr>
          <p:cNvPr id="2636" name="Google Shape;2636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$-50,455</a:t>
            </a:r>
            <a:endParaRPr/>
          </a:p>
        </p:txBody>
      </p:sp>
      <p:sp>
        <p:nvSpPr>
          <p:cNvPr id="2637" name="Google Shape;2637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8" name="Google Shape;2638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39" name="Google Shape;2639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</a:t>
            </a:r>
            <a:endParaRPr/>
          </a:p>
        </p:txBody>
      </p:sp>
      <p:sp>
        <p:nvSpPr>
          <p:cNvPr id="2640" name="Google Shape;2640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1" name="Google Shape;2641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2" name="Google Shape;2642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</a:t>
            </a:r>
            <a:endParaRPr/>
          </a:p>
        </p:txBody>
      </p:sp>
      <p:sp>
        <p:nvSpPr>
          <p:cNvPr id="2643" name="Google Shape;2643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4" name="Google Shape;2644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5" name="Google Shape;2645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46" name="Google Shape;2646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$112,037</a:t>
            </a:r>
            <a:endParaRPr/>
          </a:p>
        </p:txBody>
      </p:sp>
      <p:sp>
        <p:nvSpPr>
          <p:cNvPr id="2647" name="Google Shape;2647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$56,356</a:t>
            </a:r>
            <a:endParaRPr/>
          </a:p>
        </p:txBody>
      </p:sp>
      <p:sp>
        <p:nvSpPr>
          <p:cNvPr id="2648" name="Google Shape;2648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$11,056</a:t>
            </a:r>
            <a:endParaRPr/>
          </a:p>
        </p:txBody>
      </p:sp>
      <p:sp>
        <p:nvSpPr>
          <p:cNvPr id="2649" name="Google Shape;2649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$44,625</a:t>
            </a:r>
            <a:endParaRPr/>
          </a:p>
        </p:txBody>
      </p:sp>
      <p:sp>
        <p:nvSpPr>
          <p:cNvPr id="2650" name="Google Shape;2650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$-94,938</a:t>
            </a:r>
            <a:endParaRPr/>
          </a:p>
        </p:txBody>
      </p:sp>
      <p:sp>
        <p:nvSpPr>
          <p:cNvPr id="2651" name="Google Shape;2651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2" name="Google Shape;2652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653" name="Google Shape;2653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54" name="Google Shape;2654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655" name="Google Shape;2655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656" name="Google Shape;2656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657" name="Google Shape;2657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59" name="Google Shape;2659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0" name="Google Shape;2660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61" name="Google Shape;2661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</a:t>
            </a:r>
            <a:endParaRPr/>
          </a:p>
        </p:txBody>
      </p:sp>
      <p:sp>
        <p:nvSpPr>
          <p:cNvPr id="2662" name="Google Shape;2662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663" name="Google Shape;2663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240</a:t>
            </a:r>
            <a:endParaRPr/>
          </a:p>
        </p:txBody>
      </p:sp>
      <p:sp>
        <p:nvSpPr>
          <p:cNvPr id="2664" name="Google Shape;2664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2666" name="Google Shape;2666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7" name="Google Shape;2667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670" name="Google Shape;2670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2671" name="Google Shape;2671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2673" name="Google Shape;2673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4" name="Google Shape;2674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248</a:t>
            </a:r>
            <a:endParaRPr/>
          </a:p>
        </p:txBody>
      </p:sp>
      <p:sp>
        <p:nvSpPr>
          <p:cNvPr id="2676" name="Google Shape;2676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2680" name="Google Shape;2680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1" name="Google Shape;2681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244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231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86" name="Google Shape;2686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2687" name="Google Shape;2687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8" name="Google Shape;2688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89" name="Google Shape;2689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2690" name="Google Shape;2690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91" name="Google Shape;2691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</a:t>
            </a:r>
            <a:endParaRPr/>
          </a:p>
        </p:txBody>
      </p:sp>
      <p:sp>
        <p:nvSpPr>
          <p:cNvPr id="2692" name="Google Shape;2692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93" name="Google Shape;2693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2694" name="Google Shape;2694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5" name="Google Shape;2695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96" name="Google Shape;2696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1078</a:t>
            </a:r>
            <a:endParaRPr/>
          </a:p>
        </p:txBody>
      </p:sp>
      <p:sp>
        <p:nvSpPr>
          <p:cNvPr id="2697" name="Google Shape;2697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698" name="Google Shape;2698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1032</a:t>
            </a:r>
            <a:endParaRPr/>
          </a:p>
        </p:txBody>
      </p:sp>
      <p:sp>
        <p:nvSpPr>
          <p:cNvPr id="2699" name="Google Shape;2699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700" name="Google Shape;2700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2701" name="Google Shape;2701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2" name="Google Shape;2702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703" name="Google Shape;2703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704" name="Google Shape;2704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705" name="Google Shape;2705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706" name="Google Shape;2706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707" name="Google Shape;2707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708" name="Google Shape;2708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709" name="Google Shape;2709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710" name="Google Shape;2710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711" name="Google Shape;2711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712" name="Google Shape;2712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713" name="Google Shape;2713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714" name="Google Shape;2714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716" name="Google Shape;2716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17" name="Google Shape;2717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718" name="Google Shape;2718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720" name="Google Shape;2720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</p:txBody>
      </p:sp>
      <p:sp>
        <p:nvSpPr>
          <p:cNvPr id="2721" name="Google Shape;2721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2722" name="Google Shape;2722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248</a:t>
            </a:r>
            <a:endParaRPr/>
          </a:p>
        </p:txBody>
      </p:sp>
      <p:sp>
        <p:nvSpPr>
          <p:cNvPr id="2723" name="Google Shape;2723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</p:txBody>
      </p:sp>
      <p:sp>
        <p:nvSpPr>
          <p:cNvPr id="2724" name="Google Shape;2724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244</a:t>
            </a:r>
            <a:endParaRPr/>
          </a:p>
        </p:txBody>
      </p:sp>
      <p:sp>
        <p:nvSpPr>
          <p:cNvPr id="2725" name="Google Shape;2725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</a:t>
            </a:r>
            <a:endParaRPr/>
          </a:p>
        </p:txBody>
      </p:sp>
      <p:sp>
        <p:nvSpPr>
          <p:cNvPr id="2726" name="Google Shape;2726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2727" name="Google Shape;2727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520</a:t>
            </a:r>
            <a:endParaRPr/>
          </a:p>
        </p:txBody>
      </p:sp>
      <p:sp>
        <p:nvSpPr>
          <p:cNvPr id="2728" name="Google Shape;2728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1086</a:t>
            </a:r>
            <a:endParaRPr/>
          </a:p>
        </p:txBody>
      </p:sp>
      <p:sp>
        <p:nvSpPr>
          <p:cNvPr id="2729" name="Google Shape;2729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730" name="Google Shape;2730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731" name="Google Shape;2731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2732" name="Google Shape;2732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2733" name="Google Shape;2733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2734" name="Google Shape;2734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$100K</a:t>
            </a:r>
            <a:endParaRPr/>
          </a:p>
        </p:txBody>
      </p:sp>
      <p:sp>
        <p:nvSpPr>
          <p:cNvPr id="2735" name="Google Shape;2735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2736" name="Google Shape;2736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$-21,012</a:t>
            </a:r>
            <a:endParaRPr/>
          </a:p>
        </p:txBody>
      </p:sp>
      <p:sp>
        <p:nvSpPr>
          <p:cNvPr id="2737" name="Google Shape;2737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2738" name="Google Shape;2738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2739" name="Google Shape;2739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</a:t>
            </a:r>
            <a:endParaRPr/>
          </a:p>
        </p:txBody>
      </p:sp>
      <p:sp>
        <p:nvSpPr>
          <p:cNvPr id="2740" name="Google Shape;2740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$174K</a:t>
            </a:r>
            <a:endParaRPr/>
          </a:p>
        </p:txBody>
      </p:sp>
      <p:sp>
        <p:nvSpPr>
          <p:cNvPr id="2741" name="Google Shape;2741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$112K</a:t>
            </a:r>
            <a:endParaRPr/>
          </a:p>
        </p:txBody>
      </p:sp>
      <p:sp>
        <p:nvSpPr>
          <p:cNvPr id="2742" name="Google Shape;2742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3" name="Google Shape;2743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744" name="Google Shape;2744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45" name="Google Shape;2745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$112,037 YTD gross written premium</a:t>
            </a:r>
            <a:endParaRPr/>
          </a:p>
        </p:txBody>
      </p:sp>
      <p:sp>
        <p:nvSpPr>
          <p:cNvPr id="2746" name="Google Shape;2746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47" name="Google Shape;2747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$56,356 in new business production</a:t>
            </a:r>
            <a:endParaRPr/>
          </a:p>
        </p:txBody>
      </p:sp>
      <p:sp>
        <p:nvSpPr>
          <p:cNvPr id="2748" name="Google Shape;2748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9" name="Google Shape;2749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750" name="Google Shape;2750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51" name="Google Shape;2751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0.6% hit ratio on 1078 subs - needs coaching</a:t>
            </a:r>
            <a:endParaRPr/>
          </a:p>
        </p:txBody>
      </p:sp>
      <p:sp>
        <p:nvSpPr>
          <p:cNvPr id="2752" name="Google Shape;2752;p2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53" name="Google Shape;2753;p2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168% of new business ($94,938)</a:t>
            </a:r>
            <a:endParaRPr/>
          </a:p>
        </p:txBody>
      </p:sp>
      <p:sp>
        <p:nvSpPr>
          <p:cNvPr id="2754" name="Google Shape;2754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5" name="Google Shape;2755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756" name="Google Shape;2756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757" name="Google Shape;2757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(1078 subs, only 7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758" name="Google Shape;2758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759" name="Google Shape;2759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$56,356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3" name="Shape 2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" name="Google Shape;2764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5" name="Google Shape;2765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Dubeh Insurance Inc</a:t>
            </a:r>
            <a:endParaRPr/>
          </a:p>
        </p:txBody>
      </p:sp>
      <p:sp>
        <p:nvSpPr>
          <p:cNvPr id="2766" name="Google Shape;2766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N/A  |  City: N/A</a:t>
            </a:r>
            <a:endParaRPr/>
          </a:p>
        </p:txBody>
      </p:sp>
      <p:sp>
        <p:nvSpPr>
          <p:cNvPr id="2767" name="Google Shape;2767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68" name="Google Shape;2768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$63,443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69" name="Google Shape;2769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70" name="Google Shape;2770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$26,931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71" name="Google Shape;2771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72" name="Google Shape;2772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$178,262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73" name="Google Shape;2773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$268,636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74" name="Google Shape;2774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75" name="Google Shape;2775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76" name="Google Shape;2776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77" name="Google Shape;2777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78" name="Google Shape;2778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79" name="Google Shape;2779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80" name="Google Shape;2780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1" name="Google Shape;2781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82" name="Google Shape;2782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84" name="Google Shape;2784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85" name="Google Shape;2785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86" name="Google Shape;2786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87" name="Google Shape;2787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88" name="Google Shape;2788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9" name="Google Shape;2789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90" name="Google Shape;2790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1" name="Google Shape;2791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2" name="Google Shape;2792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3" name="Google Shape;2793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4" name="Google Shape;2794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5" name="Google Shape;2795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6" name="Google Shape;2796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97" name="Google Shape;2797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$26,261</a:t>
            </a:r>
            <a:endParaRPr/>
          </a:p>
        </p:txBody>
      </p:sp>
      <p:sp>
        <p:nvSpPr>
          <p:cNvPr id="2798" name="Google Shape;2798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9" name="Google Shape;2799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0" name="Google Shape;2800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$26,261</a:t>
            </a:r>
            <a:endParaRPr/>
          </a:p>
        </p:txBody>
      </p:sp>
      <p:sp>
        <p:nvSpPr>
          <p:cNvPr id="2801" name="Google Shape;2801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2" name="Google Shape;2802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3" name="Google Shape;2803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5" name="Google Shape;2805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6" name="Google Shape;2806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7" name="Google Shape;2807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8" name="Google Shape;2808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9" name="Google Shape;2809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0" name="Google Shape;2810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$64,113</a:t>
            </a:r>
            <a:endParaRPr/>
          </a:p>
        </p:txBody>
      </p:sp>
      <p:sp>
        <p:nvSpPr>
          <p:cNvPr id="2812" name="Google Shape;2812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$63,443</a:t>
            </a:r>
            <a:endParaRPr/>
          </a:p>
        </p:txBody>
      </p:sp>
      <p:sp>
        <p:nvSpPr>
          <p:cNvPr id="2813" name="Google Shape;2813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4" name="Google Shape;2814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$671</a:t>
            </a:r>
            <a:endParaRPr/>
          </a:p>
        </p:txBody>
      </p:sp>
      <p:sp>
        <p:nvSpPr>
          <p:cNvPr id="2815" name="Google Shape;2815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6" name="Google Shape;2816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7" name="Google Shape;2817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9" name="Google Shape;2819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0" name="Google Shape;2820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1" name="Google Shape;2821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2" name="Google Shape;2822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3" name="Google Shape;2823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4" name="Google Shape;2824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$90,374</a:t>
            </a:r>
            <a:endParaRPr/>
          </a:p>
        </p:txBody>
      </p:sp>
      <p:sp>
        <p:nvSpPr>
          <p:cNvPr id="2826" name="Google Shape;2826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$63,443</a:t>
            </a:r>
            <a:endParaRPr/>
          </a:p>
        </p:txBody>
      </p:sp>
      <p:sp>
        <p:nvSpPr>
          <p:cNvPr id="2827" name="Google Shape;2827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8" name="Google Shape;2828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$26,931</a:t>
            </a:r>
            <a:endParaRPr/>
          </a:p>
        </p:txBody>
      </p:sp>
      <p:sp>
        <p:nvSpPr>
          <p:cNvPr id="2829" name="Google Shape;2829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30" name="Google Shape;2830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1" name="Google Shape;2831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33" name="Google Shape;2833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834" name="Google Shape;2834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835" name="Google Shape;2835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836" name="Google Shape;2836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37" name="Google Shape;2837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38" name="Google Shape;2838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9" name="Google Shape;2839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40" name="Google Shape;2840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841" name="Google Shape;2841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42" name="Google Shape;2842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43" name="Google Shape;2843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44" name="Google Shape;2844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45" name="Google Shape;2845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6" name="Google Shape;2846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47" name="Google Shape;2847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848" name="Google Shape;2848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51" name="Google Shape;2851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2852" name="Google Shape;2852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3" name="Google Shape;2853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54" name="Google Shape;2854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857" name="Google Shape;2857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8" name="Google Shape;2858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59" name="Google Shape;2859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0" name="Google Shape;2860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61" name="Google Shape;2861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862" name="Google Shape;2862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63" name="Google Shape;2863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864" name="Google Shape;2864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65" name="Google Shape;2865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866" name="Google Shape;2866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7" name="Google Shape;2867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68" name="Google Shape;2868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69" name="Google Shape;2869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70" name="Google Shape;2870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73" name="Google Shape;2873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4" name="Google Shape;2874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75" name="Google Shape;2875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876" name="Google Shape;2876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877" name="Google Shape;2877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878" name="Google Shape;2878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79" name="Google Shape;2879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2880" name="Google Shape;2880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1" name="Google Shape;2881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82" name="Google Shape;2882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83" name="Google Shape;2883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84" name="Google Shape;2884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85" name="Google Shape;2885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86" name="Google Shape;2886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87" name="Google Shape;2887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88" name="Google Shape;2888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89" name="Google Shape;2889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90" name="Google Shape;2890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91" name="Google Shape;2891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93" name="Google Shape;2893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94" name="Google Shape;2894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95" name="Google Shape;2895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96" name="Google Shape;2896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97" name="Google Shape;2897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898" name="Google Shape;2898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99" name="Google Shape;2899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900" name="Google Shape;2900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01" name="Google Shape;2901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902" name="Google Shape;2902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03" name="Google Shape;2903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904" name="Google Shape;2904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05" name="Google Shape;2905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06" name="Google Shape;2906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07" name="Google Shape;2907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908" name="Google Shape;2908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909" name="Google Shape;2909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0" name="Google Shape;2910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1" name="Google Shape;2911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2" name="Google Shape;2912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2913" name="Google Shape;2913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4" name="Google Shape;2914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5" name="Google Shape;2915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6" name="Google Shape;2916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2917" name="Google Shape;2917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8" name="Google Shape;2918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9" name="Google Shape;2919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0" name="Google Shape;2920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$90K</a:t>
            </a:r>
            <a:endParaRPr/>
          </a:p>
        </p:txBody>
      </p:sp>
      <p:sp>
        <p:nvSpPr>
          <p:cNvPr id="2921" name="Google Shape;2921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2" name="Google Shape;2922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923" name="Google Shape;2923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924" name="Google Shape;2924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$90,374 YTD gross written premium</a:t>
            </a:r>
            <a:endParaRPr/>
          </a:p>
        </p:txBody>
      </p:sp>
      <p:sp>
        <p:nvSpPr>
          <p:cNvPr id="2925" name="Google Shape;2925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926" name="Google Shape;2926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$63,443 in new business production</a:t>
            </a:r>
            <a:endParaRPr/>
          </a:p>
        </p:txBody>
      </p:sp>
      <p:sp>
        <p:nvSpPr>
          <p:cNvPr id="2927" name="Google Shape;2927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8" name="Google Shape;2928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929" name="Google Shape;2929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930" name="Google Shape;2930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1.9% hit ratio on 54 subs - needs coaching</a:t>
            </a:r>
            <a:endParaRPr/>
          </a:p>
        </p:txBody>
      </p:sp>
      <p:sp>
        <p:nvSpPr>
          <p:cNvPr id="2931" name="Google Shape;2931;p2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932" name="Google Shape;2932;p2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2933" name="Google Shape;2933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4" name="Google Shape;2934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935" name="Google Shape;2935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936" name="Google Shape;2936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(54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937" name="Google Shape;2937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938" name="Google Shape;2938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$63,443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2" name="Shape 2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3" name="Google Shape;2943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4" name="Google Shape;2944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Faraon Industries Inc.</a:t>
            </a:r>
            <a:endParaRPr/>
          </a:p>
        </p:txBody>
      </p:sp>
      <p:sp>
        <p:nvSpPr>
          <p:cNvPr id="2945" name="Google Shape;2945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East  |  State: N/A  |  City: Miramar</a:t>
            </a:r>
            <a:endParaRPr/>
          </a:p>
        </p:txBody>
      </p:sp>
      <p:sp>
        <p:nvSpPr>
          <p:cNvPr id="2946" name="Google Shape;2946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947" name="Google Shape;2947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48" name="Google Shape;2948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49" name="Google Shape;2949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50" name="Google Shape;2950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$-16,102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51" name="Google Shape;2951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952" name="Google Shape;2952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953" name="Google Shape;2953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954" name="Google Shape;2954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55" name="Google Shape;2955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56" name="Google Shape;2956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57" name="Google Shape;2957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958" name="Google Shape;2958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959" name="Google Shape;2959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0" name="Google Shape;2960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961" name="Google Shape;2961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963" name="Google Shape;2963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64" name="Google Shape;2964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65" name="Google Shape;2965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66" name="Google Shape;2966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67" name="Google Shape;2967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8" name="Google Shape;2968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69" name="Google Shape;2969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0" name="Google Shape;2970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1" name="Google Shape;2971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2" name="Google Shape;2972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3" name="Google Shape;2973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4" name="Google Shape;2974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5" name="Google Shape;2975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76" name="Google Shape;2976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7" name="Google Shape;2977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8" name="Google Shape;2978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9" name="Google Shape;2979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0" name="Google Shape;2980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1" name="Google Shape;2981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2" name="Google Shape;2982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4" name="Google Shape;2984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5" name="Google Shape;2985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6" name="Google Shape;2986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7" name="Google Shape;2987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8" name="Google Shape;2988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9" name="Google Shape;2989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$36,818</a:t>
            </a:r>
            <a:endParaRPr/>
          </a:p>
        </p:txBody>
      </p:sp>
      <p:sp>
        <p:nvSpPr>
          <p:cNvPr id="2991" name="Google Shape;2991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$36,818</a:t>
            </a:r>
            <a:endParaRPr/>
          </a:p>
        </p:txBody>
      </p:sp>
      <p:sp>
        <p:nvSpPr>
          <p:cNvPr id="2992" name="Google Shape;2992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3" name="Google Shape;2993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4" name="Google Shape;2994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5" name="Google Shape;2995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6" name="Google Shape;2996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$42,942</a:t>
            </a:r>
            <a:endParaRPr/>
          </a:p>
        </p:txBody>
      </p:sp>
      <p:sp>
        <p:nvSpPr>
          <p:cNvPr id="2998" name="Google Shape;2998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$42,942</a:t>
            </a:r>
            <a:endParaRPr/>
          </a:p>
        </p:txBody>
      </p:sp>
      <p:sp>
        <p:nvSpPr>
          <p:cNvPr id="2999" name="Google Shape;2999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0" name="Google Shape;3000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1" name="Google Shape;3001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$-16,102</a:t>
            </a:r>
            <a:endParaRPr/>
          </a:p>
        </p:txBody>
      </p:sp>
      <p:sp>
        <p:nvSpPr>
          <p:cNvPr id="3002" name="Google Shape;3002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3" name="Google Shape;3003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</p:txBody>
      </p:sp>
      <p:sp>
        <p:nvSpPr>
          <p:cNvPr id="3005" name="Google Shape;3005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</a:t>
            </a:r>
            <a:endParaRPr/>
          </a:p>
        </p:txBody>
      </p:sp>
      <p:sp>
        <p:nvSpPr>
          <p:cNvPr id="3006" name="Google Shape;3006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7" name="Google Shape;3007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8" name="Google Shape;3008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$-16,102</a:t>
            </a:r>
            <a:endParaRPr/>
          </a:p>
        </p:txBody>
      </p:sp>
      <p:sp>
        <p:nvSpPr>
          <p:cNvPr id="3009" name="Google Shape;3009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0" name="Google Shape;3010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12" name="Google Shape;3012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013" name="Google Shape;3013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014" name="Google Shape;3014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015" name="Google Shape;3015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16" name="Google Shape;3016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17" name="Google Shape;3017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8" name="Google Shape;3018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19" name="Google Shape;3019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0" name="Google Shape;3020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1" name="Google Shape;3021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2" name="Google Shape;3022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3" name="Google Shape;3023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24" name="Google Shape;3024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5" name="Google Shape;3025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7" name="Google Shape;3027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8" name="Google Shape;3028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9" name="Google Shape;3029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30" name="Google Shape;3030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31" name="Google Shape;3031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2" name="Google Shape;3032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34" name="Google Shape;3034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35" name="Google Shape;3035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036" name="Google Shape;3036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37" name="Google Shape;3037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38" name="Google Shape;3038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9" name="Google Shape;3039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40" name="Google Shape;3040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3041" name="Google Shape;3041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042" name="Google Shape;3042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3043" name="Google Shape;3043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44" name="Google Shape;3044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3045" name="Google Shape;3045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6" name="Google Shape;3046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47" name="Google Shape;3047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048" name="Google Shape;3048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49" name="Google Shape;3049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050" name="Google Shape;3050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51" name="Google Shape;3051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3052" name="Google Shape;3052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3" name="Google Shape;3053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54" name="Google Shape;3054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3055" name="Google Shape;3055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056" name="Google Shape;3056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3057" name="Google Shape;3057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58" name="Google Shape;3058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3059" name="Google Shape;3059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0" name="Google Shape;3060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061" name="Google Shape;3061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62" name="Google Shape;3062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063" name="Google Shape;3063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64" name="Google Shape;3064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65" name="Google Shape;3065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66" name="Google Shape;3066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68" name="Google Shape;3068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69" name="Google Shape;3069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70" name="Google Shape;3070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71" name="Google Shape;3071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72" name="Google Shape;3072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73" name="Google Shape;3073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74" name="Google Shape;3074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75" name="Google Shape;3075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76" name="Google Shape;3076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77" name="Google Shape;3077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78" name="Google Shape;3078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79" name="Google Shape;3079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80" name="Google Shape;3080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81" name="Google Shape;3081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82" name="Google Shape;3082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3083" name="Google Shape;3083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84" name="Google Shape;3084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085" name="Google Shape;3085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86" name="Google Shape;3086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3087" name="Google Shape;3087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88" name="Google Shape;3088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9" name="Google Shape;3089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0" name="Google Shape;3090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1" name="Google Shape;3091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2" name="Google Shape;3092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3" name="Google Shape;3093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4" name="Google Shape;3094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5" name="Google Shape;3095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3096" name="Google Shape;3096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7" name="Google Shape;3097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3098" name="Google Shape;3098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9" name="Google Shape;3099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$80K</a:t>
            </a:r>
            <a:endParaRPr/>
          </a:p>
        </p:txBody>
      </p:sp>
      <p:sp>
        <p:nvSpPr>
          <p:cNvPr id="3100" name="Google Shape;3100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1" name="Google Shape;3101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102" name="Google Shape;3102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103" name="Google Shape;3103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 YTD gross written premium</a:t>
            </a:r>
            <a:endParaRPr/>
          </a:p>
        </p:txBody>
      </p:sp>
      <p:sp>
        <p:nvSpPr>
          <p:cNvPr id="3104" name="Google Shape;3104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105" name="Google Shape;3105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$79,760 in new business production</a:t>
            </a:r>
            <a:endParaRPr/>
          </a:p>
        </p:txBody>
      </p:sp>
      <p:sp>
        <p:nvSpPr>
          <p:cNvPr id="3106" name="Google Shape;3106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7" name="Google Shape;3107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108" name="Google Shape;3108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109" name="Google Shape;3109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2.9% hit ratio on 139 subs - needs coaching</a:t>
            </a:r>
            <a:endParaRPr/>
          </a:p>
        </p:txBody>
      </p:sp>
      <p:sp>
        <p:nvSpPr>
          <p:cNvPr id="3110" name="Google Shape;3110;p2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111" name="Google Shape;3111;p2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92 to 39 MoM</a:t>
            </a:r>
            <a:endParaRPr/>
          </a:p>
        </p:txBody>
      </p:sp>
      <p:sp>
        <p:nvSpPr>
          <p:cNvPr id="3112" name="Google Shape;3112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3" name="Google Shape;3113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114" name="Google Shape;3114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115" name="Google Shape;3115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(139 subs, only 4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116" name="Google Shape;3116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117" name="Google Shape;3117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$79,760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21" name="Shape 3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2" name="Google Shape;3122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3" name="Google Shape;3123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Trucking Insurance Services Llc</a:t>
            </a:r>
            <a:endParaRPr/>
          </a:p>
        </p:txBody>
      </p:sp>
      <p:sp>
        <p:nvSpPr>
          <p:cNvPr id="3124" name="Google Shape;3124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Georgia  |  City: Cumming</a:t>
            </a:r>
            <a:endParaRPr/>
          </a:p>
        </p:txBody>
      </p:sp>
      <p:sp>
        <p:nvSpPr>
          <p:cNvPr id="3125" name="Google Shape;3125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$66,280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126" name="Google Shape;3126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27" name="Google Shape;3127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28" name="Google Shape;3128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$27,498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29" name="Google Shape;3129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$-28,470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30" name="Google Shape;3130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$137,779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131" name="Google Shape;3131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$143,598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132" name="Google Shape;3132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133" name="Google Shape;3133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34" name="Google Shape;3134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35" name="Google Shape;3135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36" name="Google Shape;3136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137" name="Google Shape;3137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$104,703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138" name="Google Shape;3138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9" name="Google Shape;3139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140" name="Google Shape;3140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41" name="Google Shape;3141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142" name="Google Shape;3142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43" name="Google Shape;3143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44" name="Google Shape;3144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45" name="Google Shape;3145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46" name="Google Shape;3146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7" name="Google Shape;3147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48" name="Google Shape;3148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$7,383</a:t>
            </a:r>
            <a:endParaRPr/>
          </a:p>
        </p:txBody>
      </p:sp>
      <p:sp>
        <p:nvSpPr>
          <p:cNvPr id="3149" name="Google Shape;3149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0" name="Google Shape;3150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1" name="Google Shape;3151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$7,383</a:t>
            </a:r>
            <a:endParaRPr/>
          </a:p>
        </p:txBody>
      </p:sp>
      <p:sp>
        <p:nvSpPr>
          <p:cNvPr id="3152" name="Google Shape;3152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$-7,383</a:t>
            </a:r>
            <a:endParaRPr/>
          </a:p>
        </p:txBody>
      </p:sp>
      <p:sp>
        <p:nvSpPr>
          <p:cNvPr id="3153" name="Google Shape;3153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4" name="Google Shape;3154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$18,524</a:t>
            </a:r>
            <a:endParaRPr/>
          </a:p>
        </p:txBody>
      </p:sp>
      <p:sp>
        <p:nvSpPr>
          <p:cNvPr id="3156" name="Google Shape;3156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7" name="Google Shape;3157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8" name="Google Shape;3158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$18,524</a:t>
            </a:r>
            <a:endParaRPr/>
          </a:p>
        </p:txBody>
      </p:sp>
      <p:sp>
        <p:nvSpPr>
          <p:cNvPr id="3159" name="Google Shape;3159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$-18,524</a:t>
            </a:r>
            <a:endParaRPr/>
          </a:p>
        </p:txBody>
      </p:sp>
      <p:sp>
        <p:nvSpPr>
          <p:cNvPr id="3160" name="Google Shape;3160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1" name="Google Shape;3161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62" name="Google Shape;3162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$-506</a:t>
            </a:r>
            <a:endParaRPr/>
          </a:p>
        </p:txBody>
      </p:sp>
      <p:sp>
        <p:nvSpPr>
          <p:cNvPr id="3163" name="Google Shape;3163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4" name="Google Shape;3164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5" name="Google Shape;3165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$-506</a:t>
            </a:r>
            <a:endParaRPr/>
          </a:p>
        </p:txBody>
      </p:sp>
      <p:sp>
        <p:nvSpPr>
          <p:cNvPr id="3166" name="Google Shape;3166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7" name="Google Shape;3167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8" name="Google Shape;3168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69" name="Google Shape;3169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$38,317</a:t>
            </a:r>
            <a:endParaRPr/>
          </a:p>
        </p:txBody>
      </p:sp>
      <p:sp>
        <p:nvSpPr>
          <p:cNvPr id="3170" name="Google Shape;3170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$38,782</a:t>
            </a:r>
            <a:endParaRPr/>
          </a:p>
        </p:txBody>
      </p:sp>
      <p:sp>
        <p:nvSpPr>
          <p:cNvPr id="3171" name="Google Shape;3171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2" name="Google Shape;3172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$-465</a:t>
            </a:r>
            <a:endParaRPr/>
          </a:p>
        </p:txBody>
      </p:sp>
      <p:sp>
        <p:nvSpPr>
          <p:cNvPr id="3173" name="Google Shape;3173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4" name="Google Shape;3174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5" name="Google Shape;3175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76" name="Google Shape;3176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$2,563</a:t>
            </a:r>
            <a:endParaRPr/>
          </a:p>
        </p:txBody>
      </p:sp>
      <p:sp>
        <p:nvSpPr>
          <p:cNvPr id="3177" name="Google Shape;3177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8" name="Google Shape;3178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9" name="Google Shape;3179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$2,563</a:t>
            </a:r>
            <a:endParaRPr/>
          </a:p>
        </p:txBody>
      </p:sp>
      <p:sp>
        <p:nvSpPr>
          <p:cNvPr id="3180" name="Google Shape;3180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$-2,563</a:t>
            </a:r>
            <a:endParaRPr/>
          </a:p>
        </p:txBody>
      </p:sp>
      <p:sp>
        <p:nvSpPr>
          <p:cNvPr id="3181" name="Google Shape;3181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2" name="Google Shape;3182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83" name="Google Shape;3183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$66,280</a:t>
            </a:r>
            <a:endParaRPr/>
          </a:p>
        </p:txBody>
      </p:sp>
      <p:sp>
        <p:nvSpPr>
          <p:cNvPr id="3184" name="Google Shape;3184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$38,782</a:t>
            </a:r>
            <a:endParaRPr/>
          </a:p>
        </p:txBody>
      </p:sp>
      <p:sp>
        <p:nvSpPr>
          <p:cNvPr id="3185" name="Google Shape;3185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86" name="Google Shape;3186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$27,498</a:t>
            </a:r>
            <a:endParaRPr/>
          </a:p>
        </p:txBody>
      </p:sp>
      <p:sp>
        <p:nvSpPr>
          <p:cNvPr id="3187" name="Google Shape;3187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$-28,470</a:t>
            </a:r>
            <a:endParaRPr/>
          </a:p>
        </p:txBody>
      </p:sp>
      <p:sp>
        <p:nvSpPr>
          <p:cNvPr id="3188" name="Google Shape;3188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9" name="Google Shape;3189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90" name="Google Shape;3190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91" name="Google Shape;3191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92" name="Google Shape;3192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93" name="Google Shape;3193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94" name="Google Shape;3194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95" name="Google Shape;3195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96" name="Google Shape;3196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7" name="Google Shape;3197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199" name="Google Shape;3199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0" name="Google Shape;3200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201" name="Google Shape;3201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2" name="Google Shape;3202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03" name="Google Shape;3203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4" name="Google Shape;3204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05" name="Google Shape;3205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206" name="Google Shape;3206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07" name="Google Shape;3207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208" name="Google Shape;3208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09" name="Google Shape;3209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3210" name="Google Shape;3210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1" name="Google Shape;3211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12" name="Google Shape;3212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215" name="Google Shape;3215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16" name="Google Shape;3216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3217" name="Google Shape;3217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8" name="Google Shape;3218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19" name="Google Shape;3219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220" name="Google Shape;3220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21" name="Google Shape;3221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3222" name="Google Shape;3222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23" name="Google Shape;3223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3224" name="Google Shape;3224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5" name="Google Shape;3225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26" name="Google Shape;3226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227" name="Google Shape;3227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28" name="Google Shape;3228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229" name="Google Shape;3229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3231" name="Google Shape;3231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2" name="Google Shape;3232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33" name="Google Shape;3233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3234" name="Google Shape;3234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235" name="Google Shape;3235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3236" name="Google Shape;3236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237" name="Google Shape;3237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3238" name="Google Shape;3238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9" name="Google Shape;3239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240" name="Google Shape;3240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41" name="Google Shape;3241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242" name="Google Shape;3242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243" name="Google Shape;3243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244" name="Google Shape;3244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245" name="Google Shape;3245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246" name="Google Shape;3246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247" name="Google Shape;3247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248" name="Google Shape;3248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249" name="Google Shape;3249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250" name="Google Shape;3250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251" name="Google Shape;3251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252" name="Google Shape;3252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253" name="Google Shape;3253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54" name="Google Shape;3254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55" name="Google Shape;3255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256" name="Google Shape;3256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257" name="Google Shape;3257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258" name="Google Shape;3258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259" name="Google Shape;3259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260" name="Google Shape;3260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261" name="Google Shape;3261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262" name="Google Shape;3262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263" name="Google Shape;3263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264" name="Google Shape;3264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265" name="Google Shape;3265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3266" name="Google Shape;3266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67" name="Google Shape;3267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8" name="Google Shape;3268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3269" name="Google Shape;3269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0" name="Google Shape;3270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3271" name="Google Shape;3271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2" name="Google Shape;3272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$-506</a:t>
            </a:r>
            <a:endParaRPr/>
          </a:p>
        </p:txBody>
      </p:sp>
      <p:sp>
        <p:nvSpPr>
          <p:cNvPr id="3273" name="Google Shape;3273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3274" name="Google Shape;3274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3275" name="Google Shape;3275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6" name="Google Shape;3276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3277" name="Google Shape;3277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3278" name="Google Shape;3278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3279" name="Google Shape;3279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0" name="Google Shape;3280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81" name="Google Shape;3281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82" name="Google Shape;3282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$66,280 YTD gross written premium</a:t>
            </a:r>
            <a:endParaRPr/>
          </a:p>
        </p:txBody>
      </p:sp>
      <p:sp>
        <p:nvSpPr>
          <p:cNvPr id="3283" name="Google Shape;3283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84" name="Google Shape;3284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$38,782 in new business production</a:t>
            </a:r>
            <a:endParaRPr/>
          </a:p>
        </p:txBody>
      </p:sp>
      <p:sp>
        <p:nvSpPr>
          <p:cNvPr id="3285" name="Google Shape;3285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6" name="Google Shape;3286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87" name="Google Shape;3287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88" name="Google Shape;3288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73% of new business ($28,470)</a:t>
            </a:r>
            <a:endParaRPr/>
          </a:p>
        </p:txBody>
      </p:sp>
      <p:sp>
        <p:nvSpPr>
          <p:cNvPr id="3289" name="Google Shape;3289;p2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90" name="Google Shape;3290;p2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93% month-over-month</a:t>
            </a:r>
            <a:endParaRPr/>
          </a:p>
        </p:txBody>
      </p:sp>
      <p:sp>
        <p:nvSpPr>
          <p:cNvPr id="3291" name="Google Shape;3291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2" name="Google Shape;3292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93" name="Google Shape;3293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94" name="Google Shape;3294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$38,782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295" name="Google Shape;3295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96" name="Google Shape;3296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$28,470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00" name="Shape 3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1" name="Google Shape;3301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2" name="Google Shape;3302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Sbk Insurance Inc</a:t>
            </a:r>
            <a:endParaRPr/>
          </a:p>
        </p:txBody>
      </p:sp>
      <p:sp>
        <p:nvSpPr>
          <p:cNvPr id="3303" name="Google Shape;3303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TN  |  City: N/A</a:t>
            </a:r>
            <a:endParaRPr/>
          </a:p>
        </p:txBody>
      </p:sp>
      <p:sp>
        <p:nvSpPr>
          <p:cNvPr id="3304" name="Google Shape;3304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305" name="Google Shape;3305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$31,944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06" name="Google Shape;3306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07" name="Google Shape;3307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08" name="Google Shape;3308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09" name="Google Shape;3309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$37,822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310" name="Google Shape;3310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$91,379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311" name="Google Shape;3311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312" name="Google Shape;3312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13" name="Google Shape;3313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14" name="Google Shape;3314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15" name="Google Shape;3315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316" name="Google Shape;3316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317" name="Google Shape;3317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8" name="Google Shape;3318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319" name="Google Shape;3319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20" name="Google Shape;3320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321" name="Google Shape;3321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22" name="Google Shape;3322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23" name="Google Shape;3323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24" name="Google Shape;3324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25" name="Google Shape;3325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6" name="Google Shape;3326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27" name="Google Shape;3327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8" name="Google Shape;3328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9" name="Google Shape;3329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0" name="Google Shape;3330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1" name="Google Shape;3331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$-6,956</a:t>
            </a:r>
            <a:endParaRPr/>
          </a:p>
        </p:txBody>
      </p:sp>
      <p:sp>
        <p:nvSpPr>
          <p:cNvPr id="3332" name="Google Shape;3332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3" name="Google Shape;3333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5" name="Google Shape;3335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6" name="Google Shape;3336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7" name="Google Shape;3337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8" name="Google Shape;3338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9" name="Google Shape;3339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0" name="Google Shape;3340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$2,277</a:t>
            </a:r>
            <a:endParaRPr/>
          </a:p>
        </p:txBody>
      </p:sp>
      <p:sp>
        <p:nvSpPr>
          <p:cNvPr id="3342" name="Google Shape;3342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$2,277</a:t>
            </a:r>
            <a:endParaRPr/>
          </a:p>
        </p:txBody>
      </p:sp>
      <p:sp>
        <p:nvSpPr>
          <p:cNvPr id="3343" name="Google Shape;3343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4" name="Google Shape;3344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5" name="Google Shape;3345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6" name="Google Shape;3346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7" name="Google Shape;3347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$51,280</a:t>
            </a:r>
            <a:endParaRPr/>
          </a:p>
        </p:txBody>
      </p:sp>
      <p:sp>
        <p:nvSpPr>
          <p:cNvPr id="3349" name="Google Shape;3349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$29,667</a:t>
            </a:r>
            <a:endParaRPr/>
          </a:p>
        </p:txBody>
      </p:sp>
      <p:sp>
        <p:nvSpPr>
          <p:cNvPr id="3350" name="Google Shape;3350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1" name="Google Shape;3351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$21,613</a:t>
            </a:r>
            <a:endParaRPr/>
          </a:p>
        </p:txBody>
      </p:sp>
      <p:sp>
        <p:nvSpPr>
          <p:cNvPr id="3352" name="Google Shape;3352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3" name="Google Shape;3353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4" name="Google Shape;3354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6" name="Google Shape;3356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7" name="Google Shape;3357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8" name="Google Shape;3358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9" name="Google Shape;3359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0" name="Google Shape;3360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1" name="Google Shape;3361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$53,557</a:t>
            </a:r>
            <a:endParaRPr/>
          </a:p>
        </p:txBody>
      </p:sp>
      <p:sp>
        <p:nvSpPr>
          <p:cNvPr id="3363" name="Google Shape;3363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$31,944</a:t>
            </a:r>
            <a:endParaRPr/>
          </a:p>
        </p:txBody>
      </p:sp>
      <p:sp>
        <p:nvSpPr>
          <p:cNvPr id="3364" name="Google Shape;3364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5" name="Google Shape;3365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$21,613</a:t>
            </a:r>
            <a:endParaRPr/>
          </a:p>
        </p:txBody>
      </p:sp>
      <p:sp>
        <p:nvSpPr>
          <p:cNvPr id="3366" name="Google Shape;3366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$-6,956</a:t>
            </a:r>
            <a:endParaRPr/>
          </a:p>
        </p:txBody>
      </p:sp>
      <p:sp>
        <p:nvSpPr>
          <p:cNvPr id="3367" name="Google Shape;3367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8" name="Google Shape;3368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70" name="Google Shape;3370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71" name="Google Shape;3371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72" name="Google Shape;3372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73" name="Google Shape;3373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74" name="Google Shape;3374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75" name="Google Shape;3375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6" name="Google Shape;3376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78" name="Google Shape;3378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79" name="Google Shape;3379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1" name="Google Shape;3381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82" name="Google Shape;3382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3" name="Google Shape;3383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84" name="Google Shape;3384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385" name="Google Shape;3385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86" name="Google Shape;3386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8" name="Google Shape;3388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89" name="Google Shape;3389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0" name="Google Shape;3390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91" name="Google Shape;3391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392" name="Google Shape;3392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93" name="Google Shape;3393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3396" name="Google Shape;3396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7" name="Google Shape;3397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98" name="Google Shape;3398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99" name="Google Shape;3399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00" name="Google Shape;3400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401" name="Google Shape;3401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02" name="Google Shape;3402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3403" name="Google Shape;3403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4" name="Google Shape;3404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05" name="Google Shape;3405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406" name="Google Shape;3406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07" name="Google Shape;3407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408" name="Google Shape;3408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09" name="Google Shape;3409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10" name="Google Shape;3410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1" name="Google Shape;3411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12" name="Google Shape;3412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413" name="Google Shape;3413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414" name="Google Shape;3414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415" name="Google Shape;3415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16" name="Google Shape;3416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3417" name="Google Shape;3417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8" name="Google Shape;3418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419" name="Google Shape;3419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20" name="Google Shape;3420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421" name="Google Shape;3421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422" name="Google Shape;3422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423" name="Google Shape;3423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424" name="Google Shape;3424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425" name="Google Shape;3425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426" name="Google Shape;3426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427" name="Google Shape;3427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428" name="Google Shape;3428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429" name="Google Shape;3429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430" name="Google Shape;3430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431" name="Google Shape;3431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432" name="Google Shape;3432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33" name="Google Shape;3433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34" name="Google Shape;3434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435" name="Google Shape;3435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36" name="Google Shape;3436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437" name="Google Shape;3437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38" name="Google Shape;3438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439" name="Google Shape;3439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40" name="Google Shape;3440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441" name="Google Shape;3441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42" name="Google Shape;3442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443" name="Google Shape;3443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44" name="Google Shape;3444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3445" name="Google Shape;3445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446" name="Google Shape;3446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7" name="Google Shape;3447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8" name="Google Shape;3448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9" name="Google Shape;3449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0" name="Google Shape;3450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1" name="Google Shape;3451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452" name="Google Shape;3452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3" name="Google Shape;3453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3454" name="Google Shape;3454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5" name="Google Shape;3455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6" name="Google Shape;3456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7" name="Google Shape;3457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3458" name="Google Shape;3458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9" name="Google Shape;3459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60" name="Google Shape;3460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61" name="Google Shape;3461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$53,557 YTD gross written premium</a:t>
            </a:r>
            <a:endParaRPr/>
          </a:p>
        </p:txBody>
      </p:sp>
      <p:sp>
        <p:nvSpPr>
          <p:cNvPr id="3462" name="Google Shape;3462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63" name="Google Shape;3463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$31,944 in new business production</a:t>
            </a:r>
            <a:endParaRPr/>
          </a:p>
        </p:txBody>
      </p:sp>
      <p:sp>
        <p:nvSpPr>
          <p:cNvPr id="3464" name="Google Shape;3464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5" name="Google Shape;3465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66" name="Google Shape;3466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67" name="Google Shape;3467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2.1% hit ratio on 47 subs - needs coaching</a:t>
            </a:r>
            <a:endParaRPr/>
          </a:p>
        </p:txBody>
      </p:sp>
      <p:sp>
        <p:nvSpPr>
          <p:cNvPr id="3468" name="Google Shape;3468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9" name="Google Shape;3469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70" name="Google Shape;3470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71" name="Google Shape;3471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(47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472" name="Google Shape;3472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473" name="Google Shape;3473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$31,944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77" name="Shape 3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8" name="Google Shape;3478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9" name="Google Shape;3479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Oakbridge Insurance Agency Llc</a:t>
            </a:r>
            <a:endParaRPr/>
          </a:p>
        </p:txBody>
      </p:sp>
      <p:sp>
        <p:nvSpPr>
          <p:cNvPr id="3480" name="Google Shape;3480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Atlanta</a:t>
            </a:r>
            <a:endParaRPr/>
          </a:p>
        </p:txBody>
      </p:sp>
      <p:sp>
        <p:nvSpPr>
          <p:cNvPr id="3481" name="Google Shape;3481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$40,197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82" name="Google Shape;3482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83" name="Google Shape;3483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84" name="Google Shape;3484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85" name="Google Shape;3485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86" name="Google Shape;3486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87" name="Google Shape;3487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$40,197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88" name="Google Shape;3488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89" name="Google Shape;3489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90" name="Google Shape;3490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91" name="Google Shape;3491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92" name="Google Shape;3492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93" name="Google Shape;3493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$41,605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94" name="Google Shape;3494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5" name="Google Shape;3495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96" name="Google Shape;3496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97" name="Google Shape;3497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98" name="Google Shape;3498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99" name="Google Shape;3499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00" name="Google Shape;3500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01" name="Google Shape;3501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02" name="Google Shape;3502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3" name="Google Shape;3503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04" name="Google Shape;3504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5" name="Google Shape;3505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6" name="Google Shape;3506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7" name="Google Shape;3507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8" name="Google Shape;3508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9" name="Google Shape;3509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0" name="Google Shape;3510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2" name="Google Shape;3512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3" name="Google Shape;3513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4" name="Google Shape;3514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5" name="Google Shape;3515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6" name="Google Shape;3516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7" name="Google Shape;3517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18" name="Google Shape;3518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$22,606</a:t>
            </a:r>
            <a:endParaRPr/>
          </a:p>
        </p:txBody>
      </p:sp>
      <p:sp>
        <p:nvSpPr>
          <p:cNvPr id="3519" name="Google Shape;3519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$22,606</a:t>
            </a:r>
            <a:endParaRPr/>
          </a:p>
        </p:txBody>
      </p:sp>
      <p:sp>
        <p:nvSpPr>
          <p:cNvPr id="3520" name="Google Shape;3520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2" name="Google Shape;3522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3" name="Google Shape;3523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4" name="Google Shape;3524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25" name="Google Shape;3525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$17,591</a:t>
            </a:r>
            <a:endParaRPr/>
          </a:p>
        </p:txBody>
      </p:sp>
      <p:sp>
        <p:nvSpPr>
          <p:cNvPr id="3526" name="Google Shape;3526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7" name="Google Shape;3527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$17,591</a:t>
            </a:r>
            <a:endParaRPr/>
          </a:p>
        </p:txBody>
      </p:sp>
      <p:sp>
        <p:nvSpPr>
          <p:cNvPr id="3529" name="Google Shape;3529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0" name="Google Shape;3530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1" name="Google Shape;3531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32" name="Google Shape;3532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3" name="Google Shape;3533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4" name="Google Shape;3534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5" name="Google Shape;3535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6" name="Google Shape;3536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7" name="Google Shape;3537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8" name="Google Shape;3538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39" name="Google Shape;3539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$40,197</a:t>
            </a:r>
            <a:endParaRPr/>
          </a:p>
        </p:txBody>
      </p:sp>
      <p:sp>
        <p:nvSpPr>
          <p:cNvPr id="3540" name="Google Shape;3540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$22,606</a:t>
            </a:r>
            <a:endParaRPr/>
          </a:p>
        </p:txBody>
      </p:sp>
      <p:sp>
        <p:nvSpPr>
          <p:cNvPr id="3541" name="Google Shape;3541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2" name="Google Shape;3542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$17,591</a:t>
            </a:r>
            <a:endParaRPr/>
          </a:p>
        </p:txBody>
      </p:sp>
      <p:sp>
        <p:nvSpPr>
          <p:cNvPr id="3543" name="Google Shape;3543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4" name="Google Shape;3544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5" name="Google Shape;3545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546" name="Google Shape;3546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47" name="Google Shape;3547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548" name="Google Shape;3548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49" name="Google Shape;3549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50" name="Google Shape;3550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51" name="Google Shape;3551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52" name="Google Shape;3552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3" name="Google Shape;3553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55" name="Google Shape;3555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56" name="Google Shape;3556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57" name="Google Shape;3557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8" name="Google Shape;3558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59" name="Google Shape;3559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0" name="Google Shape;3560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63" name="Google Shape;3563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64" name="Google Shape;3564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66" name="Google Shape;3566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7" name="Google Shape;3567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69" name="Google Shape;3569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70" name="Google Shape;3570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71" name="Google Shape;3571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573" name="Google Shape;3573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4" name="Google Shape;3574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75" name="Google Shape;3575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76" name="Google Shape;3576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7" name="Google Shape;3577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78" name="Google Shape;3578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79" name="Google Shape;3579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3580" name="Google Shape;3580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1" name="Google Shape;3581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82" name="Google Shape;3582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83" name="Google Shape;3583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4" name="Google Shape;3584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85" name="Google Shape;3585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6" name="Google Shape;3586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87" name="Google Shape;3587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8" name="Google Shape;3588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89" name="Google Shape;3589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590" name="Google Shape;3590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91" name="Google Shape;3591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592" name="Google Shape;3592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93" name="Google Shape;3593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3594" name="Google Shape;3594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5" name="Google Shape;3595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96" name="Google Shape;3596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97" name="Google Shape;3597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98" name="Google Shape;3598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99" name="Google Shape;3599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600" name="Google Shape;3600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601" name="Google Shape;3601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602" name="Google Shape;3602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603" name="Google Shape;3603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604" name="Google Shape;3604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605" name="Google Shape;3605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606" name="Google Shape;3606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607" name="Google Shape;3607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608" name="Google Shape;3608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609" name="Google Shape;3609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10" name="Google Shape;3610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611" name="Google Shape;3611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12" name="Google Shape;3612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613" name="Google Shape;3613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14" name="Google Shape;3614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615" name="Google Shape;3615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616" name="Google Shape;3616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617" name="Google Shape;3617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618" name="Google Shape;3618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619" name="Google Shape;3619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20" name="Google Shape;3620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3621" name="Google Shape;3621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622" name="Google Shape;3622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623" name="Google Shape;3623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4" name="Google Shape;3624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5" name="Google Shape;3625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3626" name="Google Shape;3626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7" name="Google Shape;3627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8" name="Google Shape;3628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3629" name="Google Shape;3629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3630" name="Google Shape;3630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631" name="Google Shape;3631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2" name="Google Shape;3632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3" name="Google Shape;3633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634" name="Google Shape;3634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3635" name="Google Shape;3635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6" name="Google Shape;3636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637" name="Google Shape;3637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38" name="Google Shape;3638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$40,197 YTD gross written premium</a:t>
            </a:r>
            <a:endParaRPr/>
          </a:p>
        </p:txBody>
      </p:sp>
      <p:sp>
        <p:nvSpPr>
          <p:cNvPr id="3639" name="Google Shape;3639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40" name="Google Shape;3640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$22,606 in new business production</a:t>
            </a:r>
            <a:endParaRPr/>
          </a:p>
        </p:txBody>
      </p:sp>
      <p:sp>
        <p:nvSpPr>
          <p:cNvPr id="3641" name="Google Shape;3641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2" name="Google Shape;3642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643" name="Google Shape;3643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44" name="Google Shape;3644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5 to 1 MoM</a:t>
            </a:r>
            <a:endParaRPr/>
          </a:p>
        </p:txBody>
      </p:sp>
      <p:sp>
        <p:nvSpPr>
          <p:cNvPr id="3645" name="Google Shape;3645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6" name="Google Shape;3646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647" name="Google Shape;3647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648" name="Google Shape;3648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$22,606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52" name="Shape 3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3" name="Google Shape;3653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4" name="Google Shape;3654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Mitchell Hecht Llc</a:t>
            </a:r>
            <a:endParaRPr/>
          </a:p>
        </p:txBody>
      </p:sp>
      <p:sp>
        <p:nvSpPr>
          <p:cNvPr id="3655" name="Google Shape;3655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N/A</a:t>
            </a:r>
            <a:endParaRPr/>
          </a:p>
        </p:txBody>
      </p:sp>
      <p:sp>
        <p:nvSpPr>
          <p:cNvPr id="3656" name="Google Shape;3656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57" name="Google Shape;3657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58" name="Google Shape;3658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59" name="Google Shape;3659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60" name="Google Shape;3660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61" name="Google Shape;3661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$15,858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62" name="Google Shape;3662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63" name="Google Shape;3663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64" name="Google Shape;3664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65" name="Google Shape;3665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66" name="Google Shape;3666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67" name="Google Shape;3667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68" name="Google Shape;3668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69" name="Google Shape;3669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0" name="Google Shape;3670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71" name="Google Shape;3671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72" name="Google Shape;3672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73" name="Google Shape;3673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74" name="Google Shape;3674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75" name="Google Shape;3675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76" name="Google Shape;3676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77" name="Google Shape;3677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8" name="Google Shape;3678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79" name="Google Shape;3679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0" name="Google Shape;3680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1" name="Google Shape;3681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2" name="Google Shape;3682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3" name="Google Shape;3683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4" name="Google Shape;3684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5" name="Google Shape;3685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86" name="Google Shape;3686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7" name="Google Shape;3687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8" name="Google Shape;3688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9" name="Google Shape;3689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0" name="Google Shape;3690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1" name="Google Shape;3691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2" name="Google Shape;3692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93" name="Google Shape;3693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</p:txBody>
      </p:sp>
      <p:sp>
        <p:nvSpPr>
          <p:cNvPr id="3694" name="Google Shape;3694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</p:txBody>
      </p:sp>
      <p:sp>
        <p:nvSpPr>
          <p:cNvPr id="3695" name="Google Shape;3695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6" name="Google Shape;3696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7" name="Google Shape;3697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8" name="Google Shape;3698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9" name="Google Shape;3699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00" name="Google Shape;3700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1" name="Google Shape;3701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2" name="Google Shape;3702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3" name="Google Shape;3703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4" name="Google Shape;3704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$-33,967</a:t>
            </a:r>
            <a:endParaRPr/>
          </a:p>
        </p:txBody>
      </p:sp>
      <p:sp>
        <p:nvSpPr>
          <p:cNvPr id="3705" name="Google Shape;3705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6" name="Google Shape;3706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07" name="Google Shape;3707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8" name="Google Shape;3708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9" name="Google Shape;3709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0" name="Google Shape;3710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1" name="Google Shape;3711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2" name="Google Shape;3712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3" name="Google Shape;3713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14" name="Google Shape;3714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</p:txBody>
      </p:sp>
      <p:sp>
        <p:nvSpPr>
          <p:cNvPr id="3715" name="Google Shape;3715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</a:t>
            </a:r>
            <a:endParaRPr/>
          </a:p>
        </p:txBody>
      </p:sp>
      <p:sp>
        <p:nvSpPr>
          <p:cNvPr id="3716" name="Google Shape;3716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7" name="Google Shape;3717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8" name="Google Shape;3718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$-33,967</a:t>
            </a:r>
            <a:endParaRPr/>
          </a:p>
        </p:txBody>
      </p:sp>
      <p:sp>
        <p:nvSpPr>
          <p:cNvPr id="3719" name="Google Shape;3719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0" name="Google Shape;3720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721" name="Google Shape;3721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22" name="Google Shape;3722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723" name="Google Shape;3723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724" name="Google Shape;3724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725" name="Google Shape;3725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27" name="Google Shape;3727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8" name="Google Shape;3728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29" name="Google Shape;3729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0" name="Google Shape;3730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1" name="Google Shape;3731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34" name="Google Shape;3734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5" name="Google Shape;3735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36" name="Google Shape;3736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7" name="Google Shape;3737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8" name="Google Shape;3738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9" name="Google Shape;3739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3741" name="Google Shape;3741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2" name="Google Shape;3742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44" name="Google Shape;3744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5" name="Google Shape;3745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46" name="Google Shape;3746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48" name="Google Shape;3748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9" name="Google Shape;3749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50" name="Google Shape;3750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51" name="Google Shape;3751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2" name="Google Shape;3752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53" name="Google Shape;3753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4" name="Google Shape;3754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55" name="Google Shape;3755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6" name="Google Shape;3756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57" name="Google Shape;3757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8" name="Google Shape;3758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9" name="Google Shape;3759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60" name="Google Shape;3760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61" name="Google Shape;3761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62" name="Google Shape;3762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3" name="Google Shape;3763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64" name="Google Shape;3764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65" name="Google Shape;3765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66" name="Google Shape;3766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67" name="Google Shape;3767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68" name="Google Shape;3768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769" name="Google Shape;3769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0" name="Google Shape;3770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71" name="Google Shape;3771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72" name="Google Shape;3772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73" name="Google Shape;3773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74" name="Google Shape;3774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75" name="Google Shape;3775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76" name="Google Shape;3776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77" name="Google Shape;3777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78" name="Google Shape;3778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79" name="Google Shape;3779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80" name="Google Shape;3780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81" name="Google Shape;3781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82" name="Google Shape;3782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83" name="Google Shape;3783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84" name="Google Shape;3784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85" name="Google Shape;3785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86" name="Google Shape;3786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87" name="Google Shape;3787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88" name="Google Shape;3788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89" name="Google Shape;3789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90" name="Google Shape;3790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91" name="Google Shape;3791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92" name="Google Shape;3792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93" name="Google Shape;3793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94" name="Google Shape;3794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95" name="Google Shape;3795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796" name="Google Shape;3796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97" name="Google Shape;3797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98" name="Google Shape;3798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3799" name="Google Shape;3799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0" name="Google Shape;3800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3801" name="Google Shape;3801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2" name="Google Shape;3802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3" name="Google Shape;3803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3804" name="Google Shape;3804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5" name="Google Shape;3805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6" name="Google Shape;3806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</a:t>
            </a:r>
            <a:endParaRPr/>
          </a:p>
        </p:txBody>
      </p:sp>
      <p:sp>
        <p:nvSpPr>
          <p:cNvPr id="3807" name="Google Shape;3807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8" name="Google Shape;3808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3809" name="Google Shape;3809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3810" name="Google Shape;3810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1" name="Google Shape;3811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812" name="Google Shape;3812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13" name="Google Shape;3813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 YTD gross written premium</a:t>
            </a:r>
            <a:endParaRPr/>
          </a:p>
        </p:txBody>
      </p:sp>
      <p:sp>
        <p:nvSpPr>
          <p:cNvPr id="3814" name="Google Shape;3814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15" name="Google Shape;3815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$38,266 in new business production</a:t>
            </a:r>
            <a:endParaRPr/>
          </a:p>
        </p:txBody>
      </p:sp>
      <p:sp>
        <p:nvSpPr>
          <p:cNvPr id="3816" name="Google Shape;3816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7" name="Google Shape;3817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818" name="Google Shape;3818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19" name="Google Shape;3819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89% of new business ($33,967)</a:t>
            </a:r>
            <a:endParaRPr/>
          </a:p>
        </p:txBody>
      </p:sp>
      <p:sp>
        <p:nvSpPr>
          <p:cNvPr id="3820" name="Google Shape;3820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21" name="Google Shape;3821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3822" name="Google Shape;3822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3" name="Google Shape;3823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824" name="Google Shape;3824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825" name="Google Shape;3825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$38,266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826" name="Google Shape;3826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827" name="Google Shape;3827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$33,967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31" name="Shape 3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2" name="Google Shape;3832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3" name="Google Shape;3833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Tailor'd Insurance Llc</a:t>
            </a:r>
            <a:endParaRPr/>
          </a:p>
        </p:txBody>
      </p:sp>
      <p:sp>
        <p:nvSpPr>
          <p:cNvPr id="3834" name="Google Shape;3834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NC  |  City: Concord</a:t>
            </a:r>
            <a:endParaRPr/>
          </a:p>
        </p:txBody>
      </p:sp>
      <p:sp>
        <p:nvSpPr>
          <p:cNvPr id="3835" name="Google Shape;3835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$33,255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836" name="Google Shape;3836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$24,717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37" name="Google Shape;3837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$8,540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38" name="Google Shape;3838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39" name="Google Shape;3839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40" name="Google Shape;3840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841" name="Google Shape;3841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$76,507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842" name="Google Shape;3842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843" name="Google Shape;3843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44" name="Google Shape;3844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45" name="Google Shape;3845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46" name="Google Shape;3846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847" name="Google Shape;3847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$11,120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848" name="Google Shape;3848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9" name="Google Shape;3849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850" name="Google Shape;3850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51" name="Google Shape;3851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852" name="Google Shape;3852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53" name="Google Shape;3853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54" name="Google Shape;3854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55" name="Google Shape;3855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56" name="Google Shape;3856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7" name="Google Shape;3857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58" name="Google Shape;3858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$13,272</a:t>
            </a:r>
            <a:endParaRPr/>
          </a:p>
        </p:txBody>
      </p:sp>
      <p:sp>
        <p:nvSpPr>
          <p:cNvPr id="3859" name="Google Shape;3859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$13,272</a:t>
            </a:r>
            <a:endParaRPr/>
          </a:p>
        </p:txBody>
      </p:sp>
      <p:sp>
        <p:nvSpPr>
          <p:cNvPr id="3860" name="Google Shape;3860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1" name="Google Shape;3861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2" name="Google Shape;3862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3" name="Google Shape;3863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4" name="Google Shape;3864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65" name="Google Shape;3865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$8,538</a:t>
            </a:r>
            <a:endParaRPr/>
          </a:p>
        </p:txBody>
      </p:sp>
      <p:sp>
        <p:nvSpPr>
          <p:cNvPr id="3866" name="Google Shape;3866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7" name="Google Shape;3867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$8,540</a:t>
            </a:r>
            <a:endParaRPr/>
          </a:p>
        </p:txBody>
      </p:sp>
      <p:sp>
        <p:nvSpPr>
          <p:cNvPr id="3868" name="Google Shape;3868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</a:t>
            </a:r>
            <a:endParaRPr/>
          </a:p>
        </p:txBody>
      </p:sp>
      <p:sp>
        <p:nvSpPr>
          <p:cNvPr id="3869" name="Google Shape;3869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0" name="Google Shape;3870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1" name="Google Shape;3871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72" name="Google Shape;3872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3" name="Google Shape;3873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4" name="Google Shape;3874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5" name="Google Shape;3875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6" name="Google Shape;3876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7" name="Google Shape;3877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8" name="Google Shape;3878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$11,445</a:t>
            </a:r>
            <a:endParaRPr/>
          </a:p>
        </p:txBody>
      </p:sp>
      <p:sp>
        <p:nvSpPr>
          <p:cNvPr id="3880" name="Google Shape;3880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$11,445</a:t>
            </a:r>
            <a:endParaRPr/>
          </a:p>
        </p:txBody>
      </p:sp>
      <p:sp>
        <p:nvSpPr>
          <p:cNvPr id="3881" name="Google Shape;3881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2" name="Google Shape;3882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3" name="Google Shape;3883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4" name="Google Shape;3884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5" name="Google Shape;3885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7" name="Google Shape;3887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8" name="Google Shape;3888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9" name="Google Shape;3889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0" name="Google Shape;3890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1" name="Google Shape;3891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2" name="Google Shape;3892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93" name="Google Shape;3893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$33,255</a:t>
            </a:r>
            <a:endParaRPr/>
          </a:p>
        </p:txBody>
      </p:sp>
      <p:sp>
        <p:nvSpPr>
          <p:cNvPr id="3894" name="Google Shape;3894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$24,717</a:t>
            </a:r>
            <a:endParaRPr/>
          </a:p>
        </p:txBody>
      </p:sp>
      <p:sp>
        <p:nvSpPr>
          <p:cNvPr id="3895" name="Google Shape;3895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$8,540</a:t>
            </a:r>
            <a:endParaRPr/>
          </a:p>
        </p:txBody>
      </p:sp>
      <p:sp>
        <p:nvSpPr>
          <p:cNvPr id="3896" name="Google Shape;3896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</a:t>
            </a:r>
            <a:endParaRPr/>
          </a:p>
        </p:txBody>
      </p:sp>
      <p:sp>
        <p:nvSpPr>
          <p:cNvPr id="3897" name="Google Shape;3897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8" name="Google Shape;3898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9" name="Google Shape;3899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900" name="Google Shape;3900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01" name="Google Shape;3901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902" name="Google Shape;3902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903" name="Google Shape;3903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904" name="Google Shape;3904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06" name="Google Shape;3906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7" name="Google Shape;3907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08" name="Google Shape;3908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909" name="Google Shape;3909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10" name="Google Shape;3910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3913" name="Google Shape;3913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4" name="Google Shape;3914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15" name="Google Shape;3915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916" name="Google Shape;3916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17" name="Google Shape;3917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918" name="Google Shape;3918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3920" name="Google Shape;3920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1" name="Google Shape;3921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22" name="Google Shape;3922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925" name="Google Shape;3925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6" name="Google Shape;3926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27" name="Google Shape;3927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8" name="Google Shape;3928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29" name="Google Shape;3929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930" name="Google Shape;3930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931" name="Google Shape;3931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932" name="Google Shape;3932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33" name="Google Shape;3933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3934" name="Google Shape;3934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5" name="Google Shape;3935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36" name="Google Shape;3936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937" name="Google Shape;3937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8" name="Google Shape;3938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939" name="Google Shape;3939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0" name="Google Shape;3940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41" name="Google Shape;3941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2" name="Google Shape;3942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43" name="Google Shape;3943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</p:txBody>
      </p:sp>
      <p:sp>
        <p:nvSpPr>
          <p:cNvPr id="3944" name="Google Shape;3944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45" name="Google Shape;3945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3946" name="Google Shape;3946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47" name="Google Shape;3947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3948" name="Google Shape;3948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9" name="Google Shape;3949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950" name="Google Shape;3950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51" name="Google Shape;3951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952" name="Google Shape;3952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953" name="Google Shape;3953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954" name="Google Shape;3954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955" name="Google Shape;3955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956" name="Google Shape;3956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957" name="Google Shape;3957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958" name="Google Shape;3958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959" name="Google Shape;3959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960" name="Google Shape;3960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961" name="Google Shape;3961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962" name="Google Shape;3962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963" name="Google Shape;3963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64" name="Google Shape;3964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3965" name="Google Shape;3965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966" name="Google Shape;3966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967" name="Google Shape;3967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968" name="Google Shape;3968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969" name="Google Shape;3969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970" name="Google Shape;3970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971" name="Google Shape;3971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972" name="Google Shape;3972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973" name="Google Shape;3973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974" name="Google Shape;3974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</a:t>
            </a:r>
            <a:endParaRPr/>
          </a:p>
        </p:txBody>
      </p:sp>
      <p:sp>
        <p:nvSpPr>
          <p:cNvPr id="3975" name="Google Shape;3975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</p:txBody>
      </p:sp>
      <p:sp>
        <p:nvSpPr>
          <p:cNvPr id="3976" name="Google Shape;3976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77" name="Google Shape;3977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$-20,523</a:t>
            </a:r>
            <a:endParaRPr/>
          </a:p>
        </p:txBody>
      </p:sp>
      <p:sp>
        <p:nvSpPr>
          <p:cNvPr id="3978" name="Google Shape;3978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3979" name="Google Shape;3979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3980" name="Google Shape;3980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3981" name="Google Shape;3981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3982" name="Google Shape;3982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3" name="Google Shape;3983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984" name="Google Shape;3984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3985" name="Google Shape;3985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$-3,404</a:t>
            </a:r>
            <a:endParaRPr/>
          </a:p>
        </p:txBody>
      </p:sp>
      <p:sp>
        <p:nvSpPr>
          <p:cNvPr id="3986" name="Google Shape;3986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7" name="Google Shape;3987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988" name="Google Shape;3988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989" name="Google Shape;3989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0" name="Google Shape;3990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91" name="Google Shape;3991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92" name="Google Shape;3992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$33,255 YTD gross written premium</a:t>
            </a:r>
            <a:endParaRPr/>
          </a:p>
        </p:txBody>
      </p:sp>
      <p:sp>
        <p:nvSpPr>
          <p:cNvPr id="3993" name="Google Shape;3993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94" name="Google Shape;3994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$24,717 in new business production</a:t>
            </a:r>
            <a:endParaRPr/>
          </a:p>
        </p:txBody>
      </p:sp>
      <p:sp>
        <p:nvSpPr>
          <p:cNvPr id="3995" name="Google Shape;3995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6" name="Google Shape;3996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97" name="Google Shape;3997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98" name="Google Shape;3998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1.5% hit ratio on 133 subs - needs coaching</a:t>
            </a:r>
            <a:endParaRPr/>
          </a:p>
        </p:txBody>
      </p:sp>
      <p:sp>
        <p:nvSpPr>
          <p:cNvPr id="3999" name="Google Shape;3999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00" name="Google Shape;4000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31 to 5 MoM</a:t>
            </a:r>
            <a:endParaRPr/>
          </a:p>
        </p:txBody>
      </p:sp>
      <p:sp>
        <p:nvSpPr>
          <p:cNvPr id="4001" name="Google Shape;4001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2" name="Google Shape;4002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003" name="Google Shape;4003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004" name="Google Shape;4004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(133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005" name="Google Shape;4005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006" name="Google Shape;4006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$24,717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0" name="Shape 4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1" name="Google Shape;4011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2" name="Google Shape;4012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Morales Agency LLC</a:t>
            </a:r>
            <a:endParaRPr/>
          </a:p>
        </p:txBody>
      </p:sp>
      <p:sp>
        <p:nvSpPr>
          <p:cNvPr id="4013" name="Google Shape;4013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N/A</a:t>
            </a:r>
            <a:endParaRPr/>
          </a:p>
        </p:txBody>
      </p:sp>
      <p:sp>
        <p:nvSpPr>
          <p:cNvPr id="4014" name="Google Shape;4014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$29,740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015" name="Google Shape;4015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16" name="Google Shape;4016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17" name="Google Shape;4017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18" name="Google Shape;4018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$-14,364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19" name="Google Shape;4019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$117,877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020" name="Google Shape;4020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$85,959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021" name="Google Shape;4021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022" name="Google Shape;4022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23" name="Google Shape;4023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24" name="Google Shape;4024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25" name="Google Shape;4025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026" name="Google Shape;4026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$38,637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027" name="Google Shape;4027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8" name="Google Shape;4028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029" name="Google Shape;4029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30" name="Google Shape;4030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031" name="Google Shape;4031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33" name="Google Shape;4033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34" name="Google Shape;4034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35" name="Google Shape;4035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6" name="Google Shape;4036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37" name="Google Shape;4037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8" name="Google Shape;4038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9" name="Google Shape;4039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0" name="Google Shape;4040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1" name="Google Shape;4041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2" name="Google Shape;4042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3" name="Google Shape;4043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44" name="Google Shape;4044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$9,086</a:t>
            </a:r>
            <a:endParaRPr/>
          </a:p>
        </p:txBody>
      </p:sp>
      <p:sp>
        <p:nvSpPr>
          <p:cNvPr id="4045" name="Google Shape;4045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6" name="Google Shape;4046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7" name="Google Shape;4047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$9,086</a:t>
            </a:r>
            <a:endParaRPr/>
          </a:p>
        </p:txBody>
      </p:sp>
      <p:sp>
        <p:nvSpPr>
          <p:cNvPr id="4048" name="Google Shape;4048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$-9,086</a:t>
            </a:r>
            <a:endParaRPr/>
          </a:p>
        </p:txBody>
      </p:sp>
      <p:sp>
        <p:nvSpPr>
          <p:cNvPr id="4049" name="Google Shape;4049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0" name="Google Shape;4050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51" name="Google Shape;4051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$15,376</a:t>
            </a:r>
            <a:endParaRPr/>
          </a:p>
        </p:txBody>
      </p:sp>
      <p:sp>
        <p:nvSpPr>
          <p:cNvPr id="4052" name="Google Shape;4052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$15,376</a:t>
            </a:r>
            <a:endParaRPr/>
          </a:p>
        </p:txBody>
      </p:sp>
      <p:sp>
        <p:nvSpPr>
          <p:cNvPr id="4053" name="Google Shape;4053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4" name="Google Shape;4054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5" name="Google Shape;4055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6" name="Google Shape;4056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7" name="Google Shape;4057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$5,278</a:t>
            </a:r>
            <a:endParaRPr/>
          </a:p>
        </p:txBody>
      </p:sp>
      <p:sp>
        <p:nvSpPr>
          <p:cNvPr id="4059" name="Google Shape;4059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0" name="Google Shape;4060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1" name="Google Shape;4061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$5,278</a:t>
            </a:r>
            <a:endParaRPr/>
          </a:p>
        </p:txBody>
      </p:sp>
      <p:sp>
        <p:nvSpPr>
          <p:cNvPr id="4062" name="Google Shape;4062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$-5,278</a:t>
            </a:r>
            <a:endParaRPr/>
          </a:p>
        </p:txBody>
      </p:sp>
      <p:sp>
        <p:nvSpPr>
          <p:cNvPr id="4063" name="Google Shape;4063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4" name="Google Shape;4064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6" name="Google Shape;4066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7" name="Google Shape;4067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8" name="Google Shape;4068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9" name="Google Shape;4069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0" name="Google Shape;4070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1" name="Google Shape;4071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$29,740</a:t>
            </a:r>
            <a:endParaRPr/>
          </a:p>
        </p:txBody>
      </p:sp>
      <p:sp>
        <p:nvSpPr>
          <p:cNvPr id="4073" name="Google Shape;4073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$15,376</a:t>
            </a:r>
            <a:endParaRPr/>
          </a:p>
        </p:txBody>
      </p:sp>
      <p:sp>
        <p:nvSpPr>
          <p:cNvPr id="4074" name="Google Shape;4074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5" name="Google Shape;4075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$14,364</a:t>
            </a:r>
            <a:endParaRPr/>
          </a:p>
        </p:txBody>
      </p:sp>
      <p:sp>
        <p:nvSpPr>
          <p:cNvPr id="4076" name="Google Shape;4076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$-14,364</a:t>
            </a:r>
            <a:endParaRPr/>
          </a:p>
        </p:txBody>
      </p:sp>
      <p:sp>
        <p:nvSpPr>
          <p:cNvPr id="4077" name="Google Shape;4077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8" name="Google Shape;4078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79" name="Google Shape;4079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80" name="Google Shape;4080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81" name="Google Shape;4081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82" name="Google Shape;4082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83" name="Google Shape;4083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85" name="Google Shape;4085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6" name="Google Shape;4086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87" name="Google Shape;4087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088" name="Google Shape;4088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89" name="Google Shape;4089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92" name="Google Shape;4092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3" name="Google Shape;4093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94" name="Google Shape;4094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095" name="Google Shape;4095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097" name="Google Shape;4097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98" name="Google Shape;4098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4099" name="Google Shape;4099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0" name="Google Shape;4100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01" name="Google Shape;4101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102" name="Google Shape;4102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03" name="Google Shape;4103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104" name="Google Shape;4104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05" name="Google Shape;4105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4106" name="Google Shape;4106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7" name="Google Shape;4107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08" name="Google Shape;4108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4109" name="Google Shape;4109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10" name="Google Shape;4110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111" name="Google Shape;4111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12" name="Google Shape;4112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4113" name="Google Shape;4113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4" name="Google Shape;4114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15" name="Google Shape;4115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116" name="Google Shape;4116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17" name="Google Shape;4117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118" name="Google Shape;4118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19" name="Google Shape;4119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20" name="Google Shape;4120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1" name="Google Shape;4121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22" name="Google Shape;4122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4123" name="Google Shape;4123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24" name="Google Shape;4124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4125" name="Google Shape;4125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26" name="Google Shape;4126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4127" name="Google Shape;4127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8" name="Google Shape;4128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129" name="Google Shape;4129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30" name="Google Shape;4130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131" name="Google Shape;4131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132" name="Google Shape;4132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133" name="Google Shape;4133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134" name="Google Shape;4134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135" name="Google Shape;4135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136" name="Google Shape;4136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137" name="Google Shape;4137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138" name="Google Shape;4138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139" name="Google Shape;4139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140" name="Google Shape;4140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141" name="Google Shape;4141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142" name="Google Shape;4142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43" name="Google Shape;4143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144" name="Google Shape;4144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145" name="Google Shape;4145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146" name="Google Shape;4146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147" name="Google Shape;4147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148" name="Google Shape;4148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149" name="Google Shape;4149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150" name="Google Shape;4150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4151" name="Google Shape;4151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152" name="Google Shape;4152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153" name="Google Shape;4153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4154" name="Google Shape;4154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160</a:t>
            </a:r>
            <a:endParaRPr/>
          </a:p>
        </p:txBody>
      </p:sp>
      <p:sp>
        <p:nvSpPr>
          <p:cNvPr id="4155" name="Google Shape;4155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156" name="Google Shape;4156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4157" name="Google Shape;4157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8" name="Google Shape;4158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9" name="Google Shape;4159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4160" name="Google Shape;4160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1" name="Google Shape;4161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4162" name="Google Shape;4162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3" name="Google Shape;4163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4164" name="Google Shape;4164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165" name="Google Shape;4165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6" name="Google Shape;4166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4167" name="Google Shape;4167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4168" name="Google Shape;4168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9" name="Google Shape;4169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170" name="Google Shape;4170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71" name="Google Shape;4171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$29,740 YTD gross written premium</a:t>
            </a:r>
            <a:endParaRPr/>
          </a:p>
        </p:txBody>
      </p:sp>
      <p:sp>
        <p:nvSpPr>
          <p:cNvPr id="4172" name="Google Shape;4172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73" name="Google Shape;4173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$15,376 in new business production</a:t>
            </a:r>
            <a:endParaRPr/>
          </a:p>
        </p:txBody>
      </p:sp>
      <p:sp>
        <p:nvSpPr>
          <p:cNvPr id="4174" name="Google Shape;4174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5" name="Google Shape;4175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76" name="Google Shape;4176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77" name="Google Shape;4177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1.3% hit ratio on 158 subs - needs coaching</a:t>
            </a:r>
            <a:endParaRPr/>
          </a:p>
        </p:txBody>
      </p:sp>
      <p:sp>
        <p:nvSpPr>
          <p:cNvPr id="4178" name="Google Shape;4178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79" name="Google Shape;4179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93% of new business ($14,364)</a:t>
            </a:r>
            <a:endParaRPr/>
          </a:p>
        </p:txBody>
      </p:sp>
      <p:sp>
        <p:nvSpPr>
          <p:cNvPr id="4180" name="Google Shape;4180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1" name="Google Shape;4181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82" name="Google Shape;4182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83" name="Google Shape;4183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(158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184" name="Google Shape;4184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185" name="Google Shape;4185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$15,376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89" name="Shape 4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0" name="Google Shape;4190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1" name="Google Shape;4191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Karen &amp; King LLC Agency</a:t>
            </a:r>
            <a:endParaRPr/>
          </a:p>
        </p:txBody>
      </p:sp>
      <p:sp>
        <p:nvSpPr>
          <p:cNvPr id="4192" name="Google Shape;4192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Norcross</a:t>
            </a:r>
            <a:endParaRPr/>
          </a:p>
        </p:txBody>
      </p:sp>
      <p:sp>
        <p:nvSpPr>
          <p:cNvPr id="4193" name="Google Shape;4193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$28,642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94" name="Google Shape;4194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95" name="Google Shape;4195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96" name="Google Shape;4196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$7,596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97" name="Google Shape;4197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98" name="Google Shape;4198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$130,041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99" name="Google Shape;4199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$141,629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200" name="Google Shape;4200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201" name="Google Shape;4201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02" name="Google Shape;4202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03" name="Google Shape;4203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04" name="Google Shape;4204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205" name="Google Shape;4205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$40,748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206" name="Google Shape;4206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7" name="Google Shape;4207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208" name="Google Shape;4208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09" name="Google Shape;4209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210" name="Google Shape;4210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12" name="Google Shape;4212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13" name="Google Shape;4213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14" name="Google Shape;4214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5" name="Google Shape;4215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16" name="Google Shape;4216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7" name="Google Shape;4217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8" name="Google Shape;4218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9" name="Google Shape;4219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0" name="Google Shape;4220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1" name="Google Shape;4221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2" name="Google Shape;4222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23" name="Google Shape;4223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$21,046</a:t>
            </a:r>
            <a:endParaRPr/>
          </a:p>
        </p:txBody>
      </p:sp>
      <p:sp>
        <p:nvSpPr>
          <p:cNvPr id="4224" name="Google Shape;4224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$21,046</a:t>
            </a:r>
            <a:endParaRPr/>
          </a:p>
        </p:txBody>
      </p:sp>
      <p:sp>
        <p:nvSpPr>
          <p:cNvPr id="4225" name="Google Shape;4225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6" name="Google Shape;4226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8" name="Google Shape;4228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9" name="Google Shape;4229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$7,596</a:t>
            </a:r>
            <a:endParaRPr/>
          </a:p>
        </p:txBody>
      </p:sp>
      <p:sp>
        <p:nvSpPr>
          <p:cNvPr id="4231" name="Google Shape;4231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2" name="Google Shape;4232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3" name="Google Shape;4233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$7,596</a:t>
            </a:r>
            <a:endParaRPr/>
          </a:p>
        </p:txBody>
      </p:sp>
      <p:sp>
        <p:nvSpPr>
          <p:cNvPr id="4234" name="Google Shape;4234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$-7,596</a:t>
            </a:r>
            <a:endParaRPr/>
          </a:p>
        </p:txBody>
      </p:sp>
      <p:sp>
        <p:nvSpPr>
          <p:cNvPr id="4235" name="Google Shape;4235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6" name="Google Shape;4236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37" name="Google Shape;4237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8" name="Google Shape;4238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9" name="Google Shape;4239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0" name="Google Shape;4240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1" name="Google Shape;4241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2" name="Google Shape;4242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3" name="Google Shape;4243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44" name="Google Shape;4244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5" name="Google Shape;4245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6" name="Google Shape;4246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7" name="Google Shape;4247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8" name="Google Shape;4248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9" name="Google Shape;4249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0" name="Google Shape;4250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51" name="Google Shape;4251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$28,642</a:t>
            </a:r>
            <a:endParaRPr/>
          </a:p>
        </p:txBody>
      </p:sp>
      <p:sp>
        <p:nvSpPr>
          <p:cNvPr id="4252" name="Google Shape;4252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$21,046</a:t>
            </a:r>
            <a:endParaRPr/>
          </a:p>
        </p:txBody>
      </p:sp>
      <p:sp>
        <p:nvSpPr>
          <p:cNvPr id="4253" name="Google Shape;4253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4" name="Google Shape;4254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$7,596</a:t>
            </a:r>
            <a:endParaRPr/>
          </a:p>
        </p:txBody>
      </p:sp>
      <p:sp>
        <p:nvSpPr>
          <p:cNvPr id="4255" name="Google Shape;4255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$-7,596</a:t>
            </a:r>
            <a:endParaRPr/>
          </a:p>
        </p:txBody>
      </p:sp>
      <p:sp>
        <p:nvSpPr>
          <p:cNvPr id="4256" name="Google Shape;4256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7" name="Google Shape;4257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258" name="Google Shape;4258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59" name="Google Shape;4259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260" name="Google Shape;4260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261" name="Google Shape;4261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262" name="Google Shape;4262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63" name="Google Shape;4263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64" name="Google Shape;4264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5" name="Google Shape;4265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66" name="Google Shape;4266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269" name="Google Shape;4269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70" name="Google Shape;4270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71" name="Google Shape;4271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2" name="Google Shape;4272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73" name="Google Shape;4273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274" name="Google Shape;4274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75" name="Google Shape;4275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276" name="Google Shape;4276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4278" name="Google Shape;4278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9" name="Google Shape;4279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281" name="Google Shape;4281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82" name="Google Shape;4282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283" name="Google Shape;4283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84" name="Google Shape;4284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4285" name="Google Shape;4285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6" name="Google Shape;4286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87" name="Google Shape;4287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288" name="Google Shape;4288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89" name="Google Shape;4289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90" name="Google Shape;4290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1" name="Google Shape;4291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92" name="Google Shape;4292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3" name="Google Shape;4293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94" name="Google Shape;4294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295" name="Google Shape;4295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96" name="Google Shape;4296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297" name="Google Shape;4297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8" name="Google Shape;4298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99" name="Google Shape;4299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0" name="Google Shape;4300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01" name="Google Shape;4301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4302" name="Google Shape;4302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303" name="Google Shape;4303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4304" name="Google Shape;4304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05" name="Google Shape;4305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4306" name="Google Shape;4306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7" name="Google Shape;4307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308" name="Google Shape;4308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09" name="Google Shape;4309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310" name="Google Shape;4310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311" name="Google Shape;4311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312" name="Google Shape;4312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313" name="Google Shape;4313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314" name="Google Shape;4314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315" name="Google Shape;4315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316" name="Google Shape;4316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317" name="Google Shape;4317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318" name="Google Shape;4318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319" name="Google Shape;4319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320" name="Google Shape;4320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321" name="Google Shape;4321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22" name="Google Shape;4322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323" name="Google Shape;4323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324" name="Google Shape;4324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325" name="Google Shape;4325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326" name="Google Shape;4326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327" name="Google Shape;4327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328" name="Google Shape;4328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329" name="Google Shape;4329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330" name="Google Shape;4330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331" name="Google Shape;4331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332" name="Google Shape;4332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4333" name="Google Shape;4333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4334" name="Google Shape;4334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335" name="Google Shape;4335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6" name="Google Shape;4336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7" name="Google Shape;4337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8" name="Google Shape;4338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4339" name="Google Shape;4339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4340" name="Google Shape;4340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4341" name="Google Shape;4341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2" name="Google Shape;4342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3" name="Google Shape;4343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4" name="Google Shape;4344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5" name="Google Shape;4345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4346" name="Google Shape;4346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4347" name="Google Shape;4347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8" name="Google Shape;4348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349" name="Google Shape;4349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50" name="Google Shape;4350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$28,642 YTD gross written premium</a:t>
            </a:r>
            <a:endParaRPr/>
          </a:p>
        </p:txBody>
      </p:sp>
      <p:sp>
        <p:nvSpPr>
          <p:cNvPr id="4351" name="Google Shape;4351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52" name="Google Shape;4352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$21,046 in new business production</a:t>
            </a:r>
            <a:endParaRPr/>
          </a:p>
        </p:txBody>
      </p:sp>
      <p:sp>
        <p:nvSpPr>
          <p:cNvPr id="4353" name="Google Shape;4353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4" name="Google Shape;4354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355" name="Google Shape;4355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56" name="Google Shape;4356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1.2% hit ratio on 166 subs - needs coaching</a:t>
            </a:r>
            <a:endParaRPr/>
          </a:p>
        </p:txBody>
      </p:sp>
      <p:sp>
        <p:nvSpPr>
          <p:cNvPr id="4357" name="Google Shape;4357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58" name="Google Shape;4358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64% month-over-month</a:t>
            </a:r>
            <a:endParaRPr/>
          </a:p>
        </p:txBody>
      </p:sp>
      <p:sp>
        <p:nvSpPr>
          <p:cNvPr id="4359" name="Google Shape;4359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0" name="Google Shape;4360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361" name="Google Shape;4361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362" name="Google Shape;4362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(166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363" name="Google Shape;4363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364" name="Google Shape;4364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$21,046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68" name="Shape 4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9" name="Google Shape;4369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0" name="Google Shape;4370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Insurance Services</a:t>
            </a:r>
            <a:endParaRPr/>
          </a:p>
        </p:txBody>
      </p:sp>
      <p:sp>
        <p:nvSpPr>
          <p:cNvPr id="4371" name="Google Shape;4371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N/A</a:t>
            </a:r>
            <a:endParaRPr/>
          </a:p>
        </p:txBody>
      </p:sp>
      <p:sp>
        <p:nvSpPr>
          <p:cNvPr id="4372" name="Google Shape;4372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$27,681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373" name="Google Shape;4373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74" name="Google Shape;4374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75" name="Google Shape;4375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76" name="Google Shape;4376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77" name="Google Shape;4377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378" name="Google Shape;4378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79" name="Google Shape;4379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80" name="Google Shape;4380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81" name="Google Shape;4381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82" name="Google Shape;4382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83" name="Google Shape;4383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$74,307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84" name="Google Shape;4384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85" name="Google Shape;4385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6" name="Google Shape;4386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87" name="Google Shape;4387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88" name="Google Shape;4388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89" name="Google Shape;4389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91" name="Google Shape;4391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92" name="Google Shape;4392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93" name="Google Shape;4393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4" name="Google Shape;4394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95" name="Google Shape;4395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$6,182</a:t>
            </a:r>
            <a:endParaRPr/>
          </a:p>
        </p:txBody>
      </p:sp>
      <p:sp>
        <p:nvSpPr>
          <p:cNvPr id="4396" name="Google Shape;4396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7" name="Google Shape;4397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398" name="Google Shape;4398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$5,632</a:t>
            </a:r>
            <a:endParaRPr/>
          </a:p>
        </p:txBody>
      </p:sp>
      <p:sp>
        <p:nvSpPr>
          <p:cNvPr id="4399" name="Google Shape;4399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$-1,924</a:t>
            </a:r>
            <a:endParaRPr/>
          </a:p>
        </p:txBody>
      </p:sp>
      <p:sp>
        <p:nvSpPr>
          <p:cNvPr id="4400" name="Google Shape;4400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1" name="Google Shape;4401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02" name="Google Shape;4402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$17,448</a:t>
            </a:r>
            <a:endParaRPr/>
          </a:p>
        </p:txBody>
      </p:sp>
      <p:sp>
        <p:nvSpPr>
          <p:cNvPr id="4403" name="Google Shape;4403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4" name="Google Shape;4404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$17,448</a:t>
            </a:r>
            <a:endParaRPr/>
          </a:p>
        </p:txBody>
      </p:sp>
      <p:sp>
        <p:nvSpPr>
          <p:cNvPr id="4405" name="Google Shape;4405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6" name="Google Shape;4406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7" name="Google Shape;4407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8" name="Google Shape;4408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$1,690</a:t>
            </a:r>
            <a:endParaRPr/>
          </a:p>
        </p:txBody>
      </p:sp>
      <p:sp>
        <p:nvSpPr>
          <p:cNvPr id="4410" name="Google Shape;4410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$1,376</a:t>
            </a:r>
            <a:endParaRPr/>
          </a:p>
        </p:txBody>
      </p:sp>
      <p:sp>
        <p:nvSpPr>
          <p:cNvPr id="4411" name="Google Shape;4411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2" name="Google Shape;4412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$314</a:t>
            </a:r>
            <a:endParaRPr/>
          </a:p>
        </p:txBody>
      </p:sp>
      <p:sp>
        <p:nvSpPr>
          <p:cNvPr id="4413" name="Google Shape;4413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4" name="Google Shape;4414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5" name="Google Shape;4415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16" name="Google Shape;4416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7" name="Google Shape;4417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8" name="Google Shape;4418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9" name="Google Shape;4419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20" name="Google Shape;4420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$-296</a:t>
            </a:r>
            <a:endParaRPr/>
          </a:p>
        </p:txBody>
      </p:sp>
      <p:sp>
        <p:nvSpPr>
          <p:cNvPr id="4421" name="Google Shape;4421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2" name="Google Shape;4422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23" name="Google Shape;4423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$2,361</a:t>
            </a:r>
            <a:endParaRPr/>
          </a:p>
        </p:txBody>
      </p:sp>
      <p:sp>
        <p:nvSpPr>
          <p:cNvPr id="4424" name="Google Shape;4424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25" name="Google Shape;4425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26" name="Google Shape;4426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$2,361</a:t>
            </a:r>
            <a:endParaRPr/>
          </a:p>
        </p:txBody>
      </p:sp>
      <p:sp>
        <p:nvSpPr>
          <p:cNvPr id="4427" name="Google Shape;4427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28" name="Google Shape;4428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9" name="Google Shape;4429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$27,681</a:t>
            </a:r>
            <a:endParaRPr/>
          </a:p>
        </p:txBody>
      </p:sp>
      <p:sp>
        <p:nvSpPr>
          <p:cNvPr id="4431" name="Google Shape;4431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$1,376</a:t>
            </a:r>
            <a:endParaRPr/>
          </a:p>
        </p:txBody>
      </p:sp>
      <p:sp>
        <p:nvSpPr>
          <p:cNvPr id="4432" name="Google Shape;4432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$17,998</a:t>
            </a:r>
            <a:endParaRPr/>
          </a:p>
        </p:txBody>
      </p:sp>
      <p:sp>
        <p:nvSpPr>
          <p:cNvPr id="4433" name="Google Shape;4433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$8,307</a:t>
            </a:r>
            <a:endParaRPr/>
          </a:p>
        </p:txBody>
      </p:sp>
      <p:sp>
        <p:nvSpPr>
          <p:cNvPr id="4434" name="Google Shape;4434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$-2,220</a:t>
            </a:r>
            <a:endParaRPr/>
          </a:p>
        </p:txBody>
      </p:sp>
      <p:sp>
        <p:nvSpPr>
          <p:cNvPr id="4435" name="Google Shape;4435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6" name="Google Shape;4436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437" name="Google Shape;4437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38" name="Google Shape;4438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439" name="Google Shape;4439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440" name="Google Shape;4440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441" name="Google Shape;4441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42" name="Google Shape;4442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43" name="Google Shape;4443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4" name="Google Shape;4444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45" name="Google Shape;4445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46" name="Google Shape;4446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47" name="Google Shape;4447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48" name="Google Shape;4448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450" name="Google Shape;4450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1" name="Google Shape;4451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52" name="Google Shape;4452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453" name="Google Shape;4453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55" name="Google Shape;4455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4457" name="Google Shape;4457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8" name="Google Shape;4458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59" name="Google Shape;4459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460" name="Google Shape;4460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61" name="Google Shape;4461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462" name="Google Shape;4462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63" name="Google Shape;4463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4464" name="Google Shape;4464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66" name="Google Shape;4466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467" name="Google Shape;4467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68" name="Google Shape;4468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469" name="Google Shape;4469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0" name="Google Shape;4470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71" name="Google Shape;4471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2" name="Google Shape;4472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73" name="Google Shape;4473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74" name="Google Shape;4474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5" name="Google Shape;4475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76" name="Google Shape;4476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7" name="Google Shape;4477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78" name="Google Shape;4478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9" name="Google Shape;4479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80" name="Google Shape;4480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481" name="Google Shape;4481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82" name="Google Shape;4482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483" name="Google Shape;4483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84" name="Google Shape;4484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4485" name="Google Shape;4485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6" name="Google Shape;4486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87" name="Google Shape;4487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88" name="Google Shape;4488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89" name="Google Shape;4489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90" name="Google Shape;4490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91" name="Google Shape;4491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92" name="Google Shape;4492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93" name="Google Shape;4493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94" name="Google Shape;4494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95" name="Google Shape;4495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96" name="Google Shape;4496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97" name="Google Shape;4497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98" name="Google Shape;4498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99" name="Google Shape;4499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500" name="Google Shape;4500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01" name="Google Shape;4501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502" name="Google Shape;4502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03" name="Google Shape;4503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504" name="Google Shape;4504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505" name="Google Shape;4505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506" name="Google Shape;4506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507" name="Google Shape;4507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508" name="Google Shape;4508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509" name="Google Shape;4509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510" name="Google Shape;4510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511" name="Google Shape;4511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4512" name="Google Shape;4512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513" name="Google Shape;4513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514" name="Google Shape;4514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4515" name="Google Shape;4515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516" name="Google Shape;4516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4517" name="Google Shape;4517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4518" name="Google Shape;4518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4519" name="Google Shape;4519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4520" name="Google Shape;4520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$89K</a:t>
            </a:r>
            <a:endParaRPr/>
          </a:p>
        </p:txBody>
      </p:sp>
      <p:sp>
        <p:nvSpPr>
          <p:cNvPr id="4521" name="Google Shape;4521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2" name="Google Shape;4522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$-2,750</a:t>
            </a:r>
            <a:endParaRPr/>
          </a:p>
        </p:txBody>
      </p:sp>
      <p:sp>
        <p:nvSpPr>
          <p:cNvPr id="4523" name="Google Shape;4523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4524" name="Google Shape;4524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$197K</a:t>
            </a:r>
            <a:endParaRPr/>
          </a:p>
        </p:txBody>
      </p:sp>
      <p:sp>
        <p:nvSpPr>
          <p:cNvPr id="4525" name="Google Shape;4525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4526" name="Google Shape;4526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7" name="Google Shape;4527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528" name="Google Shape;4528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29" name="Google Shape;4529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$27,681 YTD gross written premium</a:t>
            </a:r>
            <a:endParaRPr/>
          </a:p>
        </p:txBody>
      </p:sp>
      <p:sp>
        <p:nvSpPr>
          <p:cNvPr id="4530" name="Google Shape;4530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31" name="Google Shape;4531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$1,376 in new business production</a:t>
            </a:r>
            <a:endParaRPr/>
          </a:p>
        </p:txBody>
      </p:sp>
      <p:sp>
        <p:nvSpPr>
          <p:cNvPr id="4532" name="Google Shape;4532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3" name="Google Shape;4533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534" name="Google Shape;4534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35" name="Google Shape;4535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161% of new business ($2,220)</a:t>
            </a:r>
            <a:endParaRPr/>
          </a:p>
        </p:txBody>
      </p:sp>
      <p:sp>
        <p:nvSpPr>
          <p:cNvPr id="4536" name="Google Shape;4536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7" name="Google Shape;4537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538" name="Google Shape;4538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539" name="Google Shape;4539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$1,376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540" name="Google Shape;4540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541" name="Google Shape;4541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$2,220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45" name="Shape 4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6" name="Google Shape;4546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7" name="Google Shape;4547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National Transportation Insurance Specialists Llc</a:t>
            </a:r>
            <a:endParaRPr/>
          </a:p>
        </p:txBody>
      </p:sp>
      <p:sp>
        <p:nvSpPr>
          <p:cNvPr id="4548" name="Google Shape;4548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Alpharetta</a:t>
            </a:r>
            <a:endParaRPr/>
          </a:p>
        </p:txBody>
      </p:sp>
      <p:sp>
        <p:nvSpPr>
          <p:cNvPr id="4549" name="Google Shape;4549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550" name="Google Shape;4550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51" name="Google Shape;4551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52" name="Google Shape;4552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53" name="Google Shape;4553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54" name="Google Shape;4554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555" name="Google Shape;4555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556" name="Google Shape;4556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557" name="Google Shape;4557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58" name="Google Shape;4558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59" name="Google Shape;4559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60" name="Google Shape;4560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561" name="Google Shape;4561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562" name="Google Shape;4562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3" name="Google Shape;4563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64" name="Google Shape;4564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65" name="Google Shape;4565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66" name="Google Shape;4566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67" name="Google Shape;4567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68" name="Google Shape;4568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69" name="Google Shape;4569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70" name="Google Shape;4570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1" name="Google Shape;4571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72" name="Google Shape;4572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3" name="Google Shape;4573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4" name="Google Shape;4574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5" name="Google Shape;4575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6" name="Google Shape;4576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7" name="Google Shape;4577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8" name="Google Shape;4578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79" name="Google Shape;4579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$24,173</a:t>
            </a:r>
            <a:endParaRPr/>
          </a:p>
        </p:txBody>
      </p:sp>
      <p:sp>
        <p:nvSpPr>
          <p:cNvPr id="4580" name="Google Shape;4580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$24,173</a:t>
            </a:r>
            <a:endParaRPr/>
          </a:p>
        </p:txBody>
      </p:sp>
      <p:sp>
        <p:nvSpPr>
          <p:cNvPr id="4581" name="Google Shape;4581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2" name="Google Shape;4582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3" name="Google Shape;4583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$-550</a:t>
            </a:r>
            <a:endParaRPr/>
          </a:p>
        </p:txBody>
      </p:sp>
      <p:sp>
        <p:nvSpPr>
          <p:cNvPr id="4584" name="Google Shape;4584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5" name="Google Shape;4585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86" name="Google Shape;4586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7" name="Google Shape;4587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9" name="Google Shape;4589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0" name="Google Shape;4590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1" name="Google Shape;4591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2" name="Google Shape;4592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93" name="Google Shape;4593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$-137</a:t>
            </a:r>
            <a:endParaRPr/>
          </a:p>
        </p:txBody>
      </p:sp>
      <p:sp>
        <p:nvSpPr>
          <p:cNvPr id="4594" name="Google Shape;4594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5" name="Google Shape;4595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6" name="Google Shape;4596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$-137</a:t>
            </a:r>
            <a:endParaRPr/>
          </a:p>
        </p:txBody>
      </p:sp>
      <p:sp>
        <p:nvSpPr>
          <p:cNvPr id="4597" name="Google Shape;4597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8" name="Google Shape;4598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9" name="Google Shape;4599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00" name="Google Shape;4600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1" name="Google Shape;4601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2" name="Google Shape;4602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3" name="Google Shape;4603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4" name="Google Shape;4604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5" name="Google Shape;4605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6" name="Google Shape;4606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07" name="Google Shape;4607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$24,036</a:t>
            </a:r>
            <a:endParaRPr/>
          </a:p>
        </p:txBody>
      </p:sp>
      <p:sp>
        <p:nvSpPr>
          <p:cNvPr id="4608" name="Google Shape;4608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$24,173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0" name="Google Shape;4610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$-137</a:t>
            </a:r>
            <a:endParaRPr/>
          </a:p>
        </p:txBody>
      </p:sp>
      <p:sp>
        <p:nvSpPr>
          <p:cNvPr id="4611" name="Google Shape;4611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$-550</a:t>
            </a:r>
            <a:endParaRPr/>
          </a:p>
        </p:txBody>
      </p:sp>
      <p:sp>
        <p:nvSpPr>
          <p:cNvPr id="4612" name="Google Shape;4612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3" name="Google Shape;4613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614" name="Google Shape;4614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15" name="Google Shape;4615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616" name="Google Shape;4616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617" name="Google Shape;4617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618" name="Google Shape;4618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19" name="Google Shape;4619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20" name="Google Shape;4620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1" name="Google Shape;4621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22" name="Google Shape;4622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23" name="Google Shape;4623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25" name="Google Shape;4625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26" name="Google Shape;4626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27" name="Google Shape;4627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8" name="Google Shape;4628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30" name="Google Shape;4630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31" name="Google Shape;4631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32" name="Google Shape;4632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33" name="Google Shape;4633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4634" name="Google Shape;4634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5" name="Google Shape;4635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637" name="Google Shape;4637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38" name="Google Shape;4638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639" name="Google Shape;4639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0" name="Google Shape;4640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41" name="Google Shape;4641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2" name="Google Shape;4642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43" name="Google Shape;4643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644" name="Google Shape;4644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45" name="Google Shape;4645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46" name="Google Shape;4646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47" name="Google Shape;4647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4648" name="Google Shape;4648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9" name="Google Shape;4649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50" name="Google Shape;4650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51" name="Google Shape;4651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52" name="Google Shape;4652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653" name="Google Shape;4653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54" name="Google Shape;4654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55" name="Google Shape;4655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6" name="Google Shape;4656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57" name="Google Shape;4657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658" name="Google Shape;4658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659" name="Google Shape;4659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660" name="Google Shape;4660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61" name="Google Shape;4661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62" name="Google Shape;4662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3" name="Google Shape;4663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664" name="Google Shape;4664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65" name="Google Shape;4665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66" name="Google Shape;4666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67" name="Google Shape;4667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68" name="Google Shape;4668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69" name="Google Shape;4669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70" name="Google Shape;4670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71" name="Google Shape;4671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72" name="Google Shape;4672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73" name="Google Shape;4673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74" name="Google Shape;4674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75" name="Google Shape;4675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676" name="Google Shape;4676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677" name="Google Shape;4677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78" name="Google Shape;4678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679" name="Google Shape;4679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80" name="Google Shape;4680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81" name="Google Shape;4681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82" name="Google Shape;4682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83" name="Google Shape;4683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684" name="Google Shape;4684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685" name="Google Shape;4685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686" name="Google Shape;4686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87" name="Google Shape;4687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88" name="Google Shape;4688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689" name="Google Shape;4689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690" name="Google Shape;4690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91" name="Google Shape;4691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2" name="Google Shape;4692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3" name="Google Shape;4693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4" name="Google Shape;4694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695" name="Google Shape;4695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6" name="Google Shape;4696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7" name="Google Shape;4697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8" name="Google Shape;4698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$-137</a:t>
            </a:r>
            <a:endParaRPr/>
          </a:p>
        </p:txBody>
      </p:sp>
      <p:sp>
        <p:nvSpPr>
          <p:cNvPr id="4699" name="Google Shape;4699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0" name="Google Shape;4700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1" name="Google Shape;4701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2" name="Google Shape;4702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703" name="Google Shape;4703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4" name="Google Shape;4704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705" name="Google Shape;4705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706" name="Google Shape;4706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$24,036 YTD gross written premium</a:t>
            </a:r>
            <a:endParaRPr/>
          </a:p>
        </p:txBody>
      </p:sp>
      <p:sp>
        <p:nvSpPr>
          <p:cNvPr id="4707" name="Google Shape;4707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708" name="Google Shape;4708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$24,173 in new business production</a:t>
            </a:r>
            <a:endParaRPr/>
          </a:p>
        </p:txBody>
      </p:sp>
      <p:sp>
        <p:nvSpPr>
          <p:cNvPr id="4709" name="Google Shape;4709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0" name="Google Shape;4710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711" name="Google Shape;4711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712" name="Google Shape;4712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 submissions with zero binds - zero conversion</a:t>
            </a:r>
            <a:endParaRPr/>
          </a:p>
        </p:txBody>
      </p:sp>
      <p:sp>
        <p:nvSpPr>
          <p:cNvPr id="4713" name="Google Shape;4713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714" name="Google Shape;4714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4715" name="Google Shape;4715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6" name="Google Shape;4716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717" name="Google Shape;4717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718" name="Google Shape;4718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50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719" name="Google Shape;4719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720" name="Google Shape;4720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$24,173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24" name="Shape 4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5" name="Google Shape;4725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6" name="Google Shape;4726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Integrity Insurance Underwriters Llc</a:t>
            </a:r>
            <a:endParaRPr/>
          </a:p>
        </p:txBody>
      </p:sp>
      <p:sp>
        <p:nvSpPr>
          <p:cNvPr id="4727" name="Google Shape;4727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Boca Raton</a:t>
            </a:r>
            <a:endParaRPr/>
          </a:p>
        </p:txBody>
      </p:sp>
      <p:sp>
        <p:nvSpPr>
          <p:cNvPr id="4728" name="Google Shape;4728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729" name="Google Shape;4729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30" name="Google Shape;4730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31" name="Google Shape;4731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32" name="Google Shape;4732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33" name="Google Shape;4733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$104,516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734" name="Google Shape;4734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$108,476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735" name="Google Shape;4735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736" name="Google Shape;4736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37" name="Google Shape;4737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38" name="Google Shape;4738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39" name="Google Shape;4739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740" name="Google Shape;4740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741" name="Google Shape;4741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2" name="Google Shape;4742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743" name="Google Shape;4743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44" name="Google Shape;4744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745" name="Google Shape;4745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47" name="Google Shape;4747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48" name="Google Shape;4748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49" name="Google Shape;4749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0" name="Google Shape;4750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51" name="Google Shape;4751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2" name="Google Shape;4752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3" name="Google Shape;4753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4" name="Google Shape;4754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5" name="Google Shape;4755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6" name="Google Shape;4756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7" name="Google Shape;4757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58" name="Google Shape;4758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9" name="Google Shape;4759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0" name="Google Shape;4760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1" name="Google Shape;4761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2" name="Google Shape;4762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3" name="Google Shape;4763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4" name="Google Shape;4764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65" name="Google Shape;4765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6" name="Google Shape;4766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7" name="Google Shape;4767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8" name="Google Shape;4768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9" name="Google Shape;4769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0" name="Google Shape;4770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1" name="Google Shape;4771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72" name="Google Shape;4772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3" name="Google Shape;4773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4" name="Google Shape;4774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5" name="Google Shape;4775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6" name="Google Shape;4776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7" name="Google Shape;4777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8" name="Google Shape;4778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79" name="Google Shape;4779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</a:t>
            </a:r>
            <a:endParaRPr/>
          </a:p>
        </p:txBody>
      </p:sp>
      <p:sp>
        <p:nvSpPr>
          <p:cNvPr id="4780" name="Google Shape;4780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</a:t>
            </a:r>
            <a:endParaRPr/>
          </a:p>
        </p:txBody>
      </p:sp>
      <p:sp>
        <p:nvSpPr>
          <p:cNvPr id="4781" name="Google Shape;4781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2" name="Google Shape;4782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3" name="Google Shape;4783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$-21,939</a:t>
            </a:r>
            <a:endParaRPr/>
          </a:p>
        </p:txBody>
      </p:sp>
      <p:sp>
        <p:nvSpPr>
          <p:cNvPr id="4784" name="Google Shape;4784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5" name="Google Shape;4785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86" name="Google Shape;4786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</a:t>
            </a:r>
            <a:endParaRPr/>
          </a:p>
        </p:txBody>
      </p:sp>
      <p:sp>
        <p:nvSpPr>
          <p:cNvPr id="4787" name="Google Shape;4787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9" name="Google Shape;4789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0" name="Google Shape;4790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$-21,939</a:t>
            </a:r>
            <a:endParaRPr/>
          </a:p>
        </p:txBody>
      </p:sp>
      <p:sp>
        <p:nvSpPr>
          <p:cNvPr id="4791" name="Google Shape;4791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2" name="Google Shape;4792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93" name="Google Shape;4793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94" name="Google Shape;4794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95" name="Google Shape;4795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96" name="Google Shape;4796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97" name="Google Shape;4797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98" name="Google Shape;4798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99" name="Google Shape;4799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0" name="Google Shape;4800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802" name="Google Shape;4802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3" name="Google Shape;4803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804" name="Google Shape;4804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06" name="Google Shape;4806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7" name="Google Shape;4807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08" name="Google Shape;4808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809" name="Google Shape;4809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10" name="Google Shape;4810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811" name="Google Shape;4811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12" name="Google Shape;4812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13" name="Google Shape;4813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4" name="Google Shape;4814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15" name="Google Shape;4815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16" name="Google Shape;4816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17" name="Google Shape;4817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18" name="Google Shape;4818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19" name="Google Shape;4819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20" name="Google Shape;4820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1" name="Google Shape;4821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22" name="Google Shape;4822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23" name="Google Shape;4823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4" name="Google Shape;4824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25" name="Google Shape;4825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6" name="Google Shape;4826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27" name="Google Shape;4827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8" name="Google Shape;4828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29" name="Google Shape;4829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30" name="Google Shape;4830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1" name="Google Shape;4831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32" name="Google Shape;4832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33" name="Google Shape;4833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4834" name="Google Shape;4834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5" name="Google Shape;4835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36" name="Google Shape;4836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837" name="Google Shape;4837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8" name="Google Shape;4838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839" name="Google Shape;4839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40" name="Google Shape;4840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4841" name="Google Shape;4841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2" name="Google Shape;4842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843" name="Google Shape;4843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44" name="Google Shape;4844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845" name="Google Shape;4845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846" name="Google Shape;4846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847" name="Google Shape;4847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848" name="Google Shape;4848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849" name="Google Shape;4849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850" name="Google Shape;4850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851" name="Google Shape;4851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852" name="Google Shape;4852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853" name="Google Shape;4853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854" name="Google Shape;4854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855" name="Google Shape;4855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856" name="Google Shape;4856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57" name="Google Shape;4857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858" name="Google Shape;4858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859" name="Google Shape;4859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60" name="Google Shape;4860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861" name="Google Shape;4861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862" name="Google Shape;4862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63" name="Google Shape;4863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64" name="Google Shape;4864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65" name="Google Shape;4865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866" name="Google Shape;4866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67" name="Google Shape;4867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868" name="Google Shape;4868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869" name="Google Shape;4869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70" name="Google Shape;4870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1" name="Google Shape;4871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2" name="Google Shape;4872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3" name="Google Shape;4873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4" name="Google Shape;4874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875" name="Google Shape;4875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6" name="Google Shape;4876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7" name="Google Shape;4877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8" name="Google Shape;4878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9" name="Google Shape;4879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4880" name="Google Shape;4880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881" name="Google Shape;4881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4882" name="Google Shape;4882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3" name="Google Shape;4883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84" name="Google Shape;4884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85" name="Google Shape;4885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 YTD gross written premium</a:t>
            </a:r>
            <a:endParaRPr/>
          </a:p>
        </p:txBody>
      </p:sp>
      <p:sp>
        <p:nvSpPr>
          <p:cNvPr id="4886" name="Google Shape;4886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87" name="Google Shape;4887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$21,939 in new business production</a:t>
            </a:r>
            <a:endParaRPr/>
          </a:p>
        </p:txBody>
      </p:sp>
      <p:sp>
        <p:nvSpPr>
          <p:cNvPr id="4888" name="Google Shape;4888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9" name="Google Shape;4889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90" name="Google Shape;4890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91" name="Google Shape;4891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2.0% hit ratio on 49 subs - needs coaching</a:t>
            </a:r>
            <a:endParaRPr/>
          </a:p>
        </p:txBody>
      </p:sp>
      <p:sp>
        <p:nvSpPr>
          <p:cNvPr id="4892" name="Google Shape;4892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93" name="Google Shape;4893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($21,939)</a:t>
            </a:r>
            <a:endParaRPr/>
          </a:p>
        </p:txBody>
      </p:sp>
      <p:sp>
        <p:nvSpPr>
          <p:cNvPr id="4894" name="Google Shape;4894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5" name="Google Shape;4895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96" name="Google Shape;4896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97" name="Google Shape;4897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(49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898" name="Google Shape;4898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99" name="Google Shape;4899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$21,939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03" name="Shape 4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4" name="Google Shape;4904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5" name="Google Shape;4905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Motive Insurance Agency Llc</a:t>
            </a:r>
            <a:endParaRPr/>
          </a:p>
        </p:txBody>
      </p:sp>
      <p:sp>
        <p:nvSpPr>
          <p:cNvPr id="4906" name="Google Shape;4906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N/A</a:t>
            </a:r>
            <a:endParaRPr/>
          </a:p>
        </p:txBody>
      </p:sp>
      <p:sp>
        <p:nvSpPr>
          <p:cNvPr id="4907" name="Google Shape;4907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908" name="Google Shape;4908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09" name="Google Shape;4909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10" name="Google Shape;4910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911" name="Google Shape;4911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12" name="Google Shape;4912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$43,280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913" name="Google Shape;4913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914" name="Google Shape;4914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915" name="Google Shape;4915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16" name="Google Shape;4916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17" name="Google Shape;4917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18" name="Google Shape;4918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919" name="Google Shape;4919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920" name="Google Shape;4920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1" name="Google Shape;4921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922" name="Google Shape;4922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23" name="Google Shape;4923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924" name="Google Shape;4924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25" name="Google Shape;4925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26" name="Google Shape;4926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927" name="Google Shape;4927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28" name="Google Shape;4928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9" name="Google Shape;4929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30" name="Google Shape;4930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1" name="Google Shape;4931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2" name="Google Shape;4932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3" name="Google Shape;4933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4" name="Google Shape;4934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5" name="Google Shape;4935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6" name="Google Shape;4936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37" name="Google Shape;4937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</a:t>
            </a:r>
            <a:endParaRPr/>
          </a:p>
        </p:txBody>
      </p:sp>
      <p:sp>
        <p:nvSpPr>
          <p:cNvPr id="4938" name="Google Shape;4938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9" name="Google Shape;4939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0" name="Google Shape;4940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</a:t>
            </a:r>
            <a:endParaRPr/>
          </a:p>
        </p:txBody>
      </p:sp>
      <p:sp>
        <p:nvSpPr>
          <p:cNvPr id="4941" name="Google Shape;4941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2" name="Google Shape;4942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3" name="Google Shape;4943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$21,672</a:t>
            </a:r>
            <a:endParaRPr/>
          </a:p>
        </p:txBody>
      </p:sp>
      <p:sp>
        <p:nvSpPr>
          <p:cNvPr id="4945" name="Google Shape;4945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6" name="Google Shape;4946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$21,672</a:t>
            </a:r>
            <a:endParaRPr/>
          </a:p>
        </p:txBody>
      </p:sp>
      <p:sp>
        <p:nvSpPr>
          <p:cNvPr id="4947" name="Google Shape;4947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8" name="Google Shape;4948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9" name="Google Shape;4949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0" name="Google Shape;4950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51" name="Google Shape;4951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2" name="Google Shape;4952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3" name="Google Shape;4953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4" name="Google Shape;4954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5" name="Google Shape;4955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6" name="Google Shape;4956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7" name="Google Shape;4957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58" name="Google Shape;4958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9" name="Google Shape;4959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0" name="Google Shape;4960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1" name="Google Shape;4961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2" name="Google Shape;4962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3" name="Google Shape;4963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4" name="Google Shape;4964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65" name="Google Shape;4965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$21,726</a:t>
            </a:r>
            <a:endParaRPr/>
          </a:p>
        </p:txBody>
      </p:sp>
      <p:sp>
        <p:nvSpPr>
          <p:cNvPr id="4966" name="Google Shape;4966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7" name="Google Shape;4967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$21,672</a:t>
            </a:r>
            <a:endParaRPr/>
          </a:p>
        </p:txBody>
      </p:sp>
      <p:sp>
        <p:nvSpPr>
          <p:cNvPr id="4968" name="Google Shape;4968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</a:t>
            </a:r>
            <a:endParaRPr/>
          </a:p>
        </p:txBody>
      </p:sp>
      <p:sp>
        <p:nvSpPr>
          <p:cNvPr id="4969" name="Google Shape;4969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0" name="Google Shape;4970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1" name="Google Shape;4971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72" name="Google Shape;4972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73" name="Google Shape;4973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74" name="Google Shape;4974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75" name="Google Shape;4975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76" name="Google Shape;4976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77" name="Google Shape;4977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78" name="Google Shape;4978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9" name="Google Shape;4979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981" name="Google Shape;4981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2" name="Google Shape;4982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983" name="Google Shape;4983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4" name="Google Shape;4984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85" name="Google Shape;4985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6" name="Google Shape;4986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9" name="Google Shape;4989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990" name="Google Shape;4990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1" name="Google Shape;4991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92" name="Google Shape;4992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3" name="Google Shape;4993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94" name="Google Shape;4994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95" name="Google Shape;4995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6" name="Google Shape;4996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97" name="Google Shape;4997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8" name="Google Shape;4998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99" name="Google Shape;4999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0" name="Google Shape;5000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01" name="Google Shape;5001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02" name="Google Shape;5002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3" name="Google Shape;5003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04" name="Google Shape;5004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5" name="Google Shape;5005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06" name="Google Shape;5006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7" name="Google Shape;5007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08" name="Google Shape;5008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009" name="Google Shape;5009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10" name="Google Shape;5010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011" name="Google Shape;5011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12" name="Google Shape;5012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13" name="Google Shape;5013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4" name="Google Shape;5014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15" name="Google Shape;5015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5016" name="Google Shape;5016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17" name="Google Shape;5017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018" name="Google Shape;5018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19" name="Google Shape;5019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20" name="Google Shape;5020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1" name="Google Shape;5021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022" name="Google Shape;5022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023" name="Google Shape;5023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024" name="Google Shape;5024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025" name="Google Shape;5025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026" name="Google Shape;5026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027" name="Google Shape;5027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028" name="Google Shape;5028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029" name="Google Shape;5029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030" name="Google Shape;5030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031" name="Google Shape;5031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032" name="Google Shape;5032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033" name="Google Shape;5033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034" name="Google Shape;5034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035" name="Google Shape;5035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36" name="Google Shape;5036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37" name="Google Shape;5037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038" name="Google Shape;5038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39" name="Google Shape;5039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040" name="Google Shape;5040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41" name="Google Shape;5041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042" name="Google Shape;5042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43" name="Google Shape;5043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44" name="Google Shape;5044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045" name="Google Shape;5045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046" name="Google Shape;5046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047" name="Google Shape;5047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5048" name="Google Shape;5048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049" name="Google Shape;5049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0" name="Google Shape;5050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1" name="Google Shape;5051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052" name="Google Shape;5052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</a:t>
            </a:r>
            <a:endParaRPr/>
          </a:p>
        </p:txBody>
      </p:sp>
      <p:sp>
        <p:nvSpPr>
          <p:cNvPr id="5053" name="Google Shape;5053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054" name="Google Shape;5054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055" name="Google Shape;5055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6" name="Google Shape;5056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7" name="Google Shape;5057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058" name="Google Shape;5058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9" name="Google Shape;5059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5060" name="Google Shape;5060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061" name="Google Shape;5061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2" name="Google Shape;5062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63" name="Google Shape;5063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64" name="Google Shape;5064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$21,726 YTD gross written premium</a:t>
            </a:r>
            <a:endParaRPr/>
          </a:p>
        </p:txBody>
      </p:sp>
      <p:sp>
        <p:nvSpPr>
          <p:cNvPr id="5065" name="Google Shape;5065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66" name="Google Shape;5066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$21,672 in renewals - strong retention</a:t>
            </a:r>
            <a:endParaRPr/>
          </a:p>
        </p:txBody>
      </p:sp>
      <p:sp>
        <p:nvSpPr>
          <p:cNvPr id="5067" name="Google Shape;5067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8" name="Google Shape;5068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69" name="Google Shape;5069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70" name="Google Shape;5070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 submissions with zero binds - zero conversion</a:t>
            </a:r>
            <a:endParaRPr/>
          </a:p>
        </p:txBody>
      </p:sp>
      <p:sp>
        <p:nvSpPr>
          <p:cNvPr id="5071" name="Google Shape;5071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72" name="Google Shape;5072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 quotes but 0 binds - follow up on pricing/coverage gaps</a:t>
            </a:r>
            <a:endParaRPr/>
          </a:p>
        </p:txBody>
      </p:sp>
      <p:sp>
        <p:nvSpPr>
          <p:cNvPr id="5073" name="Google Shape;5073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4" name="Google Shape;5074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75" name="Google Shape;5075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76" name="Google Shape;5076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41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077" name="Google Shape;5077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78" name="Google Shape;5078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82" name="Shape 5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3" name="Google Shape;5083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4" name="Google Shape;5084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Alabama Ins Agency Inc</a:t>
            </a:r>
            <a:endParaRPr/>
          </a:p>
        </p:txBody>
      </p:sp>
      <p:sp>
        <p:nvSpPr>
          <p:cNvPr id="5085" name="Google Shape;5085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AL  |  City: Birmingham</a:t>
            </a:r>
            <a:endParaRPr/>
          </a:p>
        </p:txBody>
      </p:sp>
      <p:sp>
        <p:nvSpPr>
          <p:cNvPr id="5086" name="Google Shape;5086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87" name="Google Shape;5087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88" name="Google Shape;5088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89" name="Google Shape;5089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90" name="Google Shape;5090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91" name="Google Shape;5091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$147,733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92" name="Google Shape;5092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93" name="Google Shape;5093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94" name="Google Shape;5094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95" name="Google Shape;5095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96" name="Google Shape;5096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97" name="Google Shape;5097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98" name="Google Shape;5098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99" name="Google Shape;5099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0" name="Google Shape;5100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101" name="Google Shape;5101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02" name="Google Shape;5102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103" name="Google Shape;5103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04" name="Google Shape;5104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05" name="Google Shape;5105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06" name="Google Shape;5106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07" name="Google Shape;5107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8" name="Google Shape;5108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09" name="Google Shape;5109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$-7,701</a:t>
            </a:r>
            <a:endParaRPr/>
          </a:p>
        </p:txBody>
      </p:sp>
      <p:sp>
        <p:nvSpPr>
          <p:cNvPr id="5110" name="Google Shape;5110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1" name="Google Shape;5111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2" name="Google Shape;5112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$-7,701</a:t>
            </a:r>
            <a:endParaRPr/>
          </a:p>
        </p:txBody>
      </p:sp>
      <p:sp>
        <p:nvSpPr>
          <p:cNvPr id="5113" name="Google Shape;5113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4" name="Google Shape;5114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5" name="Google Shape;5115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16" name="Google Shape;5116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$15,310</a:t>
            </a:r>
            <a:endParaRPr/>
          </a:p>
        </p:txBody>
      </p:sp>
      <p:sp>
        <p:nvSpPr>
          <p:cNvPr id="5117" name="Google Shape;5117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8" name="Google Shape;5118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9" name="Google Shape;5119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$15,310</a:t>
            </a:r>
            <a:endParaRPr/>
          </a:p>
        </p:txBody>
      </p:sp>
      <p:sp>
        <p:nvSpPr>
          <p:cNvPr id="5120" name="Google Shape;5120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$-15,310</a:t>
            </a:r>
            <a:endParaRPr/>
          </a:p>
        </p:txBody>
      </p:sp>
      <p:sp>
        <p:nvSpPr>
          <p:cNvPr id="5121" name="Google Shape;5121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2" name="Google Shape;5122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$12,699</a:t>
            </a:r>
            <a:endParaRPr/>
          </a:p>
        </p:txBody>
      </p:sp>
      <p:sp>
        <p:nvSpPr>
          <p:cNvPr id="5124" name="Google Shape;5124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5" name="Google Shape;5125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6" name="Google Shape;5126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$12,699</a:t>
            </a:r>
            <a:endParaRPr/>
          </a:p>
        </p:txBody>
      </p:sp>
      <p:sp>
        <p:nvSpPr>
          <p:cNvPr id="5127" name="Google Shape;5127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$-12,699</a:t>
            </a:r>
            <a:endParaRPr/>
          </a:p>
        </p:txBody>
      </p:sp>
      <p:sp>
        <p:nvSpPr>
          <p:cNvPr id="5128" name="Google Shape;5128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9" name="Google Shape;5129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1" name="Google Shape;5131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2" name="Google Shape;5132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3" name="Google Shape;5133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4" name="Google Shape;5134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5" name="Google Shape;5135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6" name="Google Shape;5136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8" name="Google Shape;5138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9" name="Google Shape;5139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0" name="Google Shape;5140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1" name="Google Shape;5141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2" name="Google Shape;5142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3" name="Google Shape;5143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$20,308</a:t>
            </a:r>
            <a:endParaRPr/>
          </a:p>
        </p:txBody>
      </p:sp>
      <p:sp>
        <p:nvSpPr>
          <p:cNvPr id="5145" name="Google Shape;5145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6" name="Google Shape;5146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7" name="Google Shape;5147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$20,308</a:t>
            </a:r>
            <a:endParaRPr/>
          </a:p>
        </p:txBody>
      </p:sp>
      <p:sp>
        <p:nvSpPr>
          <p:cNvPr id="5148" name="Google Shape;5148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$-28,009</a:t>
            </a:r>
            <a:endParaRPr/>
          </a:p>
        </p:txBody>
      </p:sp>
      <p:sp>
        <p:nvSpPr>
          <p:cNvPr id="5149" name="Google Shape;5149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0" name="Google Shape;5150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151" name="Google Shape;5151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52" name="Google Shape;5152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53" name="Google Shape;5153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54" name="Google Shape;5154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55" name="Google Shape;5155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56" name="Google Shape;5156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57" name="Google Shape;5157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8" name="Google Shape;5158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59" name="Google Shape;5159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60" name="Google Shape;5160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61" name="Google Shape;5161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62" name="Google Shape;5162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63" name="Google Shape;5163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164" name="Google Shape;5164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5" name="Google Shape;5165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67" name="Google Shape;5167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68" name="Google Shape;5168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69" name="Google Shape;5169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0" name="Google Shape;5170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71" name="Google Shape;5171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2" name="Google Shape;5172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73" name="Google Shape;5173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74" name="Google Shape;5174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75" name="Google Shape;5175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76" name="Google Shape;5176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77" name="Google Shape;5177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178" name="Google Shape;5178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9" name="Google Shape;5179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80" name="Google Shape;5180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81" name="Google Shape;5181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2" name="Google Shape;5182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83" name="Google Shape;5183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4" name="Google Shape;5184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85" name="Google Shape;5185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6" name="Google Shape;5186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87" name="Google Shape;5187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88" name="Google Shape;5188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9" name="Google Shape;5189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90" name="Google Shape;5190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1" name="Google Shape;5191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92" name="Google Shape;5192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3" name="Google Shape;5193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94" name="Google Shape;5194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95" name="Google Shape;5195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96" name="Google Shape;5196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197" name="Google Shape;5197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98" name="Google Shape;5198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5199" name="Google Shape;5199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0" name="Google Shape;5200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201" name="Google Shape;5201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02" name="Google Shape;5202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203" name="Google Shape;5203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204" name="Google Shape;5204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205" name="Google Shape;5205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206" name="Google Shape;5206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207" name="Google Shape;5207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208" name="Google Shape;5208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209" name="Google Shape;5209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210" name="Google Shape;5210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211" name="Google Shape;5211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212" name="Google Shape;5212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213" name="Google Shape;5213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214" name="Google Shape;5214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15" name="Google Shape;5215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216" name="Google Shape;5216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17" name="Google Shape;5217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18" name="Google Shape;5218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19" name="Google Shape;5219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20" name="Google Shape;5220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21" name="Google Shape;5221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22" name="Google Shape;5222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23" name="Google Shape;5223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24" name="Google Shape;5224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25" name="Google Shape;5225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226" name="Google Shape;5226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227" name="Google Shape;5227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228" name="Google Shape;5228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5229" name="Google Shape;5229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$-7,701</a:t>
            </a:r>
            <a:endParaRPr/>
          </a:p>
        </p:txBody>
      </p:sp>
      <p:sp>
        <p:nvSpPr>
          <p:cNvPr id="5230" name="Google Shape;5230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231" name="Google Shape;5231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232" name="Google Shape;5232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5233" name="Google Shape;5233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5234" name="Google Shape;5234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$-1,784</a:t>
            </a:r>
            <a:endParaRPr/>
          </a:p>
        </p:txBody>
      </p:sp>
      <p:sp>
        <p:nvSpPr>
          <p:cNvPr id="5235" name="Google Shape;5235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6" name="Google Shape;5236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7" name="Google Shape;5237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8" name="Google Shape;5238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5239" name="Google Shape;5239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240" name="Google Shape;5240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1" name="Google Shape;5241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242" name="Google Shape;5242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43" name="Google Shape;5243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$20,308 YTD gross written premium</a:t>
            </a:r>
            <a:endParaRPr/>
          </a:p>
        </p:txBody>
      </p:sp>
      <p:sp>
        <p:nvSpPr>
          <p:cNvPr id="5244" name="Google Shape;5244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45" name="Google Shape;5245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 hit ratio - above average conversion</a:t>
            </a:r>
            <a:endParaRPr/>
          </a:p>
        </p:txBody>
      </p:sp>
      <p:sp>
        <p:nvSpPr>
          <p:cNvPr id="5246" name="Google Shape;5246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7" name="Google Shape;5247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248" name="Google Shape;5248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49" name="Google Shape;5249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250" name="Google Shape;5250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1" name="Google Shape;5251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52" name="Google Shape;5252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53" name="Google Shape;5253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254" name="Google Shape;5254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255" name="Google Shape;5255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59" name="Shape 5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0" name="Google Shape;5260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1" name="Google Shape;5261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#29 - Family F M G Insurance LLC</a:t>
            </a:r>
            <a:endParaRPr/>
          </a:p>
        </p:txBody>
      </p:sp>
      <p:sp>
        <p:nvSpPr>
          <p:cNvPr id="5262" name="Google Shape;5262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FL  |  City: Fort Lauderdale</a:t>
            </a:r>
            <a:endParaRPr/>
          </a:p>
        </p:txBody>
      </p:sp>
      <p:sp>
        <p:nvSpPr>
          <p:cNvPr id="5263" name="Google Shape;5263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64" name="Google Shape;5264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65" name="Google Shape;5265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66" name="Google Shape;5266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67" name="Google Shape;5267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68" name="Google Shape;5268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$158,507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69" name="Google Shape;5269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$132,528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70" name="Google Shape;5270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71" name="Google Shape;5271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72" name="Google Shape;5272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73" name="Google Shape;5273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74" name="Google Shape;5274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$64,262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75" name="Google Shape;5275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76" name="Google Shape;5276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7" name="Google Shape;5277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78" name="Google Shape;5278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79" name="Google Shape;5279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80" name="Google Shape;5280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81" name="Google Shape;5281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82" name="Google Shape;5282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83" name="Google Shape;5283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84" name="Google Shape;5284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5" name="Google Shape;5285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86" name="Google Shape;5286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7" name="Google Shape;5287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8" name="Google Shape;5288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9" name="Google Shape;5289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0" name="Google Shape;5290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1" name="Google Shape;5291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2" name="Google Shape;5292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93" name="Google Shape;5293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4" name="Google Shape;5294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5" name="Google Shape;5295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6" name="Google Shape;5296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7" name="Google Shape;5297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8" name="Google Shape;5298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9" name="Google Shape;5299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00" name="Google Shape;5300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$9,774</a:t>
            </a:r>
            <a:endParaRPr/>
          </a:p>
        </p:txBody>
      </p:sp>
      <p:sp>
        <p:nvSpPr>
          <p:cNvPr id="5301" name="Google Shape;5301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2" name="Google Shape;5302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3" name="Google Shape;5303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$9,774</a:t>
            </a:r>
            <a:endParaRPr/>
          </a:p>
        </p:txBody>
      </p:sp>
      <p:sp>
        <p:nvSpPr>
          <p:cNvPr id="5304" name="Google Shape;5304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5" name="Google Shape;5305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6" name="Google Shape;5306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07" name="Google Shape;5307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8" name="Google Shape;5308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9" name="Google Shape;5309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0" name="Google Shape;5310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1" name="Google Shape;5311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2" name="Google Shape;5312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3" name="Google Shape;5313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14" name="Google Shape;5314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$10,368</a:t>
            </a:r>
            <a:endParaRPr/>
          </a:p>
        </p:txBody>
      </p:sp>
      <p:sp>
        <p:nvSpPr>
          <p:cNvPr id="5315" name="Google Shape;5315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$15,695</a:t>
            </a:r>
            <a:endParaRPr/>
          </a:p>
        </p:txBody>
      </p:sp>
      <p:sp>
        <p:nvSpPr>
          <p:cNvPr id="5316" name="Google Shape;5316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7" name="Google Shape;5317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$-5,327</a:t>
            </a:r>
            <a:endParaRPr/>
          </a:p>
        </p:txBody>
      </p:sp>
      <p:sp>
        <p:nvSpPr>
          <p:cNvPr id="5318" name="Google Shape;5318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9" name="Google Shape;5319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0" name="Google Shape;5320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$20,142</a:t>
            </a:r>
            <a:endParaRPr/>
          </a:p>
        </p:txBody>
      </p:sp>
      <p:sp>
        <p:nvSpPr>
          <p:cNvPr id="5322" name="Google Shape;5322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$15,695</a:t>
            </a:r>
            <a:endParaRPr/>
          </a:p>
        </p:txBody>
      </p:sp>
      <p:sp>
        <p:nvSpPr>
          <p:cNvPr id="5323" name="Google Shape;5323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4" name="Google Shape;5324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$4,448</a:t>
            </a:r>
            <a:endParaRPr/>
          </a:p>
        </p:txBody>
      </p:sp>
      <p:sp>
        <p:nvSpPr>
          <p:cNvPr id="5325" name="Google Shape;5325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6" name="Google Shape;5326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7" name="Google Shape;5327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29" name="Google Shape;5329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330" name="Google Shape;5330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331" name="Google Shape;5331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332" name="Google Shape;5332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33" name="Google Shape;5333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34" name="Google Shape;5334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5" name="Google Shape;5335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37" name="Google Shape;5337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38" name="Google Shape;5338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39" name="Google Shape;5339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0" name="Google Shape;5340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41" name="Google Shape;5341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2" name="Google Shape;5342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5" name="Google Shape;5345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346" name="Google Shape;5346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7" name="Google Shape;5347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48" name="Google Shape;5348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9" name="Google Shape;5349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50" name="Google Shape;5350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51" name="Google Shape;5351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52" name="Google Shape;5352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53" name="Google Shape;5353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54" name="Google Shape;5354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355" name="Google Shape;5355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6" name="Google Shape;5356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57" name="Google Shape;5357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58" name="Google Shape;5358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9" name="Google Shape;5359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60" name="Google Shape;5360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61" name="Google Shape;5361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62" name="Google Shape;5362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3" name="Google Shape;5363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64" name="Google Shape;5364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65" name="Google Shape;5365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66" name="Google Shape;5366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67" name="Google Shape;5367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68" name="Google Shape;5368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369" name="Google Shape;5369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0" name="Google Shape;5370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71" name="Google Shape;5371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5372" name="Google Shape;5372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73" name="Google Shape;5373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5374" name="Google Shape;5374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75" name="Google Shape;5375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5376" name="Google Shape;5376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7" name="Google Shape;5377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378" name="Google Shape;5378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79" name="Google Shape;5379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80" name="Google Shape;5380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81" name="Google Shape;5381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82" name="Google Shape;5382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83" name="Google Shape;5383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84" name="Google Shape;5384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85" name="Google Shape;5385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86" name="Google Shape;5386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87" name="Google Shape;5387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88" name="Google Shape;5388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89" name="Google Shape;5389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90" name="Google Shape;5390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91" name="Google Shape;5391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92" name="Google Shape;5392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93" name="Google Shape;5393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94" name="Google Shape;5394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95" name="Google Shape;5395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396" name="Google Shape;5396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97" name="Google Shape;5397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98" name="Google Shape;5398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99" name="Google Shape;5399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400" name="Google Shape;5400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401" name="Google Shape;5401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402" name="Google Shape;5402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5403" name="Google Shape;5403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5404" name="Google Shape;5404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405" name="Google Shape;5405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5406" name="Google Shape;5406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7" name="Google Shape;5407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408" name="Google Shape;5408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9" name="Google Shape;5409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$-962</a:t>
            </a:r>
            <a:endParaRPr/>
          </a:p>
        </p:txBody>
      </p:sp>
      <p:sp>
        <p:nvSpPr>
          <p:cNvPr id="5410" name="Google Shape;5410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5411" name="Google Shape;5411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2" name="Google Shape;5412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3" name="Google Shape;5413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4" name="Google Shape;5414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5415" name="Google Shape;5415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5416" name="Google Shape;5416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417" name="Google Shape;5417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8" name="Google Shape;5418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419" name="Google Shape;5419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20" name="Google Shape;5420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$20,142 YTD gross written premium</a:t>
            </a:r>
            <a:endParaRPr/>
          </a:p>
        </p:txBody>
      </p:sp>
      <p:sp>
        <p:nvSpPr>
          <p:cNvPr id="5421" name="Google Shape;5421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22" name="Google Shape;5422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$15,695 in new business production</a:t>
            </a:r>
            <a:endParaRPr/>
          </a:p>
        </p:txBody>
      </p:sp>
      <p:sp>
        <p:nvSpPr>
          <p:cNvPr id="5423" name="Google Shape;5423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4" name="Google Shape;5424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425" name="Google Shape;5425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26" name="Google Shape;5426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427" name="Google Shape;5427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28" name="Google Shape;5428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429" name="Google Shape;5429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0" name="Google Shape;5430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431" name="Google Shape;5431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432" name="Google Shape;5432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$15,695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36" name="Shape 5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7" name="Google Shape;5437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8" name="Google Shape;5438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Kirby Soar Insurance Inc</a:t>
            </a:r>
            <a:endParaRPr/>
          </a:p>
        </p:txBody>
      </p:sp>
      <p:sp>
        <p:nvSpPr>
          <p:cNvPr id="5439" name="Google Shape;5439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Plant City</a:t>
            </a:r>
            <a:endParaRPr/>
          </a:p>
        </p:txBody>
      </p:sp>
      <p:sp>
        <p:nvSpPr>
          <p:cNvPr id="5440" name="Google Shape;5440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441" name="Google Shape;5441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42" name="Google Shape;5442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43" name="Google Shape;5443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44" name="Google Shape;5444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$-19,205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45" name="Google Shape;5445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$73,637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446" name="Google Shape;5446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447" name="Google Shape;5447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448" name="Google Shape;5448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49" name="Google Shape;5449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50" name="Google Shape;5450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51" name="Google Shape;5451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52" name="Google Shape;5452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53" name="Google Shape;5453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4" name="Google Shape;5454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55" name="Google Shape;5455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56" name="Google Shape;5456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57" name="Google Shape;5457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58" name="Google Shape;5458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59" name="Google Shape;5459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60" name="Google Shape;5460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61" name="Google Shape;5461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2" name="Google Shape;5462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63" name="Google Shape;5463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</a:t>
            </a:r>
            <a:endParaRPr/>
          </a:p>
        </p:txBody>
      </p:sp>
      <p:sp>
        <p:nvSpPr>
          <p:cNvPr id="5464" name="Google Shape;5464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5" name="Google Shape;5465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</a:t>
            </a:r>
            <a:endParaRPr/>
          </a:p>
        </p:txBody>
      </p:sp>
      <p:sp>
        <p:nvSpPr>
          <p:cNvPr id="5466" name="Google Shape;5466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7" name="Google Shape;5467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$-19,205</a:t>
            </a:r>
            <a:endParaRPr/>
          </a:p>
        </p:txBody>
      </p:sp>
      <p:sp>
        <p:nvSpPr>
          <p:cNvPr id="5468" name="Google Shape;5468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9" name="Google Shape;5469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70" name="Google Shape;5470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1" name="Google Shape;5471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2" name="Google Shape;5472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3" name="Google Shape;5473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4" name="Google Shape;5474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5" name="Google Shape;5475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6" name="Google Shape;5476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9" name="Google Shape;5479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0" name="Google Shape;5480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1" name="Google Shape;5481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2" name="Google Shape;5482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3" name="Google Shape;5483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84" name="Google Shape;5484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6" name="Google Shape;5486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7" name="Google Shape;5487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8" name="Google Shape;5488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9" name="Google Shape;5489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0" name="Google Shape;5490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91" name="Google Shape;5491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3" name="Google Shape;5493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4" name="Google Shape;5494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5" name="Google Shape;5495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6" name="Google Shape;5496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7" name="Google Shape;5497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98" name="Google Shape;5498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0" name="Google Shape;5500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</a:t>
            </a:r>
            <a:endParaRPr/>
          </a:p>
        </p:txBody>
      </p:sp>
      <p:sp>
        <p:nvSpPr>
          <p:cNvPr id="5501" name="Google Shape;5501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2" name="Google Shape;5502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$-19,205</a:t>
            </a:r>
            <a:endParaRPr/>
          </a:p>
        </p:txBody>
      </p:sp>
      <p:sp>
        <p:nvSpPr>
          <p:cNvPr id="5503" name="Google Shape;5503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4" name="Google Shape;5504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505" name="Google Shape;5505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06" name="Google Shape;5506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507" name="Google Shape;5507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508" name="Google Shape;5508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509" name="Google Shape;5509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10" name="Google Shape;5510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11" name="Google Shape;5511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2" name="Google Shape;5512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514" name="Google Shape;5514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5" name="Google Shape;5515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516" name="Google Shape;5516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7" name="Google Shape;5517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18" name="Google Shape;5518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9" name="Google Shape;5519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20" name="Google Shape;5520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21" name="Google Shape;5521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2" name="Google Shape;5522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23" name="Google Shape;5523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4" name="Google Shape;5524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25" name="Google Shape;5525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6" name="Google Shape;5526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27" name="Google Shape;5527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8" name="Google Shape;5528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9" name="Google Shape;5529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30" name="Google Shape;5530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31" name="Google Shape;5531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32" name="Google Shape;5532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3" name="Google Shape;5533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34" name="Google Shape;5534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535" name="Google Shape;5535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36" name="Google Shape;5536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37" name="Google Shape;5537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38" name="Google Shape;5538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39" name="Google Shape;5539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0" name="Google Shape;5540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41" name="Google Shape;5541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42" name="Google Shape;5542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3" name="Google Shape;5543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44" name="Google Shape;5544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5" name="Google Shape;5545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46" name="Google Shape;5546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7" name="Google Shape;5547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48" name="Google Shape;5548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549" name="Google Shape;5549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50" name="Google Shape;5550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551" name="Google Shape;5551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52" name="Google Shape;5552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53" name="Google Shape;5553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4" name="Google Shape;5554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555" name="Google Shape;5555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56" name="Google Shape;5556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557" name="Google Shape;5557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558" name="Google Shape;5558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559" name="Google Shape;5559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60" name="Google Shape;5560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61" name="Google Shape;5561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62" name="Google Shape;5562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63" name="Google Shape;5563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64" name="Google Shape;5564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65" name="Google Shape;5565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66" name="Google Shape;5566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567" name="Google Shape;5567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568" name="Google Shape;5568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69" name="Google Shape;5569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70" name="Google Shape;5570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571" name="Google Shape;5571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572" name="Google Shape;5572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73" name="Google Shape;5573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574" name="Google Shape;5574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5" name="Google Shape;5575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76" name="Google Shape;5576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577" name="Google Shape;5577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578" name="Google Shape;5578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79" name="Google Shape;5579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580" name="Google Shape;5580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581" name="Google Shape;5581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82" name="Google Shape;5582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583" name="Google Shape;5583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584" name="Google Shape;5584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5" name="Google Shape;5585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6" name="Google Shape;5586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587" name="Google Shape;5587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8" name="Google Shape;5588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9" name="Google Shape;5589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0" name="Google Shape;5590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591" name="Google Shape;5591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2" name="Google Shape;5592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5593" name="Google Shape;5593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594" name="Google Shape;5594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5" name="Google Shape;5595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96" name="Google Shape;5596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97" name="Google Shape;5597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 YTD gross written premium</a:t>
            </a:r>
            <a:endParaRPr/>
          </a:p>
        </p:txBody>
      </p:sp>
      <p:sp>
        <p:nvSpPr>
          <p:cNvPr id="5598" name="Google Shape;5598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99" name="Google Shape;5599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$18,852 in renewals - strong retention</a:t>
            </a:r>
            <a:endParaRPr/>
          </a:p>
        </p:txBody>
      </p:sp>
      <p:sp>
        <p:nvSpPr>
          <p:cNvPr id="5600" name="Google Shape;5600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1" name="Google Shape;5601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602" name="Google Shape;5602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03" name="Google Shape;5603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 submissions with zero binds - zero conversion</a:t>
            </a:r>
            <a:endParaRPr/>
          </a:p>
        </p:txBody>
      </p:sp>
      <p:sp>
        <p:nvSpPr>
          <p:cNvPr id="5604" name="Google Shape;5604;p3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05" name="Google Shape;5605;p3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quotes but 0 binds - follow up on pricing/coverage gaps</a:t>
            </a:r>
            <a:endParaRPr/>
          </a:p>
        </p:txBody>
      </p:sp>
      <p:sp>
        <p:nvSpPr>
          <p:cNvPr id="5606" name="Google Shape;5606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7" name="Google Shape;5607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608" name="Google Shape;5608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609" name="Google Shape;5609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610" name="Google Shape;5610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611" name="Google Shape;5611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15" name="Shape 5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6" name="Google Shape;5616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7" name="Google Shape;5617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Insurance-ga</a:t>
            </a:r>
            <a:endParaRPr/>
          </a:p>
        </p:txBody>
      </p:sp>
      <p:sp>
        <p:nvSpPr>
          <p:cNvPr id="5618" name="Google Shape;5618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GA  |  City: Buford</a:t>
            </a:r>
            <a:endParaRPr/>
          </a:p>
        </p:txBody>
      </p:sp>
      <p:sp>
        <p:nvSpPr>
          <p:cNvPr id="5619" name="Google Shape;5619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620" name="Google Shape;5620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21" name="Google Shape;5621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22" name="Google Shape;5622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23" name="Google Shape;5623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$-10,096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24" name="Google Shape;5624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$269,493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625" name="Google Shape;5625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$72,250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626" name="Google Shape;5626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627" name="Google Shape;5627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28" name="Google Shape;5628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29" name="Google Shape;5629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30" name="Google Shape;5630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631" name="Google Shape;5631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$42,626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632" name="Google Shape;5632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3" name="Google Shape;5633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634" name="Google Shape;5634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35" name="Google Shape;5635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636" name="Google Shape;5636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37" name="Google Shape;5637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38" name="Google Shape;5638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39" name="Google Shape;5639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40" name="Google Shape;5640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1" name="Google Shape;5641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42" name="Google Shape;5642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3" name="Google Shape;5643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4" name="Google Shape;5644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5" name="Google Shape;5645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6" name="Google Shape;5646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7" name="Google Shape;5647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8" name="Google Shape;5648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49" name="Google Shape;5649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5650" name="Google Shape;5650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1" name="Google Shape;5651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2" name="Google Shape;5652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5653" name="Google Shape;5653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4" name="Google Shape;5654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5" name="Google Shape;5655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56" name="Google Shape;5656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$10,096</a:t>
            </a:r>
            <a:endParaRPr/>
          </a:p>
        </p:txBody>
      </p:sp>
      <p:sp>
        <p:nvSpPr>
          <p:cNvPr id="5657" name="Google Shape;5657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8" name="Google Shape;5658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9" name="Google Shape;5659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$10,096</a:t>
            </a:r>
            <a:endParaRPr/>
          </a:p>
        </p:txBody>
      </p:sp>
      <p:sp>
        <p:nvSpPr>
          <p:cNvPr id="5660" name="Google Shape;5660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$-10,096</a:t>
            </a:r>
            <a:endParaRPr/>
          </a:p>
        </p:txBody>
      </p:sp>
      <p:sp>
        <p:nvSpPr>
          <p:cNvPr id="5661" name="Google Shape;5661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2" name="Google Shape;5662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63" name="Google Shape;5663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$820</a:t>
            </a:r>
            <a:endParaRPr/>
          </a:p>
        </p:txBody>
      </p:sp>
      <p:sp>
        <p:nvSpPr>
          <p:cNvPr id="5664" name="Google Shape;5664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5" name="Google Shape;5665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6" name="Google Shape;5666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$820</a:t>
            </a:r>
            <a:endParaRPr/>
          </a:p>
        </p:txBody>
      </p:sp>
      <p:sp>
        <p:nvSpPr>
          <p:cNvPr id="5667" name="Google Shape;5667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8" name="Google Shape;5668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9" name="Google Shape;5669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70" name="Google Shape;5670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</a:t>
            </a:r>
            <a:endParaRPr/>
          </a:p>
        </p:txBody>
      </p:sp>
      <p:sp>
        <p:nvSpPr>
          <p:cNvPr id="5671" name="Google Shape;5671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2" name="Google Shape;5672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3" name="Google Shape;5673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</a:t>
            </a:r>
            <a:endParaRPr/>
          </a:p>
        </p:txBody>
      </p:sp>
      <p:sp>
        <p:nvSpPr>
          <p:cNvPr id="5674" name="Google Shape;5674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5" name="Google Shape;5675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6" name="Google Shape;5676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77" name="Google Shape;5677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$10,952</a:t>
            </a:r>
            <a:endParaRPr/>
          </a:p>
        </p:txBody>
      </p:sp>
      <p:sp>
        <p:nvSpPr>
          <p:cNvPr id="5678" name="Google Shape;5678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9" name="Google Shape;5679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0" name="Google Shape;5680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$10,952</a:t>
            </a:r>
            <a:endParaRPr/>
          </a:p>
        </p:txBody>
      </p:sp>
      <p:sp>
        <p:nvSpPr>
          <p:cNvPr id="5681" name="Google Shape;5681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$-10,096</a:t>
            </a:r>
            <a:endParaRPr/>
          </a:p>
        </p:txBody>
      </p:sp>
      <p:sp>
        <p:nvSpPr>
          <p:cNvPr id="5682" name="Google Shape;5682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3" name="Google Shape;5683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684" name="Google Shape;5684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85" name="Google Shape;5685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686" name="Google Shape;5686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687" name="Google Shape;5687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688" name="Google Shape;5688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89" name="Google Shape;5689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90" name="Google Shape;5690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1" name="Google Shape;5691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92" name="Google Shape;5692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93" name="Google Shape;5693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94" name="Google Shape;5694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95" name="Google Shape;5695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96" name="Google Shape;5696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97" name="Google Shape;5697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8" name="Google Shape;5698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99" name="Google Shape;5699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00" name="Google Shape;5700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1" name="Google Shape;5701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02" name="Google Shape;5702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3" name="Google Shape;5703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04" name="Google Shape;5704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5" name="Google Shape;5705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06" name="Google Shape;5706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07" name="Google Shape;5707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8" name="Google Shape;5708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09" name="Google Shape;5709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10" name="Google Shape;5710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5711" name="Google Shape;5711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2" name="Google Shape;5712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13" name="Google Shape;5713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14" name="Google Shape;5714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5" name="Google Shape;5715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16" name="Google Shape;5716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17" name="Google Shape;5717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718" name="Google Shape;5718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9" name="Google Shape;5719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20" name="Google Shape;5720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21" name="Google Shape;5721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2" name="Google Shape;5722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23" name="Google Shape;5723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24" name="Google Shape;5724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725" name="Google Shape;5725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6" name="Google Shape;5726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27" name="Google Shape;5727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28" name="Google Shape;5728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9" name="Google Shape;5729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30" name="Google Shape;5730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31" name="Google Shape;5731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5732" name="Google Shape;5732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3" name="Google Shape;5733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734" name="Google Shape;5734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35" name="Google Shape;5735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736" name="Google Shape;5736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737" name="Google Shape;5737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738" name="Google Shape;5738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739" name="Google Shape;5739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740" name="Google Shape;5740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741" name="Google Shape;5741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742" name="Google Shape;5742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743" name="Google Shape;5743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744" name="Google Shape;5744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745" name="Google Shape;5745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746" name="Google Shape;5746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747" name="Google Shape;5747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48" name="Google Shape;5748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749" name="Google Shape;5749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50" name="Google Shape;5750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751" name="Google Shape;5751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52" name="Google Shape;5752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53" name="Google Shape;5753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54" name="Google Shape;5754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55" name="Google Shape;5755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56" name="Google Shape;5756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57" name="Google Shape;5757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58" name="Google Shape;5758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759" name="Google Shape;5759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760" name="Google Shape;5760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761" name="Google Shape;5761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$140K</a:t>
            </a:r>
            <a:endParaRPr/>
          </a:p>
        </p:txBody>
      </p:sp>
      <p:sp>
        <p:nvSpPr>
          <p:cNvPr id="5762" name="Google Shape;5762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3" name="Google Shape;5763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5764" name="Google Shape;5764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5765" name="Google Shape;5765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$-18,222</a:t>
            </a:r>
            <a:endParaRPr/>
          </a:p>
        </p:txBody>
      </p:sp>
      <p:sp>
        <p:nvSpPr>
          <p:cNvPr id="5766" name="Google Shape;5766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5767" name="Google Shape;5767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5768" name="Google Shape;5768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$820</a:t>
            </a:r>
            <a:endParaRPr/>
          </a:p>
        </p:txBody>
      </p:sp>
      <p:sp>
        <p:nvSpPr>
          <p:cNvPr id="5769" name="Google Shape;5769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770" name="Google Shape;5770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</a:t>
            </a:r>
            <a:endParaRPr/>
          </a:p>
        </p:txBody>
      </p:sp>
      <p:sp>
        <p:nvSpPr>
          <p:cNvPr id="5771" name="Google Shape;5771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$208K</a:t>
            </a:r>
            <a:endParaRPr/>
          </a:p>
        </p:txBody>
      </p:sp>
      <p:sp>
        <p:nvSpPr>
          <p:cNvPr id="5772" name="Google Shape;5772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5773" name="Google Shape;5773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4" name="Google Shape;5774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775" name="Google Shape;5775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76" name="Google Shape;5776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$10,952 YTD gross written premium</a:t>
            </a:r>
            <a:endParaRPr/>
          </a:p>
        </p:txBody>
      </p:sp>
      <p:sp>
        <p:nvSpPr>
          <p:cNvPr id="5777" name="Google Shape;5777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78" name="Google Shape;5778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 hit ratio - above average conversion</a:t>
            </a:r>
            <a:endParaRPr/>
          </a:p>
        </p:txBody>
      </p:sp>
      <p:sp>
        <p:nvSpPr>
          <p:cNvPr id="5779" name="Google Shape;5779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0" name="Google Shape;5780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781" name="Google Shape;5781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82" name="Google Shape;5782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97% month-over-month</a:t>
            </a:r>
            <a:endParaRPr/>
          </a:p>
        </p:txBody>
      </p:sp>
      <p:sp>
        <p:nvSpPr>
          <p:cNvPr id="5783" name="Google Shape;5783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84" name="Google Shape;5784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785" name="Google Shape;5785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6" name="Google Shape;5786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787" name="Google Shape;5787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788" name="Google Shape;5788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92" name="Shape 5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3" name="Google Shape;5793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4" name="Google Shape;5794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Checker Associates, Llc</a:t>
            </a:r>
            <a:endParaRPr/>
          </a:p>
        </p:txBody>
      </p:sp>
      <p:sp>
        <p:nvSpPr>
          <p:cNvPr id="5795" name="Google Shape;5795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Georgia  |  City: Loganville</a:t>
            </a:r>
            <a:endParaRPr/>
          </a:p>
        </p:txBody>
      </p:sp>
      <p:sp>
        <p:nvSpPr>
          <p:cNvPr id="5796" name="Google Shape;5796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97" name="Google Shape;5797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98" name="Google Shape;5798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99" name="Google Shape;5799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00" name="Google Shape;5800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01" name="Google Shape;5801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$47,509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802" name="Google Shape;5802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$55,989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803" name="Google Shape;5803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804" name="Google Shape;5804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05" name="Google Shape;5805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06" name="Google Shape;5806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07" name="Google Shape;5807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808" name="Google Shape;5808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$54,268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809" name="Google Shape;5809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0" name="Google Shape;5810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811" name="Google Shape;5811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12" name="Google Shape;5812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813" name="Google Shape;5813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14" name="Google Shape;5814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15" name="Google Shape;5815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16" name="Google Shape;5816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17" name="Google Shape;5817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8" name="Google Shape;5818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19" name="Google Shape;5819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0" name="Google Shape;5820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1" name="Google Shape;5821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2" name="Google Shape;5822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3" name="Google Shape;5823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4" name="Google Shape;5824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5" name="Google Shape;5825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26" name="Google Shape;5826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7" name="Google Shape;5827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8" name="Google Shape;5828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9" name="Google Shape;5829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0" name="Google Shape;5830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1" name="Google Shape;5831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2" name="Google Shape;5832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33" name="Google Shape;5833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</a:t>
            </a:r>
            <a:endParaRPr/>
          </a:p>
        </p:txBody>
      </p:sp>
      <p:sp>
        <p:nvSpPr>
          <p:cNvPr id="5834" name="Google Shape;5834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5" name="Google Shape;5835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6" name="Google Shape;5836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</a:t>
            </a:r>
            <a:endParaRPr/>
          </a:p>
        </p:txBody>
      </p:sp>
      <p:sp>
        <p:nvSpPr>
          <p:cNvPr id="5837" name="Google Shape;5837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8" name="Google Shape;5838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9" name="Google Shape;5839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40" name="Google Shape;5840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$2,013</a:t>
            </a:r>
            <a:endParaRPr/>
          </a:p>
        </p:txBody>
      </p:sp>
      <p:sp>
        <p:nvSpPr>
          <p:cNvPr id="5841" name="Google Shape;5841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2" name="Google Shape;5842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3" name="Google Shape;5843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$2,013</a:t>
            </a:r>
            <a:endParaRPr/>
          </a:p>
        </p:txBody>
      </p:sp>
      <p:sp>
        <p:nvSpPr>
          <p:cNvPr id="5844" name="Google Shape;5844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5" name="Google Shape;5845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6" name="Google Shape;5846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47" name="Google Shape;5847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$6,411</a:t>
            </a:r>
            <a:endParaRPr/>
          </a:p>
        </p:txBody>
      </p:sp>
      <p:sp>
        <p:nvSpPr>
          <p:cNvPr id="5848" name="Google Shape;5848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$4,546</a:t>
            </a:r>
            <a:endParaRPr/>
          </a:p>
        </p:txBody>
      </p:sp>
      <p:sp>
        <p:nvSpPr>
          <p:cNvPr id="5849" name="Google Shape;5849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0" name="Google Shape;5850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$1,866</a:t>
            </a:r>
            <a:endParaRPr/>
          </a:p>
        </p:txBody>
      </p:sp>
      <p:sp>
        <p:nvSpPr>
          <p:cNvPr id="5851" name="Google Shape;5851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2" name="Google Shape;5852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3" name="Google Shape;5853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54" name="Google Shape;5854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$8,480</a:t>
            </a:r>
            <a:endParaRPr/>
          </a:p>
        </p:txBody>
      </p:sp>
      <p:sp>
        <p:nvSpPr>
          <p:cNvPr id="5855" name="Google Shape;5855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$4,546</a:t>
            </a:r>
            <a:endParaRPr/>
          </a:p>
        </p:txBody>
      </p:sp>
      <p:sp>
        <p:nvSpPr>
          <p:cNvPr id="5856" name="Google Shape;5856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7" name="Google Shape;5857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$3,934</a:t>
            </a:r>
            <a:endParaRPr/>
          </a:p>
        </p:txBody>
      </p:sp>
      <p:sp>
        <p:nvSpPr>
          <p:cNvPr id="5858" name="Google Shape;5858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9" name="Google Shape;5859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0" name="Google Shape;5860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861" name="Google Shape;5861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62" name="Google Shape;5862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863" name="Google Shape;5863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864" name="Google Shape;5864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865" name="Google Shape;5865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66" name="Google Shape;5866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67" name="Google Shape;5867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8" name="Google Shape;5868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69" name="Google Shape;5869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870" name="Google Shape;5870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71" name="Google Shape;5871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872" name="Google Shape;5872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73" name="Google Shape;5873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74" name="Google Shape;5874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5" name="Google Shape;5875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76" name="Google Shape;5876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77" name="Google Shape;5877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78" name="Google Shape;5878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79" name="Google Shape;5879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80" name="Google Shape;5880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81" name="Google Shape;5881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2" name="Google Shape;5882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83" name="Google Shape;5883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84" name="Google Shape;5884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85" name="Google Shape;5885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86" name="Google Shape;5886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87" name="Google Shape;5887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888" name="Google Shape;5888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9" name="Google Shape;5889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90" name="Google Shape;5890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891" name="Google Shape;5891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92" name="Google Shape;5892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893" name="Google Shape;5893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94" name="Google Shape;5894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5895" name="Google Shape;5895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6" name="Google Shape;5896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97" name="Google Shape;5897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98" name="Google Shape;5898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99" name="Google Shape;5899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00" name="Google Shape;5900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01" name="Google Shape;5901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5902" name="Google Shape;5902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3" name="Google Shape;5903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04" name="Google Shape;5904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5905" name="Google Shape;5905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06" name="Google Shape;5906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5907" name="Google Shape;5907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08" name="Google Shape;5908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5909" name="Google Shape;5909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0" name="Google Shape;5910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911" name="Google Shape;5911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12" name="Google Shape;5912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913" name="Google Shape;5913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914" name="Google Shape;5914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915" name="Google Shape;5915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916" name="Google Shape;5916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917" name="Google Shape;5917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918" name="Google Shape;5918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919" name="Google Shape;5919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920" name="Google Shape;5920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921" name="Google Shape;5921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922" name="Google Shape;5922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923" name="Google Shape;5923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924" name="Google Shape;5924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25" name="Google Shape;5925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26" name="Google Shape;5926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927" name="Google Shape;5927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28" name="Google Shape;5928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29" name="Google Shape;5929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30" name="Google Shape;5930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31" name="Google Shape;5931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32" name="Google Shape;5932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933" name="Google Shape;5933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34" name="Google Shape;5934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35" name="Google Shape;5935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36" name="Google Shape;5936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5937" name="Google Shape;5937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938" name="Google Shape;5938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9" name="Google Shape;5939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0" name="Google Shape;5940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1" name="Google Shape;5941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2" name="Google Shape;5942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3" name="Google Shape;5943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</a:t>
            </a:r>
            <a:endParaRPr/>
          </a:p>
        </p:txBody>
      </p:sp>
      <p:sp>
        <p:nvSpPr>
          <p:cNvPr id="5944" name="Google Shape;5944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5" name="Google Shape;5945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946" name="Google Shape;5946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7" name="Google Shape;5947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948" name="Google Shape;5948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9" name="Google Shape;5949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5950" name="Google Shape;5950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1" name="Google Shape;5951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952" name="Google Shape;5952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53" name="Google Shape;5953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$8,480 YTD gross written premium</a:t>
            </a:r>
            <a:endParaRPr/>
          </a:p>
        </p:txBody>
      </p:sp>
      <p:sp>
        <p:nvSpPr>
          <p:cNvPr id="5954" name="Google Shape;5954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55" name="Google Shape;5955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$4,546 in new business production</a:t>
            </a:r>
            <a:endParaRPr/>
          </a:p>
        </p:txBody>
      </p:sp>
      <p:sp>
        <p:nvSpPr>
          <p:cNvPr id="5956" name="Google Shape;5956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7" name="Google Shape;5957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958" name="Google Shape;5958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59" name="Google Shape;5959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960" name="Google Shape;5960;p3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61" name="Google Shape;5961;p3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962" name="Google Shape;5962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3" name="Google Shape;5963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964" name="Google Shape;5964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965" name="Google Shape;5965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$4,546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966" name="Google Shape;5966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967" name="Google Shape;5967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71" name="Shape 5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2" name="Google Shape;5972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3" name="Google Shape;5973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Corporate Insurance Group LLC</a:t>
            </a:r>
            <a:endParaRPr/>
          </a:p>
        </p:txBody>
      </p:sp>
      <p:sp>
        <p:nvSpPr>
          <p:cNvPr id="5974" name="Google Shape;5974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TN  |  City: Arlington</a:t>
            </a:r>
            <a:endParaRPr/>
          </a:p>
        </p:txBody>
      </p:sp>
      <p:sp>
        <p:nvSpPr>
          <p:cNvPr id="5975" name="Google Shape;5975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976" name="Google Shape;5976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77" name="Google Shape;5977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78" name="Google Shape;5978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79" name="Google Shape;5979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80" name="Google Shape;5980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$38,965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981" name="Google Shape;5981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982" name="Google Shape;5982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983" name="Google Shape;5983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84" name="Google Shape;5984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85" name="Google Shape;5985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86" name="Google Shape;5986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987" name="Google Shape;5987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988" name="Google Shape;5988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9" name="Google Shape;5989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990" name="Google Shape;5990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91" name="Google Shape;5991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992" name="Google Shape;5992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93" name="Google Shape;5993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94" name="Google Shape;5994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95" name="Google Shape;5995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96" name="Google Shape;5996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7" name="Google Shape;5997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98" name="Google Shape;5998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$7,372</a:t>
            </a:r>
            <a:endParaRPr/>
          </a:p>
        </p:txBody>
      </p:sp>
      <p:sp>
        <p:nvSpPr>
          <p:cNvPr id="5999" name="Google Shape;5999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0" name="Google Shape;6000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1" name="Google Shape;6001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$7,372</a:t>
            </a:r>
            <a:endParaRPr/>
          </a:p>
        </p:txBody>
      </p:sp>
      <p:sp>
        <p:nvSpPr>
          <p:cNvPr id="6002" name="Google Shape;6002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3" name="Google Shape;6003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4" name="Google Shape;6004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05" name="Google Shape;6005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6" name="Google Shape;6006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7" name="Google Shape;6007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8" name="Google Shape;6008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9" name="Google Shape;6009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0" name="Google Shape;6010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1" name="Google Shape;6011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12" name="Google Shape;6012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</a:t>
            </a:r>
            <a:endParaRPr/>
          </a:p>
        </p:txBody>
      </p:sp>
      <p:sp>
        <p:nvSpPr>
          <p:cNvPr id="6013" name="Google Shape;6013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4" name="Google Shape;6014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5" name="Google Shape;6015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</a:t>
            </a:r>
            <a:endParaRPr/>
          </a:p>
        </p:txBody>
      </p:sp>
      <p:sp>
        <p:nvSpPr>
          <p:cNvPr id="6016" name="Google Shape;6016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7" name="Google Shape;6017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8" name="Google Shape;6018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19" name="Google Shape;6019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</a:t>
            </a:r>
            <a:endParaRPr/>
          </a:p>
        </p:txBody>
      </p:sp>
      <p:sp>
        <p:nvSpPr>
          <p:cNvPr id="6020" name="Google Shape;6020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1" name="Google Shape;6021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2" name="Google Shape;6022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</a:t>
            </a:r>
            <a:endParaRPr/>
          </a:p>
        </p:txBody>
      </p:sp>
      <p:sp>
        <p:nvSpPr>
          <p:cNvPr id="6023" name="Google Shape;6023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4" name="Google Shape;6024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5" name="Google Shape;6025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26" name="Google Shape;6026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7" name="Google Shape;6027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8" name="Google Shape;6028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9" name="Google Shape;6029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0" name="Google Shape;6030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1" name="Google Shape;6031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2" name="Google Shape;6032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33" name="Google Shape;6033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$7,377</a:t>
            </a:r>
            <a:endParaRPr/>
          </a:p>
        </p:txBody>
      </p:sp>
      <p:sp>
        <p:nvSpPr>
          <p:cNvPr id="6034" name="Google Shape;6034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5" name="Google Shape;6035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6" name="Google Shape;6036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$7,377</a:t>
            </a:r>
            <a:endParaRPr/>
          </a:p>
        </p:txBody>
      </p:sp>
      <p:sp>
        <p:nvSpPr>
          <p:cNvPr id="6037" name="Google Shape;6037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8" name="Google Shape;6038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9" name="Google Shape;6039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040" name="Google Shape;6040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41" name="Google Shape;6041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042" name="Google Shape;6042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043" name="Google Shape;6043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044" name="Google Shape;6044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45" name="Google Shape;6045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46" name="Google Shape;6046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7" name="Google Shape;6047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48" name="Google Shape;6048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49" name="Google Shape;6049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0" name="Google Shape;6050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51" name="Google Shape;6051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2" name="Google Shape;6052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53" name="Google Shape;6053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4" name="Google Shape;6054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55" name="Google Shape;6055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56" name="Google Shape;6056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7" name="Google Shape;6057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58" name="Google Shape;6058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59" name="Google Shape;6059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060" name="Google Shape;6060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1" name="Google Shape;6061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62" name="Google Shape;6062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63" name="Google Shape;6063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64" name="Google Shape;6064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65" name="Google Shape;6065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66" name="Google Shape;6066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67" name="Google Shape;6067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8" name="Google Shape;6068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69" name="Google Shape;6069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70" name="Google Shape;6070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71" name="Google Shape;6071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72" name="Google Shape;6072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73" name="Google Shape;6073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074" name="Google Shape;6074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5" name="Google Shape;6075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76" name="Google Shape;6076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77" name="Google Shape;6077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78" name="Google Shape;6078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79" name="Google Shape;6079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80" name="Google Shape;6080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81" name="Google Shape;6081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2" name="Google Shape;6082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83" name="Google Shape;6083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084" name="Google Shape;6084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85" name="Google Shape;6085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086" name="Google Shape;6086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87" name="Google Shape;6087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6088" name="Google Shape;6088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9" name="Google Shape;6089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090" name="Google Shape;6090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91" name="Google Shape;6091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092" name="Google Shape;6092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093" name="Google Shape;6093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094" name="Google Shape;6094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095" name="Google Shape;6095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096" name="Google Shape;6096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097" name="Google Shape;6097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98" name="Google Shape;6098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99" name="Google Shape;6099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100" name="Google Shape;6100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101" name="Google Shape;6101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102" name="Google Shape;6102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103" name="Google Shape;6103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04" name="Google Shape;6104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05" name="Google Shape;6105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06" name="Google Shape;6106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7" name="Google Shape;6107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08" name="Google Shape;6108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09" name="Google Shape;6109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10" name="Google Shape;6110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11" name="Google Shape;6111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12" name="Google Shape;6112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13" name="Google Shape;6113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14" name="Google Shape;6114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115" name="Google Shape;6115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116" name="Google Shape;6116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117" name="Google Shape;6117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6118" name="Google Shape;6118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6119" name="Google Shape;6119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0" name="Google Shape;6120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1" name="Google Shape;6121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$-7,163</a:t>
            </a:r>
            <a:endParaRPr/>
          </a:p>
        </p:txBody>
      </p:sp>
      <p:sp>
        <p:nvSpPr>
          <p:cNvPr id="6122" name="Google Shape;6122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</a:t>
            </a:r>
            <a:endParaRPr/>
          </a:p>
        </p:txBody>
      </p:sp>
      <p:sp>
        <p:nvSpPr>
          <p:cNvPr id="6123" name="Google Shape;6123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6124" name="Google Shape;6124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</a:t>
            </a:r>
            <a:endParaRPr/>
          </a:p>
        </p:txBody>
      </p:sp>
      <p:sp>
        <p:nvSpPr>
          <p:cNvPr id="6125" name="Google Shape;6125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126" name="Google Shape;6126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7" name="Google Shape;6127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6128" name="Google Shape;6128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6129" name="Google Shape;6129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0" name="Google Shape;6130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131" name="Google Shape;6131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32" name="Google Shape;6132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$7,377 YTD gross written premium</a:t>
            </a:r>
            <a:endParaRPr/>
          </a:p>
        </p:txBody>
      </p:sp>
      <p:sp>
        <p:nvSpPr>
          <p:cNvPr id="6133" name="Google Shape;6133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34" name="Google Shape;6134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 hit ratio - above average conversion</a:t>
            </a:r>
            <a:endParaRPr/>
          </a:p>
        </p:txBody>
      </p:sp>
      <p:sp>
        <p:nvSpPr>
          <p:cNvPr id="6135" name="Google Shape;6135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6" name="Google Shape;6136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137" name="Google Shape;6137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138" name="Google Shape;6138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139" name="Google Shape;6139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0" name="Google Shape;6140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141" name="Google Shape;6141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142" name="Google Shape;6142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143" name="Google Shape;6143;p4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144" name="Google Shape;6144;p4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48" name="Shape 6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9" name="Google Shape;6149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0" name="Google Shape;6150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Georgia's Insurance Source</a:t>
            </a:r>
            <a:endParaRPr/>
          </a:p>
        </p:txBody>
      </p:sp>
      <p:sp>
        <p:nvSpPr>
          <p:cNvPr id="6151" name="Google Shape;6151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N/A</a:t>
            </a:r>
            <a:endParaRPr/>
          </a:p>
        </p:txBody>
      </p:sp>
      <p:sp>
        <p:nvSpPr>
          <p:cNvPr id="6152" name="Google Shape;6152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153" name="Google Shape;6153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54" name="Google Shape;6154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55" name="Google Shape;6155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56" name="Google Shape;6156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$-28,459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57" name="Google Shape;6157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$65,453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158" name="Google Shape;6158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$45,800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159" name="Google Shape;6159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160" name="Google Shape;6160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61" name="Google Shape;6161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62" name="Google Shape;6162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63" name="Google Shape;6163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164" name="Google Shape;6164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165" name="Google Shape;6165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6" name="Google Shape;6166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167" name="Google Shape;6167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68" name="Google Shape;6168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169" name="Google Shape;6169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70" name="Google Shape;6170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71" name="Google Shape;6171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72" name="Google Shape;6172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73" name="Google Shape;6173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4" name="Google Shape;6174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75" name="Google Shape;6175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$1,653</a:t>
            </a:r>
            <a:endParaRPr/>
          </a:p>
        </p:txBody>
      </p:sp>
      <p:sp>
        <p:nvSpPr>
          <p:cNvPr id="6176" name="Google Shape;6176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7" name="Google Shape;6177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8" name="Google Shape;6178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$1,653</a:t>
            </a:r>
            <a:endParaRPr/>
          </a:p>
        </p:txBody>
      </p:sp>
      <p:sp>
        <p:nvSpPr>
          <p:cNvPr id="6179" name="Google Shape;6179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$-3,306</a:t>
            </a:r>
            <a:endParaRPr/>
          </a:p>
        </p:txBody>
      </p:sp>
      <p:sp>
        <p:nvSpPr>
          <p:cNvPr id="6180" name="Google Shape;6180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1" name="Google Shape;6181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82" name="Google Shape;6182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$2,576</a:t>
            </a:r>
            <a:endParaRPr/>
          </a:p>
        </p:txBody>
      </p:sp>
      <p:sp>
        <p:nvSpPr>
          <p:cNvPr id="6183" name="Google Shape;6183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4" name="Google Shape;6184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5" name="Google Shape;6185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$2,576</a:t>
            </a:r>
            <a:endParaRPr/>
          </a:p>
        </p:txBody>
      </p:sp>
      <p:sp>
        <p:nvSpPr>
          <p:cNvPr id="6186" name="Google Shape;6186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$-23,184</a:t>
            </a:r>
            <a:endParaRPr/>
          </a:p>
        </p:txBody>
      </p:sp>
      <p:sp>
        <p:nvSpPr>
          <p:cNvPr id="6187" name="Google Shape;6187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8" name="Google Shape;6188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89" name="Google Shape;6189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0" name="Google Shape;6190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1" name="Google Shape;6191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2" name="Google Shape;6192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3" name="Google Shape;6193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4" name="Google Shape;6194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5" name="Google Shape;6195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96" name="Google Shape;6196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7" name="Google Shape;6197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8" name="Google Shape;6198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9" name="Google Shape;6199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0" name="Google Shape;6200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1" name="Google Shape;6201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2" name="Google Shape;6202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03" name="Google Shape;6203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$2,275</a:t>
            </a:r>
            <a:endParaRPr/>
          </a:p>
        </p:txBody>
      </p:sp>
      <p:sp>
        <p:nvSpPr>
          <p:cNvPr id="6204" name="Google Shape;6204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$2,275</a:t>
            </a:r>
            <a:endParaRPr/>
          </a:p>
        </p:txBody>
      </p:sp>
      <p:sp>
        <p:nvSpPr>
          <p:cNvPr id="6205" name="Google Shape;6205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6" name="Google Shape;6206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7" name="Google Shape;6207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$-1,969</a:t>
            </a:r>
            <a:endParaRPr/>
          </a:p>
        </p:txBody>
      </p:sp>
      <p:sp>
        <p:nvSpPr>
          <p:cNvPr id="6208" name="Google Shape;6208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9" name="Google Shape;6209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10" name="Google Shape;6210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$6,505</a:t>
            </a:r>
            <a:endParaRPr/>
          </a:p>
        </p:txBody>
      </p:sp>
      <p:sp>
        <p:nvSpPr>
          <p:cNvPr id="6211" name="Google Shape;6211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$2,275</a:t>
            </a:r>
            <a:endParaRPr/>
          </a:p>
        </p:txBody>
      </p:sp>
      <p:sp>
        <p:nvSpPr>
          <p:cNvPr id="6212" name="Google Shape;6212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3" name="Google Shape;6213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$4,229</a:t>
            </a:r>
            <a:endParaRPr/>
          </a:p>
        </p:txBody>
      </p:sp>
      <p:sp>
        <p:nvSpPr>
          <p:cNvPr id="6214" name="Google Shape;6214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$-28,459</a:t>
            </a:r>
            <a:endParaRPr/>
          </a:p>
        </p:txBody>
      </p:sp>
      <p:sp>
        <p:nvSpPr>
          <p:cNvPr id="6215" name="Google Shape;6215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6" name="Google Shape;6216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217" name="Google Shape;6217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18" name="Google Shape;6218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219" name="Google Shape;6219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220" name="Google Shape;6220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221" name="Google Shape;6221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22" name="Google Shape;6222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23" name="Google Shape;6223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4" name="Google Shape;6224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25" name="Google Shape;6225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26" name="Google Shape;6226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7" name="Google Shape;6227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28" name="Google Shape;6228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9" name="Google Shape;6229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30" name="Google Shape;6230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1" name="Google Shape;6231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32" name="Google Shape;6232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33" name="Google Shape;6233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4" name="Google Shape;6234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35" name="Google Shape;6235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6" name="Google Shape;6236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37" name="Google Shape;6237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8" name="Google Shape;6238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39" name="Google Shape;6239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240" name="Google Shape;6240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41" name="Google Shape;6241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242" name="Google Shape;6242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43" name="Google Shape;6243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6244" name="Google Shape;6244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5" name="Google Shape;6245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46" name="Google Shape;6246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47" name="Google Shape;6247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48" name="Google Shape;6248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49" name="Google Shape;6249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50" name="Google Shape;6250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51" name="Google Shape;6251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2" name="Google Shape;6252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53" name="Google Shape;6253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54" name="Google Shape;6254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55" name="Google Shape;6255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56" name="Google Shape;6256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57" name="Google Shape;6257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6258" name="Google Shape;6258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9" name="Google Shape;6259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60" name="Google Shape;6260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261" name="Google Shape;6261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62" name="Google Shape;6262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263" name="Google Shape;6263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64" name="Google Shape;6264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6265" name="Google Shape;6265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6" name="Google Shape;6266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267" name="Google Shape;6267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268" name="Google Shape;6268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269" name="Google Shape;6269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270" name="Google Shape;6270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271" name="Google Shape;6271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272" name="Google Shape;6272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273" name="Google Shape;6273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274" name="Google Shape;6274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275" name="Google Shape;6275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276" name="Google Shape;6276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277" name="Google Shape;6277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278" name="Google Shape;6278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279" name="Google Shape;6279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280" name="Google Shape;6280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81" name="Google Shape;6281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82" name="Google Shape;6282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83" name="Google Shape;6283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284" name="Google Shape;6284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85" name="Google Shape;6285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86" name="Google Shape;6286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287" name="Google Shape;6287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88" name="Google Shape;6288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89" name="Google Shape;6289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90" name="Google Shape;6290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91" name="Google Shape;6291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292" name="Google Shape;6292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293" name="Google Shape;6293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294" name="Google Shape;6294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95" name="Google Shape;6295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296" name="Google Shape;6296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97" name="Google Shape;6297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298" name="Google Shape;6298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6299" name="Google Shape;6299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0" name="Google Shape;6300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1" name="Google Shape;6301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2" name="Google Shape;6302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3" name="Google Shape;6303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304" name="Google Shape;6304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6305" name="Google Shape;6305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6306" name="Google Shape;6306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7" name="Google Shape;6307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308" name="Google Shape;6308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309" name="Google Shape;6309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$6,505 YTD gross written premium</a:t>
            </a:r>
            <a:endParaRPr/>
          </a:p>
        </p:txBody>
      </p:sp>
      <p:sp>
        <p:nvSpPr>
          <p:cNvPr id="6310" name="Google Shape;6310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311" name="Google Shape;6311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$2,275 in new business production</a:t>
            </a:r>
            <a:endParaRPr/>
          </a:p>
        </p:txBody>
      </p:sp>
      <p:sp>
        <p:nvSpPr>
          <p:cNvPr id="6312" name="Google Shape;6312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3" name="Google Shape;6313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314" name="Google Shape;6314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315" name="Google Shape;6315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2.7% hit ratio on 37 subs - needs coaching</a:t>
            </a:r>
            <a:endParaRPr/>
          </a:p>
        </p:txBody>
      </p:sp>
      <p:sp>
        <p:nvSpPr>
          <p:cNvPr id="6316" name="Google Shape;6316;p4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317" name="Google Shape;6317;p4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1251% of new business ($28,459)</a:t>
            </a:r>
            <a:endParaRPr/>
          </a:p>
        </p:txBody>
      </p:sp>
      <p:sp>
        <p:nvSpPr>
          <p:cNvPr id="6318" name="Google Shape;6318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9" name="Google Shape;6319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320" name="Google Shape;6320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321" name="Google Shape;6321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(37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6322" name="Google Shape;6322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323" name="Google Shape;6323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$2,275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27" name="Shape 6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8" name="Google Shape;6328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9" name="Google Shape;6329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Nikolov Agency, Llc</a:t>
            </a:r>
            <a:endParaRPr/>
          </a:p>
        </p:txBody>
      </p:sp>
      <p:sp>
        <p:nvSpPr>
          <p:cNvPr id="6330" name="Google Shape;6330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N/A</a:t>
            </a:r>
            <a:endParaRPr/>
          </a:p>
        </p:txBody>
      </p:sp>
      <p:sp>
        <p:nvSpPr>
          <p:cNvPr id="6331" name="Google Shape;6331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332" name="Google Shape;6332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33" name="Google Shape;6333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34" name="Google Shape;6334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35" name="Google Shape;6335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$-8,403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36" name="Google Shape;6336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$233,634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337" name="Google Shape;6337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$217,495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338" name="Google Shape;6338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339" name="Google Shape;6339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40" name="Google Shape;6340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41" name="Google Shape;6341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42" name="Google Shape;6342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343" name="Google Shape;6343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344" name="Google Shape;6344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5" name="Google Shape;6345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346" name="Google Shape;6346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47" name="Google Shape;6347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348" name="Google Shape;6348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49" name="Google Shape;6349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50" name="Google Shape;6350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51" name="Google Shape;6351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52" name="Google Shape;6352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3" name="Google Shape;6353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54" name="Google Shape;6354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$4,174</a:t>
            </a:r>
            <a:endParaRPr/>
          </a:p>
        </p:txBody>
      </p:sp>
      <p:sp>
        <p:nvSpPr>
          <p:cNvPr id="6355" name="Google Shape;6355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6" name="Google Shape;6356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7" name="Google Shape;6357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$4,174</a:t>
            </a:r>
            <a:endParaRPr/>
          </a:p>
        </p:txBody>
      </p:sp>
      <p:sp>
        <p:nvSpPr>
          <p:cNvPr id="6358" name="Google Shape;6358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$-8,403</a:t>
            </a:r>
            <a:endParaRPr/>
          </a:p>
        </p:txBody>
      </p:sp>
      <p:sp>
        <p:nvSpPr>
          <p:cNvPr id="6359" name="Google Shape;6359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0" name="Google Shape;6360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61" name="Google Shape;6361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2" name="Google Shape;6362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3" name="Google Shape;6363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4" name="Google Shape;6364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5" name="Google Shape;6365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6" name="Google Shape;6366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7" name="Google Shape;6367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68" name="Google Shape;6368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9" name="Google Shape;6369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0" name="Google Shape;6370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1" name="Google Shape;6371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2" name="Google Shape;6372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3" name="Google Shape;6373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4" name="Google Shape;6374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75" name="Google Shape;6375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6" name="Google Shape;6376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7" name="Google Shape;6377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8" name="Google Shape;6378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9" name="Google Shape;6379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0" name="Google Shape;6380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1" name="Google Shape;6381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82" name="Google Shape;6382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3" name="Google Shape;6383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4" name="Google Shape;6384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5" name="Google Shape;6385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6" name="Google Shape;6386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7" name="Google Shape;6387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8" name="Google Shape;6388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89" name="Google Shape;6389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$4,174</a:t>
            </a:r>
            <a:endParaRPr/>
          </a:p>
        </p:txBody>
      </p:sp>
      <p:sp>
        <p:nvSpPr>
          <p:cNvPr id="6390" name="Google Shape;6390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91" name="Google Shape;6391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92" name="Google Shape;6392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$4,174</a:t>
            </a:r>
            <a:endParaRPr/>
          </a:p>
        </p:txBody>
      </p:sp>
      <p:sp>
        <p:nvSpPr>
          <p:cNvPr id="6393" name="Google Shape;6393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$-8,403</a:t>
            </a:r>
            <a:endParaRPr/>
          </a:p>
        </p:txBody>
      </p:sp>
      <p:sp>
        <p:nvSpPr>
          <p:cNvPr id="6394" name="Google Shape;6394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5" name="Google Shape;6395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396" name="Google Shape;6396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97" name="Google Shape;6397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398" name="Google Shape;6398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399" name="Google Shape;6399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400" name="Google Shape;6400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01" name="Google Shape;6401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02" name="Google Shape;6402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3" name="Google Shape;6403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04" name="Google Shape;6404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6405" name="Google Shape;6405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06" name="Google Shape;6406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407" name="Google Shape;6407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08" name="Google Shape;6408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09" name="Google Shape;6409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0" name="Google Shape;6410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11" name="Google Shape;6411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412" name="Google Shape;6412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13" name="Google Shape;6413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414" name="Google Shape;6414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15" name="Google Shape;6415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16" name="Google Shape;6416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7" name="Google Shape;6417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18" name="Google Shape;6418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419" name="Google Shape;6419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20" name="Google Shape;6420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421" name="Google Shape;6421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2" name="Google Shape;6422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23" name="Google Shape;6423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4" name="Google Shape;6424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425" name="Google Shape;6425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426" name="Google Shape;6426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27" name="Google Shape;6427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428" name="Google Shape;6428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9" name="Google Shape;6429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30" name="Google Shape;6430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1" name="Google Shape;6431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432" name="Google Shape;6432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433" name="Google Shape;6433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4" name="Google Shape;6434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435" name="Google Shape;6435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6" name="Google Shape;6436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37" name="Google Shape;6437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8" name="Google Shape;6438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39" name="Google Shape;6439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6440" name="Google Shape;6440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441" name="Google Shape;6441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163</a:t>
            </a:r>
            <a:endParaRPr/>
          </a:p>
        </p:txBody>
      </p:sp>
      <p:sp>
        <p:nvSpPr>
          <p:cNvPr id="6442" name="Google Shape;6442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43" name="Google Shape;6443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44" name="Google Shape;6444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5" name="Google Shape;6445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446" name="Google Shape;6446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47" name="Google Shape;6447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448" name="Google Shape;6448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449" name="Google Shape;6449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450" name="Google Shape;6450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451" name="Google Shape;6451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452" name="Google Shape;6452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453" name="Google Shape;6453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454" name="Google Shape;6454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455" name="Google Shape;6455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456" name="Google Shape;6456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457" name="Google Shape;6457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458" name="Google Shape;6458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459" name="Google Shape;6459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60" name="Google Shape;6460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461" name="Google Shape;6461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6462" name="Google Shape;6462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463" name="Google Shape;6463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464" name="Google Shape;6464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465" name="Google Shape;6465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466" name="Google Shape;6466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6467" name="Google Shape;6467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468" name="Google Shape;6468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6469" name="Google Shape;6469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470" name="Google Shape;6470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6471" name="Google Shape;6471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6472" name="Google Shape;6472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473" name="Google Shape;6473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4" name="Google Shape;6474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475" name="Google Shape;6475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6" name="Google Shape;6476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7" name="Google Shape;6477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8" name="Google Shape;6478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9" name="Google Shape;6479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480" name="Google Shape;6480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1" name="Google Shape;6481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2" name="Google Shape;6482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3" name="Google Shape;6483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484" name="Google Shape;6484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485" name="Google Shape;6485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6" name="Google Shape;6486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487" name="Google Shape;6487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88" name="Google Shape;6488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$4,174 YTD gross written premium</a:t>
            </a:r>
            <a:endParaRPr/>
          </a:p>
        </p:txBody>
      </p:sp>
      <p:sp>
        <p:nvSpPr>
          <p:cNvPr id="6489" name="Google Shape;6489;p4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90" name="Google Shape;6490;p4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 submissions - highly active agency</a:t>
            </a:r>
            <a:endParaRPr/>
          </a:p>
        </p:txBody>
      </p:sp>
      <p:sp>
        <p:nvSpPr>
          <p:cNvPr id="6491" name="Google Shape;6491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2" name="Google Shape;6492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493" name="Google Shape;6493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94" name="Google Shape;6494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 submissions with zero binds - zero conversion</a:t>
            </a:r>
            <a:endParaRPr/>
          </a:p>
        </p:txBody>
      </p:sp>
      <p:sp>
        <p:nvSpPr>
          <p:cNvPr id="6495" name="Google Shape;6495;p4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96" name="Google Shape;6496;p4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 quotes but 0 binds - follow up on pricing/coverage gaps</a:t>
            </a:r>
            <a:endParaRPr/>
          </a:p>
        </p:txBody>
      </p:sp>
      <p:sp>
        <p:nvSpPr>
          <p:cNvPr id="6497" name="Google Shape;6497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8" name="Google Shape;6498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499" name="Google Shape;6499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500" name="Google Shape;6500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171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501" name="Google Shape;6501;p4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502" name="Google Shape;6502;p4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108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06" name="Shape 6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7" name="Google Shape;6507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8" name="Google Shape;6508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Insurance &amp; More, Corp</a:t>
            </a:r>
            <a:endParaRPr/>
          </a:p>
        </p:txBody>
      </p:sp>
      <p:sp>
        <p:nvSpPr>
          <p:cNvPr id="6509" name="Google Shape;6509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</a:t>
            </a:r>
            <a:endParaRPr/>
          </a:p>
        </p:txBody>
      </p:sp>
      <p:sp>
        <p:nvSpPr>
          <p:cNvPr id="6510" name="Google Shape;6510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511" name="Google Shape;6511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512" name="Google Shape;6512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513" name="Google Shape;6513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514" name="Google Shape;6514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515" name="Google Shape;6515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$85,392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516" name="Google Shape;6516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$45,823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517" name="Google Shape;6517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518" name="Google Shape;6518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19" name="Google Shape;6519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20" name="Google Shape;6520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21" name="Google Shape;6521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522" name="Google Shape;6522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523" name="Google Shape;6523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4" name="Google Shape;6524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525" name="Google Shape;6525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26" name="Google Shape;6526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527" name="Google Shape;6527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528" name="Google Shape;6528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529" name="Google Shape;6529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530" name="Google Shape;6530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531" name="Google Shape;6531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2" name="Google Shape;6532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33" name="Google Shape;6533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6534" name="Google Shape;6534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5" name="Google Shape;6535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6" name="Google Shape;6536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6537" name="Google Shape;6537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$-4,160</a:t>
            </a:r>
            <a:endParaRPr/>
          </a:p>
        </p:txBody>
      </p:sp>
      <p:sp>
        <p:nvSpPr>
          <p:cNvPr id="6538" name="Google Shape;6538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9" name="Google Shape;6539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40" name="Google Shape;6540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1" name="Google Shape;6541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2" name="Google Shape;6542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3" name="Google Shape;6543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4" name="Google Shape;6544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5" name="Google Shape;6545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6" name="Google Shape;6546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47" name="Google Shape;6547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8" name="Google Shape;6548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9" name="Google Shape;6549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0" name="Google Shape;6550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1" name="Google Shape;6551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2" name="Google Shape;6552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3" name="Google Shape;6553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54" name="Google Shape;6554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5" name="Google Shape;6555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6" name="Google Shape;6556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7" name="Google Shape;6557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8" name="Google Shape;6558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9" name="Google Shape;6559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0" name="Google Shape;6560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61" name="Google Shape;6561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2" name="Google Shape;6562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3" name="Google Shape;6563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4" name="Google Shape;6564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5" name="Google Shape;6565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6" name="Google Shape;6566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7" name="Google Shape;6567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68" name="Google Shape;6568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6569" name="Google Shape;6569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0" name="Google Shape;6570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1" name="Google Shape;6571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6572" name="Google Shape;6572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$-4,160</a:t>
            </a:r>
            <a:endParaRPr/>
          </a:p>
        </p:txBody>
      </p:sp>
      <p:sp>
        <p:nvSpPr>
          <p:cNvPr id="6573" name="Google Shape;6573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4" name="Google Shape;6574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575" name="Google Shape;6575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76" name="Google Shape;6576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577" name="Google Shape;6577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578" name="Google Shape;6578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579" name="Google Shape;6579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80" name="Google Shape;6580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81" name="Google Shape;6581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2" name="Google Shape;6582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83" name="Google Shape;6583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84" name="Google Shape;6584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5" name="Google Shape;6585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86" name="Google Shape;6586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87" name="Google Shape;6587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6588" name="Google Shape;6588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9" name="Google Shape;6589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90" name="Google Shape;6590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91" name="Google Shape;6591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2" name="Google Shape;6592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93" name="Google Shape;6593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4" name="Google Shape;6594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95" name="Google Shape;6595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6" name="Google Shape;6596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97" name="Google Shape;6597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98" name="Google Shape;6598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99" name="Google Shape;6599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00" name="Google Shape;6600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1" name="Google Shape;6601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02" name="Google Shape;6602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3" name="Google Shape;6603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04" name="Google Shape;6604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05" name="Google Shape;6605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6" name="Google Shape;6606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07" name="Google Shape;6607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8" name="Google Shape;6608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09" name="Google Shape;6609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0" name="Google Shape;6610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11" name="Google Shape;6611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12" name="Google Shape;6612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13" name="Google Shape;6613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14" name="Google Shape;6614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15" name="Google Shape;6615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16" name="Google Shape;6616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7" name="Google Shape;6617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18" name="Google Shape;6618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619" name="Google Shape;6619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20" name="Google Shape;6620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621" name="Google Shape;6621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22" name="Google Shape;6622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23" name="Google Shape;6623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4" name="Google Shape;6624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625" name="Google Shape;6625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626" name="Google Shape;6626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627" name="Google Shape;6627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628" name="Google Shape;6628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629" name="Google Shape;6629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630" name="Google Shape;6630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631" name="Google Shape;6631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632" name="Google Shape;6632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633" name="Google Shape;6633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634" name="Google Shape;6634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635" name="Google Shape;6635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636" name="Google Shape;6636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637" name="Google Shape;6637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638" name="Google Shape;6638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39" name="Google Shape;6639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40" name="Google Shape;6640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41" name="Google Shape;6641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42" name="Google Shape;6642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43" name="Google Shape;6643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44" name="Google Shape;6644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45" name="Google Shape;6645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646" name="Google Shape;6646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47" name="Google Shape;6647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648" name="Google Shape;6648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49" name="Google Shape;6649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650" name="Google Shape;6650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651" name="Google Shape;6651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652" name="Google Shape;6652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3" name="Google Shape;6653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654" name="Google Shape;6654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655" name="Google Shape;6655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6" name="Google Shape;6656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657" name="Google Shape;6657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8" name="Google Shape;6658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659" name="Google Shape;6659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0" name="Google Shape;6660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6661" name="Google Shape;6661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2" name="Google Shape;6662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6663" name="Google Shape;6663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664" name="Google Shape;6664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5" name="Google Shape;6665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666" name="Google Shape;6666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67" name="Google Shape;6667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 YTD gross written premium</a:t>
            </a:r>
            <a:endParaRPr/>
          </a:p>
        </p:txBody>
      </p:sp>
      <p:sp>
        <p:nvSpPr>
          <p:cNvPr id="6668" name="Google Shape;6668;p4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69" name="Google Shape;6669;p4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 submissions - highly active agency</a:t>
            </a:r>
            <a:endParaRPr/>
          </a:p>
        </p:txBody>
      </p:sp>
      <p:sp>
        <p:nvSpPr>
          <p:cNvPr id="6670" name="Google Shape;6670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1" name="Google Shape;6671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672" name="Google Shape;6672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73" name="Google Shape;6673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 submissions with zero binds - zero conversion</a:t>
            </a:r>
            <a:endParaRPr/>
          </a:p>
        </p:txBody>
      </p:sp>
      <p:sp>
        <p:nvSpPr>
          <p:cNvPr id="6674" name="Google Shape;6674;p4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75" name="Google Shape;6675;p4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 quotes but 0 binds - follow up on pricing/coverage gaps</a:t>
            </a:r>
            <a:endParaRPr/>
          </a:p>
        </p:txBody>
      </p:sp>
      <p:sp>
        <p:nvSpPr>
          <p:cNvPr id="6676" name="Google Shape;6676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7" name="Google Shape;6677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678" name="Google Shape;6678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679" name="Google Shape;6679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37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680" name="Google Shape;6680;p4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681" name="Google Shape;6681;p4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27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85" name="Shape 6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6" name="Google Shape;6686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7" name="Google Shape;6687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Ati Insurance Group, Inc.</a:t>
            </a:r>
            <a:endParaRPr/>
          </a:p>
        </p:txBody>
      </p:sp>
      <p:sp>
        <p:nvSpPr>
          <p:cNvPr id="6688" name="Google Shape;6688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Miami Lakes</a:t>
            </a:r>
            <a:endParaRPr/>
          </a:p>
        </p:txBody>
      </p:sp>
      <p:sp>
        <p:nvSpPr>
          <p:cNvPr id="6689" name="Google Shape;6689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690" name="Google Shape;6690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91" name="Google Shape;6691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92" name="Google Shape;6692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93" name="Google Shape;6693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94" name="Google Shape;6694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95" name="Google Shape;6695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96" name="Google Shape;6696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97" name="Google Shape;6697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98" name="Google Shape;6698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99" name="Google Shape;6699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00" name="Google Shape;6700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701" name="Google Shape;6701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702" name="Google Shape;6702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3" name="Google Shape;6703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704" name="Google Shape;6704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05" name="Google Shape;6705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706" name="Google Shape;6706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707" name="Google Shape;6707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08" name="Google Shape;6708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709" name="Google Shape;6709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710" name="Google Shape;6710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1" name="Google Shape;6711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12" name="Google Shape;6712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3" name="Google Shape;6713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4" name="Google Shape;6714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5" name="Google Shape;6715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6" name="Google Shape;6716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7" name="Google Shape;6717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8" name="Google Shape;6718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19" name="Google Shape;6719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0" name="Google Shape;6720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1" name="Google Shape;6721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2" name="Google Shape;6722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3" name="Google Shape;6723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4" name="Google Shape;6724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5" name="Google Shape;6725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26" name="Google Shape;6726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7" name="Google Shape;6727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8" name="Google Shape;6728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9" name="Google Shape;6729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0" name="Google Shape;6730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1" name="Google Shape;6731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2" name="Google Shape;6732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33" name="Google Shape;6733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4" name="Google Shape;6734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5" name="Google Shape;6735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6" name="Google Shape;6736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7" name="Google Shape;6737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8" name="Google Shape;6738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9" name="Google Shape;6739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40" name="Google Shape;6740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1" name="Google Shape;6741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2" name="Google Shape;6742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3" name="Google Shape;6743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4" name="Google Shape;6744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5" name="Google Shape;6745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6" name="Google Shape;6746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47" name="Google Shape;6747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8" name="Google Shape;6748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9" name="Google Shape;6749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0" name="Google Shape;6750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1" name="Google Shape;6751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2" name="Google Shape;6752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3" name="Google Shape;6753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754" name="Google Shape;6754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55" name="Google Shape;6755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56" name="Google Shape;6756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757" name="Google Shape;6757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758" name="Google Shape;6758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59" name="Google Shape;6759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60" name="Google Shape;6760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1" name="Google Shape;6761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62" name="Google Shape;6762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3" name="Google Shape;6763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4" name="Google Shape;6764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5" name="Google Shape;6765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6" name="Google Shape;6766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67" name="Google Shape;6767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8" name="Google Shape;6768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69" name="Google Shape;6769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0" name="Google Shape;6770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1" name="Google Shape;6771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2" name="Google Shape;6772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3" name="Google Shape;6773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74" name="Google Shape;6774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5" name="Google Shape;6775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76" name="Google Shape;6776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77" name="Google Shape;6777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8" name="Google Shape;6778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79" name="Google Shape;6779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0" name="Google Shape;6780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81" name="Google Shape;6781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2" name="Google Shape;6782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83" name="Google Shape;6783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84" name="Google Shape;6784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5" name="Google Shape;6785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86" name="Google Shape;6786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7" name="Google Shape;6787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88" name="Google Shape;6788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9" name="Google Shape;6789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90" name="Google Shape;6790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1" name="Google Shape;6791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2" name="Google Shape;6792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3" name="Google Shape;6793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4" name="Google Shape;6794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95" name="Google Shape;6795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6" name="Google Shape;6796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97" name="Google Shape;6797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798" name="Google Shape;6798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9" name="Google Shape;6799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800" name="Google Shape;6800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01" name="Google Shape;6801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02" name="Google Shape;6802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3" name="Google Shape;6803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804" name="Google Shape;6804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805" name="Google Shape;6805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806" name="Google Shape;6806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807" name="Google Shape;6807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808" name="Google Shape;6808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809" name="Google Shape;6809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810" name="Google Shape;6810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811" name="Google Shape;6811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812" name="Google Shape;6812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813" name="Google Shape;6813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814" name="Google Shape;6814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815" name="Google Shape;6815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816" name="Google Shape;6816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817" name="Google Shape;6817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18" name="Google Shape;6818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819" name="Google Shape;6819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20" name="Google Shape;6820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821" name="Google Shape;6821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22" name="Google Shape;6822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23" name="Google Shape;6823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824" name="Google Shape;6824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825" name="Google Shape;6825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26" name="Google Shape;6826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827" name="Google Shape;6827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28" name="Google Shape;6828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6829" name="Google Shape;6829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830" name="Google Shape;6830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831" name="Google Shape;6831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2" name="Google Shape;6832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3" name="Google Shape;6833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4" name="Google Shape;6834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5" name="Google Shape;6835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6" name="Google Shape;6836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7" name="Google Shape;6837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8" name="Google Shape;6838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9" name="Google Shape;6839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840" name="Google Shape;6840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1" name="Google Shape;6841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842" name="Google Shape;6842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3" name="Google Shape;6843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4" name="Google Shape;6844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845" name="Google Shape;6845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46" name="Google Shape;6846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6847" name="Google Shape;6847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8" name="Google Shape;6848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849" name="Google Shape;6849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50" name="Google Shape;6850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6851" name="Google Shape;6851;p4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52" name="Google Shape;6852;p4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6853" name="Google Shape;6853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4" name="Google Shape;6854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855" name="Google Shape;6855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856" name="Google Shape;6856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857" name="Google Shape;6857;p4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858" name="Google Shape;6858;p4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62" name="Shape 6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3" name="Google Shape;6863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4" name="Google Shape;6864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Bluewater Specialty Brokerage, Llc</a:t>
            </a:r>
            <a:endParaRPr/>
          </a:p>
        </p:txBody>
      </p:sp>
      <p:sp>
        <p:nvSpPr>
          <p:cNvPr id="6865" name="Google Shape;6865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N/A</a:t>
            </a:r>
            <a:endParaRPr/>
          </a:p>
        </p:txBody>
      </p:sp>
      <p:sp>
        <p:nvSpPr>
          <p:cNvPr id="6866" name="Google Shape;6866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867" name="Google Shape;6867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68" name="Google Shape;6868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69" name="Google Shape;6869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70" name="Google Shape;6870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71" name="Google Shape;6871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872" name="Google Shape;6872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73" name="Google Shape;6873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74" name="Google Shape;6874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75" name="Google Shape;6875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76" name="Google Shape;6876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77" name="Google Shape;6877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78" name="Google Shape;6878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79" name="Google Shape;6879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0" name="Google Shape;6880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81" name="Google Shape;6881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82" name="Google Shape;6882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83" name="Google Shape;6883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84" name="Google Shape;6884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85" name="Google Shape;6885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86" name="Google Shape;6886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87" name="Google Shape;6887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8" name="Google Shape;6888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89" name="Google Shape;6889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0" name="Google Shape;6890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1" name="Google Shape;6891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2" name="Google Shape;6892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3" name="Google Shape;6893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4" name="Google Shape;6894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5" name="Google Shape;6895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96" name="Google Shape;6896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7" name="Google Shape;6897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8" name="Google Shape;6898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9" name="Google Shape;6899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0" name="Google Shape;6900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1" name="Google Shape;6901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2" name="Google Shape;6902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03" name="Google Shape;6903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4" name="Google Shape;6904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5" name="Google Shape;6905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6" name="Google Shape;6906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7" name="Google Shape;6907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8" name="Google Shape;6908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9" name="Google Shape;6909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10" name="Google Shape;6910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1" name="Google Shape;6911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2" name="Google Shape;6912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3" name="Google Shape;6913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4" name="Google Shape;6914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5" name="Google Shape;6915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6" name="Google Shape;6916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17" name="Google Shape;6917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8" name="Google Shape;6918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9" name="Google Shape;6919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0" name="Google Shape;6920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1" name="Google Shape;6921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2" name="Google Shape;6922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3" name="Google Shape;6923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24" name="Google Shape;6924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5" name="Google Shape;6925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6" name="Google Shape;6926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7" name="Google Shape;6927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8" name="Google Shape;6928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9" name="Google Shape;6929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0" name="Google Shape;6930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931" name="Google Shape;6931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32" name="Google Shape;6932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933" name="Google Shape;6933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934" name="Google Shape;6934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935" name="Google Shape;6935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36" name="Google Shape;6936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937" name="Google Shape;6937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8" name="Google Shape;6938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39" name="Google Shape;6939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40" name="Google Shape;6940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1" name="Google Shape;6941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42" name="Google Shape;6942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3" name="Google Shape;6943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44" name="Google Shape;6944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5" name="Google Shape;6945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46" name="Google Shape;6946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7" name="Google Shape;6947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8" name="Google Shape;6948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9" name="Google Shape;6949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0" name="Google Shape;6950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51" name="Google Shape;6951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2" name="Google Shape;6952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53" name="Google Shape;6953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4" name="Google Shape;6954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5" name="Google Shape;6955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6" name="Google Shape;6956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7" name="Google Shape;6957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58" name="Google Shape;6958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9" name="Google Shape;6959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60" name="Google Shape;6960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1" name="Google Shape;6961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2" name="Google Shape;6962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3" name="Google Shape;6963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4" name="Google Shape;6964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65" name="Google Shape;6965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6" name="Google Shape;6966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67" name="Google Shape;6967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8" name="Google Shape;6968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9" name="Google Shape;6969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0" name="Google Shape;6970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1" name="Google Shape;6971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72" name="Google Shape;6972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3" name="Google Shape;6973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74" name="Google Shape;6974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75" name="Google Shape;6975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6" name="Google Shape;6976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77" name="Google Shape;6977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8" name="Google Shape;6978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79" name="Google Shape;6979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0" name="Google Shape;6980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981" name="Google Shape;6981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82" name="Google Shape;6982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83" name="Google Shape;6983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84" name="Google Shape;6984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85" name="Google Shape;6985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86" name="Google Shape;6986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87" name="Google Shape;6987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988" name="Google Shape;6988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989" name="Google Shape;6989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990" name="Google Shape;6990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991" name="Google Shape;6991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992" name="Google Shape;6992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993" name="Google Shape;6993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994" name="Google Shape;6994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95" name="Google Shape;6995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96" name="Google Shape;6996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97" name="Google Shape;6997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998" name="Google Shape;6998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99" name="Google Shape;6999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000" name="Google Shape;7000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01" name="Google Shape;7001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02" name="Google Shape;7002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03" name="Google Shape;7003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004" name="Google Shape;7004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05" name="Google Shape;7005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7006" name="Google Shape;7006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07" name="Google Shape;7007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008" name="Google Shape;7008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9" name="Google Shape;7009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0" name="Google Shape;7010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1" name="Google Shape;7011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2" name="Google Shape;7012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3" name="Google Shape;7013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4" name="Google Shape;7014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5" name="Google Shape;7015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6" name="Google Shape;7016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7" name="Google Shape;7017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8" name="Google Shape;7018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9" name="Google Shape;7019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0" name="Google Shape;7020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1" name="Google Shape;7021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022" name="Google Shape;7022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23" name="Google Shape;7023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has some Jan–May 2026 activity</a:t>
            </a:r>
            <a:endParaRPr/>
          </a:p>
        </p:txBody>
      </p:sp>
      <p:sp>
        <p:nvSpPr>
          <p:cNvPr id="7024" name="Google Shape;7024;p4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25" name="Google Shape;7025;p4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Assigned to portfolio - opportunity for development</a:t>
            </a:r>
            <a:endParaRPr/>
          </a:p>
        </p:txBody>
      </p:sp>
      <p:sp>
        <p:nvSpPr>
          <p:cNvPr id="7026" name="Google Shape;7026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7" name="Google Shape;7027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028" name="Google Shape;7028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29" name="Google Shape;7029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7030" name="Google Shape;7030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1" name="Google Shape;7031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032" name="Google Shape;7032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033" name="Google Shape;7033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034" name="Google Shape;7034;p4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035" name="Google Shape;7035;p4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39" name="Shape 7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0" name="Google Shape;7040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1" name="Google Shape;7041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 M Peebles Incorporated</a:t>
            </a:r>
            <a:endParaRPr/>
          </a:p>
        </p:txBody>
      </p:sp>
      <p:sp>
        <p:nvSpPr>
          <p:cNvPr id="7042" name="Google Shape;7042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NC  |  City: Raleigh</a:t>
            </a:r>
            <a:endParaRPr/>
          </a:p>
        </p:txBody>
      </p:sp>
      <p:sp>
        <p:nvSpPr>
          <p:cNvPr id="7043" name="Google Shape;7043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044" name="Google Shape;7044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45" name="Google Shape;7045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46" name="Google Shape;7046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47" name="Google Shape;7047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48" name="Google Shape;7048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$80,282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049" name="Google Shape;7049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050" name="Google Shape;7050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051" name="Google Shape;7051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52" name="Google Shape;7052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53" name="Google Shape;7053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54" name="Google Shape;7054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055" name="Google Shape;7055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056" name="Google Shape;7056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7" name="Google Shape;7057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058" name="Google Shape;7058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59" name="Google Shape;7059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060" name="Google Shape;7060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61" name="Google Shape;7061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62" name="Google Shape;7062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63" name="Google Shape;7063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64" name="Google Shape;7064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5" name="Google Shape;7065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66" name="Google Shape;7066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7" name="Google Shape;7067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8" name="Google Shape;7068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9" name="Google Shape;7069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0" name="Google Shape;7070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1" name="Google Shape;7071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2" name="Google Shape;7072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73" name="Google Shape;7073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4" name="Google Shape;7074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5" name="Google Shape;7075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6" name="Google Shape;7076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7" name="Google Shape;7077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8" name="Google Shape;7078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9" name="Google Shape;7079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80" name="Google Shape;7080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1" name="Google Shape;7081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2" name="Google Shape;7082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3" name="Google Shape;7083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4" name="Google Shape;7084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5" name="Google Shape;7085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6" name="Google Shape;7086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87" name="Google Shape;7087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8" name="Google Shape;7088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9" name="Google Shape;7089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0" name="Google Shape;7090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1" name="Google Shape;7091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2" name="Google Shape;7092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3" name="Google Shape;7093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94" name="Google Shape;7094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5" name="Google Shape;7095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6" name="Google Shape;7096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7" name="Google Shape;7097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8" name="Google Shape;7098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9" name="Google Shape;7099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0" name="Google Shape;7100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01" name="Google Shape;7101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2" name="Google Shape;7102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3" name="Google Shape;7103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4" name="Google Shape;7104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5" name="Google Shape;7105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6" name="Google Shape;7106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7" name="Google Shape;7107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108" name="Google Shape;7108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09" name="Google Shape;7109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110" name="Google Shape;7110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111" name="Google Shape;7111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112" name="Google Shape;7112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13" name="Google Shape;7113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14" name="Google Shape;7114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5" name="Google Shape;7115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16" name="Google Shape;7116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17" name="Google Shape;7117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18" name="Google Shape;7118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19" name="Google Shape;7119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0" name="Google Shape;7120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21" name="Google Shape;7121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2" name="Google Shape;7122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23" name="Google Shape;7123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24" name="Google Shape;7124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5" name="Google Shape;7125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26" name="Google Shape;7126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7" name="Google Shape;7127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28" name="Google Shape;7128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9" name="Google Shape;7129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30" name="Google Shape;7130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1" name="Google Shape;7131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2" name="Google Shape;7132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3" name="Google Shape;7133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4" name="Google Shape;7134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35" name="Google Shape;7135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6" name="Google Shape;7136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37" name="Google Shape;7137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8" name="Google Shape;7138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9" name="Google Shape;7139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0" name="Google Shape;7140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1" name="Google Shape;7141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42" name="Google Shape;7142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3" name="Google Shape;7143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44" name="Google Shape;7144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5" name="Google Shape;7145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6" name="Google Shape;7146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7" name="Google Shape;7147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8" name="Google Shape;7148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49" name="Google Shape;7149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0" name="Google Shape;7150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51" name="Google Shape;7151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152" name="Google Shape;7152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3" name="Google Shape;7153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154" name="Google Shape;7154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5" name="Google Shape;7155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56" name="Google Shape;7156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7" name="Google Shape;7157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158" name="Google Shape;7158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159" name="Google Shape;7159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160" name="Google Shape;7160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161" name="Google Shape;7161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162" name="Google Shape;7162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163" name="Google Shape;7163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164" name="Google Shape;7164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165" name="Google Shape;7165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166" name="Google Shape;7166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167" name="Google Shape;7167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168" name="Google Shape;7168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169" name="Google Shape;7169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170" name="Google Shape;7170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171" name="Google Shape;7171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72" name="Google Shape;7172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73" name="Google Shape;7173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74" name="Google Shape;7174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75" name="Google Shape;7175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76" name="Google Shape;7176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77" name="Google Shape;7177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78" name="Google Shape;7178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179" name="Google Shape;7179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80" name="Google Shape;7180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181" name="Google Shape;7181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82" name="Google Shape;7182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183" name="Google Shape;7183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184" name="Google Shape;7184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185" name="Google Shape;7185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6" name="Google Shape;7186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7" name="Google Shape;7187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8" name="Google Shape;7188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9" name="Google Shape;7189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0" name="Google Shape;7190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1" name="Google Shape;7191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7192" name="Google Shape;7192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3" name="Google Shape;7193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7194" name="Google Shape;7194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5" name="Google Shape;7195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7196" name="Google Shape;7196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7" name="Google Shape;7197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8" name="Google Shape;7198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199" name="Google Shape;7199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200" name="Google Shape;7200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7201" name="Google Shape;7201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2" name="Google Shape;7202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203" name="Google Shape;7203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204" name="Google Shape;7204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 submissions</a:t>
            </a:r>
            <a:endParaRPr/>
          </a:p>
        </p:txBody>
      </p:sp>
      <p:sp>
        <p:nvSpPr>
          <p:cNvPr id="7205" name="Google Shape;7205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6" name="Google Shape;7206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207" name="Google Shape;7207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208" name="Google Shape;7208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12" name="Shape 7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3" name="Google Shape;7213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4" name="Google Shape;7214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Diversified Solutions Agency Inc</a:t>
            </a:r>
            <a:endParaRPr/>
          </a:p>
        </p:txBody>
      </p:sp>
      <p:sp>
        <p:nvSpPr>
          <p:cNvPr id="7215" name="Google Shape;7215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TN  |  City: Memphis</a:t>
            </a:r>
            <a:endParaRPr/>
          </a:p>
        </p:txBody>
      </p:sp>
      <p:sp>
        <p:nvSpPr>
          <p:cNvPr id="7216" name="Google Shape;7216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217" name="Google Shape;7217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18" name="Google Shape;7218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19" name="Google Shape;7219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20" name="Google Shape;7220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21" name="Google Shape;7221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$110,748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222" name="Google Shape;7222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$81,332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223" name="Google Shape;7223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224" name="Google Shape;7224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25" name="Google Shape;7225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26" name="Google Shape;7226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27" name="Google Shape;7227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228" name="Google Shape;7228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229" name="Google Shape;7229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0" name="Google Shape;7230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231" name="Google Shape;7231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32" name="Google Shape;7232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233" name="Google Shape;7233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34" name="Google Shape;7234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35" name="Google Shape;7235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36" name="Google Shape;7236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37" name="Google Shape;7237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8" name="Google Shape;7238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39" name="Google Shape;7239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0" name="Google Shape;7240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1" name="Google Shape;7241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2" name="Google Shape;7242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3" name="Google Shape;7243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4" name="Google Shape;7244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5" name="Google Shape;7245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46" name="Google Shape;7246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7" name="Google Shape;7247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8" name="Google Shape;7248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9" name="Google Shape;7249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0" name="Google Shape;7250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1" name="Google Shape;7251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2" name="Google Shape;7252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53" name="Google Shape;7253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4" name="Google Shape;7254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5" name="Google Shape;7255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6" name="Google Shape;7256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7" name="Google Shape;7257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8" name="Google Shape;7258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9" name="Google Shape;7259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60" name="Google Shape;7260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1" name="Google Shape;7261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2" name="Google Shape;7262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3" name="Google Shape;7263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4" name="Google Shape;7264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5" name="Google Shape;7265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6" name="Google Shape;7266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67" name="Google Shape;7267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8" name="Google Shape;7268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9" name="Google Shape;7269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0" name="Google Shape;7270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1" name="Google Shape;7271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2" name="Google Shape;7272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3" name="Google Shape;7273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74" name="Google Shape;7274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5" name="Google Shape;7275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6" name="Google Shape;7276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7" name="Google Shape;7277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8" name="Google Shape;7278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9" name="Google Shape;7279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0" name="Google Shape;7280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281" name="Google Shape;7281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82" name="Google Shape;7282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283" name="Google Shape;7283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284" name="Google Shape;7284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285" name="Google Shape;7285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86" name="Google Shape;7286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87" name="Google Shape;7287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8" name="Google Shape;7288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89" name="Google Shape;7289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90" name="Google Shape;7290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91" name="Google Shape;7291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92" name="Google Shape;7292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93" name="Google Shape;7293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94" name="Google Shape;7294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5" name="Google Shape;7295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96" name="Google Shape;7296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97" name="Google Shape;7297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98" name="Google Shape;7298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99" name="Google Shape;7299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0" name="Google Shape;7300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01" name="Google Shape;7301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2" name="Google Shape;7302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03" name="Google Shape;7303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4" name="Google Shape;7304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5" name="Google Shape;7305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6" name="Google Shape;7306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7" name="Google Shape;7307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08" name="Google Shape;7308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9" name="Google Shape;7309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10" name="Google Shape;7310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11" name="Google Shape;7311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2" name="Google Shape;7312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13" name="Google Shape;7313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4" name="Google Shape;7314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15" name="Google Shape;7315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6" name="Google Shape;7316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17" name="Google Shape;7317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18" name="Google Shape;7318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9" name="Google Shape;7319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20" name="Google Shape;7320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1" name="Google Shape;7321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22" name="Google Shape;7322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3" name="Google Shape;7323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324" name="Google Shape;7324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25" name="Google Shape;7325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6" name="Google Shape;7326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27" name="Google Shape;7327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8" name="Google Shape;7328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29" name="Google Shape;7329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0" name="Google Shape;7330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331" name="Google Shape;7331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332" name="Google Shape;7332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333" name="Google Shape;7333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334" name="Google Shape;7334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335" name="Google Shape;7335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336" name="Google Shape;7336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337" name="Google Shape;7337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338" name="Google Shape;7338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339" name="Google Shape;7339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340" name="Google Shape;7340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341" name="Google Shape;7341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342" name="Google Shape;7342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343" name="Google Shape;7343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344" name="Google Shape;7344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45" name="Google Shape;7345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46" name="Google Shape;7346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47" name="Google Shape;7347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48" name="Google Shape;7348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49" name="Google Shape;7349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50" name="Google Shape;7350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51" name="Google Shape;7351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52" name="Google Shape;7352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53" name="Google Shape;7353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54" name="Google Shape;7354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55" name="Google Shape;7355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56" name="Google Shape;7356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57" name="Google Shape;7357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358" name="Google Shape;7358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59" name="Google Shape;7359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0" name="Google Shape;7360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1" name="Google Shape;7361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2" name="Google Shape;7362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3" name="Google Shape;7363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4" name="Google Shape;7364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5" name="Google Shape;7365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6" name="Google Shape;7366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7367" name="Google Shape;7367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8" name="Google Shape;7368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7369" name="Google Shape;7369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0" name="Google Shape;7370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1" name="Google Shape;7371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372" name="Google Shape;7372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73" name="Google Shape;7373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7374" name="Google Shape;7374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5" name="Google Shape;7375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376" name="Google Shape;7376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77" name="Google Shape;7377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 submissions</a:t>
            </a:r>
            <a:endParaRPr/>
          </a:p>
        </p:txBody>
      </p:sp>
      <p:sp>
        <p:nvSpPr>
          <p:cNvPr id="7378" name="Google Shape;7378;p4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79" name="Google Shape;7379;p4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but 0 binds - follow up on pricing/coverage gaps</a:t>
            </a:r>
            <a:endParaRPr/>
          </a:p>
        </p:txBody>
      </p:sp>
      <p:sp>
        <p:nvSpPr>
          <p:cNvPr id="7380" name="Google Shape;7380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1" name="Google Shape;7381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382" name="Google Shape;7382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383" name="Google Shape;7383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87" name="Shape 7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8" name="Google Shape;7388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9" name="Google Shape;7389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Domino Insurance, Inc.</a:t>
            </a:r>
            <a:endParaRPr/>
          </a:p>
        </p:txBody>
      </p:sp>
      <p:sp>
        <p:nvSpPr>
          <p:cNvPr id="7390" name="Google Shape;7390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</a:t>
            </a:r>
            <a:endParaRPr/>
          </a:p>
        </p:txBody>
      </p:sp>
      <p:sp>
        <p:nvSpPr>
          <p:cNvPr id="7391" name="Google Shape;7391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392" name="Google Shape;7392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93" name="Google Shape;7393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94" name="Google Shape;7394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95" name="Google Shape;7395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96" name="Google Shape;7396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397" name="Google Shape;7397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398" name="Google Shape;7398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399" name="Google Shape;7399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00" name="Google Shape;7400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01" name="Google Shape;7401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02" name="Google Shape;7402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403" name="Google Shape;7403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404" name="Google Shape;7404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5" name="Google Shape;7405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406" name="Google Shape;7406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07" name="Google Shape;7407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408" name="Google Shape;7408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09" name="Google Shape;7409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410" name="Google Shape;7410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411" name="Google Shape;7411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412" name="Google Shape;7412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3" name="Google Shape;7413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14" name="Google Shape;7414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5" name="Google Shape;7415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6" name="Google Shape;7416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7" name="Google Shape;7417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8" name="Google Shape;7418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9" name="Google Shape;7419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0" name="Google Shape;7420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21" name="Google Shape;7421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2" name="Google Shape;7422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3" name="Google Shape;7423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4" name="Google Shape;7424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5" name="Google Shape;7425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6" name="Google Shape;7426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7" name="Google Shape;7427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28" name="Google Shape;7428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9" name="Google Shape;7429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0" name="Google Shape;7430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1" name="Google Shape;7431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2" name="Google Shape;7432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3" name="Google Shape;7433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4" name="Google Shape;7434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35" name="Google Shape;7435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6" name="Google Shape;7436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7" name="Google Shape;7437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8" name="Google Shape;7438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9" name="Google Shape;7439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0" name="Google Shape;7440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1" name="Google Shape;7441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42" name="Google Shape;7442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3" name="Google Shape;7443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4" name="Google Shape;7444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5" name="Google Shape;7445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6" name="Google Shape;7446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7" name="Google Shape;7447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8" name="Google Shape;7448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49" name="Google Shape;7449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0" name="Google Shape;7450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1" name="Google Shape;7451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2" name="Google Shape;7452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3" name="Google Shape;7453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4" name="Google Shape;7454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5" name="Google Shape;7455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456" name="Google Shape;7456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57" name="Google Shape;7457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58" name="Google Shape;7458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459" name="Google Shape;7459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460" name="Google Shape;7460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61" name="Google Shape;7461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62" name="Google Shape;7462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3" name="Google Shape;7463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64" name="Google Shape;7464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65" name="Google Shape;7465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66" name="Google Shape;7466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67" name="Google Shape;7467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68" name="Google Shape;7468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69" name="Google Shape;7469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0" name="Google Shape;7470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71" name="Google Shape;7471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72" name="Google Shape;7472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3" name="Google Shape;7473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74" name="Google Shape;7474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5" name="Google Shape;7475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76" name="Google Shape;7476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7" name="Google Shape;7477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78" name="Google Shape;7478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79" name="Google Shape;7479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0" name="Google Shape;7480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81" name="Google Shape;7481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2" name="Google Shape;7482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83" name="Google Shape;7483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4" name="Google Shape;7484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85" name="Google Shape;7485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86" name="Google Shape;7486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7" name="Google Shape;7487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88" name="Google Shape;7488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9" name="Google Shape;7489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90" name="Google Shape;7490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1" name="Google Shape;7491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92" name="Google Shape;7492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3" name="Google Shape;7493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4" name="Google Shape;7494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5" name="Google Shape;7495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6" name="Google Shape;7496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97" name="Google Shape;7497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8" name="Google Shape;7498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99" name="Google Shape;7499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00" name="Google Shape;7500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01" name="Google Shape;7501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502" name="Google Shape;7502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03" name="Google Shape;7503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04" name="Google Shape;7504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5" name="Google Shape;7505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506" name="Google Shape;7506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07" name="Google Shape;7507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508" name="Google Shape;7508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509" name="Google Shape;7509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510" name="Google Shape;7510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511" name="Google Shape;7511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512" name="Google Shape;7512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513" name="Google Shape;7513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514" name="Google Shape;7514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515" name="Google Shape;7515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516" name="Google Shape;7516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517" name="Google Shape;7517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518" name="Google Shape;7518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519" name="Google Shape;7519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20" name="Google Shape;7520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21" name="Google Shape;7521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22" name="Google Shape;7522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523" name="Google Shape;7523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24" name="Google Shape;7524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525" name="Google Shape;7525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26" name="Google Shape;7526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527" name="Google Shape;7527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28" name="Google Shape;7528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529" name="Google Shape;7529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30" name="Google Shape;7530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7531" name="Google Shape;7531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32" name="Google Shape;7532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533" name="Google Shape;7533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7534" name="Google Shape;7534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5" name="Google Shape;7535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7536" name="Google Shape;7536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7" name="Google Shape;7537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7538" name="Google Shape;7538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9" name="Google Shape;7539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7540" name="Google Shape;7540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1" name="Google Shape;7541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$-20,447</a:t>
            </a:r>
            <a:endParaRPr/>
          </a:p>
        </p:txBody>
      </p:sp>
      <p:sp>
        <p:nvSpPr>
          <p:cNvPr id="7542" name="Google Shape;7542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3" name="Google Shape;7543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7544" name="Google Shape;7544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5" name="Google Shape;7545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6" name="Google Shape;7546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547" name="Google Shape;7547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48" name="Google Shape;7548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quotes generated - active in pipeline</a:t>
            </a:r>
            <a:endParaRPr/>
          </a:p>
        </p:txBody>
      </p:sp>
      <p:sp>
        <p:nvSpPr>
          <p:cNvPr id="7549" name="Google Shape;7549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0" name="Google Shape;7550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551" name="Google Shape;7551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52" name="Google Shape;7552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14 submissions</a:t>
            </a:r>
            <a:endParaRPr/>
          </a:p>
        </p:txBody>
      </p:sp>
      <p:sp>
        <p:nvSpPr>
          <p:cNvPr id="7553" name="Google Shape;7553;p4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54" name="Google Shape;7554;p4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7555" name="Google Shape;7555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6" name="Google Shape;7556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557" name="Google Shape;7557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558" name="Google Shape;7558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559" name="Google Shape;7559;p4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560" name="Google Shape;7560;p4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10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64" name="Shape 7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5" name="Google Shape;7565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6" name="Google Shape;7566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Equiinsurance</a:t>
            </a:r>
            <a:endParaRPr/>
          </a:p>
        </p:txBody>
      </p:sp>
      <p:sp>
        <p:nvSpPr>
          <p:cNvPr id="7567" name="Google Shape;7567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 Lakes</a:t>
            </a:r>
            <a:endParaRPr/>
          </a:p>
        </p:txBody>
      </p:sp>
      <p:sp>
        <p:nvSpPr>
          <p:cNvPr id="7568" name="Google Shape;7568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569" name="Google Shape;7569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70" name="Google Shape;7570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71" name="Google Shape;7571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72" name="Google Shape;7572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73" name="Google Shape;7573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$58,019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574" name="Google Shape;7574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575" name="Google Shape;7575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576" name="Google Shape;7576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77" name="Google Shape;7577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78" name="Google Shape;7578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79" name="Google Shape;7579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580" name="Google Shape;7580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581" name="Google Shape;7581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2" name="Google Shape;7582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583" name="Google Shape;7583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84" name="Google Shape;7584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585" name="Google Shape;7585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86" name="Google Shape;7586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87" name="Google Shape;7587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88" name="Google Shape;7588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89" name="Google Shape;7589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0" name="Google Shape;7590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91" name="Google Shape;7591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2" name="Google Shape;7592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3" name="Google Shape;7593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4" name="Google Shape;7594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5" name="Google Shape;7595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6" name="Google Shape;7596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7" name="Google Shape;7597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98" name="Google Shape;7598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9" name="Google Shape;7599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0" name="Google Shape;7600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1" name="Google Shape;7601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2" name="Google Shape;7602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3" name="Google Shape;7603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4" name="Google Shape;7604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05" name="Google Shape;7605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6" name="Google Shape;7606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7" name="Google Shape;7607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8" name="Google Shape;7608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9" name="Google Shape;7609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0" name="Google Shape;7610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1" name="Google Shape;7611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12" name="Google Shape;7612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3" name="Google Shape;7613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4" name="Google Shape;7614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5" name="Google Shape;7615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6" name="Google Shape;7616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7" name="Google Shape;7617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8" name="Google Shape;7618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19" name="Google Shape;7619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0" name="Google Shape;7620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1" name="Google Shape;7621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2" name="Google Shape;7622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3" name="Google Shape;7623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4" name="Google Shape;7624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5" name="Google Shape;7625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26" name="Google Shape;7626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7" name="Google Shape;7627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8" name="Google Shape;7628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9" name="Google Shape;7629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0" name="Google Shape;7630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1" name="Google Shape;7631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2" name="Google Shape;7632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633" name="Google Shape;7633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634" name="Google Shape;7634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635" name="Google Shape;7635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636" name="Google Shape;7636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637" name="Google Shape;7637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638" name="Google Shape;7638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639" name="Google Shape;7639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0" name="Google Shape;7640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641" name="Google Shape;7641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642" name="Google Shape;7642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43" name="Google Shape;7643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644" name="Google Shape;7644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45" name="Google Shape;7645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46" name="Google Shape;7646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7" name="Google Shape;7647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48" name="Google Shape;7648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49" name="Google Shape;7649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50" name="Google Shape;7650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51" name="Google Shape;7651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2" name="Google Shape;7652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53" name="Google Shape;7653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4" name="Google Shape;7654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55" name="Google Shape;7655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56" name="Google Shape;7656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57" name="Google Shape;7657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58" name="Google Shape;7658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9" name="Google Shape;7659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60" name="Google Shape;7660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1" name="Google Shape;7661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62" name="Google Shape;7662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63" name="Google Shape;7663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64" name="Google Shape;7664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65" name="Google Shape;7665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6" name="Google Shape;7666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67" name="Google Shape;7667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8" name="Google Shape;7668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69" name="Google Shape;7669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670" name="Google Shape;7670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71" name="Google Shape;7671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672" name="Google Shape;7672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73" name="Google Shape;7673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74" name="Google Shape;7674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5" name="Google Shape;7675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76" name="Google Shape;7676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7677" name="Google Shape;7677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678" name="Google Shape;7678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679" name="Google Shape;7679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0" name="Google Shape;7680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81" name="Google Shape;7681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2" name="Google Shape;7682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683" name="Google Shape;7683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84" name="Google Shape;7684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685" name="Google Shape;7685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686" name="Google Shape;7686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687" name="Google Shape;7687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688" name="Google Shape;7688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689" name="Google Shape;7689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690" name="Google Shape;7690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691" name="Google Shape;7691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692" name="Google Shape;7692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693" name="Google Shape;7693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694" name="Google Shape;7694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695" name="Google Shape;7695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696" name="Google Shape;7696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97" name="Google Shape;7697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98" name="Google Shape;7698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699" name="Google Shape;7699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700" name="Google Shape;7700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01" name="Google Shape;7701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702" name="Google Shape;7702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03" name="Google Shape;7703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04" name="Google Shape;7704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05" name="Google Shape;7705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706" name="Google Shape;7706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707" name="Google Shape;7707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708" name="Google Shape;7708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7709" name="Google Shape;7709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710" name="Google Shape;7710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7711" name="Google Shape;7711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2" name="Google Shape;7712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$-3,136</a:t>
            </a:r>
            <a:endParaRPr/>
          </a:p>
        </p:txBody>
      </p:sp>
      <p:sp>
        <p:nvSpPr>
          <p:cNvPr id="7713" name="Google Shape;7713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4" name="Google Shape;7714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7715" name="Google Shape;7715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6" name="Google Shape;7716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7" name="Google Shape;7717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8" name="Google Shape;7718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9" name="Google Shape;7719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0" name="Google Shape;7720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7721" name="Google Shape;7721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2" name="Google Shape;7722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3" name="Google Shape;7723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724" name="Google Shape;7724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25" name="Google Shape;7725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 submissions - highly active agency</a:t>
            </a:r>
            <a:endParaRPr/>
          </a:p>
        </p:txBody>
      </p:sp>
      <p:sp>
        <p:nvSpPr>
          <p:cNvPr id="7726" name="Google Shape;7726;p4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27" name="Google Shape;7727;p4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quotes generated - active in pipeline</a:t>
            </a:r>
            <a:endParaRPr/>
          </a:p>
        </p:txBody>
      </p:sp>
      <p:sp>
        <p:nvSpPr>
          <p:cNvPr id="7728" name="Google Shape;7728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9" name="Google Shape;7729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730" name="Google Shape;7730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731" name="Google Shape;7731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21 submissions</a:t>
            </a:r>
            <a:endParaRPr/>
          </a:p>
        </p:txBody>
      </p:sp>
      <p:sp>
        <p:nvSpPr>
          <p:cNvPr id="7732" name="Google Shape;7732;p4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733" name="Google Shape;7733;p4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 submissions with zero binds - zero conversion</a:t>
            </a:r>
            <a:endParaRPr/>
          </a:p>
        </p:txBody>
      </p:sp>
      <p:sp>
        <p:nvSpPr>
          <p:cNvPr id="7734" name="Google Shape;7734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5" name="Google Shape;7735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736" name="Google Shape;7736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737" name="Google Shape;7737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21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738" name="Google Shape;7738;p4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739" name="Google Shape;7739;p4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43" name="Shape 7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4" name="Google Shape;7744;p5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5" name="Google Shape;7745;p5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Greatflorida Insurance Of Flagler</a:t>
            </a:r>
            <a:endParaRPr/>
          </a:p>
        </p:txBody>
      </p:sp>
      <p:sp>
        <p:nvSpPr>
          <p:cNvPr id="7746" name="Google Shape;7746;p5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Southeast  |  State: FL  |  City: N/A</a:t>
            </a:r>
            <a:endParaRPr/>
          </a:p>
        </p:txBody>
      </p:sp>
      <p:sp>
        <p:nvSpPr>
          <p:cNvPr id="7747" name="Google Shape;7747;p5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748" name="Google Shape;7748;p5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49" name="Google Shape;7749;p5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50" name="Google Shape;7750;p5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51" name="Google Shape;7751;p5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52" name="Google Shape;7752;p5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753" name="Google Shape;7753;p5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754" name="Google Shape;7754;p5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755" name="Google Shape;7755;p5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56" name="Google Shape;7756;p5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57" name="Google Shape;7757;p5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58" name="Google Shape;7758;p5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759" name="Google Shape;7759;p5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760" name="Google Shape;7760;p5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1" name="Google Shape;7761;p5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762" name="Google Shape;7762;p5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63" name="Google Shape;7763;p5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764" name="Google Shape;7764;p5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65" name="Google Shape;7765;p5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66" name="Google Shape;7766;p5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67" name="Google Shape;7767;p5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68" name="Google Shape;7768;p5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9" name="Google Shape;7769;p5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70" name="Google Shape;7770;p5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1" name="Google Shape;7771;p5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2" name="Google Shape;7772;p5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3" name="Google Shape;7773;p5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4" name="Google Shape;7774;p5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5" name="Google Shape;7775;p5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6" name="Google Shape;7776;p5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77" name="Google Shape;7777;p5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8" name="Google Shape;7778;p5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9" name="Google Shape;7779;p5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0" name="Google Shape;7780;p5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1" name="Google Shape;7781;p5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2" name="Google Shape;7782;p5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3" name="Google Shape;7783;p5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84" name="Google Shape;7784;p5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5" name="Google Shape;7785;p5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6" name="Google Shape;7786;p5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7" name="Google Shape;7787;p5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8" name="Google Shape;7788;p5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9" name="Google Shape;7789;p5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0" name="Google Shape;7790;p5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91" name="Google Shape;7791;p5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2" name="Google Shape;7792;p5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3" name="Google Shape;7793;p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4" name="Google Shape;7794;p5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5" name="Google Shape;7795;p5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6" name="Google Shape;7796;p5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7" name="Google Shape;7797;p5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98" name="Google Shape;7798;p5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9" name="Google Shape;7799;p5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0" name="Google Shape;7800;p5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1" name="Google Shape;7801;p5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2" name="Google Shape;7802;p5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3" name="Google Shape;7803;p5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4" name="Google Shape;7804;p5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05" name="Google Shape;7805;p5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6" name="Google Shape;7806;p5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7" name="Google Shape;7807;p5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8" name="Google Shape;7808;p5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9" name="Google Shape;7809;p5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0" name="Google Shape;7810;p5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1" name="Google Shape;7811;p5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812" name="Google Shape;7812;p5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813" name="Google Shape;7813;p5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814" name="Google Shape;7814;p5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815" name="Google Shape;7815;p5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816" name="Google Shape;7816;p5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817" name="Google Shape;7817;p5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818" name="Google Shape;7818;p5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9" name="Google Shape;7819;p5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820" name="Google Shape;7820;p5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21" name="Google Shape;7821;p5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2" name="Google Shape;7822;p5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23" name="Google Shape;7823;p5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4" name="Google Shape;7824;p5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25" name="Google Shape;7825;p5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6" name="Google Shape;7826;p5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827" name="Google Shape;7827;p5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28" name="Google Shape;7828;p5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9" name="Google Shape;7829;p5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30" name="Google Shape;7830;p5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1" name="Google Shape;7831;p5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32" name="Google Shape;7832;p5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3" name="Google Shape;7833;p5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834" name="Google Shape;7834;p5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5" name="Google Shape;7835;p5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6" name="Google Shape;7836;p5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7" name="Google Shape;7837;p5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8" name="Google Shape;7838;p5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39" name="Google Shape;7839;p5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0" name="Google Shape;7840;p5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841" name="Google Shape;7841;p5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2" name="Google Shape;7842;p5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3" name="Google Shape;7843;p5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4" name="Google Shape;7844;p5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5" name="Google Shape;7845;p5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46" name="Google Shape;7846;p5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7" name="Google Shape;7847;p5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848" name="Google Shape;7848;p5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9" name="Google Shape;7849;p5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0" name="Google Shape;7850;p5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1" name="Google Shape;7851;p5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2" name="Google Shape;7852;p5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53" name="Google Shape;7853;p5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4" name="Google Shape;7854;p5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55" name="Google Shape;7855;p5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56" name="Google Shape;7856;p5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7" name="Google Shape;7857;p5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58" name="Google Shape;7858;p5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9" name="Google Shape;7859;p5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60" name="Google Shape;7860;p5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1" name="Google Shape;7861;p5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862" name="Google Shape;7862;p5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863" name="Google Shape;7863;p5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864" name="Google Shape;7864;p5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865" name="Google Shape;7865;p5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866" name="Google Shape;7866;p5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867" name="Google Shape;7867;p5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868" name="Google Shape;7868;p5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869" name="Google Shape;7869;p5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870" name="Google Shape;7870;p5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871" name="Google Shape;7871;p5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872" name="Google Shape;7872;p5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873" name="Google Shape;7873;p5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874" name="Google Shape;7874;p5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875" name="Google Shape;7875;p5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76" name="Google Shape;7876;p5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77" name="Google Shape;7877;p5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78" name="Google Shape;7878;p5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79" name="Google Shape;7879;p5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80" name="Google Shape;7880;p5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81" name="Google Shape;7881;p5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82" name="Google Shape;7882;p5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83" name="Google Shape;7883;p5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84" name="Google Shape;7884;p5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85" name="Google Shape;7885;p5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86" name="Google Shape;7886;p5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87" name="Google Shape;7887;p5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88" name="Google Shape;7888;p5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889" name="Google Shape;7889;p5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0" name="Google Shape;7890;p5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1" name="Google Shape;7891;p5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2" name="Google Shape;7892;p5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3" name="Google Shape;7893;p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4" name="Google Shape;7894;p5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5" name="Google Shape;7895;p5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6" name="Google Shape;7896;p5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7" name="Google Shape;7897;p5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8" name="Google Shape;7898;p5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9" name="Google Shape;7899;p5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0" name="Google Shape;7900;p5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1" name="Google Shape;7901;p5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2" name="Google Shape;7902;p5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903" name="Google Shape;7903;p5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904" name="Google Shape;7904;p5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7905" name="Google Shape;7905;p5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6" name="Google Shape;7906;p5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907" name="Google Shape;7907;p5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908" name="Google Shape;7908;p5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7909" name="Google Shape;7909;p5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0" name="Google Shape;7910;p5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911" name="Google Shape;7911;p5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912" name="Google Shape;7912;p5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913" name="Google Shape;7913;p5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914" name="Google Shape;7914;p5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18" name="Shape 7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9" name="Google Shape;7919;p5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0" name="Google Shape;7920;p5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Legacy Insurance, Llc</a:t>
            </a:r>
            <a:endParaRPr/>
          </a:p>
        </p:txBody>
      </p:sp>
      <p:sp>
        <p:nvSpPr>
          <p:cNvPr id="7921" name="Google Shape;7921;p5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Central  |  State: TN  |  City: Clarksville</a:t>
            </a:r>
            <a:endParaRPr/>
          </a:p>
        </p:txBody>
      </p:sp>
      <p:sp>
        <p:nvSpPr>
          <p:cNvPr id="7922" name="Google Shape;7922;p5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923" name="Google Shape;7923;p5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924" name="Google Shape;7924;p5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925" name="Google Shape;7925;p5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926" name="Google Shape;7926;p5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927" name="Google Shape;7927;p5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928" name="Google Shape;7928;p5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929" name="Google Shape;7929;p5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930" name="Google Shape;7930;p5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931" name="Google Shape;7931;p5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32" name="Google Shape;7932;p5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33" name="Google Shape;7933;p5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934" name="Google Shape;7934;p5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935" name="Google Shape;7935;p5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6" name="Google Shape;7936;p5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937" name="Google Shape;7937;p5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38" name="Google Shape;7938;p5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939" name="Google Shape;7939;p5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940" name="Google Shape;7940;p5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941" name="Google Shape;7941;p5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942" name="Google Shape;7942;p5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943" name="Google Shape;7943;p5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4" name="Google Shape;7944;p5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45" name="Google Shape;7945;p5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6" name="Google Shape;7946;p5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7" name="Google Shape;7947;p5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8" name="Google Shape;7948;p5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9" name="Google Shape;7949;p5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0" name="Google Shape;7950;p5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1" name="Google Shape;7951;p5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52" name="Google Shape;7952;p5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3" name="Google Shape;7953;p5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4" name="Google Shape;7954;p5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5" name="Google Shape;7955;p5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6" name="Google Shape;7956;p5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7" name="Google Shape;7957;p5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8" name="Google Shape;7958;p5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59" name="Google Shape;7959;p5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0" name="Google Shape;7960;p5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1" name="Google Shape;7961;p5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2" name="Google Shape;7962;p5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3" name="Google Shape;7963;p5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4" name="Google Shape;7964;p5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5" name="Google Shape;7965;p5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66" name="Google Shape;7966;p5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7" name="Google Shape;7967;p5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8" name="Google Shape;7968;p5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9" name="Google Shape;7969;p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0" name="Google Shape;7970;p5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1" name="Google Shape;7971;p5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2" name="Google Shape;7972;p5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73" name="Google Shape;7973;p5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4" name="Google Shape;7974;p5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5" name="Google Shape;7975;p5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6" name="Google Shape;7976;p5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7" name="Google Shape;7977;p5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8" name="Google Shape;7978;p5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9" name="Google Shape;7979;p5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80" name="Google Shape;7980;p5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1" name="Google Shape;7981;p5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2" name="Google Shape;7982;p5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3" name="Google Shape;7983;p5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4" name="Google Shape;7984;p5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5" name="Google Shape;7985;p5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6" name="Google Shape;7986;p5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987" name="Google Shape;7987;p5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88" name="Google Shape;7988;p5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989" name="Google Shape;7989;p5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990" name="Google Shape;7990;p5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991" name="Google Shape;7991;p5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92" name="Google Shape;7992;p5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93" name="Google Shape;7993;p5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4" name="Google Shape;7994;p5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95" name="Google Shape;7995;p5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6" name="Google Shape;7996;p5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7" name="Google Shape;7997;p5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8" name="Google Shape;7998;p5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9" name="Google Shape;7999;p5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00" name="Google Shape;8000;p5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1" name="Google Shape;8001;p5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002" name="Google Shape;8002;p5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3" name="Google Shape;8003;p5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4" name="Google Shape;8004;p5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5" name="Google Shape;8005;p5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6" name="Google Shape;8006;p5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07" name="Google Shape;8007;p5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8" name="Google Shape;8008;p5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009" name="Google Shape;8009;p5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10" name="Google Shape;8010;p5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1" name="Google Shape;8011;p5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12" name="Google Shape;8012;p5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3" name="Google Shape;8013;p5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14" name="Google Shape;8014;p5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5" name="Google Shape;8015;p5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016" name="Google Shape;8016;p5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17" name="Google Shape;8017;p5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8" name="Google Shape;8018;p5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19" name="Google Shape;8019;p5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0" name="Google Shape;8020;p5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21" name="Google Shape;8021;p5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2" name="Google Shape;8022;p5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023" name="Google Shape;8023;p5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4" name="Google Shape;8024;p5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5" name="Google Shape;8025;p5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6" name="Google Shape;8026;p5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7" name="Google Shape;8027;p5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28" name="Google Shape;8028;p5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9" name="Google Shape;8029;p5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030" name="Google Shape;8030;p5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31" name="Google Shape;8031;p5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32" name="Google Shape;8032;p5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33" name="Google Shape;8033;p5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34" name="Google Shape;8034;p5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35" name="Google Shape;8035;p5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6" name="Google Shape;8036;p5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037" name="Google Shape;8037;p5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038" name="Google Shape;8038;p5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039" name="Google Shape;8039;p5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040" name="Google Shape;8040;p5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041" name="Google Shape;8041;p5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042" name="Google Shape;8042;p5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043" name="Google Shape;8043;p5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044" name="Google Shape;8044;p5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045" name="Google Shape;8045;p5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046" name="Google Shape;8046;p5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047" name="Google Shape;8047;p5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048" name="Google Shape;8048;p5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049" name="Google Shape;8049;p5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050" name="Google Shape;8050;p5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51" name="Google Shape;8051;p5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2" name="Google Shape;8052;p5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3" name="Google Shape;8053;p5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4" name="Google Shape;8054;p5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5" name="Google Shape;8055;p5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6" name="Google Shape;8056;p5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57" name="Google Shape;8057;p5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8" name="Google Shape;8058;p5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59" name="Google Shape;8059;p5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60" name="Google Shape;8060;p5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61" name="Google Shape;8061;p5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62" name="Google Shape;8062;p5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63" name="Google Shape;8063;p5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064" name="Google Shape;8064;p5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5" name="Google Shape;8065;p5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6" name="Google Shape;8066;p5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7" name="Google Shape;8067;p5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8" name="Google Shape;8068;p5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9" name="Google Shape;8069;p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0" name="Google Shape;8070;p5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1" name="Google Shape;8071;p5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2" name="Google Shape;8072;p5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3" name="Google Shape;8073;p5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4" name="Google Shape;8074;p5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5" name="Google Shape;8075;p5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6" name="Google Shape;8076;p5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7" name="Google Shape;8077;p5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078" name="Google Shape;8078;p5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79" name="Google Shape;8079;p5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8080" name="Google Shape;8080;p5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1" name="Google Shape;8081;p5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082" name="Google Shape;8082;p5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83" name="Google Shape;8083;p5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 submissions</a:t>
            </a:r>
            <a:endParaRPr/>
          </a:p>
        </p:txBody>
      </p:sp>
      <p:sp>
        <p:nvSpPr>
          <p:cNvPr id="8084" name="Google Shape;8084;p5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5" name="Google Shape;8085;p5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086" name="Google Shape;8086;p5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087" name="Google Shape;8087;p5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088" name="Google Shape;8088;p5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089" name="Google Shape;8089;p5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93" name="Shape 8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4" name="Google Shape;8094;p5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5" name="Google Shape;8095;p5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Palomar Insurance Corporation</a:t>
            </a:r>
            <a:endParaRPr/>
          </a:p>
        </p:txBody>
      </p:sp>
      <p:sp>
        <p:nvSpPr>
          <p:cNvPr id="8096" name="Google Shape;8096;p5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Alabama  |  City: Montgomery</a:t>
            </a:r>
            <a:endParaRPr/>
          </a:p>
        </p:txBody>
      </p:sp>
      <p:sp>
        <p:nvSpPr>
          <p:cNvPr id="8097" name="Google Shape;8097;p5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098" name="Google Shape;8098;p5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99" name="Google Shape;8099;p5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100" name="Google Shape;8100;p5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101" name="Google Shape;8101;p5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102" name="Google Shape;8102;p5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103" name="Google Shape;8103;p5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104" name="Google Shape;8104;p5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105" name="Google Shape;8105;p5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106" name="Google Shape;8106;p5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07" name="Google Shape;8107;p5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08" name="Google Shape;8108;p5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109" name="Google Shape;8109;p5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110" name="Google Shape;8110;p5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1" name="Google Shape;8111;p5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112" name="Google Shape;8112;p5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13" name="Google Shape;8113;p5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114" name="Google Shape;8114;p5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115" name="Google Shape;8115;p5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116" name="Google Shape;8116;p5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117" name="Google Shape;8117;p5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118" name="Google Shape;8118;p5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9" name="Google Shape;8119;p5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20" name="Google Shape;8120;p5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1" name="Google Shape;8121;p5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2" name="Google Shape;8122;p5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3" name="Google Shape;8123;p5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4" name="Google Shape;8124;p5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5" name="Google Shape;8125;p5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6" name="Google Shape;8126;p5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27" name="Google Shape;8127;p5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8" name="Google Shape;8128;p5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9" name="Google Shape;8129;p5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0" name="Google Shape;8130;p5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1" name="Google Shape;8131;p5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2" name="Google Shape;8132;p5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3" name="Google Shape;8133;p5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34" name="Google Shape;8134;p5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5" name="Google Shape;8135;p5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6" name="Google Shape;8136;p5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7" name="Google Shape;8137;p5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8" name="Google Shape;8138;p5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9" name="Google Shape;8139;p5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0" name="Google Shape;8140;p5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41" name="Google Shape;8141;p5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2" name="Google Shape;8142;p5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3" name="Google Shape;8143;p5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4" name="Google Shape;8144;p5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5" name="Google Shape;8145;p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6" name="Google Shape;8146;p5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7" name="Google Shape;8147;p5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48" name="Google Shape;8148;p5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9" name="Google Shape;8149;p5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0" name="Google Shape;8150;p5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1" name="Google Shape;8151;p5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2" name="Google Shape;8152;p5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3" name="Google Shape;8153;p5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4" name="Google Shape;8154;p5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55" name="Google Shape;8155;p5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6" name="Google Shape;8156;p5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7" name="Google Shape;8157;p5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8" name="Google Shape;8158;p5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9" name="Google Shape;8159;p5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60" name="Google Shape;8160;p5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1" name="Google Shape;8161;p5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162" name="Google Shape;8162;p5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63" name="Google Shape;8163;p5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64" name="Google Shape;8164;p5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165" name="Google Shape;8165;p5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166" name="Google Shape;8166;p5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67" name="Google Shape;8167;p5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68" name="Google Shape;8168;p5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9" name="Google Shape;8169;p5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70" name="Google Shape;8170;p5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171" name="Google Shape;8171;p5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72" name="Google Shape;8172;p5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73" name="Google Shape;8173;p5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74" name="Google Shape;8174;p5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75" name="Google Shape;8175;p5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6" name="Google Shape;8176;p5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77" name="Google Shape;8177;p5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178" name="Google Shape;8178;p5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179" name="Google Shape;8179;p5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80" name="Google Shape;8180;p5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1" name="Google Shape;8181;p5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82" name="Google Shape;8182;p5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3" name="Google Shape;8183;p5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84" name="Google Shape;8184;p5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85" name="Google Shape;8185;p5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6" name="Google Shape;8186;p5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87" name="Google Shape;8187;p5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8" name="Google Shape;8188;p5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89" name="Google Shape;8189;p5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0" name="Google Shape;8190;p5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91" name="Google Shape;8191;p5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92" name="Google Shape;8192;p5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3" name="Google Shape;8193;p5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94" name="Google Shape;8194;p5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5" name="Google Shape;8195;p5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96" name="Google Shape;8196;p5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7" name="Google Shape;8197;p5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98" name="Google Shape;8198;p5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9" name="Google Shape;8199;p5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00" name="Google Shape;8200;p5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01" name="Google Shape;8201;p5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02" name="Google Shape;8202;p5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03" name="Google Shape;8203;p5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4" name="Google Shape;8204;p5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205" name="Google Shape;8205;p5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206" name="Google Shape;8206;p5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07" name="Google Shape;8207;p5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208" name="Google Shape;8208;p5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09" name="Google Shape;8209;p5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10" name="Google Shape;8210;p5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1" name="Google Shape;8211;p5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212" name="Google Shape;8212;p5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213" name="Google Shape;8213;p5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214" name="Google Shape;8214;p5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215" name="Google Shape;8215;p5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216" name="Google Shape;8216;p5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217" name="Google Shape;8217;p5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218" name="Google Shape;8218;p5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219" name="Google Shape;8219;p5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220" name="Google Shape;8220;p5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221" name="Google Shape;8221;p5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222" name="Google Shape;8222;p5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223" name="Google Shape;8223;p5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224" name="Google Shape;8224;p5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225" name="Google Shape;8225;p5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26" name="Google Shape;8226;p5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27" name="Google Shape;8227;p5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28" name="Google Shape;8228;p5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29" name="Google Shape;8229;p5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230" name="Google Shape;8230;p5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231" name="Google Shape;8231;p5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32" name="Google Shape;8232;p5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233" name="Google Shape;8233;p5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234" name="Google Shape;8234;p5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35" name="Google Shape;8235;p5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36" name="Google Shape;8236;p5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8237" name="Google Shape;8237;p5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238" name="Google Shape;8238;p5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239" name="Google Shape;8239;p5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0" name="Google Shape;8240;p5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1" name="Google Shape;8241;p5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2" name="Google Shape;8242;p5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3" name="Google Shape;8243;p5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4" name="Google Shape;8244;p5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5" name="Google Shape;8245;p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6" name="Google Shape;8246;p5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7" name="Google Shape;8247;p5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8" name="Google Shape;8248;p5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9" name="Google Shape;8249;p5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0" name="Google Shape;8250;p5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1" name="Google Shape;8251;p5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2" name="Google Shape;8252;p5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253" name="Google Shape;8253;p5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54" name="Google Shape;8254;p5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8255" name="Google Shape;8255;p5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6" name="Google Shape;8256;p5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257" name="Google Shape;8257;p5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58" name="Google Shape;8258;p5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16 submissions</a:t>
            </a:r>
            <a:endParaRPr/>
          </a:p>
        </p:txBody>
      </p:sp>
      <p:sp>
        <p:nvSpPr>
          <p:cNvPr id="8259" name="Google Shape;8259;p5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60" name="Google Shape;8260;p5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submissions with zero binds - zero conversion</a:t>
            </a:r>
            <a:endParaRPr/>
          </a:p>
        </p:txBody>
      </p:sp>
      <p:sp>
        <p:nvSpPr>
          <p:cNvPr id="8261" name="Google Shape;8261;p5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2" name="Google Shape;8262;p5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263" name="Google Shape;8263;p5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264" name="Google Shape;8264;p5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16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265" name="Google Shape;8265;p5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266" name="Google Shape;8266;p5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70" name="Shape 8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1" name="Google Shape;8271;p5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2" name="Google Shape;8272;p5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Southern Insurance Specialists, Inc.</a:t>
            </a:r>
            <a:endParaRPr/>
          </a:p>
        </p:txBody>
      </p:sp>
      <p:sp>
        <p:nvSpPr>
          <p:cNvPr id="8273" name="Google Shape;8273;p5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MS  |  City: Ridgeland</a:t>
            </a:r>
            <a:endParaRPr/>
          </a:p>
        </p:txBody>
      </p:sp>
      <p:sp>
        <p:nvSpPr>
          <p:cNvPr id="8274" name="Google Shape;8274;p5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275" name="Google Shape;8275;p5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76" name="Google Shape;8276;p5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77" name="Google Shape;8277;p5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78" name="Google Shape;8278;p5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79" name="Google Shape;8279;p5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280" name="Google Shape;8280;p5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281" name="Google Shape;8281;p5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282" name="Google Shape;8282;p5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83" name="Google Shape;8283;p5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84" name="Google Shape;8284;p5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85" name="Google Shape;8285;p5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286" name="Google Shape;8286;p5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287" name="Google Shape;8287;p5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8" name="Google Shape;8288;p5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289" name="Google Shape;8289;p5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90" name="Google Shape;8290;p5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291" name="Google Shape;8291;p5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92" name="Google Shape;8292;p5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93" name="Google Shape;8293;p5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94" name="Google Shape;8294;p5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95" name="Google Shape;8295;p5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6" name="Google Shape;8296;p5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297" name="Google Shape;8297;p5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8" name="Google Shape;8298;p5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9" name="Google Shape;8299;p5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0" name="Google Shape;8300;p5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1" name="Google Shape;8301;p5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2" name="Google Shape;8302;p5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3" name="Google Shape;8303;p5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04" name="Google Shape;8304;p5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5" name="Google Shape;8305;p5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6" name="Google Shape;8306;p5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7" name="Google Shape;8307;p5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8" name="Google Shape;8308;p5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9" name="Google Shape;8309;p5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0" name="Google Shape;8310;p5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11" name="Google Shape;8311;p5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2" name="Google Shape;8312;p5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3" name="Google Shape;8313;p5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4" name="Google Shape;8314;p5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5" name="Google Shape;8315;p5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6" name="Google Shape;8316;p5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7" name="Google Shape;8317;p5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18" name="Google Shape;8318;p5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9" name="Google Shape;8319;p5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0" name="Google Shape;8320;p5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1" name="Google Shape;8321;p5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2" name="Google Shape;8322;p5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3" name="Google Shape;8323;p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4" name="Google Shape;8324;p5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25" name="Google Shape;8325;p5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6" name="Google Shape;8326;p5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7" name="Google Shape;8327;p5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8" name="Google Shape;8328;p5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9" name="Google Shape;8329;p5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0" name="Google Shape;8330;p5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1" name="Google Shape;8331;p5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32" name="Google Shape;8332;p5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3" name="Google Shape;8333;p5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4" name="Google Shape;8334;p5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5" name="Google Shape;8335;p5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6" name="Google Shape;8336;p5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7" name="Google Shape;8337;p5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8" name="Google Shape;8338;p5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339" name="Google Shape;8339;p5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340" name="Google Shape;8340;p5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341" name="Google Shape;8341;p5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342" name="Google Shape;8342;p5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343" name="Google Shape;8343;p5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344" name="Google Shape;8344;p5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345" name="Google Shape;8345;p5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6" name="Google Shape;8346;p5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347" name="Google Shape;8347;p5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8" name="Google Shape;8348;p5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9" name="Google Shape;8349;p5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0" name="Google Shape;8350;p5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1" name="Google Shape;8351;p5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52" name="Google Shape;8352;p5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3" name="Google Shape;8353;p5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54" name="Google Shape;8354;p5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5" name="Google Shape;8355;p5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6" name="Google Shape;8356;p5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7" name="Google Shape;8357;p5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8" name="Google Shape;8358;p5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59" name="Google Shape;8359;p5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0" name="Google Shape;8360;p5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61" name="Google Shape;8361;p5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62" name="Google Shape;8362;p5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3" name="Google Shape;8363;p5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64" name="Google Shape;8364;p5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5" name="Google Shape;8365;p5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66" name="Google Shape;8366;p5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7" name="Google Shape;8367;p5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68" name="Google Shape;8368;p5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69" name="Google Shape;8369;p5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70" name="Google Shape;8370;p5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71" name="Google Shape;8371;p5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72" name="Google Shape;8372;p5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73" name="Google Shape;8373;p5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4" name="Google Shape;8374;p5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75" name="Google Shape;8375;p5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76" name="Google Shape;8376;p5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77" name="Google Shape;8377;p5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78" name="Google Shape;8378;p5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79" name="Google Shape;8379;p5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80" name="Google Shape;8380;p5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1" name="Google Shape;8381;p5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82" name="Google Shape;8382;p5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83" name="Google Shape;8383;p5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84" name="Google Shape;8384;p5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85" name="Google Shape;8385;p5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86" name="Google Shape;8386;p5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87" name="Google Shape;8387;p5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8" name="Google Shape;8388;p5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389" name="Google Shape;8389;p5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390" name="Google Shape;8390;p5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391" name="Google Shape;8391;p5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392" name="Google Shape;8392;p5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393" name="Google Shape;8393;p5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394" name="Google Shape;8394;p5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395" name="Google Shape;8395;p5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396" name="Google Shape;8396;p5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397" name="Google Shape;8397;p5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398" name="Google Shape;8398;p5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399" name="Google Shape;8399;p5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400" name="Google Shape;8400;p5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401" name="Google Shape;8401;p5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402" name="Google Shape;8402;p5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03" name="Google Shape;8403;p5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04" name="Google Shape;8404;p5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05" name="Google Shape;8405;p5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06" name="Google Shape;8406;p5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07" name="Google Shape;8407;p5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08" name="Google Shape;8408;p5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409" name="Google Shape;8409;p5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10" name="Google Shape;8410;p5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411" name="Google Shape;8411;p5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12" name="Google Shape;8412;p5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13" name="Google Shape;8413;p5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414" name="Google Shape;8414;p5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415" name="Google Shape;8415;p5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416" name="Google Shape;8416;p5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7" name="Google Shape;8417;p5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8" name="Google Shape;8418;p5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9" name="Google Shape;8419;p5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0" name="Google Shape;8420;p5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1" name="Google Shape;8421;p5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2" name="Google Shape;8422;p5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3" name="Google Shape;8423;p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4" name="Google Shape;8424;p5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5" name="Google Shape;8425;p5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6" name="Google Shape;8426;p5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7" name="Google Shape;8427;p5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8" name="Google Shape;8428;p5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9" name="Google Shape;8429;p5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430" name="Google Shape;8430;p5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431" name="Google Shape;8431;p5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8432" name="Google Shape;8432;p5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3" name="Google Shape;8433;p5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434" name="Google Shape;8434;p5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35" name="Google Shape;8435;p5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8436" name="Google Shape;8436;p5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37" name="Google Shape;8437;p5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8438" name="Google Shape;8438;p5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9" name="Google Shape;8439;p5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440" name="Google Shape;8440;p5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441" name="Google Shape;8441;p5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45" name="Shape 8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6" name="Google Shape;8446;p5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7" name="Google Shape;8447;p5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Swfl Insurance Agency</a:t>
            </a:r>
            <a:endParaRPr/>
          </a:p>
        </p:txBody>
      </p:sp>
      <p:sp>
        <p:nvSpPr>
          <p:cNvPr id="8448" name="Google Shape;8448;p5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Fort Myers</a:t>
            </a:r>
            <a:endParaRPr/>
          </a:p>
        </p:txBody>
      </p:sp>
      <p:sp>
        <p:nvSpPr>
          <p:cNvPr id="8449" name="Google Shape;8449;p5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450" name="Google Shape;8450;p5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51" name="Google Shape;8451;p5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52" name="Google Shape;8452;p5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53" name="Google Shape;8453;p5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54" name="Google Shape;8454;p5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455" name="Google Shape;8455;p5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456" name="Google Shape;8456;p5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457" name="Google Shape;8457;p5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58" name="Google Shape;8458;p5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59" name="Google Shape;8459;p5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60" name="Google Shape;8460;p5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461" name="Google Shape;8461;p5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462" name="Google Shape;8462;p5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3" name="Google Shape;8463;p5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464" name="Google Shape;8464;p5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65" name="Google Shape;8465;p5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466" name="Google Shape;8466;p5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67" name="Google Shape;8467;p5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68" name="Google Shape;8468;p5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69" name="Google Shape;8469;p5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70" name="Google Shape;8470;p5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1" name="Google Shape;8471;p5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72" name="Google Shape;8472;p5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3" name="Google Shape;8473;p5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4" name="Google Shape;8474;p5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5" name="Google Shape;8475;p5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6" name="Google Shape;8476;p5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7" name="Google Shape;8477;p5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8" name="Google Shape;8478;p5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79" name="Google Shape;8479;p5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0" name="Google Shape;8480;p5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1" name="Google Shape;8481;p5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2" name="Google Shape;8482;p5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3" name="Google Shape;8483;p5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4" name="Google Shape;8484;p5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5" name="Google Shape;8485;p5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86" name="Google Shape;8486;p5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7" name="Google Shape;8487;p5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8" name="Google Shape;8488;p5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9" name="Google Shape;8489;p5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0" name="Google Shape;8490;p5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1" name="Google Shape;8491;p5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2" name="Google Shape;8492;p5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493" name="Google Shape;8493;p5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4" name="Google Shape;8494;p5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5" name="Google Shape;8495;p5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6" name="Google Shape;8496;p5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7" name="Google Shape;8497;p5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8" name="Google Shape;8498;p5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9" name="Google Shape;8499;p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00" name="Google Shape;8500;p5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1" name="Google Shape;8501;p5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2" name="Google Shape;8502;p5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3" name="Google Shape;8503;p5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4" name="Google Shape;8504;p5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5" name="Google Shape;8505;p5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6" name="Google Shape;8506;p5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07" name="Google Shape;8507;p5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8" name="Google Shape;8508;p5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9" name="Google Shape;8509;p5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0" name="Google Shape;8510;p5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1" name="Google Shape;8511;p5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2" name="Google Shape;8512;p5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3" name="Google Shape;8513;p5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514" name="Google Shape;8514;p5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515" name="Google Shape;8515;p5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516" name="Google Shape;8516;p5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517" name="Google Shape;8517;p5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518" name="Google Shape;8518;p5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519" name="Google Shape;8519;p5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520" name="Google Shape;8520;p5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1" name="Google Shape;8521;p5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522" name="Google Shape;8522;p5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3" name="Google Shape;8523;p5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4" name="Google Shape;8524;p5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5" name="Google Shape;8525;p5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6" name="Google Shape;8526;p5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27" name="Google Shape;8527;p5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8" name="Google Shape;8528;p5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529" name="Google Shape;8529;p5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0" name="Google Shape;8530;p5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1" name="Google Shape;8531;p5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2" name="Google Shape;8532;p5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3" name="Google Shape;8533;p5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34" name="Google Shape;8534;p5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5" name="Google Shape;8535;p5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536" name="Google Shape;8536;p5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37" name="Google Shape;8537;p5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8" name="Google Shape;8538;p5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39" name="Google Shape;8539;p5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0" name="Google Shape;8540;p5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41" name="Google Shape;8541;p5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2" name="Google Shape;8542;p5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543" name="Google Shape;8543;p5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4" name="Google Shape;8544;p5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5" name="Google Shape;8545;p5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6" name="Google Shape;8546;p5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7" name="Google Shape;8547;p5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48" name="Google Shape;8548;p5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9" name="Google Shape;8549;p5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50" name="Google Shape;8550;p5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51" name="Google Shape;8551;p5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2" name="Google Shape;8552;p5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53" name="Google Shape;8553;p5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4" name="Google Shape;8554;p5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55" name="Google Shape;8555;p5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6" name="Google Shape;8556;p5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57" name="Google Shape;8557;p5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58" name="Google Shape;8558;p5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9" name="Google Shape;8559;p5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60" name="Google Shape;8560;p5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61" name="Google Shape;8561;p5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62" name="Google Shape;8562;p5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3" name="Google Shape;8563;p5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564" name="Google Shape;8564;p5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565" name="Google Shape;8565;p5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566" name="Google Shape;8566;p5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567" name="Google Shape;8567;p5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568" name="Google Shape;8568;p5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569" name="Google Shape;8569;p5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570" name="Google Shape;8570;p5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571" name="Google Shape;8571;p5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572" name="Google Shape;8572;p5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573" name="Google Shape;8573;p5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574" name="Google Shape;8574;p5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575" name="Google Shape;8575;p5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576" name="Google Shape;8576;p5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577" name="Google Shape;8577;p5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78" name="Google Shape;8578;p5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79" name="Google Shape;8579;p5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0" name="Google Shape;8580;p5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1" name="Google Shape;8581;p5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2" name="Google Shape;8582;p5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3" name="Google Shape;8583;p5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84" name="Google Shape;8584;p5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5" name="Google Shape;8585;p5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6" name="Google Shape;8586;p5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7" name="Google Shape;8587;p5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88" name="Google Shape;8588;p5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9" name="Google Shape;8589;p5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90" name="Google Shape;8590;p5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591" name="Google Shape;8591;p5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92" name="Google Shape;8592;p5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93" name="Google Shape;8593;p5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94" name="Google Shape;8594;p5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95" name="Google Shape;8595;p5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96" name="Google Shape;8596;p5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97" name="Google Shape;8597;p5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98" name="Google Shape;8598;p5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99" name="Google Shape;8599;p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0" name="Google Shape;8600;p5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1" name="Google Shape;8601;p5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2" name="Google Shape;8602;p5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3" name="Google Shape;8603;p5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4" name="Google Shape;8604;p5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605" name="Google Shape;8605;p5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606" name="Google Shape;8606;p5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8607" name="Google Shape;8607;p5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8" name="Google Shape;8608;p5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609" name="Google Shape;8609;p5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610" name="Google Shape;8610;p5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8611" name="Google Shape;8611;p5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2" name="Google Shape;8612;p5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613" name="Google Shape;8613;p5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614" name="Google Shape;8614;p5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615" name="Google Shape;8615;p5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616" name="Google Shape;8616;p5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20" name="Shape 8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1" name="Google Shape;8621;p5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2" name="Google Shape;8622;p5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D'angelo Agency, Llc Dba Insurancepm</a:t>
            </a:r>
            <a:endParaRPr/>
          </a:p>
        </p:txBody>
      </p:sp>
      <p:sp>
        <p:nvSpPr>
          <p:cNvPr id="8623" name="Google Shape;8623;p5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GA  |  City: Dacula</a:t>
            </a:r>
            <a:endParaRPr/>
          </a:p>
        </p:txBody>
      </p:sp>
      <p:sp>
        <p:nvSpPr>
          <p:cNvPr id="8624" name="Google Shape;8624;p5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625" name="Google Shape;8625;p5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26" name="Google Shape;8626;p5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27" name="Google Shape;8627;p5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28" name="Google Shape;8628;p5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29" name="Google Shape;8629;p5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630" name="Google Shape;8630;p5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631" name="Google Shape;8631;p5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632" name="Google Shape;8632;p5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633" name="Google Shape;8633;p5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34" name="Google Shape;8634;p5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35" name="Google Shape;8635;p5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636" name="Google Shape;8636;p5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637" name="Google Shape;8637;p5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8" name="Google Shape;8638;p5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639" name="Google Shape;8639;p5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40" name="Google Shape;8640;p5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641" name="Google Shape;8641;p5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42" name="Google Shape;8642;p5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43" name="Google Shape;8643;p5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44" name="Google Shape;8644;p5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45" name="Google Shape;8645;p5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6" name="Google Shape;8646;p5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47" name="Google Shape;8647;p5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8" name="Google Shape;8648;p5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9" name="Google Shape;8649;p5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0" name="Google Shape;8650;p5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1" name="Google Shape;8651;p5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2" name="Google Shape;8652;p5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3" name="Google Shape;8653;p5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54" name="Google Shape;8654;p5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5" name="Google Shape;8655;p5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6" name="Google Shape;8656;p5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7" name="Google Shape;8657;p5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8" name="Google Shape;8658;p5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9" name="Google Shape;8659;p5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0" name="Google Shape;8660;p5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61" name="Google Shape;8661;p5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2" name="Google Shape;8662;p5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3" name="Google Shape;8663;p5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4" name="Google Shape;8664;p5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5" name="Google Shape;8665;p5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6" name="Google Shape;8666;p5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7" name="Google Shape;8667;p5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68" name="Google Shape;8668;p5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9" name="Google Shape;8669;p5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0" name="Google Shape;8670;p5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1" name="Google Shape;8671;p5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2" name="Google Shape;8672;p5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3" name="Google Shape;8673;p5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4" name="Google Shape;8674;p5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75" name="Google Shape;8675;p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6" name="Google Shape;8676;p5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7" name="Google Shape;8677;p5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8" name="Google Shape;8678;p5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9" name="Google Shape;8679;p5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0" name="Google Shape;8680;p5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1" name="Google Shape;8681;p5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82" name="Google Shape;8682;p5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3" name="Google Shape;8683;p5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4" name="Google Shape;8684;p5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5" name="Google Shape;8685;p5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6" name="Google Shape;8686;p5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7" name="Google Shape;8687;p5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8" name="Google Shape;8688;p5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689" name="Google Shape;8689;p5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90" name="Google Shape;8690;p5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691" name="Google Shape;8691;p5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692" name="Google Shape;8692;p5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693" name="Google Shape;8693;p5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94" name="Google Shape;8694;p5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95" name="Google Shape;8695;p5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6" name="Google Shape;8696;p5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97" name="Google Shape;8697;p5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8" name="Google Shape;8698;p5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9" name="Google Shape;8699;p5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00" name="Google Shape;8700;p5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01" name="Google Shape;8701;p5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02" name="Google Shape;8702;p5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3" name="Google Shape;8703;p5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704" name="Google Shape;8704;p5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05" name="Google Shape;8705;p5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06" name="Google Shape;8706;p5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07" name="Google Shape;8707;p5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08" name="Google Shape;8708;p5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09" name="Google Shape;8709;p5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0" name="Google Shape;8710;p5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711" name="Google Shape;8711;p5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2" name="Google Shape;8712;p5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3" name="Google Shape;8713;p5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4" name="Google Shape;8714;p5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5" name="Google Shape;8715;p5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16" name="Google Shape;8716;p5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7" name="Google Shape;8717;p5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718" name="Google Shape;8718;p5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9" name="Google Shape;8719;p5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0" name="Google Shape;8720;p5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1" name="Google Shape;8721;p5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2" name="Google Shape;8722;p5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23" name="Google Shape;8723;p5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4" name="Google Shape;8724;p5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725" name="Google Shape;8725;p5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6" name="Google Shape;8726;p5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7" name="Google Shape;8727;p5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8" name="Google Shape;8728;p5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9" name="Google Shape;8729;p5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30" name="Google Shape;8730;p5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1" name="Google Shape;8731;p5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732" name="Google Shape;8732;p5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33" name="Google Shape;8733;p5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34" name="Google Shape;8734;p5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35" name="Google Shape;8735;p5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36" name="Google Shape;8736;p5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37" name="Google Shape;8737;p5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8" name="Google Shape;8738;p5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739" name="Google Shape;8739;p5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740" name="Google Shape;8740;p5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741" name="Google Shape;8741;p5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742" name="Google Shape;8742;p5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743" name="Google Shape;8743;p5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744" name="Google Shape;8744;p5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745" name="Google Shape;8745;p5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746" name="Google Shape;8746;p5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747" name="Google Shape;8747;p5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748" name="Google Shape;8748;p5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749" name="Google Shape;8749;p5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750" name="Google Shape;8750;p5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751" name="Google Shape;8751;p5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752" name="Google Shape;8752;p5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53" name="Google Shape;8753;p5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4" name="Google Shape;8754;p5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5" name="Google Shape;8755;p5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6" name="Google Shape;8756;p5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57" name="Google Shape;8757;p5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58" name="Google Shape;8758;p5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9" name="Google Shape;8759;p5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60" name="Google Shape;8760;p5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61" name="Google Shape;8761;p5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62" name="Google Shape;8762;p5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63" name="Google Shape;8763;p5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64" name="Google Shape;8764;p5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65" name="Google Shape;8765;p5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766" name="Google Shape;8766;p5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67" name="Google Shape;8767;p5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68" name="Google Shape;8768;p5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69" name="Google Shape;8769;p5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0" name="Google Shape;8770;p5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1" name="Google Shape;8771;p5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2" name="Google Shape;8772;p5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3" name="Google Shape;8773;p5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4" name="Google Shape;8774;p5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5" name="Google Shape;8775;p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6" name="Google Shape;8776;p5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7" name="Google Shape;8777;p5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8" name="Google Shape;8778;p5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9" name="Google Shape;8779;p5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780" name="Google Shape;8780;p5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781" name="Google Shape;8781;p5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8782" name="Google Shape;8782;p5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3" name="Google Shape;8783;p5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784" name="Google Shape;8784;p5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785" name="Google Shape;8785;p5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8786" name="Google Shape;8786;p5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7" name="Google Shape;8787;p5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788" name="Google Shape;8788;p5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789" name="Google Shape;8789;p5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790" name="Google Shape;8790;p5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791" name="Google Shape;8791;p5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95" name="Shape 8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6" name="Google Shape;8796;p5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7" name="Google Shape;8797;p5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Wao Insurance Group Inc</a:t>
            </a:r>
            <a:endParaRPr/>
          </a:p>
        </p:txBody>
      </p:sp>
      <p:sp>
        <p:nvSpPr>
          <p:cNvPr id="8798" name="Google Shape;8798;p5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N/A</a:t>
            </a:r>
            <a:endParaRPr/>
          </a:p>
        </p:txBody>
      </p:sp>
      <p:sp>
        <p:nvSpPr>
          <p:cNvPr id="8799" name="Google Shape;8799;p5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800" name="Google Shape;8800;p5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801" name="Google Shape;8801;p5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802" name="Google Shape;8802;p5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803" name="Google Shape;8803;p5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804" name="Google Shape;8804;p5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$11,997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805" name="Google Shape;8805;p5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$11,997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806" name="Google Shape;8806;p5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807" name="Google Shape;8807;p5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08" name="Google Shape;8808;p5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09" name="Google Shape;8809;p5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10" name="Google Shape;8810;p5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811" name="Google Shape;8811;p5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812" name="Google Shape;8812;p5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3" name="Google Shape;8813;p5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814" name="Google Shape;8814;p5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15" name="Google Shape;8815;p5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816" name="Google Shape;8816;p5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817" name="Google Shape;8817;p5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818" name="Google Shape;8818;p5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819" name="Google Shape;8819;p5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820" name="Google Shape;8820;p5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1" name="Google Shape;8821;p5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22" name="Google Shape;8822;p5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3" name="Google Shape;8823;p5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4" name="Google Shape;8824;p5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5" name="Google Shape;8825;p5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6" name="Google Shape;8826;p5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7" name="Google Shape;8827;p5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8" name="Google Shape;8828;p5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29" name="Google Shape;8829;p5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0" name="Google Shape;8830;p5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1" name="Google Shape;8831;p5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2" name="Google Shape;8832;p5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3" name="Google Shape;8833;p5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4" name="Google Shape;8834;p5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5" name="Google Shape;8835;p5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36" name="Google Shape;8836;p5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7" name="Google Shape;8837;p5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8" name="Google Shape;8838;p5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9" name="Google Shape;8839;p5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0" name="Google Shape;8840;p5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1" name="Google Shape;8841;p5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2" name="Google Shape;8842;p5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43" name="Google Shape;8843;p5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4" name="Google Shape;8844;p5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5" name="Google Shape;8845;p5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6" name="Google Shape;8846;p5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7" name="Google Shape;8847;p5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8" name="Google Shape;8848;p5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9" name="Google Shape;8849;p5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50" name="Google Shape;8850;p5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1" name="Google Shape;8851;p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2" name="Google Shape;8852;p5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3" name="Google Shape;8853;p5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4" name="Google Shape;8854;p5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5" name="Google Shape;8855;p5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6" name="Google Shape;8856;p5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57" name="Google Shape;8857;p5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8" name="Google Shape;8858;p5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9" name="Google Shape;8859;p5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0" name="Google Shape;8860;p5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1" name="Google Shape;8861;p5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2" name="Google Shape;8862;p5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3" name="Google Shape;8863;p5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864" name="Google Shape;8864;p5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65" name="Google Shape;8865;p5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866" name="Google Shape;8866;p5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867" name="Google Shape;8867;p5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868" name="Google Shape;8868;p5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69" name="Google Shape;8869;p5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70" name="Google Shape;8870;p5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1" name="Google Shape;8871;p5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72" name="Google Shape;8872;p5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873" name="Google Shape;8873;p5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74" name="Google Shape;8874;p5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875" name="Google Shape;8875;p5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76" name="Google Shape;8876;p5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77" name="Google Shape;8877;p5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8" name="Google Shape;8878;p5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79" name="Google Shape;8879;p5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880" name="Google Shape;8880;p5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81" name="Google Shape;8881;p5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882" name="Google Shape;8882;p5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83" name="Google Shape;8883;p5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84" name="Google Shape;8884;p5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5" name="Google Shape;8885;p5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86" name="Google Shape;8886;p5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887" name="Google Shape;8887;p5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88" name="Google Shape;8888;p5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889" name="Google Shape;8889;p5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0" name="Google Shape;8890;p5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91" name="Google Shape;8891;p5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2" name="Google Shape;8892;p5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93" name="Google Shape;8893;p5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894" name="Google Shape;8894;p5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95" name="Google Shape;8895;p5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896" name="Google Shape;8896;p5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7" name="Google Shape;8897;p5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98" name="Google Shape;8898;p5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9" name="Google Shape;8899;p5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900" name="Google Shape;8900;p5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901" name="Google Shape;8901;p5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02" name="Google Shape;8902;p5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903" name="Google Shape;8903;p5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04" name="Google Shape;8904;p5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05" name="Google Shape;8905;p5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6" name="Google Shape;8906;p5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907" name="Google Shape;8907;p5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8908" name="Google Shape;8908;p5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909" name="Google Shape;8909;p5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8910" name="Google Shape;8910;p5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1" name="Google Shape;8911;p5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12" name="Google Shape;8912;p5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3" name="Google Shape;8913;p5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914" name="Google Shape;8914;p5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915" name="Google Shape;8915;p5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916" name="Google Shape;8916;p5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917" name="Google Shape;8917;p5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918" name="Google Shape;8918;p5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919" name="Google Shape;8919;p5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920" name="Google Shape;8920;p5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921" name="Google Shape;8921;p5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922" name="Google Shape;8922;p5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923" name="Google Shape;8923;p5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924" name="Google Shape;8924;p5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925" name="Google Shape;8925;p5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926" name="Google Shape;8926;p5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927" name="Google Shape;8927;p5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28" name="Google Shape;8928;p5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9" name="Google Shape;8929;p5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930" name="Google Shape;8930;p5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31" name="Google Shape;8931;p5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932" name="Google Shape;8932;p5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33" name="Google Shape;8933;p5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934" name="Google Shape;8934;p5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35" name="Google Shape;8935;p5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936" name="Google Shape;8936;p5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937" name="Google Shape;8937;p5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938" name="Google Shape;8938;p5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939" name="Google Shape;8939;p5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8940" name="Google Shape;8940;p5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941" name="Google Shape;8941;p5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2" name="Google Shape;8942;p5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3" name="Google Shape;8943;p5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4" name="Google Shape;8944;p5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5" name="Google Shape;8945;p5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6" name="Google Shape;8946;p5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7" name="Google Shape;8947;p5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8" name="Google Shape;8948;p5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9" name="Google Shape;8949;p5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0" name="Google Shape;8950;p5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1" name="Google Shape;8951;p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2" name="Google Shape;8952;p5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3" name="Google Shape;8953;p5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4" name="Google Shape;8954;p5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955" name="Google Shape;8955;p5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56" name="Google Shape;8956;p5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 submissions - highly active agency</a:t>
            </a:r>
            <a:endParaRPr/>
          </a:p>
        </p:txBody>
      </p:sp>
      <p:sp>
        <p:nvSpPr>
          <p:cNvPr id="8957" name="Google Shape;8957;p5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58" name="Google Shape;8958;p5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quotes generated - active in pipeline</a:t>
            </a:r>
            <a:endParaRPr/>
          </a:p>
        </p:txBody>
      </p:sp>
      <p:sp>
        <p:nvSpPr>
          <p:cNvPr id="8959" name="Google Shape;8959;p5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0" name="Google Shape;8960;p5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961" name="Google Shape;8961;p5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62" name="Google Shape;8962;p5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42 submissions</a:t>
            </a:r>
            <a:endParaRPr/>
          </a:p>
        </p:txBody>
      </p:sp>
      <p:sp>
        <p:nvSpPr>
          <p:cNvPr id="8963" name="Google Shape;8963;p5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64" name="Google Shape;8964;p5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 submissions with zero binds - zero conversion</a:t>
            </a:r>
            <a:endParaRPr/>
          </a:p>
        </p:txBody>
      </p:sp>
      <p:sp>
        <p:nvSpPr>
          <p:cNvPr id="8965" name="Google Shape;8965;p5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6" name="Google Shape;8966;p5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967" name="Google Shape;8967;p5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968" name="Google Shape;8968;p5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969" name="Google Shape;8969;p5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970" name="Google Shape;8970;p5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74" name="Shape 8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5" name="Google Shape;8975;p5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6" name="Google Shape;8976;p5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Professional Insurance Agency Group Inc Dba Morion Insurance Agency</a:t>
            </a:r>
            <a:endParaRPr/>
          </a:p>
        </p:txBody>
      </p:sp>
      <p:sp>
        <p:nvSpPr>
          <p:cNvPr id="8977" name="Google Shape;8977;p5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</a:t>
            </a:r>
            <a:endParaRPr/>
          </a:p>
        </p:txBody>
      </p:sp>
      <p:sp>
        <p:nvSpPr>
          <p:cNvPr id="8978" name="Google Shape;8978;p5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979" name="Google Shape;8979;p5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80" name="Google Shape;8980;p5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81" name="Google Shape;8981;p5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82" name="Google Shape;8982;p5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83" name="Google Shape;8983;p5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$224,257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984" name="Google Shape;8984;p5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985" name="Google Shape;8985;p5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986" name="Google Shape;8986;p5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87" name="Google Shape;8987;p5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988" name="Google Shape;8988;p5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989" name="Google Shape;8989;p5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$124,670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990" name="Google Shape;8990;p5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$21,310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991" name="Google Shape;8991;p5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2" name="Google Shape;8992;p5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993" name="Google Shape;8993;p5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994" name="Google Shape;8994;p5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995" name="Google Shape;8995;p5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96" name="Google Shape;8996;p5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97" name="Google Shape;8997;p5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98" name="Google Shape;8998;p5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99" name="Google Shape;8999;p5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0" name="Google Shape;9000;p5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01" name="Google Shape;9001;p5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</a:t>
            </a:r>
            <a:endParaRPr/>
          </a:p>
        </p:txBody>
      </p:sp>
      <p:sp>
        <p:nvSpPr>
          <p:cNvPr id="9002" name="Google Shape;9002;p5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3" name="Google Shape;9003;p5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4" name="Google Shape;9004;p5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</a:t>
            </a:r>
            <a:endParaRPr/>
          </a:p>
        </p:txBody>
      </p:sp>
      <p:sp>
        <p:nvSpPr>
          <p:cNvPr id="9005" name="Google Shape;9005;p5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6" name="Google Shape;9006;p5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7" name="Google Shape;9007;p5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08" name="Google Shape;9008;p5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9" name="Google Shape;9009;p5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0" name="Google Shape;9010;p5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1" name="Google Shape;9011;p5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2" name="Google Shape;9012;p5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3" name="Google Shape;9013;p5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4" name="Google Shape;9014;p5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15" name="Google Shape;9015;p5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6" name="Google Shape;9016;p5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7" name="Google Shape;9017;p5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8" name="Google Shape;9018;p5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9" name="Google Shape;9019;p5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0" name="Google Shape;9020;p5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1" name="Google Shape;9021;p5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22" name="Google Shape;9022;p5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3" name="Google Shape;9023;p5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4" name="Google Shape;9024;p5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5" name="Google Shape;9025;p5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6" name="Google Shape;9026;p5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7" name="Google Shape;9027;p5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8" name="Google Shape;9028;p5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29" name="Google Shape;9029;p5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0" name="Google Shape;9030;p5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1" name="Google Shape;9031;p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2" name="Google Shape;9032;p5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3" name="Google Shape;9033;p5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4" name="Google Shape;9034;p5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5" name="Google Shape;9035;p5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36" name="Google Shape;9036;p5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</a:t>
            </a:r>
            <a:endParaRPr/>
          </a:p>
        </p:txBody>
      </p:sp>
      <p:sp>
        <p:nvSpPr>
          <p:cNvPr id="9037" name="Google Shape;9037;p5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8" name="Google Shape;9038;p5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9" name="Google Shape;9039;p5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</a:t>
            </a:r>
            <a:endParaRPr/>
          </a:p>
        </p:txBody>
      </p:sp>
      <p:sp>
        <p:nvSpPr>
          <p:cNvPr id="9040" name="Google Shape;9040;p5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41" name="Google Shape;9041;p5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2" name="Google Shape;9042;p5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043" name="Google Shape;9043;p5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044" name="Google Shape;9044;p5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45" name="Google Shape;9045;p5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046" name="Google Shape;9046;p5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047" name="Google Shape;9047;p5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48" name="Google Shape;9048;p5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49" name="Google Shape;9049;p5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0" name="Google Shape;9050;p5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51" name="Google Shape;9051;p5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052" name="Google Shape;9052;p5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53" name="Google Shape;9053;p5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054" name="Google Shape;9054;p5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55" name="Google Shape;9055;p5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9056" name="Google Shape;9056;p5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7" name="Google Shape;9057;p5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58" name="Google Shape;9058;p5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059" name="Google Shape;9059;p5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60" name="Google Shape;9060;p5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061" name="Google Shape;9061;p5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2" name="Google Shape;9062;p5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63" name="Google Shape;9063;p5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4" name="Google Shape;9064;p5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65" name="Google Shape;9065;p5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066" name="Google Shape;9066;p5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7" name="Google Shape;9067;p5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068" name="Google Shape;9068;p5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9" name="Google Shape;9069;p5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70" name="Google Shape;9070;p5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1" name="Google Shape;9071;p5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72" name="Google Shape;9072;p5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073" name="Google Shape;9073;p5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4" name="Google Shape;9074;p5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075" name="Google Shape;9075;p5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6" name="Google Shape;9076;p5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77" name="Google Shape;9077;p5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8" name="Google Shape;9078;p5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79" name="Google Shape;9079;p5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080" name="Google Shape;9080;p5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1" name="Google Shape;9081;p5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082" name="Google Shape;9082;p5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3" name="Google Shape;9083;p5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84" name="Google Shape;9084;p5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5" name="Google Shape;9085;p5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86" name="Google Shape;9086;p5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9087" name="Google Shape;9087;p5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88" name="Google Shape;9088;p5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9089" name="Google Shape;9089;p5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90" name="Google Shape;9090;p5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9091" name="Google Shape;9091;p5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2" name="Google Shape;9092;p5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093" name="Google Shape;9093;p5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094" name="Google Shape;9094;p5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095" name="Google Shape;9095;p5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096" name="Google Shape;9096;p5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097" name="Google Shape;9097;p5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098" name="Google Shape;9098;p5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099" name="Google Shape;9099;p5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100" name="Google Shape;9100;p5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101" name="Google Shape;9101;p5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102" name="Google Shape;9102;p5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103" name="Google Shape;9103;p5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104" name="Google Shape;9104;p5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105" name="Google Shape;9105;p5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106" name="Google Shape;9106;p5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07" name="Google Shape;9107;p5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108" name="Google Shape;9108;p5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109" name="Google Shape;9109;p5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110" name="Google Shape;9110;p5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111" name="Google Shape;9111;p5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112" name="Google Shape;9112;p5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113" name="Google Shape;9113;p5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114" name="Google Shape;9114;p5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115" name="Google Shape;9115;p5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9116" name="Google Shape;9116;p5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117" name="Google Shape;9117;p5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9118" name="Google Shape;9118;p5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9119" name="Google Shape;9119;p5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120" name="Google Shape;9120;p5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1" name="Google Shape;9121;p5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</a:t>
            </a:r>
            <a:endParaRPr/>
          </a:p>
        </p:txBody>
      </p:sp>
      <p:sp>
        <p:nvSpPr>
          <p:cNvPr id="9122" name="Google Shape;9122;p5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$145K</a:t>
            </a:r>
            <a:endParaRPr/>
          </a:p>
        </p:txBody>
      </p:sp>
      <p:sp>
        <p:nvSpPr>
          <p:cNvPr id="9123" name="Google Shape;9123;p5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4" name="Google Shape;9124;p5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5" name="Google Shape;9125;p5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6" name="Google Shape;9126;p5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9127" name="Google Shape;9127;p5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8" name="Google Shape;9128;p5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9129" name="Google Shape;9129;p5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0" name="Google Shape;9130;p5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$220K</a:t>
            </a:r>
            <a:endParaRPr/>
          </a:p>
        </p:txBody>
      </p:sp>
      <p:sp>
        <p:nvSpPr>
          <p:cNvPr id="9131" name="Google Shape;9131;p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</a:t>
            </a:r>
            <a:endParaRPr/>
          </a:p>
        </p:txBody>
      </p:sp>
      <p:sp>
        <p:nvSpPr>
          <p:cNvPr id="9132" name="Google Shape;9132;p5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3" name="Google Shape;9133;p5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134" name="Google Shape;9134;p5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135" name="Google Shape;9135;p5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 submissions - highly active agency</a:t>
            </a:r>
            <a:endParaRPr/>
          </a:p>
        </p:txBody>
      </p:sp>
      <p:sp>
        <p:nvSpPr>
          <p:cNvPr id="9136" name="Google Shape;9136;p5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137" name="Google Shape;9137;p5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bind(s) - converting submissions to business</a:t>
            </a:r>
            <a:endParaRPr/>
          </a:p>
        </p:txBody>
      </p:sp>
      <p:sp>
        <p:nvSpPr>
          <p:cNvPr id="9138" name="Google Shape;9138;p5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9" name="Google Shape;9139;p5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140" name="Google Shape;9140;p5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141" name="Google Shape;9141;p5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($-1) - cancellations exceed production</a:t>
            </a:r>
            <a:endParaRPr/>
          </a:p>
        </p:txBody>
      </p:sp>
      <p:sp>
        <p:nvSpPr>
          <p:cNvPr id="9142" name="Google Shape;9142;p5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3" name="Google Shape;9143;p5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144" name="Google Shape;9144;p5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145" name="Google Shape;9145;p5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146" name="Google Shape;9146;p5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147" name="Google Shape;9147;p5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51" name="Shape 9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2" name="Google Shape;9152;p5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3" name="Google Shape;9153;p5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Bill Fralic Insurance Services, Inc</a:t>
            </a:r>
            <a:endParaRPr/>
          </a:p>
        </p:txBody>
      </p:sp>
      <p:sp>
        <p:nvSpPr>
          <p:cNvPr id="9154" name="Google Shape;9154;p5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Alpharetta</a:t>
            </a:r>
            <a:endParaRPr/>
          </a:p>
        </p:txBody>
      </p:sp>
      <p:sp>
        <p:nvSpPr>
          <p:cNvPr id="9155" name="Google Shape;9155;p5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156" name="Google Shape;9156;p5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57" name="Google Shape;9157;p5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58" name="Google Shape;9158;p5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59" name="Google Shape;9159;p5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$-29,236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60" name="Google Shape;9160;p5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161" name="Google Shape;9161;p5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162" name="Google Shape;9162;p5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163" name="Google Shape;9163;p5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64" name="Google Shape;9164;p5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65" name="Google Shape;9165;p5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66" name="Google Shape;9166;p5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167" name="Google Shape;9167;p5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$52,699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168" name="Google Shape;9168;p5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9" name="Google Shape;9169;p5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170" name="Google Shape;9170;p5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71" name="Google Shape;9171;p5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172" name="Google Shape;9172;p5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73" name="Google Shape;9173;p5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74" name="Google Shape;9174;p5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75" name="Google Shape;9175;p5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76" name="Google Shape;9176;p5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7" name="Google Shape;9177;p5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78" name="Google Shape;9178;p5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9" name="Google Shape;9179;p5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0" name="Google Shape;9180;p5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1" name="Google Shape;9181;p5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2" name="Google Shape;9182;p5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$-18,695</a:t>
            </a:r>
            <a:endParaRPr/>
          </a:p>
        </p:txBody>
      </p:sp>
      <p:sp>
        <p:nvSpPr>
          <p:cNvPr id="9183" name="Google Shape;9183;p5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4" name="Google Shape;9184;p5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85" name="Google Shape;9185;p5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$-13,252</a:t>
            </a:r>
            <a:endParaRPr/>
          </a:p>
        </p:txBody>
      </p:sp>
      <p:sp>
        <p:nvSpPr>
          <p:cNvPr id="9186" name="Google Shape;9186;p5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7" name="Google Shape;9187;p5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8" name="Google Shape;9188;p5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$-13,252</a:t>
            </a:r>
            <a:endParaRPr/>
          </a:p>
        </p:txBody>
      </p:sp>
      <p:sp>
        <p:nvSpPr>
          <p:cNvPr id="9189" name="Google Shape;9189;p5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0" name="Google Shape;9190;p5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1" name="Google Shape;9191;p5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192" name="Google Shape;9192;p5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3" name="Google Shape;9193;p5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4" name="Google Shape;9194;p5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5" name="Google Shape;9195;p5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6" name="Google Shape;9196;p5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$-10,541</a:t>
            </a:r>
            <a:endParaRPr/>
          </a:p>
        </p:txBody>
      </p:sp>
      <p:sp>
        <p:nvSpPr>
          <p:cNvPr id="9197" name="Google Shape;9197;p5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8" name="Google Shape;9198;p5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99" name="Google Shape;9199;p5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0" name="Google Shape;9200;p5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1" name="Google Shape;9201;p5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2" name="Google Shape;9202;p5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3" name="Google Shape;9203;p5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4" name="Google Shape;9204;p5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5" name="Google Shape;9205;p5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06" name="Google Shape;9206;p5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7" name="Google Shape;9207;p5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8" name="Google Shape;9208;p5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9" name="Google Shape;9209;p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0" name="Google Shape;9210;p5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1" name="Google Shape;9211;p5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2" name="Google Shape;9212;p5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13" name="Google Shape;9213;p5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$-13,252</a:t>
            </a:r>
            <a:endParaRPr/>
          </a:p>
        </p:txBody>
      </p:sp>
      <p:sp>
        <p:nvSpPr>
          <p:cNvPr id="9214" name="Google Shape;9214;p5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5" name="Google Shape;9215;p5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6" name="Google Shape;9216;p5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$-13,252</a:t>
            </a:r>
            <a:endParaRPr/>
          </a:p>
        </p:txBody>
      </p:sp>
      <p:sp>
        <p:nvSpPr>
          <p:cNvPr id="9217" name="Google Shape;9217;p5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$-29,236</a:t>
            </a:r>
            <a:endParaRPr/>
          </a:p>
        </p:txBody>
      </p:sp>
      <p:sp>
        <p:nvSpPr>
          <p:cNvPr id="9218" name="Google Shape;9218;p5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9" name="Google Shape;9219;p5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220" name="Google Shape;9220;p5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221" name="Google Shape;9221;p5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222" name="Google Shape;9222;p5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223" name="Google Shape;9223;p5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224" name="Google Shape;9224;p5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225" name="Google Shape;9225;p5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226" name="Google Shape;9226;p5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7" name="Google Shape;9227;p5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228" name="Google Shape;9228;p5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29" name="Google Shape;9229;p5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30" name="Google Shape;9230;p5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31" name="Google Shape;9231;p5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32" name="Google Shape;9232;p5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9233" name="Google Shape;9233;p5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4" name="Google Shape;9234;p5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235" name="Google Shape;9235;p5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36" name="Google Shape;9236;p5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37" name="Google Shape;9237;p5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38" name="Google Shape;9238;p5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39" name="Google Shape;9239;p5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9240" name="Google Shape;9240;p5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1" name="Google Shape;9241;p5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242" name="Google Shape;9242;p5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43" name="Google Shape;9243;p5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4" name="Google Shape;9244;p5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45" name="Google Shape;9245;p5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6" name="Google Shape;9246;p5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47" name="Google Shape;9247;p5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8" name="Google Shape;9248;p5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249" name="Google Shape;9249;p5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50" name="Google Shape;9250;p5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51" name="Google Shape;9251;p5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2" name="Google Shape;9252;p5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3" name="Google Shape;9253;p5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54" name="Google Shape;9254;p5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5" name="Google Shape;9255;p5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56" name="Google Shape;9256;p5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57" name="Google Shape;9257;p5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8" name="Google Shape;9258;p5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59" name="Google Shape;9259;p5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60" name="Google Shape;9260;p5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61" name="Google Shape;9261;p5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2" name="Google Shape;9262;p5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63" name="Google Shape;9263;p5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264" name="Google Shape;9264;p5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65" name="Google Shape;9265;p5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266" name="Google Shape;9266;p5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67" name="Google Shape;9267;p5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9268" name="Google Shape;9268;p5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9" name="Google Shape;9269;p5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270" name="Google Shape;9270;p5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271" name="Google Shape;9271;p5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272" name="Google Shape;9272;p5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273" name="Google Shape;9273;p5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274" name="Google Shape;9274;p5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275" name="Google Shape;9275;p5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276" name="Google Shape;9276;p5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277" name="Google Shape;9277;p5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278" name="Google Shape;9278;p5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279" name="Google Shape;9279;p5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280" name="Google Shape;9280;p5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281" name="Google Shape;9281;p5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282" name="Google Shape;9282;p5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283" name="Google Shape;9283;p5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284" name="Google Shape;9284;p5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9285" name="Google Shape;9285;p5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86" name="Google Shape;9286;p5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287" name="Google Shape;9287;p5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88" name="Google Shape;9288;p5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9289" name="Google Shape;9289;p5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90" name="Google Shape;9290;p5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9291" name="Google Shape;9291;p5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92" name="Google Shape;9292;p5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293" name="Google Shape;9293;p5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94" name="Google Shape;9294;p5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9295" name="Google Shape;9295;p5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296" name="Google Shape;9296;p5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297" name="Google Shape;9297;p5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8" name="Google Shape;9298;p5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9" name="Google Shape;9299;p5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0" name="Google Shape;9300;p5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$-13,252</a:t>
            </a:r>
            <a:endParaRPr/>
          </a:p>
        </p:txBody>
      </p:sp>
      <p:sp>
        <p:nvSpPr>
          <p:cNvPr id="9301" name="Google Shape;9301;p5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2" name="Google Shape;9302;p5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3" name="Google Shape;9303;p5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9304" name="Google Shape;9304;p5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5" name="Google Shape;9305;p5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6" name="Google Shape;9306;p5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7" name="Google Shape;9307;p5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9308" name="Google Shape;9308;p5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$-13,252</a:t>
            </a:r>
            <a:endParaRPr/>
          </a:p>
        </p:txBody>
      </p:sp>
      <p:sp>
        <p:nvSpPr>
          <p:cNvPr id="9309" name="Google Shape;9309;p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0" name="Google Shape;9310;p5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311" name="Google Shape;9311;p5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312" name="Google Shape;9312;p5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 hit ratio - above average conversion</a:t>
            </a:r>
            <a:endParaRPr/>
          </a:p>
        </p:txBody>
      </p:sp>
      <p:sp>
        <p:nvSpPr>
          <p:cNvPr id="9313" name="Google Shape;9313;p5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314" name="Google Shape;9314;p5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9315" name="Google Shape;9315;p5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6" name="Google Shape;9316;p5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317" name="Google Shape;9317;p5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318" name="Google Shape;9318;p5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($-13,252) - cancellations exceed production</a:t>
            </a:r>
            <a:endParaRPr/>
          </a:p>
        </p:txBody>
      </p:sp>
      <p:sp>
        <p:nvSpPr>
          <p:cNvPr id="9319" name="Google Shape;9319;p5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0" name="Google Shape;9320;p5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321" name="Google Shape;9321;p5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322" name="Google Shape;9322;p5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323" name="Google Shape;9323;p5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324" name="Google Shape;9324;p5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