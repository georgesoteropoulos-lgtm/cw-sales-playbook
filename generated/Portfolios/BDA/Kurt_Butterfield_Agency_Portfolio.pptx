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07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8B5CF6"/>
                </a:solidFill>
                <a:latin typeface="Segoe UI"/>
              </a:defRPr>
            </a:pPr>
            <a:r>
              <a:t>COVER WHALE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Kurt Butterfield - Agency Portfolio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4B5FD"/>
                </a:solidFill>
                <a:latin typeface="Segoe UI"/>
              </a:defRPr>
            </a:pPr>
            <a:r>
              <a:t>Jan–May 2026  |  Generated May 30, 2026  |  45 Agencies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Kurt Butterfield - Portfolio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45 Total Agencies  |  42 Active  |  3 Inactive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Agencies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4708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(YTD)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57016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$5,613,591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66944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$4,556,160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76872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$297,310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$760,122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9672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$-2,161,721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10116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Submissions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4708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Binds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57016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66944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773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6872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Binds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9343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Subs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9672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Binds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$10,361,268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08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$11,481,116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57016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$12,433,522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Annual Goal (40%)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66944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59669"/>
                </a:solidFill>
                <a:latin typeface="Segoe UI"/>
              </a:defRPr>
            </a:pPr>
            <a:r>
              <a:t>45%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76872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$1,240,212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$3,325,595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Bound Prem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39672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12.1%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Retention Rate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514600"/>
            <a:ext cx="7863840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53288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TOP AGENCIES BY YTD GWP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2862072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79" y="2862072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2862072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 $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2862072"/>
            <a:ext cx="8229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Renewals $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28620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026664"/>
            <a:ext cx="7498079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308152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26079" y="3081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$1,835,186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20" y="3081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$1,549,796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46320" y="3081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$161,780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0" y="308152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3761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2671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12280" y="3081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327355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328269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Justin Robert Insurance Agency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26079" y="328269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$1,660,052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28269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$1,417,721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46320" y="328269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0" y="328269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1426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1013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12280" y="328269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348386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The Mcclure Agency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26079" y="348386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$474,612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931920" y="348386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$424,779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46320" y="348386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0" y="348386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820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12280" y="348386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675888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65760" y="368503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Rodriguez Insurance Agency Llc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26079" y="368503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$258,966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368503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$158,478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46320" y="368503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$34,104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0" y="368503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910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646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12280" y="368503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388620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26079" y="388620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$138,150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931920" y="388620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$135,859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46320" y="388620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0" y="388620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1792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331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12280" y="388620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31520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65760" y="4078224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65760" y="408736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Xgen Insurance Group Llc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26079" y="408736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$131,844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08736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$103,874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846320" y="408736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69280" y="408736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155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21792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12280" y="408736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31520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0.6%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428853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Allnations Insurance Agency, Inc.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926079" y="428853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$113,562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931920" y="428853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$97,002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46320" y="428853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69280" y="428853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21792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812280" y="428853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31520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5760" y="4480560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65760" y="448970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Covenant Insurance Services LLC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26079" y="448970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$108,839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448970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$87,081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846320" y="448970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69280" y="448970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1792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812280" y="448970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31520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4.7%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65760" y="469087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Cooper &amp; Associates Inc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926079" y="469087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$102,440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931920" y="469087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$87,181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46320" y="469087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669280" y="469087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21792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100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812280" y="469087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31520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65760" y="4882896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65760" y="489204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Island Fleet Insurance Agency LLC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926079" y="489204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$97,927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489204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$69,553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46320" y="489204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69280" y="489204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21792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812280" y="489204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31520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65760" y="509320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ECO INSURANCE SERVICES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926079" y="509320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$83,081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931920" y="509320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$50,317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846320" y="509320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$17,665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669280" y="509320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21792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812280" y="509320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31520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65760" y="528523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65760" y="529437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VL 17 Insurance Agency LLC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926079" y="529437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$76,131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931920" y="529437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$47,174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46320" y="529437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$6,082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669280" y="529437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1792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812280" y="529437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31520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229600" y="2514600"/>
            <a:ext cx="3749039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321040" y="253288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MONTHLY SUMMARY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27532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732520" y="2862072"/>
            <a:ext cx="777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509760" y="2862072"/>
            <a:ext cx="7315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241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74420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20140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275320" y="3026664"/>
            <a:ext cx="3566160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27532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732520" y="308152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$1,759,405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9509760" y="30815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$769,973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24128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1706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74420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120140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27532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732520" y="3337560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$1,692,667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9509760" y="333756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$646,809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024128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1814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074420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120140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27532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732520" y="3593592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$2,351,881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509760" y="3593592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$801,130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24128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2450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74420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95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120140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3.9%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27532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8732520" y="3849624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$2,168,364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9509760" y="3849624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$1,213,173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24128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2329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74420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20140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27532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732520" y="4105656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$1,765,236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509760" y="4105656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$1,125,075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24128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2125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20140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8275320" y="4325112"/>
            <a:ext cx="356616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827532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732520" y="436168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$5,613,591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509760" y="436168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$4,556,160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24128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10116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202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20140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8229600" y="4773168"/>
            <a:ext cx="3749039" cy="292608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8321040" y="4791456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DC2626"/>
                </a:solidFill>
                <a:latin typeface="Segoe UI"/>
              </a:defRPr>
            </a:pPr>
            <a:r>
              <a:t>INACTIVE AGENCIES (3)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8321040" y="512064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Eagles Insurnace Agency Llc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8321040" y="530352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Laredo Commercial Insurance Agency, In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8321040" y="548640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Meadors Adams And Lee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OKR Scoreboard — Kurt Butterfield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BDA OKRs  |  Q2 measure (paced where applicable)  |  Matches BD Rep Scoreboard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0" y="960120"/>
            <a:ext cx="3200400" cy="1371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0" y="1033271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59669"/>
                </a:solidFill>
                <a:latin typeface="Segoe UI"/>
              </a:defRPr>
            </a:pPr>
            <a:r>
              <a:t>82.0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59105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7280"/>
                </a:solidFill>
                <a:latin typeface="Segoe UI"/>
              </a:defRPr>
            </a:pPr>
            <a:r>
              <a:t>COMPOSITE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86537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Segoe UI"/>
              </a:defRPr>
            </a:pPr>
            <a:r>
              <a:t>Green ≥ 70  |  Amber 45-69  |  Red &lt;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96012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960120"/>
            <a:ext cx="91440" cy="16002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075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Subs YoY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6733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≥+50%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143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+139%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65176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2651760"/>
            <a:ext cx="91440" cy="16002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7432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99923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Activity Compliance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336499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 100% (50/wk)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83464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C2626"/>
                </a:solidFill>
                <a:latin typeface="Segoe UI"/>
              </a:defRPr>
            </a:pPr>
            <a:r>
              <a:t>46%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34340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4343400"/>
            <a:ext cx="91440" cy="16002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4348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46908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Portfolio Active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05663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42 of 45 agencies  |  Goal 75%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452628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93%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OKR 1: Q2 paced subs YoY — current Q2-YTD subs ÷ days-elapsed × 91 vs prior full Q2 (Apr–Jun 2025)  |  OKR 2: Q2 avg weekly calls + meetings vs 50/wk goal (outbound calls + meetings only, matches scoreboard)  |  OKR 3: % of HubSpot book with ≥1 submission in 2026  |  BDAs not scored on OKR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BD Activity  —  Kurt Butterfield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 |  Calls + Meetings  |  Weekly goal: 50 activities  |  Colored arrow = month-over-month trend vs prior complete month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205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Calls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7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Meetings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212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Activity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8.1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/ Week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16%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 (50/wk)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1–11  (Jan–Mar)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928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43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4528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01768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160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8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1/5–1/11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928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24328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0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24528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01768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7160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37160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6888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1/12–1/18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928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24328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24528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01768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37160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37160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6888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1/19–1/25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928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24328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930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24528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01768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37160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37160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46888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1/26–2/1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928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24328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930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01768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37160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37160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2/2–2/8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928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24328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930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24528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01768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37160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37160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6888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2/9–2/15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928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624328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930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24528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01768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37160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37160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46888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2/16–2/22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8928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24328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930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24528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01768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37160" y="386334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37160" y="386334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46888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2/23–3/1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8928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24328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930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01768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37160" y="410565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37160" y="410565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3/2–3/8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928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624328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930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24528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001768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37160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37160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46888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3/9–3/15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8928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624328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4930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224528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001768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137160" y="459028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37160" y="459028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246888" y="460857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3/16–3/22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892808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624328" y="460857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493008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224528" y="460857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001768" y="460857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199632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6309360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12–21  (Mar–May)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309360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686800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287000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1064240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6245352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6199632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199632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309360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3/23–3/29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9552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686800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5554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287000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1064240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199632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199632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3/30–4/5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686800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287000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064240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199632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6199632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309360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4/6–4/12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9552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686800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5554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287000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064240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199632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6199632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309360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4/13–4/19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9552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686800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554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287000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064240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199632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6199632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309360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4/20–4/26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9552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686800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5554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287000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2%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1064240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6199632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6199632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309360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4/27–5/3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9552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686800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5554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287000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064240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199632" y="3621024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6199632" y="3621024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309360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5/4–5/10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9552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8686800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5554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287000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78%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064240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199632" y="386334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199632" y="386334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309360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5/11–5/17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9552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8686800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5554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287000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122%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1064240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6199632" y="410565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6199632" y="410565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6309360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5/18–5/24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9552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8686800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5554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0287000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120%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1064240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6199632" y="4347972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6199632" y="4347972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6309360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5/25–5/30*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79552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8686800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5554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287000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102%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1064240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HubSpot CRM  |  Calls + meetings only (emails excluded)  |  * = current/partial week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Submission Growth  —  Kurt Butterfield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vs 2025  |  Green = growth  |  Red = decline  |  Hit ratio = binds / submissions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4352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Submissions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112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Binds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2.6%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-31.9%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Subs YOY vs 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-66.5%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 YOY vs 2025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21208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MONTHLY BREAKDOWN  —  2026 vs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5669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Subs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9656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Binds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34056" y="1938528"/>
            <a:ext cx="6217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5848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2025 Subs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70248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 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0566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57984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203704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19656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34056" y="2203704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5848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1,186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0248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-100%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519172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19656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34056" y="2519172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55848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1,094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70248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-100%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788920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834640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19656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34056" y="2834640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55848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1,350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70248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-100%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3150108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6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2,251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19656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34056" y="3150108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55848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1,405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70248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+60%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419856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465576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2,098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19656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34056" y="3465576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55848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1,360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70248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+54%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2880" y="3717036"/>
            <a:ext cx="5120640" cy="914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76275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3816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4,352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819656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34056" y="3762756"/>
            <a:ext cx="6217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55848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6,395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70248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-32%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23560" y="1600200"/>
            <a:ext cx="64008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33288" y="1636776"/>
            <a:ext cx="6217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AGENCIES BY SUBMISSION VOLUME  —  YTD Ranked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33288" y="1938528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679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YTD Subs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36608" y="1938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5956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991088" y="1938528"/>
            <a:ext cx="685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280" y="2112264"/>
            <a:ext cx="59710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623560" y="216712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733288" y="218541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67928" y="218541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3,761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436608" y="218541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259568" y="218541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991088" y="218541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+2,012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733288" y="244144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Justin Robert Insurance Agency Llc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67928" y="244144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1,426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436608" y="244144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259568" y="244144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91088" y="244144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+1,426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623560" y="267919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733288" y="269748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Rodriguez Insurance Agency Llc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67928" y="269748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436608" y="269748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259568" y="269748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991088" y="269748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-141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733288" y="295351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The Mcclure Agency Llc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567928" y="295351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820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436608" y="295351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259568" y="295351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991088" y="295351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+693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623560" y="319125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733288" y="320954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VL 17 Insurance Agency LLC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67928" y="320954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595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436608" y="320954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259568" y="320954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991088" y="320954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-170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733288" y="346557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567928" y="346557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490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436608" y="346557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259568" y="346557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991088" y="346557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-469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623560" y="3703320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733288" y="372160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H2O Commercial Insurance Agency Corp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567928" y="372160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325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436608" y="372160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259568" y="372160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0.6%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991088" y="372160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+265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733288" y="397764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Lewis Insurance Group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567928" y="397764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226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436608" y="397764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59568" y="397764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0.4%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991088" y="397764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+82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623560" y="4215384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733288" y="423367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Cooper &amp; Associates Inc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567928" y="423367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436608" y="423367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259568" y="423367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991088" y="423367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-80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733288" y="448970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Xgen Insurance Group Llc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567928" y="448970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436608" y="448970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259568" y="448970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0.6%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991088" y="448970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+154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623560" y="472744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733288" y="474573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Supra Insurance Services LLC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567928" y="474573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148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436608" y="474573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259568" y="474573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991088" y="474573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733288" y="500176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ECO INSURANCE SERVICES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567928" y="500176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436608" y="500176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259568" y="500176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991088" y="500176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+80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5623560" y="523951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5733288" y="525780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Island Fleet Insurance Agency LLC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567928" y="525780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436608" y="525780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259568" y="525780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991088" y="525780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+38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733288" y="551383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WTI Boyd Company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8567928" y="551383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436608" y="551383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259568" y="551383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991088" y="551383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-59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5623560" y="575157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733288" y="576986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Covenant Insurance Services LLC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567928" y="576986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436608" y="576986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259568" y="576986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4.7%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991088" y="576986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-23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733288" y="602589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JLP Insurance Services LLC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567928" y="602589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436608" y="602589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259568" y="602589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991088" y="602589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+51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Totals match Sales Scoreboard: Q1 → Q1 owner, Q2+ → current owner, 2025 baseline → current owner  |  Hit ratio = binds / submissions  |  Right-panel agency table shows current portfolio  |  Green ≥ 8%  Red &lt; 5%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Monthly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Kurt Butterfield  |  45 Total Agencies  |  Jan–May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0424160" cy="32918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1430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11430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11430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79" y="11430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Cancel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5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09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3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799" y="11430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49961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1499616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$1,759,405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1499616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$769,973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1499616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$19,518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79" y="149961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$-588,514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5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1,706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09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1,187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3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799" y="1499616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1773936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18288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18288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$1,692,667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18288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$646,809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18288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$51,285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97879" y="18288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$-377,916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5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1,814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09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1,222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3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29799" y="18288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215798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2157984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$2,351,881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37560" y="2157984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$801,130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2157984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$108,390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97879" y="215798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$-325,459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5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2,450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09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1,598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153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95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29799" y="215798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3.9%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2432303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24871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20240" y="2487168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$2,168,364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37560" y="2487168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$1,213,173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63440" y="2487168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$58,229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97879" y="248716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$-461,000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865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2,329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009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1,631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153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29799" y="2487168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2816351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20240" y="2816351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$1,765,236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7560" y="2816351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$1,125,075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2816351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$59,888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97879" y="2816351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$-408,831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865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2,125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009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1,502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153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29799" y="2816351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090671"/>
            <a:ext cx="10424160" cy="36576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3163823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20240" y="3163823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$9,737,554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37560" y="3163823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$4,556,160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663440" y="3163823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$297,310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897879" y="3163823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$-2,161,721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865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10,424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009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7,140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153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363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29799" y="3163823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3.5%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3611879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Green = up vs prior month  |  Red = down vs prior month or negative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DSG In My Portfolio — Kurt Butterfield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Dirt, Sand &amp; Gravel program performance across this bda's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1,178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DSG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BOUND ACCOUNTS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$496,344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GROSS WRITTEN PREM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1.5%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 RATE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113385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11155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DSG ACTIVITY BY AGENCY (top 8 by submissions)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Declined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267004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44368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980944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1.1%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298094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$173,702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29183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Justin Robert Insurance Agency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329183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$178,715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566159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60273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Rodriguez Insurance Agency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0" y="360273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913631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VL 17 Insurance Agency LLC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376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392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3913631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$3,788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187951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4224527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ECO INSURANCE SERVICES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6344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2376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84080" y="4224527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$50,317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4535423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H2O Commercial Insurance Agency Corp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6344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4360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2376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0392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84080" y="4535423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$20,481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4809743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484631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Island Fleet Insurance Agency LLC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6344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4360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2376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0392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84080" y="484631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$17,283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" y="515721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6344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4360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2376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784080" y="515721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$37,494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59436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States with DSG bound business in this book: AZ, TX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Fleet In My Portfolio — Kurt Butterfield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Fleet business (4+ power units) across this bda's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901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$5,556,179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GWP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UNITS / SUB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69494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67665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BY AGENCY (top 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44368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98094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$1,644,683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29183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Justin Robert Insurance Agency LLC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$320,622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566159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60273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Rodriguez Insurance Agency LLC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$322,577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3913631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VL 17 Insurance Agency LLC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778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24.5%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$490,952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187951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2245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Xgen Insurance Group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39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34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778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453542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H2O Commercial Insurance Agency Corp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49039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34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778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4809743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484631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749039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634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778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11.5%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922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$116,529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515721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The McClure Agency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749039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778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589520" y="2286000"/>
            <a:ext cx="42062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699248" y="2322576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SIZE MIX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80960" y="26700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4-5 units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982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586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04120" y="26700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(65%)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80960" y="303580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6-10 units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98280" y="303580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248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104120" y="303580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(28%)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80960" y="340156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11-25 units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98280" y="340156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04120" y="340156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(7%)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80960" y="376732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26-50 units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98280" y="37673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104120" y="376732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680960" y="413308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51+ units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98280" y="413308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104120" y="4133087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12648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Bind rate on fleet: 8.1%  ·  Declined: 318  ·  Source: cw_rep.transportation_submissions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Agency Producers — Kurt Butterfield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Individual agents ranked by YTD submissions  |  Agent = broker_contact on submission  |  Trend = MoM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10116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Subs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202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Binds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6048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2.0%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Portfolio Hit Ratio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42631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Agents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29215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64%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5 Agent Share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AGENTS BY SUBMISSIONS  —  Ranked 1–18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452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888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3248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Oscar Rodriguez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016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3143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2452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1888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3248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Justin Robert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01368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Justin Robert Insurance Agency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016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452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1888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13248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Rodrigo Rodriguez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01368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Rodriguez Insurance Agency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3016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894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2452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1888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13248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Javier Rodriguez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01368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3016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595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2452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1888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13248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Edgar Barzaga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01368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VL 17 Insurance Agency LLC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3016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411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1888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13248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6888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API_USER API_USER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01368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Dream Assurance Llc +1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3016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404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2452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1888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0.5%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13248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46888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Amy Vaja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01368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3016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336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2452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1888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0.9%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13248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46888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Jenny Joya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01368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H2O Commercial Insurance Agenc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3016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325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2452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1888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0.6%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13248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37160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46888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Dustin Lewis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801368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Lewis Insurance Group Llc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3016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226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2452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1888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0.4%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13248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46888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Leeza Kanwal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01368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The Mcclure Agency Llc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3016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204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1888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5.4%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13248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37160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Sandra Sanchez Parra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01368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VL 17 Insurance Agency LLC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63016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184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22452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1888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13248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46888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Meagan Cooper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01368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Cooper &amp; Associates Inc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3016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2452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81888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413248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37160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46888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Jaxon Alley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801368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Xgen Insurance Group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63016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2452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81888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0.6%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13248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46888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Kevin Patrick Morrissy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01368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63016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22452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1888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13248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37160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46888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Alejandro Rodriguez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801368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The Mcclure Agency Llc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63016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22452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81888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3.9%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413248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46888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Mirna Mejia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801368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ECO INSURANCE SERVICES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63016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22452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1888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413248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37160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46888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Jeremy McClure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1368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The Mcclure Agency Llc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3016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22452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81888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413248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46888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Josbriela Castro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01368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Supra Insurance Services LLC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63016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22452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1888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413248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245352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355080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CONTINUED  —  Ranked 19–36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55080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909560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73836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33272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92708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1521440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291072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6245352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355080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Dakota Coffman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909560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Covenant Insurance Services LL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73836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33272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092708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1521440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355080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Daniel Hernandez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909560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Danaco Group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73836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33272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092708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1521440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245352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355080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Alejandra Pineda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909560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Supra Insurance Services LLC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73836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33272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92708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521440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355080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Sheileen Maymi Carrillo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7909560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Island Fleet Insurance Agency 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73836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33272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92708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1521440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6245352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6355080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Gabriel Aulestia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7909560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American Faith Insurance Group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73836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33272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92708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521440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355080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Frances M Nunez-Jimenez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909560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Island Fleet Insurance Agency 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973836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033272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92708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521440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245352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55080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Rozmin J Kurjee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909560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Weserv Insurance &amp; Financial S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73836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033272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092708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1521440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6355080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david moncada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909560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Allnations Insurance Agency, I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73836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33272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092708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1521440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6245352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355080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Esperanza Finol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7909560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JLP Insurance Services LLC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973836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33272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92708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1521440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6355080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HEDY PENA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909560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Armor Texas Insurance Agency, 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973836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033272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092708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11521440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6245352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6355080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Daisy Fuentes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7909560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JLP Insurance Services LLC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973836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1033272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1092708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1521440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6355080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MARIA ELIZONDO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7909560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 And Tax Enterprises 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973836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1033272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092708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11521440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6245352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355080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Barbra Garcia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909560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Allnations Insurance Agency, I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973836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033272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1092708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11521440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6355080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Jose Medrano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909560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JAMCO Insurance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973836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033272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1092708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11521440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6245352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6355080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Dathaniel Campbell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7909560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WTI Boyd Company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973836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1033272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1092708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11521440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6355080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Edgar Cordoba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909560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Edgar Cordoba Insurance Agency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973836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033272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092708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7.4%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11521440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6245352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355080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Jay Boyd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7909560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WTI Boyd Company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973836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1033272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1092708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11521440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6355080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Dannielle D'Arcy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7909560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Border City Insurance Services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973836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1033272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092708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1521440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274320" y="6510528"/>
            <a:ext cx="1170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Agent = broker_contact_user_id on submission record  |  Hit ratio = binds / subs  |  MoM = month-over-month  |  39 subs had no agent mapped (broker_contact_user_id not set)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Top Performers vs Underperformers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Standouts and agencies needing attention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29184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EXCEEDING — Top 5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6792" y="914400"/>
            <a:ext cx="5486400" cy="329184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— Bottom 5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37160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$1,835,186  |  Subs 3761  |  Binds 76  |  HR 2.0%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2.0% (portfolio avg: 2.0%)  |  $1,835,186 YTD GWP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37744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Justin Robert Insurance Agency Llc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$1,660,052  |  Subs 1426  |  Binds 29  |  HR 2.0%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2.0% (portfolio avg: 2.0%)  |  $1,660,052 YTD GWP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38328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The Mcclure Agency Llc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$474,612  |  Subs 820  |  Binds 20  |  HR 2.4%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2.4% (portfolio avg: 2.0%)  |  $474,612 YTD GWP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8912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Rodriguez Insurance Agency Llc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$258,966  |  Subs 910  |  Binds 14  |  HR 1.5%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$258,966 YTD GWP  |  14 binds in Q1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39496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VL 17 Insurance Agency LLC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$76,131  |  Subs 595  |  Binds 15  |  HR 2.5%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2.5% (portfolio avg: 2.0%)  |  15 binds in Q1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82512" y="137160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9712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WTI Boyd Company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39712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$26,063  |  Subs 88  |  Binds 0  |  HR 0.0%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39712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88 submissions with 0 binds - zero conversion  |  New business dropped sharply MoM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82512" y="237744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39712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Lewis Insurance Group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9712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$550  |  Subs 226  |  Binds 1  |  HR 0.4%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9712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Hit ratio only 0.4% on 226 subs  |  Cancellations are 450% of new business ($2,474 vs $550)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82512" y="338328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39712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JAMCO Insurance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39712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$-1,459  |  Subs 36  |  Binds 0  |  HR 0.0%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9712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36 submissions with 0 binds - zero conversion  |  Negative net written premium: $-1,459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82512" y="438912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39712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Weserv Insurance &amp; Financial Services LLC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9712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$23,268  |  Subs 41  |  Binds 0  |  HR 0.0%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9712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41 submissions with 0 binds - zero conversion  |  9 quotes generated but 0 converted to binds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82512" y="539496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39712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H2O Commercial Insurance Agency Corp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39712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$23,509  |  Subs 325  |  Binds 2  |  HR 0.6%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9712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Hit ratio only 0.6% on 325 subs  |  Cancellations are 106% of new business ($24,818 vs $23,509)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Newly Appointed in My Portfolio — Kurt Butterfield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Agencies assigned to this BDA for onboarding in 2026  |  Production metrics since assignment date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YTD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Q2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9d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SUB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BIND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SUBS POST-APPT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11827"/>
                </a:solidFill>
                <a:latin typeface="Segoe UI"/>
              </a:defRPr>
            </a:pPr>
            <a:r>
              <a:t>Activation: 2/2 appointed agencies have submitted (100%)  •  0/2 have bound (0%)  •  Total bound: 0  •  Total GWP: $0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40280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2768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APPOINTED AGENCIES (newest first)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60604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60604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Appointed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23560" y="260604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Sub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Bind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880360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91693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Cobic Inc. Dba Cm Insurance Agency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91693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2026-05-06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23560" y="291693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0372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322783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Marketers General Insurance Agency, Inc.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0" y="322783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2026-04-20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23560" y="322783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0372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Source: HubSpot company records where onboarding_success_agent = Kurt Butterfield and createdate is within 2026 (= newly assigned to this BDA for onboarding). Metrics are subs/binds/GWP on each agency since their assignment date. BDAs not scored on OKR 4 — informational only.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Strategic Assessment &amp; Priorities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Kurt Butterfield Portfolio  |  Jan–May 2026  |  Strengths, gaps, and ranked action items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6576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Top 3 (Fino Services LLC, Justin Robert Insurance A, The Mcclure Agency Llc) drive $3,969,850 (71%) of portfolio YTD GWP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Strong hit ratios: Specialized Program  (25.0%), Amen Ra Insurance Se (10.0%), D King Agency LLC (9.1%)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 agencies converting submissions to bound business in Jan–May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10,116 total submissions across 42 active agencies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914400"/>
            <a:ext cx="5486400" cy="36576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- Areas for Improvement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 agencies with zero Jan–May 2026 activity: Eagles Insurnace Age, Laredo Commercial In, Meadors Adams And 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59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 agencies submitting but 0 binds (283 subs): WTI Boyd Company (88), Weserv Insurance &amp; F (41)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59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Low hit ratios need coaching: Lewis Insurance Grou (0.4%), H2O Commercial Insur (0.6%), Xgen Insurance Group (0.6%)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59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Overall portfolio hit ratio 2.0% — below 5-8% target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926080"/>
            <a:ext cx="1143000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2971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TOP STRATEGIC PRIORITIES — Ranked by Estimated Impact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342900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341071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Lift Portfolio Hit Ratio to 5%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36393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Current: 2.0% (202 binds / 10,116 subs). Need 303 more binds. Focus on submission quality and appetite education.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406908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40507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Improve Low Hit Ratio Agencies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42793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20 agencies with 20+ subs but &lt;3% HR: Lewis Insurance Grou (0.4%), H2O Commercial Insur (0.6%), Xgen Insurance Group (0.6%). Conduct submission quality training to lift conversion 2-3 points.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470916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469087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Develop High-Volume Growth Candidates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491947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22 agencies with 30+ subs and some binds but &lt;5% HR: Fino Services LLC (3761s/76b), Justin Robert Insura (1426s/29b), Rodriguez Insurance  (910s/14b). Small HR improvements on large volume = significant premium lift.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534924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533095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Diversify Revenue Base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" y="55595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Top 3 agencies drive 71% of premium. Develop mid-tier: Rodriguez Insurance Agenc, Dream Assurance Llc, Xgen Insurance Group Llc. Target 25-50% growth each.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74320" y="598932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240" y="597103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Reduce Cancellation Rates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" y="61996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15 agencies with cancellations &gt;40% of new biz: Justin Robert Insurance A, The Mcclure Agency Llc, Dream Assurance Llc. $1,600,785 total cancellations - investigate retention.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Recently Bound Submissions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Kurt Butterfield  |  Last 25 Bound Submissions  |  202 Total Bound in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#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05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00584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1005840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 (Account)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1005840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12680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Premium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59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Date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207008"/>
            <a:ext cx="111556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28016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2801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250281443140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128016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Justin Robert Insurance Agency Llc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12801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NGONG AND SONS LLC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128016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Justin Robert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2680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$12,150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59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29, 2026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146304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148132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148132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267964028499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148132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Justin Robert Insurance Agency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148132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KINGDOM TRANSPORTATION ENTERPRIS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148132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Justin Robert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$17,592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59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29,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168249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168249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258929089396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168249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The Mcclure Agency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0600" y="168249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HOTSHOT SOLUTIONS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5240" y="168249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Leeza Kanwal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12680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$17,929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59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29, 2026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186537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188366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188366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258169192131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8800" y="188366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JLP Insurance Services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00600" y="188366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AMR TRUCKING &amp; FREIGHT LLC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35240" y="188366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Daisy Fuentes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12680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$27,713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59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29,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208483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208483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250558150287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28800" y="208483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Specialized Program Solutions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00600" y="208483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ANDESSA LOGISTICS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35240" y="208483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Tim Scott Smith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12680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$4,244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59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28, 2026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226771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228600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" y="22860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255058940573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28800" y="228600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Rodriguez Insurance Agency Llc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00600" y="228600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TRIDENT LOGISTICS CARGO INC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28600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Rodrigo Rodriguez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12680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$18,864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59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28, 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248716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" y="24871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259608754651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28800" y="248716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VL 17 Insurance Agency LLC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00600" y="248716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ERP TRANSPORT LLC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35240" y="248716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Edgar Barzaga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12680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$5,694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338559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27, 2026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267004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268833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4400" y="268833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259906318088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828800" y="268833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VL 17 Insurance Agency LLC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00600" y="268833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ERP TRANSPORT LLC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35240" y="268833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Edgar Barzaga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12680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$83,387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338559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27, 2026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640" y="288950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" y="288950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251042062932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828800" y="288950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VL 17 Insurance Agency LLC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00600" y="288950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NY SUAREZ TRANSPORT LLC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35240" y="28895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Sandra Sanchez Parra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012680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$677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338559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27, 2026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57200" y="307238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48640" y="309067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4400" y="309067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255469442384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828800" y="309067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Danaco Group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00600" y="309067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VELASCO TRANSPORT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635240" y="309067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Daniel Hernandez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12680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$97,642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338559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26, 2026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329184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14400" y="32918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255756262432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828800" y="329184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00600" y="3291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JR SPEED TRANSPORT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635240" y="32918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Oscar Manuel Rodriguez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012680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$23,884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338559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26, 2026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57200" y="347472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48640" y="349300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14400" y="349300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260669200272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828800" y="349300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Lewis Insurance Group Llc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800600" y="349300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 &amp; J'S TRUCKING SERVICE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635240" y="349300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Dustin Lewis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012680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1338559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25, 2026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8640" y="369417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369417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269993949391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28800" y="369417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00600" y="369417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DREAMERS TRUCKING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635240" y="369417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Javier Rodriguez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012680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$22,847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338559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57200" y="387705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48640" y="389534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14400" y="389534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264753726839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828800" y="389534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800600" y="389534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N/A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635240" y="389534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Oscar Rodriguez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012680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338559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48640" y="409651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14400" y="409651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264145034996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828800" y="409651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Rodriguez Insurance Agency Llc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00600" y="409651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A&amp;S TRANSPORT LLC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635240" y="409651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Rodrigo Rodriguez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012680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$16,192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1338559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57200" y="427939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48640" y="429768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4297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269367770001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828800" y="429768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The Mcclure Agency Llc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800600" y="429768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FORWARD LOGISTICS LLC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29768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Leeza Kanwal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012680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$16,580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8559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8640" y="449884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4400" y="449884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269557742783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449884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ECO INSURANCE SERVICES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00600" y="449884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 B &amp; G TRUCKING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635240" y="449884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Mirna Mejia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012680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$11,549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338559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57200" y="468172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48640" y="470001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14400" y="470001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268863027423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828800" y="470001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Justin Robert Insurance Agency Llc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800600" y="470001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PENN TRANSPORT LLC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635240" y="470001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Justin Robert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012680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$1,650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338559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48640" y="490118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14400" y="490118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253988220574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828800" y="490118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800600" y="490118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BG&amp;DD TRANSPORT LLC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635240" y="490118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Oscar Rodriguez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012680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$61,116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1338559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457200" y="508406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8640" y="510235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14400" y="510235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260295333679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828800" y="510235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800600" y="510235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SYS PROTRANSPORT LLC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635240" y="510235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Oscar Rodriguez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012680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$12,245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338559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548640" y="5303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14400" y="53035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266220640339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828800" y="530352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Rodriguez Insurance Agency Llc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00600" y="530352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JJ AUTO LLC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635240" y="53035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Rodrigo Rodriguez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012680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$21,114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1338559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457200" y="548640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548640" y="550468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14400" y="550468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263840839029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828800" y="550468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VL 17 Insurance Agency LLC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800600" y="550468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RAMOS TRUCKING SERVICES LLC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635240" y="550468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Edgar Barzaga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012680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$21,273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338559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48640" y="570585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914400" y="570585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266367201835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828800" y="570585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Cooper &amp; Associates Inc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800600" y="570585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BRAINA TRANSPORT LLC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7635240" y="570585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Meagan Cooper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012680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$84,619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338559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457200" y="588873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548640" y="590702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14400" y="590702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264859258134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828800" y="590702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Justin Robert Insurance Agency Llc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800600" y="590702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TACE TRUCKING LLC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7635240" y="590702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Justin Robert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012680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$15,475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11338559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548640" y="610819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914400" y="610819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263869781188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828800" y="610819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Justin Robert Insurance Agency Llc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800600" y="610819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I-NAVA HOTSHOTS LLC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7635240" y="610819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Justin Robert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012680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$20,172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11338559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548640" y="6345936"/>
            <a:ext cx="1115568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548640" y="6400800"/>
            <a:ext cx="7863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Total (Last 25 Submissions)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8412480" y="640080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$615,709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Renewal Watch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Kurt Butterfield  |  Active in-force policies expiring through Aug 28,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$748,907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EXPIRE ≤30 DAYS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31-60 DAYS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61-90 DAYS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POLICIES EXPIRING (sorted by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359152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Exp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35915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Coverage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2359152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5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633472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Border City Insurance Services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267004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255306732706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26700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GERMANTOWN ENTERPRISE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267004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55480" y="2670048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$9,838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5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98094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256038454652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31920" y="298094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ANGELOS TELLEZ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298094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55480" y="2980944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$14,219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5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25526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0" y="329183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256807321043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31920" y="329183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HUSKY TOWING LLC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527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58200" y="329183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55480" y="329183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5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0" y="360273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258521273201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60273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EXPEDITE TRUCKING LLC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7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58200" y="360273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55480" y="360273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88135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VA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77055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Specialized Program Solutions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43200" y="391363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254926439836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31920" y="391363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GEMINI 1 LOGISTICS LLC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4944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5527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7d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58200" y="391363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5480" y="391363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$19,858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8135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43200" y="422452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254741930136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422452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DAHEH INC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4944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5527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7d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58200" y="42245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555480" y="422452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88135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65760" y="4498847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5760" y="453542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Rodriguez Insurance Agency Llc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0" y="453542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252554025552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931920" y="453542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E&amp;E LOGISTICS LLC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49440" y="453542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2026-06-07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95527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8d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458200" y="453542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55480" y="453542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$13,950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88135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TN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5760" y="48463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The Mcclure Agency Llc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43200" y="484631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252375991103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84631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EJC MID-CITY EXPRESS LLC LLC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949440" y="484631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2026-06-09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95527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10d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58200" y="484631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555480" y="484631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$1,012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88135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5760" y="5120639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65760" y="515721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743200" y="515721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253988220574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931920" y="515721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BG&amp;DD TRANSPORT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49440" y="515721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2026-06-10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95527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11d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58200" y="515721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555480" y="515721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$4,728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88135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NE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65760" y="546811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743200" y="546811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251133593562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546811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Boricua Trucking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949440" y="546811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2026-06-10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95527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11d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458200" y="546811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555480" y="546811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$1,500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88135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NJ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65760" y="5742431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65760" y="577900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VL 17 Insurance Agency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743200" y="577900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256705646288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931920" y="577900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EYTA DELIVERY LLC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949440" y="577900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2026-06-11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7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12d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458200" y="577900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NTL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577900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88135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65760" y="608990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743200" y="608990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256539181546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608990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AAC TRUCKING LLC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949440" y="608990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2026-06-12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95527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13d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458200" y="608990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555480" y="608990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$42,125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88135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NM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65760" y="636422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65760" y="640079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Island Fleet Insurance Agency 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743200" y="640079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257820101651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931920" y="640079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ALL-IN TEXAS SERVICES LLC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949440" y="640079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2026-06-13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7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14d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458200" y="640079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640079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88135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13 of 62 upcoming renewals  |  Source: dw_reader.policy_premium  |  Active in-force only  |  Sorted by expiration date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Pending Cancellations — Save List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Kurt Butterfield  |  Policies with cancellation_date on or before Aug 28, 2026  |  Sorted by urgency — call these agencies first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PENDING CANCEL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$2,217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59E0B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DAYS (URGENT)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59E0B"/>
                </a:solidFill>
                <a:latin typeface="Segoe UI"/>
              </a:defRPr>
            </a:pPr>
            <a:r>
              <a:t>$2,217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 PREMIUM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6D28D9"/>
                </a:solidFill>
                <a:latin typeface="Segoe UI"/>
              </a:defRPr>
            </a:pPr>
            <a:r>
              <a:t>Does Not Meet Uw G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REASON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PENDING CANCELS (sorted by cancel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35915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Cancel 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359152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2359152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LOB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359152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Reason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633472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8308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264961444197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88920" y="2670048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WINKFIELD TRUCKING LLC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94960" y="2670048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Justin Robert Insurance Age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52360" y="267004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09560" y="267004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66760" y="2670048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Does Not Meet Uw Guidelines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8308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268674281512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88920" y="2980944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5G TRUCKING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94960" y="2980944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Island Fleet Insurance Agen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52360" y="2980944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09560" y="2980944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66760" y="2980944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1832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Material Changes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55263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868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78308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264961444197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788920" y="3291839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WINKFIELD TRUCKING LLC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394960" y="3291839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Justin Robert Insurance Age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52360" y="329183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909560" y="329183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66760" y="3291839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$1,214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41832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Does Not Meet Uw Guidelines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65760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868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78308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268674281512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788920" y="3602735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5G TRUCKING LLC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394960" y="3602735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Island Fleet Insurance Agen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452360" y="3602735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909560" y="3602735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366760" y="3602735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$825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41832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Material Changes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4 of 4 pending cancels  |  Source: dw_reader.policy_premium  |  Non-payment = green (most savable), Insured-requested = red, Days ≤14 = red  |  Action: contact agency, confirm reinstatement plan, escalate non-payment cases for billing fix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Katy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$1,835,186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$1,549,796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$161,780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$123,610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$-431,949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$2,752,833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$3,498,335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3761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$421,194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$1,349,409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$133,974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$75,356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$58,618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$-87,914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$143,338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$106,854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$22,715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$13,769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$-40,526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$450,577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$348,176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$88,269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$14,132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$-102,374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$634,731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$554,794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$34,766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$45,171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$-123,891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$472,566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$464,616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$16,030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$-8,080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$-77,244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$1,835,186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$1,549,796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$161,780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$123,610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$-431,949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584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647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882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823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897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827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841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781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3761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3464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584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647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882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897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841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1749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3851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$150K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$451K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$635K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$473K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$1.1M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$1.8M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$1,835,186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$1,549,796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2.0% hit ratio on 3761 subs - needs coaching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(3761 subs, only 76 binds). Ask: "What are the top 2 reasons your clients go elsewhere?" Use answers to tailor appetite and pricing discussions.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$1,549,796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Justin Robert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TX  |  City: Humble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$1,660,052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$1,417,721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$242,330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$-752,363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$606,006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$2,266,058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228%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$196,520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$576,678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$547,186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$502,010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$45,176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$-327,222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$384,239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$302,621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$81,618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$-122,908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$181,612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$176,848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$4,764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$-124,083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$205,445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$151,789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$53,657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$-74,060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$341,569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$284,454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$57,115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$-104,090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$1,660,052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$1,417,721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$242,330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$-752,363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1426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1321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1478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$547K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$1.7M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$1,660,052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$1,417,721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2.0% hit ratio on 1426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53% of new business ($752,363)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(1426 subs, only 29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$1,417,721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The Mcclure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TX  |  City: Dallas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$474,612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$424,779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$49,833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$-225,547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$491,880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$844,025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80%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$357,311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$15,660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$15,660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$-25,269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$74,101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$63,952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$10,149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$-73,227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$105,199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$95,743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$9,457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$-25,034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$187,449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$198,651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$-11,202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$-51,792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$92,203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$66,433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$25,770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$-50,225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$474,612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$424,779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$49,833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$-225,547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820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800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843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$187K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$475K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$474,612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$424,779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2.4% hit ratio on 820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53% of new business ($225,547)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(820 subs, only 20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$424,779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Rodriguez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Richardson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$258,966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$158,478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$34,104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$66,384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$-113,810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$1,074,520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$699,412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$64,185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$234,668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$47,902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$5,698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$42,204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$-39,863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$15,049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$15,474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$-425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$-2,093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$-5,357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$-5,357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$-20,733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$101,868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$68,177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$3,440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$30,251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$99,504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$69,129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$30,663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$-288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$-51,122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$258,966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$158,478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$34,104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$66,384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$-113,810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910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845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1051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929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$83K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$-5,357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$102K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$100K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$634K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$259K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$258,966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$158,478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1.5% hit ratio on 910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72% of new business ($113,810)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(910 subs, only 14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$158,478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KS  |  City: Overland Park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$138,150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$135,859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$2,291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$-136,269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$1,922,060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$1,063,313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$160,245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$48,155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$37,317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$10,838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$-23,489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$31,574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$33,138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$-1,564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$-19,027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$20,970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$27,910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$-6,939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$-26,211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$37,134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$37,494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$-67,541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$138,150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$135,859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$2,291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$-136,269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490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470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959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519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$317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$997K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$138,150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$135,859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2.0% hit ratio on 490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100% of new business ($136,269)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(490 subs, only 10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$135,859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Xgen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TX  |  City: Northlake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$131,844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$103,874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$27,970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$-23,184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$99,755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$231,599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110%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$41,787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$21,970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$21,970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$69,057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$58,720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$10,336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$23,184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$23,184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$-23,184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$17,633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$17,633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$131,844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$103,874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$27,970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$-23,184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$131,844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$103,874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0.6% hit ratio on 155 subs - needs coaching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(155 subs, only 1 binds). Ask: "What are the top 2 reasons your clients go elsewhere?" Use answers to tailor appetite and pricing discussions.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$103,874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Allnations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Houston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$113,562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$97,002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$16,560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$9,201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$128,529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1029%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$92,838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$20,407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$20,407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$15,900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$15,900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$77,255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$60,695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$16,560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$113,562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$97,002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$16,560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$-822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$825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$-5,769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$-5,766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$113,562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$97,002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2.7% hit ratio on 73 subs - needs coaching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(73 subs, only 2 binds). Ask: "What are the top 2 reasons your clients go elsewhere?" Use answers to tailor appetite and pricing discussions.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$97,002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Covenant Insurance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OK  |  City: Prague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$108,839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$87,081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$21,757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$-14,706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$92,341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$129,706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98%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$61,137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$20,569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$-14,706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$87,011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$86,531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$480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$21,277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$21,277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$108,839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$87,081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$21,757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$-14,706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$879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$108,839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$87,081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76%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$87,081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Cooper &amp; Associates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AR  |  City: Cabot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$102,440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$87,181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$15,259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$-7,479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$307,852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$163,224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$84,619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$91,507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$93,930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$87,181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$6,749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$-7,479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$19,251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$19,251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$19,394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$19,394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$-30,135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$-30,135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$102,440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$87,181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$15,259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$-7,479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250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$-19,402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$-30,135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$102,440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$87,181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1.8% hit ratio on 170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255%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(170 subs, only 3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$87,181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Island Fleet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TX  |  City: Dallas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$97,927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$69,553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$28,373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$-44,812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$88,375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$155,509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92%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$53,631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$36,349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$36,349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$44,295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$15,922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$28,373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$-28,382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$17,283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$17,283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$-16,430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$97,927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$69,553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$28,373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$-44,812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$97,927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$69,553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2.2% hit ratio on 92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64% of new business ($44,812)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(92 subs, only 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$69,553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ECO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Houston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$83,081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$50,317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$17,665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$15,100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$-15,100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$55,140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$77,728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126%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$54,900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$17,665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$17,665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$65,416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$50,317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$15,100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$-15,100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$83,081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$50,317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$17,665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$15,100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$-15,100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$83,081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$50,317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2.7% hit ratio on 112 subs - needs coaching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(112 subs, only 3 binds). Ask: "What are the top 2 reasons your clients go elsewhere?" Use answers to tailor appetite and pricing discussions.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$50,317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VL 17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TX  |  City: Houston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$76,131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$47,174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$6,082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$22,875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$-63,108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$909,401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$547,446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$147,675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$47,616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$12,537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$11,437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$-11,518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$9,540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$1,499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$2,782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$5,260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$-21,056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$24,727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$23,077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$1,650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$-2,599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$7,262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$1,100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$6,162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$-27,934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$22,065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$21,498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$76,131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$47,174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$6,082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$22,875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$-63,108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595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561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765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615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$438K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$76,131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$47,174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2.5% hit ratio on 595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134% of new business ($63,108)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(595 subs, only 15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$47,174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Armor Texas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Fort Worth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$67,932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$24,491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$43,441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$-47,758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$178,847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$127,093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$24,491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$13,303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$13,303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$-13,303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$21,766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$9,926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$11,840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$-11,840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$32,863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$14,564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$18,299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$-9,328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$-13,287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$67,932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$24,491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$43,441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$-47,758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$85K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$67,932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$24,491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195% of new business ($47,758)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$24,491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$47,758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Edgar Cordoba Insurance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El Paso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$49,262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$15,172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$34,090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$-20,540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$117,680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$117,872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$45,393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$20,540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$20,540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$-20,540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$14,223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$14,223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$13,550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$13,550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$49,262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$15,172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$34,090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$-20,540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$49,262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$15,172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135% of new business ($20,540)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$15,172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$20,540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Rimaq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Houston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$45,624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$20,321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$25,789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$-21,055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$17,609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$45,624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216%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$20,321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$25,789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$25,789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$19,835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$20,321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$-487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$-21,055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$45,624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$20,321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$25,789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$-487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$-21,055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$45,624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$20,321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104% of new business ($21,055)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$20,321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$21,055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Supra Insurance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Allen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$40,779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$18,607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$20,023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$2,149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$113,913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$74,087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$45,611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$19,920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$18,607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$1,313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$837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$837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$20,023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$20,023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$40,779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$18,607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$20,023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$2,149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$837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$40,779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$18,607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2.7% hit ratio on 148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(148 subs, only 4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$18,607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Champions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Friendswood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$37,921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$37,921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$-37,921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$37,921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4895%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$37,921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$37,921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$-37,921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$37,921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$37,921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$-37,921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$479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$488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$-322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$646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$37,921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$37,921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100% of new business ($37,921)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11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$37,921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Cano Molina Insurance Broker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Allen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$35,251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$35,251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$-55,983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$42,172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$77,423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70%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$35,251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$-26,913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$35,251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$35,251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$-29,070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$35,251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$35,251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$-55,983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$35,251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$35,251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2.9% hit ratio on 35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159% of new business ($55,983)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(35 subs, only 1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$35,251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Transportation Insurance Solutions,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OK  |  City: Edmond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$32,354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$17,240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$15,114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$-28,906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$32,354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$17,240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$17,240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$15,114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$15,114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$-15,114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$-13,792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$32,354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$17,240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$15,114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$-28,906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$32,354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$17,240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168% of new business ($28,906)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$17,240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3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FelJo Insurance Services,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LA  |  City: Laplace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$26,437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$26,437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$67,951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$56,901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$26,437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$26,437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$26,437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$26,437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$26,437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$26,437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 quotes but 0 binds - follow up on pricing/coverage gaps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12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$26,437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WTI Boyd Company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Lufkin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$26,063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$26,063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$56,735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$37,100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$26,063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$26,063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$26,063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$26,063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$26,063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$26,063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88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88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$26,063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American Faith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Houston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$26,062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$26,170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$54,103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$80,165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40%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$8,873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$26,062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$26,170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$26,062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$26,170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$-107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$26,062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$26,170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2.2% hit ratio on 46 subs - needs coaching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(46 subs, only 1 binds). Ask: "What are the top 2 reasons your clients go elsewhere?" Use answers to tailor appetite and pricing discussions.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$26,170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The Nitsche Group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Giddings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$25,420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$25,420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$-25,420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$25,420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$25,420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$25,420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$-25,420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$25,420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$25,420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$-25,420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$25,420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$25,420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100% of new business ($25,420)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14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$25,420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Border City Insurance Services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El Paso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$23,768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$30,194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$-6,425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$33,312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$23,768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$30,194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$30,194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$30,194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$-6,425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$-6,425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$23,768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$30,194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$-6,425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$-6,425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$23,768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$30,194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2.9% hit ratio on 34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121%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(34 subs, only 1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$30,194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H2O Commercial Insurance Agency Corp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The Woodlands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$23,509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$23,509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$-24,818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$78,872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$54,015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$21,512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$23,509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$23,509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$-24,818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$23,509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$23,509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$-24,818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326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$23,509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$23,509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0.6% hit ratio on 325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106% of new business ($24,818)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(325 subs, only 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$23,509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Weserv Insurance &amp; Financial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Tyler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$23,268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$23,268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$-38,090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$62,078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$61,570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$18,321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$18,321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$-18,321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$4,948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$4,948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$-19,769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$23,268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$23,268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$-38,090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$23,268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 submissions - highly active agency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73%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41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9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Amen Ra Insurance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$15,148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$15,148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$-18,448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$29,454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$44,602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$20,398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$-835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$-835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$15,983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$15,983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$-18,448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$15,148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$15,148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$-18,448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$-835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$15,148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10.0% hit ratio - above average conversion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Danaco Group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TX  |  City: Dallas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$14,537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$18,418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$-3,881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$-5,819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$234,735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$183,346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$97,642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$19,537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$18,418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$1,119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$-5,819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$-4,717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$-4,717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$14,537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$18,418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$-3,881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$-5,819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$-77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$-205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$-4,717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$14,537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$18,418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1.6% hit ratio on 62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(62 subs, only 1 binds). Ask: "What are the top 2 reasons your clients go elsewhere?" Use answers to tailor appetite and pricing discussions.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 King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Arlington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$12,644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$12,644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$51,727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$11,059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$12,644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$12,644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$12,644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$12,644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$12,644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$12,644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$12,644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Insurance And Tax Enterprises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Houston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$4,773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$4,773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$59,904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$45,066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$39,132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$13,278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$13,278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$-8,504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$-8,504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$4,773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$4,773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$-8,504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$4,773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 submissions - highly active agency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164%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15 to 5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Specialized Program Solutions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KS  |  City: Overland Park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$2,128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$2,128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$-6,161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$54,351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$46,223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25.0%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$4,244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$1,544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$1,544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$584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$584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$-6,161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$2,128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$2,128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$-6,161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$584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$2,128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bind(s) - converting submissions to business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Todd Lykke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TX  |  City: Nacogdoches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$158,962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$139,141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$867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$807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$867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$807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$867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$867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$867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$807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2.2% hit ratio on 45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(45 subs, only 1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Lewis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Houston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$-2,474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$73,396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$46,634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$-2,474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$-2,474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228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$381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0.4% hit ratio on 226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450% of new business ($2,474)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(226 subs, only 1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$550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Affordable American Ins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CO  |  City: Thornton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$137,258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15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15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8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Belus Insurance Agency,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McKinney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$28,278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$28,278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4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 quotes but 0 binds - follow up on pricing/coverage gaps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4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Bq Insurance Agency Mcallen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West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8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6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Cobic Inc. Dba Cm Insurance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N/A  |  Region: N/A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5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K3 S Insurance Agency Corp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CO  |  City: Denver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$22,342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$22,342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16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16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9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Marketers General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 Central  |  State: N/A  |  City: Norman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10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10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7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Throne Insurance &amp; Financial Services,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Allen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$15,850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$15,850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19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19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15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JLP Insurance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TX  |  City: Georgetown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$134,541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$117,417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-0%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$74,400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$27,713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$-35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$-35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79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bind(s) - converting submissions to business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Negative written premium ($-35) - cancellations exceed production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2.5% hit ratio on 79 subs - needs coaching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(79 subs, only 2 binds). Ask: "What are the top 2 reasons your clients go elsewhere?" Use answers to tailor appetite and pricing discussions.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JAMCO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TX  |  City: Pasadena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$-1,459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$-1,459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$127,188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$124,965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-1%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$-3,129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$-3,129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$2,082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$2,082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$-1,459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$-1,459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$-3,129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$-110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$-301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$765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$-1,459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Negative written premium ($-1,459) - cancellations exceed production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 submissions with zero binds - zero conversion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36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24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