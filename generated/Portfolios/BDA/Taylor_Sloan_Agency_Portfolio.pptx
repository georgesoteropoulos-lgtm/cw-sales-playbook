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07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645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8B5CF6"/>
                </a:solidFill>
                <a:latin typeface="Segoe UI"/>
              </a:defRPr>
            </a:pPr>
            <a:r>
              <a:t>COVER WHALE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Taylor Sloan - Agency Portfolio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C4B5FD"/>
                </a:solidFill>
                <a:latin typeface="Segoe UI"/>
              </a:defRPr>
            </a:pPr>
            <a:r>
              <a:t>Jan–May 2026  |  Generated May 26, 2026  |  27 Agencies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Taylor Sloan - Portfolio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27 Total Agencies  |  26 Active  |  1 Inactive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Agencies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47088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Active (YTD)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57016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$1,354,890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266944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$1,071,778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76872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$125,596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0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$157,516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396728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DC2626"/>
                </a:solidFill>
                <a:latin typeface="Segoe UI"/>
              </a:defRPr>
            </a:pPr>
            <a:r>
              <a:t>$-519,145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37160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1267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Submissions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847088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Binds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57016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3.4%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266944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Subs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76872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Binds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86800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1125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Subs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396728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Binds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37160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$2,294,609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847088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$2,796,964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557016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$2,753,531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Annual Goal (40%)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266944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059669"/>
                </a:solidFill>
                <a:latin typeface="Segoe UI"/>
              </a:defRPr>
            </a:pPr>
            <a:r>
              <a:t>49%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976872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$503,319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686800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$870,450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Bound Prem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396728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19.5%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Retention Rate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2514600"/>
            <a:ext cx="7863840" cy="292608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53288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TOP AGENCIES BY YTD GWP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2862072"/>
            <a:ext cx="25603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926079" y="2862072"/>
            <a:ext cx="10058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931920" y="2862072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New Biz $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46320" y="2862072"/>
            <a:ext cx="8229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Renewals $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0" y="2862072"/>
            <a:ext cx="5486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17920" y="286207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Quotes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1228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0" y="286207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HR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60" y="3026664"/>
            <a:ext cx="7498079" cy="731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5760" y="308152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360 Risk Partners Insurance Solutio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926079" y="3081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$290,447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931920" y="3081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$213,147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846320" y="308152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$23,591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69280" y="308152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17920" y="308152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12280" y="308152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315200" y="308152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6.7%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65760" y="327355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65760" y="328269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Fredrick B. Roberson Insurance Serv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926079" y="328269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$240,217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1920" y="328269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$152,737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846320" y="328269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669280" y="328269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217920" y="328269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12280" y="328269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315200" y="328269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5.6%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5760" y="348386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Millan Group, Inc.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926079" y="3483864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$205,400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931920" y="348386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$205,561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846320" y="3483864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669280" y="3483864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217920" y="348386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812280" y="3483864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315200" y="348386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3.5%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3675888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65760" y="368503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Commercial Specialists Insurance Se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926079" y="368503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$139,039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368503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$139,546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846320" y="368503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669280" y="3685032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217920" y="368503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812280" y="3685032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315200" y="368503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7.9%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65760" y="388620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All Lines Associates, Inc. DBA Vall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926079" y="3886200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$107,250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931920" y="388620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$103,230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846320" y="388620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669280" y="388620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186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217920" y="388620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126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812280" y="3886200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315200" y="388620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1.6%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365760" y="4078224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365760" y="408736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Mustard Seed Financial &amp; Insurance 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926079" y="408736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$95,156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931920" y="408736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$66,456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846320" y="408736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$27,219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669280" y="408736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152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217920" y="408736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812280" y="408736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315200" y="408736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2.0%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65760" y="428853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Safeguard Insurance Llc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926079" y="428853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$68,177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931920" y="428853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$66,525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846320" y="428853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669280" y="428853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217920" y="428853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812280" y="428853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315200" y="428853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5.6%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365760" y="4480560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365760" y="448970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NEAL'S INSURANCE SERVICES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926079" y="4489704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$61,005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931920" y="448970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846320" y="4489704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$61,018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5669280" y="4489704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217920" y="448970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812280" y="4489704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7315200" y="448970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365760" y="469087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Omega Insurance Service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2926079" y="469087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$41,015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3931920" y="469087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$26,723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846320" y="469087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$13,769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669280" y="4690872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6217920" y="469087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6812280" y="4690872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315200" y="469087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28.6%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365760" y="4882896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365760" y="489204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Maria Candelaria Melara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926079" y="4892040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$37,563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931920" y="489204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$37,563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846320" y="489204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669280" y="489204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6217920" y="489204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6812280" y="4892040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7315200" y="489204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365760" y="509320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Beaver State Insurance Agency Llc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926079" y="509320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$26,465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931920" y="509320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$20,493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846320" y="509320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5669280" y="509320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6217920" y="509320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812280" y="509320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7315200" y="509320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365760" y="528523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365760" y="529437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Julian Reyes Insurance Agency, Inc.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2926079" y="529437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$21,653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931920" y="529437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$21,653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846320" y="529437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669280" y="529437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6217920" y="529437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6812280" y="529437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7315200" y="529437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5.9%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8229600" y="2514600"/>
            <a:ext cx="3749039" cy="292608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8321040" y="2532888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MONTHLY SUMMARY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8275320" y="2862072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8732520" y="2862072"/>
            <a:ext cx="7772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9509760" y="2862072"/>
            <a:ext cx="7315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New Biz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024128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0744200" y="2862072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120140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HR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8275320" y="3026664"/>
            <a:ext cx="3566160" cy="731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8275320" y="308152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8732520" y="3081528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$589,430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9509760" y="308152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$331,281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0241280" y="308152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0744200" y="308152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1201400" y="308152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7.2%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8275320" y="333756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8732520" y="3337560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$475,051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9509760" y="3337560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$50,299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0241280" y="333756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249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0744200" y="333756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11201400" y="333756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4.4%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275320" y="359359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8732520" y="3593592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$432,359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509760" y="3593592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$161,882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241280" y="3593592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285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0744200" y="359359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1201400" y="3593592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6.7%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8275320" y="3849624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8732520" y="3849624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$666,668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9509760" y="3849624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$154,501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0241280" y="3849624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342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744200" y="3849624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1201400" y="3849624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4.7%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8275320" y="41056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8732520" y="4105656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$478,178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509760" y="4105656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$373,815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241280" y="4105656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274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744200" y="41056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201400" y="4105656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5.8%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8275320" y="4325112"/>
            <a:ext cx="3566160" cy="1097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8275320" y="4361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8732520" y="4361688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$1,354,890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9509760" y="436168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$1,071,778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241280" y="436168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1267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744200" y="4361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1201400" y="436168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3.4%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8229600" y="4773168"/>
            <a:ext cx="3749039" cy="292608"/>
          </a:xfrm>
          <a:prstGeom prst="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8321040" y="4791456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DC2626"/>
                </a:solidFill>
                <a:latin typeface="Segoe UI"/>
              </a:defRPr>
            </a:pPr>
            <a:r>
              <a:t>INACTIVE AGENCIES (1)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8321040" y="5120640"/>
            <a:ext cx="3474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Titanic Insurance Services Inc.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OKR Scoreboard — Taylor Sloan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BDA OKRs  |  Q2 measure (paced where applicable)  |  Matches BD Rep Scoreboard numbers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0" y="960120"/>
            <a:ext cx="3200400" cy="1371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0" y="1033271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59669"/>
                </a:solidFill>
                <a:latin typeface="Segoe UI"/>
              </a:defRPr>
            </a:pPr>
            <a:r>
              <a:t>89.1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159105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6B7280"/>
                </a:solidFill>
                <a:latin typeface="Segoe UI"/>
              </a:defRPr>
            </a:pPr>
            <a:r>
              <a:t>COMPOSITE SCORE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186537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B7280"/>
                </a:solidFill>
                <a:latin typeface="Segoe UI"/>
              </a:defRPr>
            </a:pPr>
            <a:r>
              <a:t>Green ≥ 70  |  Amber 45-69  |  Red &lt; 45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960120"/>
            <a:ext cx="8138160" cy="16002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960120"/>
            <a:ext cx="91440" cy="16002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30759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Subs YoY 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167335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Goal ≥+50%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114300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059669"/>
                </a:solidFill>
                <a:latin typeface="Segoe UI"/>
              </a:defRPr>
            </a:pPr>
            <a:r>
              <a:t>+232%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2651760"/>
            <a:ext cx="8138160" cy="16002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5760" y="2651760"/>
            <a:ext cx="91440" cy="160020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27432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299923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Activity Compliance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336499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Goal ≥ 100% (50/wk)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283464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DC2626"/>
                </a:solidFill>
                <a:latin typeface="Segoe UI"/>
              </a:defRPr>
            </a:pPr>
            <a:r>
              <a:t>67%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4343400"/>
            <a:ext cx="8138160" cy="16002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65760" y="4343400"/>
            <a:ext cx="91440" cy="16002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44348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469087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Portfolio Active 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505663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26 of 27 agencies  |  Goal 75%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0" y="452628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059669"/>
                </a:solidFill>
                <a:latin typeface="Segoe UI"/>
              </a:defRPr>
            </a:pPr>
            <a:r>
              <a:t>96%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OKR 1: Q2 paced subs YoY — current Q2-YTD subs ÷ days-elapsed × 91 vs prior full Q2 (Apr–Jun 2025)  |  OKR 2: Q2 avg weekly calls + meetings vs 50/wk goal (outbound calls + meetings only, matches scoreboard)  |  OKR 3: % of HubSpot book with ≥1 submission in 2026  |  BDAs not scored on OKR 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BD Activity  —  Taylor Sloan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Jan–May 2026  |  Calls + Meetings  |  Weekly goal: 50 activities  |  Colored arrow = month-over-month trend vs prior complete month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224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Calls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13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Meetings</a:t>
            </a:r>
          </a:p>
        </p:txBody>
      </p:sp>
      <p:sp>
        <p:nvSpPr>
          <p:cNvPr id="7" name="Rectangle 6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237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Activity</a:t>
            </a:r>
          </a:p>
        </p:txBody>
      </p:sp>
      <p:sp>
        <p:nvSpPr>
          <p:cNvPr id="8" name="Rectangle 7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11.8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/ Week</a:t>
            </a:r>
          </a:p>
        </p:txBody>
      </p:sp>
      <p:sp>
        <p:nvSpPr>
          <p:cNvPr id="9" name="Rectangle 8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24%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 (50/wk)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636776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WEEKS 1–11  (Jan–Mar)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938528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Week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9280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Calls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24328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Meetings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9300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Total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24528" y="1938528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% Goal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01768" y="1938528"/>
            <a:ext cx="1051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Status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6712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37160" y="216712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46888" y="218541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1/5–1/11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92808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24328" y="218541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93008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24528" y="218541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01768" y="218541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37160" y="240944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37160" y="240944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46888" y="242773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1/12–1/18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92808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24328" y="242773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93008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24528" y="242773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01768" y="242773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37160" y="265176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37160" y="265176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6888" y="267004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1/19–1/25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92808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624328" y="267004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493008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224528" y="267004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01768" y="267004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37160" y="289407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37160" y="289407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46888" y="29123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1/26–2/1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892808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624328" y="291236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493008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24528" y="291236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001768" y="291236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37160" y="313639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37160" y="313639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46888" y="315468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2/2–2/8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892808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624328" y="315468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493008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224528" y="315468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001768" y="315468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37160" y="337870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37160" y="337870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46888" y="339699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2/9–2/15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892808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624328" y="339699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493008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224528" y="339699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001768" y="339699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37160" y="362102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137160" y="362102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46888" y="363931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2/16–2/22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892808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624328" y="363931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493008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24528" y="363931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001768" y="363931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75" name="Rectangle 74"/>
          <p:cNvSpPr/>
          <p:nvPr/>
        </p:nvSpPr>
        <p:spPr>
          <a:xfrm>
            <a:off x="137160" y="386334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137160" y="386334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246888" y="388162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2/23–3/1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892808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624328" y="388162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493008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24528" y="388162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001768" y="388162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37160" y="410565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37160" y="410565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46888" y="412394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3/2–3/8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892808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624328" y="412394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493008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224528" y="412394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001768" y="412394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91" name="Rectangle 90"/>
          <p:cNvSpPr/>
          <p:nvPr/>
        </p:nvSpPr>
        <p:spPr>
          <a:xfrm>
            <a:off x="137160" y="434797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37160" y="434797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246888" y="436626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3/9–3/15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892808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2624328" y="436626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3493008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224528" y="436626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5001768" y="436626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99" name="Rectangle 98"/>
          <p:cNvSpPr/>
          <p:nvPr/>
        </p:nvSpPr>
        <p:spPr>
          <a:xfrm>
            <a:off x="137160" y="459028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137160" y="459028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246888" y="460857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3/16–3/22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892808" y="460857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2624328" y="460857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3493008" y="460857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4224528" y="460857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001768" y="460857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6199632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6309360" y="1636776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WEEKS 12–21  (Mar–May)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309360" y="1938528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Week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955280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Calls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686800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Meetings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555480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0287000" y="1938528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% Goal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1064240" y="1938528"/>
            <a:ext cx="1051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Status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6245352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6199632" y="216712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6199632" y="216712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6309360" y="218541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3/23–3/29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7955280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8686800" y="218541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9555480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0287000" y="218541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1064240" y="218541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6199632" y="240944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6199632" y="240944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242773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3/30–4/5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955280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686800" y="242773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555480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287000" y="242773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1064240" y="242773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6199632" y="265176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6199632" y="265176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6309360" y="267004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4/6–4/12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7955280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8686800" y="267004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9555480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287000" y="267004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064240" y="267004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6199632" y="289407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6199632" y="289407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6309360" y="29123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4/13–4/19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955280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686800" y="291236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55480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287000" y="291236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4%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1064240" y="291236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6199632" y="3136392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6199632" y="3136392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6309360" y="315468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4/20–4/26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7955280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8686800" y="315468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9555480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0287000" y="315468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96%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1064240" y="315468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6199632" y="3378708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6199632" y="3378708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6309360" y="339699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4/27–5/3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955280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686800" y="339699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555480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287000" y="339699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116%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1064240" y="339699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6199632" y="3621024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6199632" y="3621024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309360" y="363931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5/4–5/10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955280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8686800" y="363931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9555480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287000" y="363931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108%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1064240" y="363931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6199632" y="3863340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6199632" y="3863340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6309360" y="388162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5/11–5/17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7955280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8686800" y="388162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555480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287000" y="388162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86%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11064240" y="388162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6199632" y="410565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6199632" y="410565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TextBox 181"/>
          <p:cNvSpPr txBox="1"/>
          <p:nvPr/>
        </p:nvSpPr>
        <p:spPr>
          <a:xfrm>
            <a:off x="6309360" y="412394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5/18–5/24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7955280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8686800" y="412394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9555480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10287000" y="412394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62%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11064240" y="412394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88" name="Rectangle 187"/>
          <p:cNvSpPr/>
          <p:nvPr/>
        </p:nvSpPr>
        <p:spPr>
          <a:xfrm>
            <a:off x="6199632" y="434797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Rectangle 188"/>
          <p:cNvSpPr/>
          <p:nvPr/>
        </p:nvSpPr>
        <p:spPr>
          <a:xfrm>
            <a:off x="6199632" y="434797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6309360" y="436626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5/25–5/26*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7955280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8686800" y="436626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9555480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10287000" y="436626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2%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1064240" y="436626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HubSpot CRM  |  Calls + meetings only (emails excluded)  |  * = current/partial week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Submission Growth  —  Taylor Sloan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Jan–May 2026 vs 2025  |  Green = growth  |  Red = decline  |  Hit ratio = binds / submissions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642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Submissions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24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Binds</a:t>
            </a:r>
          </a:p>
        </p:txBody>
      </p:sp>
      <p:sp>
        <p:nvSpPr>
          <p:cNvPr id="7" name="Rectangle 6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3.7%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" name="Rectangle 7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+0.5%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Subs YOY vs 2025</a:t>
            </a:r>
          </a:p>
        </p:txBody>
      </p:sp>
      <p:sp>
        <p:nvSpPr>
          <p:cNvPr id="9" name="Rectangle 8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-53.8%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 YOY vs 2025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600200"/>
            <a:ext cx="521208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636776"/>
            <a:ext cx="5029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MONTHLY BREAKDOWN  —  2026 vs 2025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938528"/>
            <a:ext cx="56692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3816" y="1938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2026 Subs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19656" y="1938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2026 Binds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34056" y="1938528"/>
            <a:ext cx="62179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55848" y="1938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2025 Subs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70248" y="1938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YoY 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112264"/>
            <a:ext cx="505663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57984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888" y="2203704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6" y="220370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19656" y="220370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34056" y="2203704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55848" y="220370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119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70248" y="220370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-100%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" y="2519172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3816" y="251917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19656" y="251917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34056" y="2519172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55848" y="251917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104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70248" y="251917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-100%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7160" y="2788920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" y="2834640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3816" y="283464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819656" y="28346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734056" y="2834640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55848" y="28346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123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70248" y="283464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-64%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888" y="3150108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3816" y="315010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332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819656" y="31501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734056" y="3150108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3.9%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355848" y="31501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122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70248" y="315010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+172%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7160" y="3419856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6888" y="3465576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3816" y="346557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266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819656" y="346557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734056" y="3465576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4.1%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355848" y="346557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171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270248" y="346557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+56%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82880" y="3717036"/>
            <a:ext cx="5120640" cy="914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46888" y="3762756"/>
            <a:ext cx="5669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YTD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13816" y="3762756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642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819656" y="376275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34056" y="3762756"/>
            <a:ext cx="6217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3.7%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355848" y="376275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639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270248" y="3762756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+0%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623560" y="1600200"/>
            <a:ext cx="64008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733288" y="1636776"/>
            <a:ext cx="6217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TOP AGENCIES BY SUBMISSION VOLUME  —  YTD Ranked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733288" y="1938528"/>
            <a:ext cx="2834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567928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YTD Subs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436608" y="193852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25956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991088" y="1938528"/>
            <a:ext cx="685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YOY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669280" y="2112264"/>
            <a:ext cx="597103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623560" y="216712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733288" y="218541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All Capital Insurance Agency Inc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567928" y="218541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226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436608" y="218541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259568" y="218541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2.7%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991088" y="218541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+142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733288" y="244144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All Lines Associates, Inc. DBA Valley 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567928" y="244144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186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436608" y="244144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259568" y="244144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1.6%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991088" y="244144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+91</a:t>
            </a:r>
          </a:p>
        </p:txBody>
      </p:sp>
      <p:sp>
        <p:nvSpPr>
          <p:cNvPr id="78" name="Rectangle 77"/>
          <p:cNvSpPr/>
          <p:nvPr/>
        </p:nvSpPr>
        <p:spPr>
          <a:xfrm>
            <a:off x="5623560" y="2679192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5733288" y="269748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Mustard Seed Financial &amp; Insurance Inc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567928" y="269748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152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436608" y="269748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259568" y="269748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2.0%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991088" y="269748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-54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733288" y="295351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Fredrick B. Roberson Insurance Service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567928" y="295351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143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436608" y="295351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259568" y="295351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5.6%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991088" y="295351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+59</a:t>
            </a:r>
          </a:p>
        </p:txBody>
      </p:sp>
      <p:sp>
        <p:nvSpPr>
          <p:cNvPr id="89" name="Rectangle 88"/>
          <p:cNvSpPr/>
          <p:nvPr/>
        </p:nvSpPr>
        <p:spPr>
          <a:xfrm>
            <a:off x="5623560" y="3191256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5733288" y="320954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360 Risk Partners Insurance Solutions,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567928" y="320954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135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9436608" y="320954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259568" y="320954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6.7%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0991088" y="320954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+110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733288" y="346557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Millan Group, Inc.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567928" y="346557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436608" y="346557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0259568" y="346557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3.5%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0991088" y="346557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+56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623560" y="3703320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5733288" y="372160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WHA Insurance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567928" y="372160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436608" y="372160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259568" y="372160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991088" y="372160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+49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733288" y="397764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Avina's Insurance Services Inc.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567928" y="397764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9436608" y="397764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259568" y="397764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991088" y="397764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+35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5623560" y="4215384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5733288" y="423367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Commercial Specialists Insurance Servi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8567928" y="423367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9436608" y="423367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0259568" y="423367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7.9%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991088" y="423367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+9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5733288" y="448970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Safeguard Insurance Llc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8567928" y="448970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436608" y="448970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0259568" y="448970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5.6%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991088" y="448970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+36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5623560" y="472744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5733288" y="474573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Immensity Insurance &amp; Risk Advisors Ll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8567928" y="474573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436608" y="474573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10259568" y="474573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0991088" y="474573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+35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5733288" y="500176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Gerald Cummings &amp; Associates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567928" y="500176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436608" y="500176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259568" y="500176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0991088" y="500176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+12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5623560" y="5239512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5733288" y="525780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Maria Candelaria Melara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8567928" y="525780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9436608" y="525780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0259568" y="525780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991088" y="525780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5733288" y="551383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Julian Reyes Insurance Agency, Inc.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8567928" y="551383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9436608" y="551383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259568" y="551383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5.9%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0991088" y="551383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+17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5623560" y="5751576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5733288" y="576986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Guardian Angel Insurance Services Inc 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8567928" y="576986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436608" y="576986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259568" y="576986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991088" y="576986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+15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5733288" y="602589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Jd Fulwiler &amp; Co Insurance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8567928" y="602589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9436608" y="602589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259568" y="602589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0991088" y="602589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+13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Metabase  |  Totals match Sales Scoreboard: Q1 → Q1 owner, Q2+ → current owner, 2025 baseline → current owner  |  Hit ratio = binds / submissions  |  Right-panel agency table shows current portfolio  |  Green ≥ 8%  Red &lt; 5%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Monthly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Taylor Sloan  |  27 Total Agencies  |  Jan–May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10424160" cy="32918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4300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1143000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37560" y="1143000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New Biz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1143000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97879" y="114300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Cancel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865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009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Quotes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153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29799" y="114300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1499616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1499616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$589,430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37560" y="1499616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$331,281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1499616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$37,360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97879" y="149961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$-45,513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865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180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009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130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153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29799" y="1499616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7.2%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1773936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182880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20240" y="1828800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$475,051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37560" y="1828800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$50,299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63440" y="1828800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$27,219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97879" y="182880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$-78,810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865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249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009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178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153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29799" y="182880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4.4%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2157984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920240" y="2157984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$432,359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337560" y="2157984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$161,882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2157984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897879" y="215798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$-78,751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865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285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009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192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153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829799" y="2157984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6.7%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65760" y="2432303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57200" y="248716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920240" y="2487168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$666,668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337560" y="2487168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$154,501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663440" y="2487168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$61,018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897879" y="248716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$-113,155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0865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342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0009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242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9153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829799" y="2487168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4.7%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57200" y="2816351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920240" y="2816351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$478,178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337560" y="2816351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$373,815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63440" y="2816351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897879" y="2816351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$-202,915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0865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274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0009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190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9153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829799" y="2816351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5.8%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3090671"/>
            <a:ext cx="10424160" cy="36576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7200" y="3163823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YTD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920240" y="3163823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$2,641,686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37560" y="3163823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$1,071,778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663440" y="3163823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$125,596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897879" y="3163823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$-519,145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0865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1,330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0009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932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9153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829799" y="3163823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5.6%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65760" y="3611879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Green = up vs prior month  |  Red = down vs prior month or negative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DSG In My Portfolio — Taylor Sloan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Dirt, Sand &amp; Gravel program performance across this bda's agencies  |  2026 YTD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DSG SUBMISSIONS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BOUND ACCOUNTS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$64,793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GROSS WRITTEN PREM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059669"/>
                </a:solidFill>
                <a:latin typeface="Segoe UI"/>
              </a:defRPr>
            </a:pPr>
            <a:r>
              <a:t>2.4%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 RATE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113385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22576"/>
            <a:ext cx="111556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DSG ACTIVITY BY AGENCY (top 8 by submissions)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70048"/>
            <a:ext cx="4206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Declined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2376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Bound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84080" y="267004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944368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2980944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Fredrick B. Roberson Insurance Services, Inc.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2376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2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6.8%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84080" y="2980944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$64,793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3291839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All Lines Associates, Inc. DBA Valley Trucking Insuranc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6344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84080" y="329183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3566159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3602735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Commercial Specialists Insurance Services, Inc.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6344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0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2376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0392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84080" y="3602735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3913631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Millan Group, Inc.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4360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2376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50392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784080" y="3913631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" y="4187951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57200" y="4224527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All Capital Insurance Agency Inc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6344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94360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22376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50392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784080" y="4224527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57200" y="4535423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WHA Insurance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66344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94360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22376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50392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784080" y="4535423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7200" y="4809743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57200" y="4846319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Gerald Cummings &amp; Associates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66344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94360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22376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50392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784080" y="484631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57200" y="5157215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360 Risk Partners Insurance Solutions, Inc.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66344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94360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22376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50392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784080" y="5157215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57200" y="594360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Segoe UI"/>
              </a:defRPr>
            </a:pPr>
            <a:r>
              <a:t>States with DSG bound business in this book: CA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Fleet In My Portfolio — Taylor Sloan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Fleet business (4+ power units) across this bda's agencies  |  2026 YTD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SUBMISSIONS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$1,071,370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GWP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UNITS / SUB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694944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22576"/>
            <a:ext cx="67665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FLEET BY AGENCY (top 8)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70048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49039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Bound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778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944368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2980944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All Capital Insurance Agency Inc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49039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778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329183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Fredrick B. Roberson Insurance Services, 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49039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634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778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3566159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3602735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Safeguard Insurance LLC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49039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634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5778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922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3913631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All Lines Associates, Inc. DBA Valley Truc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749039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634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5778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922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200" y="4187951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7200" y="4224527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Millan Group, Inc.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749039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6634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5778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922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$172,270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" y="4535423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Beaver State Insurance Agency LLC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749039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634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5778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44.4%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922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$516,673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57200" y="4809743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57200" y="484631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Mustard Seed Financial &amp; Insurance Inc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749039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6634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5778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922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7200" y="5157215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Commercial Specialists Insurance Services,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749039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634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5778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4922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$262,391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589520" y="2286000"/>
            <a:ext cx="420624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699248" y="2322576"/>
            <a:ext cx="40233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FLEET SIZE MIX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680960" y="267004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4-5 units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098280" y="267004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104120" y="267004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(42%)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680960" y="303580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6-10 units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098280" y="303580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71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104120" y="303580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(46%)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680960" y="340156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11-25 units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098280" y="340156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104120" y="340156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(12%)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80960" y="376732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26-50 units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098280" y="376732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104120" y="376732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(0%)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680960" y="413308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51+ units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098280" y="413308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104120" y="4133087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(0%)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7200" y="612648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Segoe UI"/>
              </a:defRPr>
            </a:pPr>
            <a:r>
              <a:t>Bind rate on fleet: 5.8%  ·  Declined: 52  ·  Source: cw_rep.transportation_submissions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Agency Producers — Taylor Sloan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Individual agents ranked by YTD submissions  |  Agent = broker_contact on submission  |  Trend = MoM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82880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1267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YTD Subs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9464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YTD Binds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56048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3.4%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Portfolio Hit Ratio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42631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Active Agents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729215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45%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Top 5 Agent Share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572768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TOP AGENTS BY SUBMISSIONS  —  Ranked 1–18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874519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Agent Name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01368" y="1874519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3016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2452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1888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13248" y="1874519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888" y="21214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Dan Ostapenko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01368" y="21214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All Capital Insurance Agency 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3016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210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2452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1888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2.4%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13248" y="21214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" y="236098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Bret Fair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01368" y="236098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360 Risk Partners Insurance So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3016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2452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1888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6.7%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13248" y="236098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7160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" y="260055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Kelly Link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01368" y="260055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Mustard Seed Financial &amp; Insur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3016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117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2452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81888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1.7%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13248" y="260055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888" y="284012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Liana Abramov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801368" y="284012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All Lines Associates, Inc. DBA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3016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22452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1888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13248" y="284012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7160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6888" y="3079699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Katie Pereira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801368" y="3079699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Fredrick B. Roberson Insurance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63016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2452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81888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13248" y="3079699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46888" y="33192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McKinzee Adams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01368" y="33192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All Lines Associates, Inc. DBA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3016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22452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81888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413248" y="33192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37160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46888" y="355884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Eva Avina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01368" y="355884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Avina's Insurance Services Inc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63016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22452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81888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413248" y="355884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46888" y="379841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Jeff Anderson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801368" y="379841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All Lines Associates, Inc. DBA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63016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22452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1888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413248" y="379841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37160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246888" y="403799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Randy Rivas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801368" y="403799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Commercial Specialists Insuran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63016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22452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1888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7.9%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413248" y="403799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46888" y="427756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Arturo Gonzalez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801368" y="427756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Fredrick B. Roberson Insurance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3016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2452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81888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19.4%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413248" y="427756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37160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46888" y="451713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Ranjodh Parhar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801368" y="451713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Safeguard Insurance Llc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63016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22452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81888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5.6%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413248" y="451713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46888" y="47567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Avleen Sethi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801368" y="47567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Immensity Insurance &amp; Risk Adv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63016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22452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81888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5413248" y="47567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97" name="Rectangle 96"/>
          <p:cNvSpPr/>
          <p:nvPr/>
        </p:nvSpPr>
        <p:spPr>
          <a:xfrm>
            <a:off x="137160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246888" y="4996281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Raul Millan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801368" y="4996281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Millan Group, Inc.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63016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22452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481888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6.1%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413248" y="4996281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246888" y="523585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Gerald Cummings II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801368" y="523585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Gerald Cummings &amp; Associates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63016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22452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81888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413248" y="523585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137160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246888" y="547542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Jacob Cunningham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801368" y="547542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Mustard Seed Financial &amp; Insur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363016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22452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481888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4.2%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5413248" y="547542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246888" y="571500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Edgar Millan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801368" y="571500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Millan Group, Inc.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363016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422452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1888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5413248" y="571500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137160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246888" y="59545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Vicky Nunez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1801368" y="59545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Fredrick B. Roberson Insurance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363016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422452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481888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5413248" y="59545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246888" y="6194145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Cameron Pechia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801368" y="6194145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All Lines Associates, Inc. DBA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363016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422452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81888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15.8%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413248" y="6194145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6245352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6355080" y="1572768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CONTINUED  —  Ranked 19–36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355080" y="1874519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Agent Name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7909560" y="1874519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973836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033272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92708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1521440" y="1874519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MoM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6291072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6245352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6355080" y="21214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Maria Melara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7909560" y="21214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Maria Candelaria Melara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973836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33272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092708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1521440" y="21214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6355080" y="236098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Julian Reyes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7909560" y="236098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Julian Reyes Insurance Agency,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973836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033272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1092708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5.9%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1521440" y="236098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6245352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6355080" y="260055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Yulia Angel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909560" y="260055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Guardian Angel Insurance Servi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73836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33272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92708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1521440" y="260055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355080" y="284012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Carol Robertson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7909560" y="284012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Jd Fulwiler &amp; Co Insurance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973836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33272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092708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1521440" y="284012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6245352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6355080" y="3079699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Roger Pena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7909560" y="3079699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Beaver State Insurance Agency 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73836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33272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92708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521440" y="3079699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6355080" y="33192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Artem Tkachuk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7909560" y="33192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All Capital Insurance Agency I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973836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1033272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92708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1521440" y="33192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6245352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6355080" y="355884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Juanita Dixon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7909560" y="355884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All Lines Associates, Inc. DBA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73836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033272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1092708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11521440" y="355884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6355080" y="379841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Beth Gonzalez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7909560" y="379841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WHA Insurance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973836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1033272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092708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11521440" y="379841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97" name="Rectangle 196"/>
          <p:cNvSpPr/>
          <p:nvPr/>
        </p:nvSpPr>
        <p:spPr>
          <a:xfrm>
            <a:off x="6245352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TextBox 197"/>
          <p:cNvSpPr txBox="1"/>
          <p:nvPr/>
        </p:nvSpPr>
        <p:spPr>
          <a:xfrm>
            <a:off x="6355080" y="403799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Pettina Sams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7909560" y="403799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WHA Insurance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973836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1033272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1092708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11521440" y="403799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6355080" y="427756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Salvador Alcala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7909560" y="427756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Fredrick B. Roberson Insurance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973836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1033272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1092708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209" name="TextBox 208"/>
          <p:cNvSpPr txBox="1"/>
          <p:nvPr/>
        </p:nvSpPr>
        <p:spPr>
          <a:xfrm>
            <a:off x="11521440" y="427756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10" name="Rectangle 209"/>
          <p:cNvSpPr/>
          <p:nvPr/>
        </p:nvSpPr>
        <p:spPr>
          <a:xfrm>
            <a:off x="6245352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TextBox 210"/>
          <p:cNvSpPr txBox="1"/>
          <p:nvPr/>
        </p:nvSpPr>
        <p:spPr>
          <a:xfrm>
            <a:off x="6355080" y="451713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Stephen Klabo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7909560" y="451713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WHA Insurance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973836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214" name="TextBox 213"/>
          <p:cNvSpPr txBox="1"/>
          <p:nvPr/>
        </p:nvSpPr>
        <p:spPr>
          <a:xfrm>
            <a:off x="1033272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15" name="TextBox 214"/>
          <p:cNvSpPr txBox="1"/>
          <p:nvPr/>
        </p:nvSpPr>
        <p:spPr>
          <a:xfrm>
            <a:off x="1092708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16" name="TextBox 215"/>
          <p:cNvSpPr txBox="1"/>
          <p:nvPr/>
        </p:nvSpPr>
        <p:spPr>
          <a:xfrm>
            <a:off x="11521440" y="451713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6355080" y="47567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Leticia Mendoza</a:t>
            </a:r>
          </a:p>
        </p:txBody>
      </p:sp>
      <p:sp>
        <p:nvSpPr>
          <p:cNvPr id="218" name="TextBox 217"/>
          <p:cNvSpPr txBox="1"/>
          <p:nvPr/>
        </p:nvSpPr>
        <p:spPr>
          <a:xfrm>
            <a:off x="7909560" y="47567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Rva Insurance Agency Inc</a:t>
            </a:r>
          </a:p>
        </p:txBody>
      </p:sp>
      <p:sp>
        <p:nvSpPr>
          <p:cNvPr id="219" name="TextBox 218"/>
          <p:cNvSpPr txBox="1"/>
          <p:nvPr/>
        </p:nvSpPr>
        <p:spPr>
          <a:xfrm>
            <a:off x="973836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220" name="TextBox 219"/>
          <p:cNvSpPr txBox="1"/>
          <p:nvPr/>
        </p:nvSpPr>
        <p:spPr>
          <a:xfrm>
            <a:off x="1033272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21" name="TextBox 220"/>
          <p:cNvSpPr txBox="1"/>
          <p:nvPr/>
        </p:nvSpPr>
        <p:spPr>
          <a:xfrm>
            <a:off x="1092708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22" name="TextBox 221"/>
          <p:cNvSpPr txBox="1"/>
          <p:nvPr/>
        </p:nvSpPr>
        <p:spPr>
          <a:xfrm>
            <a:off x="11521440" y="47567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23" name="Rectangle 222"/>
          <p:cNvSpPr/>
          <p:nvPr/>
        </p:nvSpPr>
        <p:spPr>
          <a:xfrm>
            <a:off x="6245352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TextBox 223"/>
          <p:cNvSpPr txBox="1"/>
          <p:nvPr/>
        </p:nvSpPr>
        <p:spPr>
          <a:xfrm>
            <a:off x="6355080" y="4996281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Rachael Huston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7909560" y="4996281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Fredrick B. Roberson Insurance</a:t>
            </a:r>
          </a:p>
        </p:txBody>
      </p:sp>
      <p:sp>
        <p:nvSpPr>
          <p:cNvPr id="226" name="TextBox 225"/>
          <p:cNvSpPr txBox="1"/>
          <p:nvPr/>
        </p:nvSpPr>
        <p:spPr>
          <a:xfrm>
            <a:off x="973836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227" name="TextBox 226"/>
          <p:cNvSpPr txBox="1"/>
          <p:nvPr/>
        </p:nvSpPr>
        <p:spPr>
          <a:xfrm>
            <a:off x="1033272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1092708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29" name="TextBox 228"/>
          <p:cNvSpPr txBox="1"/>
          <p:nvPr/>
        </p:nvSpPr>
        <p:spPr>
          <a:xfrm>
            <a:off x="11521440" y="4996281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30" name="TextBox 229"/>
          <p:cNvSpPr txBox="1"/>
          <p:nvPr/>
        </p:nvSpPr>
        <p:spPr>
          <a:xfrm>
            <a:off x="6355080" y="523585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Cynthia Neal</a:t>
            </a:r>
          </a:p>
        </p:txBody>
      </p:sp>
      <p:sp>
        <p:nvSpPr>
          <p:cNvPr id="231" name="TextBox 230"/>
          <p:cNvSpPr txBox="1"/>
          <p:nvPr/>
        </p:nvSpPr>
        <p:spPr>
          <a:xfrm>
            <a:off x="7909560" y="523585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NEAL'S INSURANCE SERVICES</a:t>
            </a:r>
          </a:p>
        </p:txBody>
      </p:sp>
      <p:sp>
        <p:nvSpPr>
          <p:cNvPr id="232" name="TextBox 231"/>
          <p:cNvSpPr txBox="1"/>
          <p:nvPr/>
        </p:nvSpPr>
        <p:spPr>
          <a:xfrm>
            <a:off x="973836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233" name="TextBox 232"/>
          <p:cNvSpPr txBox="1"/>
          <p:nvPr/>
        </p:nvSpPr>
        <p:spPr>
          <a:xfrm>
            <a:off x="1033272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34" name="TextBox 233"/>
          <p:cNvSpPr txBox="1"/>
          <p:nvPr/>
        </p:nvSpPr>
        <p:spPr>
          <a:xfrm>
            <a:off x="1092708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235" name="TextBox 234"/>
          <p:cNvSpPr txBox="1"/>
          <p:nvPr/>
        </p:nvSpPr>
        <p:spPr>
          <a:xfrm>
            <a:off x="11521440" y="523585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36" name="Rectangle 235"/>
          <p:cNvSpPr/>
          <p:nvPr/>
        </p:nvSpPr>
        <p:spPr>
          <a:xfrm>
            <a:off x="6245352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TextBox 236"/>
          <p:cNvSpPr txBox="1"/>
          <p:nvPr/>
        </p:nvSpPr>
        <p:spPr>
          <a:xfrm>
            <a:off x="6355080" y="547542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Sabrina Cornejo</a:t>
            </a:r>
          </a:p>
        </p:txBody>
      </p:sp>
      <p:sp>
        <p:nvSpPr>
          <p:cNvPr id="238" name="TextBox 237"/>
          <p:cNvSpPr txBox="1"/>
          <p:nvPr/>
        </p:nvSpPr>
        <p:spPr>
          <a:xfrm>
            <a:off x="7909560" y="547542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Genesis Truck Insurance Servic</a:t>
            </a:r>
          </a:p>
        </p:txBody>
      </p:sp>
      <p:sp>
        <p:nvSpPr>
          <p:cNvPr id="239" name="TextBox 238"/>
          <p:cNvSpPr txBox="1"/>
          <p:nvPr/>
        </p:nvSpPr>
        <p:spPr>
          <a:xfrm>
            <a:off x="973836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240" name="TextBox 239"/>
          <p:cNvSpPr txBox="1"/>
          <p:nvPr/>
        </p:nvSpPr>
        <p:spPr>
          <a:xfrm>
            <a:off x="1033272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1" name="TextBox 240"/>
          <p:cNvSpPr txBox="1"/>
          <p:nvPr/>
        </p:nvSpPr>
        <p:spPr>
          <a:xfrm>
            <a:off x="1092708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42" name="TextBox 241"/>
          <p:cNvSpPr txBox="1"/>
          <p:nvPr/>
        </p:nvSpPr>
        <p:spPr>
          <a:xfrm>
            <a:off x="11521440" y="547542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43" name="TextBox 242"/>
          <p:cNvSpPr txBox="1"/>
          <p:nvPr/>
        </p:nvSpPr>
        <p:spPr>
          <a:xfrm>
            <a:off x="6355080" y="571500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Jacob Wilcox</a:t>
            </a:r>
          </a:p>
        </p:txBody>
      </p:sp>
      <p:sp>
        <p:nvSpPr>
          <p:cNvPr id="244" name="TextBox 243"/>
          <p:cNvSpPr txBox="1"/>
          <p:nvPr/>
        </p:nvSpPr>
        <p:spPr>
          <a:xfrm>
            <a:off x="7909560" y="571500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Mustard Seed Financial &amp; Insur</a:t>
            </a:r>
          </a:p>
        </p:txBody>
      </p:sp>
      <p:sp>
        <p:nvSpPr>
          <p:cNvPr id="245" name="TextBox 244"/>
          <p:cNvSpPr txBox="1"/>
          <p:nvPr/>
        </p:nvSpPr>
        <p:spPr>
          <a:xfrm>
            <a:off x="973836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246" name="TextBox 245"/>
          <p:cNvSpPr txBox="1"/>
          <p:nvPr/>
        </p:nvSpPr>
        <p:spPr>
          <a:xfrm>
            <a:off x="1033272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7" name="TextBox 246"/>
          <p:cNvSpPr txBox="1"/>
          <p:nvPr/>
        </p:nvSpPr>
        <p:spPr>
          <a:xfrm>
            <a:off x="1092708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48" name="TextBox 247"/>
          <p:cNvSpPr txBox="1"/>
          <p:nvPr/>
        </p:nvSpPr>
        <p:spPr>
          <a:xfrm>
            <a:off x="11521440" y="571500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49" name="Rectangle 248"/>
          <p:cNvSpPr/>
          <p:nvPr/>
        </p:nvSpPr>
        <p:spPr>
          <a:xfrm>
            <a:off x="6245352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TextBox 249"/>
          <p:cNvSpPr txBox="1"/>
          <p:nvPr/>
        </p:nvSpPr>
        <p:spPr>
          <a:xfrm>
            <a:off x="6355080" y="59545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Daniel Thomas</a:t>
            </a:r>
          </a:p>
        </p:txBody>
      </p:sp>
      <p:sp>
        <p:nvSpPr>
          <p:cNvPr id="251" name="TextBox 250"/>
          <p:cNvSpPr txBox="1"/>
          <p:nvPr/>
        </p:nvSpPr>
        <p:spPr>
          <a:xfrm>
            <a:off x="7909560" y="59545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Omega Insurance Service</a:t>
            </a:r>
          </a:p>
        </p:txBody>
      </p:sp>
      <p:sp>
        <p:nvSpPr>
          <p:cNvPr id="252" name="TextBox 251"/>
          <p:cNvSpPr txBox="1"/>
          <p:nvPr/>
        </p:nvSpPr>
        <p:spPr>
          <a:xfrm>
            <a:off x="973836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253" name="TextBox 252"/>
          <p:cNvSpPr txBox="1"/>
          <p:nvPr/>
        </p:nvSpPr>
        <p:spPr>
          <a:xfrm>
            <a:off x="1033272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54" name="TextBox 253"/>
          <p:cNvSpPr txBox="1"/>
          <p:nvPr/>
        </p:nvSpPr>
        <p:spPr>
          <a:xfrm>
            <a:off x="1092708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28.6%</a:t>
            </a:r>
          </a:p>
        </p:txBody>
      </p:sp>
      <p:sp>
        <p:nvSpPr>
          <p:cNvPr id="255" name="TextBox 254"/>
          <p:cNvSpPr txBox="1"/>
          <p:nvPr/>
        </p:nvSpPr>
        <p:spPr>
          <a:xfrm>
            <a:off x="11521440" y="59545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56" name="TextBox 255"/>
          <p:cNvSpPr txBox="1"/>
          <p:nvPr/>
        </p:nvSpPr>
        <p:spPr>
          <a:xfrm>
            <a:off x="6355080" y="6194145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Cameron Crawley</a:t>
            </a:r>
          </a:p>
        </p:txBody>
      </p:sp>
      <p:sp>
        <p:nvSpPr>
          <p:cNvPr id="257" name="TextBox 256"/>
          <p:cNvSpPr txBox="1"/>
          <p:nvPr/>
        </p:nvSpPr>
        <p:spPr>
          <a:xfrm>
            <a:off x="7909560" y="6194145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WHA Insurance</a:t>
            </a:r>
          </a:p>
        </p:txBody>
      </p:sp>
      <p:sp>
        <p:nvSpPr>
          <p:cNvPr id="258" name="TextBox 257"/>
          <p:cNvSpPr txBox="1"/>
          <p:nvPr/>
        </p:nvSpPr>
        <p:spPr>
          <a:xfrm>
            <a:off x="973836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259" name="TextBox 258"/>
          <p:cNvSpPr txBox="1"/>
          <p:nvPr/>
        </p:nvSpPr>
        <p:spPr>
          <a:xfrm>
            <a:off x="1033272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60" name="TextBox 259"/>
          <p:cNvSpPr txBox="1"/>
          <p:nvPr/>
        </p:nvSpPr>
        <p:spPr>
          <a:xfrm>
            <a:off x="1092708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61" name="TextBox 260"/>
          <p:cNvSpPr txBox="1"/>
          <p:nvPr/>
        </p:nvSpPr>
        <p:spPr>
          <a:xfrm>
            <a:off x="11521440" y="6194145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62" name="TextBox 261"/>
          <p:cNvSpPr txBox="1"/>
          <p:nvPr/>
        </p:nvSpPr>
        <p:spPr>
          <a:xfrm>
            <a:off x="274320" y="6510528"/>
            <a:ext cx="11704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Metabase  |  Agent = broker_contact_user_id on submission record  |  Hit ratio = binds / subs  |  MoM = month-over-month  |  2 subs had no agent mapped (broker_contact_user_id not set)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Top Performers vs Underperformers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Standouts and agencies needing attention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486400" cy="329184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65F46"/>
                </a:solidFill>
                <a:latin typeface="Segoe UI"/>
              </a:defRPr>
            </a:pPr>
            <a:r>
              <a:t>EXCEEDING — Top 5</a:t>
            </a:r>
          </a:p>
        </p:txBody>
      </p:sp>
      <p:sp>
        <p:nvSpPr>
          <p:cNvPr id="7" name="Rectangle 6"/>
          <p:cNvSpPr/>
          <p:nvPr/>
        </p:nvSpPr>
        <p:spPr>
          <a:xfrm>
            <a:off x="6336792" y="914400"/>
            <a:ext cx="5486400" cy="329184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73952" y="96012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91B1B"/>
                </a:solidFill>
                <a:latin typeface="Segoe UI"/>
              </a:defRPr>
            </a:pPr>
            <a:r>
              <a:t>NEEDS ATTENTION — Bottom 5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37160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135331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Genesis Truck Insurance Services Inc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155448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$0  |  Subs 9  |  Binds 0  |  HR 0.0%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179222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Submission volume up 700% MoM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237744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23591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360 Risk Partners Insurance Solutions, Inc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256032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$290,447  |  Subs 135  |  Binds 9  |  HR 6.7%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279806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6.7% (portfolio avg: 3.4%)  |  $290,447 YTD GWP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338328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336499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Fredrick B. Roberson Insurance Services, 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356616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$240,217  |  Subs 143  |  Binds 8  |  HR 5.6%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380390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5.6% (portfolio avg: 3.4%)  |  $240,217 YTD GWP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438912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437083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Omega Insurance Service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457200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$41,015  |  Subs 7  |  Binds 2  |  HR 28.6%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480974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28.6% (portfolio avg: 3.4%)  |  $26,723 in new business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539496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537667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Maria Candelaria Melara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" y="557784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$37,563  |  Subs 19  |  Binds 0  |  HR 0.0%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" y="581558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$37,563 in new business  |  Submission volume up 275% MoM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82512" y="137160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39712" y="135331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WHA Insurance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39712" y="155448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$0  |  Subs 49  |  Binds 0  |  HR 0.0%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39712" y="179222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49 submissions with 0 binds - zero conversion  |  Submissions dropped 57% MoM (23 -&gt; 10)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382512" y="237744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39712" y="23591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Avina's Insurance Services Inc.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39712" y="256032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$0  |  Subs 40  |  Binds 0  |  HR 0.0%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39712" y="279806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40 submissions with 0 binds - zero conversion  |  32 quotes generated but 0 converted to binds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382512" y="338328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39712" y="336499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Immensity Insurance &amp; Risk Advisors Llc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39712" y="356616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$0  |  Subs 35  |  Binds 0  |  HR 0.0%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39712" y="380390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35 submissions with 0 binds - zero conversion  |  Submissions dropped 71% MoM (17 -&gt; 5)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382512" y="438912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39712" y="437083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Gerald Cummings &amp; Associates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39712" y="457200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$0  |  Subs 33  |  Binds 0  |  HR 0.0%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39712" y="480974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33 submissions with 0 binds - zero conversion  |  21 quotes generated but 0 converted to binds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382512" y="539496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39712" y="537667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Guardian Angel Insurance Services Inc Dba 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39712" y="557784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$0  |  Subs 15  |  Binds 0  |  HR 0.0%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39712" y="581558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15 submissions with 0 binds - zero conversion  |  Submissions dropped 71% MoM (7 -&gt; 2)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Newly Appointed in My Portfolio — Taylor Sloan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Agencies assigned to this BDA for onboarding in 2026  |  Production metrics since assignment date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APPOINTED YTD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APPOINTED Q2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38d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TIME TO 1ST SUB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—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TIME TO 1ST BIND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SUBS POST-APPT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20240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11827"/>
                </a:solidFill>
                <a:latin typeface="Segoe UI"/>
              </a:defRPr>
            </a:pPr>
            <a:r>
              <a:t>Activation: 4/4 appointed agencies have submitted (100%)  •  0/4 have bound (0%)  •  Total bound: 0  •  Total GWP: $0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240280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227685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APPOINTED AGENCIES (newest first)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2606040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2606040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Appointed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260604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23560" y="260604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 to 1st Sub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03720" y="260604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0" y="260604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 to 1st Bind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0" y="260604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880360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2916936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Maria Candelaria Melara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0" y="2916936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2026-04-20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54880" y="2916936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23560" y="2916936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03720" y="2916936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0" y="291693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0" y="291693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3227832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Genesis Truck Insurance Services Inc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0" y="3227832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2026-02-25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54880" y="3227832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23560" y="3227832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54d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03720" y="3227832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0" y="322783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0" y="322783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65760" y="3502151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65760" y="3538727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Rva Insurance Agency Inc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0" y="353872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2026-02-23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754880" y="3538727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623560" y="35387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903720" y="3538727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72400" y="353872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44000" y="353872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65760" y="3849624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Immensity Insurance &amp; Risk Advisors Llc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657600" y="3849624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2026-01-09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754880" y="3849624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23560" y="384962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66d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903720" y="3849624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772400" y="3849624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144000" y="3849624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Source: HubSpot company records where onboarding_success_agent = Taylor Sloan and createdate is within 2026 (= newly assigned to this BDA for onboarding). Metrics are subs/binds/GWP on each agency since their assignment date. BDAs not scored on OKR 4 — informational only.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Strategic Assessment &amp; Priorities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Taylor Sloan Portfolio  |  Jan–May 2026  |  Strengths, gaps, and ranked action items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486400" cy="365760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3716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Top 3 (360 Risk Partners Insuran, Fredrick B. Roberson Insu, Millan Group, Inc.) drive $736,064 (54%) of portfolio YTD GWP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682496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682496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Strong hit ratios: Omega Insurance Serv (28.6%), Beaver State Insuran (16.7%), Silicon Valley Insur (16.7%)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993392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1993392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 agencies converting submissions to bound business in Jan–May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304288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304288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1,267 total submissions across 26 active agencies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914400"/>
            <a:ext cx="5486400" cy="365760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9601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91B1B"/>
                </a:solidFill>
                <a:latin typeface="Segoe UI"/>
              </a:defRPr>
            </a:pPr>
            <a:r>
              <a:t>NEEDS ATTENTION - Areas for Improvement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59" y="13716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 agencies with zero Jan–May 2026 activity: Titanic Insurance 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59" y="1682496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1682496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 agencies submitting but 0 binds (243 subs): WHA Insurance (49), Avina's Insurance Se (40)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59" y="1993392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1993392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Low hit ratios need coaching: All Lines Associates (1.6%), Mustard Seed Financi (2.0%), All Capital Insuranc (2.7%)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59" y="2304288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2304288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Overall portfolio hit ratio 3.4% — below 5-8% target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2926080"/>
            <a:ext cx="1143000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2971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Segoe UI"/>
              </a:defRPr>
            </a:pPr>
            <a:r>
              <a:t>TOP STRATEGIC PRIORITIES — Ranked by Estimated Impact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74320" y="342900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341071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Close Quote-to-Bind Gap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363931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12 agencies have 179 quotes but 0 binds: WHA Insurance (36q), Avina's Insurance Service (32q), Immensity Insurance &amp; Ris (31q). Follow up on pricing, coverage, response time gaps.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74320" y="406908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405079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Lift Portfolio Hit Ratio to 5%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42793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Current: 3.4% (43 binds / 1,267 subs). Need 20 more binds. Focus on submission quality and appetite education.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74320" y="470916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" y="469087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Improve Low Hit Ratio Agencies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" y="491947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3 agencies with 20+ subs but &lt;3% HR: All Lines Associates (1.6%), Mustard Seed Financi (2.0%), All Capital Insuranc (2.7%). Conduct submission quality training to lift conversion 2-3 points.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74320" y="534924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7240" y="533095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Reduce Cancellation Rates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7240" y="555955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5 agencies with cancellations &gt;40% of new biz: Millan Group, Inc., Fredrick B. Roberson Insu, 360 Risk Partners Insuran. $480,693 total cancellations - investigate retention.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74320" y="598932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77240" y="597103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Diversify Revenue Base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7240" y="619963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Top 3 agencies drive 54% of premium. Develop mid-tier: Commercial Specialists In, All Lines Associates, Inc, Mustard Seed Financial &amp; . Target 25-50% growth each.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Recently Bound Submissions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Taylor Sloan  |  Last 25 Bound Submissions  |  43 Total Bound in Portfolio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365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#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05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1005840"/>
            <a:ext cx="2971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00600" y="1005840"/>
            <a:ext cx="28346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 (Account)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1005840"/>
            <a:ext cx="2377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12680" y="1005840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Premium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59" y="1005840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Date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1207008"/>
            <a:ext cx="111556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128016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128016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257843956256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128016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Fredrick B. Roberson Insurance Ser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0600" y="128016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N/A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35240" y="128016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Arturo Gonzalez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12680" y="128016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$21,663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38559" y="128016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146304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148132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148132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265189819251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148132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All Lines Associates, Inc. DBA Val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00600" y="148132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HAULING AND SELLING PRODUCE AND 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35240" y="148132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Cameron Pechia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12680" y="148132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$20,602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38559" y="148132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18, 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168249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168249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260924435161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28800" y="168249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Julian Reyes Insurance Agency, Inc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00600" y="168249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DURAN EXPRESS LLC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35240" y="168249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Julian Reyes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12680" y="168249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$21,428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338559" y="168249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15, 2026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186537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8640" y="188366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4400" y="188366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259020536506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28800" y="188366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All Capital Insurance Agency Inc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800600" y="188366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FLAMINGO TRUCKING LLC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35240" y="188366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Dan Ostapenko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12680" y="188366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$5,880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338559" y="188366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13, 2026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48640" y="208483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4400" y="208483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261519641326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828800" y="208483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Beaver State Insurance Agency Llc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00600" y="208483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 &amp; J TRANSPORT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635240" y="208483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Roger Pena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012680" y="208483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$20,168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338559" y="208483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13, 2026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57200" y="226771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48640" y="228600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14400" y="228600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250728839520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28800" y="228600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All Capital Insurance Agency Inc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800600" y="228600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FLAMINGO TRUCKING LLC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635240" y="228600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Dan Ostapenko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012680" y="228600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$28,544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338559" y="228600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12, 2026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48640" y="248716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14400" y="248716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268376573402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28800" y="248716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Omega Insurance Service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800600" y="248716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QUICK LOGISTICS LLC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635240" y="248716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Daniel Thomas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012680" y="248716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$13,410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338559" y="248716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12, 2026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57200" y="267004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48640" y="268833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14400" y="268833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256382040271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828800" y="268833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Fredrick B. Roberson Insurance Ser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00600" y="268833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N/A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35240" y="268833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Arturo Gonzalez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012680" y="268833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$18,782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338559" y="268833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11, 2026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48640" y="288950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14400" y="288950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258496292790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828800" y="288950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Omega Insurance Service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00600" y="288950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XCL LOGISTICS LLC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635240" y="288950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Daniel Thomas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012680" y="288950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$14,105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1338559" y="288950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05, 2026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57200" y="307238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548640" y="309067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14400" y="309067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263862857520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828800" y="309067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Fredrick B. Roberson Insurance Ser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800600" y="309067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AVINA &amp; SONS TRUCKING INC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635240" y="309067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Arturo Gonzalez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012680" y="309067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$18,022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1338559" y="309067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04, 2026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48640" y="329184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914400" y="329184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266013829474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828800" y="329184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Fredrick B. Roberson Insurance Ser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800600" y="32918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VALLEY SOLUTIONS LP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635240" y="329184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Arturo Gonzalez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012680" y="329184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$25,358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1338559" y="329184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01, 2026</a:t>
            </a:r>
          </a:p>
        </p:txBody>
      </p:sp>
      <p:sp>
        <p:nvSpPr>
          <p:cNvPr id="95" name="Rectangle 94"/>
          <p:cNvSpPr/>
          <p:nvPr/>
        </p:nvSpPr>
        <p:spPr>
          <a:xfrm>
            <a:off x="457200" y="347472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548640" y="349300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14400" y="349300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253318955951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828800" y="349300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Beaver State Insurance Agency Llc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800600" y="349300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GENERAL DELIVERY LOGISTICS LLC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7635240" y="349300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Roger Pena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0012680" y="349300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$139,244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1338559" y="349300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28, 2026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48640" y="369417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14400" y="369417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265001817075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828800" y="369417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360 Risk Partners Insurance Soluti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800600" y="369417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TRUSTWORTHY &amp; RELIABLE TRUCKING 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7635240" y="369417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Bret Fair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0012680" y="369417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$23,798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1338559" y="369417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24, 2026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457200" y="387705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548640" y="389534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14400" y="389534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264522940397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828800" y="389534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360 Risk Partners Insurance Soluti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800600" y="389534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OLD HALL LOGISTICS INC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7635240" y="389534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Bret Fair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012680" y="389534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$47,185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1338559" y="389534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22, 2026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48640" y="409651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14400" y="409651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260150536153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828800" y="409651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Commercial Specialists Insurance S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00600" y="409651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CAMILA'S TRANSPORTATION LLC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7635240" y="409651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Randy Rivas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0012680" y="409651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$132,127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1338559" y="409651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22, 2026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457200" y="427939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548640" y="429768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914400" y="429768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268980060372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828800" y="429768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All Lines Associates, Inc. DBA Val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4800600" y="429768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 &amp; K TRUCKING INC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29768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Cameron Pechia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012680" y="429768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$31,479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1338559" y="429768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22, 2026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548640" y="449884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914400" y="449884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263724849954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828800" y="449884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Safeguard Insurance Llc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4800600" y="449884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 HANDA TRANSPORT INC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7635240" y="449884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Ranjodh Parhar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012680" y="449884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$25,934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338559" y="449884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21, 2026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457200" y="468172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548640" y="470001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914400" y="470001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263866197938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828800" y="470001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Safeguard Insurance Llc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4800600" y="470001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CARNALES TRUCKING LLC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7635240" y="470001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Ranjodh Parhar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012680" y="470001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$39,167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1338559" y="470001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21, 2026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548640" y="490118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914400" y="490118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259547988917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828800" y="490118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360 Risk Partners Insurance Soluti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800600" y="490118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LOR TRANSPORTATION LLC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7635240" y="490118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Bret Fair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012680" y="490118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$20,753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1338559" y="490118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17, 2026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457200" y="508406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548640" y="510235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914400" y="510235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252499860877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828800" y="510235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360 Risk Partners Insurance Soluti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4800600" y="510235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ENCORE DRIVE LLC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635240" y="510235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Bret Fair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0012680" y="510235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$29,422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1338559" y="510235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15, 2026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548640" y="530352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914400" y="530352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265963353503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828800" y="530352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All Capital Insurance Agency Inc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4800600" y="530352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RELIABLE TRUCK LINES INC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635240" y="530352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Dima Kalinin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012680" y="530352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1338559" y="530352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10, 2026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457200" y="548640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548640" y="550468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914400" y="550468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262436310126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1828800" y="550468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Millan Group, Inc.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4800600" y="550468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HEAVY LANE TRANSPORT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7635240" y="550468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Raul Millan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012680" y="550468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$29,140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338559" y="550468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10, 2026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548640" y="570585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914400" y="570585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253711248414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1828800" y="570585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Mustard Seed Financial &amp; Insurance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800600" y="570585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ZOTOL TRUCKING LOGISTICS LLC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7635240" y="570585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Kelly Link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012680" y="570585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$24,889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1338559" y="570585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09, 2026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457200" y="588873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548640" y="590702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14400" y="590702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268597554247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828800" y="590702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Fredrick B. Roberson Insurance Ser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4800600" y="590702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NORWOOD &amp; SONS TRUCKING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7635240" y="590702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Arturo Gonzalez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10012680" y="590702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$49,749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11338559" y="590702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06, 2026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548640" y="610819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914400" y="610819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269426646443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828800" y="610819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All Lines Associates, Inc. DBA Val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4800600" y="610819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EFFICIENCY TRUCKING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7635240" y="610819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Cameron Pechia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10012680" y="610819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$24,614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11338559" y="610819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Mar 30, 2026</a:t>
            </a:r>
          </a:p>
        </p:txBody>
      </p:sp>
      <p:sp>
        <p:nvSpPr>
          <p:cNvPr id="200" name="Rectangle 199"/>
          <p:cNvSpPr/>
          <p:nvPr/>
        </p:nvSpPr>
        <p:spPr>
          <a:xfrm>
            <a:off x="548640" y="6345936"/>
            <a:ext cx="11155680" cy="1097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TextBox 200"/>
          <p:cNvSpPr txBox="1"/>
          <p:nvPr/>
        </p:nvSpPr>
        <p:spPr>
          <a:xfrm>
            <a:off x="548640" y="6400800"/>
            <a:ext cx="7863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Total (Last 25 Submissions)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8412480" y="640080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$826,011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Renewal Watch — Next 90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Taylor Sloan  |  Active in-force policies expiring through Aug 24, 2026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POLICIES UP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$234,340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PREMIUM AT RISK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F59E0B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EXPIRE ≤30 DAYS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31-60 DAYS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61-90 DAYS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POLICIES EXPIRING (sorted by date — earliest first)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35915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2359152"/>
            <a:ext cx="1188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31920" y="2359152"/>
            <a:ext cx="3017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0" y="235915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Exp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79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200" y="2359152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Coverage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55480" y="2359152"/>
            <a:ext cx="1325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81359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State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633472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2670048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Fredrick B. Roberson Insurance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0" y="2670048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255652169527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31920" y="2670048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KALAR TRUCKING LLC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9440" y="2670048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55279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267004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55480" y="2670048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81359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2980944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Fredrick B. Roberson Insurance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43200" y="2980944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259085042038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931920" y="2980944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GARIBO'S TRUCKING LLC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49440" y="2980944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2026-06-17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55279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22d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58200" y="2980944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55480" y="2980944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$12,955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881359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3255263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60" y="329183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Fredrick B. Roberson Insurance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743200" y="329183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255308348407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931920" y="329183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ARMANDO PLASCENCIA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49440" y="329183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2026-06-20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955279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25d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458200" y="329183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555480" y="329183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881359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65760" y="360273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Silicon Valley Insurance Cente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743200" y="3602735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254995507219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1920" y="3602735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VAZ BROTHERS TRUCKING INC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49440" y="360273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2026-06-21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955279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26d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458200" y="3602735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555480" y="3602735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$38,714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881359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77055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91363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Beaver State Insurance Agency 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43200" y="3913631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253318955951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931920" y="3913631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GENERAL DELIVERY LOGISTICS LLC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949440" y="391363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2026-06-28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955279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59E0B"/>
                </a:solidFill>
                <a:latin typeface="Segoe UI"/>
              </a:defRPr>
            </a:pPr>
            <a:r>
              <a:t>33d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458200" y="3913631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555480" y="3913631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$121,554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881359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OR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65760" y="422452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360 Risk Partners Insurance So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743200" y="4224527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257080278776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4224527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VALENNY TRANSPORT LLC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949440" y="422452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2026-07-07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955279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59E0B"/>
                </a:solidFill>
                <a:latin typeface="Segoe UI"/>
              </a:defRPr>
            </a:pPr>
            <a:r>
              <a:t>42d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458200" y="422452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555480" y="4224527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$12,331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881359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TN</a:t>
            </a:r>
          </a:p>
        </p:txBody>
      </p:sp>
      <p:sp>
        <p:nvSpPr>
          <p:cNvPr id="71" name="Rectangle 70"/>
          <p:cNvSpPr/>
          <p:nvPr/>
        </p:nvSpPr>
        <p:spPr>
          <a:xfrm>
            <a:off x="365760" y="4498847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365760" y="453542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All Lines Associates, Inc. DBA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743200" y="4535423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255718681932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931920" y="4535423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APAT TRUCKING LLC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949440" y="4535423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2026-07-08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955279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59E0B"/>
                </a:solidFill>
                <a:latin typeface="Segoe UI"/>
              </a:defRPr>
            </a:pPr>
            <a:r>
              <a:t>43d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458200" y="4535423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555480" y="4535423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$21,744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881359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TX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5760" y="484631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All Lines Associates, Inc. DBA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743200" y="484631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251690681994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931920" y="484631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RED RIVER FREIGHT LINES INC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949440" y="484631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2026-08-17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955279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111827"/>
                </a:solidFill>
                <a:latin typeface="Segoe UI"/>
              </a:defRPr>
            </a:pPr>
            <a:r>
              <a:t>83d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458200" y="484631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555480" y="484631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$3,714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881359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TX</a:t>
            </a:r>
          </a:p>
        </p:txBody>
      </p:sp>
      <p:sp>
        <p:nvSpPr>
          <p:cNvPr id="88" name="Rectangle 87"/>
          <p:cNvSpPr/>
          <p:nvPr/>
        </p:nvSpPr>
        <p:spPr>
          <a:xfrm>
            <a:off x="365760" y="5120639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365760" y="515721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Mustard Seed Financial &amp; Insur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2743200" y="5157215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253711248414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931920" y="5157215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ZOTOL TRUCKING LOGISTICS LLC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949440" y="515721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2026-08-20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955279" y="515721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111827"/>
                </a:solidFill>
                <a:latin typeface="Segoe UI"/>
              </a:defRPr>
            </a:pPr>
            <a:r>
              <a:t>86d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458200" y="5157215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555480" y="5157215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881359" y="515721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TX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65760" y="546811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Gerald Cummings &amp; Associates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743200" y="5468111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252156439802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931920" y="5468111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HUGHES TRANSPORT LLC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949440" y="546811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2026-08-20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7955279" y="546811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111827"/>
                </a:solidFill>
                <a:latin typeface="Segoe UI"/>
              </a:defRPr>
            </a:pPr>
            <a:r>
              <a:t>86d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458200" y="5468111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NTL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555480" y="5468111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881359" y="546811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AZ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365760" y="5742431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365760" y="577900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Mustard Seed Financial &amp; Insur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2743200" y="5779007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253111563149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3931920" y="5779007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WISEMAN TRANSPORT LLC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949440" y="577900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2026-08-22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955279" y="577900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111827"/>
                </a:solidFill>
                <a:latin typeface="Segoe UI"/>
              </a:defRPr>
            </a:pPr>
            <a:r>
              <a:t>88d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458200" y="577900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555480" y="5779007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$22,229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0881359" y="577900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TX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Showing 11 of 11 upcoming renewals  |  Source: dw_reader.policy_premium  |  Active in-force only  |  Sorted by expiration date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Pending Cancellations — Save List — Next 90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Taylor Sloan  |  Policies with cancellation_date on or before Aug 24, 2026  |  Sorted by urgency — call these agencies first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POLICIES PENDING CANCEL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PREMIUM AT RISK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05966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≤30 DAYS (URGENT)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≤30 DAY PREMIUM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6D28D9"/>
                </a:solidFill>
                <a:latin typeface="Segoe UI"/>
              </a:defRPr>
            </a:pPr>
            <a:r>
              <a:t>—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TOP REASON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PENDING CANCELS (sorted by cancel date — earliest first)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35915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Cancel Date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235915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2359152"/>
            <a:ext cx="2606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94960" y="2359152"/>
            <a:ext cx="2057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52360" y="235915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LOB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09560" y="235915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State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2359152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18320" y="235915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Reason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365760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59669"/>
                </a:solidFill>
                <a:latin typeface="Segoe UI"/>
              </a:defRPr>
            </a:pPr>
            <a:r>
              <a:t>No pending cancellations in the next 90 days for this book. 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Showing 0 of 0 pending cancels  |  Source: dw_reader.policy_premium  |  Non-payment = green (most savable), Insured-requested = red, Days ≤14 = red  |  Action: contact agency, confirm reinstatement plan, escalate non-payment cases for billing fix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360 Risk Partners Insurance Solutions,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Pacific Northwest  |  State: CA  |  City: Sacramento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$290,447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$213,147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$23,591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$53,710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$-110,183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$223,957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$454,523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108%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$217,601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$63,719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$40,128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$23,591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$413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$413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$-23,183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$78,204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$65,276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$12,928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$-12,928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$111,337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$91,407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$19,930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$-37,864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$36,775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$16,336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$20,438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$-36,208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$290,447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$213,147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$23,591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$53,710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$-110,183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$64K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$60K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$413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$78K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$111K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$290K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$290,447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$213,147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52% of new business ($110,183)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67%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$213,147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$110,183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Fredrick B. Roberson Insurance Services,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Pacific Northwest  |  State: California  |  City: Redding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$240,217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$152,737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$87,480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$-134,613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$652,204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$557,831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$192,946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$46,132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$46,132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$-45,513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$92,512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$50,299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$42,214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$-42,214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$59,813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$12,926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$46,887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$-46,887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$41,760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$43,380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$-1,620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$240,217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$152,737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$87,480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$-134,613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3.6%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8.8%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2.6%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21.1%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152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$30K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$93K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$59K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$232K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$42K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$335K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$240K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$240,217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$152,737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88% of new business ($134,613)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$152,737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$134,613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Millan Group,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Pacific Northwest  |  State: CA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$205,400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$205,561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$-184,861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$82,176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$287,576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208%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$172,270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$29,140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$176,420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$176,420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$-13,414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$29,140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$29,140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$-14,284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$-157,164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$205,400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$205,561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$-161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$-184,861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5.6%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$-161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$205K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$205,400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$205,561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90% of new business ($184,861)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$205,561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$184,861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Commercial Specialists Insurance Services,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Pacific Northwest  |  State: CA  |  City: Newbury Park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$139,039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$139,546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$-17,419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$75,550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$195,335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153%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$132,127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$13,144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$-442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$-442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$7,739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$5,919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$1,820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$-1,820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$-245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$-245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$-15,599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$131,810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$133,627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$-1,817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$139,039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$139,546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$-507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$-17,419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28.6%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7.9%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$-442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$178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$-245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$132K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$139K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$139,039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$139,546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$139,546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All Lines Associates, Inc. DBA Valley Trucking Insurance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Pacific Northwest  |  State: WA  |  City: Spokane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$107,250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$103,230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$4,020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$-21,033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$119,178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$185,836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75%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$76,694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$22,161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$22,161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$1,829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$1,829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$29,472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$26,839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$2,633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$32,962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$33,404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$-442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$-21,033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$20,827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$20,827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$107,250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$103,230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$4,020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$-21,033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2.5%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192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$107,250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$103,230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1.6% hit ratio on 186 subs - needs coaching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(186 subs, only 3 binds). Ask: "What are the top 2 reasons your clients go elsewhere?" Use answers to tailor appetite and pricing discussions.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$103,230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Mustard Seed Financial &amp; Insurance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Pacific Northwest  |  State: Idaho  |  City: Boise, ID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$95,156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$66,456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$27,219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$1,481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$-33,919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$466,044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$399,439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$75,261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$15,534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$15,534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$27,219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$27,219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$51,916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$50,923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$993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$488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$488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$-24,376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$-9,543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$95,156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$66,456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$27,219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$1,481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$-33,919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3.7%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206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161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$88K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$52K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$488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$162K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$95,156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$66,456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2.0% hit ratio on 152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51% of new business ($33,919)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(152 subs, only 3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$66,456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Safeguard Insurance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5  |  Region: Pacific Northwest  |  State: WA  |  City: Renton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$68,177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$66,525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$1,651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$68,177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$65,100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$68,177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$66,525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$1,651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$68,177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$66,525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$1,651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15.4%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$68K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$68,177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$66,525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$66,525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NEAL'S INSURANCE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Pacific Northwest  |  State: CA  |  City: Hayward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$61,005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$61,018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$85,193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$65,663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60%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$47,665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$61,018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$61,018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$61,005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$61,018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$-13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$51K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$61K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$61,005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$61,018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Their $61,018 in renewals shows they trust our product. Ask: "What's holding back new submissions?" They may need updated appetite info or a refresher on our quoting process.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Omega Insurance Service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Pacific Northwest  |  State: CA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$41,015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$26,723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$13,769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$134,092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$105,072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28.6%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$27,515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$27,082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$13,312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$13,769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$13,934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$13,410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$523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$41,015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$26,723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$13,769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$523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28.6%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$70K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$41,015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$26,723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$26,723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Maria Candelaria Melara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Pacific Northwest  |  State: N/A  |  City: Modesto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$37,563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$37,563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$37,563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$37,563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$37,563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$37,563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$37,563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$37,563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$37,563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 quotes but 0 binds - follow up on pricing/coverage gaps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19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$37,563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Beaver State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Pacific Northwest  |  State: OR  |  City: Salem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$26,465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$20,493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$5,972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$132,689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$142,047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16.7%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$139,244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$20,168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$3,937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$3,937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$532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$532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$1,503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$1,503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$20,493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$20,493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$26,465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$20,493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$5,972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$532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$26,465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$20,493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$20,493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Momentum is building - premium grew MoM. Keep the energy going: "Things are moving in the right direction. What do you need from me to keep this pace up?"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Julian Reyes Insurance Agency,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West  |  State: CA  |  City: Pomona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$21,653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$21,653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$21,653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$21,428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$21,653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$21,653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$21,653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$21,653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5.9%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$21,653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$21,653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$21,653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All Capital Insurance Agency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Pacific Northwest  |  State: WA  |  City: Vancouver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$17,343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$18,143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$-800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$-17,116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$149,423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$149,412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$83,787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$19,628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$17,593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$2,035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$-17,116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$-2,835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$-2,835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$17,343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$18,143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$-800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$-17,116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6.9%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226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235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$-2,835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$17,343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$18,143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2.7% hit ratio on 226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94% of new business ($17,116)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(226 subs, only 6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$18,143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Silicon Valley Insurance Center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Pacific Northwest  |  State: CA  |  City: San Diego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$4,160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$4,160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$73,589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$51,905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16.7%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$59,678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$4,352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$4,352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$-192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$-192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$4,160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$4,160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$757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$-192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$227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$4,160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16.7% hit ratio - above average conversion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104% month-over-month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AMK Insurance Agency,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5  |  Region: West  |  State: CA  |  City: San Jose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7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7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Avina's Insurance Services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Pacific Northwest  |  State: CA  |  City: Cerritos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$42,900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$42,900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 submissions - highly active agency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 quotes generated - active in pipeline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40 submissions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 submissions with zero binds - zero conversion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40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32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Genesis Truck Insurance Services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West  |  State: N/A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9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5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Gerald Cummings &amp; Associates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Pacific Northwest  |  State: OR  |  City: Beaverton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$31,314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$5,733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$-76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$750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 submissions - highly active agency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 quotes generated - active in pipeline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33 submissions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 submissions with zero binds - zero conversion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33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21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Guardian Angel Insurance Services Inc Dba  Angel Guard Insurance Agency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West  |  State: N/A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15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15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12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Immensity Insurance &amp; Risk Advisors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West  |  State: N/A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 submissions - highly active agency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 quotes generated - active in pipeline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35 submissions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 submissions with zero binds - zero conversion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35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31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Insurance Safety System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5  |  Region: Pacific Northwest  |  State: WA  |  City: Tukwila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9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3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Jd Fulwiler &amp; Co Insurance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Pacific Northwest  |  State: Oregon  |  City: Portland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13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13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9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Regina Finstad Entrprise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Pacific Northwest  |  State: CA  |  City: San Ramon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$26,299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$26,299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 submissions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Rva Insurance Agency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West  |  State: N/A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9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6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Tec Equipment,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N/A  |  Region: Pacific Northwest  |  State: OR  |  City: Portland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5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3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WHA Insurance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West  |  State: OR  |  City: Eugene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 submissions - highly active agency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36 quotes generated - active in pipeline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49 submissions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 submissions with zero binds - zero conversion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49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36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