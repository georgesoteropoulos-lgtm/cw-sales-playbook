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</p:sldIdLst>
  <p:sldSz cy="6858000" cx="12191675"/>
  <p:notesSz cx="6858000" cy="9144000"/>
  <p:embeddedFontLst>
    <p:embeddedFont>
      <p:font typeface="Quattrocento Sans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52" roundtripDataSignature="AMtx7miirYyQaw9n7sHGpbXUOTqvuEPf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QuattrocentoSans-regular.fntdata"/><Relationship Id="rId47" Type="http://schemas.openxmlformats.org/officeDocument/2006/relationships/slide" Target="slides/slide42.xml"/><Relationship Id="rId49" Type="http://schemas.openxmlformats.org/officeDocument/2006/relationships/font" Target="fonts/QuattrocentoSans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QuattrocentoSans-boldItalic.fntdata"/><Relationship Id="rId50" Type="http://schemas.openxmlformats.org/officeDocument/2006/relationships/font" Target="fonts/QuattrocentoSans-italic.fntdata"/><Relationship Id="rId52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3" name="Google Shape;82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2" name="Google Shape;90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5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7" name="Google Shape;116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6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8" name="Google Shape;121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9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1" name="Google Shape;127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3" name="Google Shape;131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6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8" name="Google Shape;151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3" name="Shape 1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Google Shape;163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5" name="Google Shape;163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8" name="Shape 1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9" name="Google Shape;165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0" name="Google Shape;1660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7" name="Shape 1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8" name="Google Shape;185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9" name="Google Shape;1859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4" name="Shape 2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Google Shape;205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6" name="Google Shape;2056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3" name="Shape 2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4" name="Google Shape;2254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5" name="Google Shape;2255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0" name="Shape 2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1" name="Google Shape;245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2" name="Google Shape;2452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7" name="Shape 2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8" name="Google Shape;2648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9" name="Google Shape;2649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4" name="Shape 2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5" name="Google Shape;2845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6" name="Google Shape;2846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3" name="Shape 3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4" name="Google Shape;3044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5" name="Google Shape;3045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8" name="Shape 3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9" name="Google Shape;3239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0" name="Google Shape;3240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5" name="Shape 3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6" name="Google Shape;3436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7" name="Google Shape;3437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4" name="Shape 3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5" name="Google Shape;3635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6" name="Google Shape;3636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3" name="Shape 3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4" name="Google Shape;3834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5" name="Google Shape;3835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0" name="Shape 4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1" name="Google Shape;4031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2" name="Google Shape;4032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7" name="Shape 4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8" name="Google Shape;4228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9" name="Google Shape;4229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6" name="Shape 4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7" name="Google Shape;4427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8" name="Google Shape;4428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5" name="Shape 4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6" name="Google Shape;4626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7" name="Google Shape;4627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0" name="Shape 4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1" name="Google Shape;4821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2" name="Google Shape;4822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9" name="Shape 5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0" name="Google Shape;5020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1" name="Google Shape;5021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18" name="Shape 5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9" name="Google Shape;5219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0" name="Google Shape;5220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5" name="Shape 5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" name="Google Shape;5416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7" name="Google Shape;5417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14" name="Shape 5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5" name="Google Shape;5615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6" name="Google Shape;5616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9" name="Shape 5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0" name="Google Shape;5810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1" name="Google Shape;5811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6" name="Shape 6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7" name="Google Shape;6007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8" name="Google Shape;6008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01" name="Shape 6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2" name="Google Shape;6202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3" name="Google Shape;6203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6" name="Shape 6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7" name="Google Shape;6397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8" name="Google Shape;6398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91" name="Shape 6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2" name="Google Shape;6592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3" name="Google Shape;6593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6" name="Shape 6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7" name="Google Shape;6787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8" name="Google Shape;6788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4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4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4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4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4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4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5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5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5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5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5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5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5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5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5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5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5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5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5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5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5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5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5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5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5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5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4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 |  Generated June 01, 2026  |  27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 |  27 Total Agencies  |  27 Active  |  0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$1,530,017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$1,246,904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$125,596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$157,516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$-519,145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$2,374,058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$2,660,718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$2,848,869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$443,642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$1,027,777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$285,510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$198,031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148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$153,474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$153,981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$134,161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$130,141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Safeguard Insurance Llc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$133,916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$132,265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NEAL'S INSURANCE SERVICES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Services, I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$589,430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$331,281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7.2%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$475,051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$50,299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249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$432,359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$161,882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285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$666,668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$154,501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342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$593,311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$548,942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325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5.8%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$1,530,017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$1,246,904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1315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Taylor Sloan</a:t>
            </a:r>
            <a:endParaRPr/>
          </a:p>
        </p:txBody>
      </p:sp>
      <p:sp>
        <p:nvSpPr>
          <p:cNvPr id="280" name="Google Shape;280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BDA OKRs  |  Q2 measure (paced where applicable)  |  Matches BD Rep Scoreboard numbers</a:t>
            </a:r>
            <a:endParaRPr/>
          </a:p>
        </p:txBody>
      </p:sp>
      <p:sp>
        <p:nvSpPr>
          <p:cNvPr id="281" name="Google Shape;281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90.5</a:t>
            </a:r>
            <a:endParaRPr/>
          </a:p>
        </p:txBody>
      </p:sp>
      <p:sp>
        <p:nvSpPr>
          <p:cNvPr id="283" name="Google Shape;283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84" name="Google Shape;284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85" name="Google Shape;285;p3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88" name="Google Shape;288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89" name="Google Shape;289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≥+50%</a:t>
            </a:r>
            <a:endParaRPr/>
          </a:p>
        </p:txBody>
      </p:sp>
      <p:sp>
        <p:nvSpPr>
          <p:cNvPr id="290" name="Google Shape;290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+86%</a:t>
            </a:r>
            <a:endParaRPr/>
          </a:p>
        </p:txBody>
      </p:sp>
      <p:sp>
        <p:nvSpPr>
          <p:cNvPr id="291" name="Google Shape;291;p3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294" name="Google Shape;294;p3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295" name="Google Shape;295;p3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(50/wk)</a:t>
            </a:r>
            <a:endParaRPr/>
          </a:p>
        </p:txBody>
      </p:sp>
      <p:sp>
        <p:nvSpPr>
          <p:cNvPr id="296" name="Google Shape;296;p3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72%</a:t>
            </a:r>
            <a:endParaRPr/>
          </a:p>
        </p:txBody>
      </p:sp>
      <p:sp>
        <p:nvSpPr>
          <p:cNvPr id="297" name="Google Shape;297;p3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0" name="Google Shape;300;p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1" name="Google Shape;301;p3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 of 27 agencies  |  Goal 75%</a:t>
            </a:r>
            <a:endParaRPr/>
          </a:p>
        </p:txBody>
      </p:sp>
      <p:sp>
        <p:nvSpPr>
          <p:cNvPr id="302" name="Google Shape;302;p3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100%</a:t>
            </a:r>
            <a:endParaRPr/>
          </a:p>
        </p:txBody>
      </p:sp>
      <p:sp>
        <p:nvSpPr>
          <p:cNvPr id="303" name="Google Shape;303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Taylor Sloan</a:t>
            </a:r>
            <a:endParaRPr/>
          </a:p>
        </p:txBody>
      </p:sp>
      <p:sp>
        <p:nvSpPr>
          <p:cNvPr id="310" name="Google Shape;310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 |  Calls + Meetings  |  Weekly goal: 50 activities  |  Colored arrow = month-over-month trend vs prior complete month</a:t>
            </a:r>
            <a:endParaRPr/>
          </a:p>
        </p:txBody>
      </p:sp>
      <p:sp>
        <p:nvSpPr>
          <p:cNvPr id="311" name="Google Shape;311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272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12" name="Google Shape;312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13" name="Google Shape;313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286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14" name="Google Shape;314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15" name="Google Shape;315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(50/wk)</a:t>
            </a:r>
            <a:endParaRPr/>
          </a:p>
        </p:txBody>
      </p:sp>
      <p:sp>
        <p:nvSpPr>
          <p:cNvPr id="316" name="Google Shape;316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1–11  (Jan–Mar)</a:t>
            </a:r>
            <a:endParaRPr/>
          </a:p>
        </p:txBody>
      </p:sp>
      <p:sp>
        <p:nvSpPr>
          <p:cNvPr id="318" name="Google Shape;318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19" name="Google Shape;319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0" name="Google Shape;320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1" name="Google Shape;321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22" name="Google Shape;322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23" name="Google Shape;323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24" name="Google Shape;324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28" name="Google Shape;328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9" name="Google Shape;329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0" name="Google Shape;330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1" name="Google Shape;331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32" name="Google Shape;332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33" name="Google Shape;333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36" name="Google Shape;336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7" name="Google Shape;337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8" name="Google Shape;338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9" name="Google Shape;339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0" name="Google Shape;340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1" name="Google Shape;341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44" name="Google Shape;344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5" name="Google Shape;345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6" name="Google Shape;346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7" name="Google Shape;347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48" name="Google Shape;348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9" name="Google Shape;349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5" name="Google Shape;355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56" name="Google Shape;356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7" name="Google Shape;357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3" name="Google Shape;363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64" name="Google Shape;364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5" name="Google Shape;365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9" name="Google Shape;369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1" name="Google Shape;371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72" name="Google Shape;372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3" name="Google Shape;373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76" name="Google Shape;376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7" name="Google Shape;377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8" name="Google Shape;378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9" name="Google Shape;379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0" name="Google Shape;380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1" name="Google Shape;381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84" name="Google Shape;384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5" name="Google Shape;385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6" name="Google Shape;386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7" name="Google Shape;387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88" name="Google Shape;388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9" name="Google Shape;389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392" name="Google Shape;392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" name="Google Shape;393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" name="Google Shape;394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5" name="Google Shape;395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396" name="Google Shape;396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7" name="Google Shape;397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0" name="Google Shape;400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" name="Google Shape;401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2" name="Google Shape;402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3" name="Google Shape;403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04" name="Google Shape;404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5" name="Google Shape;405;p4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4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4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08" name="Google Shape;408;p4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9" name="Google Shape;409;p4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1" name="Google Shape;411;p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12" name="Google Shape;412;p4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3" name="Google Shape;413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12–22  (Mar–Jun)</a:t>
            </a:r>
            <a:endParaRPr/>
          </a:p>
        </p:txBody>
      </p:sp>
      <p:sp>
        <p:nvSpPr>
          <p:cNvPr id="415" name="Google Shape;415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17" name="Google Shape;417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18" name="Google Shape;418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19" name="Google Shape;419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20" name="Google Shape;420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21" name="Google Shape;421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6" name="Google Shape;426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7" name="Google Shape;427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8" name="Google Shape;428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29" name="Google Shape;429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0" name="Google Shape;430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33" name="Google Shape;433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4" name="Google Shape;434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5" name="Google Shape;435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" name="Google Shape;436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37" name="Google Shape;437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8" name="Google Shape;438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1" name="Google Shape;441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2" name="Google Shape;442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3" name="Google Shape;443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4" name="Google Shape;444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45" name="Google Shape;445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46" name="Google Shape;446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49" name="Google Shape;449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0" name="Google Shape;450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1" name="Google Shape;451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2" name="Google Shape;452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4%</a:t>
            </a:r>
            <a:endParaRPr/>
          </a:p>
        </p:txBody>
      </p:sp>
      <p:sp>
        <p:nvSpPr>
          <p:cNvPr id="453" name="Google Shape;453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4" name="Google Shape;454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57" name="Google Shape;457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58" name="Google Shape;458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9" name="Google Shape;459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60" name="Google Shape;460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96%</a:t>
            </a:r>
            <a:endParaRPr/>
          </a:p>
        </p:txBody>
      </p:sp>
      <p:sp>
        <p:nvSpPr>
          <p:cNvPr id="461" name="Google Shape;461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62" name="Google Shape;462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65" name="Google Shape;465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66" name="Google Shape;466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7" name="Google Shape;467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68" name="Google Shape;468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116%</a:t>
            </a:r>
            <a:endParaRPr/>
          </a:p>
        </p:txBody>
      </p:sp>
      <p:sp>
        <p:nvSpPr>
          <p:cNvPr id="469" name="Google Shape;469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70" name="Google Shape;470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73" name="Google Shape;473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74" name="Google Shape;474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5" name="Google Shape;475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76" name="Google Shape;476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</p:txBody>
      </p:sp>
      <p:sp>
        <p:nvSpPr>
          <p:cNvPr id="477" name="Google Shape;477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78" name="Google Shape;478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1" name="Google Shape;481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82" name="Google Shape;482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3" name="Google Shape;483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84" name="Google Shape;484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86%</a:t>
            </a:r>
            <a:endParaRPr/>
          </a:p>
        </p:txBody>
      </p:sp>
      <p:sp>
        <p:nvSpPr>
          <p:cNvPr id="485" name="Google Shape;485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86" name="Google Shape;486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5/18–5/24</a:t>
            </a:r>
            <a:endParaRPr/>
          </a:p>
        </p:txBody>
      </p:sp>
      <p:sp>
        <p:nvSpPr>
          <p:cNvPr id="489" name="Google Shape;489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90" name="Google Shape;490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1" name="Google Shape;491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92" name="Google Shape;492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62%</a:t>
            </a:r>
            <a:endParaRPr/>
          </a:p>
        </p:txBody>
      </p:sp>
      <p:sp>
        <p:nvSpPr>
          <p:cNvPr id="493" name="Google Shape;493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94" name="Google Shape;494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5/25–5/31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9" name="Google Shape;499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500" name="Google Shape;500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100%</a:t>
            </a:r>
            <a:endParaRPr/>
          </a:p>
        </p:txBody>
      </p:sp>
      <p:sp>
        <p:nvSpPr>
          <p:cNvPr id="501" name="Google Shape;501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502" name="Google Shape;502;p4"/>
          <p:cNvSpPr/>
          <p:nvPr/>
        </p:nvSpPr>
        <p:spPr>
          <a:xfrm>
            <a:off x="6199632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4"/>
          <p:cNvSpPr/>
          <p:nvPr/>
        </p:nvSpPr>
        <p:spPr>
          <a:xfrm>
            <a:off x="6199632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4"/>
          <p:cNvSpPr txBox="1"/>
          <p:nvPr/>
        </p:nvSpPr>
        <p:spPr>
          <a:xfrm>
            <a:off x="6309360" y="460857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6/1–6/1*</a:t>
            </a:r>
            <a:endParaRPr/>
          </a:p>
        </p:txBody>
      </p:sp>
      <p:sp>
        <p:nvSpPr>
          <p:cNvPr id="505" name="Google Shape;505;p4"/>
          <p:cNvSpPr txBox="1"/>
          <p:nvPr/>
        </p:nvSpPr>
        <p:spPr>
          <a:xfrm>
            <a:off x="7955280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6" name="Google Shape;506;p4"/>
          <p:cNvSpPr txBox="1"/>
          <p:nvPr/>
        </p:nvSpPr>
        <p:spPr>
          <a:xfrm>
            <a:off x="8686800" y="460857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7" name="Google Shape;507;p4"/>
          <p:cNvSpPr txBox="1"/>
          <p:nvPr/>
        </p:nvSpPr>
        <p:spPr>
          <a:xfrm>
            <a:off x="9555480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8" name="Google Shape;508;p4"/>
          <p:cNvSpPr txBox="1"/>
          <p:nvPr/>
        </p:nvSpPr>
        <p:spPr>
          <a:xfrm>
            <a:off x="10287000" y="460857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509" name="Google Shape;509;p4"/>
          <p:cNvSpPr txBox="1"/>
          <p:nvPr/>
        </p:nvSpPr>
        <p:spPr>
          <a:xfrm>
            <a:off x="11064240" y="460857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510" name="Google Shape;510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Taylor Sloan</a:t>
            </a:r>
            <a:endParaRPr/>
          </a:p>
        </p:txBody>
      </p:sp>
      <p:sp>
        <p:nvSpPr>
          <p:cNvPr id="517" name="Google Shape;517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vs 2025  |  Green = growth  |  Red = decline  |  Hit ratio = binds / submissions</a:t>
            </a:r>
            <a:endParaRPr/>
          </a:p>
        </p:txBody>
      </p:sp>
      <p:sp>
        <p:nvSpPr>
          <p:cNvPr id="518" name="Google Shape;518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1315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19" name="Google Shape;519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20" name="Google Shape;520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1" name="Google Shape;521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+53.4%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22" name="Google Shape;522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23" name="Google Shape;523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25" name="Google Shape;525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29" name="Google Shape;529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30" name="Google Shape;530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31" name="Google Shape;531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119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+39%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231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0.9%</a:t>
            </a:r>
            <a:endParaRPr/>
          </a:p>
        </p:txBody>
      </p:sp>
      <p:sp>
        <p:nvSpPr>
          <p:cNvPr id="543" name="Google Shape;543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544" name="Google Shape;544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+122%</a:t>
            </a:r>
            <a:endParaRPr/>
          </a:p>
        </p:txBody>
      </p:sp>
      <p:sp>
        <p:nvSpPr>
          <p:cNvPr id="545" name="Google Shape;545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271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+120%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53" name="Google Shape;553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331</a:t>
            </a:r>
            <a:endParaRPr/>
          </a:p>
        </p:txBody>
      </p:sp>
      <p:sp>
        <p:nvSpPr>
          <p:cNvPr id="554" name="Google Shape;554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55" name="Google Shape;555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3.9%</a:t>
            </a:r>
            <a:endParaRPr/>
          </a:p>
        </p:txBody>
      </p:sp>
      <p:sp>
        <p:nvSpPr>
          <p:cNvPr id="556" name="Google Shape;556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122</a:t>
            </a:r>
            <a:endParaRPr/>
          </a:p>
        </p:txBody>
      </p:sp>
      <p:sp>
        <p:nvSpPr>
          <p:cNvPr id="557" name="Google Shape;557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+171%</a:t>
            </a:r>
            <a:endParaRPr/>
          </a:p>
        </p:txBody>
      </p:sp>
      <p:sp>
        <p:nvSpPr>
          <p:cNvPr id="558" name="Google Shape;558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0" name="Google Shape;560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316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563" name="Google Shape;563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171</a:t>
            </a:r>
            <a:endParaRPr/>
          </a:p>
        </p:txBody>
      </p:sp>
      <p:sp>
        <p:nvSpPr>
          <p:cNvPr id="564" name="Google Shape;564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+85%</a:t>
            </a:r>
            <a:endParaRPr/>
          </a:p>
        </p:txBody>
      </p:sp>
      <p:sp>
        <p:nvSpPr>
          <p:cNvPr id="565" name="Google Shape;565;p5"/>
          <p:cNvSpPr txBox="1"/>
          <p:nvPr/>
        </p:nvSpPr>
        <p:spPr>
          <a:xfrm>
            <a:off x="246888" y="378104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</a:t>
            </a:r>
            <a:endParaRPr/>
          </a:p>
        </p:txBody>
      </p:sp>
      <p:sp>
        <p:nvSpPr>
          <p:cNvPr id="566" name="Google Shape;566;p5"/>
          <p:cNvSpPr txBox="1"/>
          <p:nvPr/>
        </p:nvSpPr>
        <p:spPr>
          <a:xfrm>
            <a:off x="813816" y="378104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7" name="Google Shape;567;p5"/>
          <p:cNvSpPr txBox="1"/>
          <p:nvPr/>
        </p:nvSpPr>
        <p:spPr>
          <a:xfrm>
            <a:off x="1819656" y="378104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8" name="Google Shape;568;p5"/>
          <p:cNvSpPr txBox="1"/>
          <p:nvPr/>
        </p:nvSpPr>
        <p:spPr>
          <a:xfrm>
            <a:off x="2734056" y="378104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9" name="Google Shape;569;p5"/>
          <p:cNvSpPr txBox="1"/>
          <p:nvPr/>
        </p:nvSpPr>
        <p:spPr>
          <a:xfrm>
            <a:off x="3355848" y="378104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218</a:t>
            </a:r>
            <a:endParaRPr/>
          </a:p>
        </p:txBody>
      </p:sp>
      <p:sp>
        <p:nvSpPr>
          <p:cNvPr id="570" name="Google Shape;570;p5"/>
          <p:cNvSpPr txBox="1"/>
          <p:nvPr/>
        </p:nvSpPr>
        <p:spPr>
          <a:xfrm>
            <a:off x="4270248" y="378104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71" name="Google Shape;571;p5"/>
          <p:cNvSpPr/>
          <p:nvPr/>
        </p:nvSpPr>
        <p:spPr>
          <a:xfrm>
            <a:off x="182880" y="4032504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5"/>
          <p:cNvSpPr txBox="1"/>
          <p:nvPr/>
        </p:nvSpPr>
        <p:spPr>
          <a:xfrm>
            <a:off x="246888" y="4078224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73" name="Google Shape;573;p5"/>
          <p:cNvSpPr txBox="1"/>
          <p:nvPr/>
        </p:nvSpPr>
        <p:spPr>
          <a:xfrm>
            <a:off x="813816" y="407822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1,315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1819656" y="407822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2734056" y="4078224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3355848" y="407822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857</a:t>
            </a:r>
            <a:endParaRPr/>
          </a:p>
        </p:txBody>
      </p:sp>
      <p:sp>
        <p:nvSpPr>
          <p:cNvPr id="577" name="Google Shape;577;p5"/>
          <p:cNvSpPr txBox="1"/>
          <p:nvPr/>
        </p:nvSpPr>
        <p:spPr>
          <a:xfrm>
            <a:off x="4270248" y="407822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+53%</a:t>
            </a:r>
            <a:endParaRPr/>
          </a:p>
        </p:txBody>
      </p:sp>
      <p:sp>
        <p:nvSpPr>
          <p:cNvPr id="578" name="Google Shape;578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80" name="Google Shape;580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81" name="Google Shape;581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85" name="Google Shape;585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229</a:t>
            </a:r>
            <a:endParaRPr/>
          </a:p>
        </p:txBody>
      </p:sp>
      <p:sp>
        <p:nvSpPr>
          <p:cNvPr id="589" name="Google Shape;589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90" name="Google Shape;590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591" name="Google Shape;591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+125</a:t>
            </a:r>
            <a:endParaRPr/>
          </a:p>
        </p:txBody>
      </p:sp>
      <p:sp>
        <p:nvSpPr>
          <p:cNvPr id="592" name="Google Shape;592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95" name="Google Shape;595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+66</a:t>
            </a:r>
            <a:endParaRPr/>
          </a:p>
        </p:txBody>
      </p:sp>
      <p:sp>
        <p:nvSpPr>
          <p:cNvPr id="597" name="Google Shape;597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Inc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600" name="Google Shape;600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1" name="Google Shape;601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602" name="Google Shape;602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-128</a:t>
            </a:r>
            <a:endParaRPr/>
          </a:p>
        </p:txBody>
      </p:sp>
      <p:sp>
        <p:nvSpPr>
          <p:cNvPr id="603" name="Google Shape;603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148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06" name="Google Shape;606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+42</a:t>
            </a:r>
            <a:endParaRPr/>
          </a:p>
        </p:txBody>
      </p:sp>
      <p:sp>
        <p:nvSpPr>
          <p:cNvPr id="608" name="Google Shape;608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611" name="Google Shape;611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12" name="Google Shape;612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613" name="Google Shape;613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+90</a:t>
            </a:r>
            <a:endParaRPr/>
          </a:p>
        </p:txBody>
      </p:sp>
      <p:sp>
        <p:nvSpPr>
          <p:cNvPr id="614" name="Google Shape;614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7" name="Google Shape;617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+60</a:t>
            </a:r>
            <a:endParaRPr/>
          </a:p>
        </p:txBody>
      </p:sp>
      <p:sp>
        <p:nvSpPr>
          <p:cNvPr id="619" name="Google Shape;619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622" name="Google Shape;622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" name="Google Shape;623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4" name="Google Shape;624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+54</a:t>
            </a:r>
            <a:endParaRPr/>
          </a:p>
        </p:txBody>
      </p:sp>
      <p:sp>
        <p:nvSpPr>
          <p:cNvPr id="625" name="Google Shape;625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Inc.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8" name="Google Shape;628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+24</a:t>
            </a:r>
            <a:endParaRPr/>
          </a:p>
        </p:txBody>
      </p:sp>
      <p:sp>
        <p:nvSpPr>
          <p:cNvPr id="630" name="Google Shape;630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Safeguard Insurance Llc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33" name="Google Shape;633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4" name="Google Shape;634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635" name="Google Shape;635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+39</a:t>
            </a:r>
            <a:endParaRPr/>
          </a:p>
        </p:txBody>
      </p:sp>
      <p:sp>
        <p:nvSpPr>
          <p:cNvPr id="636" name="Google Shape;636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9" name="Google Shape;639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</a:t>
            </a:r>
            <a:endParaRPr/>
          </a:p>
        </p:txBody>
      </p:sp>
      <p:sp>
        <p:nvSpPr>
          <p:cNvPr id="641" name="Google Shape;641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644" name="Google Shape;644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5" name="Google Shape;645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6" name="Google Shape;646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</a:t>
            </a:r>
            <a:endParaRPr/>
          </a:p>
        </p:txBody>
      </p:sp>
      <p:sp>
        <p:nvSpPr>
          <p:cNvPr id="647" name="Google Shape;647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0" name="Google Shape;650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+35</a:t>
            </a:r>
            <a:endParaRPr/>
          </a:p>
        </p:txBody>
      </p:sp>
      <p:sp>
        <p:nvSpPr>
          <p:cNvPr id="652" name="Google Shape;652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655" name="Google Shape;655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" name="Google Shape;656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7" name="Google Shape;657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+24</a:t>
            </a:r>
            <a:endParaRPr/>
          </a:p>
        </p:txBody>
      </p:sp>
      <p:sp>
        <p:nvSpPr>
          <p:cNvPr id="658" name="Google Shape;658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Agency, Inc.</a:t>
            </a:r>
            <a:endParaRPr/>
          </a:p>
        </p:txBody>
      </p:sp>
      <p:sp>
        <p:nvSpPr>
          <p:cNvPr id="659" name="Google Shape;659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60" name="Google Shape;660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61" name="Google Shape;661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662" name="Google Shape;662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+17</a:t>
            </a:r>
            <a:endParaRPr/>
          </a:p>
        </p:txBody>
      </p:sp>
      <p:sp>
        <p:nvSpPr>
          <p:cNvPr id="663" name="Google Shape;663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Guardian Angel Insurance Services Inc </a:t>
            </a:r>
            <a:endParaRPr/>
          </a:p>
        </p:txBody>
      </p:sp>
      <p:sp>
        <p:nvSpPr>
          <p:cNvPr id="665" name="Google Shape;665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66" name="Google Shape;666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7" name="Google Shape;667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8" name="Google Shape;668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+16</a:t>
            </a:r>
            <a:endParaRPr/>
          </a:p>
        </p:txBody>
      </p:sp>
      <p:sp>
        <p:nvSpPr>
          <p:cNvPr id="669" name="Google Shape;669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Jd Fulwiler &amp; Co Insurance</a:t>
            </a:r>
            <a:endParaRPr/>
          </a:p>
        </p:txBody>
      </p:sp>
      <p:sp>
        <p:nvSpPr>
          <p:cNvPr id="670" name="Google Shape;670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71" name="Google Shape;671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" name="Google Shape;672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3" name="Google Shape;673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+14</a:t>
            </a:r>
            <a:endParaRPr/>
          </a:p>
        </p:txBody>
      </p:sp>
      <p:sp>
        <p:nvSpPr>
          <p:cNvPr id="674" name="Google Shape;674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27 Total Agencies  |  Jan–Jun 2026</a:t>
            </a:r>
            <a:endParaRPr/>
          </a:p>
        </p:txBody>
      </p:sp>
      <p:sp>
        <p:nvSpPr>
          <p:cNvPr id="682" name="Google Shape;682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4" name="Google Shape;684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85" name="Google Shape;685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86" name="Google Shape;686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88" name="Google Shape;688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93" name="Google Shape;693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$589,430</a:t>
            </a:r>
            <a:endParaRPr/>
          </a:p>
        </p:txBody>
      </p:sp>
      <p:sp>
        <p:nvSpPr>
          <p:cNvPr id="694" name="Google Shape;694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$331,281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$37,360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$-45,513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7086599" y="1499616"/>
            <a:ext cx="7314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130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7.2%</a:t>
            </a:r>
            <a:endParaRPr/>
          </a:p>
        </p:txBody>
      </p:sp>
      <p:sp>
        <p:nvSpPr>
          <p:cNvPr id="701" name="Google Shape;701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$475,051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$50,299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$-78,810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249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12" name="Google Shape;712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$432,359</a:t>
            </a:r>
            <a:endParaRPr/>
          </a:p>
        </p:txBody>
      </p:sp>
      <p:sp>
        <p:nvSpPr>
          <p:cNvPr id="713" name="Google Shape;713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$161,882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$-78,751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285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192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720" name="Google Shape;720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$666,668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$154,501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$-113,155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342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1" name="Google Shape;731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$593,311</a:t>
            </a:r>
            <a:endParaRPr/>
          </a:p>
        </p:txBody>
      </p:sp>
      <p:sp>
        <p:nvSpPr>
          <p:cNvPr id="732" name="Google Shape;732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$548,942</a:t>
            </a:r>
            <a:endParaRPr/>
          </a:p>
        </p:txBody>
      </p:sp>
      <p:sp>
        <p:nvSpPr>
          <p:cNvPr id="733" name="Google Shape;733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4" name="Google Shape;734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$-202,915</a:t>
            </a:r>
            <a:endParaRPr/>
          </a:p>
        </p:txBody>
      </p:sp>
      <p:sp>
        <p:nvSpPr>
          <p:cNvPr id="735" name="Google Shape;735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325</a:t>
            </a:r>
            <a:endParaRPr/>
          </a:p>
        </p:txBody>
      </p:sp>
      <p:sp>
        <p:nvSpPr>
          <p:cNvPr id="736" name="Google Shape;736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231</a:t>
            </a:r>
            <a:endParaRPr/>
          </a:p>
        </p:txBody>
      </p:sp>
      <p:sp>
        <p:nvSpPr>
          <p:cNvPr id="737" name="Google Shape;737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38" name="Google Shape;738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5.8%</a:t>
            </a:r>
            <a:endParaRPr/>
          </a:p>
        </p:txBody>
      </p:sp>
      <p:sp>
        <p:nvSpPr>
          <p:cNvPr id="739" name="Google Shape;739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41" name="Google Shape;741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$2,756,819</a:t>
            </a:r>
            <a:endParaRPr/>
          </a:p>
        </p:txBody>
      </p:sp>
      <p:sp>
        <p:nvSpPr>
          <p:cNvPr id="742" name="Google Shape;742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$1,246,904</a:t>
            </a:r>
            <a:endParaRPr/>
          </a:p>
        </p:txBody>
      </p:sp>
      <p:sp>
        <p:nvSpPr>
          <p:cNvPr id="743" name="Google Shape;743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$125,596</a:t>
            </a:r>
            <a:endParaRPr/>
          </a:p>
        </p:txBody>
      </p:sp>
      <p:sp>
        <p:nvSpPr>
          <p:cNvPr id="744" name="Google Shape;744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$-519,145</a:t>
            </a:r>
            <a:endParaRPr/>
          </a:p>
        </p:txBody>
      </p:sp>
      <p:sp>
        <p:nvSpPr>
          <p:cNvPr id="745" name="Google Shape;745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1,381</a:t>
            </a:r>
            <a:endParaRPr/>
          </a:p>
        </p:txBody>
      </p:sp>
      <p:sp>
        <p:nvSpPr>
          <p:cNvPr id="746" name="Google Shape;746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973</a:t>
            </a:r>
            <a:endParaRPr/>
          </a:p>
        </p:txBody>
      </p:sp>
      <p:sp>
        <p:nvSpPr>
          <p:cNvPr id="747" name="Google Shape;747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748" name="Google Shape;748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749" name="Google Shape;749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Taylor Sloan</a:t>
            </a:r>
            <a:endParaRPr/>
          </a:p>
        </p:txBody>
      </p:sp>
      <p:sp>
        <p:nvSpPr>
          <p:cNvPr id="755" name="Google Shape;755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bda's agencies  |  2026 YTD</a:t>
            </a:r>
            <a:endParaRPr/>
          </a:p>
        </p:txBody>
      </p:sp>
      <p:sp>
        <p:nvSpPr>
          <p:cNvPr id="756" name="Google Shape;756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57" name="Google Shape;757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58" name="Google Shape;758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$64,793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59" name="Google Shape;759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60" name="Google Shape;760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62" name="Google Shape;762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63" name="Google Shape;763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64" name="Google Shape;764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65" name="Google Shape;765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66" name="Google Shape;766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68" name="Google Shape;768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Inc.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3" name="Google Shape;773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774" name="Google Shape;774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$64,793</a:t>
            </a:r>
            <a:endParaRPr/>
          </a:p>
        </p:txBody>
      </p:sp>
      <p:sp>
        <p:nvSpPr>
          <p:cNvPr id="775" name="Google Shape;775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Trucking Insuranc</a:t>
            </a:r>
            <a:endParaRPr/>
          </a:p>
        </p:txBody>
      </p:sp>
      <p:sp>
        <p:nvSpPr>
          <p:cNvPr id="776" name="Google Shape;776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77" name="Google Shape;777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778" name="Google Shape;778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9" name="Google Shape;779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1" name="Google Shape;781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Services, Inc.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6" name="Google Shape;786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87" name="Google Shape;787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88" name="Google Shape;788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789" name="Google Shape;789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94" name="Google Shape;794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" name="Google Shape;799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0" name="Google Shape;800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03" name="Google Shape;803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04" name="Google Shape;804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5" name="Google Shape;805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6" name="Google Shape;806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7" name="Google Shape;807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809" name="Google Shape;809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10" name="Google Shape;810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11" name="Google Shape;811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2" name="Google Shape;812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3" name="Google Shape;813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14" name="Google Shape;814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 Inc.</a:t>
            </a:r>
            <a:endParaRPr/>
          </a:p>
        </p:txBody>
      </p:sp>
      <p:sp>
        <p:nvSpPr>
          <p:cNvPr id="815" name="Google Shape;815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6" name="Google Shape;816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7" name="Google Shape;817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" name="Google Shape;818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9" name="Google Shape;819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20" name="Google Shape;820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CA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4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Taylor Sloan</a:t>
            </a:r>
            <a:endParaRPr/>
          </a:p>
        </p:txBody>
      </p:sp>
      <p:sp>
        <p:nvSpPr>
          <p:cNvPr id="826" name="Google Shape;826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bda's agencies  |  2026 YTD</a:t>
            </a:r>
            <a:endParaRPr/>
          </a:p>
        </p:txBody>
      </p:sp>
      <p:sp>
        <p:nvSpPr>
          <p:cNvPr id="827" name="Google Shape;827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28" name="Google Shape;828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29" name="Google Shape;829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$1,071,370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30" name="Google Shape;830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31" name="Google Shape;831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33" name="Google Shape;833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34" name="Google Shape;834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36" name="Google Shape;836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38" name="Google Shape;838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841" name="Google Shape;841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2" name="Google Shape;842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3" name="Google Shape;843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44" name="Google Shape;844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47" name="Google Shape;847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49" name="Google Shape;849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Safeguard Insurance LLC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52" name="Google Shape;852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3" name="Google Shape;853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4" name="Google Shape;854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55" name="Google Shape;855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8" name="Google Shape;858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$172,270</a:t>
            </a:r>
            <a:endParaRPr/>
          </a:p>
        </p:txBody>
      </p:sp>
      <p:sp>
        <p:nvSpPr>
          <p:cNvPr id="860" name="Google Shape;860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" name="Google Shape;861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Truc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63" name="Google Shape;863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64" name="Google Shape;864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65" name="Google Shape;865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66" name="Google Shape;866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69" name="Google Shape;869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44.4%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$516,673</a:t>
            </a:r>
            <a:endParaRPr/>
          </a:p>
        </p:txBody>
      </p:sp>
      <p:sp>
        <p:nvSpPr>
          <p:cNvPr id="871" name="Google Shape;871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Inc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74" name="Google Shape;874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5" name="Google Shape;875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82" name="Google Shape;882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84" name="Google Shape;884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85" name="Google Shape;885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886" name="Google Shape;886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(41%)</a:t>
            </a:r>
            <a:endParaRPr/>
          </a:p>
        </p:txBody>
      </p:sp>
      <p:sp>
        <p:nvSpPr>
          <p:cNvPr id="887" name="Google Shape;887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88" name="Google Shape;888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889" name="Google Shape;889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(46%)</a:t>
            </a:r>
            <a:endParaRPr/>
          </a:p>
        </p:txBody>
      </p:sp>
      <p:sp>
        <p:nvSpPr>
          <p:cNvPr id="890" name="Google Shape;890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91" name="Google Shape;891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892" name="Google Shape;892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(13%)</a:t>
            </a:r>
            <a:endParaRPr/>
          </a:p>
        </p:txBody>
      </p:sp>
      <p:sp>
        <p:nvSpPr>
          <p:cNvPr id="893" name="Google Shape;893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94" name="Google Shape;894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5" name="Google Shape;895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96" name="Google Shape;896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97" name="Google Shape;897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8" name="Google Shape;898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99" name="Google Shape;899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5.5%  ·  Declined: 61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Taylor Sloan</a:t>
            </a:r>
            <a:endParaRPr/>
          </a:p>
        </p:txBody>
      </p:sp>
      <p:sp>
        <p:nvSpPr>
          <p:cNvPr id="906" name="Google Shape;906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 |  Individual agents ranked by YTD submissions  |  Agent = broker_contact on submission  |  Trend = MoM</a:t>
            </a:r>
            <a:endParaRPr/>
          </a:p>
        </p:txBody>
      </p:sp>
      <p:sp>
        <p:nvSpPr>
          <p:cNvPr id="907" name="Google Shape;907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908" name="Google Shape;908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909" name="Google Shape;909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910" name="Google Shape;910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911" name="Google Shape;911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912" name="Google Shape;912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914" name="Google Shape;914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915" name="Google Shape;915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916" name="Google Shape;916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17" name="Google Shape;917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8" name="Google Shape;918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19" name="Google Shape;919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20" name="Google Shape;920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 Ostapenko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212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26" name="Google Shape;926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927" name="Google Shape;927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928" name="Google Shape;928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929" name="Google Shape;929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</a:t>
            </a:r>
            <a:endParaRPr/>
          </a:p>
        </p:txBody>
      </p:sp>
      <p:sp>
        <p:nvSpPr>
          <p:cNvPr id="930" name="Google Shape;930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931" name="Google Shape;931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32" name="Google Shape;932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34" name="Google Shape;934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" name="Google Shape;935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Kelly Link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9" name="Google Shape;939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940" name="Google Shape;940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41" name="Google Shape;941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Liana Abramov</a:t>
            </a:r>
            <a:endParaRPr/>
          </a:p>
        </p:txBody>
      </p:sp>
      <p:sp>
        <p:nvSpPr>
          <p:cNvPr id="942" name="Google Shape;942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47" name="Google Shape;947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Katie Pereira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2" name="Google Shape;952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3" name="Google Shape;953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54" name="Google Shape;954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McKinzee Adams</a:t>
            </a:r>
            <a:endParaRPr/>
          </a:p>
        </p:txBody>
      </p:sp>
      <p:sp>
        <p:nvSpPr>
          <p:cNvPr id="955" name="Google Shape;955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60" name="Google Shape;960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" name="Google Shape;961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65" name="Google Shape;965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17.5%</a:t>
            </a:r>
            <a:endParaRPr/>
          </a:p>
        </p:txBody>
      </p:sp>
      <p:sp>
        <p:nvSpPr>
          <p:cNvPr id="966" name="Google Shape;966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67" name="Google Shape;967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Eva Avina</a:t>
            </a:r>
            <a:endParaRPr/>
          </a:p>
        </p:txBody>
      </p:sp>
      <p:sp>
        <p:nvSpPr>
          <p:cNvPr id="968" name="Google Shape;968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3" name="Google Shape;973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Ranjodh Parhar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Safeguard Insurance Llc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78" name="Google Shape;978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979" name="Google Shape;979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0" name="Google Shape;980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Rivas</a:t>
            </a:r>
            <a:endParaRPr/>
          </a:p>
        </p:txBody>
      </p:sp>
      <p:sp>
        <p:nvSpPr>
          <p:cNvPr id="981" name="Google Shape;981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86" name="Google Shape;986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Jeff Anderson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1" name="Google Shape;991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2" name="Google Shape;992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93" name="Google Shape;993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Raul Millan</a:t>
            </a:r>
            <a:endParaRPr/>
          </a:p>
        </p:txBody>
      </p:sp>
      <p:sp>
        <p:nvSpPr>
          <p:cNvPr id="994" name="Google Shape;994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99" name="Google Shape;999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II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4" name="Google Shape;1004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05" name="Google Shape;1005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06" name="Google Shape;1006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Avleen Sethi</a:t>
            </a:r>
            <a:endParaRPr/>
          </a:p>
        </p:txBody>
      </p:sp>
      <p:sp>
        <p:nvSpPr>
          <p:cNvPr id="1007" name="Google Shape;1007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12" name="Google Shape;1012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" name="Google Shape;1013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Edgar Millan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7" name="Google Shape;1017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8" name="Google Shape;1018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19" name="Google Shape;1019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Melara</a:t>
            </a:r>
            <a:endParaRPr/>
          </a:p>
        </p:txBody>
      </p:sp>
      <p:sp>
        <p:nvSpPr>
          <p:cNvPr id="1020" name="Google Shape;1020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25" name="Google Shape;1025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Jacob Cunningham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</a:t>
            </a:r>
            <a:endParaRPr/>
          </a:p>
        </p:txBody>
      </p:sp>
      <p:sp>
        <p:nvSpPr>
          <p:cNvPr id="1028" name="Google Shape;1028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29" name="Google Shape;1029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0" name="Google Shape;1030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1" name="Google Shape;1031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32" name="Google Shape;1032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Vicky Nunez</a:t>
            </a:r>
            <a:endParaRPr/>
          </a:p>
        </p:txBody>
      </p:sp>
      <p:sp>
        <p:nvSpPr>
          <p:cNvPr id="1033" name="Google Shape;1033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38" name="Google Shape;1038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40" name="Google Shape;1040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42" name="Google Shape;1042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44" name="Google Shape;1044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45" name="Google Shape;1045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46" name="Google Shape;1046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" name="Google Shape;1047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" name="Google Shape;1048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Pechia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52" name="Google Shape;1052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21.1%</a:t>
            </a:r>
            <a:endParaRPr/>
          </a:p>
        </p:txBody>
      </p:sp>
      <p:sp>
        <p:nvSpPr>
          <p:cNvPr id="1053" name="Google Shape;1053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</a:t>
            </a:r>
            <a:endParaRPr/>
          </a:p>
        </p:txBody>
      </p:sp>
      <p:sp>
        <p:nvSpPr>
          <p:cNvPr id="1055" name="Google Shape;1055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Agency,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057" name="Google Shape;1057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8" name="Google Shape;1058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60" name="Google Shape;1060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Yulia Angel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Guardian Angel Insurance Servi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5" name="Google Shape;1065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6" name="Google Shape;1066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67" name="Google Shape;1067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Carol Robertson</a:t>
            </a:r>
            <a:endParaRPr/>
          </a:p>
        </p:txBody>
      </p:sp>
      <p:sp>
        <p:nvSpPr>
          <p:cNvPr id="1068" name="Google Shape;1068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Jd Fulwiler &amp; Co Insurance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73" name="Google Shape;1073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4" name="Google Shape;1074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Roger Pena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78" name="Google Shape;1078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1079" name="Google Shape;1079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80" name="Google Shape;1080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Pettina Sams</a:t>
            </a:r>
            <a:endParaRPr/>
          </a:p>
        </p:txBody>
      </p:sp>
      <p:sp>
        <p:nvSpPr>
          <p:cNvPr id="1081" name="Google Shape;1081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6" name="Google Shape;1086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" name="Google Shape;1087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Artem Tkachuk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1" name="Google Shape;1091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2" name="Google Shape;1092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93" name="Google Shape;1093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Juanita Dixon</a:t>
            </a:r>
            <a:endParaRPr/>
          </a:p>
        </p:txBody>
      </p:sp>
      <p:sp>
        <p:nvSpPr>
          <p:cNvPr id="1094" name="Google Shape;1094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99" name="Google Shape;1099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" name="Google Shape;1100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Beth Gonzalez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4" name="Google Shape;1104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5" name="Google Shape;1105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06" name="Google Shape;1106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Salvador Alcala</a:t>
            </a:r>
            <a:endParaRPr/>
          </a:p>
        </p:txBody>
      </p:sp>
      <p:sp>
        <p:nvSpPr>
          <p:cNvPr id="1107" name="Google Shape;1107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2" name="Google Shape;1112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3" name="Google Shape;1113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Stephen Klabo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7" name="Google Shape;1117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8" name="Google Shape;1118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Leticia Mendoza</a:t>
            </a:r>
            <a:endParaRPr/>
          </a:p>
        </p:txBody>
      </p:sp>
      <p:sp>
        <p:nvSpPr>
          <p:cNvPr id="1120" name="Google Shape;1120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Rva Insurance Agency Inc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25" name="Google Shape;1125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6" name="Google Shape;1126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Sabrina Cornejo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30" name="Google Shape;1130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1131" name="Google Shape;1131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32" name="Google Shape;1132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Rachael Huston</a:t>
            </a:r>
            <a:endParaRPr/>
          </a:p>
        </p:txBody>
      </p:sp>
      <p:sp>
        <p:nvSpPr>
          <p:cNvPr id="1133" name="Google Shape;1133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38" name="Google Shape;1138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9" name="Google Shape;1139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Thomas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43" name="Google Shape;1143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144" name="Google Shape;1144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Cynthia Neal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NEAL'S INSURANCE SERVICES</a:t>
            </a:r>
            <a:endParaRPr/>
          </a:p>
        </p:txBody>
      </p:sp>
      <p:sp>
        <p:nvSpPr>
          <p:cNvPr id="1147" name="Google Shape;1147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48" name="Google Shape;1148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49" name="Google Shape;1149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1150" name="Google Shape;1150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51" name="Google Shape;1151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2" name="Google Shape;1152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Crawley</a:t>
            </a:r>
            <a:endParaRPr/>
          </a:p>
        </p:txBody>
      </p:sp>
      <p:sp>
        <p:nvSpPr>
          <p:cNvPr id="1153" name="Google Shape;1153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154" name="Google Shape;1154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155" name="Google Shape;1155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56" name="Google Shape;1156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57" name="Google Shape;1157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58" name="Google Shape;1158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Jacob Wilcox</a:t>
            </a:r>
            <a:endParaRPr/>
          </a:p>
        </p:txBody>
      </p:sp>
      <p:sp>
        <p:nvSpPr>
          <p:cNvPr id="1159" name="Google Shape;1159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</a:t>
            </a:r>
            <a:endParaRPr/>
          </a:p>
        </p:txBody>
      </p:sp>
      <p:sp>
        <p:nvSpPr>
          <p:cNvPr id="1160" name="Google Shape;1160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61" name="Google Shape;1161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62" name="Google Shape;1162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63" name="Google Shape;1163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64" name="Google Shape;1164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2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8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0" name="Google Shape;1170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 |  Standouts and agencies needing attention</a:t>
            </a:r>
            <a:endParaRPr/>
          </a:p>
        </p:txBody>
      </p:sp>
      <p:sp>
        <p:nvSpPr>
          <p:cNvPr id="1172" name="Google Shape;1172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3" name="Google Shape;1173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74" name="Google Shape;1174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5" name="Google Shape;1175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76" name="Google Shape;1176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Services, Inc.</a:t>
            </a:r>
            <a:endParaRPr/>
          </a:p>
        </p:txBody>
      </p:sp>
      <p:sp>
        <p:nvSpPr>
          <p:cNvPr id="1178" name="Google Shape;1178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$22,749  |  Subs 10  |  Binds 1  |  HR 10.0%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10.0% (portfolio avg: 3.4%)  |  $22,749 in new business</a:t>
            </a:r>
            <a:endParaRPr/>
          </a:p>
        </p:txBody>
      </p:sp>
      <p:sp>
        <p:nvSpPr>
          <p:cNvPr id="1180" name="Google Shape;1180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 Inc</a:t>
            </a:r>
            <a:endParaRPr/>
          </a:p>
        </p:txBody>
      </p:sp>
      <p:sp>
        <p:nvSpPr>
          <p:cNvPr id="1182" name="Google Shape;1182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$290,447  |  Subs 141  |  Binds 10  |  HR 7.1%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7.1% (portfolio avg: 3.4%)  |  $290,447 YTD GWP</a:t>
            </a:r>
            <a:endParaRPr/>
          </a:p>
        </p:txBody>
      </p:sp>
      <p:sp>
        <p:nvSpPr>
          <p:cNvPr id="1184" name="Google Shape;1184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</a:t>
            </a:r>
            <a:endParaRPr/>
          </a:p>
        </p:txBody>
      </p:sp>
      <p:sp>
        <p:nvSpPr>
          <p:cNvPr id="1186" name="Google Shape;1186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$285,510  |  Subs 148  |  Binds 8  |  HR 5.4%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5.4% (portfolio avg: 3.4%)  |  $285,510 YTD GWP</a:t>
            </a:r>
            <a:endParaRPr/>
          </a:p>
        </p:txBody>
      </p:sp>
      <p:sp>
        <p:nvSpPr>
          <p:cNvPr id="1188" name="Google Shape;1188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Safeguard Insurance Llc</a:t>
            </a:r>
            <a:endParaRPr/>
          </a:p>
        </p:txBody>
      </p:sp>
      <p:sp>
        <p:nvSpPr>
          <p:cNvPr id="1190" name="Google Shape;1190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$133,916  |  Subs 40  |  Binds 3  |  HR 7.5%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7.5% (portfolio avg: 3.4%)  |  $133,916 YTD GWP</a:t>
            </a:r>
            <a:endParaRPr/>
          </a:p>
        </p:txBody>
      </p:sp>
      <p:sp>
        <p:nvSpPr>
          <p:cNvPr id="1192" name="Google Shape;1192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1194" name="Google Shape;1194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$37,563  |  Subs 24  |  Binds 0  |  HR 0.0%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 in new business  |  Submission volume up 400% MoM</a:t>
            </a:r>
            <a:endParaRPr/>
          </a:p>
        </p:txBody>
      </p:sp>
      <p:sp>
        <p:nvSpPr>
          <p:cNvPr id="1196" name="Google Shape;1196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1198" name="Google Shape;1198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54  |  Binds 0  |  HR 0.0%</a:t>
            </a:r>
            <a:endParaRPr/>
          </a:p>
        </p:txBody>
      </p:sp>
      <p:sp>
        <p:nvSpPr>
          <p:cNvPr id="1199" name="Google Shape;1199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 submissions with 0 binds - zero conversion  |  39 quotes generated but 0 converted to binds</a:t>
            </a:r>
            <a:endParaRPr/>
          </a:p>
        </p:txBody>
      </p:sp>
      <p:sp>
        <p:nvSpPr>
          <p:cNvPr id="1200" name="Google Shape;1200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01" name="Google Shape;1201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Inc.</a:t>
            </a:r>
            <a:endParaRPr/>
          </a:p>
        </p:txBody>
      </p:sp>
      <p:sp>
        <p:nvSpPr>
          <p:cNvPr id="1202" name="Google Shape;1202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40  |  Binds 0  |  HR 0.0%</a:t>
            </a:r>
            <a:endParaRPr/>
          </a:p>
        </p:txBody>
      </p:sp>
      <p:sp>
        <p:nvSpPr>
          <p:cNvPr id="1203" name="Google Shape;1203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with 0 binds - zero conversion  |  32 quotes generated but 0 converted to binds</a:t>
            </a:r>
            <a:endParaRPr/>
          </a:p>
        </p:txBody>
      </p:sp>
      <p:sp>
        <p:nvSpPr>
          <p:cNvPr id="1204" name="Google Shape;1204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05" name="Google Shape;1205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Llc</a:t>
            </a:r>
            <a:endParaRPr/>
          </a:p>
        </p:txBody>
      </p:sp>
      <p:sp>
        <p:nvSpPr>
          <p:cNvPr id="1206" name="Google Shape;1206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35  |  Binds 0  |  HR 0.0%</a:t>
            </a:r>
            <a:endParaRPr/>
          </a:p>
        </p:txBody>
      </p:sp>
      <p:sp>
        <p:nvSpPr>
          <p:cNvPr id="1207" name="Google Shape;1207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with 0 binds - zero conversion  |  Submissions dropped 71% MoM (17 -&gt; 5)</a:t>
            </a:r>
            <a:endParaRPr/>
          </a:p>
        </p:txBody>
      </p:sp>
      <p:sp>
        <p:nvSpPr>
          <p:cNvPr id="1208" name="Google Shape;1208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09" name="Google Shape;1209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1210" name="Google Shape;1210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35  |  Binds 0  |  HR 0.0%</a:t>
            </a:r>
            <a:endParaRPr/>
          </a:p>
        </p:txBody>
      </p:sp>
      <p:sp>
        <p:nvSpPr>
          <p:cNvPr id="1211" name="Google Shape;1211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with 0 binds - zero conversion  |  24 quotes generated but 0 converted to binds</a:t>
            </a:r>
            <a:endParaRPr/>
          </a:p>
        </p:txBody>
      </p:sp>
      <p:sp>
        <p:nvSpPr>
          <p:cNvPr id="1212" name="Google Shape;1212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13" name="Google Shape;1213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1214" name="Google Shape;1214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$37,563  |  Subs 24  |  Binds 0  |  HR 0.0%</a:t>
            </a:r>
            <a:endParaRPr/>
          </a:p>
        </p:txBody>
      </p:sp>
      <p:sp>
        <p:nvSpPr>
          <p:cNvPr id="1215" name="Google Shape;1215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submissions with 0 binds - zero conversion  |  17 quotes generated but 0 converted to binds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9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1" name="Google Shape;1221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Newly Appointed in My Portfolio — Taylor Sloan</a:t>
            </a:r>
            <a:endParaRPr/>
          </a:p>
        </p:txBody>
      </p:sp>
      <p:sp>
        <p:nvSpPr>
          <p:cNvPr id="1222" name="Google Shape;1222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assigned to this BDA for onboarding in 2026  |  Production metrics since assignment date</a:t>
            </a:r>
            <a:endParaRPr/>
          </a:p>
        </p:txBody>
      </p:sp>
      <p:sp>
        <p:nvSpPr>
          <p:cNvPr id="1223" name="Google Shape;1223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24" name="Google Shape;1224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Q2</a:t>
            </a:r>
            <a:endParaRPr/>
          </a:p>
        </p:txBody>
      </p:sp>
      <p:sp>
        <p:nvSpPr>
          <p:cNvPr id="1225" name="Google Shape;1225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26" name="Google Shape;1226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27" name="Google Shape;1227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28" name="Google Shape;1228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4/4 appointed agencies have submitted (100%)  •  1/4 have bound (25%)  •  Total bound: 1  •  Total GWP: $22,749</a:t>
            </a:r>
            <a:endParaRPr/>
          </a:p>
        </p:txBody>
      </p:sp>
      <p:sp>
        <p:nvSpPr>
          <p:cNvPr id="1229" name="Google Shape;1229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0" name="Google Shape;1230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31" name="Google Shape;1231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32" name="Google Shape;1232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33" name="Google Shape;1233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34" name="Google Shape;1234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35" name="Google Shape;1235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36" name="Google Shape;1236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37" name="Google Shape;1237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38" name="Google Shape;1238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9" name="Google Shape;1239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1240" name="Google Shape;1240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2026-04-20</a:t>
            </a:r>
            <a:endParaRPr/>
          </a:p>
        </p:txBody>
      </p:sp>
      <p:sp>
        <p:nvSpPr>
          <p:cNvPr id="1241" name="Google Shape;1241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242" name="Google Shape;1242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10d</a:t>
            </a:r>
            <a:endParaRPr/>
          </a:p>
        </p:txBody>
      </p:sp>
      <p:sp>
        <p:nvSpPr>
          <p:cNvPr id="1243" name="Google Shape;1243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4" name="Google Shape;1244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5" name="Google Shape;1245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6" name="Google Shape;1246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Services, Inc.</a:t>
            </a:r>
            <a:endParaRPr/>
          </a:p>
        </p:txBody>
      </p:sp>
      <p:sp>
        <p:nvSpPr>
          <p:cNvPr id="1247" name="Google Shape;1247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2026-02-25</a:t>
            </a:r>
            <a:endParaRPr/>
          </a:p>
        </p:txBody>
      </p:sp>
      <p:sp>
        <p:nvSpPr>
          <p:cNvPr id="1248" name="Google Shape;1248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249" name="Google Shape;1249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54d</a:t>
            </a:r>
            <a:endParaRPr/>
          </a:p>
        </p:txBody>
      </p:sp>
      <p:sp>
        <p:nvSpPr>
          <p:cNvPr id="1250" name="Google Shape;1250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251" name="Google Shape;1251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79d</a:t>
            </a:r>
            <a:endParaRPr/>
          </a:p>
        </p:txBody>
      </p:sp>
      <p:sp>
        <p:nvSpPr>
          <p:cNvPr id="1252" name="Google Shape;1252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</p:txBody>
      </p:sp>
      <p:sp>
        <p:nvSpPr>
          <p:cNvPr id="1253" name="Google Shape;1253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4" name="Google Shape;1254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Rva Insurance Agency Inc</a:t>
            </a:r>
            <a:endParaRPr/>
          </a:p>
        </p:txBody>
      </p:sp>
      <p:sp>
        <p:nvSpPr>
          <p:cNvPr id="1255" name="Google Shape;1255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2026-02-23</a:t>
            </a:r>
            <a:endParaRPr/>
          </a:p>
        </p:txBody>
      </p:sp>
      <p:sp>
        <p:nvSpPr>
          <p:cNvPr id="1256" name="Google Shape;1256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257" name="Google Shape;1257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21d</a:t>
            </a:r>
            <a:endParaRPr/>
          </a:p>
        </p:txBody>
      </p:sp>
      <p:sp>
        <p:nvSpPr>
          <p:cNvPr id="1258" name="Google Shape;1258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9" name="Google Shape;1259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0" name="Google Shape;1260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1" name="Google Shape;1261;p11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Llc</a:t>
            </a:r>
            <a:endParaRPr/>
          </a:p>
        </p:txBody>
      </p:sp>
      <p:sp>
        <p:nvSpPr>
          <p:cNvPr id="1262" name="Google Shape;1262;p11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2026-01-09</a:t>
            </a:r>
            <a:endParaRPr/>
          </a:p>
        </p:txBody>
      </p:sp>
      <p:sp>
        <p:nvSpPr>
          <p:cNvPr id="1263" name="Google Shape;1263;p11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264" name="Google Shape;1264;p11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66d</a:t>
            </a:r>
            <a:endParaRPr/>
          </a:p>
        </p:txBody>
      </p:sp>
      <p:sp>
        <p:nvSpPr>
          <p:cNvPr id="1265" name="Google Shape;1265;p11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66" name="Google Shape;1266;p11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7" name="Google Shape;1267;p11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8" name="Google Shape;1268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72" name="Shape 1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4" name="Google Shape;1274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75" name="Google Shape;1275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Portfolio  |  Jan–Jun 2026  |  Strengths, gaps, and ranked action items</a:t>
            </a:r>
            <a:endParaRPr/>
          </a:p>
        </p:txBody>
      </p:sp>
      <p:sp>
        <p:nvSpPr>
          <p:cNvPr id="1276" name="Google Shape;1276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7" name="Google Shape;1277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78" name="Google Shape;1278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79" name="Google Shape;1279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(360 Risk Partners Insuran, Fredrick B. Roberson Insu, Millan Group, Inc.) drive $781,358 (51%) of portfolio YTD GWP</a:t>
            </a:r>
            <a:endParaRPr/>
          </a:p>
        </p:txBody>
      </p:sp>
      <p:sp>
        <p:nvSpPr>
          <p:cNvPr id="1280" name="Google Shape;1280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81" name="Google Shape;1281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NEAL'S INSURANCE SER (25.0%), Beaver State Insuran (16.7%), Omega Insurance Serv (12.5%)</a:t>
            </a:r>
            <a:endParaRPr/>
          </a:p>
        </p:txBody>
      </p:sp>
      <p:sp>
        <p:nvSpPr>
          <p:cNvPr id="1282" name="Google Shape;1282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83" name="Google Shape;1283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 agencies converting submissions to bound business in Jan–Jun 2026</a:t>
            </a:r>
            <a:endParaRPr/>
          </a:p>
        </p:txBody>
      </p:sp>
      <p:sp>
        <p:nvSpPr>
          <p:cNvPr id="1284" name="Google Shape;1284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85" name="Google Shape;1285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1,315 total submissions across 27 active agencies</a:t>
            </a:r>
            <a:endParaRPr/>
          </a:p>
        </p:txBody>
      </p:sp>
      <p:sp>
        <p:nvSpPr>
          <p:cNvPr id="1286" name="Google Shape;1286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7" name="Google Shape;1287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288" name="Google Shape;1288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89" name="Google Shape;1289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agencies submitting but 0 binds (256 subs): WHA Insurance (54), Avina's Insurance Se (40)</a:t>
            </a:r>
            <a:endParaRPr/>
          </a:p>
        </p:txBody>
      </p:sp>
      <p:sp>
        <p:nvSpPr>
          <p:cNvPr id="1290" name="Google Shape;1290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91" name="Google Shape;1291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Mustard Seed Financi (1.3%), All Lines Associates (2.1%), All Capital Insuranc (2.2%)</a:t>
            </a:r>
            <a:endParaRPr/>
          </a:p>
        </p:txBody>
      </p:sp>
      <p:sp>
        <p:nvSpPr>
          <p:cNvPr id="1292" name="Google Shape;1292;p12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93" name="Google Shape;1293;p12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Overall portfolio hit ratio 3.4% — below 5-8% target</a:t>
            </a:r>
            <a:endParaRPr/>
          </a:p>
        </p:txBody>
      </p:sp>
      <p:sp>
        <p:nvSpPr>
          <p:cNvPr id="1294" name="Google Shape;1294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5" name="Google Shape;1295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296" name="Google Shape;1296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97" name="Google Shape;1297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Close Quote-to-Bind Gap</a:t>
            </a:r>
            <a:endParaRPr/>
          </a:p>
        </p:txBody>
      </p:sp>
      <p:sp>
        <p:nvSpPr>
          <p:cNvPr id="1298" name="Google Shape;1298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agencies have 191 quotes but 0 binds: WHA Insurance (39q), Avina's Insurance Service (32q), Immensity Insurance &amp; Ris (31q). Follow up on pricing, coverage, response time gaps.</a:t>
            </a:r>
            <a:endParaRPr/>
          </a:p>
        </p:txBody>
      </p:sp>
      <p:sp>
        <p:nvSpPr>
          <p:cNvPr id="1299" name="Google Shape;1299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300" name="Google Shape;1300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Lift Portfolio Hit Ratio to 5%</a:t>
            </a:r>
            <a:endParaRPr/>
          </a:p>
        </p:txBody>
      </p:sp>
      <p:sp>
        <p:nvSpPr>
          <p:cNvPr id="1301" name="Google Shape;1301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Current: 3.4% (45 binds / 1,315 subs). Need 20 more binds. Focus on submission quality and appetite education.</a:t>
            </a:r>
            <a:endParaRPr/>
          </a:p>
        </p:txBody>
      </p:sp>
      <p:sp>
        <p:nvSpPr>
          <p:cNvPr id="1302" name="Google Shape;1302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303" name="Google Shape;1303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304" name="Google Shape;1304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agencies with 20+ subs but &lt;3% HR: Mustard Seed Financi (1.3%), All Lines Associates (2.1%), All Capital Insuranc (2.2%). Conduct submission quality training to lift conversion 2-3 points.</a:t>
            </a:r>
            <a:endParaRPr/>
          </a:p>
        </p:txBody>
      </p:sp>
      <p:sp>
        <p:nvSpPr>
          <p:cNvPr id="1305" name="Google Shape;1305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306" name="Google Shape;1306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307" name="Google Shape;1307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agencies with cancellations &gt;40% of new biz: Millan Group, Inc., Fredrick B. Roberson Insu, 360 Risk Partners Insuran. $480,693 total cancellations - investigate retention.</a:t>
            </a:r>
            <a:endParaRPr/>
          </a:p>
        </p:txBody>
      </p:sp>
      <p:sp>
        <p:nvSpPr>
          <p:cNvPr id="1308" name="Google Shape;1308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309" name="Google Shape;1309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Diversify Revenue Base</a:t>
            </a:r>
            <a:endParaRPr/>
          </a:p>
        </p:txBody>
      </p:sp>
      <p:sp>
        <p:nvSpPr>
          <p:cNvPr id="1310" name="Google Shape;1310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agencies drive 51% of premium. Develop mid-tier: Commercial Specialists In, All Lines Associates, Inc, Safeguard Insurance Llc. Target 25-50% growth each.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6" name="Google Shape;1316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317" name="Google Shape;1317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Last 25 Bound Submissions  |  45 Total Bound in Portfolio</a:t>
            </a:r>
            <a:endParaRPr/>
          </a:p>
        </p:txBody>
      </p:sp>
      <p:sp>
        <p:nvSpPr>
          <p:cNvPr id="1318" name="Google Shape;1318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319" name="Google Shape;1319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320" name="Google Shape;1320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321" name="Google Shape;1321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322" name="Google Shape;1322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323" name="Google Shape;1323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24" name="Google Shape;1324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25" name="Google Shape;1325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6" name="Google Shape;1326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27" name="Google Shape;1327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262572242718</a:t>
            </a:r>
            <a:endParaRPr/>
          </a:p>
        </p:txBody>
      </p:sp>
      <p:sp>
        <p:nvSpPr>
          <p:cNvPr id="1328" name="Google Shape;1328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329" name="Google Shape;1329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Valencia Logistics</a:t>
            </a:r>
            <a:endParaRPr/>
          </a:p>
        </p:txBody>
      </p:sp>
      <p:sp>
        <p:nvSpPr>
          <p:cNvPr id="1330" name="Google Shape;1330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331" name="Google Shape;1331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$21,745</a:t>
            </a:r>
            <a:endParaRPr/>
          </a:p>
        </p:txBody>
      </p:sp>
      <p:sp>
        <p:nvSpPr>
          <p:cNvPr id="1332" name="Google Shape;1332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28, 2026</a:t>
            </a:r>
            <a:endParaRPr/>
          </a:p>
        </p:txBody>
      </p:sp>
      <p:sp>
        <p:nvSpPr>
          <p:cNvPr id="1333" name="Google Shape;1333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4" name="Google Shape;1334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35" name="Google Shape;1335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265065505194</a:t>
            </a:r>
            <a:endParaRPr/>
          </a:p>
        </p:txBody>
      </p:sp>
      <p:sp>
        <p:nvSpPr>
          <p:cNvPr id="1336" name="Google Shape;1336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337" name="Google Shape;1337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EAZY COAST TRANSPORTS LLC</a:t>
            </a:r>
            <a:endParaRPr/>
          </a:p>
        </p:txBody>
      </p:sp>
      <p:sp>
        <p:nvSpPr>
          <p:cNvPr id="1338" name="Google Shape;1338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339" name="Google Shape;1339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$23,548</a:t>
            </a:r>
            <a:endParaRPr/>
          </a:p>
        </p:txBody>
      </p:sp>
      <p:sp>
        <p:nvSpPr>
          <p:cNvPr id="1340" name="Google Shape;1340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260085614474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Safeguard Insurance Llc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KMG TRANSPORT INC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Ranjodh Parhar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$64,315</a:t>
            </a:r>
            <a:endParaRPr/>
          </a:p>
        </p:txBody>
      </p:sp>
      <p:sp>
        <p:nvSpPr>
          <p:cNvPr id="1347" name="Google Shape;1347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48" name="Google Shape;1348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9" name="Google Shape;1349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261554158397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HURTADOS AUTO TRANSPORT LLC</a:t>
            </a:r>
            <a:endParaRPr/>
          </a:p>
        </p:txBody>
      </p:sp>
      <p:sp>
        <p:nvSpPr>
          <p:cNvPr id="1353" name="Google Shape;1353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Rivas</a:t>
            </a:r>
            <a:endParaRPr/>
          </a:p>
        </p:txBody>
      </p:sp>
      <p:sp>
        <p:nvSpPr>
          <p:cNvPr id="1354" name="Google Shape;1354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$14,435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257843956256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N/A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361" name="Google Shape;1361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$21,663</a:t>
            </a:r>
            <a:endParaRPr/>
          </a:p>
        </p:txBody>
      </p:sp>
      <p:sp>
        <p:nvSpPr>
          <p:cNvPr id="1362" name="Google Shape;1362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363" name="Google Shape;1363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4" name="Google Shape;1364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265189819251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HAULING AND SELLING PRODUCE AND 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Pechia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$20,602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260924435161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Agency, Inc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DURAN EXPRESS LLC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</a:t>
            </a:r>
            <a:endParaRPr/>
          </a:p>
        </p:txBody>
      </p:sp>
      <p:sp>
        <p:nvSpPr>
          <p:cNvPr id="1376" name="Google Shape;1376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$21,428</a:t>
            </a:r>
            <a:endParaRPr/>
          </a:p>
        </p:txBody>
      </p:sp>
      <p:sp>
        <p:nvSpPr>
          <p:cNvPr id="1377" name="Google Shape;1377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78" name="Google Shape;1378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9" name="Google Shape;1379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268639843991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Services, 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WIZZ LLC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Sabrina Cornejo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259020536506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FLAMINGO TRUCKING LLC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 Ostapenko</a:t>
            </a:r>
            <a:endParaRPr/>
          </a:p>
        </p:txBody>
      </p:sp>
      <p:sp>
        <p:nvSpPr>
          <p:cNvPr id="1391" name="Google Shape;1391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$5,880</a:t>
            </a:r>
            <a:endParaRPr/>
          </a:p>
        </p:txBody>
      </p:sp>
      <p:sp>
        <p:nvSpPr>
          <p:cNvPr id="1392" name="Google Shape;1392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393" name="Google Shape;1393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4" name="Google Shape;1394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261519641326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&amp; J TRANSPORT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Roger Pena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$20,168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13, 2026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250728839520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FLAMINGO TRUCKING LLC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 Ostapenko</a:t>
            </a:r>
            <a:endParaRPr/>
          </a:p>
        </p:txBody>
      </p:sp>
      <p:sp>
        <p:nvSpPr>
          <p:cNvPr id="1406" name="Google Shape;1406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$28,544</a:t>
            </a:r>
            <a:endParaRPr/>
          </a:p>
        </p:txBody>
      </p:sp>
      <p:sp>
        <p:nvSpPr>
          <p:cNvPr id="1407" name="Google Shape;1407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408" name="Google Shape;1408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9" name="Google Shape;1409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268376573402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QUICK LOGISTICS LLC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Daniel Thomas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$13,410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262827668035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SAM ROADWAYS INC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Pechia</a:t>
            </a:r>
            <a:endParaRPr/>
          </a:p>
        </p:txBody>
      </p:sp>
      <p:sp>
        <p:nvSpPr>
          <p:cNvPr id="1421" name="Google Shape;1421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$26,586</a:t>
            </a:r>
            <a:endParaRPr/>
          </a:p>
        </p:txBody>
      </p:sp>
      <p:sp>
        <p:nvSpPr>
          <p:cNvPr id="1422" name="Google Shape;1422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12, 2026</a:t>
            </a:r>
            <a:endParaRPr/>
          </a:p>
        </p:txBody>
      </p:sp>
      <p:sp>
        <p:nvSpPr>
          <p:cNvPr id="1423" name="Google Shape;1423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4" name="Google Shape;1424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263862857520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 &amp; SONS TRUCKING INC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Arturo Gonzalez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$18,022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04, 2026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253318955951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GENERAL DELIVERY LOGISTICS LLC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Roger Pena</a:t>
            </a:r>
            <a:endParaRPr/>
          </a:p>
        </p:txBody>
      </p:sp>
      <p:sp>
        <p:nvSpPr>
          <p:cNvPr id="1436" name="Google Shape;1436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$139,244</a:t>
            </a:r>
            <a:endParaRPr/>
          </a:p>
        </p:txBody>
      </p:sp>
      <p:sp>
        <p:nvSpPr>
          <p:cNvPr id="1437" name="Google Shape;1437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28, 2026</a:t>
            </a:r>
            <a:endParaRPr/>
          </a:p>
        </p:txBody>
      </p:sp>
      <p:sp>
        <p:nvSpPr>
          <p:cNvPr id="1438" name="Google Shape;1438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9" name="Google Shape;1439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265001817075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TRUSTWORTHY &amp; RELIABLE TRUCKING 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$23,798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24, 2026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264522940397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OLD HALL LOGISTICS INC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51" name="Google Shape;1451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$47,185</a:t>
            </a:r>
            <a:endParaRPr/>
          </a:p>
        </p:txBody>
      </p:sp>
      <p:sp>
        <p:nvSpPr>
          <p:cNvPr id="1452" name="Google Shape;1452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22, 2026</a:t>
            </a:r>
            <a:endParaRPr/>
          </a:p>
        </p:txBody>
      </p:sp>
      <p:sp>
        <p:nvSpPr>
          <p:cNvPr id="1453" name="Google Shape;1453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4" name="Google Shape;1454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260150536153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CAMILA'S TRANSPORTATION LLC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Rivas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$132,127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22, 2026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268980060372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&amp; K TRUCKING INC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Pechia</a:t>
            </a:r>
            <a:endParaRPr/>
          </a:p>
        </p:txBody>
      </p:sp>
      <p:sp>
        <p:nvSpPr>
          <p:cNvPr id="1466" name="Google Shape;1466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$31,479</a:t>
            </a:r>
            <a:endParaRPr/>
          </a:p>
        </p:txBody>
      </p:sp>
      <p:sp>
        <p:nvSpPr>
          <p:cNvPr id="1467" name="Google Shape;1467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22, 2026</a:t>
            </a:r>
            <a:endParaRPr/>
          </a:p>
        </p:txBody>
      </p:sp>
      <p:sp>
        <p:nvSpPr>
          <p:cNvPr id="1468" name="Google Shape;1468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9" name="Google Shape;1469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70" name="Google Shape;1470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263724849954</a:t>
            </a:r>
            <a:endParaRPr/>
          </a:p>
        </p:txBody>
      </p:sp>
      <p:sp>
        <p:nvSpPr>
          <p:cNvPr id="1471" name="Google Shape;1471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Safeguard Insurance Llc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HANDA TRANSPORT INC</a:t>
            </a:r>
            <a:endParaRPr/>
          </a:p>
        </p:txBody>
      </p:sp>
      <p:sp>
        <p:nvSpPr>
          <p:cNvPr id="1473" name="Google Shape;1473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Ranjodh Parhar</a:t>
            </a:r>
            <a:endParaRPr/>
          </a:p>
        </p:txBody>
      </p:sp>
      <p:sp>
        <p:nvSpPr>
          <p:cNvPr id="1474" name="Google Shape;1474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$25,934</a:t>
            </a:r>
            <a:endParaRPr/>
          </a:p>
        </p:txBody>
      </p:sp>
      <p:sp>
        <p:nvSpPr>
          <p:cNvPr id="1475" name="Google Shape;1475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21, 2026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263866197938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Safeguard Insurance Llc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CARNALES TRUCKING LLC</a:t>
            </a:r>
            <a:endParaRPr/>
          </a:p>
        </p:txBody>
      </p:sp>
      <p:sp>
        <p:nvSpPr>
          <p:cNvPr id="1480" name="Google Shape;1480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Ranjodh Parhar</a:t>
            </a:r>
            <a:endParaRPr/>
          </a:p>
        </p:txBody>
      </p:sp>
      <p:sp>
        <p:nvSpPr>
          <p:cNvPr id="1481" name="Google Shape;1481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$39,167</a:t>
            </a:r>
            <a:endParaRPr/>
          </a:p>
        </p:txBody>
      </p:sp>
      <p:sp>
        <p:nvSpPr>
          <p:cNvPr id="1482" name="Google Shape;1482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21, 2026</a:t>
            </a:r>
            <a:endParaRPr/>
          </a:p>
        </p:txBody>
      </p:sp>
      <p:sp>
        <p:nvSpPr>
          <p:cNvPr id="1483" name="Google Shape;1483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4" name="Google Shape;1484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85" name="Google Shape;1485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259547988917</a:t>
            </a:r>
            <a:endParaRPr/>
          </a:p>
        </p:txBody>
      </p:sp>
      <p:sp>
        <p:nvSpPr>
          <p:cNvPr id="1486" name="Google Shape;1486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87" name="Google Shape;1487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LOR TRANSPORTATION LLC</a:t>
            </a:r>
            <a:endParaRPr/>
          </a:p>
        </p:txBody>
      </p:sp>
      <p:sp>
        <p:nvSpPr>
          <p:cNvPr id="1488" name="Google Shape;1488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89" name="Google Shape;1489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$20,753</a:t>
            </a:r>
            <a:endParaRPr/>
          </a:p>
        </p:txBody>
      </p:sp>
      <p:sp>
        <p:nvSpPr>
          <p:cNvPr id="1490" name="Google Shape;1490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17, 2026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492" name="Google Shape;1492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252499860877</a:t>
            </a:r>
            <a:endParaRPr/>
          </a:p>
        </p:txBody>
      </p:sp>
      <p:sp>
        <p:nvSpPr>
          <p:cNvPr id="1493" name="Google Shape;1493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</a:t>
            </a:r>
            <a:endParaRPr/>
          </a:p>
        </p:txBody>
      </p:sp>
      <p:sp>
        <p:nvSpPr>
          <p:cNvPr id="1494" name="Google Shape;1494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ENCORE DRIVE LLC</a:t>
            </a:r>
            <a:endParaRPr/>
          </a:p>
        </p:txBody>
      </p:sp>
      <p:sp>
        <p:nvSpPr>
          <p:cNvPr id="1495" name="Google Shape;1495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Bret Fair</a:t>
            </a:r>
            <a:endParaRPr/>
          </a:p>
        </p:txBody>
      </p:sp>
      <p:sp>
        <p:nvSpPr>
          <p:cNvPr id="1496" name="Google Shape;1496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$29,422</a:t>
            </a:r>
            <a:endParaRPr/>
          </a:p>
        </p:txBody>
      </p:sp>
      <p:sp>
        <p:nvSpPr>
          <p:cNvPr id="1497" name="Google Shape;1497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15, 2026</a:t>
            </a:r>
            <a:endParaRPr/>
          </a:p>
        </p:txBody>
      </p:sp>
      <p:sp>
        <p:nvSpPr>
          <p:cNvPr id="1498" name="Google Shape;1498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9" name="Google Shape;1499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500" name="Google Shape;1500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265963353503</a:t>
            </a:r>
            <a:endParaRPr/>
          </a:p>
        </p:txBody>
      </p:sp>
      <p:sp>
        <p:nvSpPr>
          <p:cNvPr id="1501" name="Google Shape;1501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1502" name="Google Shape;1502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RELIABLE TRUCK LINES INC</a:t>
            </a:r>
            <a:endParaRPr/>
          </a:p>
        </p:txBody>
      </p:sp>
      <p:sp>
        <p:nvSpPr>
          <p:cNvPr id="1503" name="Google Shape;1503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Dima Kalinin</a:t>
            </a:r>
            <a:endParaRPr/>
          </a:p>
        </p:txBody>
      </p:sp>
      <p:sp>
        <p:nvSpPr>
          <p:cNvPr id="1504" name="Google Shape;1504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505" name="Google Shape;1505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10, 2026</a:t>
            </a:r>
            <a:endParaRPr/>
          </a:p>
        </p:txBody>
      </p:sp>
      <p:sp>
        <p:nvSpPr>
          <p:cNvPr id="1506" name="Google Shape;1506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507" name="Google Shape;1507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262436310126</a:t>
            </a:r>
            <a:endParaRPr/>
          </a:p>
        </p:txBody>
      </p:sp>
      <p:sp>
        <p:nvSpPr>
          <p:cNvPr id="1508" name="Google Shape;1508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1509" name="Google Shape;1509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HEAVY LANE TRANSPORT</a:t>
            </a:r>
            <a:endParaRPr/>
          </a:p>
        </p:txBody>
      </p:sp>
      <p:sp>
        <p:nvSpPr>
          <p:cNvPr id="1510" name="Google Shape;1510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Raul Millan</a:t>
            </a:r>
            <a:endParaRPr/>
          </a:p>
        </p:txBody>
      </p:sp>
      <p:sp>
        <p:nvSpPr>
          <p:cNvPr id="1511" name="Google Shape;1511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$29,140</a:t>
            </a:r>
            <a:endParaRPr/>
          </a:p>
        </p:txBody>
      </p:sp>
      <p:sp>
        <p:nvSpPr>
          <p:cNvPr id="1512" name="Google Shape;1512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10, 2026</a:t>
            </a:r>
            <a:endParaRPr/>
          </a:p>
        </p:txBody>
      </p:sp>
      <p:sp>
        <p:nvSpPr>
          <p:cNvPr id="1513" name="Google Shape;1513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4" name="Google Shape;1514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515" name="Google Shape;1515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$841,893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9" name="Shape 1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Google Shape;1520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1" name="Google Shape;1521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522" name="Google Shape;1522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Active in-force policies expiring through Aug 30, 2026</a:t>
            </a:r>
            <a:endParaRPr/>
          </a:p>
        </p:txBody>
      </p:sp>
      <p:sp>
        <p:nvSpPr>
          <p:cNvPr id="1523" name="Google Shape;1523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24" name="Google Shape;1524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$216,086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25" name="Google Shape;1525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26" name="Google Shape;1526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27" name="Google Shape;1527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28" name="Google Shape;1528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9" name="Google Shape;1529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30" name="Google Shape;1530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31" name="Google Shape;1531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32" name="Google Shape;1532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33" name="Google Shape;1533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34" name="Google Shape;1534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35" name="Google Shape;1535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37" name="Google Shape;1537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38" name="Google Shape;1538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9" name="Google Shape;1539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540" name="Google Shape;1540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259085042038</a:t>
            </a:r>
            <a:endParaRPr/>
          </a:p>
        </p:txBody>
      </p:sp>
      <p:sp>
        <p:nvSpPr>
          <p:cNvPr id="1541" name="Google Shape;1541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GARIBO'S TRUCKING LLC</a:t>
            </a:r>
            <a:endParaRPr/>
          </a:p>
        </p:txBody>
      </p:sp>
      <p:sp>
        <p:nvSpPr>
          <p:cNvPr id="1542" name="Google Shape;1542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2026-06-17</a:t>
            </a:r>
            <a:endParaRPr/>
          </a:p>
        </p:txBody>
      </p:sp>
      <p:sp>
        <p:nvSpPr>
          <p:cNvPr id="1543" name="Google Shape;1543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16d</a:t>
            </a:r>
            <a:endParaRPr/>
          </a:p>
        </p:txBody>
      </p:sp>
      <p:sp>
        <p:nvSpPr>
          <p:cNvPr id="1544" name="Google Shape;1544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45" name="Google Shape;1545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$12,955</a:t>
            </a:r>
            <a:endParaRPr/>
          </a:p>
        </p:txBody>
      </p:sp>
      <p:sp>
        <p:nvSpPr>
          <p:cNvPr id="1546" name="Google Shape;1546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47" name="Google Shape;1547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548" name="Google Shape;1548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255308348407</a:t>
            </a:r>
            <a:endParaRPr/>
          </a:p>
        </p:txBody>
      </p:sp>
      <p:sp>
        <p:nvSpPr>
          <p:cNvPr id="1549" name="Google Shape;1549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ARMANDO PLASCENCIA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2026-06-20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19d</a:t>
            </a:r>
            <a:endParaRPr/>
          </a:p>
        </p:txBody>
      </p:sp>
      <p:sp>
        <p:nvSpPr>
          <p:cNvPr id="1552" name="Google Shape;1552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53" name="Google Shape;1553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54" name="Google Shape;1554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55" name="Google Shape;1555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6" name="Google Shape;1556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Silicon Valley Insurance Cente</a:t>
            </a:r>
            <a:endParaRPr/>
          </a:p>
        </p:txBody>
      </p:sp>
      <p:sp>
        <p:nvSpPr>
          <p:cNvPr id="1557" name="Google Shape;1557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254995507219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VAZ BROTHERS TRUCKING INC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2026-06-21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20d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$38,714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253318955951</a:t>
            </a:r>
            <a:endParaRPr/>
          </a:p>
        </p:txBody>
      </p:sp>
      <p:sp>
        <p:nvSpPr>
          <p:cNvPr id="1566" name="Google Shape;1566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GENERAL DELIVERY LOGISTICS LLC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2026-06-28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27d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$121,554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OR</a:t>
            </a:r>
            <a:endParaRPr/>
          </a:p>
        </p:txBody>
      </p:sp>
      <p:sp>
        <p:nvSpPr>
          <p:cNvPr id="1572" name="Google Shape;1572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3" name="Google Shape;1573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257080278776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VALENNY TRANSPORT LLC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2026-07-07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36d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$1,602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TN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255718681932</a:t>
            </a:r>
            <a:endParaRPr/>
          </a:p>
        </p:txBody>
      </p:sp>
      <p:sp>
        <p:nvSpPr>
          <p:cNvPr id="1583" name="Google Shape;1583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APAT TRUCKING LLC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2026-07-08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37d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$21,744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89" name="Google Shape;1589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0" name="Google Shape;1590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251690681994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RIVER FREIGHT LINES INC</a:t>
            </a:r>
            <a:endParaRPr/>
          </a:p>
        </p:txBody>
      </p:sp>
      <p:sp>
        <p:nvSpPr>
          <p:cNvPr id="1593" name="Google Shape;1593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2026-08-17</a:t>
            </a:r>
            <a:endParaRPr/>
          </a:p>
        </p:txBody>
      </p:sp>
      <p:sp>
        <p:nvSpPr>
          <p:cNvPr id="1594" name="Google Shape;1594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77d</a:t>
            </a:r>
            <a:endParaRPr/>
          </a:p>
        </p:txBody>
      </p:sp>
      <p:sp>
        <p:nvSpPr>
          <p:cNvPr id="1595" name="Google Shape;1595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96" name="Google Shape;1596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$3,714</a:t>
            </a:r>
            <a:endParaRPr/>
          </a:p>
        </p:txBody>
      </p:sp>
      <p:sp>
        <p:nvSpPr>
          <p:cNvPr id="1597" name="Google Shape;1597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98" name="Google Shape;1598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1599" name="Google Shape;1599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252156439802</a:t>
            </a:r>
            <a:endParaRPr/>
          </a:p>
        </p:txBody>
      </p:sp>
      <p:sp>
        <p:nvSpPr>
          <p:cNvPr id="1600" name="Google Shape;1600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HUGHES TRANSPORT LLC</a:t>
            </a:r>
            <a:endParaRPr/>
          </a:p>
        </p:txBody>
      </p:sp>
      <p:sp>
        <p:nvSpPr>
          <p:cNvPr id="1601" name="Google Shape;1601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2026-08-20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80d</a:t>
            </a:r>
            <a:endParaRPr/>
          </a:p>
        </p:txBody>
      </p:sp>
      <p:sp>
        <p:nvSpPr>
          <p:cNvPr id="1603" name="Google Shape;1603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604" name="Google Shape;1604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$4,633</a:t>
            </a:r>
            <a:endParaRPr/>
          </a:p>
        </p:txBody>
      </p:sp>
      <p:sp>
        <p:nvSpPr>
          <p:cNvPr id="1605" name="Google Shape;1605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AZ</a:t>
            </a:r>
            <a:endParaRPr/>
          </a:p>
        </p:txBody>
      </p:sp>
      <p:sp>
        <p:nvSpPr>
          <p:cNvPr id="1606" name="Google Shape;1606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7" name="Google Shape;1607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</a:t>
            </a:r>
            <a:endParaRPr/>
          </a:p>
        </p:txBody>
      </p:sp>
      <p:sp>
        <p:nvSpPr>
          <p:cNvPr id="1608" name="Google Shape;1608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253711248414</a:t>
            </a:r>
            <a:endParaRPr/>
          </a:p>
        </p:txBody>
      </p:sp>
      <p:sp>
        <p:nvSpPr>
          <p:cNvPr id="1609" name="Google Shape;1609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ZOTOL TRUCKING LOGISTICS LLC</a:t>
            </a:r>
            <a:endParaRPr/>
          </a:p>
        </p:txBody>
      </p:sp>
      <p:sp>
        <p:nvSpPr>
          <p:cNvPr id="1610" name="Google Shape;1610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2026-08-20</a:t>
            </a:r>
            <a:endParaRPr/>
          </a:p>
        </p:txBody>
      </p:sp>
      <p:sp>
        <p:nvSpPr>
          <p:cNvPr id="1611" name="Google Shape;1611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80d</a:t>
            </a:r>
            <a:endParaRPr/>
          </a:p>
        </p:txBody>
      </p:sp>
      <p:sp>
        <p:nvSpPr>
          <p:cNvPr id="1612" name="Google Shape;1612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613" name="Google Shape;1613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614" name="Google Shape;1614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15" name="Google Shape;1615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</a:t>
            </a:r>
            <a:endParaRPr/>
          </a:p>
        </p:txBody>
      </p:sp>
      <p:sp>
        <p:nvSpPr>
          <p:cNvPr id="1616" name="Google Shape;1616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253111563149</a:t>
            </a:r>
            <a:endParaRPr/>
          </a:p>
        </p:txBody>
      </p:sp>
      <p:sp>
        <p:nvSpPr>
          <p:cNvPr id="1617" name="Google Shape;1617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WISEMAN TRANSPORT LLC</a:t>
            </a:r>
            <a:endParaRPr/>
          </a:p>
        </p:txBody>
      </p:sp>
      <p:sp>
        <p:nvSpPr>
          <p:cNvPr id="1618" name="Google Shape;1618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2026-08-22</a:t>
            </a:r>
            <a:endParaRPr/>
          </a:p>
        </p:txBody>
      </p:sp>
      <p:sp>
        <p:nvSpPr>
          <p:cNvPr id="1619" name="Google Shape;1619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82d</a:t>
            </a:r>
            <a:endParaRPr/>
          </a:p>
        </p:txBody>
      </p:sp>
      <p:sp>
        <p:nvSpPr>
          <p:cNvPr id="1620" name="Google Shape;1620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21" name="Google Shape;1621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$6,020</a:t>
            </a:r>
            <a:endParaRPr/>
          </a:p>
        </p:txBody>
      </p:sp>
      <p:sp>
        <p:nvSpPr>
          <p:cNvPr id="1622" name="Google Shape;1622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23" name="Google Shape;1623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4" name="Google Shape;1624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</a:t>
            </a:r>
            <a:endParaRPr/>
          </a:p>
        </p:txBody>
      </p:sp>
      <p:sp>
        <p:nvSpPr>
          <p:cNvPr id="1625" name="Google Shape;1625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257843956256</a:t>
            </a:r>
            <a:endParaRPr/>
          </a:p>
        </p:txBody>
      </p:sp>
      <p:sp>
        <p:nvSpPr>
          <p:cNvPr id="1626" name="Google Shape;1626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ESPINDOLA EXPRESS LLC</a:t>
            </a:r>
            <a:endParaRPr/>
          </a:p>
        </p:txBody>
      </p:sp>
      <p:sp>
        <p:nvSpPr>
          <p:cNvPr id="1627" name="Google Shape;1627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2026-08-28</a:t>
            </a:r>
            <a:endParaRPr/>
          </a:p>
        </p:txBody>
      </p:sp>
      <p:sp>
        <p:nvSpPr>
          <p:cNvPr id="1628" name="Google Shape;1628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88d</a:t>
            </a:r>
            <a:endParaRPr/>
          </a:p>
        </p:txBody>
      </p:sp>
      <p:sp>
        <p:nvSpPr>
          <p:cNvPr id="1629" name="Google Shape;1629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630" name="Google Shape;1630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$4,600</a:t>
            </a:r>
            <a:endParaRPr/>
          </a:p>
        </p:txBody>
      </p:sp>
      <p:sp>
        <p:nvSpPr>
          <p:cNvPr id="1631" name="Google Shape;1631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32" name="Google Shape;1632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11 of 11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36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8" name="Google Shape;1638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39" name="Google Shape;1639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Taylor Sloan  |  Policies with cancellation_date on or before Aug 30, 2026  |  Sorted by urgency — call these agencies first</a:t>
            </a:r>
            <a:endParaRPr/>
          </a:p>
        </p:txBody>
      </p:sp>
      <p:sp>
        <p:nvSpPr>
          <p:cNvPr id="1640" name="Google Shape;1640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41" name="Google Shape;1641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42" name="Google Shape;1642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43" name="Google Shape;1643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44" name="Google Shape;1644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45" name="Google Shape;1645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6" name="Google Shape;1646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47" name="Google Shape;1647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48" name="Google Shape;1648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49" name="Google Shape;1649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50" name="Google Shape;1650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51" name="Google Shape;1651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52" name="Google Shape;1652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53" name="Google Shape;1653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54" name="Google Shape;1654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55" name="Google Shape;1655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56" name="Google Shape;1656;p15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pending cancellations in the next 90 days for this book. 🎉</a:t>
            </a:r>
            <a:endParaRPr/>
          </a:p>
        </p:txBody>
      </p:sp>
      <p:sp>
        <p:nvSpPr>
          <p:cNvPr id="1657" name="Google Shape;1657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1" name="Shape 1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oogle Shape;1662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3" name="Google Shape;1663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360 Risk Partners Insurance Solutions, Inc.</a:t>
            </a:r>
            <a:endParaRPr/>
          </a:p>
        </p:txBody>
      </p:sp>
      <p:sp>
        <p:nvSpPr>
          <p:cNvPr id="1664" name="Google Shape;1664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CA  |  City: Sacramento</a:t>
            </a:r>
            <a:endParaRPr/>
          </a:p>
        </p:txBody>
      </p:sp>
      <p:sp>
        <p:nvSpPr>
          <p:cNvPr id="1665" name="Google Shape;1665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666" name="Google Shape;1666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67" name="Google Shape;1667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68" name="Google Shape;1668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69" name="Google Shape;1669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$-110,183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70" name="Google Shape;1670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$223,957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671" name="Google Shape;1671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$454,523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672" name="Google Shape;1672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673" name="Google Shape;1673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674" name="Google Shape;1674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675" name="Google Shape;1675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676" name="Google Shape;1676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677" name="Google Shape;1677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$233,713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678" name="Google Shape;1678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9" name="Google Shape;1679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680" name="Google Shape;1680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681" name="Google Shape;1681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682" name="Google Shape;1682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683" name="Google Shape;1683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684" name="Google Shape;1684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685" name="Google Shape;1685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686" name="Google Shape;1686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7" name="Google Shape;1687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688" name="Google Shape;1688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$63,719</a:t>
            </a:r>
            <a:endParaRPr/>
          </a:p>
        </p:txBody>
      </p:sp>
      <p:sp>
        <p:nvSpPr>
          <p:cNvPr id="1689" name="Google Shape;1689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$40,128</a:t>
            </a:r>
            <a:endParaRPr/>
          </a:p>
        </p:txBody>
      </p:sp>
      <p:sp>
        <p:nvSpPr>
          <p:cNvPr id="1690" name="Google Shape;1690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</p:txBody>
      </p:sp>
      <p:sp>
        <p:nvSpPr>
          <p:cNvPr id="1691" name="Google Shape;1691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92" name="Google Shape;1692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93" name="Google Shape;1693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4" name="Google Shape;1694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695" name="Google Shape;1695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</a:t>
            </a:r>
            <a:endParaRPr/>
          </a:p>
        </p:txBody>
      </p:sp>
      <p:sp>
        <p:nvSpPr>
          <p:cNvPr id="1696" name="Google Shape;1696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97" name="Google Shape;1697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98" name="Google Shape;1698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</a:t>
            </a:r>
            <a:endParaRPr/>
          </a:p>
        </p:txBody>
      </p:sp>
      <p:sp>
        <p:nvSpPr>
          <p:cNvPr id="1699" name="Google Shape;1699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$-23,183</a:t>
            </a:r>
            <a:endParaRPr/>
          </a:p>
        </p:txBody>
      </p:sp>
      <p:sp>
        <p:nvSpPr>
          <p:cNvPr id="1700" name="Google Shape;1700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1" name="Google Shape;1701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02" name="Google Shape;1702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$78,204</a:t>
            </a:r>
            <a:endParaRPr/>
          </a:p>
        </p:txBody>
      </p:sp>
      <p:sp>
        <p:nvSpPr>
          <p:cNvPr id="1703" name="Google Shape;1703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$65,276</a:t>
            </a:r>
            <a:endParaRPr/>
          </a:p>
        </p:txBody>
      </p:sp>
      <p:sp>
        <p:nvSpPr>
          <p:cNvPr id="1704" name="Google Shape;1704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05" name="Google Shape;1705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$12,928</a:t>
            </a:r>
            <a:endParaRPr/>
          </a:p>
        </p:txBody>
      </p:sp>
      <p:sp>
        <p:nvSpPr>
          <p:cNvPr id="1706" name="Google Shape;1706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$-12,928</a:t>
            </a:r>
            <a:endParaRPr/>
          </a:p>
        </p:txBody>
      </p:sp>
      <p:sp>
        <p:nvSpPr>
          <p:cNvPr id="1707" name="Google Shape;1707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8" name="Google Shape;1708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09" name="Google Shape;1709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$111,337</a:t>
            </a:r>
            <a:endParaRPr/>
          </a:p>
        </p:txBody>
      </p:sp>
      <p:sp>
        <p:nvSpPr>
          <p:cNvPr id="1710" name="Google Shape;1710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$91,407</a:t>
            </a:r>
            <a:endParaRPr/>
          </a:p>
        </p:txBody>
      </p:sp>
      <p:sp>
        <p:nvSpPr>
          <p:cNvPr id="1711" name="Google Shape;1711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12" name="Google Shape;1712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$19,930</a:t>
            </a:r>
            <a:endParaRPr/>
          </a:p>
        </p:txBody>
      </p:sp>
      <p:sp>
        <p:nvSpPr>
          <p:cNvPr id="1713" name="Google Shape;1713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$-37,864</a:t>
            </a:r>
            <a:endParaRPr/>
          </a:p>
        </p:txBody>
      </p:sp>
      <p:sp>
        <p:nvSpPr>
          <p:cNvPr id="1714" name="Google Shape;1714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5" name="Google Shape;1715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16" name="Google Shape;1716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$36,775</a:t>
            </a:r>
            <a:endParaRPr/>
          </a:p>
        </p:txBody>
      </p:sp>
      <p:sp>
        <p:nvSpPr>
          <p:cNvPr id="1717" name="Google Shape;1717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$16,336</a:t>
            </a:r>
            <a:endParaRPr/>
          </a:p>
        </p:txBody>
      </p:sp>
      <p:sp>
        <p:nvSpPr>
          <p:cNvPr id="1718" name="Google Shape;1718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19" name="Google Shape;1719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$20,438</a:t>
            </a:r>
            <a:endParaRPr/>
          </a:p>
        </p:txBody>
      </p:sp>
      <p:sp>
        <p:nvSpPr>
          <p:cNvPr id="1720" name="Google Shape;1720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$-36,208</a:t>
            </a:r>
            <a:endParaRPr/>
          </a:p>
        </p:txBody>
      </p:sp>
      <p:sp>
        <p:nvSpPr>
          <p:cNvPr id="1721" name="Google Shape;1721;p16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2" name="Google Shape;1722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723" name="Google Shape;1723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24" name="Google Shape;1724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25" name="Google Shape;1725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26" name="Google Shape;1726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27" name="Google Shape;1727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28" name="Google Shape;1728;p16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9" name="Google Shape;1729;p16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30" name="Google Shape;1730;p16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</a:t>
            </a:r>
            <a:endParaRPr/>
          </a:p>
        </p:txBody>
      </p:sp>
      <p:sp>
        <p:nvSpPr>
          <p:cNvPr id="1731" name="Google Shape;1731;p16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</a:t>
            </a:r>
            <a:endParaRPr/>
          </a:p>
        </p:txBody>
      </p:sp>
      <p:sp>
        <p:nvSpPr>
          <p:cNvPr id="1732" name="Google Shape;1732;p16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$23,591</a:t>
            </a:r>
            <a:endParaRPr/>
          </a:p>
        </p:txBody>
      </p:sp>
      <p:sp>
        <p:nvSpPr>
          <p:cNvPr id="1733" name="Google Shape;1733;p16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$53,710</a:t>
            </a:r>
            <a:endParaRPr/>
          </a:p>
        </p:txBody>
      </p:sp>
      <p:sp>
        <p:nvSpPr>
          <p:cNvPr id="1734" name="Google Shape;1734;p16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$-110,183</a:t>
            </a:r>
            <a:endParaRPr/>
          </a:p>
        </p:txBody>
      </p:sp>
      <p:sp>
        <p:nvSpPr>
          <p:cNvPr id="1735" name="Google Shape;1735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6" name="Google Shape;1736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737" name="Google Shape;1737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38" name="Google Shape;1738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739" name="Google Shape;1739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740" name="Google Shape;1740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741" name="Google Shape;1741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42" name="Google Shape;1742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43" name="Google Shape;1743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4" name="Google Shape;1744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45" name="Google Shape;1745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46" name="Google Shape;1746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47" name="Google Shape;1747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748" name="Google Shape;1748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749" name="Google Shape;1749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1750" name="Google Shape;1750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1" name="Google Shape;1751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52" name="Google Shape;1752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753" name="Google Shape;1753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54" name="Google Shape;1754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755" name="Google Shape;1755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56" name="Google Shape;1756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757" name="Google Shape;1757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8" name="Google Shape;1758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59" name="Google Shape;1759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60" name="Google Shape;1760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61" name="Google Shape;1761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62" name="Google Shape;1762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763" name="Google Shape;1763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1764" name="Google Shape;1764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5" name="Google Shape;1765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66" name="Google Shape;1766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767" name="Google Shape;1767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68" name="Google Shape;1768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69" name="Google Shape;1769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770" name="Google Shape;1770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771" name="Google Shape;1771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2" name="Google Shape;1772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73" name="Google Shape;1773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774" name="Google Shape;1774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75" name="Google Shape;1775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776" name="Google Shape;1776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777" name="Google Shape;1777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1778" name="Google Shape;1778;p16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9" name="Google Shape;1779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780" name="Google Shape;1780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81" name="Google Shape;1781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82" name="Google Shape;1782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83" name="Google Shape;1783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784" name="Google Shape;1784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785" name="Google Shape;1785;p16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6" name="Google Shape;1786;p16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87" name="Google Shape;1787;p1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141</a:t>
            </a:r>
            <a:endParaRPr/>
          </a:p>
        </p:txBody>
      </p:sp>
      <p:sp>
        <p:nvSpPr>
          <p:cNvPr id="1788" name="Google Shape;1788;p16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789" name="Google Shape;1789;p16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</p:txBody>
      </p:sp>
      <p:sp>
        <p:nvSpPr>
          <p:cNvPr id="1790" name="Google Shape;1790;p16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1792" name="Google Shape;1792;p16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3" name="Google Shape;1793;p16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1794" name="Google Shape;1794;p16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795" name="Google Shape;1795;p16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796" name="Google Shape;1796;p16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797" name="Google Shape;1797;p1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798" name="Google Shape;1798;p16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799" name="Google Shape;1799;p16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800" name="Google Shape;1800;p16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801" name="Google Shape;1801;p16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802" name="Google Shape;1802;p16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803" name="Google Shape;1803;p16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804" name="Google Shape;1804;p16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805" name="Google Shape;1805;p16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1806" name="Google Shape;1806;p16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1807" name="Google Shape;1807;p1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1808" name="Google Shape;1808;p16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1809" name="Google Shape;1809;p16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10" name="Google Shape;1810;p16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811" name="Google Shape;1811;p16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812" name="Google Shape;1812;p16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13" name="Google Shape;1813;p16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814" name="Google Shape;1814;p16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15" name="Google Shape;1815;p16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816" name="Google Shape;1816;p16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817" name="Google Shape;1817;p1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818" name="Google Shape;1818;p16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819" name="Google Shape;1819;p16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820" name="Google Shape;1820;p16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1821" name="Google Shape;1821;p16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822" name="Google Shape;1822;p16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1823" name="Google Shape;1823;p16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1824" name="Google Shape;1824;p16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825" name="Google Shape;1825;p16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26" name="Google Shape;1826;p16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$64K</a:t>
            </a:r>
            <a:endParaRPr/>
          </a:p>
        </p:txBody>
      </p:sp>
      <p:sp>
        <p:nvSpPr>
          <p:cNvPr id="1827" name="Google Shape;1827;p1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1828" name="Google Shape;1828;p16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</a:t>
            </a:r>
            <a:endParaRPr/>
          </a:p>
        </p:txBody>
      </p:sp>
      <p:sp>
        <p:nvSpPr>
          <p:cNvPr id="1829" name="Google Shape;1829;p16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30" name="Google Shape;1830;p16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1831" name="Google Shape;1831;p16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32" name="Google Shape;1832;p16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$111K</a:t>
            </a:r>
            <a:endParaRPr/>
          </a:p>
        </p:txBody>
      </p:sp>
      <p:sp>
        <p:nvSpPr>
          <p:cNvPr id="1833" name="Google Shape;1833;p16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34" name="Google Shape;1834;p16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1835" name="Google Shape;1835;p16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36" name="Google Shape;1836;p16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37" name="Google Shape;1837;p1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1838" name="Google Shape;1838;p16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$290K</a:t>
            </a:r>
            <a:endParaRPr/>
          </a:p>
        </p:txBody>
      </p:sp>
      <p:sp>
        <p:nvSpPr>
          <p:cNvPr id="1839" name="Google Shape;1839;p16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0" name="Google Shape;1840;p16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841" name="Google Shape;1841;p16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42" name="Google Shape;1842;p16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$290,447 YTD gross written premium</a:t>
            </a:r>
            <a:endParaRPr/>
          </a:p>
        </p:txBody>
      </p:sp>
      <p:sp>
        <p:nvSpPr>
          <p:cNvPr id="1843" name="Google Shape;1843;p16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44" name="Google Shape;1844;p16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$213,147 in new business production</a:t>
            </a:r>
            <a:endParaRPr/>
          </a:p>
        </p:txBody>
      </p:sp>
      <p:sp>
        <p:nvSpPr>
          <p:cNvPr id="1845" name="Google Shape;1845;p16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6" name="Google Shape;1846;p16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847" name="Google Shape;1847;p1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48" name="Google Shape;1848;p16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52% of new business ($110,183)</a:t>
            </a:r>
            <a:endParaRPr/>
          </a:p>
        </p:txBody>
      </p:sp>
      <p:sp>
        <p:nvSpPr>
          <p:cNvPr id="1849" name="Google Shape;1849;p1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50" name="Google Shape;1850;p16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67% month-over-month</a:t>
            </a:r>
            <a:endParaRPr/>
          </a:p>
        </p:txBody>
      </p:sp>
      <p:sp>
        <p:nvSpPr>
          <p:cNvPr id="1851" name="Google Shape;1851;p1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2" name="Google Shape;1852;p16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853" name="Google Shape;1853;p16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854" name="Google Shape;1854;p16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$213,147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855" name="Google Shape;1855;p16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856" name="Google Shape;1856;p16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$110,183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60" name="Shape 1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1" name="Google Shape;1861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2" name="Google Shape;1862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Fredrick B. Roberson Insurance Services, Inc.</a:t>
            </a:r>
            <a:endParaRPr/>
          </a:p>
        </p:txBody>
      </p:sp>
      <p:sp>
        <p:nvSpPr>
          <p:cNvPr id="1863" name="Google Shape;1863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California  |  City: Redding</a:t>
            </a:r>
            <a:endParaRPr/>
          </a:p>
        </p:txBody>
      </p:sp>
      <p:sp>
        <p:nvSpPr>
          <p:cNvPr id="1864" name="Google Shape;1864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$285,510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65" name="Google Shape;1865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$198,031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66" name="Google Shape;1866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67" name="Google Shape;1867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$87,480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68" name="Google Shape;1868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$-134,613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69" name="Google Shape;1869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$652,204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870" name="Google Shape;1870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$566,203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871" name="Google Shape;1871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872" name="Google Shape;1872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73" name="Google Shape;1873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74" name="Google Shape;1874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75" name="Google Shape;1875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876" name="Google Shape;1876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$194,100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877" name="Google Shape;1877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8" name="Google Shape;1878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879" name="Google Shape;1879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80" name="Google Shape;1880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881" name="Google Shape;1881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82" name="Google Shape;1882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83" name="Google Shape;1883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84" name="Google Shape;1884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85" name="Google Shape;1885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6" name="Google Shape;1886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87" name="Google Shape;1887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$46,132</a:t>
            </a:r>
            <a:endParaRPr/>
          </a:p>
        </p:txBody>
      </p:sp>
      <p:sp>
        <p:nvSpPr>
          <p:cNvPr id="1888" name="Google Shape;1888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$46,132</a:t>
            </a:r>
            <a:endParaRPr/>
          </a:p>
        </p:txBody>
      </p:sp>
      <p:sp>
        <p:nvSpPr>
          <p:cNvPr id="1889" name="Google Shape;1889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0" name="Google Shape;1890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1" name="Google Shape;1891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$-45,513</a:t>
            </a:r>
            <a:endParaRPr/>
          </a:p>
        </p:txBody>
      </p:sp>
      <p:sp>
        <p:nvSpPr>
          <p:cNvPr id="1892" name="Google Shape;1892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3" name="Google Shape;1893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94" name="Google Shape;1894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$92,512</a:t>
            </a:r>
            <a:endParaRPr/>
          </a:p>
        </p:txBody>
      </p:sp>
      <p:sp>
        <p:nvSpPr>
          <p:cNvPr id="1895" name="Google Shape;1895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$50,299</a:t>
            </a:r>
            <a:endParaRPr/>
          </a:p>
        </p:txBody>
      </p:sp>
      <p:sp>
        <p:nvSpPr>
          <p:cNvPr id="1896" name="Google Shape;1896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97" name="Google Shape;1897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$42,214</a:t>
            </a:r>
            <a:endParaRPr/>
          </a:p>
        </p:txBody>
      </p:sp>
      <p:sp>
        <p:nvSpPr>
          <p:cNvPr id="1898" name="Google Shape;1898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$-42,214</a:t>
            </a:r>
            <a:endParaRPr/>
          </a:p>
        </p:txBody>
      </p:sp>
      <p:sp>
        <p:nvSpPr>
          <p:cNvPr id="1899" name="Google Shape;1899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0" name="Google Shape;1900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01" name="Google Shape;1901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$59,813</a:t>
            </a:r>
            <a:endParaRPr/>
          </a:p>
        </p:txBody>
      </p:sp>
      <p:sp>
        <p:nvSpPr>
          <p:cNvPr id="1902" name="Google Shape;1902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$12,926</a:t>
            </a:r>
            <a:endParaRPr/>
          </a:p>
        </p:txBody>
      </p:sp>
      <p:sp>
        <p:nvSpPr>
          <p:cNvPr id="1903" name="Google Shape;1903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4" name="Google Shape;1904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$46,887</a:t>
            </a:r>
            <a:endParaRPr/>
          </a:p>
        </p:txBody>
      </p:sp>
      <p:sp>
        <p:nvSpPr>
          <p:cNvPr id="1905" name="Google Shape;1905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$-46,887</a:t>
            </a:r>
            <a:endParaRPr/>
          </a:p>
        </p:txBody>
      </p:sp>
      <p:sp>
        <p:nvSpPr>
          <p:cNvPr id="1906" name="Google Shape;1906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7" name="Google Shape;1907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08" name="Google Shape;1908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9" name="Google Shape;1909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10" name="Google Shape;1910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11" name="Google Shape;1911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12" name="Google Shape;1912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13" name="Google Shape;1913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4" name="Google Shape;1914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15" name="Google Shape;1915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$87,053</a:t>
            </a:r>
            <a:endParaRPr/>
          </a:p>
        </p:txBody>
      </p:sp>
      <p:sp>
        <p:nvSpPr>
          <p:cNvPr id="1916" name="Google Shape;1916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$88,674</a:t>
            </a:r>
            <a:endParaRPr/>
          </a:p>
        </p:txBody>
      </p:sp>
      <p:sp>
        <p:nvSpPr>
          <p:cNvPr id="1917" name="Google Shape;1917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18" name="Google Shape;1918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$-1,620</a:t>
            </a:r>
            <a:endParaRPr/>
          </a:p>
        </p:txBody>
      </p:sp>
      <p:sp>
        <p:nvSpPr>
          <p:cNvPr id="1919" name="Google Shape;1919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20" name="Google Shape;1920;p17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1" name="Google Shape;1921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922" name="Google Shape;1922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23" name="Google Shape;1923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24" name="Google Shape;1924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25" name="Google Shape;1925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26" name="Google Shape;1926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27" name="Google Shape;1927;p1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8" name="Google Shape;1928;p17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29" name="Google Shape;1929;p17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$285,510</a:t>
            </a:r>
            <a:endParaRPr/>
          </a:p>
        </p:txBody>
      </p:sp>
      <p:sp>
        <p:nvSpPr>
          <p:cNvPr id="1930" name="Google Shape;1930;p17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$198,031</a:t>
            </a:r>
            <a:endParaRPr/>
          </a:p>
        </p:txBody>
      </p:sp>
      <p:sp>
        <p:nvSpPr>
          <p:cNvPr id="1931" name="Google Shape;1931;p17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32" name="Google Shape;1932;p17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$87,480</a:t>
            </a:r>
            <a:endParaRPr/>
          </a:p>
        </p:txBody>
      </p:sp>
      <p:sp>
        <p:nvSpPr>
          <p:cNvPr id="1933" name="Google Shape;1933;p17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$-134,613</a:t>
            </a:r>
            <a:endParaRPr/>
          </a:p>
        </p:txBody>
      </p:sp>
      <p:sp>
        <p:nvSpPr>
          <p:cNvPr id="1934" name="Google Shape;1934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5" name="Google Shape;1935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936" name="Google Shape;1936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37" name="Google Shape;1937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938" name="Google Shape;1938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939" name="Google Shape;1939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940" name="Google Shape;1940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41" name="Google Shape;1941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42" name="Google Shape;1942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3" name="Google Shape;1943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44" name="Google Shape;1944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1945" name="Google Shape;1945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46" name="Google Shape;1946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1947" name="Google Shape;1947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48" name="Google Shape;1948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1949" name="Google Shape;1949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0" name="Google Shape;1950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51" name="Google Shape;1951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952" name="Google Shape;1952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953" name="Google Shape;1953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954" name="Google Shape;1954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55" name="Google Shape;1955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8.8%</a:t>
            </a:r>
            <a:endParaRPr/>
          </a:p>
        </p:txBody>
      </p:sp>
      <p:sp>
        <p:nvSpPr>
          <p:cNvPr id="1956" name="Google Shape;1956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7" name="Google Shape;1957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959" name="Google Shape;1959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960" name="Google Shape;1960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961" name="Google Shape;1961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62" name="Google Shape;1962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1963" name="Google Shape;1963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4" name="Google Shape;1964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65" name="Google Shape;1965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966" name="Google Shape;1966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67" name="Google Shape;1967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968" name="Google Shape;1968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969" name="Google Shape;1969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2.6%</a:t>
            </a:r>
            <a:endParaRPr/>
          </a:p>
        </p:txBody>
      </p:sp>
      <p:sp>
        <p:nvSpPr>
          <p:cNvPr id="1970" name="Google Shape;1970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1" name="Google Shape;1971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72" name="Google Shape;1972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973" name="Google Shape;1973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974" name="Google Shape;1974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975" name="Google Shape;1975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976" name="Google Shape;1976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1977" name="Google Shape;1977;p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8" name="Google Shape;1978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979" name="Google Shape;1979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80" name="Google Shape;1980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81" name="Google Shape;1981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82" name="Google Shape;1982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983" name="Google Shape;1983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984" name="Google Shape;1984;p17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5" name="Google Shape;1985;p17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86" name="Google Shape;1986;p17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148</a:t>
            </a:r>
            <a:endParaRPr/>
          </a:p>
        </p:txBody>
      </p:sp>
      <p:sp>
        <p:nvSpPr>
          <p:cNvPr id="1987" name="Google Shape;1987;p1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988" name="Google Shape;1988;p17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130</a:t>
            </a:r>
            <a:endParaRPr/>
          </a:p>
        </p:txBody>
      </p:sp>
      <p:sp>
        <p:nvSpPr>
          <p:cNvPr id="1989" name="Google Shape;1989;p17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990" name="Google Shape;1990;p17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1991" name="Google Shape;1991;p17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2" name="Google Shape;1992;p17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1993" name="Google Shape;1993;p17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94" name="Google Shape;1994;p17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995" name="Google Shape;1995;p17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996" name="Google Shape;1996;p17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997" name="Google Shape;1997;p1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998" name="Google Shape;1998;p17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999" name="Google Shape;1999;p17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000" name="Google Shape;2000;p17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001" name="Google Shape;2001;p17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002" name="Google Shape;2002;p17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003" name="Google Shape;2003;p17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004" name="Google Shape;2004;p17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2005" name="Google Shape;2005;p17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2006" name="Google Shape;2006;p17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2007" name="Google Shape;2007;p1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2008" name="Google Shape;2008;p17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09" name="Google Shape;2009;p17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010" name="Google Shape;2010;p17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011" name="Google Shape;2011;p17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012" name="Google Shape;2012;p17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013" name="Google Shape;2013;p17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014" name="Google Shape;2014;p17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015" name="Google Shape;2015;p17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016" name="Google Shape;2016;p17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017" name="Google Shape;2017;p1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018" name="Google Shape;2018;p17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019" name="Google Shape;2019;p17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020" name="Google Shape;2020;p17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21" name="Google Shape;2021;p17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2022" name="Google Shape;2022;p17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157</a:t>
            </a:r>
            <a:endParaRPr/>
          </a:p>
        </p:txBody>
      </p:sp>
      <p:sp>
        <p:nvSpPr>
          <p:cNvPr id="2023" name="Google Shape;2023;p17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024" name="Google Shape;2024;p17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2025" name="Google Shape;2025;p17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2026" name="Google Shape;2026;p17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2027" name="Google Shape;2027;p1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2028" name="Google Shape;2028;p17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2029" name="Google Shape;2029;p17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2030" name="Google Shape;2030;p17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2031" name="Google Shape;2031;p17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2" name="Google Shape;2032;p17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$232K</a:t>
            </a:r>
            <a:endParaRPr/>
          </a:p>
        </p:txBody>
      </p:sp>
      <p:sp>
        <p:nvSpPr>
          <p:cNvPr id="2033" name="Google Shape;2033;p17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$87K</a:t>
            </a:r>
            <a:endParaRPr/>
          </a:p>
        </p:txBody>
      </p:sp>
      <p:sp>
        <p:nvSpPr>
          <p:cNvPr id="2034" name="Google Shape;2034;p17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2035" name="Google Shape;2035;p17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36" name="Google Shape;2036;p17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$372K</a:t>
            </a:r>
            <a:endParaRPr/>
          </a:p>
        </p:txBody>
      </p:sp>
      <p:sp>
        <p:nvSpPr>
          <p:cNvPr id="2037" name="Google Shape;2037;p1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$286K</a:t>
            </a:r>
            <a:endParaRPr/>
          </a:p>
        </p:txBody>
      </p:sp>
      <p:sp>
        <p:nvSpPr>
          <p:cNvPr id="2038" name="Google Shape;2038;p17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9" name="Google Shape;2039;p17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040" name="Google Shape;2040;p17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41" name="Google Shape;2041;p17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$285,510 YTD gross written premium</a:t>
            </a:r>
            <a:endParaRPr/>
          </a:p>
        </p:txBody>
      </p:sp>
      <p:sp>
        <p:nvSpPr>
          <p:cNvPr id="2042" name="Google Shape;2042;p17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43" name="Google Shape;2043;p17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$198,031 in new business production</a:t>
            </a:r>
            <a:endParaRPr/>
          </a:p>
        </p:txBody>
      </p:sp>
      <p:sp>
        <p:nvSpPr>
          <p:cNvPr id="2044" name="Google Shape;2044;p17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5" name="Google Shape;2045;p17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046" name="Google Shape;2046;p17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47" name="Google Shape;2047;p1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68% of new business ($134,613)</a:t>
            </a:r>
            <a:endParaRPr/>
          </a:p>
        </p:txBody>
      </p:sp>
      <p:sp>
        <p:nvSpPr>
          <p:cNvPr id="2048" name="Google Shape;2048;p17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9" name="Google Shape;2049;p1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050" name="Google Shape;2050;p17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051" name="Google Shape;2051;p17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$198,031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052" name="Google Shape;2052;p17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053" name="Google Shape;2053;p17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$134,613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57" name="Shape 2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" name="Google Shape;2058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9" name="Google Shape;2059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Millan Group, Inc.</a:t>
            </a:r>
            <a:endParaRPr/>
          </a:p>
        </p:txBody>
      </p:sp>
      <p:sp>
        <p:nvSpPr>
          <p:cNvPr id="2060" name="Google Shape;2060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CA  |  City: N/A</a:t>
            </a:r>
            <a:endParaRPr/>
          </a:p>
        </p:txBody>
      </p:sp>
      <p:sp>
        <p:nvSpPr>
          <p:cNvPr id="2061" name="Google Shape;2061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062" name="Google Shape;2062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63" name="Google Shape;2063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64" name="Google Shape;2064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65" name="Google Shape;2065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$-184,861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66" name="Google Shape;2066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$82,176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067" name="Google Shape;2067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$287,576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068" name="Google Shape;2068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069" name="Google Shape;2069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70" name="Google Shape;2070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71" name="Google Shape;2071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72" name="Google Shape;2072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$172,270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073" name="Google Shape;2073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$29,140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074" name="Google Shape;2074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5" name="Google Shape;2075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076" name="Google Shape;2076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77" name="Google Shape;2077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078" name="Google Shape;2078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79" name="Google Shape;2079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80" name="Google Shape;2080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81" name="Google Shape;2081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82" name="Google Shape;2082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3" name="Google Shape;2083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84" name="Google Shape;2084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$176,420</a:t>
            </a:r>
            <a:endParaRPr/>
          </a:p>
        </p:txBody>
      </p:sp>
      <p:sp>
        <p:nvSpPr>
          <p:cNvPr id="2085" name="Google Shape;2085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$176,420</a:t>
            </a:r>
            <a:endParaRPr/>
          </a:p>
        </p:txBody>
      </p:sp>
      <p:sp>
        <p:nvSpPr>
          <p:cNvPr id="2086" name="Google Shape;2086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87" name="Google Shape;2087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88" name="Google Shape;2088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89" name="Google Shape;2089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0" name="Google Shape;2090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91" name="Google Shape;2091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92" name="Google Shape;2092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93" name="Google Shape;2093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94" name="Google Shape;2094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95" name="Google Shape;2095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$-13,414</a:t>
            </a:r>
            <a:endParaRPr/>
          </a:p>
        </p:txBody>
      </p:sp>
      <p:sp>
        <p:nvSpPr>
          <p:cNvPr id="2096" name="Google Shape;2096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7" name="Google Shape;2097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98" name="Google Shape;2098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099" name="Google Shape;2099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0" name="Google Shape;2100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1" name="Google Shape;2101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102" name="Google Shape;2102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3" name="Google Shape;2103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4" name="Google Shape;2104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05" name="Google Shape;2105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$29,140</a:t>
            </a:r>
            <a:endParaRPr/>
          </a:p>
        </p:txBody>
      </p:sp>
      <p:sp>
        <p:nvSpPr>
          <p:cNvPr id="2106" name="Google Shape;2106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$29,140</a:t>
            </a:r>
            <a:endParaRPr/>
          </a:p>
        </p:txBody>
      </p:sp>
      <p:sp>
        <p:nvSpPr>
          <p:cNvPr id="2107" name="Google Shape;2107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8" name="Google Shape;2108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09" name="Google Shape;2109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$-14,284</a:t>
            </a:r>
            <a:endParaRPr/>
          </a:p>
        </p:txBody>
      </p:sp>
      <p:sp>
        <p:nvSpPr>
          <p:cNvPr id="2110" name="Google Shape;2110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1" name="Google Shape;2111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12" name="Google Shape;2112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13" name="Google Shape;2113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14" name="Google Shape;2114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15" name="Google Shape;2115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16" name="Google Shape;2116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$-157,164</a:t>
            </a:r>
            <a:endParaRPr/>
          </a:p>
        </p:txBody>
      </p:sp>
      <p:sp>
        <p:nvSpPr>
          <p:cNvPr id="2117" name="Google Shape;2117;p18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8" name="Google Shape;2118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119" name="Google Shape;2119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0" name="Google Shape;2120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1" name="Google Shape;2121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2" name="Google Shape;2122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3" name="Google Shape;2123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4" name="Google Shape;2124;p18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5" name="Google Shape;2125;p1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26" name="Google Shape;2126;p18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</a:t>
            </a:r>
            <a:endParaRPr/>
          </a:p>
        </p:txBody>
      </p:sp>
      <p:sp>
        <p:nvSpPr>
          <p:cNvPr id="2127" name="Google Shape;2127;p18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</a:t>
            </a:r>
            <a:endParaRPr/>
          </a:p>
        </p:txBody>
      </p:sp>
      <p:sp>
        <p:nvSpPr>
          <p:cNvPr id="2128" name="Google Shape;2128;p18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29" name="Google Shape;2129;p18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130" name="Google Shape;2130;p18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$-184,861</a:t>
            </a:r>
            <a:endParaRPr/>
          </a:p>
        </p:txBody>
      </p:sp>
      <p:sp>
        <p:nvSpPr>
          <p:cNvPr id="2131" name="Google Shape;2131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2" name="Google Shape;2132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133" name="Google Shape;2133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34" name="Google Shape;2134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135" name="Google Shape;2135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136" name="Google Shape;2136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137" name="Google Shape;2137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38" name="Google Shape;2138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39" name="Google Shape;2139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0" name="Google Shape;2140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41" name="Google Shape;2141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142" name="Google Shape;2142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43" name="Google Shape;2143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144" name="Google Shape;2144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45" name="Google Shape;2145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2146" name="Google Shape;2146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7" name="Google Shape;2147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48" name="Google Shape;2148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50" name="Google Shape;2150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151" name="Google Shape;2151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52" name="Google Shape;2152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153" name="Google Shape;2153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4" name="Google Shape;2154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55" name="Google Shape;2155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156" name="Google Shape;2156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57" name="Google Shape;2157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58" name="Google Shape;2158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59" name="Google Shape;2159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2160" name="Google Shape;2160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1" name="Google Shape;2161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62" name="Google Shape;2162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163" name="Google Shape;2163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64" name="Google Shape;2164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165" name="Google Shape;2165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66" name="Google Shape;2166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2167" name="Google Shape;2167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8" name="Google Shape;2168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69" name="Google Shape;2169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170" name="Google Shape;2170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71" name="Google Shape;2171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72" name="Google Shape;2172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73" name="Google Shape;2173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174" name="Google Shape;2174;p18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5" name="Google Shape;2175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176" name="Google Shape;2176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77" name="Google Shape;2177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78" name="Google Shape;2178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79" name="Google Shape;2179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180" name="Google Shape;2180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181" name="Google Shape;2181;p18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2" name="Google Shape;2182;p18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83" name="Google Shape;2183;p18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2184" name="Google Shape;2184;p18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185" name="Google Shape;2185;p1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186" name="Google Shape;2186;p18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187" name="Google Shape;2187;p18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2188" name="Google Shape;2188;p18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9" name="Google Shape;2189;p18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2190" name="Google Shape;2190;p18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191" name="Google Shape;2191;p18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192" name="Google Shape;2192;p18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193" name="Google Shape;2193;p18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94" name="Google Shape;2194;p18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95" name="Google Shape;2195;p1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96" name="Google Shape;2196;p18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97" name="Google Shape;2197;p18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98" name="Google Shape;2198;p18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99" name="Google Shape;2199;p18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200" name="Google Shape;2200;p18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201" name="Google Shape;2201;p18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2202" name="Google Shape;2202;p18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2203" name="Google Shape;2203;p18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2204" name="Google Shape;2204;p18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2205" name="Google Shape;2205;p1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06" name="Google Shape;2206;p18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07" name="Google Shape;2207;p18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208" name="Google Shape;2208;p18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09" name="Google Shape;2209;p18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210" name="Google Shape;2210;p18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11" name="Google Shape;2211;p18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12" name="Google Shape;2212;p18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13" name="Google Shape;2213;p18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214" name="Google Shape;2214;p18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15" name="Google Shape;2215;p1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16" name="Google Shape;2216;p18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17" name="Google Shape;2217;p18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18" name="Google Shape;2218;p18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219" name="Google Shape;2219;p18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2220" name="Google Shape;2220;p18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221" name="Google Shape;2221;p18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2" name="Google Shape;2222;p18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$176K</a:t>
            </a:r>
            <a:endParaRPr/>
          </a:p>
        </p:txBody>
      </p:sp>
      <p:sp>
        <p:nvSpPr>
          <p:cNvPr id="2223" name="Google Shape;2223;p18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4" name="Google Shape;2224;p18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5" name="Google Shape;2225;p1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6" name="Google Shape;2226;p18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$-161</a:t>
            </a:r>
            <a:endParaRPr/>
          </a:p>
        </p:txBody>
      </p:sp>
      <p:sp>
        <p:nvSpPr>
          <p:cNvPr id="2227" name="Google Shape;2227;p18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28" name="Google Shape;2228;p18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2229" name="Google Shape;2229;p18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0" name="Google Shape;2230;p18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1" name="Google Shape;2231;p18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2" name="Google Shape;2232;p18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3" name="Google Shape;2233;p18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34" name="Google Shape;2234;p18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$205K</a:t>
            </a:r>
            <a:endParaRPr/>
          </a:p>
        </p:txBody>
      </p:sp>
      <p:sp>
        <p:nvSpPr>
          <p:cNvPr id="2235" name="Google Shape;2235;p1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6" name="Google Shape;2236;p18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237" name="Google Shape;2237;p18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238" name="Google Shape;2238;p18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$205,400 YTD gross written premium</a:t>
            </a:r>
            <a:endParaRPr/>
          </a:p>
        </p:txBody>
      </p:sp>
      <p:sp>
        <p:nvSpPr>
          <p:cNvPr id="2239" name="Google Shape;2239;p18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240" name="Google Shape;2240;p18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$205,561 in new business production</a:t>
            </a:r>
            <a:endParaRPr/>
          </a:p>
        </p:txBody>
      </p:sp>
      <p:sp>
        <p:nvSpPr>
          <p:cNvPr id="2241" name="Google Shape;2241;p18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2" name="Google Shape;2242;p18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243" name="Google Shape;2243;p18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244" name="Google Shape;2244;p18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90% of new business ($184,861)</a:t>
            </a:r>
            <a:endParaRPr/>
          </a:p>
        </p:txBody>
      </p:sp>
      <p:sp>
        <p:nvSpPr>
          <p:cNvPr id="2245" name="Google Shape;2245;p1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246" name="Google Shape;2246;p18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2247" name="Google Shape;2247;p1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8" name="Google Shape;2248;p18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249" name="Google Shape;2249;p1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250" name="Google Shape;2250;p18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$205,561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251" name="Google Shape;2251;p18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252" name="Google Shape;2252;p18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$184,861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56" name="Shape 2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8" name="Google Shape;2258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Specialists Insurance Services, Inc.</a:t>
            </a:r>
            <a:endParaRPr/>
          </a:p>
        </p:txBody>
      </p:sp>
      <p:sp>
        <p:nvSpPr>
          <p:cNvPr id="2259" name="Google Shape;2259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Newbury Park</a:t>
            </a:r>
            <a:endParaRPr/>
          </a:p>
        </p:txBody>
      </p:sp>
      <p:sp>
        <p:nvSpPr>
          <p:cNvPr id="2260" name="Google Shape;2260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$153,474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261" name="Google Shape;2261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$153,981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62" name="Google Shape;2262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63" name="Google Shape;2263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64" name="Google Shape;2264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65" name="Google Shape;2265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266" name="Google Shape;2266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$209,770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267" name="Google Shape;2267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268" name="Google Shape;2268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69" name="Google Shape;2269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70" name="Google Shape;2270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71" name="Google Shape;2271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$132,127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272" name="Google Shape;2272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273" name="Google Shape;2273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4" name="Google Shape;2274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275" name="Google Shape;2275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76" name="Google Shape;2276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277" name="Google Shape;2277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278" name="Google Shape;2278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279" name="Google Shape;2279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280" name="Google Shape;2280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281" name="Google Shape;2281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2" name="Google Shape;2282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83" name="Google Shape;2283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284" name="Google Shape;2284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85" name="Google Shape;2285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86" name="Google Shape;2286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287" name="Google Shape;2287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88" name="Google Shape;2288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9" name="Google Shape;2289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90" name="Google Shape;2290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2291" name="Google Shape;2291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92" name="Google Shape;2292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93" name="Google Shape;2293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2294" name="Google Shape;2294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95" name="Google Shape;2295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6" name="Google Shape;2296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97" name="Google Shape;2297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$7,739</a:t>
            </a:r>
            <a:endParaRPr/>
          </a:p>
        </p:txBody>
      </p:sp>
      <p:sp>
        <p:nvSpPr>
          <p:cNvPr id="2298" name="Google Shape;2298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$5,919</a:t>
            </a:r>
            <a:endParaRPr/>
          </a:p>
        </p:txBody>
      </p:sp>
      <p:sp>
        <p:nvSpPr>
          <p:cNvPr id="2299" name="Google Shape;2299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0" name="Google Shape;2300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$1,820</a:t>
            </a:r>
            <a:endParaRPr/>
          </a:p>
        </p:txBody>
      </p:sp>
      <p:sp>
        <p:nvSpPr>
          <p:cNvPr id="2301" name="Google Shape;2301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$-1,820</a:t>
            </a:r>
            <a:endParaRPr/>
          </a:p>
        </p:txBody>
      </p:sp>
      <p:sp>
        <p:nvSpPr>
          <p:cNvPr id="2302" name="Google Shape;2302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3" name="Google Shape;2303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04" name="Google Shape;2304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$-245</a:t>
            </a:r>
            <a:endParaRPr/>
          </a:p>
        </p:txBody>
      </p:sp>
      <p:sp>
        <p:nvSpPr>
          <p:cNvPr id="2305" name="Google Shape;2305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6" name="Google Shape;2306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7" name="Google Shape;2307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$-245</a:t>
            </a:r>
            <a:endParaRPr/>
          </a:p>
        </p:txBody>
      </p:sp>
      <p:sp>
        <p:nvSpPr>
          <p:cNvPr id="2308" name="Google Shape;2308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$-15,599</a:t>
            </a:r>
            <a:endParaRPr/>
          </a:p>
        </p:txBody>
      </p:sp>
      <p:sp>
        <p:nvSpPr>
          <p:cNvPr id="2309" name="Google Shape;2309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0" name="Google Shape;2310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11" name="Google Shape;2311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$146,244</a:t>
            </a:r>
            <a:endParaRPr/>
          </a:p>
        </p:txBody>
      </p:sp>
      <p:sp>
        <p:nvSpPr>
          <p:cNvPr id="2312" name="Google Shape;2312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$148,062</a:t>
            </a:r>
            <a:endParaRPr/>
          </a:p>
        </p:txBody>
      </p:sp>
      <p:sp>
        <p:nvSpPr>
          <p:cNvPr id="2313" name="Google Shape;2313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14" name="Google Shape;2314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$-1,817</a:t>
            </a:r>
            <a:endParaRPr/>
          </a:p>
        </p:txBody>
      </p:sp>
      <p:sp>
        <p:nvSpPr>
          <p:cNvPr id="2315" name="Google Shape;2315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16" name="Google Shape;2316;p19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7" name="Google Shape;2317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318" name="Google Shape;2318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19" name="Google Shape;2319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20" name="Google Shape;2320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21" name="Google Shape;2321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22" name="Google Shape;2322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23" name="Google Shape;2323;p19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4" name="Google Shape;2324;p19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$153,474</a:t>
            </a:r>
            <a:endParaRPr/>
          </a:p>
        </p:txBody>
      </p:sp>
      <p:sp>
        <p:nvSpPr>
          <p:cNvPr id="2326" name="Google Shape;2326;p19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$153,981</a:t>
            </a:r>
            <a:endParaRPr/>
          </a:p>
        </p:txBody>
      </p:sp>
      <p:sp>
        <p:nvSpPr>
          <p:cNvPr id="2327" name="Google Shape;2327;p19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28" name="Google Shape;2328;p19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$-507</a:t>
            </a:r>
            <a:endParaRPr/>
          </a:p>
        </p:txBody>
      </p:sp>
      <p:sp>
        <p:nvSpPr>
          <p:cNvPr id="2329" name="Google Shape;2329;p19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$-17,419</a:t>
            </a:r>
            <a:endParaRPr/>
          </a:p>
        </p:txBody>
      </p:sp>
      <p:sp>
        <p:nvSpPr>
          <p:cNvPr id="2330" name="Google Shape;2330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1" name="Google Shape;2331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332" name="Google Shape;2332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33" name="Google Shape;2333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34" name="Google Shape;2334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335" name="Google Shape;2335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336" name="Google Shape;2336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37" name="Google Shape;2337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38" name="Google Shape;2338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9" name="Google Shape;2339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40" name="Google Shape;2340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341" name="Google Shape;2341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42" name="Google Shape;2342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343" name="Google Shape;2343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44" name="Google Shape;2344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2345" name="Google Shape;2345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6" name="Google Shape;2346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47" name="Google Shape;2347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348" name="Google Shape;2348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49" name="Google Shape;2349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350" name="Google Shape;2350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51" name="Google Shape;2351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352" name="Google Shape;2352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3" name="Google Shape;2353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354" name="Google Shape;2354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355" name="Google Shape;2355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56" name="Google Shape;2356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357" name="Google Shape;2357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358" name="Google Shape;2358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359" name="Google Shape;2359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0" name="Google Shape;2360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61" name="Google Shape;2361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362" name="Google Shape;2362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363" name="Google Shape;2363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364" name="Google Shape;2364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65" name="Google Shape;2365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2366" name="Google Shape;2366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7" name="Google Shape;2367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68" name="Google Shape;2368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369" name="Google Shape;2369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70" name="Google Shape;2370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371" name="Google Shape;2371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372" name="Google Shape;2372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37.5%</a:t>
            </a:r>
            <a:endParaRPr/>
          </a:p>
        </p:txBody>
      </p:sp>
      <p:sp>
        <p:nvSpPr>
          <p:cNvPr id="2373" name="Google Shape;2373;p19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4" name="Google Shape;2374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375" name="Google Shape;2375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76" name="Google Shape;2376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77" name="Google Shape;2377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78" name="Google Shape;2378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79" name="Google Shape;2379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380" name="Google Shape;2380;p19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1" name="Google Shape;2381;p19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82" name="Google Shape;2382;p19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383" name="Google Shape;2383;p19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384" name="Google Shape;2384;p19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385" name="Google Shape;2385;p1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386" name="Google Shape;2386;p19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10.3%</a:t>
            </a:r>
            <a:endParaRPr/>
          </a:p>
        </p:txBody>
      </p:sp>
      <p:sp>
        <p:nvSpPr>
          <p:cNvPr id="2387" name="Google Shape;2387;p19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8" name="Google Shape;2388;p19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2389" name="Google Shape;2389;p19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390" name="Google Shape;2390;p19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391" name="Google Shape;2391;p19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392" name="Google Shape;2392;p19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393" name="Google Shape;2393;p19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394" name="Google Shape;2394;p19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395" name="Google Shape;2395;p1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396" name="Google Shape;2396;p19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397" name="Google Shape;2397;p19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398" name="Google Shape;2398;p19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399" name="Google Shape;2399;p19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400" name="Google Shape;2400;p19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2401" name="Google Shape;2401;p19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2402" name="Google Shape;2402;p19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2403" name="Google Shape;2403;p19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2404" name="Google Shape;2404;p19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05" name="Google Shape;2405;p1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406" name="Google Shape;2406;p19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407" name="Google Shape;2407;p19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08" name="Google Shape;2408;p19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409" name="Google Shape;2409;p19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410" name="Google Shape;2410;p19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411" name="Google Shape;2411;p19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412" name="Google Shape;2412;p19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413" name="Google Shape;2413;p19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414" name="Google Shape;2414;p19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415" name="Google Shape;2415;p1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416" name="Google Shape;2416;p19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17" name="Google Shape;2417;p19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418" name="Google Shape;2418;p19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2419" name="Google Shape;2419;p19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420" name="Google Shape;2420;p19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1" name="Google Shape;2421;p19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422" name="Google Shape;2422;p19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2423" name="Google Shape;2423;p19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</a:t>
            </a:r>
            <a:endParaRPr/>
          </a:p>
        </p:txBody>
      </p:sp>
      <p:sp>
        <p:nvSpPr>
          <p:cNvPr id="2424" name="Google Shape;2424;p19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5" name="Google Shape;2425;p1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2426" name="Google Shape;2426;p19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27" name="Google Shape;2427;p19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$-245</a:t>
            </a:r>
            <a:endParaRPr/>
          </a:p>
        </p:txBody>
      </p:sp>
      <p:sp>
        <p:nvSpPr>
          <p:cNvPr id="2428" name="Google Shape;2428;p19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2429" name="Google Shape;2429;p19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$146K</a:t>
            </a:r>
            <a:endParaRPr/>
          </a:p>
        </p:txBody>
      </p:sp>
      <p:sp>
        <p:nvSpPr>
          <p:cNvPr id="2430" name="Google Shape;2430;p19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1" name="Google Shape;2431;p19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32" name="Google Shape;2432;p19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2433" name="Google Shape;2433;p19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$153K</a:t>
            </a:r>
            <a:endParaRPr/>
          </a:p>
        </p:txBody>
      </p:sp>
      <p:sp>
        <p:nvSpPr>
          <p:cNvPr id="2434" name="Google Shape;2434;p19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5" name="Google Shape;2435;p1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436" name="Google Shape;2436;p19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37" name="Google Shape;2437;p19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$153,474 YTD gross written premium</a:t>
            </a:r>
            <a:endParaRPr/>
          </a:p>
        </p:txBody>
      </p:sp>
      <p:sp>
        <p:nvSpPr>
          <p:cNvPr id="2438" name="Google Shape;2438;p19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39" name="Google Shape;2439;p19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$153,981 in new business production</a:t>
            </a:r>
            <a:endParaRPr/>
          </a:p>
        </p:txBody>
      </p:sp>
      <p:sp>
        <p:nvSpPr>
          <p:cNvPr id="2440" name="Google Shape;2440;p19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1" name="Google Shape;2441;p19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442" name="Google Shape;2442;p19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443" name="Google Shape;2443;p19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444" name="Google Shape;2444;p19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445" name="Google Shape;2445;p1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446" name="Google Shape;2446;p19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7" name="Google Shape;2447;p1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448" name="Google Shape;2448;p19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449" name="Google Shape;2449;p1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$153,981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53" name="Shape 2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4" name="Google Shape;2454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5" name="Google Shape;2455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Lines Associates, Inc. DBA Valley Trucking Insurance</a:t>
            </a:r>
            <a:endParaRPr/>
          </a:p>
        </p:txBody>
      </p:sp>
      <p:sp>
        <p:nvSpPr>
          <p:cNvPr id="2456" name="Google Shape;2456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WA  |  City: Spokane</a:t>
            </a:r>
            <a:endParaRPr/>
          </a:p>
        </p:txBody>
      </p:sp>
      <p:sp>
        <p:nvSpPr>
          <p:cNvPr id="2457" name="Google Shape;2457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$134,161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458" name="Google Shape;2458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$130,141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459" name="Google Shape;2459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460" name="Google Shape;2460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461" name="Google Shape;2461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$-21,033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462" name="Google Shape;2462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$119,178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463" name="Google Shape;2463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$212,747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464" name="Google Shape;2464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465" name="Google Shape;2465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66" name="Google Shape;2466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67" name="Google Shape;2467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68" name="Google Shape;2468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469" name="Google Shape;2469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$103,280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470" name="Google Shape;2470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1" name="Google Shape;2471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472" name="Google Shape;2472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73" name="Google Shape;2473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474" name="Google Shape;2474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475" name="Google Shape;2475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476" name="Google Shape;2476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477" name="Google Shape;2477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478" name="Google Shape;2478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9" name="Google Shape;2479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80" name="Google Shape;2480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$22,161</a:t>
            </a:r>
            <a:endParaRPr/>
          </a:p>
        </p:txBody>
      </p:sp>
      <p:sp>
        <p:nvSpPr>
          <p:cNvPr id="2481" name="Google Shape;2481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$22,161</a:t>
            </a:r>
            <a:endParaRPr/>
          </a:p>
        </p:txBody>
      </p:sp>
      <p:sp>
        <p:nvSpPr>
          <p:cNvPr id="2482" name="Google Shape;2482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3" name="Google Shape;2483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4" name="Google Shape;2484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5" name="Google Shape;2485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6" name="Google Shape;2486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87" name="Google Shape;2487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$1,829</a:t>
            </a:r>
            <a:endParaRPr/>
          </a:p>
        </p:txBody>
      </p:sp>
      <p:sp>
        <p:nvSpPr>
          <p:cNvPr id="2488" name="Google Shape;2488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9" name="Google Shape;2489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90" name="Google Shape;2490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$1,829</a:t>
            </a:r>
            <a:endParaRPr/>
          </a:p>
        </p:txBody>
      </p:sp>
      <p:sp>
        <p:nvSpPr>
          <p:cNvPr id="2491" name="Google Shape;2491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92" name="Google Shape;2492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3" name="Google Shape;2493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94" name="Google Shape;2494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$29,472</a:t>
            </a:r>
            <a:endParaRPr/>
          </a:p>
        </p:txBody>
      </p:sp>
      <p:sp>
        <p:nvSpPr>
          <p:cNvPr id="2495" name="Google Shape;2495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$26,839</a:t>
            </a:r>
            <a:endParaRPr/>
          </a:p>
        </p:txBody>
      </p:sp>
      <p:sp>
        <p:nvSpPr>
          <p:cNvPr id="2496" name="Google Shape;2496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97" name="Google Shape;2497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$2,633</a:t>
            </a:r>
            <a:endParaRPr/>
          </a:p>
        </p:txBody>
      </p:sp>
      <p:sp>
        <p:nvSpPr>
          <p:cNvPr id="2498" name="Google Shape;2498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99" name="Google Shape;2499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0" name="Google Shape;2500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01" name="Google Shape;2501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$32,962</a:t>
            </a:r>
            <a:endParaRPr/>
          </a:p>
        </p:txBody>
      </p:sp>
      <p:sp>
        <p:nvSpPr>
          <p:cNvPr id="2502" name="Google Shape;2502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$33,404</a:t>
            </a:r>
            <a:endParaRPr/>
          </a:p>
        </p:txBody>
      </p:sp>
      <p:sp>
        <p:nvSpPr>
          <p:cNvPr id="2503" name="Google Shape;2503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04" name="Google Shape;2504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$-442</a:t>
            </a:r>
            <a:endParaRPr/>
          </a:p>
        </p:txBody>
      </p:sp>
      <p:sp>
        <p:nvSpPr>
          <p:cNvPr id="2505" name="Google Shape;2505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$-21,033</a:t>
            </a:r>
            <a:endParaRPr/>
          </a:p>
        </p:txBody>
      </p:sp>
      <p:sp>
        <p:nvSpPr>
          <p:cNvPr id="2506" name="Google Shape;2506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7" name="Google Shape;2507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08" name="Google Shape;2508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$47,738</a:t>
            </a:r>
            <a:endParaRPr/>
          </a:p>
        </p:txBody>
      </p:sp>
      <p:sp>
        <p:nvSpPr>
          <p:cNvPr id="2509" name="Google Shape;2509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$47,738</a:t>
            </a:r>
            <a:endParaRPr/>
          </a:p>
        </p:txBody>
      </p:sp>
      <p:sp>
        <p:nvSpPr>
          <p:cNvPr id="2510" name="Google Shape;2510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1" name="Google Shape;2511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2" name="Google Shape;2512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3" name="Google Shape;2513;p2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4" name="Google Shape;2514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515" name="Google Shape;2515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6" name="Google Shape;2516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7" name="Google Shape;2517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8" name="Google Shape;2518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19" name="Google Shape;2519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20" name="Google Shape;2520;p20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1" name="Google Shape;2521;p20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22" name="Google Shape;2522;p20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$134,161</a:t>
            </a:r>
            <a:endParaRPr/>
          </a:p>
        </p:txBody>
      </p:sp>
      <p:sp>
        <p:nvSpPr>
          <p:cNvPr id="2523" name="Google Shape;2523;p2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$130,141</a:t>
            </a:r>
            <a:endParaRPr/>
          </a:p>
        </p:txBody>
      </p:sp>
      <p:sp>
        <p:nvSpPr>
          <p:cNvPr id="2524" name="Google Shape;2524;p20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25" name="Google Shape;2525;p20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$4,020</a:t>
            </a:r>
            <a:endParaRPr/>
          </a:p>
        </p:txBody>
      </p:sp>
      <p:sp>
        <p:nvSpPr>
          <p:cNvPr id="2526" name="Google Shape;2526;p20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$-21,033</a:t>
            </a:r>
            <a:endParaRPr/>
          </a:p>
        </p:txBody>
      </p:sp>
      <p:sp>
        <p:nvSpPr>
          <p:cNvPr id="2527" name="Google Shape;2527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8" name="Google Shape;2528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529" name="Google Shape;2529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30" name="Google Shape;2530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531" name="Google Shape;2531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532" name="Google Shape;2532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533" name="Google Shape;2533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34" name="Google Shape;2534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35" name="Google Shape;2535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6" name="Google Shape;2536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37" name="Google Shape;2537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538" name="Google Shape;2538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39" name="Google Shape;2539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540" name="Google Shape;2540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41" name="Google Shape;2541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2542" name="Google Shape;2542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3" name="Google Shape;2543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44" name="Google Shape;2544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545" name="Google Shape;2545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46" name="Google Shape;2546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547" name="Google Shape;2547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548" name="Google Shape;2548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2549" name="Google Shape;2549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0" name="Google Shape;2550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51" name="Google Shape;2551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552" name="Google Shape;2552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53" name="Google Shape;2553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554" name="Google Shape;2554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555" name="Google Shape;2555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2556" name="Google Shape;2556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7" name="Google Shape;2557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58" name="Google Shape;2558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559" name="Google Shape;2559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560" name="Google Shape;2560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2561" name="Google Shape;2561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562" name="Google Shape;2562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2563" name="Google Shape;2563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4" name="Google Shape;2564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65" name="Google Shape;2565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566" name="Google Shape;2566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567" name="Google Shape;2567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568" name="Google Shape;2568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569" name="Google Shape;2569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2570" name="Google Shape;2570;p20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1" name="Google Shape;2571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572" name="Google Shape;2572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73" name="Google Shape;2573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74" name="Google Shape;2574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75" name="Google Shape;2575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576" name="Google Shape;2576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577" name="Google Shape;2577;p20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8" name="Google Shape;2578;p20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79" name="Google Shape;2579;p20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189</a:t>
            </a:r>
            <a:endParaRPr/>
          </a:p>
        </p:txBody>
      </p:sp>
      <p:sp>
        <p:nvSpPr>
          <p:cNvPr id="2580" name="Google Shape;2580;p20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581" name="Google Shape;2581;p20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179</a:t>
            </a:r>
            <a:endParaRPr/>
          </a:p>
        </p:txBody>
      </p:sp>
      <p:sp>
        <p:nvSpPr>
          <p:cNvPr id="2582" name="Google Shape;2582;p20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583" name="Google Shape;2583;p2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2.1%</a:t>
            </a:r>
            <a:endParaRPr/>
          </a:p>
        </p:txBody>
      </p:sp>
      <p:sp>
        <p:nvSpPr>
          <p:cNvPr id="2584" name="Google Shape;2584;p20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5" name="Google Shape;2585;p20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2586" name="Google Shape;2586;p20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587" name="Google Shape;2587;p20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588" name="Google Shape;2588;p20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589" name="Google Shape;2589;p20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590" name="Google Shape;2590;p20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591" name="Google Shape;2591;p20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592" name="Google Shape;2592;p20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593" name="Google Shape;2593;p2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594" name="Google Shape;2594;p20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595" name="Google Shape;2595;p20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596" name="Google Shape;2596;p20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597" name="Google Shape;2597;p20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2598" name="Google Shape;2598;p20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2599" name="Google Shape;2599;p20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2600" name="Google Shape;2600;p20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2601" name="Google Shape;2601;p20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02" name="Google Shape;2602;p20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603" name="Google Shape;2603;p2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04" name="Google Shape;2604;p20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05" name="Google Shape;2605;p20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606" name="Google Shape;2606;p20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607" name="Google Shape;2607;p20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608" name="Google Shape;2608;p20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609" name="Google Shape;2609;p20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610" name="Google Shape;2610;p20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11" name="Google Shape;2611;p20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2612" name="Google Shape;2612;p20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613" name="Google Shape;2613;p2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14" name="Google Shape;2614;p20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2615" name="Google Shape;2615;p20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195</a:t>
            </a:r>
            <a:endParaRPr/>
          </a:p>
        </p:txBody>
      </p:sp>
      <p:sp>
        <p:nvSpPr>
          <p:cNvPr id="2616" name="Google Shape;2616;p20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617" name="Google Shape;2617;p20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18" name="Google Shape;2618;p20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2619" name="Google Shape;2619;p20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2620" name="Google Shape;2620;p20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2621" name="Google Shape;2621;p20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22" name="Google Shape;2622;p20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2623" name="Google Shape;2623;p2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24" name="Google Shape;2624;p20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2625" name="Google Shape;2625;p20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2626" name="Google Shape;2626;p20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2627" name="Google Shape;2627;p20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28" name="Google Shape;2628;p20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29" name="Google Shape;2629;p20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2630" name="Google Shape;2630;p20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$134K</a:t>
            </a:r>
            <a:endParaRPr/>
          </a:p>
        </p:txBody>
      </p:sp>
      <p:sp>
        <p:nvSpPr>
          <p:cNvPr id="2631" name="Google Shape;2631;p20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2" name="Google Shape;2632;p20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633" name="Google Shape;2633;p2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34" name="Google Shape;2634;p20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$134,161 YTD gross written premium</a:t>
            </a:r>
            <a:endParaRPr/>
          </a:p>
        </p:txBody>
      </p:sp>
      <p:sp>
        <p:nvSpPr>
          <p:cNvPr id="2635" name="Google Shape;2635;p20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36" name="Google Shape;2636;p20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$130,141 in new business production</a:t>
            </a:r>
            <a:endParaRPr/>
          </a:p>
        </p:txBody>
      </p:sp>
      <p:sp>
        <p:nvSpPr>
          <p:cNvPr id="2637" name="Google Shape;2637;p20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8" name="Google Shape;2638;p20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639" name="Google Shape;2639;p20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640" name="Google Shape;2640;p20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2.1% hit ratio on 189 subs - needs coaching</a:t>
            </a:r>
            <a:endParaRPr/>
          </a:p>
        </p:txBody>
      </p:sp>
      <p:sp>
        <p:nvSpPr>
          <p:cNvPr id="2641" name="Google Shape;2641;p2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2" name="Google Shape;2642;p20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643" name="Google Shape;2643;p2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644" name="Google Shape;2644;p20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(189 subs, only 4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645" name="Google Shape;2645;p2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646" name="Google Shape;2646;p20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$130,141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50" name="Shape 2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Google Shape;2651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2" name="Google Shape;2652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Safeguard Insurance Llc</a:t>
            </a:r>
            <a:endParaRPr/>
          </a:p>
        </p:txBody>
      </p:sp>
      <p:sp>
        <p:nvSpPr>
          <p:cNvPr id="2653" name="Google Shape;2653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Pacific Northwest  |  State: WA  |  City: Renton</a:t>
            </a:r>
            <a:endParaRPr/>
          </a:p>
        </p:txBody>
      </p:sp>
      <p:sp>
        <p:nvSpPr>
          <p:cNvPr id="2654" name="Google Shape;2654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$133,916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655" name="Google Shape;2655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$132,265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656" name="Google Shape;2656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657" name="Google Shape;2657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658" name="Google Shape;2658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659" name="Google Shape;2659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660" name="Google Shape;2660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$133,916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661" name="Google Shape;2661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662" name="Google Shape;2662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63" name="Google Shape;2663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664" name="Google Shape;2664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665" name="Google Shape;2665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666" name="Google Shape;2666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$129,415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667" name="Google Shape;2667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8" name="Google Shape;2668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669" name="Google Shape;2669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670" name="Google Shape;2670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671" name="Google Shape;2671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672" name="Google Shape;2672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673" name="Google Shape;2673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674" name="Google Shape;2674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675" name="Google Shape;2675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6" name="Google Shape;2676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677" name="Google Shape;2677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78" name="Google Shape;2678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79" name="Google Shape;2679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80" name="Google Shape;2680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81" name="Google Shape;2681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82" name="Google Shape;2682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3" name="Google Shape;2683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684" name="Google Shape;2684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85" name="Google Shape;2685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86" name="Google Shape;2686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87" name="Google Shape;2687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88" name="Google Shape;2688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89" name="Google Shape;2689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0" name="Google Shape;2690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91" name="Google Shape;2691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2" name="Google Shape;2692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3" name="Google Shape;2693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4" name="Google Shape;2694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5" name="Google Shape;2695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6" name="Google Shape;2696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7" name="Google Shape;2697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98" name="Google Shape;2698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9" name="Google Shape;2699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00" name="Google Shape;2700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01" name="Google Shape;2701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02" name="Google Shape;2702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03" name="Google Shape;2703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4" name="Google Shape;2704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05" name="Google Shape;2705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$133,916</a:t>
            </a:r>
            <a:endParaRPr/>
          </a:p>
        </p:txBody>
      </p:sp>
      <p:sp>
        <p:nvSpPr>
          <p:cNvPr id="2706" name="Google Shape;2706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$132,265</a:t>
            </a:r>
            <a:endParaRPr/>
          </a:p>
        </p:txBody>
      </p:sp>
      <p:sp>
        <p:nvSpPr>
          <p:cNvPr id="2707" name="Google Shape;2707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08" name="Google Shape;2708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$1,651</a:t>
            </a:r>
            <a:endParaRPr/>
          </a:p>
        </p:txBody>
      </p:sp>
      <p:sp>
        <p:nvSpPr>
          <p:cNvPr id="2709" name="Google Shape;2709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0" name="Google Shape;2710;p21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1" name="Google Shape;2711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712" name="Google Shape;2712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3" name="Google Shape;2713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4" name="Google Shape;2714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5" name="Google Shape;2715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6" name="Google Shape;2716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17" name="Google Shape;2717;p21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8" name="Google Shape;2718;p21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19" name="Google Shape;2719;p21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$133,916</a:t>
            </a:r>
            <a:endParaRPr/>
          </a:p>
        </p:txBody>
      </p:sp>
      <p:sp>
        <p:nvSpPr>
          <p:cNvPr id="2720" name="Google Shape;2720;p21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$132,265</a:t>
            </a:r>
            <a:endParaRPr/>
          </a:p>
        </p:txBody>
      </p:sp>
      <p:sp>
        <p:nvSpPr>
          <p:cNvPr id="2721" name="Google Shape;2721;p2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2" name="Google Shape;2722;p21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$1,651</a:t>
            </a:r>
            <a:endParaRPr/>
          </a:p>
        </p:txBody>
      </p:sp>
      <p:sp>
        <p:nvSpPr>
          <p:cNvPr id="2723" name="Google Shape;2723;p21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4" name="Google Shape;2724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5" name="Google Shape;2725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726" name="Google Shape;2726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27" name="Google Shape;2727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728" name="Google Shape;2728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729" name="Google Shape;2729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730" name="Google Shape;2730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31" name="Google Shape;2731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32" name="Google Shape;2732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3" name="Google Shape;2733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34" name="Google Shape;2734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35" name="Google Shape;2735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36" name="Google Shape;2736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37" name="Google Shape;2737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38" name="Google Shape;2738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39" name="Google Shape;2739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0" name="Google Shape;2740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41" name="Google Shape;2741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42" name="Google Shape;2742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43" name="Google Shape;2743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44" name="Google Shape;2744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45" name="Google Shape;2745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46" name="Google Shape;2746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7" name="Google Shape;2747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48" name="Google Shape;2748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49" name="Google Shape;2749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50" name="Google Shape;2750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51" name="Google Shape;2751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52" name="Google Shape;2752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53" name="Google Shape;2753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4" name="Google Shape;2754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55" name="Google Shape;2755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756" name="Google Shape;2756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57" name="Google Shape;2757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758" name="Google Shape;2758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759" name="Google Shape;2759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2760" name="Google Shape;2760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1" name="Google Shape;2761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62" name="Google Shape;2762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763" name="Google Shape;2763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764" name="Google Shape;2764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765" name="Google Shape;2765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66" name="Google Shape;2766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10.7%</a:t>
            </a:r>
            <a:endParaRPr/>
          </a:p>
        </p:txBody>
      </p:sp>
      <p:sp>
        <p:nvSpPr>
          <p:cNvPr id="2767" name="Google Shape;2767;p21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8" name="Google Shape;2768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769" name="Google Shape;2769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70" name="Google Shape;2770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71" name="Google Shape;2771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72" name="Google Shape;2772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73" name="Google Shape;2773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74" name="Google Shape;2774;p21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5" name="Google Shape;2775;p21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76" name="Google Shape;2776;p21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777" name="Google Shape;2777;p21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778" name="Google Shape;2778;p21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779" name="Google Shape;2779;p21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80" name="Google Shape;2780;p21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2781" name="Google Shape;2781;p2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2" name="Google Shape;2782;p21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2783" name="Google Shape;2783;p21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784" name="Google Shape;2784;p21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785" name="Google Shape;2785;p21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786" name="Google Shape;2786;p21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787" name="Google Shape;2787;p21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788" name="Google Shape;2788;p21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789" name="Google Shape;2789;p21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790" name="Google Shape;2790;p21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791" name="Google Shape;2791;p2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792" name="Google Shape;2792;p21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793" name="Google Shape;2793;p21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794" name="Google Shape;2794;p21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2795" name="Google Shape;2795;p21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2796" name="Google Shape;2796;p21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2797" name="Google Shape;2797;p21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2798" name="Google Shape;2798;p21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99" name="Google Shape;2799;p21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0" name="Google Shape;2800;p21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1" name="Google Shape;2801;p2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2" name="Google Shape;2802;p21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03" name="Google Shape;2803;p21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4" name="Google Shape;2804;p21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5" name="Google Shape;2805;p21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6" name="Google Shape;2806;p21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807" name="Google Shape;2807;p21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8" name="Google Shape;2808;p21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809" name="Google Shape;2809;p21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10" name="Google Shape;2810;p21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11" name="Google Shape;2811;p2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12" name="Google Shape;2812;p21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813" name="Google Shape;2813;p21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814" name="Google Shape;2814;p21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15" name="Google Shape;2815;p21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16" name="Google Shape;2816;p21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17" name="Google Shape;2817;p21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18" name="Google Shape;2818;p21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19" name="Google Shape;2819;p21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0" name="Google Shape;2820;p21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1" name="Google Shape;2821;p2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2" name="Google Shape;2822;p21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3" name="Google Shape;2823;p21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$134K</a:t>
            </a:r>
            <a:endParaRPr/>
          </a:p>
        </p:txBody>
      </p:sp>
      <p:sp>
        <p:nvSpPr>
          <p:cNvPr id="2824" name="Google Shape;2824;p21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5" name="Google Shape;2825;p21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6" name="Google Shape;2826;p21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27" name="Google Shape;2827;p21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$134K</a:t>
            </a:r>
            <a:endParaRPr/>
          </a:p>
        </p:txBody>
      </p:sp>
      <p:sp>
        <p:nvSpPr>
          <p:cNvPr id="2828" name="Google Shape;2828;p21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9" name="Google Shape;2829;p21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830" name="Google Shape;2830;p21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31" name="Google Shape;2831;p2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$133,916 YTD gross written premium</a:t>
            </a:r>
            <a:endParaRPr/>
          </a:p>
        </p:txBody>
      </p:sp>
      <p:sp>
        <p:nvSpPr>
          <p:cNvPr id="2832" name="Google Shape;2832;p21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33" name="Google Shape;2833;p21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$132,265 in new business production</a:t>
            </a:r>
            <a:endParaRPr/>
          </a:p>
        </p:txBody>
      </p:sp>
      <p:sp>
        <p:nvSpPr>
          <p:cNvPr id="2834" name="Google Shape;2834;p21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5" name="Google Shape;2835;p21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836" name="Google Shape;2836;p21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37" name="Google Shape;2837;p21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838" name="Google Shape;2838;p21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39" name="Google Shape;2839;p21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840" name="Google Shape;2840;p21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1" name="Google Shape;2841;p2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842" name="Google Shape;2842;p21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843" name="Google Shape;2843;p2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$132,265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47" name="Shape 2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8" name="Google Shape;2848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9" name="Google Shape;2849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Mustard Seed Financial &amp; Insurance Inc</a:t>
            </a:r>
            <a:endParaRPr/>
          </a:p>
        </p:txBody>
      </p:sp>
      <p:sp>
        <p:nvSpPr>
          <p:cNvPr id="2850" name="Google Shape;2850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Idaho  |  City: Boise, ID</a:t>
            </a:r>
            <a:endParaRPr/>
          </a:p>
        </p:txBody>
      </p:sp>
      <p:sp>
        <p:nvSpPr>
          <p:cNvPr id="2851" name="Google Shape;2851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852" name="Google Shape;2852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53" name="Google Shape;2853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54" name="Google Shape;2854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55" name="Google Shape;2855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56" name="Google Shape;2856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$466,044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857" name="Google Shape;2857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$283,136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858" name="Google Shape;2858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859" name="Google Shape;2859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60" name="Google Shape;2860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861" name="Google Shape;2861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862" name="Google Shape;2862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863" name="Google Shape;2863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$52,367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864" name="Google Shape;2864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5" name="Google Shape;2865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866" name="Google Shape;2866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67" name="Google Shape;2867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868" name="Google Shape;2868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69" name="Google Shape;2869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70" name="Google Shape;2870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71" name="Google Shape;2871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72" name="Google Shape;2872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3" name="Google Shape;2873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874" name="Google Shape;2874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$15,534</a:t>
            </a:r>
            <a:endParaRPr/>
          </a:p>
        </p:txBody>
      </p:sp>
      <p:sp>
        <p:nvSpPr>
          <p:cNvPr id="2875" name="Google Shape;2875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$15,534</a:t>
            </a:r>
            <a:endParaRPr/>
          </a:p>
        </p:txBody>
      </p:sp>
      <p:sp>
        <p:nvSpPr>
          <p:cNvPr id="2876" name="Google Shape;2876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7" name="Google Shape;2877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8" name="Google Shape;2878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9" name="Google Shape;2879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0" name="Google Shape;2880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881" name="Google Shape;2881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2882" name="Google Shape;2882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83" name="Google Shape;2883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2884" name="Google Shape;2884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85" name="Google Shape;2885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86" name="Google Shape;2886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7" name="Google Shape;2887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888" name="Google Shape;2888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$51,916</a:t>
            </a:r>
            <a:endParaRPr/>
          </a:p>
        </p:txBody>
      </p:sp>
      <p:sp>
        <p:nvSpPr>
          <p:cNvPr id="2889" name="Google Shape;2889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$50,923</a:t>
            </a:r>
            <a:endParaRPr/>
          </a:p>
        </p:txBody>
      </p:sp>
      <p:sp>
        <p:nvSpPr>
          <p:cNvPr id="2890" name="Google Shape;2890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1" name="Google Shape;2891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$993</a:t>
            </a:r>
            <a:endParaRPr/>
          </a:p>
        </p:txBody>
      </p:sp>
      <p:sp>
        <p:nvSpPr>
          <p:cNvPr id="2892" name="Google Shape;2892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3" name="Google Shape;2893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4" name="Google Shape;2894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95" name="Google Shape;2895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$488</a:t>
            </a:r>
            <a:endParaRPr/>
          </a:p>
        </p:txBody>
      </p:sp>
      <p:sp>
        <p:nvSpPr>
          <p:cNvPr id="2896" name="Google Shape;2896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7" name="Google Shape;2897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8" name="Google Shape;2898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$488</a:t>
            </a:r>
            <a:endParaRPr/>
          </a:p>
        </p:txBody>
      </p:sp>
      <p:sp>
        <p:nvSpPr>
          <p:cNvPr id="2899" name="Google Shape;2899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$-24,376</a:t>
            </a:r>
            <a:endParaRPr/>
          </a:p>
        </p:txBody>
      </p:sp>
      <p:sp>
        <p:nvSpPr>
          <p:cNvPr id="2900" name="Google Shape;2900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1" name="Google Shape;2901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02" name="Google Shape;2902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3" name="Google Shape;2903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4" name="Google Shape;2904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5" name="Google Shape;2905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6" name="Google Shape;2906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$-9,543</a:t>
            </a:r>
            <a:endParaRPr/>
          </a:p>
        </p:txBody>
      </p:sp>
      <p:sp>
        <p:nvSpPr>
          <p:cNvPr id="2907" name="Google Shape;2907;p22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8" name="Google Shape;2908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909" name="Google Shape;2909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0" name="Google Shape;2910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1" name="Google Shape;2911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2" name="Google Shape;2912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3" name="Google Shape;2913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4" name="Google Shape;2914;p22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5" name="Google Shape;2915;p22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16" name="Google Shape;2916;p22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</a:t>
            </a:r>
            <a:endParaRPr/>
          </a:p>
        </p:txBody>
      </p:sp>
      <p:sp>
        <p:nvSpPr>
          <p:cNvPr id="2917" name="Google Shape;2917;p22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</a:t>
            </a:r>
            <a:endParaRPr/>
          </a:p>
        </p:txBody>
      </p:sp>
      <p:sp>
        <p:nvSpPr>
          <p:cNvPr id="2918" name="Google Shape;2918;p22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$27,219</a:t>
            </a:r>
            <a:endParaRPr/>
          </a:p>
        </p:txBody>
      </p:sp>
      <p:sp>
        <p:nvSpPr>
          <p:cNvPr id="2919" name="Google Shape;2919;p2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$1,481</a:t>
            </a:r>
            <a:endParaRPr/>
          </a:p>
        </p:txBody>
      </p:sp>
      <p:sp>
        <p:nvSpPr>
          <p:cNvPr id="2920" name="Google Shape;2920;p22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$-33,919</a:t>
            </a:r>
            <a:endParaRPr/>
          </a:p>
        </p:txBody>
      </p:sp>
      <p:sp>
        <p:nvSpPr>
          <p:cNvPr id="2921" name="Google Shape;2921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2" name="Google Shape;2922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923" name="Google Shape;2923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24" name="Google Shape;2924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925" name="Google Shape;2925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26" name="Google Shape;2926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27" name="Google Shape;2927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28" name="Google Shape;2928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29" name="Google Shape;2929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0" name="Google Shape;2930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31" name="Google Shape;2931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932" name="Google Shape;2932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33" name="Google Shape;2933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934" name="Google Shape;2934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35" name="Google Shape;2935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936" name="Google Shape;2936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7" name="Google Shape;2937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38" name="Google Shape;2938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939" name="Google Shape;2939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40" name="Google Shape;2940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941" name="Google Shape;2941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42" name="Google Shape;2942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943" name="Google Shape;2943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4" name="Google Shape;2944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45" name="Google Shape;2945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946" name="Google Shape;2946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47" name="Google Shape;2947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948" name="Google Shape;2948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49" name="Google Shape;2949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50" name="Google Shape;2950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1" name="Google Shape;2951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52" name="Google Shape;2952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2953" name="Google Shape;2953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954" name="Google Shape;2954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955" name="Google Shape;2955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56" name="Google Shape;2956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2957" name="Google Shape;2957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8" name="Google Shape;2958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59" name="Google Shape;2959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960" name="Google Shape;2960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61" name="Google Shape;2961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962" name="Google Shape;2962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3" name="Google Shape;2963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64" name="Google Shape;2964;p22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5" name="Google Shape;2965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966" name="Google Shape;2966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7" name="Google Shape;2967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8" name="Google Shape;2968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69" name="Google Shape;2969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70" name="Google Shape;2970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71" name="Google Shape;2971;p22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2" name="Google Shape;2972;p22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73" name="Google Shape;2973;p22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2974" name="Google Shape;2974;p22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975" name="Google Shape;2975;p22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2976" name="Google Shape;2976;p22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77" name="Google Shape;2977;p22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1.3%</a:t>
            </a:r>
            <a:endParaRPr/>
          </a:p>
        </p:txBody>
      </p:sp>
      <p:sp>
        <p:nvSpPr>
          <p:cNvPr id="2978" name="Google Shape;2978;p22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9" name="Google Shape;2979;p2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2980" name="Google Shape;2980;p22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81" name="Google Shape;2981;p22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982" name="Google Shape;2982;p22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983" name="Google Shape;2983;p22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984" name="Google Shape;2984;p22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985" name="Google Shape;2985;p22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986" name="Google Shape;2986;p22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987" name="Google Shape;2987;p22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988" name="Google Shape;2988;p22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989" name="Google Shape;2989;p2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990" name="Google Shape;2990;p22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991" name="Google Shape;2991;p22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2992" name="Google Shape;2992;p22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2993" name="Google Shape;2993;p22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2994" name="Google Shape;2994;p22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2995" name="Google Shape;2995;p22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96" name="Google Shape;2996;p22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2997" name="Google Shape;2997;p22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998" name="Google Shape;2998;p22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2999" name="Google Shape;2999;p2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000" name="Google Shape;3000;p22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001" name="Google Shape;3001;p22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002" name="Google Shape;3002;p22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3003" name="Google Shape;3003;p22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3004" name="Google Shape;3004;p22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3005" name="Google Shape;3005;p22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006" name="Google Shape;3006;p22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3007" name="Google Shape;3007;p22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8" name="Google Shape;3008;p22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282</a:t>
            </a:r>
            <a:endParaRPr/>
          </a:p>
        </p:txBody>
      </p:sp>
      <p:sp>
        <p:nvSpPr>
          <p:cNvPr id="3009" name="Google Shape;3009;p2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164</a:t>
            </a:r>
            <a:endParaRPr/>
          </a:p>
        </p:txBody>
      </p:sp>
      <p:sp>
        <p:nvSpPr>
          <p:cNvPr id="3010" name="Google Shape;3010;p22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11" name="Google Shape;3011;p22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3012" name="Google Shape;3012;p22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3013" name="Google Shape;3013;p22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$88K</a:t>
            </a:r>
            <a:endParaRPr/>
          </a:p>
        </p:txBody>
      </p:sp>
      <p:sp>
        <p:nvSpPr>
          <p:cNvPr id="3014" name="Google Shape;3014;p22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3015" name="Google Shape;3015;p22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6" name="Google Shape;3016;p22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3017" name="Google Shape;3017;p22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018" name="Google Shape;3018;p22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$488</a:t>
            </a:r>
            <a:endParaRPr/>
          </a:p>
        </p:txBody>
      </p:sp>
      <p:sp>
        <p:nvSpPr>
          <p:cNvPr id="3019" name="Google Shape;3019;p2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3020" name="Google Shape;3020;p22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21" name="Google Shape;3021;p22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$116K</a:t>
            </a:r>
            <a:endParaRPr/>
          </a:p>
        </p:txBody>
      </p:sp>
      <p:sp>
        <p:nvSpPr>
          <p:cNvPr id="3022" name="Google Shape;3022;p22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23" name="Google Shape;3023;p22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$278K</a:t>
            </a:r>
            <a:endParaRPr/>
          </a:p>
        </p:txBody>
      </p:sp>
      <p:sp>
        <p:nvSpPr>
          <p:cNvPr id="3024" name="Google Shape;3024;p22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3025" name="Google Shape;3025;p22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6" name="Google Shape;3026;p22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027" name="Google Shape;3027;p22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28" name="Google Shape;3028;p22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$95,156 YTD gross written premium</a:t>
            </a:r>
            <a:endParaRPr/>
          </a:p>
        </p:txBody>
      </p:sp>
      <p:sp>
        <p:nvSpPr>
          <p:cNvPr id="3029" name="Google Shape;3029;p2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30" name="Google Shape;3030;p22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$66,456 in new business production</a:t>
            </a:r>
            <a:endParaRPr/>
          </a:p>
        </p:txBody>
      </p:sp>
      <p:sp>
        <p:nvSpPr>
          <p:cNvPr id="3031" name="Google Shape;3031;p2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2" name="Google Shape;3032;p22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033" name="Google Shape;3033;p22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34" name="Google Shape;3034;p22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1.3% hit ratio on 154 subs - needs coaching</a:t>
            </a:r>
            <a:endParaRPr/>
          </a:p>
        </p:txBody>
      </p:sp>
      <p:sp>
        <p:nvSpPr>
          <p:cNvPr id="3035" name="Google Shape;3035;p22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36" name="Google Shape;3036;p22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51% of new business ($33,919)</a:t>
            </a:r>
            <a:endParaRPr/>
          </a:p>
        </p:txBody>
      </p:sp>
      <p:sp>
        <p:nvSpPr>
          <p:cNvPr id="3037" name="Google Shape;3037;p22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8" name="Google Shape;3038;p22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039" name="Google Shape;3039;p2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040" name="Google Shape;3040;p22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(154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3041" name="Google Shape;3041;p2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042" name="Google Shape;3042;p22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$66,456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46" name="Shape 3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7" name="Google Shape;3047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8" name="Google Shape;3048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NEAL'S INSURANCE SERVICES</a:t>
            </a:r>
            <a:endParaRPr/>
          </a:p>
        </p:txBody>
      </p:sp>
      <p:sp>
        <p:nvSpPr>
          <p:cNvPr id="3049" name="Google Shape;3049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Hayward</a:t>
            </a:r>
            <a:endParaRPr/>
          </a:p>
        </p:txBody>
      </p:sp>
      <p:sp>
        <p:nvSpPr>
          <p:cNvPr id="3050" name="Google Shape;3050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051" name="Google Shape;3051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52" name="Google Shape;3052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53" name="Google Shape;3053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54" name="Google Shape;3054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55" name="Google Shape;3055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$85,193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056" name="Google Shape;3056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$65,663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057" name="Google Shape;3057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058" name="Google Shape;3058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59" name="Google Shape;3059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60" name="Google Shape;3060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61" name="Google Shape;3061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062" name="Google Shape;3062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$108,683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063" name="Google Shape;3063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4" name="Google Shape;3064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065" name="Google Shape;3065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066" name="Google Shape;3066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067" name="Google Shape;3067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68" name="Google Shape;3068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69" name="Google Shape;3069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70" name="Google Shape;3070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71" name="Google Shape;3071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2" name="Google Shape;3072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073" name="Google Shape;3073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4" name="Google Shape;3074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5" name="Google Shape;3075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6" name="Google Shape;3076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7" name="Google Shape;3077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8" name="Google Shape;3078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9" name="Google Shape;3079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080" name="Google Shape;3080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3081" name="Google Shape;3081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2" name="Google Shape;3082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3" name="Google Shape;3083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3084" name="Google Shape;3084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5" name="Google Shape;3085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6" name="Google Shape;3086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87" name="Google Shape;3087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8" name="Google Shape;3088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9" name="Google Shape;3089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0" name="Google Shape;3090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1" name="Google Shape;3091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2" name="Google Shape;3092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3" name="Google Shape;3093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94" name="Google Shape;3094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3095" name="Google Shape;3095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6" name="Google Shape;3096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3097" name="Google Shape;3097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8" name="Google Shape;3098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9" name="Google Shape;3099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0" name="Google Shape;3100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01" name="Google Shape;3101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2" name="Google Shape;3102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3" name="Google Shape;3103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4" name="Google Shape;3104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5" name="Google Shape;3105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6" name="Google Shape;3106;p23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7" name="Google Shape;3107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108" name="Google Shape;3108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9" name="Google Shape;3109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0" name="Google Shape;3110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1" name="Google Shape;3111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2" name="Google Shape;3112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3" name="Google Shape;3113;p23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4" name="Google Shape;3114;p23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15" name="Google Shape;3115;p23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</a:t>
            </a:r>
            <a:endParaRPr/>
          </a:p>
        </p:txBody>
      </p:sp>
      <p:sp>
        <p:nvSpPr>
          <p:cNvPr id="3116" name="Google Shape;3116;p23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17" name="Google Shape;3117;p23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</a:t>
            </a:r>
            <a:endParaRPr/>
          </a:p>
        </p:txBody>
      </p:sp>
      <p:sp>
        <p:nvSpPr>
          <p:cNvPr id="3118" name="Google Shape;3118;p23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3119" name="Google Shape;3119;p2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0" name="Google Shape;3120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1" name="Google Shape;3121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22" name="Google Shape;3122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23" name="Google Shape;3123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24" name="Google Shape;3124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25" name="Google Shape;3125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26" name="Google Shape;3126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27" name="Google Shape;3127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28" name="Google Shape;3128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9" name="Google Shape;3129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30" name="Google Shape;3130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31" name="Google Shape;3131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32" name="Google Shape;3132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33" name="Google Shape;3133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34" name="Google Shape;3134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3135" name="Google Shape;3135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6" name="Google Shape;3136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37" name="Google Shape;3137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38" name="Google Shape;3138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39" name="Google Shape;3139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40" name="Google Shape;3140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41" name="Google Shape;3141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3142" name="Google Shape;3142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3" name="Google Shape;3143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44" name="Google Shape;3144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145" name="Google Shape;3145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46" name="Google Shape;3146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147" name="Google Shape;3147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48" name="Google Shape;3148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49" name="Google Shape;3149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0" name="Google Shape;3150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51" name="Google Shape;3151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52" name="Google Shape;3152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53" name="Google Shape;3153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54" name="Google Shape;3154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55" name="Google Shape;3155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56" name="Google Shape;3156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7" name="Google Shape;3157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58" name="Google Shape;3158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59" name="Google Shape;3159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60" name="Google Shape;3160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61" name="Google Shape;3161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62" name="Google Shape;3162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63" name="Google Shape;3163;p23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4" name="Google Shape;3164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165" name="Google Shape;3165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66" name="Google Shape;3166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67" name="Google Shape;3167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68" name="Google Shape;3168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69" name="Google Shape;3169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70" name="Google Shape;3170;p23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1" name="Google Shape;3171;p23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72" name="Google Shape;3172;p23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173" name="Google Shape;3173;p23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74" name="Google Shape;3174;p23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175" name="Google Shape;3175;p23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76" name="Google Shape;3176;p23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3177" name="Google Shape;3177;p23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8" name="Google Shape;3178;p23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3179" name="Google Shape;3179;p2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80" name="Google Shape;3180;p23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181" name="Google Shape;3181;p23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182" name="Google Shape;3182;p23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183" name="Google Shape;3183;p23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184" name="Google Shape;3184;p23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185" name="Google Shape;3185;p23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186" name="Google Shape;3186;p23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187" name="Google Shape;3187;p23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188" name="Google Shape;3188;p23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189" name="Google Shape;3189;p2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190" name="Google Shape;3190;p23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3191" name="Google Shape;3191;p23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3192" name="Google Shape;3192;p23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3193" name="Google Shape;3193;p23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3194" name="Google Shape;3194;p23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95" name="Google Shape;3195;p23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96" name="Google Shape;3196;p23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97" name="Google Shape;3197;p23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198" name="Google Shape;3198;p23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99" name="Google Shape;3199;p2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200" name="Google Shape;3200;p23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201" name="Google Shape;3201;p23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202" name="Google Shape;3202;p23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03" name="Google Shape;3203;p23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04" name="Google Shape;3204;p23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05" name="Google Shape;3205;p23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06" name="Google Shape;3206;p23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07" name="Google Shape;3207;p23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208" name="Google Shape;3208;p23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209" name="Google Shape;3209;p2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210" name="Google Shape;3210;p23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11" name="Google Shape;3211;p23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12" name="Google Shape;3212;p23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3213" name="Google Shape;3213;p23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</a:t>
            </a:r>
            <a:endParaRPr/>
          </a:p>
        </p:txBody>
      </p:sp>
      <p:sp>
        <p:nvSpPr>
          <p:cNvPr id="3214" name="Google Shape;3214;p23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3215" name="Google Shape;3215;p23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16" name="Google Shape;3216;p23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3217" name="Google Shape;3217;p23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3218" name="Google Shape;3218;p23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19" name="Google Shape;3219;p2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20" name="Google Shape;3220;p23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21" name="Google Shape;3221;p23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22" name="Google Shape;3222;p23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$81K</a:t>
            </a:r>
            <a:endParaRPr/>
          </a:p>
        </p:txBody>
      </p:sp>
      <p:sp>
        <p:nvSpPr>
          <p:cNvPr id="3223" name="Google Shape;3223;p23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3224" name="Google Shape;3224;p23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5" name="Google Shape;3225;p23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26" name="Google Shape;3226;p23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27" name="Google Shape;3227;p23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$61,005 YTD gross written premium</a:t>
            </a:r>
            <a:endParaRPr/>
          </a:p>
        </p:txBody>
      </p:sp>
      <p:sp>
        <p:nvSpPr>
          <p:cNvPr id="3228" name="Google Shape;3228;p23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29" name="Google Shape;3229;p2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$61,018 in renewals - strong retention</a:t>
            </a:r>
            <a:endParaRPr/>
          </a:p>
        </p:txBody>
      </p:sp>
      <p:sp>
        <p:nvSpPr>
          <p:cNvPr id="3230" name="Google Shape;3230;p23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1" name="Google Shape;3231;p2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32" name="Google Shape;3232;p23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33" name="Google Shape;3233;p23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3234" name="Google Shape;3234;p23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5" name="Google Shape;3235;p23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36" name="Google Shape;3236;p23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37" name="Google Shape;3237;p2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Their $61,018 in renewals shows they trust our product. Ask: "What's holding back new submissions?" They may need updated appetite info or a refresher on our quoting process.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41" name="Shape 3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2" name="Google Shape;3242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3" name="Google Shape;3243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Omega Insurance Service</a:t>
            </a:r>
            <a:endParaRPr/>
          </a:p>
        </p:txBody>
      </p:sp>
      <p:sp>
        <p:nvSpPr>
          <p:cNvPr id="3244" name="Google Shape;3244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N/A</a:t>
            </a:r>
            <a:endParaRPr/>
          </a:p>
        </p:txBody>
      </p:sp>
      <p:sp>
        <p:nvSpPr>
          <p:cNvPr id="3245" name="Google Shape;3245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246" name="Google Shape;3246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47" name="Google Shape;3247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48" name="Google Shape;3248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49" name="Google Shape;3249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50" name="Google Shape;3250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$134,092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251" name="Google Shape;3251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$105,072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252" name="Google Shape;3252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253" name="Google Shape;3253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54" name="Google Shape;3254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55" name="Google Shape;3255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56" name="Google Shape;3256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257" name="Google Shape;3257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258" name="Google Shape;3258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9" name="Google Shape;3259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260" name="Google Shape;3260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61" name="Google Shape;3261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262" name="Google Shape;3262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63" name="Google Shape;3263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64" name="Google Shape;3264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65" name="Google Shape;3265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66" name="Google Shape;3266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7" name="Google Shape;3267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68" name="Google Shape;3268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$27,082</a:t>
            </a:r>
            <a:endParaRPr/>
          </a:p>
        </p:txBody>
      </p:sp>
      <p:sp>
        <p:nvSpPr>
          <p:cNvPr id="3269" name="Google Shape;3269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$13,312</a:t>
            </a:r>
            <a:endParaRPr/>
          </a:p>
        </p:txBody>
      </p:sp>
      <p:sp>
        <p:nvSpPr>
          <p:cNvPr id="3270" name="Google Shape;3270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</p:txBody>
      </p:sp>
      <p:sp>
        <p:nvSpPr>
          <p:cNvPr id="3271" name="Google Shape;3271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2" name="Google Shape;3272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3" name="Google Shape;3273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4" name="Google Shape;3274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75" name="Google Shape;3275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6" name="Google Shape;3276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7" name="Google Shape;3277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8" name="Google Shape;3278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9" name="Google Shape;3279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0" name="Google Shape;3280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1" name="Google Shape;3281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282" name="Google Shape;3282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3" name="Google Shape;3283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4" name="Google Shape;3284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5" name="Google Shape;3285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6" name="Google Shape;3286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7" name="Google Shape;3287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8" name="Google Shape;3288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89" name="Google Shape;3289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0" name="Google Shape;3290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1" name="Google Shape;3291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2" name="Google Shape;3292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3" name="Google Shape;3293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4" name="Google Shape;3294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5" name="Google Shape;3295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296" name="Google Shape;3296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$13,934</a:t>
            </a:r>
            <a:endParaRPr/>
          </a:p>
        </p:txBody>
      </p:sp>
      <p:sp>
        <p:nvSpPr>
          <p:cNvPr id="3297" name="Google Shape;3297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$13,410</a:t>
            </a:r>
            <a:endParaRPr/>
          </a:p>
        </p:txBody>
      </p:sp>
      <p:sp>
        <p:nvSpPr>
          <p:cNvPr id="3298" name="Google Shape;3298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9" name="Google Shape;3299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$523</a:t>
            </a:r>
            <a:endParaRPr/>
          </a:p>
        </p:txBody>
      </p:sp>
      <p:sp>
        <p:nvSpPr>
          <p:cNvPr id="3300" name="Google Shape;3300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1" name="Google Shape;3301;p24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2" name="Google Shape;3302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303" name="Google Shape;3303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4" name="Google Shape;3304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5" name="Google Shape;3305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6" name="Google Shape;3306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7" name="Google Shape;3307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08" name="Google Shape;3308;p24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9" name="Google Shape;3309;p24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10" name="Google Shape;3310;p24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</a:t>
            </a:r>
            <a:endParaRPr/>
          </a:p>
        </p:txBody>
      </p:sp>
      <p:sp>
        <p:nvSpPr>
          <p:cNvPr id="3311" name="Google Shape;3311;p24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</a:t>
            </a:r>
            <a:endParaRPr/>
          </a:p>
        </p:txBody>
      </p:sp>
      <p:sp>
        <p:nvSpPr>
          <p:cNvPr id="3312" name="Google Shape;3312;p24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$13,769</a:t>
            </a:r>
            <a:endParaRPr/>
          </a:p>
        </p:txBody>
      </p:sp>
      <p:sp>
        <p:nvSpPr>
          <p:cNvPr id="3313" name="Google Shape;3313;p24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$523</a:t>
            </a:r>
            <a:endParaRPr/>
          </a:p>
        </p:txBody>
      </p:sp>
      <p:sp>
        <p:nvSpPr>
          <p:cNvPr id="3314" name="Google Shape;3314;p24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15" name="Google Shape;3315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6" name="Google Shape;3316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317" name="Google Shape;3317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18" name="Google Shape;3318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319" name="Google Shape;3319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320" name="Google Shape;3320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321" name="Google Shape;3321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22" name="Google Shape;3322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23" name="Google Shape;3323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4" name="Google Shape;3324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25" name="Google Shape;3325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26" name="Google Shape;3326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27" name="Google Shape;3327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28" name="Google Shape;3328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29" name="Google Shape;3329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30" name="Google Shape;3330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1" name="Google Shape;3331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32" name="Google Shape;3332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33" name="Google Shape;3333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34" name="Google Shape;3334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35" name="Google Shape;3335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36" name="Google Shape;3336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37" name="Google Shape;3337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8" name="Google Shape;3338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39" name="Google Shape;3339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40" name="Google Shape;3340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41" name="Google Shape;3341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42" name="Google Shape;3342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43" name="Google Shape;3343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44" name="Google Shape;3344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5" name="Google Shape;3345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46" name="Google Shape;3346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47" name="Google Shape;3347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48" name="Google Shape;3348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49" name="Google Shape;3349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50" name="Google Shape;3350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51" name="Google Shape;3351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2" name="Google Shape;3352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53" name="Google Shape;3353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54" name="Google Shape;3354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55" name="Google Shape;3355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356" name="Google Shape;3356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57" name="Google Shape;3357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3358" name="Google Shape;3358;p24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9" name="Google Shape;3359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360" name="Google Shape;3360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61" name="Google Shape;3361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62" name="Google Shape;3362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63" name="Google Shape;3363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64" name="Google Shape;3364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65" name="Google Shape;3365;p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6" name="Google Shape;3366;p24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67" name="Google Shape;3367;p24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368" name="Google Shape;3368;p24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69" name="Google Shape;3369;p24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70" name="Google Shape;3370;p24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71" name="Google Shape;3371;p24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3372" name="Google Shape;3372;p24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3" name="Google Shape;3373;p24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3374" name="Google Shape;3374;p24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75" name="Google Shape;3375;p2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376" name="Google Shape;3376;p24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377" name="Google Shape;3377;p24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378" name="Google Shape;3378;p24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379" name="Google Shape;3379;p24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380" name="Google Shape;3380;p24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381" name="Google Shape;3381;p24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382" name="Google Shape;3382;p24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383" name="Google Shape;3383;p24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384" name="Google Shape;3384;p24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385" name="Google Shape;3385;p2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3386" name="Google Shape;3386;p24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3387" name="Google Shape;3387;p24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3388" name="Google Shape;3388;p24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3389" name="Google Shape;3389;p24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90" name="Google Shape;3390;p24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91" name="Google Shape;3391;p24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92" name="Google Shape;3392;p24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93" name="Google Shape;3393;p24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94" name="Google Shape;3394;p24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95" name="Google Shape;3395;p2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96" name="Google Shape;3396;p24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97" name="Google Shape;3397;p24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98" name="Google Shape;3398;p24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99" name="Google Shape;3399;p24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00" name="Google Shape;3400;p24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01" name="Google Shape;3401;p24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02" name="Google Shape;3402;p24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03" name="Google Shape;3403;p24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404" name="Google Shape;3404;p24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405" name="Google Shape;3405;p2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06" name="Google Shape;3406;p24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3407" name="Google Shape;3407;p24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08" name="Google Shape;3408;p24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09" name="Google Shape;3409;p24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3410" name="Google Shape;3410;p24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1" name="Google Shape;3411;p24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2" name="Google Shape;3412;p24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3" name="Google Shape;3413;p24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4" name="Google Shape;3414;p24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3415" name="Google Shape;3415;p2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6" name="Google Shape;3416;p24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17" name="Google Shape;3417;p24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3418" name="Google Shape;3418;p24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3419" name="Google Shape;3419;p24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0" name="Google Shape;3420;p24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421" name="Google Shape;3421;p24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22" name="Google Shape;3422;p24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$41,015 YTD gross written premium</a:t>
            </a:r>
            <a:endParaRPr/>
          </a:p>
        </p:txBody>
      </p:sp>
      <p:sp>
        <p:nvSpPr>
          <p:cNvPr id="3423" name="Google Shape;3423;p24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24" name="Google Shape;3424;p24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$26,723 in new business production</a:t>
            </a:r>
            <a:endParaRPr/>
          </a:p>
        </p:txBody>
      </p:sp>
      <p:sp>
        <p:nvSpPr>
          <p:cNvPr id="3425" name="Google Shape;3425;p2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6" name="Google Shape;3426;p24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427" name="Google Shape;3427;p2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28" name="Google Shape;3428;p24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429" name="Google Shape;3429;p24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30" name="Google Shape;3430;p24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431" name="Google Shape;3431;p24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2" name="Google Shape;3432;p24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433" name="Google Shape;3433;p24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434" name="Google Shape;3434;p24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$26,723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38" name="Shape 3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9" name="Google Shape;3439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0" name="Google Shape;3440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Candelaria Melara</a:t>
            </a:r>
            <a:endParaRPr/>
          </a:p>
        </p:txBody>
      </p:sp>
      <p:sp>
        <p:nvSpPr>
          <p:cNvPr id="3441" name="Google Shape;3441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N/A  |  City: Modesto</a:t>
            </a:r>
            <a:endParaRPr/>
          </a:p>
        </p:txBody>
      </p:sp>
      <p:sp>
        <p:nvSpPr>
          <p:cNvPr id="3442" name="Google Shape;3442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43" name="Google Shape;3443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44" name="Google Shape;3444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45" name="Google Shape;3445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46" name="Google Shape;3446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47" name="Google Shape;3447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448" name="Google Shape;3448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449" name="Google Shape;3449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450" name="Google Shape;3450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51" name="Google Shape;3451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52" name="Google Shape;3452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53" name="Google Shape;3453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454" name="Google Shape;3454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455" name="Google Shape;3455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6" name="Google Shape;3456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457" name="Google Shape;3457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58" name="Google Shape;3458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459" name="Google Shape;3459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60" name="Google Shape;3460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61" name="Google Shape;3461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62" name="Google Shape;3462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63" name="Google Shape;3463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4" name="Google Shape;3464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65" name="Google Shape;3465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6" name="Google Shape;3466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7" name="Google Shape;3467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8" name="Google Shape;3468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9" name="Google Shape;3469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0" name="Google Shape;3470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1" name="Google Shape;3471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72" name="Google Shape;3472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3" name="Google Shape;3473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4" name="Google Shape;3474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5" name="Google Shape;3475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6" name="Google Shape;3476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7" name="Google Shape;3477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8" name="Google Shape;3478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79" name="Google Shape;3479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0" name="Google Shape;3480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1" name="Google Shape;3481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2" name="Google Shape;3482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3" name="Google Shape;3483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4" name="Google Shape;3484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5" name="Google Shape;3485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86" name="Google Shape;3486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7" name="Google Shape;3487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8" name="Google Shape;3488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89" name="Google Shape;3489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0" name="Google Shape;3490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1" name="Google Shape;3491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2" name="Google Shape;3492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93" name="Google Shape;3493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</a:t>
            </a:r>
            <a:endParaRPr/>
          </a:p>
        </p:txBody>
      </p:sp>
      <p:sp>
        <p:nvSpPr>
          <p:cNvPr id="3494" name="Google Shape;3494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</a:t>
            </a:r>
            <a:endParaRPr/>
          </a:p>
        </p:txBody>
      </p:sp>
      <p:sp>
        <p:nvSpPr>
          <p:cNvPr id="3495" name="Google Shape;3495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6" name="Google Shape;3496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7" name="Google Shape;3497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98" name="Google Shape;3498;p25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9" name="Google Shape;3499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500" name="Google Shape;3500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1" name="Google Shape;3501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2" name="Google Shape;3502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3" name="Google Shape;3503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4" name="Google Shape;3504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05" name="Google Shape;3505;p25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6" name="Google Shape;3506;p25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07" name="Google Shape;3507;p25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</a:t>
            </a:r>
            <a:endParaRPr/>
          </a:p>
        </p:txBody>
      </p:sp>
      <p:sp>
        <p:nvSpPr>
          <p:cNvPr id="3508" name="Google Shape;3508;p25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</a:t>
            </a:r>
            <a:endParaRPr/>
          </a:p>
        </p:txBody>
      </p:sp>
      <p:sp>
        <p:nvSpPr>
          <p:cNvPr id="3509" name="Google Shape;3509;p25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0" name="Google Shape;3510;p25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1" name="Google Shape;3511;p25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12" name="Google Shape;3512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3" name="Google Shape;3513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514" name="Google Shape;3514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15" name="Google Shape;3515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516" name="Google Shape;3516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517" name="Google Shape;3517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518" name="Google Shape;3518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19" name="Google Shape;3519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20" name="Google Shape;3520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1" name="Google Shape;3521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22" name="Google Shape;3522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23" name="Google Shape;3523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24" name="Google Shape;3524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25" name="Google Shape;3525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26" name="Google Shape;3526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27" name="Google Shape;3527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8" name="Google Shape;3528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29" name="Google Shape;3529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0" name="Google Shape;3530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1" name="Google Shape;3531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2" name="Google Shape;3532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3" name="Google Shape;3533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34" name="Google Shape;3534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5" name="Google Shape;3535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36" name="Google Shape;3536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7" name="Google Shape;3537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8" name="Google Shape;3538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39" name="Google Shape;3539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0" name="Google Shape;3540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41" name="Google Shape;3541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2" name="Google Shape;3542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43" name="Google Shape;3543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44" name="Google Shape;3544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5" name="Google Shape;3545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46" name="Google Shape;3546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7" name="Google Shape;3547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48" name="Google Shape;3548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9" name="Google Shape;3549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50" name="Google Shape;3550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551" name="Google Shape;3551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52" name="Google Shape;3552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553" name="Google Shape;3553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54" name="Google Shape;3554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55" name="Google Shape;3555;p25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6" name="Google Shape;3556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557" name="Google Shape;3557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58" name="Google Shape;3558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59" name="Google Shape;3559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60" name="Google Shape;3560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61" name="Google Shape;3561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62" name="Google Shape;3562;p25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3" name="Google Shape;3563;p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64" name="Google Shape;3564;p25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565" name="Google Shape;3565;p25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66" name="Google Shape;3566;p25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567" name="Google Shape;3567;p25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68" name="Google Shape;3568;p25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69" name="Google Shape;3569;p25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0" name="Google Shape;3570;p25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3571" name="Google Shape;3571;p25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72" name="Google Shape;3572;p25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573" name="Google Shape;3573;p2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574" name="Google Shape;3574;p25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575" name="Google Shape;3575;p25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576" name="Google Shape;3576;p25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577" name="Google Shape;3577;p25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578" name="Google Shape;3578;p25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579" name="Google Shape;3579;p25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580" name="Google Shape;3580;p25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581" name="Google Shape;3581;p25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582" name="Google Shape;3582;p25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3583" name="Google Shape;3583;p2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3584" name="Google Shape;3584;p25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3585" name="Google Shape;3585;p25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3586" name="Google Shape;3586;p25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87" name="Google Shape;3587;p25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88" name="Google Shape;3588;p25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89" name="Google Shape;3589;p25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0" name="Google Shape;3590;p25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1" name="Google Shape;3591;p25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2" name="Google Shape;3592;p25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3" name="Google Shape;3593;p2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4" name="Google Shape;3594;p25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95" name="Google Shape;3595;p25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6" name="Google Shape;3596;p25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597" name="Google Shape;3597;p25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8" name="Google Shape;3598;p25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99" name="Google Shape;3599;p25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00" name="Google Shape;3600;p25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601" name="Google Shape;3601;p25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602" name="Google Shape;3602;p25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3" name="Google Shape;3603;p2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4" name="Google Shape;3604;p25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5" name="Google Shape;3605;p25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6" name="Google Shape;3606;p25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7" name="Google Shape;3607;p25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8" name="Google Shape;3608;p25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09" name="Google Shape;3609;p25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0" name="Google Shape;3610;p25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1" name="Google Shape;3611;p25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3612" name="Google Shape;3612;p25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3" name="Google Shape;3613;p2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4" name="Google Shape;3614;p25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5" name="Google Shape;3615;p25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3616" name="Google Shape;3616;p25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7" name="Google Shape;3617;p25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618" name="Google Shape;3618;p25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19" name="Google Shape;3619;p25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 YTD gross written premium</a:t>
            </a:r>
            <a:endParaRPr/>
          </a:p>
        </p:txBody>
      </p:sp>
      <p:sp>
        <p:nvSpPr>
          <p:cNvPr id="3620" name="Google Shape;3620;p25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21" name="Google Shape;3621;p25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$37,563 in new business production</a:t>
            </a:r>
            <a:endParaRPr/>
          </a:p>
        </p:txBody>
      </p:sp>
      <p:sp>
        <p:nvSpPr>
          <p:cNvPr id="3622" name="Google Shape;3622;p25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3" name="Google Shape;3623;p2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624" name="Google Shape;3624;p25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25" name="Google Shape;3625;p2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submissions with zero binds - zero conversion</a:t>
            </a:r>
            <a:endParaRPr/>
          </a:p>
        </p:txBody>
      </p:sp>
      <p:sp>
        <p:nvSpPr>
          <p:cNvPr id="3626" name="Google Shape;3626;p25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27" name="Google Shape;3627;p25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 quotes but 0 binds - follow up on pricing/coverage gaps</a:t>
            </a:r>
            <a:endParaRPr/>
          </a:p>
        </p:txBody>
      </p:sp>
      <p:sp>
        <p:nvSpPr>
          <p:cNvPr id="3628" name="Google Shape;3628;p25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9" name="Google Shape;3629;p25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630" name="Google Shape;3630;p25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631" name="Google Shape;3631;p25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3632" name="Google Shape;3632;p25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633" name="Google Shape;3633;p2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$37,563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37" name="Shape 3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8" name="Google Shape;3638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9" name="Google Shape;3639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Beaver State Insurance Agency Llc</a:t>
            </a:r>
            <a:endParaRPr/>
          </a:p>
        </p:txBody>
      </p:sp>
      <p:sp>
        <p:nvSpPr>
          <p:cNvPr id="3640" name="Google Shape;3640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OR  |  City: Salem</a:t>
            </a:r>
            <a:endParaRPr/>
          </a:p>
        </p:txBody>
      </p:sp>
      <p:sp>
        <p:nvSpPr>
          <p:cNvPr id="3641" name="Google Shape;3641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642" name="Google Shape;3642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43" name="Google Shape;3643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44" name="Google Shape;3644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45" name="Google Shape;3645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46" name="Google Shape;3646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$132,689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647" name="Google Shape;3647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$30,816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648" name="Google Shape;3648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649" name="Google Shape;3649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50" name="Google Shape;3650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51" name="Google Shape;3651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52" name="Google Shape;3652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$139,244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653" name="Google Shape;3653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$20,168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654" name="Google Shape;3654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5" name="Google Shape;3655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656" name="Google Shape;3656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57" name="Google Shape;3657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658" name="Google Shape;3658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59" name="Google Shape;3659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60" name="Google Shape;3660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61" name="Google Shape;3661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62" name="Google Shape;3662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3" name="Google Shape;3663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64" name="Google Shape;3664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$3,937</a:t>
            </a:r>
            <a:endParaRPr/>
          </a:p>
        </p:txBody>
      </p:sp>
      <p:sp>
        <p:nvSpPr>
          <p:cNvPr id="3665" name="Google Shape;3665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6" name="Google Shape;3666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7" name="Google Shape;3667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$3,937</a:t>
            </a:r>
            <a:endParaRPr/>
          </a:p>
        </p:txBody>
      </p:sp>
      <p:sp>
        <p:nvSpPr>
          <p:cNvPr id="3668" name="Google Shape;3668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9" name="Google Shape;3669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0" name="Google Shape;3670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71" name="Google Shape;3671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$532</a:t>
            </a:r>
            <a:endParaRPr/>
          </a:p>
        </p:txBody>
      </p:sp>
      <p:sp>
        <p:nvSpPr>
          <p:cNvPr id="3672" name="Google Shape;3672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3" name="Google Shape;3673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4" name="Google Shape;3674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$532</a:t>
            </a:r>
            <a:endParaRPr/>
          </a:p>
        </p:txBody>
      </p:sp>
      <p:sp>
        <p:nvSpPr>
          <p:cNvPr id="3675" name="Google Shape;3675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6" name="Google Shape;3676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7" name="Google Shape;3677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78" name="Google Shape;3678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79" name="Google Shape;3679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0" name="Google Shape;3680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1" name="Google Shape;3681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2" name="Google Shape;3682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3" name="Google Shape;3683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4" name="Google Shape;3684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85" name="Google Shape;3685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$1,503</a:t>
            </a:r>
            <a:endParaRPr/>
          </a:p>
        </p:txBody>
      </p:sp>
      <p:sp>
        <p:nvSpPr>
          <p:cNvPr id="3686" name="Google Shape;3686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7" name="Google Shape;3687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88" name="Google Shape;3688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$1,503</a:t>
            </a:r>
            <a:endParaRPr/>
          </a:p>
        </p:txBody>
      </p:sp>
      <p:sp>
        <p:nvSpPr>
          <p:cNvPr id="3689" name="Google Shape;3689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0" name="Google Shape;3690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1" name="Google Shape;3691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92" name="Google Shape;3692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3693" name="Google Shape;3693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3694" name="Google Shape;3694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5" name="Google Shape;3695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6" name="Google Shape;3696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97" name="Google Shape;3697;p26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8" name="Google Shape;3698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699" name="Google Shape;3699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0" name="Google Shape;3700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1" name="Google Shape;3701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2" name="Google Shape;3702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3" name="Google Shape;3703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4" name="Google Shape;3704;p26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5" name="Google Shape;3705;p26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06" name="Google Shape;3706;p26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</a:t>
            </a:r>
            <a:endParaRPr/>
          </a:p>
        </p:txBody>
      </p:sp>
      <p:sp>
        <p:nvSpPr>
          <p:cNvPr id="3707" name="Google Shape;3707;p26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</a:t>
            </a:r>
            <a:endParaRPr/>
          </a:p>
        </p:txBody>
      </p:sp>
      <p:sp>
        <p:nvSpPr>
          <p:cNvPr id="3708" name="Google Shape;3708;p26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09" name="Google Shape;3709;p26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$5,972</a:t>
            </a:r>
            <a:endParaRPr/>
          </a:p>
        </p:txBody>
      </p:sp>
      <p:sp>
        <p:nvSpPr>
          <p:cNvPr id="3710" name="Google Shape;3710;p26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11" name="Google Shape;3711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2" name="Google Shape;3712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713" name="Google Shape;3713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14" name="Google Shape;3714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715" name="Google Shape;3715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716" name="Google Shape;3716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717" name="Google Shape;3717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18" name="Google Shape;3718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19" name="Google Shape;3719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0" name="Google Shape;3720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21" name="Google Shape;3721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22" name="Google Shape;3722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23" name="Google Shape;3723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24" name="Google Shape;3724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25" name="Google Shape;3725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726" name="Google Shape;3726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7" name="Google Shape;3727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28" name="Google Shape;3728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29" name="Google Shape;3729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30" name="Google Shape;3730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31" name="Google Shape;3731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32" name="Google Shape;3732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733" name="Google Shape;3733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4" name="Google Shape;3734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35" name="Google Shape;3735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36" name="Google Shape;3736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37" name="Google Shape;3737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38" name="Google Shape;3738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39" name="Google Shape;3739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40" name="Google Shape;3740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1" name="Google Shape;3741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42" name="Google Shape;3742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43" name="Google Shape;3743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44" name="Google Shape;3744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45" name="Google Shape;3745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46" name="Google Shape;3746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3747" name="Google Shape;3747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8" name="Google Shape;3748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49" name="Google Shape;3749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50" name="Google Shape;3750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1" name="Google Shape;3751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52" name="Google Shape;3752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53" name="Google Shape;3753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754" name="Google Shape;3754;p26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5" name="Google Shape;3755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756" name="Google Shape;3756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7" name="Google Shape;3757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8" name="Google Shape;3758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9" name="Google Shape;3759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60" name="Google Shape;3760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61" name="Google Shape;3761;p26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2" name="Google Shape;3762;p26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63" name="Google Shape;3763;p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764" name="Google Shape;3764;p26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65" name="Google Shape;3765;p26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766" name="Google Shape;3766;p26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67" name="Google Shape;3767;p26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768" name="Google Shape;3768;p26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9" name="Google Shape;3769;p26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3770" name="Google Shape;3770;p26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71" name="Google Shape;3771;p26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772" name="Google Shape;3772;p26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773" name="Google Shape;3773;p2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774" name="Google Shape;3774;p26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75" name="Google Shape;3775;p26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76" name="Google Shape;3776;p26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77" name="Google Shape;3777;p26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78" name="Google Shape;3778;p26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79" name="Google Shape;3779;p26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780" name="Google Shape;3780;p26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781" name="Google Shape;3781;p26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3782" name="Google Shape;3782;p26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3783" name="Google Shape;3783;p2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3784" name="Google Shape;3784;p26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3785" name="Google Shape;3785;p26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86" name="Google Shape;3786;p26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87" name="Google Shape;3787;p26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88" name="Google Shape;3788;p26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89" name="Google Shape;3789;p26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90" name="Google Shape;3790;p26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91" name="Google Shape;3791;p26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92" name="Google Shape;3792;p26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93" name="Google Shape;3793;p2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94" name="Google Shape;3794;p26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95" name="Google Shape;3795;p26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96" name="Google Shape;3796;p26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97" name="Google Shape;3797;p26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98" name="Google Shape;3798;p26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799" name="Google Shape;3799;p26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800" name="Google Shape;3800;p26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801" name="Google Shape;3801;p26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3802" name="Google Shape;3802;p26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803" name="Google Shape;3803;p2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4" name="Google Shape;3804;p26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$532</a:t>
            </a:r>
            <a:endParaRPr/>
          </a:p>
        </p:txBody>
      </p:sp>
      <p:sp>
        <p:nvSpPr>
          <p:cNvPr id="3805" name="Google Shape;3805;p26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806" name="Google Shape;3806;p26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7" name="Google Shape;3807;p26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8" name="Google Shape;3808;p26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809" name="Google Shape;3809;p26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0" name="Google Shape;3810;p26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3811" name="Google Shape;3811;p26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$111K</a:t>
            </a:r>
            <a:endParaRPr/>
          </a:p>
        </p:txBody>
      </p:sp>
      <p:sp>
        <p:nvSpPr>
          <p:cNvPr id="3812" name="Google Shape;3812;p26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3" name="Google Shape;3813;p2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$128K</a:t>
            </a:r>
            <a:endParaRPr/>
          </a:p>
        </p:txBody>
      </p:sp>
      <p:sp>
        <p:nvSpPr>
          <p:cNvPr id="3814" name="Google Shape;3814;p26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3815" name="Google Shape;3815;p26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6" name="Google Shape;3816;p26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817" name="Google Shape;3817;p26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818" name="Google Shape;3818;p26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$26,465 YTD gross written premium</a:t>
            </a:r>
            <a:endParaRPr/>
          </a:p>
        </p:txBody>
      </p:sp>
      <p:sp>
        <p:nvSpPr>
          <p:cNvPr id="3819" name="Google Shape;3819;p26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820" name="Google Shape;3820;p26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$20,493 in new business production</a:t>
            </a:r>
            <a:endParaRPr/>
          </a:p>
        </p:txBody>
      </p:sp>
      <p:sp>
        <p:nvSpPr>
          <p:cNvPr id="3821" name="Google Shape;3821;p26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2" name="Google Shape;3822;p26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823" name="Google Shape;3823;p2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24" name="Google Shape;3824;p26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825" name="Google Shape;3825;p2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26" name="Google Shape;3826;p26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827" name="Google Shape;3827;p2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8" name="Google Shape;3828;p26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829" name="Google Shape;3829;p26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830" name="Google Shape;3830;p26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$20,493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3831" name="Google Shape;3831;p26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832" name="Google Shape;3832;p26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36" name="Shape 3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7" name="Google Shape;3837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8" name="Google Shape;3838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Genesis Truck Insurance Services, Inc.</a:t>
            </a:r>
            <a:endParaRPr/>
          </a:p>
        </p:txBody>
      </p:sp>
      <p:sp>
        <p:nvSpPr>
          <p:cNvPr id="3839" name="Google Shape;3839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Ranch Cucamonga</a:t>
            </a:r>
            <a:endParaRPr/>
          </a:p>
        </p:txBody>
      </p:sp>
      <p:sp>
        <p:nvSpPr>
          <p:cNvPr id="3840" name="Google Shape;3840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841" name="Google Shape;3841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42" name="Google Shape;3842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43" name="Google Shape;3843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44" name="Google Shape;3844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45" name="Google Shape;3845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846" name="Google Shape;3846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847" name="Google Shape;3847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848" name="Google Shape;3848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49" name="Google Shape;3849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50" name="Google Shape;3850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51" name="Google Shape;3851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852" name="Google Shape;3852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853" name="Google Shape;3853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4" name="Google Shape;3854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855" name="Google Shape;3855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56" name="Google Shape;3856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857" name="Google Shape;3857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58" name="Google Shape;3858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59" name="Google Shape;3859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60" name="Google Shape;3860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861" name="Google Shape;3861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2" name="Google Shape;3862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63" name="Google Shape;3863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4" name="Google Shape;3864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5" name="Google Shape;3865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6" name="Google Shape;3866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7" name="Google Shape;3867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8" name="Google Shape;3868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9" name="Google Shape;3869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70" name="Google Shape;3870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1" name="Google Shape;3871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2" name="Google Shape;3872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3" name="Google Shape;3873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4" name="Google Shape;3874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5" name="Google Shape;3875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6" name="Google Shape;3876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77" name="Google Shape;3877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8" name="Google Shape;3878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79" name="Google Shape;3879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0" name="Google Shape;3880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1" name="Google Shape;3881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2" name="Google Shape;3882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3" name="Google Shape;3883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84" name="Google Shape;3884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5" name="Google Shape;3885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6" name="Google Shape;3886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7" name="Google Shape;3887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8" name="Google Shape;3888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89" name="Google Shape;3889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0" name="Google Shape;3890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91" name="Google Shape;3891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</p:txBody>
      </p:sp>
      <p:sp>
        <p:nvSpPr>
          <p:cNvPr id="3892" name="Google Shape;3892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</p:txBody>
      </p:sp>
      <p:sp>
        <p:nvSpPr>
          <p:cNvPr id="3893" name="Google Shape;3893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4" name="Google Shape;3894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5" name="Google Shape;3895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6" name="Google Shape;3896;p27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7" name="Google Shape;3897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898" name="Google Shape;3898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99" name="Google Shape;3899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0" name="Google Shape;3900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1" name="Google Shape;3901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2" name="Google Shape;3902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3" name="Google Shape;3903;p2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4" name="Google Shape;3904;p27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05" name="Google Shape;3905;p27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</p:txBody>
      </p:sp>
      <p:sp>
        <p:nvSpPr>
          <p:cNvPr id="3906" name="Google Shape;3906;p27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</a:t>
            </a:r>
            <a:endParaRPr/>
          </a:p>
        </p:txBody>
      </p:sp>
      <p:sp>
        <p:nvSpPr>
          <p:cNvPr id="3907" name="Google Shape;3907;p27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8" name="Google Shape;3908;p27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9" name="Google Shape;3909;p27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10" name="Google Shape;3910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1" name="Google Shape;3911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912" name="Google Shape;3912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13" name="Google Shape;3913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914" name="Google Shape;3914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915" name="Google Shape;3915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916" name="Google Shape;3916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17" name="Google Shape;3917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18" name="Google Shape;3918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9" name="Google Shape;3919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20" name="Google Shape;3920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1" name="Google Shape;3921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2" name="Google Shape;3922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3" name="Google Shape;3923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4" name="Google Shape;3924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25" name="Google Shape;3925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6" name="Google Shape;3926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27" name="Google Shape;3927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8" name="Google Shape;3928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29" name="Google Shape;3929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0" name="Google Shape;3930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1" name="Google Shape;3931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32" name="Google Shape;3932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3" name="Google Shape;3933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34" name="Google Shape;3934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5" name="Google Shape;3935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6" name="Google Shape;3936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7" name="Google Shape;3937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38" name="Google Shape;3938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39" name="Google Shape;3939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0" name="Google Shape;3940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41" name="Google Shape;3941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42" name="Google Shape;3942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3" name="Google Shape;3943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44" name="Google Shape;3944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45" name="Google Shape;3945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46" name="Google Shape;3946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7" name="Google Shape;3947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48" name="Google Shape;3948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49" name="Google Shape;3949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50" name="Google Shape;3950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951" name="Google Shape;3951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52" name="Google Shape;3952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3953" name="Google Shape;3953;p2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4" name="Google Shape;3954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955" name="Google Shape;3955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56" name="Google Shape;3956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57" name="Google Shape;3957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58" name="Google Shape;3958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59" name="Google Shape;3959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60" name="Google Shape;3960;p27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1" name="Google Shape;3961;p27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62" name="Google Shape;3962;p27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963" name="Google Shape;3963;p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64" name="Google Shape;3964;p27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65" name="Google Shape;3965;p27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66" name="Google Shape;3966;p27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3967" name="Google Shape;3967;p27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8" name="Google Shape;3968;p27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3969" name="Google Shape;3969;p27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970" name="Google Shape;3970;p27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971" name="Google Shape;3971;p27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972" name="Google Shape;3972;p27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973" name="Google Shape;3973;p2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974" name="Google Shape;3974;p27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975" name="Google Shape;3975;p27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976" name="Google Shape;3976;p27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977" name="Google Shape;3977;p27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978" name="Google Shape;3978;p27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979" name="Google Shape;3979;p27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980" name="Google Shape;3980;p27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3981" name="Google Shape;3981;p27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3982" name="Google Shape;3982;p27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3983" name="Google Shape;3983;p2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3984" name="Google Shape;3984;p27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85" name="Google Shape;3985;p27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6" name="Google Shape;3986;p27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7" name="Google Shape;3987;p27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8" name="Google Shape;3988;p27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9" name="Google Shape;3989;p27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0" name="Google Shape;3990;p27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1" name="Google Shape;3991;p27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2" name="Google Shape;3992;p27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93" name="Google Shape;3993;p2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4" name="Google Shape;3994;p27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995" name="Google Shape;3995;p27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6" name="Google Shape;3996;p27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7" name="Google Shape;3997;p27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8" name="Google Shape;3998;p27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999" name="Google Shape;3999;p27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000" name="Google Shape;4000;p27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1" name="Google Shape;4001;p27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2" name="Google Shape;4002;p27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3" name="Google Shape;4003;p2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4" name="Google Shape;4004;p27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5" name="Google Shape;4005;p27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6" name="Google Shape;4006;p27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7" name="Google Shape;4007;p27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8" name="Google Shape;4008;p27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9" name="Google Shape;4009;p27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010" name="Google Shape;4010;p27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1" name="Google Shape;4011;p27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2" name="Google Shape;4012;p27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13" name="Google Shape;4013;p2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014" name="Google Shape;4014;p27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5" name="Google Shape;4015;p27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016" name="Google Shape;4016;p27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17" name="Google Shape;4017;p27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 YTD gross written premium</a:t>
            </a:r>
            <a:endParaRPr/>
          </a:p>
        </p:txBody>
      </p:sp>
      <p:sp>
        <p:nvSpPr>
          <p:cNvPr id="4018" name="Google Shape;4018;p27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19" name="Google Shape;4019;p27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$22,749 in new business production</a:t>
            </a:r>
            <a:endParaRPr/>
          </a:p>
        </p:txBody>
      </p:sp>
      <p:sp>
        <p:nvSpPr>
          <p:cNvPr id="4020" name="Google Shape;4020;p27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1" name="Google Shape;4021;p27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022" name="Google Shape;4022;p27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23" name="Google Shape;4023;p2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4024" name="Google Shape;4024;p27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25" name="Google Shape;4025;p2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4026" name="Google Shape;4026;p27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7" name="Google Shape;4027;p2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028" name="Google Shape;4028;p27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029" name="Google Shape;4029;p27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$22,749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33" name="Shape 4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4" name="Google Shape;4034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5" name="Google Shape;4035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Julian Reyes Insurance Agency, Inc.</a:t>
            </a:r>
            <a:endParaRPr/>
          </a:p>
        </p:txBody>
      </p:sp>
      <p:sp>
        <p:nvSpPr>
          <p:cNvPr id="4036" name="Google Shape;4036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CA  |  City: Pomona</a:t>
            </a:r>
            <a:endParaRPr/>
          </a:p>
        </p:txBody>
      </p:sp>
      <p:sp>
        <p:nvSpPr>
          <p:cNvPr id="4037" name="Google Shape;4037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038" name="Google Shape;4038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39" name="Google Shape;4039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40" name="Google Shape;4040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41" name="Google Shape;4041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42" name="Google Shape;4042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043" name="Google Shape;4043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044" name="Google Shape;4044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045" name="Google Shape;4045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46" name="Google Shape;4046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47" name="Google Shape;4047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48" name="Google Shape;4048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049" name="Google Shape;4049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050" name="Google Shape;4050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1" name="Google Shape;4051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052" name="Google Shape;4052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53" name="Google Shape;4053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054" name="Google Shape;4054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55" name="Google Shape;4055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56" name="Google Shape;4056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57" name="Google Shape;4057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58" name="Google Shape;4058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9" name="Google Shape;4059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60" name="Google Shape;4060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1" name="Google Shape;4061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2" name="Google Shape;4062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3" name="Google Shape;4063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4" name="Google Shape;4064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5" name="Google Shape;4065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6" name="Google Shape;4066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67" name="Google Shape;4067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8" name="Google Shape;4068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9" name="Google Shape;4069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0" name="Google Shape;4070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1" name="Google Shape;4071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2" name="Google Shape;4072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3" name="Google Shape;4073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74" name="Google Shape;4074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5" name="Google Shape;4075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6" name="Google Shape;4076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7" name="Google Shape;4077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8" name="Google Shape;4078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79" name="Google Shape;4079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0" name="Google Shape;4080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81" name="Google Shape;4081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2" name="Google Shape;4082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3" name="Google Shape;4083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4" name="Google Shape;4084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5" name="Google Shape;4085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86" name="Google Shape;4086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7" name="Google Shape;4087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88" name="Google Shape;4088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$21,653</a:t>
            </a:r>
            <a:endParaRPr/>
          </a:p>
        </p:txBody>
      </p:sp>
      <p:sp>
        <p:nvSpPr>
          <p:cNvPr id="4089" name="Google Shape;4089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$21,653</a:t>
            </a:r>
            <a:endParaRPr/>
          </a:p>
        </p:txBody>
      </p:sp>
      <p:sp>
        <p:nvSpPr>
          <p:cNvPr id="4090" name="Google Shape;4090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1" name="Google Shape;4091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2" name="Google Shape;4092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3" name="Google Shape;4093;p28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4" name="Google Shape;4094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095" name="Google Shape;4095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6" name="Google Shape;4096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7" name="Google Shape;4097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8" name="Google Shape;4098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99" name="Google Shape;4099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00" name="Google Shape;4100;p28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1" name="Google Shape;4101;p2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02" name="Google Shape;4102;p28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$21,653</a:t>
            </a:r>
            <a:endParaRPr/>
          </a:p>
        </p:txBody>
      </p:sp>
      <p:sp>
        <p:nvSpPr>
          <p:cNvPr id="4103" name="Google Shape;4103;p28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$21,653</a:t>
            </a:r>
            <a:endParaRPr/>
          </a:p>
        </p:txBody>
      </p:sp>
      <p:sp>
        <p:nvSpPr>
          <p:cNvPr id="4104" name="Google Shape;4104;p28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05" name="Google Shape;4105;p28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06" name="Google Shape;4106;p28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07" name="Google Shape;4107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8" name="Google Shape;4108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109" name="Google Shape;4109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10" name="Google Shape;4110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111" name="Google Shape;4111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112" name="Google Shape;4112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113" name="Google Shape;4113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14" name="Google Shape;4114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15" name="Google Shape;4115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6" name="Google Shape;4116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17" name="Google Shape;4117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18" name="Google Shape;4118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19" name="Google Shape;4119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20" name="Google Shape;4120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21" name="Google Shape;4121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22" name="Google Shape;4122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3" name="Google Shape;4123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24" name="Google Shape;4124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25" name="Google Shape;4125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26" name="Google Shape;4126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27" name="Google Shape;4127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28" name="Google Shape;4128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29" name="Google Shape;4129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0" name="Google Shape;4130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31" name="Google Shape;4131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132" name="Google Shape;4132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33" name="Google Shape;4133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134" name="Google Shape;4134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35" name="Google Shape;4135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36" name="Google Shape;4136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7" name="Google Shape;4137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38" name="Google Shape;4138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139" name="Google Shape;4139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40" name="Google Shape;4140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141" name="Google Shape;4141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42" name="Google Shape;4142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43" name="Google Shape;4143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4" name="Google Shape;4144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45" name="Google Shape;4145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146" name="Google Shape;4146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47" name="Google Shape;4147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148" name="Google Shape;4148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49" name="Google Shape;4149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4150" name="Google Shape;4150;p28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1" name="Google Shape;4151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152" name="Google Shape;4152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53" name="Google Shape;4153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54" name="Google Shape;4154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55" name="Google Shape;4155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56" name="Google Shape;4156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57" name="Google Shape;4157;p28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8" name="Google Shape;4158;p28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59" name="Google Shape;4159;p28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160" name="Google Shape;4160;p28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61" name="Google Shape;4161;p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162" name="Google Shape;4162;p28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63" name="Google Shape;4163;p28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4164" name="Google Shape;4164;p28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5" name="Google Shape;4165;p28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4166" name="Google Shape;4166;p28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167" name="Google Shape;4167;p28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168" name="Google Shape;4168;p28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169" name="Google Shape;4169;p28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170" name="Google Shape;4170;p28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171" name="Google Shape;4171;p2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172" name="Google Shape;4172;p28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173" name="Google Shape;4173;p28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174" name="Google Shape;4174;p28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175" name="Google Shape;4175;p28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176" name="Google Shape;4176;p28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177" name="Google Shape;4177;p28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4178" name="Google Shape;4178;p28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4179" name="Google Shape;4179;p28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4180" name="Google Shape;4180;p28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4181" name="Google Shape;4181;p2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82" name="Google Shape;4182;p28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3" name="Google Shape;4183;p28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4" name="Google Shape;4184;p28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5" name="Google Shape;4185;p28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6" name="Google Shape;4186;p28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7" name="Google Shape;4187;p28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188" name="Google Shape;4188;p28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9" name="Google Shape;4189;p28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190" name="Google Shape;4190;p28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1" name="Google Shape;4191;p2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192" name="Google Shape;4192;p28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3" name="Google Shape;4193;p28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4" name="Google Shape;4194;p28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5" name="Google Shape;4195;p28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196" name="Google Shape;4196;p28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197" name="Google Shape;4197;p28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8" name="Google Shape;4198;p28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99" name="Google Shape;4199;p28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0" name="Google Shape;4200;p28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1" name="Google Shape;4201;p2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2" name="Google Shape;4202;p28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3" name="Google Shape;4203;p28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4" name="Google Shape;4204;p28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5" name="Google Shape;4205;p28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6" name="Google Shape;4206;p28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4207" name="Google Shape;4207;p28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8" name="Google Shape;4208;p28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09" name="Google Shape;4209;p28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10" name="Google Shape;4210;p28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4211" name="Google Shape;4211;p2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2" name="Google Shape;4212;p28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213" name="Google Shape;4213;p28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14" name="Google Shape;4214;p28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$21,653 YTD gross written premium</a:t>
            </a:r>
            <a:endParaRPr/>
          </a:p>
        </p:txBody>
      </p:sp>
      <p:sp>
        <p:nvSpPr>
          <p:cNvPr id="4215" name="Google Shape;4215;p28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16" name="Google Shape;4216;p28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$21,653 in new business production</a:t>
            </a:r>
            <a:endParaRPr/>
          </a:p>
        </p:txBody>
      </p:sp>
      <p:sp>
        <p:nvSpPr>
          <p:cNvPr id="4217" name="Google Shape;4217;p28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8" name="Google Shape;4218;p28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219" name="Google Shape;4219;p28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20" name="Google Shape;4220;p28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4221" name="Google Shape;4221;p2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22" name="Google Shape;4222;p28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4223" name="Google Shape;4223;p2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4" name="Google Shape;4224;p28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225" name="Google Shape;4225;p2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226" name="Google Shape;4226;p28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$21,653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30" name="Shape 4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1" name="Google Shape;4231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2" name="Google Shape;4232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All Capital Insurance Agency Inc</a:t>
            </a:r>
            <a:endParaRPr/>
          </a:p>
        </p:txBody>
      </p:sp>
      <p:sp>
        <p:nvSpPr>
          <p:cNvPr id="4233" name="Google Shape;4233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Pacific Northwest  |  State: WA  |  City: Vancouver</a:t>
            </a:r>
            <a:endParaRPr/>
          </a:p>
        </p:txBody>
      </p:sp>
      <p:sp>
        <p:nvSpPr>
          <p:cNvPr id="4234" name="Google Shape;4234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235" name="Google Shape;4235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236" name="Google Shape;4236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237" name="Google Shape;4237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238" name="Google Shape;4238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$-17,116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39" name="Google Shape;4239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$149,423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240" name="Google Shape;4240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$143,783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241" name="Google Shape;4241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242" name="Google Shape;4242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43" name="Google Shape;4243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244" name="Google Shape;4244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245" name="Google Shape;4245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246" name="Google Shape;4246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$71,746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247" name="Google Shape;4247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8" name="Google Shape;4248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249" name="Google Shape;4249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250" name="Google Shape;4250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251" name="Google Shape;4251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252" name="Google Shape;4252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253" name="Google Shape;4253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254" name="Google Shape;4254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55" name="Google Shape;4255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6" name="Google Shape;4256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257" name="Google Shape;4257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$19,628</a:t>
            </a:r>
            <a:endParaRPr/>
          </a:p>
        </p:txBody>
      </p:sp>
      <p:sp>
        <p:nvSpPr>
          <p:cNvPr id="4258" name="Google Shape;4258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$17,593</a:t>
            </a:r>
            <a:endParaRPr/>
          </a:p>
        </p:txBody>
      </p:sp>
      <p:sp>
        <p:nvSpPr>
          <p:cNvPr id="4259" name="Google Shape;4259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0" name="Google Shape;4260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$2,035</a:t>
            </a:r>
            <a:endParaRPr/>
          </a:p>
        </p:txBody>
      </p:sp>
      <p:sp>
        <p:nvSpPr>
          <p:cNvPr id="4261" name="Google Shape;4261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2" name="Google Shape;4262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3" name="Google Shape;4263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264" name="Google Shape;4264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5" name="Google Shape;4265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6" name="Google Shape;4266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7" name="Google Shape;4267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8" name="Google Shape;4268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9" name="Google Shape;4269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0" name="Google Shape;4270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71" name="Google Shape;4271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72" name="Google Shape;4272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73" name="Google Shape;4273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74" name="Google Shape;4274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75" name="Google Shape;4275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$-17,116</a:t>
            </a:r>
            <a:endParaRPr/>
          </a:p>
        </p:txBody>
      </p:sp>
      <p:sp>
        <p:nvSpPr>
          <p:cNvPr id="4276" name="Google Shape;4276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7" name="Google Shape;4277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78" name="Google Shape;4278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4279" name="Google Shape;4279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4280" name="Google Shape;4280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81" name="Google Shape;4281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82" name="Google Shape;4282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83" name="Google Shape;4283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4" name="Google Shape;4284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85" name="Google Shape;4285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$-2,835</a:t>
            </a:r>
            <a:endParaRPr/>
          </a:p>
        </p:txBody>
      </p:sp>
      <p:sp>
        <p:nvSpPr>
          <p:cNvPr id="4286" name="Google Shape;4286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87" name="Google Shape;4287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88" name="Google Shape;4288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$-2,835</a:t>
            </a:r>
            <a:endParaRPr/>
          </a:p>
        </p:txBody>
      </p:sp>
      <p:sp>
        <p:nvSpPr>
          <p:cNvPr id="4289" name="Google Shape;4289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0" name="Google Shape;4290;p29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1" name="Google Shape;4291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292" name="Google Shape;4292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3" name="Google Shape;4293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4" name="Google Shape;4294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5" name="Google Shape;4295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6" name="Google Shape;4296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97" name="Google Shape;4297;p29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8" name="Google Shape;4298;p29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99" name="Google Shape;4299;p2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$17,343</a:t>
            </a:r>
            <a:endParaRPr/>
          </a:p>
        </p:txBody>
      </p:sp>
      <p:sp>
        <p:nvSpPr>
          <p:cNvPr id="4300" name="Google Shape;4300;p29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$18,143</a:t>
            </a:r>
            <a:endParaRPr/>
          </a:p>
        </p:txBody>
      </p:sp>
      <p:sp>
        <p:nvSpPr>
          <p:cNvPr id="4301" name="Google Shape;4301;p29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02" name="Google Shape;4302;p29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$-800</a:t>
            </a:r>
            <a:endParaRPr/>
          </a:p>
        </p:txBody>
      </p:sp>
      <p:sp>
        <p:nvSpPr>
          <p:cNvPr id="4303" name="Google Shape;4303;p29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$-17,116</a:t>
            </a:r>
            <a:endParaRPr/>
          </a:p>
        </p:txBody>
      </p:sp>
      <p:sp>
        <p:nvSpPr>
          <p:cNvPr id="4304" name="Google Shape;4304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5" name="Google Shape;4305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306" name="Google Shape;4306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07" name="Google Shape;4307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308" name="Google Shape;4308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309" name="Google Shape;4309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310" name="Google Shape;4310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11" name="Google Shape;4311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12" name="Google Shape;4312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3" name="Google Shape;4313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14" name="Google Shape;4314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4315" name="Google Shape;4315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16" name="Google Shape;4316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4317" name="Google Shape;4317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318" name="Google Shape;4318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4319" name="Google Shape;4319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0" name="Google Shape;4320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21" name="Google Shape;4321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4322" name="Google Shape;4322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323" name="Google Shape;4323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4324" name="Google Shape;4324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25" name="Google Shape;4325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26" name="Google Shape;4326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7" name="Google Shape;4327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28" name="Google Shape;4328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4329" name="Google Shape;4329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330" name="Google Shape;4330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331" name="Google Shape;4331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32" name="Google Shape;4332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4333" name="Google Shape;4333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4" name="Google Shape;4334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35" name="Google Shape;4335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336" name="Google Shape;4336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337" name="Google Shape;4337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338" name="Google Shape;4338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39" name="Google Shape;4339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3.0%</a:t>
            </a:r>
            <a:endParaRPr/>
          </a:p>
        </p:txBody>
      </p:sp>
      <p:sp>
        <p:nvSpPr>
          <p:cNvPr id="4340" name="Google Shape;4340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1" name="Google Shape;4341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42" name="Google Shape;4342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343" name="Google Shape;4343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344" name="Google Shape;4344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4345" name="Google Shape;4345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46" name="Google Shape;4346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6.1%</a:t>
            </a:r>
            <a:endParaRPr/>
          </a:p>
        </p:txBody>
      </p:sp>
      <p:sp>
        <p:nvSpPr>
          <p:cNvPr id="4347" name="Google Shape;4347;p29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8" name="Google Shape;4348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349" name="Google Shape;4349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50" name="Google Shape;4350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51" name="Google Shape;4351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52" name="Google Shape;4352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53" name="Google Shape;4353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54" name="Google Shape;4354;p29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5" name="Google Shape;4355;p29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56" name="Google Shape;4356;p29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229</a:t>
            </a:r>
            <a:endParaRPr/>
          </a:p>
        </p:txBody>
      </p:sp>
      <p:sp>
        <p:nvSpPr>
          <p:cNvPr id="4357" name="Google Shape;4357;p29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358" name="Google Shape;4358;p29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184</a:t>
            </a:r>
            <a:endParaRPr/>
          </a:p>
        </p:txBody>
      </p:sp>
      <p:sp>
        <p:nvSpPr>
          <p:cNvPr id="4359" name="Google Shape;4359;p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360" name="Google Shape;4360;p29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4361" name="Google Shape;4361;p29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2" name="Google Shape;4362;p29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4363" name="Google Shape;4363;p29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364" name="Google Shape;4364;p29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365" name="Google Shape;4365;p29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366" name="Google Shape;4366;p29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367" name="Google Shape;4367;p29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368" name="Google Shape;4368;p29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369" name="Google Shape;4369;p2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370" name="Google Shape;4370;p29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371" name="Google Shape;4371;p29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372" name="Google Shape;4372;p29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373" name="Google Shape;4373;p29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374" name="Google Shape;4374;p29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4375" name="Google Shape;4375;p29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4376" name="Google Shape;4376;p29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4377" name="Google Shape;4377;p29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4378" name="Google Shape;4378;p29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79" name="Google Shape;4379;p2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380" name="Google Shape;4380;p29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4381" name="Google Shape;4381;p29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382" name="Google Shape;4382;p29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4383" name="Google Shape;4383;p29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384" name="Google Shape;4384;p29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4385" name="Google Shape;4385;p29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386" name="Google Shape;4386;p29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387" name="Google Shape;4387;p29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388" name="Google Shape;4388;p29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4389" name="Google Shape;4389;p2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4390" name="Google Shape;4390;p29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1" name="Google Shape;4391;p29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4392" name="Google Shape;4392;p29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239</a:t>
            </a:r>
            <a:endParaRPr/>
          </a:p>
        </p:txBody>
      </p:sp>
      <p:sp>
        <p:nvSpPr>
          <p:cNvPr id="4393" name="Google Shape;4393;p29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394" name="Google Shape;4394;p29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4395" name="Google Shape;4395;p29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4396" name="Google Shape;4396;p29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</a:t>
            </a:r>
            <a:endParaRPr/>
          </a:p>
        </p:txBody>
      </p:sp>
      <p:sp>
        <p:nvSpPr>
          <p:cNvPr id="4397" name="Google Shape;4397;p29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98" name="Google Shape;4398;p29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4399" name="Google Shape;4399;p2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00" name="Google Shape;4400;p29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01" name="Google Shape;4401;p29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4402" name="Google Shape;4402;p29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03" name="Google Shape;4403;p29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$-2,835</a:t>
            </a:r>
            <a:endParaRPr/>
          </a:p>
        </p:txBody>
      </p:sp>
      <p:sp>
        <p:nvSpPr>
          <p:cNvPr id="4404" name="Google Shape;4404;p29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4405" name="Google Shape;4405;p29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06" name="Google Shape;4406;p29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407" name="Google Shape;4407;p29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4408" name="Google Shape;4408;p29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9" name="Google Shape;4409;p2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410" name="Google Shape;4410;p29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11" name="Google Shape;4411;p29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$17,343 YTD gross written premium</a:t>
            </a:r>
            <a:endParaRPr/>
          </a:p>
        </p:txBody>
      </p:sp>
      <p:sp>
        <p:nvSpPr>
          <p:cNvPr id="4412" name="Google Shape;4412;p29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13" name="Google Shape;4413;p29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$18,143 in new business production</a:t>
            </a:r>
            <a:endParaRPr/>
          </a:p>
        </p:txBody>
      </p:sp>
      <p:sp>
        <p:nvSpPr>
          <p:cNvPr id="4414" name="Google Shape;4414;p29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5" name="Google Shape;4415;p29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416" name="Google Shape;4416;p29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17" name="Google Shape;4417;p29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2.2% hit ratio on 229 subs - needs coaching</a:t>
            </a:r>
            <a:endParaRPr/>
          </a:p>
        </p:txBody>
      </p:sp>
      <p:sp>
        <p:nvSpPr>
          <p:cNvPr id="4418" name="Google Shape;4418;p29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19" name="Google Shape;4419;p2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94% of new business ($17,116)</a:t>
            </a:r>
            <a:endParaRPr/>
          </a:p>
        </p:txBody>
      </p:sp>
      <p:sp>
        <p:nvSpPr>
          <p:cNvPr id="4420" name="Google Shape;4420;p29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1" name="Google Shape;4421;p2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422" name="Google Shape;4422;p29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423" name="Google Shape;4423;p2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(229 subs, only 5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424" name="Google Shape;4424;p29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425" name="Google Shape;4425;p29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$18,143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29" name="Shape 4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0" name="Google Shape;4430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1" name="Google Shape;4431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Silicon Valley Insurance Center Inc.</a:t>
            </a:r>
            <a:endParaRPr/>
          </a:p>
        </p:txBody>
      </p:sp>
      <p:sp>
        <p:nvSpPr>
          <p:cNvPr id="4432" name="Google Shape;4432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San Diego</a:t>
            </a:r>
            <a:endParaRPr/>
          </a:p>
        </p:txBody>
      </p:sp>
      <p:sp>
        <p:nvSpPr>
          <p:cNvPr id="4433" name="Google Shape;4433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434" name="Google Shape;4434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35" name="Google Shape;4435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36" name="Google Shape;4436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37" name="Google Shape;4437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38" name="Google Shape;4438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$73,589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439" name="Google Shape;4439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440" name="Google Shape;4440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441" name="Google Shape;4441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42" name="Google Shape;4442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43" name="Google Shape;4443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44" name="Google Shape;4444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445" name="Google Shape;4445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446" name="Google Shape;4446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7" name="Google Shape;4447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448" name="Google Shape;4448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49" name="Google Shape;4449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450" name="Google Shape;4450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51" name="Google Shape;4451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52" name="Google Shape;4452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53" name="Google Shape;4453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54" name="Google Shape;4454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5" name="Google Shape;4455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456" name="Google Shape;4456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57" name="Google Shape;4457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58" name="Google Shape;4458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59" name="Google Shape;4459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0" name="Google Shape;4460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1" name="Google Shape;4461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2" name="Google Shape;4462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463" name="Google Shape;4463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$4,352</a:t>
            </a:r>
            <a:endParaRPr/>
          </a:p>
        </p:txBody>
      </p:sp>
      <p:sp>
        <p:nvSpPr>
          <p:cNvPr id="4464" name="Google Shape;4464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5" name="Google Shape;4465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6" name="Google Shape;4466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$4,352</a:t>
            </a:r>
            <a:endParaRPr/>
          </a:p>
        </p:txBody>
      </p:sp>
      <p:sp>
        <p:nvSpPr>
          <p:cNvPr id="4467" name="Google Shape;4467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8" name="Google Shape;4468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9" name="Google Shape;4469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470" name="Google Shape;4470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$-192</a:t>
            </a:r>
            <a:endParaRPr/>
          </a:p>
        </p:txBody>
      </p:sp>
      <p:sp>
        <p:nvSpPr>
          <p:cNvPr id="4471" name="Google Shape;4471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2" name="Google Shape;4472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3" name="Google Shape;4473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$-192</a:t>
            </a:r>
            <a:endParaRPr/>
          </a:p>
        </p:txBody>
      </p:sp>
      <p:sp>
        <p:nvSpPr>
          <p:cNvPr id="4474" name="Google Shape;4474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5" name="Google Shape;4475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6" name="Google Shape;4476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477" name="Google Shape;4477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8" name="Google Shape;4478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79" name="Google Shape;4479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0" name="Google Shape;4480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1" name="Google Shape;4481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2" name="Google Shape;4482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3" name="Google Shape;4483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84" name="Google Shape;4484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5" name="Google Shape;4485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6" name="Google Shape;4486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7" name="Google Shape;4487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8" name="Google Shape;4488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89" name="Google Shape;4489;p3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0" name="Google Shape;4490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491" name="Google Shape;4491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2" name="Google Shape;4492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3" name="Google Shape;4493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4" name="Google Shape;4494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5" name="Google Shape;4495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6" name="Google Shape;4496;p30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7" name="Google Shape;4497;p30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98" name="Google Shape;4498;p30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4499" name="Google Shape;4499;p3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0" name="Google Shape;4500;p30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1" name="Google Shape;4501;p30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</a:t>
            </a:r>
            <a:endParaRPr/>
          </a:p>
        </p:txBody>
      </p:sp>
      <p:sp>
        <p:nvSpPr>
          <p:cNvPr id="4502" name="Google Shape;4502;p30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3" name="Google Shape;4503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4" name="Google Shape;4504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505" name="Google Shape;4505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06" name="Google Shape;4506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507" name="Google Shape;4507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508" name="Google Shape;4508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509" name="Google Shape;4509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10" name="Google Shape;4510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11" name="Google Shape;4511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2" name="Google Shape;4512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13" name="Google Shape;4513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14" name="Google Shape;4514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15" name="Google Shape;4515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16" name="Google Shape;4516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17" name="Google Shape;4517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18" name="Google Shape;4518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9" name="Google Shape;4519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20" name="Google Shape;4520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21" name="Google Shape;4521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22" name="Google Shape;4522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23" name="Google Shape;4523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24" name="Google Shape;4524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4525" name="Google Shape;4525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6" name="Google Shape;4526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27" name="Google Shape;4527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28" name="Google Shape;4528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29" name="Google Shape;4529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30" name="Google Shape;4530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31" name="Google Shape;4531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4532" name="Google Shape;4532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3" name="Google Shape;4533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34" name="Google Shape;4534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35" name="Google Shape;4535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36" name="Google Shape;4536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37" name="Google Shape;4537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38" name="Google Shape;4538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39" name="Google Shape;4539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0" name="Google Shape;4540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41" name="Google Shape;4541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42" name="Google Shape;4542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3" name="Google Shape;4543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44" name="Google Shape;4544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5" name="Google Shape;4545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46" name="Google Shape;4546;p30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7" name="Google Shape;4547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548" name="Google Shape;4548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49" name="Google Shape;4549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50" name="Google Shape;4550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51" name="Google Shape;4551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52" name="Google Shape;4552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53" name="Google Shape;4553;p30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4" name="Google Shape;4554;p30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55" name="Google Shape;4555;p30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556" name="Google Shape;4556;p30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57" name="Google Shape;4557;p30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558" name="Google Shape;4558;p30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59" name="Google Shape;4559;p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60" name="Google Shape;4560;p30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1" name="Google Shape;4561;p30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4562" name="Google Shape;4562;p30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563" name="Google Shape;4563;p30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564" name="Google Shape;4564;p30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565" name="Google Shape;4565;p30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566" name="Google Shape;4566;p30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567" name="Google Shape;4567;p30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568" name="Google Shape;4568;p30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569" name="Google Shape;4569;p3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570" name="Google Shape;4570;p30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571" name="Google Shape;4571;p30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572" name="Google Shape;4572;p30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573" name="Google Shape;4573;p30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4574" name="Google Shape;4574;p30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4575" name="Google Shape;4575;p30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4576" name="Google Shape;4576;p30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4577" name="Google Shape;4577;p30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78" name="Google Shape;4578;p30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79" name="Google Shape;4579;p3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0" name="Google Shape;4580;p30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1" name="Google Shape;4581;p30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82" name="Google Shape;4582;p30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83" name="Google Shape;4583;p30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84" name="Google Shape;4584;p30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85" name="Google Shape;4585;p30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86" name="Google Shape;4586;p30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87" name="Google Shape;4587;p30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88" name="Google Shape;4588;p30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89" name="Google Shape;4589;p3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90" name="Google Shape;4590;p30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591" name="Google Shape;4591;p30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592" name="Google Shape;4592;p30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593" name="Google Shape;4593;p30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$757</a:t>
            </a:r>
            <a:endParaRPr/>
          </a:p>
        </p:txBody>
      </p:sp>
      <p:sp>
        <p:nvSpPr>
          <p:cNvPr id="4594" name="Google Shape;4594;p30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5" name="Google Shape;4595;p30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96" name="Google Shape;4596;p30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4597" name="Google Shape;4597;p30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4598" name="Google Shape;4598;p30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$-192</a:t>
            </a:r>
            <a:endParaRPr/>
          </a:p>
        </p:txBody>
      </p:sp>
      <p:sp>
        <p:nvSpPr>
          <p:cNvPr id="4599" name="Google Shape;4599;p3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4600" name="Google Shape;4600;p30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1" name="Google Shape;4601;p30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</a:t>
            </a:r>
            <a:endParaRPr/>
          </a:p>
        </p:txBody>
      </p:sp>
      <p:sp>
        <p:nvSpPr>
          <p:cNvPr id="4602" name="Google Shape;4602;p30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3" name="Google Shape;4603;p30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4604" name="Google Shape;4604;p30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05" name="Google Shape;4605;p30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4606" name="Google Shape;4606;p30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4607" name="Google Shape;4607;p30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8" name="Google Shape;4608;p30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609" name="Google Shape;4609;p3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10" name="Google Shape;4610;p30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$4,160 YTD gross written premium</a:t>
            </a:r>
            <a:endParaRPr/>
          </a:p>
        </p:txBody>
      </p:sp>
      <p:sp>
        <p:nvSpPr>
          <p:cNvPr id="4611" name="Google Shape;4611;p30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12" name="Google Shape;4612;p30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4613" name="Google Shape;4613;p30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4" name="Google Shape;4614;p30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615" name="Google Shape;4615;p30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16" name="Google Shape;4616;p30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4617" name="Google Shape;4617;p30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18" name="Google Shape;4618;p30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104% month-over-month</a:t>
            </a:r>
            <a:endParaRPr/>
          </a:p>
        </p:txBody>
      </p:sp>
      <p:sp>
        <p:nvSpPr>
          <p:cNvPr id="4619" name="Google Shape;4619;p3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0" name="Google Shape;4620;p30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621" name="Google Shape;4621;p3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622" name="Google Shape;4622;p30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4 recent quotes and review together. Ask: "Which of these were closest to binding?" Offer to re-quote or adjust terms on the most promising ones.</a:t>
            </a:r>
            <a:endParaRPr/>
          </a:p>
        </p:txBody>
      </p:sp>
      <p:sp>
        <p:nvSpPr>
          <p:cNvPr id="4623" name="Google Shape;4623;p3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624" name="Google Shape;4624;p30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28" name="Shape 4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9" name="Google Shape;4629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0" name="Google Shape;4630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AMK Insurance Agency, Inc.</a:t>
            </a:r>
            <a:endParaRPr/>
          </a:p>
        </p:txBody>
      </p:sp>
      <p:sp>
        <p:nvSpPr>
          <p:cNvPr id="4631" name="Google Shape;4631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West  |  State: CA  |  City: San Jose</a:t>
            </a:r>
            <a:endParaRPr/>
          </a:p>
        </p:txBody>
      </p:sp>
      <p:sp>
        <p:nvSpPr>
          <p:cNvPr id="4632" name="Google Shape;4632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633" name="Google Shape;4633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34" name="Google Shape;4634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35" name="Google Shape;4635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36" name="Google Shape;4636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37" name="Google Shape;4637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638" name="Google Shape;4638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639" name="Google Shape;4639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640" name="Google Shape;4640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41" name="Google Shape;4641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42" name="Google Shape;4642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43" name="Google Shape;4643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644" name="Google Shape;4644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645" name="Google Shape;4645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6" name="Google Shape;4646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647" name="Google Shape;4647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648" name="Google Shape;4648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649" name="Google Shape;4649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50" name="Google Shape;4650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51" name="Google Shape;4651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52" name="Google Shape;4652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53" name="Google Shape;4653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4" name="Google Shape;4654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655" name="Google Shape;4655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6" name="Google Shape;4656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7" name="Google Shape;4657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8" name="Google Shape;4658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9" name="Google Shape;4659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0" name="Google Shape;4660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1" name="Google Shape;4661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62" name="Google Shape;4662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3" name="Google Shape;4663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4" name="Google Shape;4664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5" name="Google Shape;4665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6" name="Google Shape;4666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7" name="Google Shape;4667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8" name="Google Shape;4668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69" name="Google Shape;4669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0" name="Google Shape;4670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1" name="Google Shape;4671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2" name="Google Shape;4672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3" name="Google Shape;4673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4" name="Google Shape;4674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5" name="Google Shape;4675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676" name="Google Shape;4676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7" name="Google Shape;4677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8" name="Google Shape;4678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9" name="Google Shape;4679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0" name="Google Shape;4680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1" name="Google Shape;4681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2" name="Google Shape;4682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683" name="Google Shape;4683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4" name="Google Shape;4684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5" name="Google Shape;4685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6" name="Google Shape;4686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7" name="Google Shape;4687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8" name="Google Shape;4688;p31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9" name="Google Shape;4689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690" name="Google Shape;4690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1" name="Google Shape;4691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2" name="Google Shape;4692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3" name="Google Shape;4693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4" name="Google Shape;4694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5" name="Google Shape;4695;p31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6" name="Google Shape;4696;p31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97" name="Google Shape;4697;p31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8" name="Google Shape;4698;p31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99" name="Google Shape;4699;p3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0" name="Google Shape;4700;p31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1" name="Google Shape;4701;p31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2" name="Google Shape;4702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3" name="Google Shape;4703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04" name="Google Shape;4704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05" name="Google Shape;4705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06" name="Google Shape;4706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07" name="Google Shape;4707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08" name="Google Shape;4708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09" name="Google Shape;4709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10" name="Google Shape;4710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1" name="Google Shape;4711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12" name="Google Shape;4712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13" name="Google Shape;4713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14" name="Google Shape;4714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15" name="Google Shape;4715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16" name="Google Shape;4716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17" name="Google Shape;4717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8" name="Google Shape;4718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19" name="Google Shape;4719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0" name="Google Shape;4720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1" name="Google Shape;4721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2" name="Google Shape;4722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3" name="Google Shape;4723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24" name="Google Shape;4724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5" name="Google Shape;4725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26" name="Google Shape;4726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7" name="Google Shape;4727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8" name="Google Shape;4728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29" name="Google Shape;4729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30" name="Google Shape;4730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31" name="Google Shape;4731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2" name="Google Shape;4732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33" name="Google Shape;4733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734" name="Google Shape;4734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35" name="Google Shape;4735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36" name="Google Shape;4736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37" name="Google Shape;4737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38" name="Google Shape;4738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9" name="Google Shape;4739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40" name="Google Shape;4740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41" name="Google Shape;4741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42" name="Google Shape;4742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43" name="Google Shape;4743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4" name="Google Shape;4744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45" name="Google Shape;4745;p31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6" name="Google Shape;4746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747" name="Google Shape;4747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8" name="Google Shape;4748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9" name="Google Shape;4749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50" name="Google Shape;4750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51" name="Google Shape;4751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52" name="Google Shape;4752;p31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3" name="Google Shape;4753;p31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54" name="Google Shape;4754;p31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755" name="Google Shape;4755;p31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56" name="Google Shape;4756;p31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57" name="Google Shape;4757;p31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58" name="Google Shape;4758;p31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59" name="Google Shape;4759;p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0" name="Google Shape;4760;p31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4761" name="Google Shape;4761;p31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762" name="Google Shape;4762;p31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763" name="Google Shape;4763;p31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764" name="Google Shape;4764;p31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765" name="Google Shape;4765;p31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766" name="Google Shape;4766;p31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767" name="Google Shape;4767;p31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768" name="Google Shape;4768;p31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769" name="Google Shape;4769;p3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770" name="Google Shape;4770;p31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771" name="Google Shape;4771;p31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772" name="Google Shape;4772;p31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4773" name="Google Shape;4773;p31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4774" name="Google Shape;4774;p31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4775" name="Google Shape;4775;p31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4776" name="Google Shape;4776;p31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77" name="Google Shape;4777;p31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8" name="Google Shape;4778;p31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9" name="Google Shape;4779;p3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0" name="Google Shape;4780;p31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1" name="Google Shape;4781;p31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2" name="Google Shape;4782;p31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3" name="Google Shape;4783;p31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4" name="Google Shape;4784;p31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785" name="Google Shape;4785;p31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6" name="Google Shape;4786;p31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87" name="Google Shape;4787;p31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8" name="Google Shape;4788;p31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9" name="Google Shape;4789;p3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90" name="Google Shape;4790;p31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791" name="Google Shape;4791;p31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792" name="Google Shape;4792;p31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3" name="Google Shape;4793;p31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4" name="Google Shape;4794;p31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5" name="Google Shape;4795;p31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6" name="Google Shape;4796;p31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7" name="Google Shape;4797;p31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8" name="Google Shape;4798;p31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99" name="Google Shape;4799;p3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0" name="Google Shape;4800;p31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1" name="Google Shape;4801;p31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2" name="Google Shape;4802;p31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3" name="Google Shape;4803;p31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4" name="Google Shape;4804;p31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5" name="Google Shape;4805;p31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6" name="Google Shape;4806;p31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7" name="Google Shape;4807;p31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08" name="Google Shape;4808;p31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09" name="Google Shape;4809;p3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quotes generated - active in pipeline</a:t>
            </a:r>
            <a:endParaRPr/>
          </a:p>
        </p:txBody>
      </p:sp>
      <p:sp>
        <p:nvSpPr>
          <p:cNvPr id="4810" name="Google Shape;4810;p31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1" name="Google Shape;4811;p31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12" name="Google Shape;4812;p31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13" name="Google Shape;4813;p31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7 submissions</a:t>
            </a:r>
            <a:endParaRPr/>
          </a:p>
        </p:txBody>
      </p:sp>
      <p:sp>
        <p:nvSpPr>
          <p:cNvPr id="4814" name="Google Shape;4814;p31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15" name="Google Shape;4815;p31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4816" name="Google Shape;4816;p31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7" name="Google Shape;4817;p3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18" name="Google Shape;4818;p31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19" name="Google Shape;4819;p3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7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23" name="Shape 4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4" name="Google Shape;4824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5" name="Google Shape;4825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Avina's Insurance Services Inc.</a:t>
            </a:r>
            <a:endParaRPr/>
          </a:p>
        </p:txBody>
      </p:sp>
      <p:sp>
        <p:nvSpPr>
          <p:cNvPr id="4826" name="Google Shape;4826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Cerritos</a:t>
            </a:r>
            <a:endParaRPr/>
          </a:p>
        </p:txBody>
      </p:sp>
      <p:sp>
        <p:nvSpPr>
          <p:cNvPr id="4827" name="Google Shape;4827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828" name="Google Shape;4828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29" name="Google Shape;4829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30" name="Google Shape;4830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31" name="Google Shape;4831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32" name="Google Shape;4832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833" name="Google Shape;4833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834" name="Google Shape;4834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835" name="Google Shape;4835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36" name="Google Shape;4836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37" name="Google Shape;4837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38" name="Google Shape;4838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839" name="Google Shape;4839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840" name="Google Shape;4840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1" name="Google Shape;4841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842" name="Google Shape;4842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43" name="Google Shape;4843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844" name="Google Shape;4844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45" name="Google Shape;4845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46" name="Google Shape;4846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47" name="Google Shape;4847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48" name="Google Shape;4848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9" name="Google Shape;4849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50" name="Google Shape;4850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1" name="Google Shape;4851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2" name="Google Shape;4852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3" name="Google Shape;4853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4" name="Google Shape;4854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5" name="Google Shape;4855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6" name="Google Shape;4856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57" name="Google Shape;4857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8" name="Google Shape;4858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9" name="Google Shape;4859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0" name="Google Shape;4860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1" name="Google Shape;4861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2" name="Google Shape;4862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3" name="Google Shape;4863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864" name="Google Shape;4864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5" name="Google Shape;4865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6" name="Google Shape;4866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7" name="Google Shape;4867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8" name="Google Shape;4868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9" name="Google Shape;4869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0" name="Google Shape;4870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871" name="Google Shape;4871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2" name="Google Shape;4872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3" name="Google Shape;4873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4" name="Google Shape;4874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5" name="Google Shape;4875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6" name="Google Shape;4876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7" name="Google Shape;4877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878" name="Google Shape;4878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9" name="Google Shape;4879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0" name="Google Shape;4880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1" name="Google Shape;4881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2" name="Google Shape;4882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3" name="Google Shape;4883;p32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4" name="Google Shape;4884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885" name="Google Shape;4885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6" name="Google Shape;4886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7" name="Google Shape;4887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8" name="Google Shape;4888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9" name="Google Shape;4889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0" name="Google Shape;4890;p32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1" name="Google Shape;4891;p32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92" name="Google Shape;4892;p32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3" name="Google Shape;4893;p32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4" name="Google Shape;4894;p32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5" name="Google Shape;4895;p3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6" name="Google Shape;4896;p32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97" name="Google Shape;4897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8" name="Google Shape;4898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899" name="Google Shape;4899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00" name="Google Shape;4900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901" name="Google Shape;4901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902" name="Google Shape;4902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903" name="Google Shape;4903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04" name="Google Shape;4904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05" name="Google Shape;4905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6" name="Google Shape;4906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07" name="Google Shape;4907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908" name="Google Shape;4908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09" name="Google Shape;4909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910" name="Google Shape;4910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1" name="Google Shape;4911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12" name="Google Shape;4912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3" name="Google Shape;4913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14" name="Google Shape;4914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15" name="Google Shape;4915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16" name="Google Shape;4916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917" name="Google Shape;4917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18" name="Google Shape;4918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19" name="Google Shape;4919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0" name="Google Shape;4920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21" name="Google Shape;4921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922" name="Google Shape;4922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23" name="Google Shape;4923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24" name="Google Shape;4924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25" name="Google Shape;4925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26" name="Google Shape;4926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7" name="Google Shape;4927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28" name="Google Shape;4928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29" name="Google Shape;4929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30" name="Google Shape;4930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31" name="Google Shape;4931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32" name="Google Shape;4932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33" name="Google Shape;4933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4" name="Google Shape;4934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35" name="Google Shape;4935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36" name="Google Shape;4936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37" name="Google Shape;4937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38" name="Google Shape;4938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39" name="Google Shape;4939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40" name="Google Shape;4940;p32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1" name="Google Shape;4941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942" name="Google Shape;4942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3" name="Google Shape;4943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4" name="Google Shape;4944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5" name="Google Shape;4945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46" name="Google Shape;4946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47" name="Google Shape;4947;p32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8" name="Google Shape;4948;p32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49" name="Google Shape;4949;p32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4950" name="Google Shape;4950;p32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51" name="Google Shape;4951;p32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952" name="Google Shape;4952;p32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53" name="Google Shape;4953;p32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54" name="Google Shape;4954;p32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5" name="Google Shape;4955;p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4956" name="Google Shape;4956;p32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57" name="Google Shape;4957;p32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958" name="Google Shape;4958;p32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959" name="Google Shape;4959;p32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960" name="Google Shape;4960;p32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961" name="Google Shape;4961;p32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962" name="Google Shape;4962;p32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963" name="Google Shape;4963;p32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964" name="Google Shape;4964;p32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965" name="Google Shape;4965;p3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966" name="Google Shape;4966;p32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967" name="Google Shape;4967;p32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4968" name="Google Shape;4968;p32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4969" name="Google Shape;4969;p32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4970" name="Google Shape;4970;p32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4971" name="Google Shape;4971;p32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72" name="Google Shape;4972;p32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3" name="Google Shape;4973;p32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974" name="Google Shape;4974;p32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5" name="Google Shape;4975;p3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76" name="Google Shape;4976;p32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7" name="Google Shape;4977;p32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978" name="Google Shape;4978;p32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9" name="Google Shape;4979;p32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80" name="Google Shape;4980;p32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981" name="Google Shape;4981;p32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82" name="Google Shape;4982;p32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983" name="Google Shape;4983;p32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84" name="Google Shape;4984;p32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985" name="Google Shape;4985;p3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4986" name="Google Shape;4986;p32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987" name="Google Shape;4987;p32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88" name="Google Shape;4988;p32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89" name="Google Shape;4989;p32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0" name="Google Shape;4990;p32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1" name="Google Shape;4991;p32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2" name="Google Shape;4992;p32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3" name="Google Shape;4993;p32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4" name="Google Shape;4994;p32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5" name="Google Shape;4995;p3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6" name="Google Shape;4996;p32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7" name="Google Shape;4997;p32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8" name="Google Shape;4998;p32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99" name="Google Shape;4999;p32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0" name="Google Shape;5000;p32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01" name="Google Shape;5001;p32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2" name="Google Shape;5002;p32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003" name="Google Shape;5003;p32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04" name="Google Shape;5004;p32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- highly active agency</a:t>
            </a:r>
            <a:endParaRPr/>
          </a:p>
        </p:txBody>
      </p:sp>
      <p:sp>
        <p:nvSpPr>
          <p:cNvPr id="5005" name="Google Shape;5005;p3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06" name="Google Shape;5006;p32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 quotes generated - active in pipeline</a:t>
            </a:r>
            <a:endParaRPr/>
          </a:p>
        </p:txBody>
      </p:sp>
      <p:sp>
        <p:nvSpPr>
          <p:cNvPr id="5007" name="Google Shape;5007;p3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8" name="Google Shape;5008;p32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009" name="Google Shape;5009;p32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10" name="Google Shape;5010;p32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40 submissions</a:t>
            </a:r>
            <a:endParaRPr/>
          </a:p>
        </p:txBody>
      </p:sp>
      <p:sp>
        <p:nvSpPr>
          <p:cNvPr id="5011" name="Google Shape;5011;p32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12" name="Google Shape;5012;p32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with zero binds - zero conversion</a:t>
            </a:r>
            <a:endParaRPr/>
          </a:p>
        </p:txBody>
      </p:sp>
      <p:sp>
        <p:nvSpPr>
          <p:cNvPr id="5013" name="Google Shape;5013;p32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4" name="Google Shape;5014;p32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015" name="Google Shape;5015;p3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016" name="Google Shape;5016;p32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40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017" name="Google Shape;5017;p3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018" name="Google Shape;5018;p32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32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22" name="Shape 5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3" name="Google Shape;5023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4" name="Google Shape;5024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Gerald Cummings &amp; Associates</a:t>
            </a:r>
            <a:endParaRPr/>
          </a:p>
        </p:txBody>
      </p:sp>
      <p:sp>
        <p:nvSpPr>
          <p:cNvPr id="5025" name="Google Shape;5025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OR  |  City: Beaverton</a:t>
            </a:r>
            <a:endParaRPr/>
          </a:p>
        </p:txBody>
      </p:sp>
      <p:sp>
        <p:nvSpPr>
          <p:cNvPr id="5026" name="Google Shape;5026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027" name="Google Shape;5027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28" name="Google Shape;5028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29" name="Google Shape;5029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30" name="Google Shape;5030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31" name="Google Shape;5031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$31,314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32" name="Google Shape;5032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$5,733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33" name="Google Shape;5033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34" name="Google Shape;5034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35" name="Google Shape;5035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36" name="Google Shape;5036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37" name="Google Shape;5037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38" name="Google Shape;5038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39" name="Google Shape;5039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0" name="Google Shape;5040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041" name="Google Shape;5041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42" name="Google Shape;5042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043" name="Google Shape;5043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44" name="Google Shape;5044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45" name="Google Shape;5045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46" name="Google Shape;5046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47" name="Google Shape;5047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8" name="Google Shape;5048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49" name="Google Shape;5049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0" name="Google Shape;5050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1" name="Google Shape;5051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2" name="Google Shape;5052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3" name="Google Shape;5053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4" name="Google Shape;5054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5" name="Google Shape;5055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56" name="Google Shape;5056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7" name="Google Shape;5057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8" name="Google Shape;5058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9" name="Google Shape;5059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0" name="Google Shape;5060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1" name="Google Shape;5061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2" name="Google Shape;5062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63" name="Google Shape;5063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4" name="Google Shape;5064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5" name="Google Shape;5065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6" name="Google Shape;5066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7" name="Google Shape;5067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8" name="Google Shape;5068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9" name="Google Shape;5069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70" name="Google Shape;5070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1" name="Google Shape;5071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2" name="Google Shape;5072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3" name="Google Shape;5073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4" name="Google Shape;5074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5" name="Google Shape;5075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6" name="Google Shape;5076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77" name="Google Shape;5077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8" name="Google Shape;5078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79" name="Google Shape;5079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0" name="Google Shape;5080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1" name="Google Shape;5081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2" name="Google Shape;5082;p33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3" name="Google Shape;5083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084" name="Google Shape;5084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5" name="Google Shape;5085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6" name="Google Shape;5086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7" name="Google Shape;5087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8" name="Google Shape;5088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89" name="Google Shape;5089;p33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0" name="Google Shape;5090;p33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91" name="Google Shape;5091;p33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2" name="Google Shape;5092;p33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3" name="Google Shape;5093;p33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4" name="Google Shape;5094;p33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5" name="Google Shape;5095;p3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96" name="Google Shape;5096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7" name="Google Shape;5097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098" name="Google Shape;5098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99" name="Google Shape;5099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100" name="Google Shape;5100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101" name="Google Shape;5101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102" name="Google Shape;5102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03" name="Google Shape;5103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04" name="Google Shape;5104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5" name="Google Shape;5105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06" name="Google Shape;5106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07" name="Google Shape;5107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08" name="Google Shape;5108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09" name="Google Shape;5109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10" name="Google Shape;5110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11" name="Google Shape;5111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2" name="Google Shape;5112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13" name="Google Shape;5113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14" name="Google Shape;5114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15" name="Google Shape;5115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16" name="Google Shape;5116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17" name="Google Shape;5117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18" name="Google Shape;5118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9" name="Google Shape;5119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20" name="Google Shape;5120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21" name="Google Shape;5121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2" name="Google Shape;5122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23" name="Google Shape;5123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4" name="Google Shape;5124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25" name="Google Shape;5125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6" name="Google Shape;5126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27" name="Google Shape;5127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28" name="Google Shape;5128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29" name="Google Shape;5129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30" name="Google Shape;5130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1" name="Google Shape;5131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32" name="Google Shape;5132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3" name="Google Shape;5133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34" name="Google Shape;5134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135" name="Google Shape;5135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36" name="Google Shape;5136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137" name="Google Shape;5137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38" name="Google Shape;5138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39" name="Google Shape;5139;p33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0" name="Google Shape;5140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141" name="Google Shape;5141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42" name="Google Shape;5142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43" name="Google Shape;5143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44" name="Google Shape;5144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45" name="Google Shape;5145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46" name="Google Shape;5146;p33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7" name="Google Shape;5147;p33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48" name="Google Shape;5148;p33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5149" name="Google Shape;5149;p33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50" name="Google Shape;5150;p33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5151" name="Google Shape;5151;p33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52" name="Google Shape;5152;p33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53" name="Google Shape;5153;p33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4" name="Google Shape;5154;p33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5155" name="Google Shape;5155;p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56" name="Google Shape;5156;p33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157" name="Google Shape;5157;p33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158" name="Google Shape;5158;p33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159" name="Google Shape;5159;p33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160" name="Google Shape;5160;p33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161" name="Google Shape;5161;p33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162" name="Google Shape;5162;p33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163" name="Google Shape;5163;p33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164" name="Google Shape;5164;p33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165" name="Google Shape;5165;p3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166" name="Google Shape;5166;p33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5167" name="Google Shape;5167;p33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5168" name="Google Shape;5168;p33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5169" name="Google Shape;5169;p33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5170" name="Google Shape;5170;p33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71" name="Google Shape;5171;p33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72" name="Google Shape;5172;p33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73" name="Google Shape;5173;p33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74" name="Google Shape;5174;p33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75" name="Google Shape;5175;p3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176" name="Google Shape;5176;p33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77" name="Google Shape;5177;p33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78" name="Google Shape;5178;p33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79" name="Google Shape;5179;p33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80" name="Google Shape;5180;p33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5181" name="Google Shape;5181;p33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182" name="Google Shape;5182;p33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3" name="Google Shape;5183;p33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5184" name="Google Shape;5184;p33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5185" name="Google Shape;5185;p3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186" name="Google Shape;5186;p33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5187" name="Google Shape;5187;p33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88" name="Google Shape;5188;p33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5189" name="Google Shape;5189;p33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0" name="Google Shape;5190;p33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$-76</a:t>
            </a:r>
            <a:endParaRPr/>
          </a:p>
        </p:txBody>
      </p:sp>
      <p:sp>
        <p:nvSpPr>
          <p:cNvPr id="5191" name="Google Shape;5191;p33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2" name="Google Shape;5192;p33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5193" name="Google Shape;5193;p33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4" name="Google Shape;5194;p33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5195" name="Google Shape;5195;p3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6" name="Google Shape;5196;p33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7" name="Google Shape;5197;p33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98" name="Google Shape;5198;p33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5199" name="Google Shape;5199;p33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0" name="Google Shape;5200;p33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1" name="Google Shape;5201;p33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202" name="Google Shape;5202;p33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03" name="Google Shape;5203;p33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- highly active agency</a:t>
            </a:r>
            <a:endParaRPr/>
          </a:p>
        </p:txBody>
      </p:sp>
      <p:sp>
        <p:nvSpPr>
          <p:cNvPr id="5204" name="Google Shape;5204;p33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05" name="Google Shape;5205;p3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quotes generated - active in pipeline</a:t>
            </a:r>
            <a:endParaRPr/>
          </a:p>
        </p:txBody>
      </p:sp>
      <p:sp>
        <p:nvSpPr>
          <p:cNvPr id="5206" name="Google Shape;5206;p33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7" name="Google Shape;5207;p3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208" name="Google Shape;5208;p33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09" name="Google Shape;5209;p33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35 submissions</a:t>
            </a:r>
            <a:endParaRPr/>
          </a:p>
        </p:txBody>
      </p:sp>
      <p:sp>
        <p:nvSpPr>
          <p:cNvPr id="5210" name="Google Shape;5210;p33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11" name="Google Shape;5211;p33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with zero binds - zero conversion</a:t>
            </a:r>
            <a:endParaRPr/>
          </a:p>
        </p:txBody>
      </p:sp>
      <p:sp>
        <p:nvSpPr>
          <p:cNvPr id="5212" name="Google Shape;5212;p33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3" name="Google Shape;5213;p33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214" name="Google Shape;5214;p33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215" name="Google Shape;5215;p3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35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216" name="Google Shape;5216;p33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217" name="Google Shape;5217;p3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24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21" name="Shape 5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" name="Google Shape;5222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3" name="Google Shape;5223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Guardian Angel Insurance Services Inc Dba  Angel Guard Insurance Agency</a:t>
            </a:r>
            <a:endParaRPr/>
          </a:p>
        </p:txBody>
      </p:sp>
      <p:sp>
        <p:nvSpPr>
          <p:cNvPr id="5224" name="Google Shape;5224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N/A</a:t>
            </a:r>
            <a:endParaRPr/>
          </a:p>
        </p:txBody>
      </p:sp>
      <p:sp>
        <p:nvSpPr>
          <p:cNvPr id="5225" name="Google Shape;5225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226" name="Google Shape;5226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27" name="Google Shape;5227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28" name="Google Shape;5228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29" name="Google Shape;5229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30" name="Google Shape;5230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231" name="Google Shape;5231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232" name="Google Shape;5232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233" name="Google Shape;5233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34" name="Google Shape;5234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35" name="Google Shape;5235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36" name="Google Shape;5236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237" name="Google Shape;5237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238" name="Google Shape;5238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9" name="Google Shape;5239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240" name="Google Shape;5240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41" name="Google Shape;5241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242" name="Google Shape;5242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43" name="Google Shape;5243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44" name="Google Shape;5244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45" name="Google Shape;5245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46" name="Google Shape;5246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7" name="Google Shape;5247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48" name="Google Shape;5248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9" name="Google Shape;5249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0" name="Google Shape;5250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1" name="Google Shape;5251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2" name="Google Shape;5252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3" name="Google Shape;5253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4" name="Google Shape;5254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55" name="Google Shape;5255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6" name="Google Shape;5256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7" name="Google Shape;5257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8" name="Google Shape;5258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9" name="Google Shape;5259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0" name="Google Shape;5260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1" name="Google Shape;5261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62" name="Google Shape;5262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3" name="Google Shape;5263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4" name="Google Shape;5264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5" name="Google Shape;5265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6" name="Google Shape;5266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67" name="Google Shape;5267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8" name="Google Shape;5268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69" name="Google Shape;5269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0" name="Google Shape;5270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1" name="Google Shape;5271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2" name="Google Shape;5272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3" name="Google Shape;5273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4" name="Google Shape;5274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5" name="Google Shape;5275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76" name="Google Shape;5276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7" name="Google Shape;5277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8" name="Google Shape;5278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79" name="Google Shape;5279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0" name="Google Shape;5280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1" name="Google Shape;5281;p34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2" name="Google Shape;5282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283" name="Google Shape;5283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4" name="Google Shape;5284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5" name="Google Shape;5285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6" name="Google Shape;5286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7" name="Google Shape;5287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88" name="Google Shape;5288;p34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9" name="Google Shape;5289;p34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90" name="Google Shape;5290;p34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1" name="Google Shape;5291;p34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2" name="Google Shape;5292;p34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3" name="Google Shape;5293;p34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4" name="Google Shape;5294;p34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95" name="Google Shape;5295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6" name="Google Shape;5296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297" name="Google Shape;5297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98" name="Google Shape;5298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299" name="Google Shape;5299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300" name="Google Shape;5300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301" name="Google Shape;5301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02" name="Google Shape;5302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03" name="Google Shape;5303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4" name="Google Shape;5304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05" name="Google Shape;5305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6" name="Google Shape;5306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7" name="Google Shape;5307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8" name="Google Shape;5308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09" name="Google Shape;5309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10" name="Google Shape;5310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1" name="Google Shape;5311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12" name="Google Shape;5312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3" name="Google Shape;5313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4" name="Google Shape;5314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5" name="Google Shape;5315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16" name="Google Shape;5316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17" name="Google Shape;5317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8" name="Google Shape;5318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19" name="Google Shape;5319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20" name="Google Shape;5320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21" name="Google Shape;5321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22" name="Google Shape;5322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23" name="Google Shape;5323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24" name="Google Shape;5324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5" name="Google Shape;5325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26" name="Google Shape;5326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27" name="Google Shape;5327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28" name="Google Shape;5328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29" name="Google Shape;5329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30" name="Google Shape;5330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31" name="Google Shape;5331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2" name="Google Shape;5332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33" name="Google Shape;5333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34" name="Google Shape;5334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35" name="Google Shape;5335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36" name="Google Shape;5336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37" name="Google Shape;5337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38" name="Google Shape;5338;p34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9" name="Google Shape;5339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340" name="Google Shape;5340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41" name="Google Shape;5341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42" name="Google Shape;5342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43" name="Google Shape;5343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44" name="Google Shape;5344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45" name="Google Shape;5345;p3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6" name="Google Shape;5346;p34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47" name="Google Shape;5347;p34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348" name="Google Shape;5348;p34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49" name="Google Shape;5349;p34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350" name="Google Shape;5350;p34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51" name="Google Shape;5351;p34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52" name="Google Shape;5352;p34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3" name="Google Shape;5353;p34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5354" name="Google Shape;5354;p34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355" name="Google Shape;5355;p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356" name="Google Shape;5356;p34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357" name="Google Shape;5357;p34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358" name="Google Shape;5358;p34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359" name="Google Shape;5359;p34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360" name="Google Shape;5360;p34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361" name="Google Shape;5361;p34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362" name="Google Shape;5362;p34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363" name="Google Shape;5363;p34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364" name="Google Shape;5364;p34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365" name="Google Shape;5365;p3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5366" name="Google Shape;5366;p34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5367" name="Google Shape;5367;p34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5368" name="Google Shape;5368;p34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5369" name="Google Shape;5369;p34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70" name="Google Shape;5370;p34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1" name="Google Shape;5371;p34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2" name="Google Shape;5372;p34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3" name="Google Shape;5373;p34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4" name="Google Shape;5374;p34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5" name="Google Shape;5375;p3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76" name="Google Shape;5376;p34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7" name="Google Shape;5377;p34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78" name="Google Shape;5378;p34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79" name="Google Shape;5379;p34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380" name="Google Shape;5380;p34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81" name="Google Shape;5381;p34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82" name="Google Shape;5382;p34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83" name="Google Shape;5383;p34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384" name="Google Shape;5384;p34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385" name="Google Shape;5385;p3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6" name="Google Shape;5386;p34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7" name="Google Shape;5387;p34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8" name="Google Shape;5388;p34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9" name="Google Shape;5389;p34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0" name="Google Shape;5390;p34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1" name="Google Shape;5391;p34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2" name="Google Shape;5392;p34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3" name="Google Shape;5393;p34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4" name="Google Shape;5394;p34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5" name="Google Shape;5395;p3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6" name="Google Shape;5396;p34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7" name="Google Shape;5397;p34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8" name="Google Shape;5398;p34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9" name="Google Shape;5399;p34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0" name="Google Shape;5400;p34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401" name="Google Shape;5401;p34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402" name="Google Shape;5402;p34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 quotes generated - active in pipeline</a:t>
            </a:r>
            <a:endParaRPr/>
          </a:p>
        </p:txBody>
      </p:sp>
      <p:sp>
        <p:nvSpPr>
          <p:cNvPr id="5403" name="Google Shape;5403;p3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4" name="Google Shape;5404;p34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405" name="Google Shape;5405;p3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406" name="Google Shape;5406;p34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16 submissions</a:t>
            </a:r>
            <a:endParaRPr/>
          </a:p>
        </p:txBody>
      </p:sp>
      <p:sp>
        <p:nvSpPr>
          <p:cNvPr id="5407" name="Google Shape;5407;p34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408" name="Google Shape;5408;p34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submissions with zero binds - zero conversion</a:t>
            </a:r>
            <a:endParaRPr/>
          </a:p>
        </p:txBody>
      </p:sp>
      <p:sp>
        <p:nvSpPr>
          <p:cNvPr id="5409" name="Google Shape;5409;p34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0" name="Google Shape;5410;p34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411" name="Google Shape;5411;p34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412" name="Google Shape;5412;p34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16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413" name="Google Shape;5413;p3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414" name="Google Shape;5414;p34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18" name="Shape 5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9" name="Google Shape;5419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0" name="Google Shape;5420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Immensity Insurance &amp; Risk Advisors Llc</a:t>
            </a:r>
            <a:endParaRPr/>
          </a:p>
        </p:txBody>
      </p:sp>
      <p:sp>
        <p:nvSpPr>
          <p:cNvPr id="5421" name="Google Shape;5421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N/A</a:t>
            </a:r>
            <a:endParaRPr/>
          </a:p>
        </p:txBody>
      </p:sp>
      <p:sp>
        <p:nvSpPr>
          <p:cNvPr id="5422" name="Google Shape;5422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423" name="Google Shape;5423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24" name="Google Shape;5424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25" name="Google Shape;5425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26" name="Google Shape;5426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27" name="Google Shape;5427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428" name="Google Shape;5428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429" name="Google Shape;5429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430" name="Google Shape;5430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31" name="Google Shape;5431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32" name="Google Shape;5432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33" name="Google Shape;5433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434" name="Google Shape;5434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435" name="Google Shape;5435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6" name="Google Shape;5436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437" name="Google Shape;5437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38" name="Google Shape;5438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439" name="Google Shape;5439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40" name="Google Shape;5440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41" name="Google Shape;5441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42" name="Google Shape;5442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43" name="Google Shape;5443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4" name="Google Shape;5444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45" name="Google Shape;5445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6" name="Google Shape;5446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7" name="Google Shape;5447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8" name="Google Shape;5448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9" name="Google Shape;5449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0" name="Google Shape;5450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1" name="Google Shape;5451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52" name="Google Shape;5452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3" name="Google Shape;5453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4" name="Google Shape;5454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5" name="Google Shape;5455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6" name="Google Shape;5456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7" name="Google Shape;5457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8" name="Google Shape;5458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59" name="Google Shape;5459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0" name="Google Shape;5460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1" name="Google Shape;5461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2" name="Google Shape;5462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3" name="Google Shape;5463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4" name="Google Shape;5464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5" name="Google Shape;5465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66" name="Google Shape;5466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7" name="Google Shape;5467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8" name="Google Shape;5468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69" name="Google Shape;5469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0" name="Google Shape;5470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1" name="Google Shape;5471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2" name="Google Shape;5472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73" name="Google Shape;5473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4" name="Google Shape;5474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5" name="Google Shape;5475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6" name="Google Shape;5476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7" name="Google Shape;5477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78" name="Google Shape;5478;p35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9" name="Google Shape;5479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480" name="Google Shape;5480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1" name="Google Shape;5481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2" name="Google Shape;5482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3" name="Google Shape;5483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4" name="Google Shape;5484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5" name="Google Shape;5485;p35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6" name="Google Shape;5486;p35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87" name="Google Shape;5487;p35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8" name="Google Shape;5488;p35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89" name="Google Shape;5489;p35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0" name="Google Shape;5490;p35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1" name="Google Shape;5491;p35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92" name="Google Shape;5492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3" name="Google Shape;5493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494" name="Google Shape;5494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95" name="Google Shape;5495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496" name="Google Shape;5496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497" name="Google Shape;5497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498" name="Google Shape;5498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99" name="Google Shape;5499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00" name="Google Shape;5500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1" name="Google Shape;5501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02" name="Google Shape;5502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03" name="Google Shape;5503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04" name="Google Shape;5504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05" name="Google Shape;5505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06" name="Google Shape;5506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07" name="Google Shape;5507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8" name="Google Shape;5508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09" name="Google Shape;5509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0" name="Google Shape;5510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1" name="Google Shape;5511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2" name="Google Shape;5512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3" name="Google Shape;5513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14" name="Google Shape;5514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5" name="Google Shape;5515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516" name="Google Shape;5516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517" name="Google Shape;5517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18" name="Google Shape;5518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519" name="Google Shape;5519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20" name="Google Shape;5520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21" name="Google Shape;5521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2" name="Google Shape;5522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23" name="Google Shape;5523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524" name="Google Shape;5524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25" name="Google Shape;5525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526" name="Google Shape;5526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27" name="Google Shape;5527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28" name="Google Shape;5528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9" name="Google Shape;5529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30" name="Google Shape;5530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31" name="Google Shape;5531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32" name="Google Shape;5532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33" name="Google Shape;5533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34" name="Google Shape;5534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35" name="Google Shape;5535;p35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6" name="Google Shape;5536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537" name="Google Shape;5537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38" name="Google Shape;5538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39" name="Google Shape;5539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40" name="Google Shape;5540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41" name="Google Shape;5541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42" name="Google Shape;5542;p35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3" name="Google Shape;5543;p3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44" name="Google Shape;5544;p35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5545" name="Google Shape;5545;p35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46" name="Google Shape;5546;p35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5547" name="Google Shape;5547;p35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48" name="Google Shape;5548;p35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49" name="Google Shape;5549;p35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0" name="Google Shape;5550;p35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5551" name="Google Shape;5551;p35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552" name="Google Shape;5552;p35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553" name="Google Shape;5553;p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554" name="Google Shape;5554;p35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555" name="Google Shape;5555;p35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556" name="Google Shape;5556;p35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557" name="Google Shape;5557;p35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558" name="Google Shape;5558;p35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559" name="Google Shape;5559;p35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560" name="Google Shape;5560;p35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561" name="Google Shape;5561;p35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562" name="Google Shape;5562;p35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5563" name="Google Shape;5563;p3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5564" name="Google Shape;5564;p35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5565" name="Google Shape;5565;p35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5566" name="Google Shape;5566;p35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67" name="Google Shape;5567;p35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68" name="Google Shape;5568;p35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69" name="Google Shape;5569;p35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0" name="Google Shape;5570;p35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1" name="Google Shape;5571;p35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2" name="Google Shape;5572;p35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573" name="Google Shape;5573;p3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4" name="Google Shape;5574;p35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575" name="Google Shape;5575;p35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6" name="Google Shape;5576;p35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77" name="Google Shape;5577;p35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8" name="Google Shape;5578;p35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9" name="Google Shape;5579;p35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80" name="Google Shape;5580;p35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5581" name="Google Shape;5581;p35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582" name="Google Shape;5582;p35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3" name="Google Shape;5583;p3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4" name="Google Shape;5584;p35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5" name="Google Shape;5585;p35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6" name="Google Shape;5586;p35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7" name="Google Shape;5587;p35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8" name="Google Shape;5588;p35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9" name="Google Shape;5589;p35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0" name="Google Shape;5590;p35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1" name="Google Shape;5591;p35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2" name="Google Shape;5592;p35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3" name="Google Shape;5593;p3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4" name="Google Shape;5594;p35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5" name="Google Shape;5595;p35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6" name="Google Shape;5596;p35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7" name="Google Shape;5597;p35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598" name="Google Shape;5598;p35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99" name="Google Shape;5599;p35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- highly active agency</a:t>
            </a:r>
            <a:endParaRPr/>
          </a:p>
        </p:txBody>
      </p:sp>
      <p:sp>
        <p:nvSpPr>
          <p:cNvPr id="5600" name="Google Shape;5600;p35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601" name="Google Shape;5601;p35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 quotes generated - active in pipeline</a:t>
            </a:r>
            <a:endParaRPr/>
          </a:p>
        </p:txBody>
      </p:sp>
      <p:sp>
        <p:nvSpPr>
          <p:cNvPr id="5602" name="Google Shape;5602;p35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3" name="Google Shape;5603;p3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604" name="Google Shape;5604;p35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05" name="Google Shape;5605;p3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35 submissions</a:t>
            </a:r>
            <a:endParaRPr/>
          </a:p>
        </p:txBody>
      </p:sp>
      <p:sp>
        <p:nvSpPr>
          <p:cNvPr id="5606" name="Google Shape;5606;p35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07" name="Google Shape;5607;p35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 submissions with zero binds - zero conversion</a:t>
            </a:r>
            <a:endParaRPr/>
          </a:p>
        </p:txBody>
      </p:sp>
      <p:sp>
        <p:nvSpPr>
          <p:cNvPr id="5608" name="Google Shape;5608;p35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9" name="Google Shape;5609;p35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610" name="Google Shape;5610;p35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611" name="Google Shape;5611;p35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35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612" name="Google Shape;5612;p35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613" name="Google Shape;5613;p3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31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17" name="Shape 5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8" name="Google Shape;5618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9" name="Google Shape;5619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Safety System Llc</a:t>
            </a:r>
            <a:endParaRPr/>
          </a:p>
        </p:txBody>
      </p:sp>
      <p:sp>
        <p:nvSpPr>
          <p:cNvPr id="5620" name="Google Shape;5620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5  |  Region: Pacific Northwest  |  State: WA  |  City: Tukwila</a:t>
            </a:r>
            <a:endParaRPr/>
          </a:p>
        </p:txBody>
      </p:sp>
      <p:sp>
        <p:nvSpPr>
          <p:cNvPr id="5621" name="Google Shape;5621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622" name="Google Shape;5622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23" name="Google Shape;5623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24" name="Google Shape;5624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25" name="Google Shape;5625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26" name="Google Shape;5626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627" name="Google Shape;5627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628" name="Google Shape;5628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629" name="Google Shape;5629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30" name="Google Shape;5630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31" name="Google Shape;5631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32" name="Google Shape;5632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633" name="Google Shape;5633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634" name="Google Shape;5634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5" name="Google Shape;5635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636" name="Google Shape;5636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37" name="Google Shape;5637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638" name="Google Shape;5638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39" name="Google Shape;5639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40" name="Google Shape;5640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41" name="Google Shape;5641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42" name="Google Shape;5642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3" name="Google Shape;5643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44" name="Google Shape;5644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5" name="Google Shape;5645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6" name="Google Shape;5646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7" name="Google Shape;5647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8" name="Google Shape;5648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9" name="Google Shape;5649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0" name="Google Shape;5650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51" name="Google Shape;5651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2" name="Google Shape;5652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3" name="Google Shape;5653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4" name="Google Shape;5654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5" name="Google Shape;5655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6" name="Google Shape;5656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7" name="Google Shape;5657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58" name="Google Shape;5658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9" name="Google Shape;5659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0" name="Google Shape;5660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1" name="Google Shape;5661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2" name="Google Shape;5662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3" name="Google Shape;5663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4" name="Google Shape;5664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65" name="Google Shape;5665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6" name="Google Shape;5666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7" name="Google Shape;5667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8" name="Google Shape;5668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69" name="Google Shape;5669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0" name="Google Shape;5670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1" name="Google Shape;5671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72" name="Google Shape;5672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3" name="Google Shape;5673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4" name="Google Shape;5674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5" name="Google Shape;5675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6" name="Google Shape;5676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77" name="Google Shape;5677;p36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8" name="Google Shape;5678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679" name="Google Shape;5679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0" name="Google Shape;5680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1" name="Google Shape;5681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2" name="Google Shape;5682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3" name="Google Shape;5683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4" name="Google Shape;5684;p36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5" name="Google Shape;5685;p36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86" name="Google Shape;5686;p36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7" name="Google Shape;5687;p36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8" name="Google Shape;5688;p36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89" name="Google Shape;5689;p36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90" name="Google Shape;5690;p36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91" name="Google Shape;5691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2" name="Google Shape;5692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693" name="Google Shape;5693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94" name="Google Shape;5694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695" name="Google Shape;5695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696" name="Google Shape;5696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697" name="Google Shape;5697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98" name="Google Shape;5698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99" name="Google Shape;5699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0" name="Google Shape;5700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01" name="Google Shape;5701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2" name="Google Shape;5702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3" name="Google Shape;5703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4" name="Google Shape;5704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5" name="Google Shape;5705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06" name="Google Shape;5706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7" name="Google Shape;5707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08" name="Google Shape;5708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09" name="Google Shape;5709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10" name="Google Shape;5710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11" name="Google Shape;5711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12" name="Google Shape;5712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13" name="Google Shape;5713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4" name="Google Shape;5714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15" name="Google Shape;5715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716" name="Google Shape;5716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17" name="Google Shape;5717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18" name="Google Shape;5718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19" name="Google Shape;5719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20" name="Google Shape;5720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1" name="Google Shape;5721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22" name="Google Shape;5722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23" name="Google Shape;5723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24" name="Google Shape;5724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25" name="Google Shape;5725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26" name="Google Shape;5726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27" name="Google Shape;5727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8" name="Google Shape;5728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29" name="Google Shape;5729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30" name="Google Shape;5730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31" name="Google Shape;5731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32" name="Google Shape;5732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33" name="Google Shape;5733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34" name="Google Shape;5734;p36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5" name="Google Shape;5735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736" name="Google Shape;5736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37" name="Google Shape;5737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38" name="Google Shape;5738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39" name="Google Shape;5739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40" name="Google Shape;5740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41" name="Google Shape;5741;p36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2" name="Google Shape;5742;p36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743" name="Google Shape;5743;p3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744" name="Google Shape;5744;p36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45" name="Google Shape;5745;p36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46" name="Google Shape;5746;p36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47" name="Google Shape;5747;p36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48" name="Google Shape;5748;p36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9" name="Google Shape;5749;p36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5750" name="Google Shape;5750;p36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751" name="Google Shape;5751;p36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752" name="Google Shape;5752;p36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753" name="Google Shape;5753;p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754" name="Google Shape;5754;p36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755" name="Google Shape;5755;p36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756" name="Google Shape;5756;p36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757" name="Google Shape;5757;p36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758" name="Google Shape;5758;p36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759" name="Google Shape;5759;p36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760" name="Google Shape;5760;p36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761" name="Google Shape;5761;p36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5762" name="Google Shape;5762;p36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5763" name="Google Shape;5763;p3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5764" name="Google Shape;5764;p36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5765" name="Google Shape;5765;p36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66" name="Google Shape;5766;p36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67" name="Google Shape;5767;p36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68" name="Google Shape;5768;p36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69" name="Google Shape;5769;p36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0" name="Google Shape;5770;p36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71" name="Google Shape;5771;p36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772" name="Google Shape;5772;p36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773" name="Google Shape;5773;p3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74" name="Google Shape;5774;p36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775" name="Google Shape;5775;p36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76" name="Google Shape;5776;p36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777" name="Google Shape;5777;p36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8" name="Google Shape;5778;p36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779" name="Google Shape;5779;p36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780" name="Google Shape;5780;p36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781" name="Google Shape;5781;p36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2" name="Google Shape;5782;p36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3" name="Google Shape;5783;p3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4" name="Google Shape;5784;p36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5" name="Google Shape;5785;p36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6" name="Google Shape;5786;p36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7" name="Google Shape;5787;p36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8" name="Google Shape;5788;p36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89" name="Google Shape;5789;p36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0" name="Google Shape;5790;p36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1" name="Google Shape;5791;p36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2" name="Google Shape;5792;p36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3" name="Google Shape;5793;p3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4" name="Google Shape;5794;p36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95" name="Google Shape;5795;p36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6" name="Google Shape;5796;p36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797" name="Google Shape;5797;p36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798" name="Google Shape;5798;p36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5799" name="Google Shape;5799;p36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0" name="Google Shape;5800;p36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801" name="Google Shape;5801;p3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802" name="Google Shape;5802;p36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9 submissions</a:t>
            </a:r>
            <a:endParaRPr/>
          </a:p>
        </p:txBody>
      </p:sp>
      <p:sp>
        <p:nvSpPr>
          <p:cNvPr id="5803" name="Google Shape;5803;p3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804" name="Google Shape;5804;p36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submissions with zero binds - zero conversion</a:t>
            </a:r>
            <a:endParaRPr/>
          </a:p>
        </p:txBody>
      </p:sp>
      <p:sp>
        <p:nvSpPr>
          <p:cNvPr id="5805" name="Google Shape;5805;p3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6" name="Google Shape;5806;p36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807" name="Google Shape;5807;p36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808" name="Google Shape;5808;p36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12" name="Shape 5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3" name="Google Shape;5813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4" name="Google Shape;5814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Jd Fulwiler &amp; Co Insurance</a:t>
            </a:r>
            <a:endParaRPr/>
          </a:p>
        </p:txBody>
      </p:sp>
      <p:sp>
        <p:nvSpPr>
          <p:cNvPr id="5815" name="Google Shape;5815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Oregon  |  City: Portland</a:t>
            </a:r>
            <a:endParaRPr/>
          </a:p>
        </p:txBody>
      </p:sp>
      <p:sp>
        <p:nvSpPr>
          <p:cNvPr id="5816" name="Google Shape;5816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817" name="Google Shape;5817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18" name="Google Shape;5818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19" name="Google Shape;5819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20" name="Google Shape;5820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21" name="Google Shape;5821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822" name="Google Shape;5822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823" name="Google Shape;5823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824" name="Google Shape;5824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25" name="Google Shape;5825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26" name="Google Shape;5826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27" name="Google Shape;5827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828" name="Google Shape;5828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829" name="Google Shape;5829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0" name="Google Shape;5830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831" name="Google Shape;5831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32" name="Google Shape;5832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833" name="Google Shape;5833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34" name="Google Shape;5834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35" name="Google Shape;5835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36" name="Google Shape;5836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37" name="Google Shape;5837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8" name="Google Shape;5838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39" name="Google Shape;5839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0" name="Google Shape;5840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1" name="Google Shape;5841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2" name="Google Shape;5842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3" name="Google Shape;5843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4" name="Google Shape;5844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5" name="Google Shape;5845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846" name="Google Shape;5846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7" name="Google Shape;5847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8" name="Google Shape;5848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9" name="Google Shape;5849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0" name="Google Shape;5850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1" name="Google Shape;5851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2" name="Google Shape;5852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53" name="Google Shape;5853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4" name="Google Shape;5854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5" name="Google Shape;5855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6" name="Google Shape;5856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7" name="Google Shape;5857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8" name="Google Shape;5858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9" name="Google Shape;5859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60" name="Google Shape;5860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1" name="Google Shape;5861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2" name="Google Shape;5862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3" name="Google Shape;5863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4" name="Google Shape;5864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5" name="Google Shape;5865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6" name="Google Shape;5866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67" name="Google Shape;5867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8" name="Google Shape;5868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9" name="Google Shape;5869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0" name="Google Shape;5870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1" name="Google Shape;5871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2" name="Google Shape;5872;p37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3" name="Google Shape;5873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874" name="Google Shape;5874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5" name="Google Shape;5875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6" name="Google Shape;5876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7" name="Google Shape;5877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8" name="Google Shape;5878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79" name="Google Shape;5879;p3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0" name="Google Shape;5880;p37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81" name="Google Shape;5881;p37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82" name="Google Shape;5882;p37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83" name="Google Shape;5883;p37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84" name="Google Shape;5884;p37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85" name="Google Shape;5885;p37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86" name="Google Shape;5886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7" name="Google Shape;5887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888" name="Google Shape;5888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89" name="Google Shape;5889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890" name="Google Shape;5890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891" name="Google Shape;5891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892" name="Google Shape;5892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93" name="Google Shape;5893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94" name="Google Shape;5894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5" name="Google Shape;5895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896" name="Google Shape;5896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97" name="Google Shape;5897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98" name="Google Shape;5898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99" name="Google Shape;5899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00" name="Google Shape;5900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01" name="Google Shape;5901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2" name="Google Shape;5902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03" name="Google Shape;5903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04" name="Google Shape;5904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05" name="Google Shape;5905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06" name="Google Shape;5906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07" name="Google Shape;5907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08" name="Google Shape;5908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9" name="Google Shape;5909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10" name="Google Shape;5910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11" name="Google Shape;5911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12" name="Google Shape;5912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13" name="Google Shape;5913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14" name="Google Shape;5914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15" name="Google Shape;5915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6" name="Google Shape;5916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17" name="Google Shape;5917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18" name="Google Shape;5918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19" name="Google Shape;5919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20" name="Google Shape;5920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21" name="Google Shape;5921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22" name="Google Shape;5922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3" name="Google Shape;5923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24" name="Google Shape;5924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925" name="Google Shape;5925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926" name="Google Shape;5926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927" name="Google Shape;5927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28" name="Google Shape;5928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29" name="Google Shape;5929;p3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0" name="Google Shape;5930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931" name="Google Shape;5931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32" name="Google Shape;5932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33" name="Google Shape;5933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34" name="Google Shape;5934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35" name="Google Shape;5935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36" name="Google Shape;5936;p37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7" name="Google Shape;5937;p37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38" name="Google Shape;5938;p37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939" name="Google Shape;5939;p3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940" name="Google Shape;5940;p37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941" name="Google Shape;5941;p37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42" name="Google Shape;5942;p37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43" name="Google Shape;5943;p37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4" name="Google Shape;5944;p37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5945" name="Google Shape;5945;p37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946" name="Google Shape;5946;p37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947" name="Google Shape;5947;p37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948" name="Google Shape;5948;p37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949" name="Google Shape;5949;p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950" name="Google Shape;5950;p37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951" name="Google Shape;5951;p37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952" name="Google Shape;5952;p37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953" name="Google Shape;5953;p37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954" name="Google Shape;5954;p37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955" name="Google Shape;5955;p37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956" name="Google Shape;5956;p37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5957" name="Google Shape;5957;p37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5958" name="Google Shape;5958;p37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5959" name="Google Shape;5959;p3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5960" name="Google Shape;5960;p37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61" name="Google Shape;5961;p37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2" name="Google Shape;5962;p37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3" name="Google Shape;5963;p37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4" name="Google Shape;5964;p37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5" name="Google Shape;5965;p37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6" name="Google Shape;5966;p37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7" name="Google Shape;5967;p37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8" name="Google Shape;5968;p37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9" name="Google Shape;5969;p3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70" name="Google Shape;5970;p37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971" name="Google Shape;5971;p37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72" name="Google Shape;5972;p37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73" name="Google Shape;5973;p37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74" name="Google Shape;5974;p37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975" name="Google Shape;5975;p37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976" name="Google Shape;5976;p37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7" name="Google Shape;5977;p37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8" name="Google Shape;5978;p37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79" name="Google Shape;5979;p3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0" name="Google Shape;5980;p37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1" name="Google Shape;5981;p37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2" name="Google Shape;5982;p37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3" name="Google Shape;5983;p37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4" name="Google Shape;5984;p37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5" name="Google Shape;5985;p37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6" name="Google Shape;5986;p37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7" name="Google Shape;5987;p37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8" name="Google Shape;5988;p37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89" name="Google Shape;5989;p3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90" name="Google Shape;5990;p37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1" name="Google Shape;5991;p37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992" name="Google Shape;5992;p37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993" name="Google Shape;5993;p37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 quotes generated - active in pipeline</a:t>
            </a:r>
            <a:endParaRPr/>
          </a:p>
        </p:txBody>
      </p:sp>
      <p:sp>
        <p:nvSpPr>
          <p:cNvPr id="5994" name="Google Shape;5994;p37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5" name="Google Shape;5995;p37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996" name="Google Shape;5996;p37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97" name="Google Shape;5997;p3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14 submissions</a:t>
            </a:r>
            <a:endParaRPr/>
          </a:p>
        </p:txBody>
      </p:sp>
      <p:sp>
        <p:nvSpPr>
          <p:cNvPr id="5998" name="Google Shape;5998;p37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999" name="Google Shape;5999;p3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submissions with zero binds - zero conversion</a:t>
            </a:r>
            <a:endParaRPr/>
          </a:p>
        </p:txBody>
      </p:sp>
      <p:sp>
        <p:nvSpPr>
          <p:cNvPr id="6000" name="Google Shape;6000;p37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1" name="Google Shape;6001;p3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002" name="Google Shape;6002;p37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003" name="Google Shape;6003;p37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004" name="Google Shape;6004;p37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005" name="Google Shape;6005;p37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11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09" name="Shape 6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0" name="Google Shape;6010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1" name="Google Shape;6011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Regina Finstad Entrprise Llc</a:t>
            </a:r>
            <a:endParaRPr/>
          </a:p>
        </p:txBody>
      </p:sp>
      <p:sp>
        <p:nvSpPr>
          <p:cNvPr id="6012" name="Google Shape;6012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San Ramon</a:t>
            </a:r>
            <a:endParaRPr/>
          </a:p>
        </p:txBody>
      </p:sp>
      <p:sp>
        <p:nvSpPr>
          <p:cNvPr id="6013" name="Google Shape;6013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014" name="Google Shape;6014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15" name="Google Shape;6015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16" name="Google Shape;6016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17" name="Google Shape;6017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18" name="Google Shape;6018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019" name="Google Shape;6019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020" name="Google Shape;6020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021" name="Google Shape;6021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22" name="Google Shape;6022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23" name="Google Shape;6023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24" name="Google Shape;6024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025" name="Google Shape;6025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026" name="Google Shape;6026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7" name="Google Shape;6027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028" name="Google Shape;6028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29" name="Google Shape;6029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030" name="Google Shape;6030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31" name="Google Shape;6031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32" name="Google Shape;6032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33" name="Google Shape;6033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34" name="Google Shape;6034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5" name="Google Shape;6035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36" name="Google Shape;6036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7" name="Google Shape;6037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8" name="Google Shape;6038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39" name="Google Shape;6039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0" name="Google Shape;6040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1" name="Google Shape;6041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2" name="Google Shape;6042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043" name="Google Shape;6043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4" name="Google Shape;6044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5" name="Google Shape;6045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6" name="Google Shape;6046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7" name="Google Shape;6047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8" name="Google Shape;6048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9" name="Google Shape;6049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050" name="Google Shape;6050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1" name="Google Shape;6051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2" name="Google Shape;6052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3" name="Google Shape;6053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4" name="Google Shape;6054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5" name="Google Shape;6055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6" name="Google Shape;6056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057" name="Google Shape;6057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8" name="Google Shape;6058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9" name="Google Shape;6059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0" name="Google Shape;6060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1" name="Google Shape;6061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2" name="Google Shape;6062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3" name="Google Shape;6063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064" name="Google Shape;6064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5" name="Google Shape;6065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6" name="Google Shape;6066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7" name="Google Shape;6067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8" name="Google Shape;6068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69" name="Google Shape;6069;p38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0" name="Google Shape;6070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071" name="Google Shape;6071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2" name="Google Shape;6072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3" name="Google Shape;6073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4" name="Google Shape;6074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5" name="Google Shape;6075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6" name="Google Shape;6076;p38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7" name="Google Shape;6077;p3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78" name="Google Shape;6078;p38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79" name="Google Shape;6079;p38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0" name="Google Shape;6080;p38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1" name="Google Shape;6081;p38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2" name="Google Shape;6082;p38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83" name="Google Shape;6083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4" name="Google Shape;6084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085" name="Google Shape;6085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86" name="Google Shape;6086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087" name="Google Shape;6087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088" name="Google Shape;6088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089" name="Google Shape;6089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90" name="Google Shape;6090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91" name="Google Shape;6091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2" name="Google Shape;6092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93" name="Google Shape;6093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94" name="Google Shape;6094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95" name="Google Shape;6095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96" name="Google Shape;6096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97" name="Google Shape;6097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98" name="Google Shape;6098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9" name="Google Shape;6099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00" name="Google Shape;6100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01" name="Google Shape;6101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02" name="Google Shape;6102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03" name="Google Shape;6103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04" name="Google Shape;6104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05" name="Google Shape;6105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6" name="Google Shape;6106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07" name="Google Shape;6107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08" name="Google Shape;6108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09" name="Google Shape;6109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10" name="Google Shape;6110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11" name="Google Shape;6111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12" name="Google Shape;6112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3" name="Google Shape;6113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14" name="Google Shape;6114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15" name="Google Shape;6115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16" name="Google Shape;6116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17" name="Google Shape;6117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18" name="Google Shape;6118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19" name="Google Shape;6119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0" name="Google Shape;6120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21" name="Google Shape;6121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22" name="Google Shape;6122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23" name="Google Shape;6123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24" name="Google Shape;6124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25" name="Google Shape;6125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26" name="Google Shape;6126;p38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7" name="Google Shape;6127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128" name="Google Shape;6128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29" name="Google Shape;6129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0" name="Google Shape;6130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1" name="Google Shape;6131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2" name="Google Shape;6132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33" name="Google Shape;6133;p38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4" name="Google Shape;6134;p38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35" name="Google Shape;6135;p38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36" name="Google Shape;6136;p38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7" name="Google Shape;6137;p3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38" name="Google Shape;6138;p38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39" name="Google Shape;6139;p38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40" name="Google Shape;6140;p38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1" name="Google Shape;6141;p38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6142" name="Google Shape;6142;p38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143" name="Google Shape;6143;p38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144" name="Google Shape;6144;p38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145" name="Google Shape;6145;p38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146" name="Google Shape;6146;p38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147" name="Google Shape;6147;p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148" name="Google Shape;6148;p38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149" name="Google Shape;6149;p38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150" name="Google Shape;6150;p38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151" name="Google Shape;6151;p38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152" name="Google Shape;6152;p38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153" name="Google Shape;6153;p38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6154" name="Google Shape;6154;p38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6155" name="Google Shape;6155;p38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6156" name="Google Shape;6156;p38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6157" name="Google Shape;6157;p3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158" name="Google Shape;6158;p38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159" name="Google Shape;6159;p38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0" name="Google Shape;6160;p38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61" name="Google Shape;6161;p38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2" name="Google Shape;6162;p38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163" name="Google Shape;6163;p38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4" name="Google Shape;6164;p38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65" name="Google Shape;6165;p38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6" name="Google Shape;6166;p38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67" name="Google Shape;6167;p3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68" name="Google Shape;6168;p38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169" name="Google Shape;6169;p38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70" name="Google Shape;6170;p38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6171" name="Google Shape;6171;p38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72" name="Google Shape;6172;p38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173" name="Google Shape;6173;p38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4" name="Google Shape;6174;p38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5" name="Google Shape;6175;p38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6" name="Google Shape;6176;p38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7" name="Google Shape;6177;p3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8" name="Google Shape;6178;p38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79" name="Google Shape;6179;p38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0" name="Google Shape;6180;p38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1" name="Google Shape;6181;p38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2" name="Google Shape;6182;p38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3" name="Google Shape;6183;p38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4" name="Google Shape;6184;p38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5" name="Google Shape;6185;p38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6" name="Google Shape;6186;p38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87" name="Google Shape;6187;p3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8" name="Google Shape;6188;p38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189" name="Google Shape;6189;p38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190" name="Google Shape;6190;p38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6191" name="Google Shape;6191;p38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2" name="Google Shape;6192;p38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193" name="Google Shape;6193;p38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194" name="Google Shape;6194;p38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 submissions</a:t>
            </a:r>
            <a:endParaRPr/>
          </a:p>
        </p:txBody>
      </p:sp>
      <p:sp>
        <p:nvSpPr>
          <p:cNvPr id="6195" name="Google Shape;6195;p3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6" name="Google Shape;6196;p38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197" name="Google Shape;6197;p3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198" name="Google Shape;6198;p38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199" name="Google Shape;6199;p38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200" name="Google Shape;6200;p38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04" name="Shape 6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5" name="Google Shape;6205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6" name="Google Shape;6206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Rva Insurance Agency Inc</a:t>
            </a:r>
            <a:endParaRPr/>
          </a:p>
        </p:txBody>
      </p:sp>
      <p:sp>
        <p:nvSpPr>
          <p:cNvPr id="6207" name="Google Shape;6207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N/A  |  City: N/A</a:t>
            </a:r>
            <a:endParaRPr/>
          </a:p>
        </p:txBody>
      </p:sp>
      <p:sp>
        <p:nvSpPr>
          <p:cNvPr id="6208" name="Google Shape;6208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209" name="Google Shape;6209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210" name="Google Shape;6210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211" name="Google Shape;6211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212" name="Google Shape;6212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213" name="Google Shape;6213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214" name="Google Shape;6214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215" name="Google Shape;6215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216" name="Google Shape;6216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17" name="Google Shape;6217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218" name="Google Shape;6218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219" name="Google Shape;6219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220" name="Google Shape;6220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221" name="Google Shape;6221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2" name="Google Shape;6222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223" name="Google Shape;6223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224" name="Google Shape;6224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225" name="Google Shape;6225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226" name="Google Shape;6226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227" name="Google Shape;6227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228" name="Google Shape;6228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229" name="Google Shape;6229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0" name="Google Shape;6230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231" name="Google Shape;6231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32" name="Google Shape;6232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33" name="Google Shape;6233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34" name="Google Shape;6234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35" name="Google Shape;6235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36" name="Google Shape;6236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7" name="Google Shape;6237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238" name="Google Shape;6238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39" name="Google Shape;6239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0" name="Google Shape;6240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1" name="Google Shape;6241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2" name="Google Shape;6242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3" name="Google Shape;6243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4" name="Google Shape;6244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245" name="Google Shape;6245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6" name="Google Shape;6246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7" name="Google Shape;6247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8" name="Google Shape;6248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9" name="Google Shape;6249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0" name="Google Shape;6250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1" name="Google Shape;6251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252" name="Google Shape;6252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3" name="Google Shape;6253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4" name="Google Shape;6254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5" name="Google Shape;6255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6" name="Google Shape;6256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7" name="Google Shape;6257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8" name="Google Shape;6258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259" name="Google Shape;6259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0" name="Google Shape;6260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1" name="Google Shape;6261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2" name="Google Shape;6262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3" name="Google Shape;6263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4" name="Google Shape;6264;p39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5" name="Google Shape;6265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266" name="Google Shape;6266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7" name="Google Shape;6267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8" name="Google Shape;6268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69" name="Google Shape;6269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0" name="Google Shape;6270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1" name="Google Shape;6271;p39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2" name="Google Shape;6272;p39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73" name="Google Shape;6273;p3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4" name="Google Shape;6274;p39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5" name="Google Shape;6275;p39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6" name="Google Shape;6276;p39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7" name="Google Shape;6277;p39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8" name="Google Shape;6278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9" name="Google Shape;6279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280" name="Google Shape;6280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281" name="Google Shape;6281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282" name="Google Shape;6282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283" name="Google Shape;6283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284" name="Google Shape;6284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285" name="Google Shape;6285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286" name="Google Shape;6286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7" name="Google Shape;6287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288" name="Google Shape;6288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89" name="Google Shape;6289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90" name="Google Shape;6290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91" name="Google Shape;6291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92" name="Google Shape;6292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293" name="Google Shape;6293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4" name="Google Shape;6294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295" name="Google Shape;6295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96" name="Google Shape;6296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97" name="Google Shape;6297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98" name="Google Shape;6298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99" name="Google Shape;6299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00" name="Google Shape;6300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1" name="Google Shape;6301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02" name="Google Shape;6302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03" name="Google Shape;6303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04" name="Google Shape;6304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05" name="Google Shape;6305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06" name="Google Shape;6306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07" name="Google Shape;6307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8" name="Google Shape;6308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09" name="Google Shape;6309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10" name="Google Shape;6310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11" name="Google Shape;6311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12" name="Google Shape;6312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13" name="Google Shape;6313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14" name="Google Shape;6314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5" name="Google Shape;6315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16" name="Google Shape;6316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17" name="Google Shape;6317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18" name="Google Shape;6318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19" name="Google Shape;6319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20" name="Google Shape;6320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21" name="Google Shape;6321;p39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2" name="Google Shape;6322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323" name="Google Shape;6323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24" name="Google Shape;6324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25" name="Google Shape;6325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26" name="Google Shape;6326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27" name="Google Shape;6327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28" name="Google Shape;6328;p39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9" name="Google Shape;6329;p39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30" name="Google Shape;6330;p39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331" name="Google Shape;6331;p39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32" name="Google Shape;6332;p39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333" name="Google Shape;6333;p3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34" name="Google Shape;6334;p39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35" name="Google Shape;6335;p39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6" name="Google Shape;6336;p39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6337" name="Google Shape;6337;p39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338" name="Google Shape;6338;p39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339" name="Google Shape;6339;p39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340" name="Google Shape;6340;p39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341" name="Google Shape;6341;p39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342" name="Google Shape;6342;p39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343" name="Google Shape;6343;p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344" name="Google Shape;6344;p39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345" name="Google Shape;6345;p39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346" name="Google Shape;6346;p39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347" name="Google Shape;6347;p39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348" name="Google Shape;6348;p39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6349" name="Google Shape;6349;p39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6350" name="Google Shape;6350;p39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6351" name="Google Shape;6351;p39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6352" name="Google Shape;6352;p39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353" name="Google Shape;6353;p3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54" name="Google Shape;6354;p39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55" name="Google Shape;6355;p39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56" name="Google Shape;6356;p39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57" name="Google Shape;6357;p39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58" name="Google Shape;6358;p39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59" name="Google Shape;6359;p39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60" name="Google Shape;6360;p39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61" name="Google Shape;6361;p39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62" name="Google Shape;6362;p39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63" name="Google Shape;6363;p3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64" name="Google Shape;6364;p39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65" name="Google Shape;6365;p39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66" name="Google Shape;6366;p39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367" name="Google Shape;6367;p39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368" name="Google Shape;6368;p39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69" name="Google Shape;6369;p39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0" name="Google Shape;6370;p39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1" name="Google Shape;6371;p39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2" name="Google Shape;6372;p39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3" name="Google Shape;6373;p3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4" name="Google Shape;6374;p39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5" name="Google Shape;6375;p39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6" name="Google Shape;6376;p39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7" name="Google Shape;6377;p39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8" name="Google Shape;6378;p39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79" name="Google Shape;6379;p39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0" name="Google Shape;6380;p39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1" name="Google Shape;6381;p39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82" name="Google Shape;6382;p39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3" name="Google Shape;6383;p3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384" name="Google Shape;6384;p39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385" name="Google Shape;6385;p39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quotes generated - active in pipeline</a:t>
            </a:r>
            <a:endParaRPr/>
          </a:p>
        </p:txBody>
      </p:sp>
      <p:sp>
        <p:nvSpPr>
          <p:cNvPr id="6386" name="Google Shape;6386;p39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7" name="Google Shape;6387;p39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388" name="Google Shape;6388;p39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389" name="Google Shape;6389;p39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9 submissions</a:t>
            </a:r>
            <a:endParaRPr/>
          </a:p>
        </p:txBody>
      </p:sp>
      <p:sp>
        <p:nvSpPr>
          <p:cNvPr id="6390" name="Google Shape;6390;p39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391" name="Google Shape;6391;p3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submissions with zero binds - zero conversion</a:t>
            </a:r>
            <a:endParaRPr/>
          </a:p>
        </p:txBody>
      </p:sp>
      <p:sp>
        <p:nvSpPr>
          <p:cNvPr id="6392" name="Google Shape;6392;p39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3" name="Google Shape;6393;p3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394" name="Google Shape;6394;p39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395" name="Google Shape;6395;p3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99" name="Shape 6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0" name="Google Shape;6400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1" name="Google Shape;6401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Tec Equipment, Inc.</a:t>
            </a:r>
            <a:endParaRPr/>
          </a:p>
        </p:txBody>
      </p:sp>
      <p:sp>
        <p:nvSpPr>
          <p:cNvPr id="6402" name="Google Shape;6402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N/A  |  Region: Pacific Northwest  |  State: OR  |  City: Portland</a:t>
            </a:r>
            <a:endParaRPr/>
          </a:p>
        </p:txBody>
      </p:sp>
      <p:sp>
        <p:nvSpPr>
          <p:cNvPr id="6403" name="Google Shape;6403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404" name="Google Shape;6404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05" name="Google Shape;6405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06" name="Google Shape;6406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07" name="Google Shape;6407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08" name="Google Shape;6408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409" name="Google Shape;6409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410" name="Google Shape;6410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411" name="Google Shape;6411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12" name="Google Shape;6412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13" name="Google Shape;6413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14" name="Google Shape;6414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415" name="Google Shape;6415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416" name="Google Shape;6416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7" name="Google Shape;6417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418" name="Google Shape;6418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19" name="Google Shape;6419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420" name="Google Shape;6420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21" name="Google Shape;6421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22" name="Google Shape;6422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23" name="Google Shape;6423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24" name="Google Shape;6424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5" name="Google Shape;6425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426" name="Google Shape;6426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27" name="Google Shape;6427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28" name="Google Shape;6428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29" name="Google Shape;6429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0" name="Google Shape;6430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1" name="Google Shape;6431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2" name="Google Shape;6432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433" name="Google Shape;6433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4" name="Google Shape;6434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5" name="Google Shape;6435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6" name="Google Shape;6436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7" name="Google Shape;6437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8" name="Google Shape;6438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9" name="Google Shape;6439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440" name="Google Shape;6440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1" name="Google Shape;6441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2" name="Google Shape;6442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3" name="Google Shape;6443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4" name="Google Shape;6444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5" name="Google Shape;6445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6" name="Google Shape;6446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447" name="Google Shape;6447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8" name="Google Shape;6448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9" name="Google Shape;6449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0" name="Google Shape;6450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1" name="Google Shape;6451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2" name="Google Shape;6452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3" name="Google Shape;6453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454" name="Google Shape;6454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5" name="Google Shape;6455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6" name="Google Shape;6456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7" name="Google Shape;6457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8" name="Google Shape;6458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9" name="Google Shape;6459;p4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0" name="Google Shape;6460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461" name="Google Shape;6461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2" name="Google Shape;6462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3" name="Google Shape;6463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4" name="Google Shape;6464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5" name="Google Shape;6465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6" name="Google Shape;6466;p40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7" name="Google Shape;6467;p40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468" name="Google Shape;6468;p40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9" name="Google Shape;6469;p4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0" name="Google Shape;6470;p40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1" name="Google Shape;6471;p40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2" name="Google Shape;6472;p40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3" name="Google Shape;6473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4" name="Google Shape;6474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475" name="Google Shape;6475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76" name="Google Shape;6476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477" name="Google Shape;6477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478" name="Google Shape;6478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479" name="Google Shape;6479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80" name="Google Shape;6480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81" name="Google Shape;6481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2" name="Google Shape;6482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483" name="Google Shape;6483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84" name="Google Shape;6484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85" name="Google Shape;6485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86" name="Google Shape;6486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87" name="Google Shape;6487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88" name="Google Shape;6488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9" name="Google Shape;6489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490" name="Google Shape;6490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91" name="Google Shape;6491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92" name="Google Shape;6492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93" name="Google Shape;6493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94" name="Google Shape;6494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495" name="Google Shape;6495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6" name="Google Shape;6496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497" name="Google Shape;6497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98" name="Google Shape;6498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99" name="Google Shape;6499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00" name="Google Shape;6500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01" name="Google Shape;6501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02" name="Google Shape;6502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3" name="Google Shape;6503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04" name="Google Shape;6504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05" name="Google Shape;6505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06" name="Google Shape;6506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07" name="Google Shape;6507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08" name="Google Shape;6508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09" name="Google Shape;6509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0" name="Google Shape;6510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11" name="Google Shape;6511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512" name="Google Shape;6512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13" name="Google Shape;6513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514" name="Google Shape;6514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15" name="Google Shape;6515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16" name="Google Shape;6516;p40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7" name="Google Shape;6517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518" name="Google Shape;6518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19" name="Google Shape;6519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20" name="Google Shape;6520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21" name="Google Shape;6521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22" name="Google Shape;6522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23" name="Google Shape;6523;p40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4" name="Google Shape;6524;p40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25" name="Google Shape;6525;p40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526" name="Google Shape;6526;p40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27" name="Google Shape;6527;p40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528" name="Google Shape;6528;p40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29" name="Google Shape;6529;p4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30" name="Google Shape;6530;p40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1" name="Google Shape;6531;p40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6532" name="Google Shape;6532;p40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533" name="Google Shape;6533;p40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534" name="Google Shape;6534;p40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535" name="Google Shape;6535;p40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536" name="Google Shape;6536;p40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537" name="Google Shape;6537;p40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538" name="Google Shape;6538;p40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539" name="Google Shape;6539;p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540" name="Google Shape;6540;p40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541" name="Google Shape;6541;p40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542" name="Google Shape;6542;p40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543" name="Google Shape;6543;p40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6544" name="Google Shape;6544;p40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6545" name="Google Shape;6545;p40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6546" name="Google Shape;6546;p40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6547" name="Google Shape;6547;p40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548" name="Google Shape;6548;p40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49" name="Google Shape;6549;p4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0" name="Google Shape;6550;p40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1" name="Google Shape;6551;p40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2" name="Google Shape;6552;p40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3" name="Google Shape;6553;p40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4" name="Google Shape;6554;p40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5" name="Google Shape;6555;p40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56" name="Google Shape;6556;p40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7" name="Google Shape;6557;p40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558" name="Google Shape;6558;p40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9" name="Google Shape;6559;p4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0" name="Google Shape;6560;p40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1" name="Google Shape;6561;p40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562" name="Google Shape;6562;p40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563" name="Google Shape;6563;p40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4" name="Google Shape;6564;p40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5" name="Google Shape;6565;p40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6" name="Google Shape;6566;p40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7" name="Google Shape;6567;p40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8" name="Google Shape;6568;p40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69" name="Google Shape;6569;p4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0" name="Google Shape;6570;p40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1" name="Google Shape;6571;p40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2" name="Google Shape;6572;p40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3" name="Google Shape;6573;p40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4" name="Google Shape;6574;p40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5" name="Google Shape;6575;p40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6" name="Google Shape;6576;p40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7" name="Google Shape;6577;p40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8" name="Google Shape;6578;p40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579" name="Google Shape;6579;p4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580" name="Google Shape;6580;p40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6581" name="Google Shape;6581;p40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2" name="Google Shape;6582;p40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583" name="Google Shape;6583;p40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584" name="Google Shape;6584;p40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6 submissions</a:t>
            </a:r>
            <a:endParaRPr/>
          </a:p>
        </p:txBody>
      </p:sp>
      <p:sp>
        <p:nvSpPr>
          <p:cNvPr id="6585" name="Google Shape;6585;p40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586" name="Google Shape;6586;p40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submissions with zero binds - zero conversion</a:t>
            </a:r>
            <a:endParaRPr/>
          </a:p>
        </p:txBody>
      </p:sp>
      <p:sp>
        <p:nvSpPr>
          <p:cNvPr id="6587" name="Google Shape;6587;p4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8" name="Google Shape;6588;p40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589" name="Google Shape;6589;p4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590" name="Google Shape;6590;p40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94" name="Shape 6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5" name="Google Shape;6595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6" name="Google Shape;6596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Titanic Insurance Services Inc.</a:t>
            </a:r>
            <a:endParaRPr/>
          </a:p>
        </p:txBody>
      </p:sp>
      <p:sp>
        <p:nvSpPr>
          <p:cNvPr id="6597" name="Google Shape;6597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Pacific Northwest  |  State: CA  |  City: Sacramento</a:t>
            </a:r>
            <a:endParaRPr/>
          </a:p>
        </p:txBody>
      </p:sp>
      <p:sp>
        <p:nvSpPr>
          <p:cNvPr id="6598" name="Google Shape;6598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599" name="Google Shape;6599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00" name="Google Shape;6600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01" name="Google Shape;6601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02" name="Google Shape;6602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03" name="Google Shape;6603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$79,449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604" name="Google Shape;6604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$6,456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605" name="Google Shape;6605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606" name="Google Shape;6606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07" name="Google Shape;6607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08" name="Google Shape;6608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609" name="Google Shape;6609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610" name="Google Shape;6610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611" name="Google Shape;6611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2" name="Google Shape;6612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613" name="Google Shape;6613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14" name="Google Shape;6614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615" name="Google Shape;6615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16" name="Google Shape;6616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17" name="Google Shape;6617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18" name="Google Shape;6618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19" name="Google Shape;6619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0" name="Google Shape;6620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21" name="Google Shape;6621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2" name="Google Shape;6622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3" name="Google Shape;6623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4" name="Google Shape;6624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5" name="Google Shape;6625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6" name="Google Shape;6626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7" name="Google Shape;6627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28" name="Google Shape;6628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29" name="Google Shape;6629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0" name="Google Shape;6630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1" name="Google Shape;6631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2" name="Google Shape;6632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3" name="Google Shape;6633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4" name="Google Shape;6634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635" name="Google Shape;6635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6" name="Google Shape;6636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7" name="Google Shape;6637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8" name="Google Shape;6638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9" name="Google Shape;6639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0" name="Google Shape;6640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1" name="Google Shape;6641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642" name="Google Shape;6642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3" name="Google Shape;6643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4" name="Google Shape;6644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5" name="Google Shape;6645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6" name="Google Shape;6646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7" name="Google Shape;6647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8" name="Google Shape;6648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649" name="Google Shape;6649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0" name="Google Shape;6650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1" name="Google Shape;6651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2" name="Google Shape;6652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3" name="Google Shape;6653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4" name="Google Shape;6654;p41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5" name="Google Shape;6655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656" name="Google Shape;6656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7" name="Google Shape;6657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8" name="Google Shape;6658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9" name="Google Shape;6659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0" name="Google Shape;6660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1" name="Google Shape;6661;p41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2" name="Google Shape;6662;p41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663" name="Google Shape;6663;p41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4" name="Google Shape;6664;p41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5" name="Google Shape;6665;p4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6" name="Google Shape;6666;p41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7" name="Google Shape;6667;p41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8" name="Google Shape;6668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9" name="Google Shape;6669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670" name="Google Shape;6670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71" name="Google Shape;6671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672" name="Google Shape;6672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673" name="Google Shape;6673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674" name="Google Shape;6674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75" name="Google Shape;6675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676" name="Google Shape;6676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7" name="Google Shape;6677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78" name="Google Shape;6678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79" name="Google Shape;6679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80" name="Google Shape;6680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81" name="Google Shape;6681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82" name="Google Shape;6682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83" name="Google Shape;6683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4" name="Google Shape;6684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85" name="Google Shape;6685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86" name="Google Shape;6686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87" name="Google Shape;6687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88" name="Google Shape;6688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89" name="Google Shape;6689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90" name="Google Shape;6690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1" name="Google Shape;6691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692" name="Google Shape;6692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93" name="Google Shape;6693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94" name="Google Shape;6694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95" name="Google Shape;6695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96" name="Google Shape;6696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697" name="Google Shape;6697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8" name="Google Shape;6698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699" name="Google Shape;6699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00" name="Google Shape;6700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01" name="Google Shape;6701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02" name="Google Shape;6702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03" name="Google Shape;6703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04" name="Google Shape;6704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5" name="Google Shape;6705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06" name="Google Shape;6706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07" name="Google Shape;6707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08" name="Google Shape;6708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09" name="Google Shape;6709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0" name="Google Shape;6710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11" name="Google Shape;6711;p41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2" name="Google Shape;6712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713" name="Google Shape;6713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4" name="Google Shape;6714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5" name="Google Shape;6715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6" name="Google Shape;6716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7" name="Google Shape;6717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18" name="Google Shape;6718;p41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9" name="Google Shape;6719;p41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20" name="Google Shape;6720;p41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21" name="Google Shape;6721;p41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2" name="Google Shape;6722;p41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23" name="Google Shape;6723;p41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24" name="Google Shape;6724;p41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25" name="Google Shape;6725;p4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6" name="Google Shape;6726;p41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6727" name="Google Shape;6727;p41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728" name="Google Shape;6728;p41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729" name="Google Shape;6729;p41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730" name="Google Shape;6730;p41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731" name="Google Shape;6731;p41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732" name="Google Shape;6732;p41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733" name="Google Shape;6733;p41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734" name="Google Shape;6734;p41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735" name="Google Shape;6735;p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736" name="Google Shape;6736;p41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737" name="Google Shape;6737;p41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738" name="Google Shape;6738;p41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6739" name="Google Shape;6739;p41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6740" name="Google Shape;6740;p41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6741" name="Google Shape;6741;p41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6742" name="Google Shape;6742;p41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743" name="Google Shape;6743;p41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44" name="Google Shape;6744;p41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5" name="Google Shape;6745;p4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46" name="Google Shape;6746;p41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7" name="Google Shape;6747;p41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48" name="Google Shape;6748;p41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49" name="Google Shape;6749;p41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50" name="Google Shape;6750;p41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51" name="Google Shape;6751;p41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752" name="Google Shape;6752;p41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53" name="Google Shape;6753;p41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54" name="Google Shape;6754;p41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55" name="Google Shape;6755;p4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756" name="Google Shape;6756;p41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57" name="Google Shape;6757;p41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758" name="Google Shape;6758;p41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9" name="Google Shape;6759;p41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0" name="Google Shape;6760;p41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1" name="Google Shape;6761;p41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2" name="Google Shape;6762;p41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3" name="Google Shape;6763;p41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4" name="Google Shape;6764;p41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5" name="Google Shape;6765;p4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6" name="Google Shape;6766;p41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6767" name="Google Shape;6767;p41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8" name="Google Shape;6768;p41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69" name="Google Shape;6769;p41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70" name="Google Shape;6770;p41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6771" name="Google Shape;6771;p41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72" name="Google Shape;6772;p41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3" name="Google Shape;6773;p41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774" name="Google Shape;6774;p41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775" name="Google Shape;6775;p4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6776" name="Google Shape;6776;p41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7" name="Google Shape;6777;p41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778" name="Google Shape;6778;p41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779" name="Google Shape;6779;p41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6780" name="Google Shape;6780;p41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1" name="Google Shape;6781;p4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782" name="Google Shape;6782;p41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783" name="Google Shape;6783;p4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784" name="Google Shape;6784;p41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785" name="Google Shape;6785;p4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89" name="Shape 6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0" name="Google Shape;6790;p4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1" name="Google Shape;6791;p4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WHA Insurance</a:t>
            </a:r>
            <a:endParaRPr/>
          </a:p>
        </p:txBody>
      </p:sp>
      <p:sp>
        <p:nvSpPr>
          <p:cNvPr id="6792" name="Google Shape;6792;p4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West  |  State: OR  |  City: Eugene</a:t>
            </a:r>
            <a:endParaRPr/>
          </a:p>
        </p:txBody>
      </p:sp>
      <p:sp>
        <p:nvSpPr>
          <p:cNvPr id="6793" name="Google Shape;6793;p4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794" name="Google Shape;6794;p4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795" name="Google Shape;6795;p4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96" name="Google Shape;6796;p4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797" name="Google Shape;6797;p4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798" name="Google Shape;6798;p4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799" name="Google Shape;6799;p4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800" name="Google Shape;6800;p4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801" name="Google Shape;6801;p4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02" name="Google Shape;6802;p4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03" name="Google Shape;6803;p4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04" name="Google Shape;6804;p4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805" name="Google Shape;6805;p4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806" name="Google Shape;6806;p4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7" name="Google Shape;6807;p4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808" name="Google Shape;6808;p4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09" name="Google Shape;6809;p4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810" name="Google Shape;6810;p4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11" name="Google Shape;6811;p4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12" name="Google Shape;6812;p4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13" name="Google Shape;6813;p4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14" name="Google Shape;6814;p4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5" name="Google Shape;6815;p4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16" name="Google Shape;6816;p4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17" name="Google Shape;6817;p4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18" name="Google Shape;6818;p4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19" name="Google Shape;6819;p4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0" name="Google Shape;6820;p4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1" name="Google Shape;6821;p4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2" name="Google Shape;6822;p4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23" name="Google Shape;6823;p4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4" name="Google Shape;6824;p4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5" name="Google Shape;6825;p4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6" name="Google Shape;6826;p4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7" name="Google Shape;6827;p4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8" name="Google Shape;6828;p4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9" name="Google Shape;6829;p4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830" name="Google Shape;6830;p4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1" name="Google Shape;6831;p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2" name="Google Shape;6832;p4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3" name="Google Shape;6833;p4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4" name="Google Shape;6834;p4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5" name="Google Shape;6835;p4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6" name="Google Shape;6836;p4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837" name="Google Shape;6837;p4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8" name="Google Shape;6838;p4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9" name="Google Shape;6839;p4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0" name="Google Shape;6840;p4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1" name="Google Shape;6841;p4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2" name="Google Shape;6842;p4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3" name="Google Shape;6843;p4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844" name="Google Shape;6844;p4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5" name="Google Shape;6845;p4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6" name="Google Shape;6846;p4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7" name="Google Shape;6847;p4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8" name="Google Shape;6848;p4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9" name="Google Shape;6849;p42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0" name="Google Shape;6850;p4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851" name="Google Shape;6851;p4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2" name="Google Shape;6852;p4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3" name="Google Shape;6853;p4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4" name="Google Shape;6854;p4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5" name="Google Shape;6855;p4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6" name="Google Shape;6856;p42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7" name="Google Shape;6857;p42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858" name="Google Shape;6858;p42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59" name="Google Shape;6859;p42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0" name="Google Shape;6860;p42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1" name="Google Shape;6861;p4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2" name="Google Shape;6862;p42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63" name="Google Shape;6863;p4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4" name="Google Shape;6864;p4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865" name="Google Shape;6865;p4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66" name="Google Shape;6866;p4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67" name="Google Shape;6867;p4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868" name="Google Shape;6868;p4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869" name="Google Shape;6869;p4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70" name="Google Shape;6870;p4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71" name="Google Shape;6871;p4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2" name="Google Shape;6872;p4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73" name="Google Shape;6873;p4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74" name="Google Shape;6874;p4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75" name="Google Shape;6875;p4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76" name="Google Shape;6876;p4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77" name="Google Shape;6877;p4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78" name="Google Shape;6878;p4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9" name="Google Shape;6879;p4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80" name="Google Shape;6880;p4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81" name="Google Shape;6881;p4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82" name="Google Shape;6882;p4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83" name="Google Shape;6883;p4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84" name="Google Shape;6884;p4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85" name="Google Shape;6885;p4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6" name="Google Shape;6886;p4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887" name="Google Shape;6887;p4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888" name="Google Shape;6888;p4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889" name="Google Shape;6889;p4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890" name="Google Shape;6890;p4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91" name="Google Shape;6891;p4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92" name="Google Shape;6892;p4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3" name="Google Shape;6893;p4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894" name="Google Shape;6894;p4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895" name="Google Shape;6895;p4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896" name="Google Shape;6896;p4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897" name="Google Shape;6897;p4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98" name="Google Shape;6898;p4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99" name="Google Shape;6899;p4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0" name="Google Shape;6900;p4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01" name="Google Shape;6901;p4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902" name="Google Shape;6902;p4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903" name="Google Shape;6903;p4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904" name="Google Shape;6904;p4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5" name="Google Shape;6905;p4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06" name="Google Shape;6906;p42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7" name="Google Shape;6907;p4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908" name="Google Shape;6908;p4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09" name="Google Shape;6909;p4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0" name="Google Shape;6910;p4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1" name="Google Shape;6911;p4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2" name="Google Shape;6912;p4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13" name="Google Shape;6913;p42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4" name="Google Shape;6914;p42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15" name="Google Shape;6915;p42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6916" name="Google Shape;6916;p42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917" name="Google Shape;6917;p42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6918" name="Google Shape;6918;p42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19" name="Google Shape;6919;p42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20" name="Google Shape;6920;p42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1" name="Google Shape;6921;p4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6922" name="Google Shape;6922;p42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923" name="Google Shape;6923;p42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924" name="Google Shape;6924;p42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925" name="Google Shape;6925;p42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926" name="Google Shape;6926;p42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927" name="Google Shape;6927;p42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928" name="Google Shape;6928;p42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929" name="Google Shape;6929;p42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930" name="Google Shape;6930;p42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931" name="Google Shape;6931;p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932" name="Google Shape;6932;p42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933" name="Google Shape;6933;p42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6934" name="Google Shape;6934;p42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6935" name="Google Shape;6935;p42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6936" name="Google Shape;6936;p42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6937" name="Google Shape;6937;p42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938" name="Google Shape;6938;p42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39" name="Google Shape;6939;p42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0" name="Google Shape;6940;p42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1" name="Google Shape;6941;p4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2" name="Google Shape;6942;p42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3" name="Google Shape;6943;p42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944" name="Google Shape;6944;p42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5" name="Google Shape;6945;p42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946" name="Google Shape;6946;p42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7" name="Google Shape;6947;p42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948" name="Google Shape;6948;p42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9" name="Google Shape;6949;p42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0" name="Google Shape;6950;p42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1" name="Google Shape;6951;p4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6952" name="Google Shape;6952;p42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953" name="Google Shape;6953;p42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4" name="Google Shape;6954;p42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5" name="Google Shape;6955;p42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6" name="Google Shape;6956;p42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7" name="Google Shape;6957;p42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8" name="Google Shape;6958;p42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59" name="Google Shape;6959;p42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0" name="Google Shape;6960;p42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1" name="Google Shape;6961;p4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2" name="Google Shape;6962;p42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3" name="Google Shape;6963;p42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4" name="Google Shape;6964;p42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5" name="Google Shape;6965;p42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6" name="Google Shape;6966;p42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67" name="Google Shape;6967;p42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8" name="Google Shape;6968;p42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969" name="Google Shape;6969;p42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70" name="Google Shape;6970;p42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 submissions - highly active agency</a:t>
            </a:r>
            <a:endParaRPr/>
          </a:p>
        </p:txBody>
      </p:sp>
      <p:sp>
        <p:nvSpPr>
          <p:cNvPr id="6971" name="Google Shape;6971;p4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72" name="Google Shape;6972;p42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 quotes generated - active in pipeline</a:t>
            </a:r>
            <a:endParaRPr/>
          </a:p>
        </p:txBody>
      </p:sp>
      <p:sp>
        <p:nvSpPr>
          <p:cNvPr id="6973" name="Google Shape;6973;p4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4" name="Google Shape;6974;p42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975" name="Google Shape;6975;p42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76" name="Google Shape;6976;p42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54 submissions</a:t>
            </a:r>
            <a:endParaRPr/>
          </a:p>
        </p:txBody>
      </p:sp>
      <p:sp>
        <p:nvSpPr>
          <p:cNvPr id="6977" name="Google Shape;6977;p42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78" name="Google Shape;6978;p42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 submissions with zero binds - zero conversion</a:t>
            </a:r>
            <a:endParaRPr/>
          </a:p>
        </p:txBody>
      </p:sp>
      <p:sp>
        <p:nvSpPr>
          <p:cNvPr id="6979" name="Google Shape;6979;p42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0" name="Google Shape;6980;p42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981" name="Google Shape;6981;p4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982" name="Google Shape;6982;p42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54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6983" name="Google Shape;6983;p4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984" name="Google Shape;6984;p42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39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