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41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4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slide+xml" PartName="/ppt/slides/slide40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</p:sldIdLst>
  <p:sldSz cy="6858000" cx="12191675"/>
  <p:notesSz cx="6858000" cy="9144000"/>
  <p:embeddedFontLst>
    <p:embeddedFont>
      <p:font typeface="Quattrocento Sans"/>
      <p:regular r:id="rId47"/>
      <p:bold r:id="rId48"/>
      <p:italic r:id="rId49"/>
      <p:boldItalic r:id="rId50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51" roundtripDataSignature="AMtx7mgZIIjmAV57ekaPYBe0FQXMeQpd0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44" Type="http://schemas.openxmlformats.org/officeDocument/2006/relationships/slide" Target="slides/slide39.xml"/><Relationship Id="rId43" Type="http://schemas.openxmlformats.org/officeDocument/2006/relationships/slide" Target="slides/slide38.xml"/><Relationship Id="rId46" Type="http://schemas.openxmlformats.org/officeDocument/2006/relationships/slide" Target="slides/slide41.xml"/><Relationship Id="rId45" Type="http://schemas.openxmlformats.org/officeDocument/2006/relationships/slide" Target="slides/slide40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48" Type="http://schemas.openxmlformats.org/officeDocument/2006/relationships/font" Target="fonts/QuattrocentoSans-bold.fntdata"/><Relationship Id="rId47" Type="http://schemas.openxmlformats.org/officeDocument/2006/relationships/font" Target="fonts/QuattrocentoSans-regular.fntdata"/><Relationship Id="rId49" Type="http://schemas.openxmlformats.org/officeDocument/2006/relationships/font" Target="fonts/QuattrocentoSans-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33" Type="http://schemas.openxmlformats.org/officeDocument/2006/relationships/slide" Target="slides/slide28.xml"/><Relationship Id="rId32" Type="http://schemas.openxmlformats.org/officeDocument/2006/relationships/slide" Target="slides/slide27.xml"/><Relationship Id="rId35" Type="http://schemas.openxmlformats.org/officeDocument/2006/relationships/slide" Target="slides/slide30.xml"/><Relationship Id="rId34" Type="http://schemas.openxmlformats.org/officeDocument/2006/relationships/slide" Target="slides/slide29.xml"/><Relationship Id="rId37" Type="http://schemas.openxmlformats.org/officeDocument/2006/relationships/slide" Target="slides/slide32.xml"/><Relationship Id="rId36" Type="http://schemas.openxmlformats.org/officeDocument/2006/relationships/slide" Target="slides/slide31.xml"/><Relationship Id="rId39" Type="http://schemas.openxmlformats.org/officeDocument/2006/relationships/slide" Target="slides/slide34.xml"/><Relationship Id="rId38" Type="http://schemas.openxmlformats.org/officeDocument/2006/relationships/slide" Target="slides/slide33.xml"/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29" Type="http://schemas.openxmlformats.org/officeDocument/2006/relationships/slide" Target="slides/slide24.xml"/><Relationship Id="rId51" Type="http://customschemas.google.com/relationships/presentationmetadata" Target="metadata"/><Relationship Id="rId50" Type="http://schemas.openxmlformats.org/officeDocument/2006/relationships/font" Target="fonts/QuattrocentoSans-boldItalic.fntdata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" name="Google Shape;89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0" name="Google Shape;280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8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0" name="Google Shape;310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9" name="Shape 4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Google Shape;500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1" name="Google Shape;501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7" name="Shape 6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Google Shape;658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9" name="Google Shape;659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2" name="Shape 7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3" name="Google Shape;733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4" name="Google Shape;734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3" name="Shape 8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Google Shape;804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5" name="Google Shape;805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2" name="Shape 8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3" name="Google Shape;883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4" name="Google Shape;884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7" name="Shape 1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8" name="Google Shape;1148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49" name="Google Shape;1149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8" name="Shape 1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9" name="Google Shape;1199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00" name="Google Shape;1200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1" name="Shape 1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2" name="Google Shape;1252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3" name="Google Shape;1253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5" name="Shape 1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6" name="Google Shape;1296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7" name="Google Shape;1297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0" name="Shape 15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1" name="Google Shape;1501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02" name="Google Shape;1502;p1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91" name="Shape 15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2" name="Google Shape;1592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3" name="Google Shape;1593;p1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16" name="Shape 16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7" name="Google Shape;1617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18" name="Google Shape;1618;p1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95" name="Shape 17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6" name="Google Shape;1796;p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97" name="Google Shape;1797;p1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74" name="Shape 19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5" name="Google Shape;1975;p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76" name="Google Shape;1976;p1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3" name="Shape 2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4" name="Google Shape;2154;p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5" name="Google Shape;2155;p1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30" name="Shape 2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1" name="Google Shape;2331;p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32" name="Google Shape;2332;p2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9" name="Shape 25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0" name="Google Shape;2510;p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11" name="Google Shape;2511;p2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86" name="Shape 26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7" name="Google Shape;2687;p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88" name="Google Shape;2688;p2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61" name="Shape 28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2" name="Google Shape;2862;p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63" name="Google Shape;2863;p2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38" name="Shape 30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9" name="Google Shape;3039;p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40" name="Google Shape;3040;p2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17" name="Shape 3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8" name="Google Shape;3218;p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19" name="Google Shape;3219;p2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96" name="Shape 3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7" name="Google Shape;3397;p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8" name="Google Shape;3398;p2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73" name="Shape 35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4" name="Google Shape;3574;p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75" name="Google Shape;3575;p2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48" name="Shape 37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9" name="Google Shape;3749;p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50" name="Google Shape;3750;p2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27" name="Shape 39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8" name="Google Shape;3928;p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29" name="Google Shape;3929;p2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02" name="Shape 4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3" name="Google Shape;4103;p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04" name="Google Shape;4104;p3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81" name="Shape 4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2" name="Google Shape;4282;p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83" name="Google Shape;4283;p3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58" name="Shape 44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9" name="Google Shape;4459;p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60" name="Google Shape;4460;p3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37" name="Shape 4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8" name="Google Shape;4638;p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39" name="Google Shape;4639;p3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12" name="Shape 4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" name="Google Shape;4813;p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14" name="Google Shape;4814;p3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89" name="Shape 49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0" name="Google Shape;4990;p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91" name="Google Shape;4991;p3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68" name="Shape 5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9" name="Google Shape;5169;p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70" name="Google Shape;5170;p3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45" name="Shape 5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46" name="Google Shape;5346;p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47" name="Google Shape;5347;p3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20" name="Shape 55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1" name="Google Shape;5521;p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22" name="Google Shape;5522;p3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95" name="Shape 56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6" name="Google Shape;5696;p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97" name="Google Shape;5697;p3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70" name="Shape 58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71" name="Google Shape;5871;p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72" name="Google Shape;5872;p4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45" name="Shape 60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6" name="Google Shape;6046;p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47" name="Google Shape;6047;p4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4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4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4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4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44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4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4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4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5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46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46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4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4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4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7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47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4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4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4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4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48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48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48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48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4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4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4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4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4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4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4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50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50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50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5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5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5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51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51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51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5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5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5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5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52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5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5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5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53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53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5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5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5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4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42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4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4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4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E073B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000" u="none" cap="none" strike="noStrike">
                <a:solidFill>
                  <a:srgbClr val="8B5CF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COVER WHALE</a:t>
            </a:r>
            <a:endParaRPr/>
          </a:p>
        </p:txBody>
      </p:sp>
      <p:sp>
        <p:nvSpPr>
          <p:cNvPr id="85" name="Google Shape;85;p1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Taylor Sloan - Agency Portfolio</a:t>
            </a:r>
            <a:endParaRPr/>
          </a:p>
        </p:txBody>
      </p:sp>
      <p:sp>
        <p:nvSpPr>
          <p:cNvPr id="86" name="Google Shape;86;p1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Jan–May 2026  |  Generated May 20, 2026  |  28 Agencies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Taylor Sloan - Portfolio Overview</a:t>
            </a:r>
            <a:endParaRPr/>
          </a:p>
        </p:txBody>
      </p:sp>
      <p:sp>
        <p:nvSpPr>
          <p:cNvPr id="93" name="Google Shape;93;p2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Jan–May 2026  |  28 Total Agencies  |  26 Active  |  2 Inactive</a:t>
            </a:r>
            <a:endParaRPr/>
          </a:p>
        </p:txBody>
      </p:sp>
      <p:sp>
        <p:nvSpPr>
          <p:cNvPr id="94" name="Google Shape;94;p2"/>
          <p:cNvSpPr/>
          <p:nvPr/>
        </p:nvSpPr>
        <p:spPr>
          <a:xfrm>
            <a:off x="137160" y="868680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Agencies</a:t>
            </a:r>
            <a:endParaRPr/>
          </a:p>
        </p:txBody>
      </p:sp>
      <p:sp>
        <p:nvSpPr>
          <p:cNvPr id="95" name="Google Shape;95;p2"/>
          <p:cNvSpPr/>
          <p:nvPr/>
        </p:nvSpPr>
        <p:spPr>
          <a:xfrm>
            <a:off x="1847088" y="868680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Active (YTD)</a:t>
            </a:r>
            <a:endParaRPr/>
          </a:p>
        </p:txBody>
      </p:sp>
      <p:sp>
        <p:nvSpPr>
          <p:cNvPr id="96" name="Google Shape;96;p2"/>
          <p:cNvSpPr/>
          <p:nvPr/>
        </p:nvSpPr>
        <p:spPr>
          <a:xfrm>
            <a:off x="3557016" y="868680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$1,209,359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97" name="Google Shape;97;p2"/>
          <p:cNvSpPr/>
          <p:nvPr/>
        </p:nvSpPr>
        <p:spPr>
          <a:xfrm>
            <a:off x="5266944" y="868680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$925,210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98" name="Google Shape;98;p2"/>
          <p:cNvSpPr/>
          <p:nvPr/>
        </p:nvSpPr>
        <p:spPr>
          <a:xfrm>
            <a:off x="6976872" y="868680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$125,596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99" name="Google Shape;99;p2"/>
          <p:cNvSpPr/>
          <p:nvPr/>
        </p:nvSpPr>
        <p:spPr>
          <a:xfrm>
            <a:off x="8686800" y="868680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$158,553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100" name="Google Shape;100;p2"/>
          <p:cNvSpPr/>
          <p:nvPr/>
        </p:nvSpPr>
        <p:spPr>
          <a:xfrm>
            <a:off x="10396728" y="868680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$-519,145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101" name="Google Shape;101;p2"/>
          <p:cNvSpPr/>
          <p:nvPr/>
        </p:nvSpPr>
        <p:spPr>
          <a:xfrm>
            <a:off x="137160" y="1389888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1199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Submissions</a:t>
            </a:r>
            <a:endParaRPr/>
          </a:p>
        </p:txBody>
      </p:sp>
      <p:sp>
        <p:nvSpPr>
          <p:cNvPr id="102" name="Google Shape;102;p2"/>
          <p:cNvSpPr/>
          <p:nvPr/>
        </p:nvSpPr>
        <p:spPr>
          <a:xfrm>
            <a:off x="1847088" y="1389888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Binds</a:t>
            </a:r>
            <a:endParaRPr/>
          </a:p>
        </p:txBody>
      </p:sp>
      <p:sp>
        <p:nvSpPr>
          <p:cNvPr id="103" name="Google Shape;103;p2"/>
          <p:cNvSpPr/>
          <p:nvPr/>
        </p:nvSpPr>
        <p:spPr>
          <a:xfrm>
            <a:off x="3557016" y="1389888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3.3%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104" name="Google Shape;104;p2"/>
          <p:cNvSpPr/>
          <p:nvPr/>
        </p:nvSpPr>
        <p:spPr>
          <a:xfrm>
            <a:off x="5266944" y="1389888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Subs</a:t>
            </a:r>
            <a:endParaRPr/>
          </a:p>
        </p:txBody>
      </p:sp>
      <p:sp>
        <p:nvSpPr>
          <p:cNvPr id="105" name="Google Shape;105;p2"/>
          <p:cNvSpPr/>
          <p:nvPr/>
        </p:nvSpPr>
        <p:spPr>
          <a:xfrm>
            <a:off x="6976872" y="1389888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Binds</a:t>
            </a:r>
            <a:endParaRPr/>
          </a:p>
        </p:txBody>
      </p:sp>
      <p:sp>
        <p:nvSpPr>
          <p:cNvPr id="106" name="Google Shape;106;p2"/>
          <p:cNvSpPr/>
          <p:nvPr/>
        </p:nvSpPr>
        <p:spPr>
          <a:xfrm>
            <a:off x="8686800" y="1389888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1072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 Subs</a:t>
            </a:r>
            <a:endParaRPr/>
          </a:p>
        </p:txBody>
      </p:sp>
      <p:sp>
        <p:nvSpPr>
          <p:cNvPr id="107" name="Google Shape;107;p2"/>
          <p:cNvSpPr/>
          <p:nvPr/>
        </p:nvSpPr>
        <p:spPr>
          <a:xfrm>
            <a:off x="10396728" y="1389888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 Binds</a:t>
            </a:r>
            <a:endParaRPr/>
          </a:p>
        </p:txBody>
      </p:sp>
      <p:sp>
        <p:nvSpPr>
          <p:cNvPr id="108" name="Google Shape;108;p2"/>
          <p:cNvSpPr/>
          <p:nvPr/>
        </p:nvSpPr>
        <p:spPr>
          <a:xfrm>
            <a:off x="137160" y="1911095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$2,294,609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109" name="Google Shape;109;p2"/>
          <p:cNvSpPr/>
          <p:nvPr/>
        </p:nvSpPr>
        <p:spPr>
          <a:xfrm>
            <a:off x="1847088" y="1911095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$2,651,432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110" name="Google Shape;110;p2"/>
          <p:cNvSpPr/>
          <p:nvPr/>
        </p:nvSpPr>
        <p:spPr>
          <a:xfrm>
            <a:off x="3557016" y="1911095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$2,753,531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Annual Goal (40%)</a:t>
            </a:r>
            <a:endParaRPr/>
          </a:p>
        </p:txBody>
      </p:sp>
      <p:sp>
        <p:nvSpPr>
          <p:cNvPr id="111" name="Google Shape;111;p2"/>
          <p:cNvSpPr/>
          <p:nvPr/>
        </p:nvSpPr>
        <p:spPr>
          <a:xfrm>
            <a:off x="5266944" y="1911095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44%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112" name="Google Shape;112;p2"/>
          <p:cNvSpPr/>
          <p:nvPr/>
        </p:nvSpPr>
        <p:spPr>
          <a:xfrm>
            <a:off x="6976872" y="1911095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$503,319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113" name="Google Shape;113;p2"/>
          <p:cNvSpPr/>
          <p:nvPr/>
        </p:nvSpPr>
        <p:spPr>
          <a:xfrm>
            <a:off x="8686800" y="1911095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$754,836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 Bound Prem</a:t>
            </a:r>
            <a:endParaRPr/>
          </a:p>
        </p:txBody>
      </p:sp>
      <p:sp>
        <p:nvSpPr>
          <p:cNvPr id="114" name="Google Shape;114;p2"/>
          <p:cNvSpPr/>
          <p:nvPr/>
        </p:nvSpPr>
        <p:spPr>
          <a:xfrm>
            <a:off x="10396728" y="1911095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19.5%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Retention Rate</a:t>
            </a:r>
            <a:endParaRPr/>
          </a:p>
        </p:txBody>
      </p:sp>
      <p:sp>
        <p:nvSpPr>
          <p:cNvPr id="115" name="Google Shape;115;p2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2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TOP AGENCIES BY YTD GWP</a:t>
            </a:r>
            <a:endParaRPr/>
          </a:p>
        </p:txBody>
      </p:sp>
      <p:sp>
        <p:nvSpPr>
          <p:cNvPr id="117" name="Google Shape;117;p2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Agency</a:t>
            </a:r>
            <a:endParaRPr/>
          </a:p>
        </p:txBody>
      </p:sp>
      <p:sp>
        <p:nvSpPr>
          <p:cNvPr id="118" name="Google Shape;118;p2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119" name="Google Shape;119;p2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Biz $</a:t>
            </a:r>
            <a:endParaRPr/>
          </a:p>
        </p:txBody>
      </p:sp>
      <p:sp>
        <p:nvSpPr>
          <p:cNvPr id="120" name="Google Shape;120;p2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 $</a:t>
            </a:r>
            <a:endParaRPr/>
          </a:p>
        </p:txBody>
      </p:sp>
      <p:sp>
        <p:nvSpPr>
          <p:cNvPr id="121" name="Google Shape;121;p2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122" name="Google Shape;122;p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Quotes</a:t>
            </a:r>
            <a:endParaRPr/>
          </a:p>
        </p:txBody>
      </p:sp>
      <p:sp>
        <p:nvSpPr>
          <p:cNvPr id="123" name="Google Shape;123;p2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124" name="Google Shape;124;p2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HR</a:t>
            </a:r>
            <a:endParaRPr/>
          </a:p>
        </p:txBody>
      </p:sp>
      <p:sp>
        <p:nvSpPr>
          <p:cNvPr id="125" name="Google Shape;125;p2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2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360 Risk Partners Insurance Solutio</a:t>
            </a:r>
            <a:endParaRPr/>
          </a:p>
        </p:txBody>
      </p:sp>
      <p:sp>
        <p:nvSpPr>
          <p:cNvPr id="127" name="Google Shape;127;p2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$290,447</a:t>
            </a:r>
            <a:endParaRPr/>
          </a:p>
        </p:txBody>
      </p:sp>
      <p:sp>
        <p:nvSpPr>
          <p:cNvPr id="128" name="Google Shape;128;p2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$213,147</a:t>
            </a:r>
            <a:endParaRPr/>
          </a:p>
        </p:txBody>
      </p:sp>
      <p:sp>
        <p:nvSpPr>
          <p:cNvPr id="129" name="Google Shape;129;p2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$23,591</a:t>
            </a:r>
            <a:endParaRPr/>
          </a:p>
        </p:txBody>
      </p:sp>
      <p:sp>
        <p:nvSpPr>
          <p:cNvPr id="130" name="Google Shape;130;p2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132</a:t>
            </a:r>
            <a:endParaRPr/>
          </a:p>
        </p:txBody>
      </p:sp>
      <p:sp>
        <p:nvSpPr>
          <p:cNvPr id="131" name="Google Shape;131;p2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96</a:t>
            </a:r>
            <a:endParaRPr/>
          </a:p>
        </p:txBody>
      </p:sp>
      <p:sp>
        <p:nvSpPr>
          <p:cNvPr id="132" name="Google Shape;132;p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133" name="Google Shape;133;p2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6.8%</a:t>
            </a:r>
            <a:endParaRPr/>
          </a:p>
        </p:txBody>
      </p:sp>
      <p:sp>
        <p:nvSpPr>
          <p:cNvPr id="134" name="Google Shape;134;p2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2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Fredrick B. Roberson Insurance Serv</a:t>
            </a:r>
            <a:endParaRPr/>
          </a:p>
        </p:txBody>
      </p:sp>
      <p:sp>
        <p:nvSpPr>
          <p:cNvPr id="136" name="Google Shape;136;p2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$241,087</a:t>
            </a:r>
            <a:endParaRPr/>
          </a:p>
        </p:txBody>
      </p:sp>
      <p:sp>
        <p:nvSpPr>
          <p:cNvPr id="137" name="Google Shape;137;p2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$152,737</a:t>
            </a:r>
            <a:endParaRPr/>
          </a:p>
        </p:txBody>
      </p:sp>
      <p:sp>
        <p:nvSpPr>
          <p:cNvPr id="138" name="Google Shape;138;p2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39" name="Google Shape;139;p2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141</a:t>
            </a:r>
            <a:endParaRPr/>
          </a:p>
        </p:txBody>
      </p:sp>
      <p:sp>
        <p:nvSpPr>
          <p:cNvPr id="140" name="Google Shape;140;p2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100</a:t>
            </a:r>
            <a:endParaRPr/>
          </a:p>
        </p:txBody>
      </p:sp>
      <p:sp>
        <p:nvSpPr>
          <p:cNvPr id="141" name="Google Shape;141;p2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142" name="Google Shape;142;p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5.7%</a:t>
            </a:r>
            <a:endParaRPr/>
          </a:p>
        </p:txBody>
      </p:sp>
      <p:sp>
        <p:nvSpPr>
          <p:cNvPr id="143" name="Google Shape;143;p2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Millan Group, Inc.</a:t>
            </a:r>
            <a:endParaRPr/>
          </a:p>
        </p:txBody>
      </p:sp>
      <p:sp>
        <p:nvSpPr>
          <p:cNvPr id="144" name="Google Shape;144;p2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$205,400</a:t>
            </a:r>
            <a:endParaRPr/>
          </a:p>
        </p:txBody>
      </p:sp>
      <p:sp>
        <p:nvSpPr>
          <p:cNvPr id="145" name="Google Shape;145;p2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$205,561</a:t>
            </a:r>
            <a:endParaRPr/>
          </a:p>
        </p:txBody>
      </p:sp>
      <p:sp>
        <p:nvSpPr>
          <p:cNvPr id="146" name="Google Shape;146;p2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47" name="Google Shape;147;p2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57</a:t>
            </a:r>
            <a:endParaRPr/>
          </a:p>
        </p:txBody>
      </p:sp>
      <p:sp>
        <p:nvSpPr>
          <p:cNvPr id="148" name="Google Shape;148;p2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37</a:t>
            </a:r>
            <a:endParaRPr/>
          </a:p>
        </p:txBody>
      </p:sp>
      <p:sp>
        <p:nvSpPr>
          <p:cNvPr id="149" name="Google Shape;149;p2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50" name="Google Shape;150;p2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1.8%</a:t>
            </a:r>
            <a:endParaRPr/>
          </a:p>
        </p:txBody>
      </p:sp>
      <p:sp>
        <p:nvSpPr>
          <p:cNvPr id="151" name="Google Shape;151;p2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Commercial Specialists Insurance Se</a:t>
            </a:r>
            <a:endParaRPr/>
          </a:p>
        </p:txBody>
      </p:sp>
      <p:sp>
        <p:nvSpPr>
          <p:cNvPr id="153" name="Google Shape;153;p2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$140,857</a:t>
            </a:r>
            <a:endParaRPr/>
          </a:p>
        </p:txBody>
      </p:sp>
      <p:sp>
        <p:nvSpPr>
          <p:cNvPr id="154" name="Google Shape;154;p2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$139,546</a:t>
            </a:r>
            <a:endParaRPr/>
          </a:p>
        </p:txBody>
      </p:sp>
      <p:sp>
        <p:nvSpPr>
          <p:cNvPr id="155" name="Google Shape;155;p2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56" name="Google Shape;156;p2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37</a:t>
            </a:r>
            <a:endParaRPr/>
          </a:p>
        </p:txBody>
      </p:sp>
      <p:sp>
        <p:nvSpPr>
          <p:cNvPr id="157" name="Google Shape;157;p2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</a:t>
            </a:r>
            <a:endParaRPr/>
          </a:p>
        </p:txBody>
      </p:sp>
      <p:sp>
        <p:nvSpPr>
          <p:cNvPr id="158" name="Google Shape;158;p2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159" name="Google Shape;159;p2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8.1%</a:t>
            </a:r>
            <a:endParaRPr/>
          </a:p>
        </p:txBody>
      </p:sp>
      <p:sp>
        <p:nvSpPr>
          <p:cNvPr id="160" name="Google Shape;160;p2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Mustard Seed Financial &amp; Insurance </a:t>
            </a:r>
            <a:endParaRPr/>
          </a:p>
        </p:txBody>
      </p:sp>
      <p:sp>
        <p:nvSpPr>
          <p:cNvPr id="161" name="Google Shape;161;p2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$95,156</a:t>
            </a:r>
            <a:endParaRPr/>
          </a:p>
        </p:txBody>
      </p:sp>
      <p:sp>
        <p:nvSpPr>
          <p:cNvPr id="162" name="Google Shape;162;p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$66,456</a:t>
            </a:r>
            <a:endParaRPr/>
          </a:p>
        </p:txBody>
      </p:sp>
      <p:sp>
        <p:nvSpPr>
          <p:cNvPr id="163" name="Google Shape;163;p2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$27,219</a:t>
            </a:r>
            <a:endParaRPr/>
          </a:p>
        </p:txBody>
      </p:sp>
      <p:sp>
        <p:nvSpPr>
          <p:cNvPr id="164" name="Google Shape;164;p2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146</a:t>
            </a:r>
            <a:endParaRPr/>
          </a:p>
        </p:txBody>
      </p:sp>
      <p:sp>
        <p:nvSpPr>
          <p:cNvPr id="165" name="Google Shape;165;p2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98</a:t>
            </a:r>
            <a:endParaRPr/>
          </a:p>
        </p:txBody>
      </p:sp>
      <p:sp>
        <p:nvSpPr>
          <p:cNvPr id="166" name="Google Shape;166;p2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167" name="Google Shape;167;p2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2.1%</a:t>
            </a:r>
            <a:endParaRPr/>
          </a:p>
        </p:txBody>
      </p:sp>
      <p:sp>
        <p:nvSpPr>
          <p:cNvPr id="168" name="Google Shape;168;p2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2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All Lines Associates, Inc. DBA Vall</a:t>
            </a:r>
            <a:endParaRPr/>
          </a:p>
        </p:txBody>
      </p:sp>
      <p:sp>
        <p:nvSpPr>
          <p:cNvPr id="170" name="Google Shape;170;p2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$86,423</a:t>
            </a:r>
            <a:endParaRPr/>
          </a:p>
        </p:txBody>
      </p:sp>
      <p:sp>
        <p:nvSpPr>
          <p:cNvPr id="171" name="Google Shape;171;p2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$82,403</a:t>
            </a:r>
            <a:endParaRPr/>
          </a:p>
        </p:txBody>
      </p:sp>
      <p:sp>
        <p:nvSpPr>
          <p:cNvPr id="172" name="Google Shape;172;p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73" name="Google Shape;173;p2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177</a:t>
            </a:r>
            <a:endParaRPr/>
          </a:p>
        </p:txBody>
      </p:sp>
      <p:sp>
        <p:nvSpPr>
          <p:cNvPr id="174" name="Google Shape;174;p2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120</a:t>
            </a:r>
            <a:endParaRPr/>
          </a:p>
        </p:txBody>
      </p:sp>
      <p:sp>
        <p:nvSpPr>
          <p:cNvPr id="175" name="Google Shape;175;p2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76" name="Google Shape;176;p2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1.1%</a:t>
            </a:r>
            <a:endParaRPr/>
          </a:p>
        </p:txBody>
      </p:sp>
      <p:sp>
        <p:nvSpPr>
          <p:cNvPr id="177" name="Google Shape;177;p2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NEAL'S INSURANCE SERVICES</a:t>
            </a:r>
            <a:endParaRPr/>
          </a:p>
        </p:txBody>
      </p:sp>
      <p:sp>
        <p:nvSpPr>
          <p:cNvPr id="178" name="Google Shape;178;p2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$61,005</a:t>
            </a:r>
            <a:endParaRPr/>
          </a:p>
        </p:txBody>
      </p:sp>
      <p:sp>
        <p:nvSpPr>
          <p:cNvPr id="179" name="Google Shape;179;p2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80" name="Google Shape;180;p2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$61,018</a:t>
            </a:r>
            <a:endParaRPr/>
          </a:p>
        </p:txBody>
      </p:sp>
      <p:sp>
        <p:nvSpPr>
          <p:cNvPr id="181" name="Google Shape;181;p2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182" name="Google Shape;182;p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183" name="Google Shape;183;p2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84" name="Google Shape;184;p2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12.5%</a:t>
            </a:r>
            <a:endParaRPr/>
          </a:p>
        </p:txBody>
      </p:sp>
      <p:sp>
        <p:nvSpPr>
          <p:cNvPr id="185" name="Google Shape;185;p2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2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Omega Insurance Service</a:t>
            </a:r>
            <a:endParaRPr/>
          </a:p>
        </p:txBody>
      </p:sp>
      <p:sp>
        <p:nvSpPr>
          <p:cNvPr id="187" name="Google Shape;187;p2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$41,015</a:t>
            </a:r>
            <a:endParaRPr/>
          </a:p>
        </p:txBody>
      </p:sp>
      <p:sp>
        <p:nvSpPr>
          <p:cNvPr id="188" name="Google Shape;188;p2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$26,723</a:t>
            </a:r>
            <a:endParaRPr/>
          </a:p>
        </p:txBody>
      </p:sp>
      <p:sp>
        <p:nvSpPr>
          <p:cNvPr id="189" name="Google Shape;189;p2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$13,769</a:t>
            </a:r>
            <a:endParaRPr/>
          </a:p>
        </p:txBody>
      </p:sp>
      <p:sp>
        <p:nvSpPr>
          <p:cNvPr id="190" name="Google Shape;190;p2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191" name="Google Shape;191;p2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192" name="Google Shape;192;p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93" name="Google Shape;193;p2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28.6%</a:t>
            </a:r>
            <a:endParaRPr/>
          </a:p>
        </p:txBody>
      </p:sp>
      <p:sp>
        <p:nvSpPr>
          <p:cNvPr id="194" name="Google Shape;194;p2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Beaver State Insurance Agency Llc</a:t>
            </a:r>
            <a:endParaRPr/>
          </a:p>
        </p:txBody>
      </p:sp>
      <p:sp>
        <p:nvSpPr>
          <p:cNvPr id="195" name="Google Shape;195;p2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$26,465</a:t>
            </a:r>
            <a:endParaRPr/>
          </a:p>
        </p:txBody>
      </p:sp>
      <p:sp>
        <p:nvSpPr>
          <p:cNvPr id="196" name="Google Shape;196;p2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$20,493</a:t>
            </a:r>
            <a:endParaRPr/>
          </a:p>
        </p:txBody>
      </p:sp>
      <p:sp>
        <p:nvSpPr>
          <p:cNvPr id="197" name="Google Shape;197;p2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98" name="Google Shape;198;p2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199" name="Google Shape;199;p2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200" name="Google Shape;200;p2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201" name="Google Shape;201;p2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16.7%</a:t>
            </a:r>
            <a:endParaRPr/>
          </a:p>
        </p:txBody>
      </p:sp>
      <p:sp>
        <p:nvSpPr>
          <p:cNvPr id="202" name="Google Shape;202;p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All Capital Insurance Agency Inc</a:t>
            </a:r>
            <a:endParaRPr/>
          </a:p>
        </p:txBody>
      </p:sp>
      <p:sp>
        <p:nvSpPr>
          <p:cNvPr id="204" name="Google Shape;204;p2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$17,343</a:t>
            </a:r>
            <a:endParaRPr/>
          </a:p>
        </p:txBody>
      </p:sp>
      <p:sp>
        <p:nvSpPr>
          <p:cNvPr id="205" name="Google Shape;205;p2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$18,143</a:t>
            </a:r>
            <a:endParaRPr/>
          </a:p>
        </p:txBody>
      </p:sp>
      <p:sp>
        <p:nvSpPr>
          <p:cNvPr id="206" name="Google Shape;206;p2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07" name="Google Shape;207;p2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223</a:t>
            </a:r>
            <a:endParaRPr/>
          </a:p>
        </p:txBody>
      </p:sp>
      <p:sp>
        <p:nvSpPr>
          <p:cNvPr id="208" name="Google Shape;208;p2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142</a:t>
            </a:r>
            <a:endParaRPr/>
          </a:p>
        </p:txBody>
      </p:sp>
      <p:sp>
        <p:nvSpPr>
          <p:cNvPr id="209" name="Google Shape;209;p2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210" name="Google Shape;210;p2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2.7%</a:t>
            </a:r>
            <a:endParaRPr/>
          </a:p>
        </p:txBody>
      </p:sp>
      <p:sp>
        <p:nvSpPr>
          <p:cNvPr id="211" name="Google Shape;211;p2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Silicon Valley Insurance Center Inc</a:t>
            </a:r>
            <a:endParaRPr/>
          </a:p>
        </p:txBody>
      </p:sp>
      <p:sp>
        <p:nvSpPr>
          <p:cNvPr id="212" name="Google Shape;212;p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$4,160</a:t>
            </a:r>
            <a:endParaRPr/>
          </a:p>
        </p:txBody>
      </p:sp>
      <p:sp>
        <p:nvSpPr>
          <p:cNvPr id="213" name="Google Shape;213;p2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14" name="Google Shape;214;p2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15" name="Google Shape;215;p2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216" name="Google Shape;216;p2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217" name="Google Shape;217;p2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18" name="Google Shape;218;p2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16.7%</a:t>
            </a:r>
            <a:endParaRPr/>
          </a:p>
        </p:txBody>
      </p:sp>
      <p:sp>
        <p:nvSpPr>
          <p:cNvPr id="219" name="Google Shape;219;p2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2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AMK Insurance Agency, Inc.</a:t>
            </a:r>
            <a:endParaRPr/>
          </a:p>
        </p:txBody>
      </p:sp>
      <p:sp>
        <p:nvSpPr>
          <p:cNvPr id="221" name="Google Shape;221;p2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22" name="Google Shape;222;p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23" name="Google Shape;223;p2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24" name="Google Shape;224;p2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225" name="Google Shape;225;p2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226" name="Google Shape;226;p2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27" name="Google Shape;227;p2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228" name="Google Shape;228;p2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2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MONTHLY SUMMARY</a:t>
            </a:r>
            <a:endParaRPr/>
          </a:p>
        </p:txBody>
      </p:sp>
      <p:sp>
        <p:nvSpPr>
          <p:cNvPr id="230" name="Google Shape;230;p2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31" name="Google Shape;231;p2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</a:t>
            </a:r>
            <a:endParaRPr/>
          </a:p>
        </p:txBody>
      </p:sp>
      <p:sp>
        <p:nvSpPr>
          <p:cNvPr id="232" name="Google Shape;232;p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Biz</a:t>
            </a:r>
            <a:endParaRPr/>
          </a:p>
        </p:txBody>
      </p:sp>
      <p:sp>
        <p:nvSpPr>
          <p:cNvPr id="233" name="Google Shape;233;p2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234" name="Google Shape;234;p2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35" name="Google Shape;235;p2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HR</a:t>
            </a:r>
            <a:endParaRPr/>
          </a:p>
        </p:txBody>
      </p:sp>
      <p:sp>
        <p:nvSpPr>
          <p:cNvPr id="236" name="Google Shape;236;p2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2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</a:t>
            </a:r>
            <a:endParaRPr/>
          </a:p>
        </p:txBody>
      </p:sp>
      <p:sp>
        <p:nvSpPr>
          <p:cNvPr id="238" name="Google Shape;238;p2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$589,430</a:t>
            </a:r>
            <a:endParaRPr/>
          </a:p>
        </p:txBody>
      </p:sp>
      <p:sp>
        <p:nvSpPr>
          <p:cNvPr id="239" name="Google Shape;239;p2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$331,281</a:t>
            </a:r>
            <a:endParaRPr/>
          </a:p>
        </p:txBody>
      </p:sp>
      <p:sp>
        <p:nvSpPr>
          <p:cNvPr id="240" name="Google Shape;240;p2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180</a:t>
            </a:r>
            <a:endParaRPr/>
          </a:p>
        </p:txBody>
      </p:sp>
      <p:sp>
        <p:nvSpPr>
          <p:cNvPr id="241" name="Google Shape;241;p2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242" name="Google Shape;242;p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7.2%</a:t>
            </a:r>
            <a:endParaRPr/>
          </a:p>
        </p:txBody>
      </p:sp>
      <p:sp>
        <p:nvSpPr>
          <p:cNvPr id="243" name="Google Shape;243;p2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</a:t>
            </a:r>
            <a:endParaRPr/>
          </a:p>
        </p:txBody>
      </p:sp>
      <p:sp>
        <p:nvSpPr>
          <p:cNvPr id="244" name="Google Shape;244;p2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$475,051</a:t>
            </a:r>
            <a:endParaRPr/>
          </a:p>
        </p:txBody>
      </p:sp>
      <p:sp>
        <p:nvSpPr>
          <p:cNvPr id="245" name="Google Shape;245;p2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$50,299</a:t>
            </a:r>
            <a:endParaRPr/>
          </a:p>
        </p:txBody>
      </p:sp>
      <p:sp>
        <p:nvSpPr>
          <p:cNvPr id="246" name="Google Shape;246;p2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248</a:t>
            </a:r>
            <a:endParaRPr/>
          </a:p>
        </p:txBody>
      </p:sp>
      <p:sp>
        <p:nvSpPr>
          <p:cNvPr id="247" name="Google Shape;247;p2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248" name="Google Shape;248;p2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4.4%</a:t>
            </a:r>
            <a:endParaRPr/>
          </a:p>
        </p:txBody>
      </p:sp>
      <p:sp>
        <p:nvSpPr>
          <p:cNvPr id="249" name="Google Shape;249;p2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</a:t>
            </a:r>
            <a:endParaRPr/>
          </a:p>
        </p:txBody>
      </p:sp>
      <p:sp>
        <p:nvSpPr>
          <p:cNvPr id="250" name="Google Shape;250;p2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$432,359</a:t>
            </a:r>
            <a:endParaRPr/>
          </a:p>
        </p:txBody>
      </p:sp>
      <p:sp>
        <p:nvSpPr>
          <p:cNvPr id="251" name="Google Shape;251;p2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$161,882</a:t>
            </a:r>
            <a:endParaRPr/>
          </a:p>
        </p:txBody>
      </p:sp>
      <p:sp>
        <p:nvSpPr>
          <p:cNvPr id="252" name="Google Shape;252;p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285</a:t>
            </a:r>
            <a:endParaRPr/>
          </a:p>
        </p:txBody>
      </p:sp>
      <p:sp>
        <p:nvSpPr>
          <p:cNvPr id="253" name="Google Shape;253;p2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254" name="Google Shape;254;p2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6.7%</a:t>
            </a:r>
            <a:endParaRPr/>
          </a:p>
        </p:txBody>
      </p:sp>
      <p:sp>
        <p:nvSpPr>
          <p:cNvPr id="255" name="Google Shape;255;p2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</a:t>
            </a:r>
            <a:endParaRPr/>
          </a:p>
        </p:txBody>
      </p:sp>
      <p:sp>
        <p:nvSpPr>
          <p:cNvPr id="256" name="Google Shape;256;p2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$601,568</a:t>
            </a:r>
            <a:endParaRPr/>
          </a:p>
        </p:txBody>
      </p:sp>
      <p:sp>
        <p:nvSpPr>
          <p:cNvPr id="257" name="Google Shape;257;p2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$154,501</a:t>
            </a:r>
            <a:endParaRPr/>
          </a:p>
        </p:txBody>
      </p:sp>
      <p:sp>
        <p:nvSpPr>
          <p:cNvPr id="258" name="Google Shape;258;p2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330</a:t>
            </a:r>
            <a:endParaRPr/>
          </a:p>
        </p:txBody>
      </p:sp>
      <p:sp>
        <p:nvSpPr>
          <p:cNvPr id="259" name="Google Shape;259;p2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260" name="Google Shape;260;p2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4.2%</a:t>
            </a:r>
            <a:endParaRPr/>
          </a:p>
        </p:txBody>
      </p:sp>
      <p:sp>
        <p:nvSpPr>
          <p:cNvPr id="261" name="Google Shape;261;p2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62" name="Google Shape;262;p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$259,790</a:t>
            </a:r>
            <a:endParaRPr/>
          </a:p>
        </p:txBody>
      </p:sp>
      <p:sp>
        <p:nvSpPr>
          <p:cNvPr id="263" name="Google Shape;263;p2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$227,247</a:t>
            </a:r>
            <a:endParaRPr/>
          </a:p>
        </p:txBody>
      </p:sp>
      <p:sp>
        <p:nvSpPr>
          <p:cNvPr id="264" name="Google Shape;264;p2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216</a:t>
            </a:r>
            <a:endParaRPr/>
          </a:p>
        </p:txBody>
      </p:sp>
      <p:sp>
        <p:nvSpPr>
          <p:cNvPr id="265" name="Google Shape;265;p2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266" name="Google Shape;266;p2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5.6%</a:t>
            </a:r>
            <a:endParaRPr/>
          </a:p>
        </p:txBody>
      </p:sp>
      <p:sp>
        <p:nvSpPr>
          <p:cNvPr id="267" name="Google Shape;267;p2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2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</a:t>
            </a:r>
            <a:endParaRPr/>
          </a:p>
        </p:txBody>
      </p:sp>
      <p:sp>
        <p:nvSpPr>
          <p:cNvPr id="269" name="Google Shape;269;p2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$1,209,359</a:t>
            </a:r>
            <a:endParaRPr/>
          </a:p>
        </p:txBody>
      </p:sp>
      <p:sp>
        <p:nvSpPr>
          <p:cNvPr id="270" name="Google Shape;270;p2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$925,210</a:t>
            </a:r>
            <a:endParaRPr/>
          </a:p>
        </p:txBody>
      </p:sp>
      <p:sp>
        <p:nvSpPr>
          <p:cNvPr id="271" name="Google Shape;271;p2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1199</a:t>
            </a:r>
            <a:endParaRPr/>
          </a:p>
        </p:txBody>
      </p:sp>
      <p:sp>
        <p:nvSpPr>
          <p:cNvPr id="272" name="Google Shape;272;p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39</a:t>
            </a:r>
            <a:endParaRPr/>
          </a:p>
        </p:txBody>
      </p:sp>
      <p:sp>
        <p:nvSpPr>
          <p:cNvPr id="273" name="Google Shape;273;p2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3.3%</a:t>
            </a:r>
            <a:endParaRPr/>
          </a:p>
        </p:txBody>
      </p:sp>
      <p:sp>
        <p:nvSpPr>
          <p:cNvPr id="274" name="Google Shape;274;p2"/>
          <p:cNvSpPr/>
          <p:nvPr/>
        </p:nvSpPr>
        <p:spPr>
          <a:xfrm>
            <a:off x="8229600" y="4773168"/>
            <a:ext cx="3749039" cy="292608"/>
          </a:xfrm>
          <a:prstGeom prst="rect">
            <a:avLst/>
          </a:prstGeom>
          <a:solidFill>
            <a:srgbClr val="FEF2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2"/>
          <p:cNvSpPr txBox="1"/>
          <p:nvPr/>
        </p:nvSpPr>
        <p:spPr>
          <a:xfrm>
            <a:off x="8321040" y="4791456"/>
            <a:ext cx="27432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INACTIVE AGENCIES (2)</a:t>
            </a:r>
            <a:endParaRPr/>
          </a:p>
        </p:txBody>
      </p:sp>
      <p:sp>
        <p:nvSpPr>
          <p:cNvPr id="276" name="Google Shape;276;p2"/>
          <p:cNvSpPr txBox="1"/>
          <p:nvPr/>
        </p:nvSpPr>
        <p:spPr>
          <a:xfrm>
            <a:off x="8321040" y="5120640"/>
            <a:ext cx="3474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Safeguard Insurance Solutions Llc</a:t>
            </a:r>
            <a:endParaRPr/>
          </a:p>
        </p:txBody>
      </p:sp>
      <p:sp>
        <p:nvSpPr>
          <p:cNvPr id="277" name="Google Shape;277;p2"/>
          <p:cNvSpPr txBox="1"/>
          <p:nvPr/>
        </p:nvSpPr>
        <p:spPr>
          <a:xfrm>
            <a:off x="8321040" y="5303520"/>
            <a:ext cx="3474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Titanic Insurance Services Inc.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3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3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OKR Scoreboard — Taylor Sloan</a:t>
            </a:r>
            <a:endParaRPr/>
          </a:p>
        </p:txBody>
      </p:sp>
      <p:sp>
        <p:nvSpPr>
          <p:cNvPr id="284" name="Google Shape;284;p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BDA OKRs  |  Q2 measure (paced where applicable)  |  Matches BD Rep Scoreboard numbers</a:t>
            </a:r>
            <a:endParaRPr/>
          </a:p>
        </p:txBody>
      </p:sp>
      <p:sp>
        <p:nvSpPr>
          <p:cNvPr id="285" name="Google Shape;285;p3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" name="Google Shape;286;p3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89.4</a:t>
            </a:r>
            <a:endParaRPr/>
          </a:p>
        </p:txBody>
      </p:sp>
      <p:sp>
        <p:nvSpPr>
          <p:cNvPr id="287" name="Google Shape;287;p3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COMPOSITE SCORE</a:t>
            </a:r>
            <a:endParaRPr/>
          </a:p>
        </p:txBody>
      </p:sp>
      <p:sp>
        <p:nvSpPr>
          <p:cNvPr id="288" name="Google Shape;288;p3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Green ≥ 70  |  Amber 45-69  |  Red &lt; 45</a:t>
            </a:r>
            <a:endParaRPr/>
          </a:p>
        </p:txBody>
      </p:sp>
      <p:sp>
        <p:nvSpPr>
          <p:cNvPr id="289" name="Google Shape;289;p3"/>
          <p:cNvSpPr/>
          <p:nvPr/>
        </p:nvSpPr>
        <p:spPr>
          <a:xfrm>
            <a:off x="365760" y="96012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0" name="Google Shape;290;p3"/>
          <p:cNvSpPr/>
          <p:nvPr/>
        </p:nvSpPr>
        <p:spPr>
          <a:xfrm>
            <a:off x="365760" y="96012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3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OKR 1</a:t>
            </a:r>
            <a:endParaRPr/>
          </a:p>
        </p:txBody>
      </p:sp>
      <p:sp>
        <p:nvSpPr>
          <p:cNvPr id="292" name="Google Shape;292;p3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 YoY %</a:t>
            </a:r>
            <a:endParaRPr/>
          </a:p>
        </p:txBody>
      </p:sp>
      <p:sp>
        <p:nvSpPr>
          <p:cNvPr id="293" name="Google Shape;293;p3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Goal ≥+50%</a:t>
            </a:r>
            <a:endParaRPr/>
          </a:p>
        </p:txBody>
      </p:sp>
      <p:sp>
        <p:nvSpPr>
          <p:cNvPr id="294" name="Google Shape;294;p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+228%</a:t>
            </a:r>
            <a:endParaRPr/>
          </a:p>
        </p:txBody>
      </p:sp>
      <p:sp>
        <p:nvSpPr>
          <p:cNvPr id="295" name="Google Shape;295;p3"/>
          <p:cNvSpPr/>
          <p:nvPr/>
        </p:nvSpPr>
        <p:spPr>
          <a:xfrm>
            <a:off x="365760" y="265176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p3"/>
          <p:cNvSpPr/>
          <p:nvPr/>
        </p:nvSpPr>
        <p:spPr>
          <a:xfrm>
            <a:off x="365760" y="2651760"/>
            <a:ext cx="91440" cy="1600200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3"/>
          <p:cNvSpPr txBox="1"/>
          <p:nvPr/>
        </p:nvSpPr>
        <p:spPr>
          <a:xfrm>
            <a:off x="594360" y="2743200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OKR 2</a:t>
            </a:r>
            <a:endParaRPr/>
          </a:p>
        </p:txBody>
      </p:sp>
      <p:sp>
        <p:nvSpPr>
          <p:cNvPr id="298" name="Google Shape;298;p3"/>
          <p:cNvSpPr txBox="1"/>
          <p:nvPr/>
        </p:nvSpPr>
        <p:spPr>
          <a:xfrm>
            <a:off x="594360" y="2999232"/>
            <a:ext cx="5029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Activity Compliance</a:t>
            </a:r>
            <a:endParaRPr/>
          </a:p>
        </p:txBody>
      </p:sp>
      <p:sp>
        <p:nvSpPr>
          <p:cNvPr id="299" name="Google Shape;299;p3"/>
          <p:cNvSpPr txBox="1"/>
          <p:nvPr/>
        </p:nvSpPr>
        <p:spPr>
          <a:xfrm>
            <a:off x="594360" y="3364992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Goal ≥ 100% (50/wk)</a:t>
            </a:r>
            <a:endParaRPr/>
          </a:p>
        </p:txBody>
      </p:sp>
      <p:sp>
        <p:nvSpPr>
          <p:cNvPr id="300" name="Google Shape;300;p3"/>
          <p:cNvSpPr txBox="1"/>
          <p:nvPr/>
        </p:nvSpPr>
        <p:spPr>
          <a:xfrm>
            <a:off x="6309360" y="2834640"/>
            <a:ext cx="21031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68%</a:t>
            </a:r>
            <a:endParaRPr/>
          </a:p>
        </p:txBody>
      </p:sp>
      <p:sp>
        <p:nvSpPr>
          <p:cNvPr id="301" name="Google Shape;301;p3"/>
          <p:cNvSpPr/>
          <p:nvPr/>
        </p:nvSpPr>
        <p:spPr>
          <a:xfrm>
            <a:off x="365760" y="434340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" name="Google Shape;302;p3"/>
          <p:cNvSpPr/>
          <p:nvPr/>
        </p:nvSpPr>
        <p:spPr>
          <a:xfrm>
            <a:off x="365760" y="434340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3" name="Google Shape;303;p3"/>
          <p:cNvSpPr txBox="1"/>
          <p:nvPr/>
        </p:nvSpPr>
        <p:spPr>
          <a:xfrm>
            <a:off x="594360" y="4434840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OKR 3</a:t>
            </a:r>
            <a:endParaRPr/>
          </a:p>
        </p:txBody>
      </p:sp>
      <p:sp>
        <p:nvSpPr>
          <p:cNvPr id="304" name="Google Shape;304;p3"/>
          <p:cNvSpPr txBox="1"/>
          <p:nvPr/>
        </p:nvSpPr>
        <p:spPr>
          <a:xfrm>
            <a:off x="594360" y="4690872"/>
            <a:ext cx="5029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Portfolio Active %</a:t>
            </a:r>
            <a:endParaRPr/>
          </a:p>
        </p:txBody>
      </p:sp>
      <p:sp>
        <p:nvSpPr>
          <p:cNvPr id="305" name="Google Shape;305;p3"/>
          <p:cNvSpPr txBox="1"/>
          <p:nvPr/>
        </p:nvSpPr>
        <p:spPr>
          <a:xfrm>
            <a:off x="594360" y="5056632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 of 28 agencies  |  Goal 75%</a:t>
            </a:r>
            <a:endParaRPr/>
          </a:p>
        </p:txBody>
      </p:sp>
      <p:sp>
        <p:nvSpPr>
          <p:cNvPr id="306" name="Google Shape;306;p3"/>
          <p:cNvSpPr txBox="1"/>
          <p:nvPr/>
        </p:nvSpPr>
        <p:spPr>
          <a:xfrm>
            <a:off x="6309360" y="4526280"/>
            <a:ext cx="21031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93%</a:t>
            </a:r>
            <a:endParaRPr/>
          </a:p>
        </p:txBody>
      </p:sp>
      <p:sp>
        <p:nvSpPr>
          <p:cNvPr id="307" name="Google Shape;307;p3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OKR 1: Q2 paced subs YoY — current Q2-YTD subs ÷ days-elapsed × 91 vs prior full Q2 (Apr–Jun 2025)  |  OKR 2: Q2 avg weekly calls + meetings vs 50/wk goal (outbound calls + meetings only, matches scoreboard)  |  OKR 3: % of HubSpot book with ≥1 submission in 2026  |  BDAs not scored on OKR 4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4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3" name="Google Shape;313;p4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BD Activity  —  Taylor Sloan</a:t>
            </a:r>
            <a:endParaRPr/>
          </a:p>
        </p:txBody>
      </p:sp>
      <p:sp>
        <p:nvSpPr>
          <p:cNvPr id="314" name="Google Shape;314;p4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Jan–May 2026  |  Calls + Meetings  |  Weekly goal: 50 activities  |  Colored arrow = month-over-month trend vs prior complete month</a:t>
            </a:r>
            <a:endParaRPr/>
          </a:p>
        </p:txBody>
      </p:sp>
      <p:sp>
        <p:nvSpPr>
          <p:cNvPr id="315" name="Google Shape;315;p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197 →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Calls</a:t>
            </a:r>
            <a:endParaRPr/>
          </a:p>
        </p:txBody>
      </p:sp>
      <p:sp>
        <p:nvSpPr>
          <p:cNvPr id="316" name="Google Shape;316;p4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 →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Meetings</a:t>
            </a:r>
            <a:endParaRPr/>
          </a:p>
        </p:txBody>
      </p:sp>
      <p:sp>
        <p:nvSpPr>
          <p:cNvPr id="317" name="Google Shape;317;p4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207 →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Activity</a:t>
            </a:r>
            <a:endParaRPr/>
          </a:p>
        </p:txBody>
      </p:sp>
      <p:sp>
        <p:nvSpPr>
          <p:cNvPr id="318" name="Google Shape;318;p4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10.8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Avg / Week</a:t>
            </a:r>
            <a:endParaRPr/>
          </a:p>
        </p:txBody>
      </p:sp>
      <p:sp>
        <p:nvSpPr>
          <p:cNvPr id="319" name="Google Shape;319;p4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 (50/wk)</a:t>
            </a:r>
            <a:endParaRPr/>
          </a:p>
        </p:txBody>
      </p:sp>
      <p:sp>
        <p:nvSpPr>
          <p:cNvPr id="320" name="Google Shape;320;p4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4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WEEKS 1–10  (Jan–Mar)</a:t>
            </a:r>
            <a:endParaRPr/>
          </a:p>
        </p:txBody>
      </p:sp>
      <p:sp>
        <p:nvSpPr>
          <p:cNvPr id="322" name="Google Shape;322;p4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Week</a:t>
            </a:r>
            <a:endParaRPr/>
          </a:p>
        </p:txBody>
      </p:sp>
      <p:sp>
        <p:nvSpPr>
          <p:cNvPr id="323" name="Google Shape;323;p4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Calls</a:t>
            </a:r>
            <a:endParaRPr/>
          </a:p>
        </p:txBody>
      </p:sp>
      <p:sp>
        <p:nvSpPr>
          <p:cNvPr id="324" name="Google Shape;324;p4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Meetings</a:t>
            </a:r>
            <a:endParaRPr/>
          </a:p>
        </p:txBody>
      </p:sp>
      <p:sp>
        <p:nvSpPr>
          <p:cNvPr id="325" name="Google Shape;325;p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</a:t>
            </a:r>
            <a:endParaRPr/>
          </a:p>
        </p:txBody>
      </p:sp>
      <p:sp>
        <p:nvSpPr>
          <p:cNvPr id="326" name="Google Shape;326;p4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Goal</a:t>
            </a:r>
            <a:endParaRPr/>
          </a:p>
        </p:txBody>
      </p:sp>
      <p:sp>
        <p:nvSpPr>
          <p:cNvPr id="327" name="Google Shape;327;p4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Status</a:t>
            </a:r>
            <a:endParaRPr/>
          </a:p>
        </p:txBody>
      </p:sp>
      <p:sp>
        <p:nvSpPr>
          <p:cNvPr id="328" name="Google Shape;328;p4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4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0" name="Google Shape;330;p4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1" name="Google Shape;331;p4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1/5–1/11</a:t>
            </a:r>
            <a:endParaRPr/>
          </a:p>
        </p:txBody>
      </p:sp>
      <p:sp>
        <p:nvSpPr>
          <p:cNvPr id="332" name="Google Shape;332;p4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33" name="Google Shape;333;p4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34" name="Google Shape;334;p4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35" name="Google Shape;335;p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</p:txBody>
      </p:sp>
      <p:sp>
        <p:nvSpPr>
          <p:cNvPr id="336" name="Google Shape;336;p4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337" name="Google Shape;337;p4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" name="Google Shape;338;p4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4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1/12–1/18</a:t>
            </a:r>
            <a:endParaRPr/>
          </a:p>
        </p:txBody>
      </p:sp>
      <p:sp>
        <p:nvSpPr>
          <p:cNvPr id="340" name="Google Shape;340;p4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41" name="Google Shape;341;p4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42" name="Google Shape;342;p4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43" name="Google Shape;343;p4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</p:txBody>
      </p:sp>
      <p:sp>
        <p:nvSpPr>
          <p:cNvPr id="344" name="Google Shape;344;p4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345" name="Google Shape;345;p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4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" name="Google Shape;347;p4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1/19–1/25</a:t>
            </a:r>
            <a:endParaRPr/>
          </a:p>
        </p:txBody>
      </p:sp>
      <p:sp>
        <p:nvSpPr>
          <p:cNvPr id="348" name="Google Shape;348;p4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49" name="Google Shape;349;p4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50" name="Google Shape;350;p4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51" name="Google Shape;351;p4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</p:txBody>
      </p:sp>
      <p:sp>
        <p:nvSpPr>
          <p:cNvPr id="352" name="Google Shape;352;p4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353" name="Google Shape;353;p4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4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1/26–2/1</a:t>
            </a:r>
            <a:endParaRPr/>
          </a:p>
        </p:txBody>
      </p:sp>
      <p:sp>
        <p:nvSpPr>
          <p:cNvPr id="356" name="Google Shape;356;p4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57" name="Google Shape;357;p4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58" name="Google Shape;358;p4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59" name="Google Shape;359;p4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</p:txBody>
      </p:sp>
      <p:sp>
        <p:nvSpPr>
          <p:cNvPr id="360" name="Google Shape;360;p4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361" name="Google Shape;361;p4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2" name="Google Shape;362;p4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3" name="Google Shape;363;p4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2/2–2/8</a:t>
            </a:r>
            <a:endParaRPr/>
          </a:p>
        </p:txBody>
      </p:sp>
      <p:sp>
        <p:nvSpPr>
          <p:cNvPr id="364" name="Google Shape;364;p4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65" name="Google Shape;365;p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66" name="Google Shape;366;p4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67" name="Google Shape;367;p4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</p:txBody>
      </p:sp>
      <p:sp>
        <p:nvSpPr>
          <p:cNvPr id="368" name="Google Shape;368;p4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369" name="Google Shape;369;p4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0" name="Google Shape;370;p4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1" name="Google Shape;371;p4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2/9–2/15</a:t>
            </a:r>
            <a:endParaRPr/>
          </a:p>
        </p:txBody>
      </p:sp>
      <p:sp>
        <p:nvSpPr>
          <p:cNvPr id="372" name="Google Shape;372;p4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73" name="Google Shape;373;p4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74" name="Google Shape;374;p4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75" name="Google Shape;375;p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</p:txBody>
      </p:sp>
      <p:sp>
        <p:nvSpPr>
          <p:cNvPr id="376" name="Google Shape;376;p4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377" name="Google Shape;377;p4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8" name="Google Shape;378;p4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9" name="Google Shape;379;p4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2/16–2/22</a:t>
            </a:r>
            <a:endParaRPr/>
          </a:p>
        </p:txBody>
      </p:sp>
      <p:sp>
        <p:nvSpPr>
          <p:cNvPr id="380" name="Google Shape;380;p4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81" name="Google Shape;381;p4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82" name="Google Shape;382;p4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83" name="Google Shape;383;p4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</p:txBody>
      </p:sp>
      <p:sp>
        <p:nvSpPr>
          <p:cNvPr id="384" name="Google Shape;384;p4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385" name="Google Shape;385;p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6" name="Google Shape;386;p4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7" name="Google Shape;387;p4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2/23–3/1</a:t>
            </a:r>
            <a:endParaRPr/>
          </a:p>
        </p:txBody>
      </p:sp>
      <p:sp>
        <p:nvSpPr>
          <p:cNvPr id="388" name="Google Shape;388;p4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89" name="Google Shape;389;p4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90" name="Google Shape;390;p4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91" name="Google Shape;391;p4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</p:txBody>
      </p:sp>
      <p:sp>
        <p:nvSpPr>
          <p:cNvPr id="392" name="Google Shape;392;p4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393" name="Google Shape;393;p4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4" name="Google Shape;394;p4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5" name="Google Shape;395;p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3/2–3/8</a:t>
            </a:r>
            <a:endParaRPr/>
          </a:p>
        </p:txBody>
      </p:sp>
      <p:sp>
        <p:nvSpPr>
          <p:cNvPr id="396" name="Google Shape;396;p4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97" name="Google Shape;397;p4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98" name="Google Shape;398;p4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99" name="Google Shape;399;p4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</p:txBody>
      </p:sp>
      <p:sp>
        <p:nvSpPr>
          <p:cNvPr id="400" name="Google Shape;400;p4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401" name="Google Shape;401;p4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2" name="Google Shape;402;p4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3" name="Google Shape;403;p4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3/9–3/15</a:t>
            </a:r>
            <a:endParaRPr/>
          </a:p>
        </p:txBody>
      </p:sp>
      <p:sp>
        <p:nvSpPr>
          <p:cNvPr id="404" name="Google Shape;404;p4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05" name="Google Shape;405;p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06" name="Google Shape;406;p4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07" name="Google Shape;407;p4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</p:txBody>
      </p:sp>
      <p:sp>
        <p:nvSpPr>
          <p:cNvPr id="408" name="Google Shape;408;p4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409" name="Google Shape;409;p4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0" name="Google Shape;410;p4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WEEKS 11–20  (Mar–May)</a:t>
            </a:r>
            <a:endParaRPr/>
          </a:p>
        </p:txBody>
      </p:sp>
      <p:sp>
        <p:nvSpPr>
          <p:cNvPr id="411" name="Google Shape;411;p4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Week</a:t>
            </a:r>
            <a:endParaRPr/>
          </a:p>
        </p:txBody>
      </p:sp>
      <p:sp>
        <p:nvSpPr>
          <p:cNvPr id="412" name="Google Shape;412;p4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Calls</a:t>
            </a:r>
            <a:endParaRPr/>
          </a:p>
        </p:txBody>
      </p:sp>
      <p:sp>
        <p:nvSpPr>
          <p:cNvPr id="413" name="Google Shape;413;p4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Meetings</a:t>
            </a:r>
            <a:endParaRPr/>
          </a:p>
        </p:txBody>
      </p:sp>
      <p:sp>
        <p:nvSpPr>
          <p:cNvPr id="414" name="Google Shape;414;p4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</a:t>
            </a:r>
            <a:endParaRPr/>
          </a:p>
        </p:txBody>
      </p:sp>
      <p:sp>
        <p:nvSpPr>
          <p:cNvPr id="415" name="Google Shape;415;p4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Goal</a:t>
            </a:r>
            <a:endParaRPr/>
          </a:p>
        </p:txBody>
      </p:sp>
      <p:sp>
        <p:nvSpPr>
          <p:cNvPr id="416" name="Google Shape;416;p4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Status</a:t>
            </a:r>
            <a:endParaRPr/>
          </a:p>
        </p:txBody>
      </p:sp>
      <p:sp>
        <p:nvSpPr>
          <p:cNvPr id="417" name="Google Shape;417;p4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4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9" name="Google Shape;419;p4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0" name="Google Shape;420;p4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3/16–3/22</a:t>
            </a:r>
            <a:endParaRPr/>
          </a:p>
        </p:txBody>
      </p:sp>
      <p:sp>
        <p:nvSpPr>
          <p:cNvPr id="421" name="Google Shape;421;p4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22" name="Google Shape;422;p4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23" name="Google Shape;423;p4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24" name="Google Shape;424;p4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</p:txBody>
      </p:sp>
      <p:sp>
        <p:nvSpPr>
          <p:cNvPr id="425" name="Google Shape;425;p4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426" name="Google Shape;426;p4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7" name="Google Shape;427;p4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8" name="Google Shape;428;p4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3/23–3/29</a:t>
            </a:r>
            <a:endParaRPr/>
          </a:p>
        </p:txBody>
      </p:sp>
      <p:sp>
        <p:nvSpPr>
          <p:cNvPr id="429" name="Google Shape;429;p4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30" name="Google Shape;430;p4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31" name="Google Shape;431;p4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32" name="Google Shape;432;p4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</p:txBody>
      </p:sp>
      <p:sp>
        <p:nvSpPr>
          <p:cNvPr id="433" name="Google Shape;433;p4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434" name="Google Shape;434;p4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5" name="Google Shape;435;p4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4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3/30–4/5</a:t>
            </a:r>
            <a:endParaRPr/>
          </a:p>
        </p:txBody>
      </p:sp>
      <p:sp>
        <p:nvSpPr>
          <p:cNvPr id="437" name="Google Shape;437;p4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38" name="Google Shape;438;p4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39" name="Google Shape;439;p4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40" name="Google Shape;440;p4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</p:txBody>
      </p:sp>
      <p:sp>
        <p:nvSpPr>
          <p:cNvPr id="441" name="Google Shape;441;p4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442" name="Google Shape;442;p4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3" name="Google Shape;443;p4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4" name="Google Shape;444;p4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4/6–4/12</a:t>
            </a:r>
            <a:endParaRPr/>
          </a:p>
        </p:txBody>
      </p:sp>
      <p:sp>
        <p:nvSpPr>
          <p:cNvPr id="445" name="Google Shape;445;p4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46" name="Google Shape;446;p4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47" name="Google Shape;447;p4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48" name="Google Shape;448;p4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</p:txBody>
      </p:sp>
      <p:sp>
        <p:nvSpPr>
          <p:cNvPr id="449" name="Google Shape;449;p4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450" name="Google Shape;450;p4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1" name="Google Shape;451;p4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2" name="Google Shape;452;p4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4/13–4/19</a:t>
            </a:r>
            <a:endParaRPr/>
          </a:p>
        </p:txBody>
      </p:sp>
      <p:sp>
        <p:nvSpPr>
          <p:cNvPr id="453" name="Google Shape;453;p4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54" name="Google Shape;454;p4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55" name="Google Shape;455;p4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56" name="Google Shape;456;p4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4%</a:t>
            </a:r>
            <a:endParaRPr/>
          </a:p>
        </p:txBody>
      </p:sp>
      <p:sp>
        <p:nvSpPr>
          <p:cNvPr id="457" name="Google Shape;457;p4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458" name="Google Shape;458;p4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9" name="Google Shape;459;p4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0" name="Google Shape;460;p4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4/20–4/26</a:t>
            </a:r>
            <a:endParaRPr/>
          </a:p>
        </p:txBody>
      </p:sp>
      <p:sp>
        <p:nvSpPr>
          <p:cNvPr id="461" name="Google Shape;461;p4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47</a:t>
            </a:r>
            <a:endParaRPr/>
          </a:p>
        </p:txBody>
      </p:sp>
      <p:sp>
        <p:nvSpPr>
          <p:cNvPr id="462" name="Google Shape;462;p4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63" name="Google Shape;463;p4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9770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48</a:t>
            </a:r>
            <a:endParaRPr/>
          </a:p>
        </p:txBody>
      </p:sp>
      <p:sp>
        <p:nvSpPr>
          <p:cNvPr id="464" name="Google Shape;464;p4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9770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96%</a:t>
            </a:r>
            <a:endParaRPr/>
          </a:p>
        </p:txBody>
      </p:sp>
      <p:sp>
        <p:nvSpPr>
          <p:cNvPr id="465" name="Google Shape;465;p4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9770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~ Near</a:t>
            </a:r>
            <a:endParaRPr/>
          </a:p>
        </p:txBody>
      </p:sp>
      <p:sp>
        <p:nvSpPr>
          <p:cNvPr id="466" name="Google Shape;466;p4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7" name="Google Shape;467;p4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8" name="Google Shape;468;p4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4/27–5/3</a:t>
            </a:r>
            <a:endParaRPr/>
          </a:p>
        </p:txBody>
      </p:sp>
      <p:sp>
        <p:nvSpPr>
          <p:cNvPr id="469" name="Google Shape;469;p4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54</a:t>
            </a:r>
            <a:endParaRPr/>
          </a:p>
        </p:txBody>
      </p:sp>
      <p:sp>
        <p:nvSpPr>
          <p:cNvPr id="470" name="Google Shape;470;p4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471" name="Google Shape;471;p4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58</a:t>
            </a:r>
            <a:endParaRPr/>
          </a:p>
        </p:txBody>
      </p:sp>
      <p:sp>
        <p:nvSpPr>
          <p:cNvPr id="472" name="Google Shape;472;p4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116%</a:t>
            </a:r>
            <a:endParaRPr/>
          </a:p>
        </p:txBody>
      </p:sp>
      <p:sp>
        <p:nvSpPr>
          <p:cNvPr id="473" name="Google Shape;473;p4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✓ Met</a:t>
            </a:r>
            <a:endParaRPr/>
          </a:p>
        </p:txBody>
      </p:sp>
      <p:sp>
        <p:nvSpPr>
          <p:cNvPr id="474" name="Google Shape;474;p4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5" name="Google Shape;475;p4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6" name="Google Shape;476;p4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5/4–5/10</a:t>
            </a:r>
            <a:endParaRPr/>
          </a:p>
        </p:txBody>
      </p:sp>
      <p:sp>
        <p:nvSpPr>
          <p:cNvPr id="477" name="Google Shape;477;p4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53</a:t>
            </a:r>
            <a:endParaRPr/>
          </a:p>
        </p:txBody>
      </p:sp>
      <p:sp>
        <p:nvSpPr>
          <p:cNvPr id="478" name="Google Shape;478;p4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79" name="Google Shape;479;p4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54</a:t>
            </a:r>
            <a:endParaRPr/>
          </a:p>
        </p:txBody>
      </p:sp>
      <p:sp>
        <p:nvSpPr>
          <p:cNvPr id="480" name="Google Shape;480;p4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108%</a:t>
            </a:r>
            <a:endParaRPr/>
          </a:p>
        </p:txBody>
      </p:sp>
      <p:sp>
        <p:nvSpPr>
          <p:cNvPr id="481" name="Google Shape;481;p4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✓ Met</a:t>
            </a:r>
            <a:endParaRPr/>
          </a:p>
        </p:txBody>
      </p:sp>
      <p:sp>
        <p:nvSpPr>
          <p:cNvPr id="482" name="Google Shape;482;p4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3" name="Google Shape;483;p4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4" name="Google Shape;484;p4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5/11–5/17</a:t>
            </a:r>
            <a:endParaRPr/>
          </a:p>
        </p:txBody>
      </p:sp>
      <p:sp>
        <p:nvSpPr>
          <p:cNvPr id="485" name="Google Shape;485;p4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41</a:t>
            </a:r>
            <a:endParaRPr/>
          </a:p>
        </p:txBody>
      </p:sp>
      <p:sp>
        <p:nvSpPr>
          <p:cNvPr id="486" name="Google Shape;486;p4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87" name="Google Shape;487;p4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9770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43</a:t>
            </a:r>
            <a:endParaRPr/>
          </a:p>
        </p:txBody>
      </p:sp>
      <p:sp>
        <p:nvSpPr>
          <p:cNvPr id="488" name="Google Shape;488;p4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9770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86%</a:t>
            </a:r>
            <a:endParaRPr/>
          </a:p>
        </p:txBody>
      </p:sp>
      <p:sp>
        <p:nvSpPr>
          <p:cNvPr id="489" name="Google Shape;489;p4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9770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~ Near</a:t>
            </a:r>
            <a:endParaRPr/>
          </a:p>
        </p:txBody>
      </p:sp>
      <p:sp>
        <p:nvSpPr>
          <p:cNvPr id="490" name="Google Shape;490;p4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1" name="Google Shape;491;p4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2" name="Google Shape;492;p4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5/18–5/20*</a:t>
            </a:r>
            <a:endParaRPr/>
          </a:p>
        </p:txBody>
      </p:sp>
      <p:sp>
        <p:nvSpPr>
          <p:cNvPr id="493" name="Google Shape;493;p4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94" name="Google Shape;494;p4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95" name="Google Shape;495;p4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96" name="Google Shape;496;p4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4%</a:t>
            </a:r>
            <a:endParaRPr/>
          </a:p>
        </p:txBody>
      </p:sp>
      <p:sp>
        <p:nvSpPr>
          <p:cNvPr id="497" name="Google Shape;497;p4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498" name="Google Shape;498;p4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Source: HubSpot CRM  |  Calls + meetings only (emails excluded)  |  * = current/partial week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02" name="Shape 5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Google Shape;503;p5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4" name="Google Shape;504;p5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 Growth  —  Taylor Sloan</a:t>
            </a:r>
            <a:endParaRPr/>
          </a:p>
        </p:txBody>
      </p:sp>
      <p:sp>
        <p:nvSpPr>
          <p:cNvPr id="505" name="Google Shape;505;p5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Jan–May 2026 vs 2025  |  Green = growth  |  Red = decline  |  Hit ratio = binds / submissions</a:t>
            </a:r>
            <a:endParaRPr/>
          </a:p>
        </p:txBody>
      </p:sp>
      <p:sp>
        <p:nvSpPr>
          <p:cNvPr id="506" name="Google Shape;506;p5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575 ▲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Submissions</a:t>
            </a:r>
            <a:endParaRPr/>
          </a:p>
        </p:txBody>
      </p:sp>
      <p:sp>
        <p:nvSpPr>
          <p:cNvPr id="507" name="Google Shape;507;p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 →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Binds</a:t>
            </a:r>
            <a:endParaRPr/>
          </a:p>
        </p:txBody>
      </p:sp>
      <p:sp>
        <p:nvSpPr>
          <p:cNvPr id="508" name="Google Shape;508;p5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3.5% →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09" name="Google Shape;509;p5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-10.6%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 YOY vs 2025</a:t>
            </a:r>
            <a:endParaRPr/>
          </a:p>
        </p:txBody>
      </p:sp>
      <p:sp>
        <p:nvSpPr>
          <p:cNvPr id="510" name="Google Shape;510;p5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-61.5%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 YOY vs 2025</a:t>
            </a:r>
            <a:endParaRPr/>
          </a:p>
        </p:txBody>
      </p:sp>
      <p:sp>
        <p:nvSpPr>
          <p:cNvPr id="511" name="Google Shape;511;p5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2" name="Google Shape;512;p5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MONTHLY BREAKDOWN  —  2026 vs 2025</a:t>
            </a:r>
            <a:endParaRPr/>
          </a:p>
        </p:txBody>
      </p:sp>
      <p:sp>
        <p:nvSpPr>
          <p:cNvPr id="513" name="Google Shape;513;p5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14" name="Google Shape;514;p5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 Subs</a:t>
            </a:r>
            <a:endParaRPr/>
          </a:p>
        </p:txBody>
      </p:sp>
      <p:sp>
        <p:nvSpPr>
          <p:cNvPr id="515" name="Google Shape;515;p5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 Binds</a:t>
            </a:r>
            <a:endParaRPr/>
          </a:p>
        </p:txBody>
      </p:sp>
      <p:sp>
        <p:nvSpPr>
          <p:cNvPr id="516" name="Google Shape;516;p5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%</a:t>
            </a:r>
            <a:endParaRPr/>
          </a:p>
        </p:txBody>
      </p:sp>
      <p:sp>
        <p:nvSpPr>
          <p:cNvPr id="517" name="Google Shape;517;p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Subs</a:t>
            </a:r>
            <a:endParaRPr/>
          </a:p>
        </p:txBody>
      </p:sp>
      <p:sp>
        <p:nvSpPr>
          <p:cNvPr id="518" name="Google Shape;518;p5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%</a:t>
            </a:r>
            <a:endParaRPr/>
          </a:p>
        </p:txBody>
      </p:sp>
      <p:sp>
        <p:nvSpPr>
          <p:cNvPr id="519" name="Google Shape;519;p5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0" name="Google Shape;520;p5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1" name="Google Shape;521;p5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</a:t>
            </a:r>
            <a:endParaRPr/>
          </a:p>
        </p:txBody>
      </p:sp>
      <p:sp>
        <p:nvSpPr>
          <p:cNvPr id="522" name="Google Shape;522;p5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23" name="Google Shape;523;p5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24" name="Google Shape;524;p5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25" name="Google Shape;525;p5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121</a:t>
            </a:r>
            <a:endParaRPr/>
          </a:p>
        </p:txBody>
      </p:sp>
      <p:sp>
        <p:nvSpPr>
          <p:cNvPr id="526" name="Google Shape;526;p5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-100%</a:t>
            </a:r>
            <a:endParaRPr/>
          </a:p>
        </p:txBody>
      </p:sp>
      <p:sp>
        <p:nvSpPr>
          <p:cNvPr id="527" name="Google Shape;527;p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</a:t>
            </a:r>
            <a:endParaRPr/>
          </a:p>
        </p:txBody>
      </p:sp>
      <p:sp>
        <p:nvSpPr>
          <p:cNvPr id="528" name="Google Shape;528;p5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29" name="Google Shape;529;p5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30" name="Google Shape;530;p5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31" name="Google Shape;531;p5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104</a:t>
            </a:r>
            <a:endParaRPr/>
          </a:p>
        </p:txBody>
      </p:sp>
      <p:sp>
        <p:nvSpPr>
          <p:cNvPr id="532" name="Google Shape;532;p5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-100%</a:t>
            </a:r>
            <a:endParaRPr/>
          </a:p>
        </p:txBody>
      </p:sp>
      <p:sp>
        <p:nvSpPr>
          <p:cNvPr id="533" name="Google Shape;533;p5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4" name="Google Shape;534;p5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</a:t>
            </a:r>
            <a:endParaRPr/>
          </a:p>
        </p:txBody>
      </p:sp>
      <p:sp>
        <p:nvSpPr>
          <p:cNvPr id="535" name="Google Shape;535;p5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44</a:t>
            </a:r>
            <a:endParaRPr/>
          </a:p>
        </p:txBody>
      </p:sp>
      <p:sp>
        <p:nvSpPr>
          <p:cNvPr id="536" name="Google Shape;536;p5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37" name="Google Shape;537;p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38" name="Google Shape;538;p5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123</a:t>
            </a:r>
            <a:endParaRPr/>
          </a:p>
        </p:txBody>
      </p:sp>
      <p:sp>
        <p:nvSpPr>
          <p:cNvPr id="539" name="Google Shape;539;p5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-64%</a:t>
            </a:r>
            <a:endParaRPr/>
          </a:p>
        </p:txBody>
      </p:sp>
      <p:sp>
        <p:nvSpPr>
          <p:cNvPr id="540" name="Google Shape;540;p5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</a:t>
            </a:r>
            <a:endParaRPr/>
          </a:p>
        </p:txBody>
      </p:sp>
      <p:sp>
        <p:nvSpPr>
          <p:cNvPr id="541" name="Google Shape;541;p5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319</a:t>
            </a:r>
            <a:endParaRPr/>
          </a:p>
        </p:txBody>
      </p:sp>
      <p:sp>
        <p:nvSpPr>
          <p:cNvPr id="542" name="Google Shape;542;p5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543" name="Google Shape;543;p5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3.1%</a:t>
            </a:r>
            <a:endParaRPr/>
          </a:p>
        </p:txBody>
      </p:sp>
      <p:sp>
        <p:nvSpPr>
          <p:cNvPr id="544" name="Google Shape;544;p5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123</a:t>
            </a:r>
            <a:endParaRPr/>
          </a:p>
        </p:txBody>
      </p:sp>
      <p:sp>
        <p:nvSpPr>
          <p:cNvPr id="545" name="Google Shape;545;p5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+159%</a:t>
            </a:r>
            <a:endParaRPr/>
          </a:p>
        </p:txBody>
      </p:sp>
      <p:sp>
        <p:nvSpPr>
          <p:cNvPr id="546" name="Google Shape;546;p5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7" name="Google Shape;547;p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48" name="Google Shape;548;p5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212</a:t>
            </a:r>
            <a:endParaRPr/>
          </a:p>
        </p:txBody>
      </p:sp>
      <p:sp>
        <p:nvSpPr>
          <p:cNvPr id="549" name="Google Shape;549;p5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550" name="Google Shape;550;p5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4.7%</a:t>
            </a:r>
            <a:endParaRPr/>
          </a:p>
        </p:txBody>
      </p:sp>
      <p:sp>
        <p:nvSpPr>
          <p:cNvPr id="551" name="Google Shape;551;p5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172</a:t>
            </a:r>
            <a:endParaRPr/>
          </a:p>
        </p:txBody>
      </p:sp>
      <p:sp>
        <p:nvSpPr>
          <p:cNvPr id="552" name="Google Shape;552;p5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+23%</a:t>
            </a:r>
            <a:endParaRPr/>
          </a:p>
        </p:txBody>
      </p:sp>
      <p:sp>
        <p:nvSpPr>
          <p:cNvPr id="553" name="Google Shape;553;p5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4" name="Google Shape;554;p5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</a:t>
            </a:r>
            <a:endParaRPr/>
          </a:p>
        </p:txBody>
      </p:sp>
      <p:sp>
        <p:nvSpPr>
          <p:cNvPr id="555" name="Google Shape;555;p5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575</a:t>
            </a:r>
            <a:endParaRPr/>
          </a:p>
        </p:txBody>
      </p:sp>
      <p:sp>
        <p:nvSpPr>
          <p:cNvPr id="556" name="Google Shape;556;p5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557" name="Google Shape;557;p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3.5%</a:t>
            </a:r>
            <a:endParaRPr/>
          </a:p>
        </p:txBody>
      </p:sp>
      <p:sp>
        <p:nvSpPr>
          <p:cNvPr id="558" name="Google Shape;558;p5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643</a:t>
            </a:r>
            <a:endParaRPr/>
          </a:p>
        </p:txBody>
      </p:sp>
      <p:sp>
        <p:nvSpPr>
          <p:cNvPr id="559" name="Google Shape;559;p5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-11%</a:t>
            </a:r>
            <a:endParaRPr/>
          </a:p>
        </p:txBody>
      </p:sp>
      <p:sp>
        <p:nvSpPr>
          <p:cNvPr id="560" name="Google Shape;560;p5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1" name="Google Shape;561;p5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TOP AGENCIES BY SUBMISSION VOLUME  —  YTD Ranked</a:t>
            </a:r>
            <a:endParaRPr/>
          </a:p>
        </p:txBody>
      </p:sp>
      <p:sp>
        <p:nvSpPr>
          <p:cNvPr id="562" name="Google Shape;562;p5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Agency</a:t>
            </a:r>
            <a:endParaRPr/>
          </a:p>
        </p:txBody>
      </p:sp>
      <p:sp>
        <p:nvSpPr>
          <p:cNvPr id="563" name="Google Shape;563;p5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Subs</a:t>
            </a:r>
            <a:endParaRPr/>
          </a:p>
        </p:txBody>
      </p:sp>
      <p:sp>
        <p:nvSpPr>
          <p:cNvPr id="564" name="Google Shape;564;p5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65" name="Google Shape;565;p5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%</a:t>
            </a:r>
            <a:endParaRPr/>
          </a:p>
        </p:txBody>
      </p:sp>
      <p:sp>
        <p:nvSpPr>
          <p:cNvPr id="566" name="Google Shape;566;p5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</a:t>
            </a:r>
            <a:endParaRPr/>
          </a:p>
        </p:txBody>
      </p:sp>
      <p:sp>
        <p:nvSpPr>
          <p:cNvPr id="567" name="Google Shape;567;p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8" name="Google Shape;568;p5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9" name="Google Shape;569;p5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All Capital Insurance Agency Inc</a:t>
            </a:r>
            <a:endParaRPr/>
          </a:p>
        </p:txBody>
      </p:sp>
      <p:sp>
        <p:nvSpPr>
          <p:cNvPr id="570" name="Google Shape;570;p5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223</a:t>
            </a:r>
            <a:endParaRPr/>
          </a:p>
        </p:txBody>
      </p:sp>
      <p:sp>
        <p:nvSpPr>
          <p:cNvPr id="571" name="Google Shape;571;p5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572" name="Google Shape;572;p5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2.7%</a:t>
            </a:r>
            <a:endParaRPr/>
          </a:p>
        </p:txBody>
      </p:sp>
      <p:sp>
        <p:nvSpPr>
          <p:cNvPr id="573" name="Google Shape;573;p5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+139</a:t>
            </a:r>
            <a:endParaRPr/>
          </a:p>
        </p:txBody>
      </p:sp>
      <p:sp>
        <p:nvSpPr>
          <p:cNvPr id="574" name="Google Shape;574;p5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All Lines Associates, Inc. DBA Valley </a:t>
            </a:r>
            <a:endParaRPr/>
          </a:p>
        </p:txBody>
      </p:sp>
      <p:sp>
        <p:nvSpPr>
          <p:cNvPr id="575" name="Google Shape;575;p5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177</a:t>
            </a:r>
            <a:endParaRPr/>
          </a:p>
        </p:txBody>
      </p:sp>
      <p:sp>
        <p:nvSpPr>
          <p:cNvPr id="576" name="Google Shape;576;p5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77" name="Google Shape;577;p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1.1%</a:t>
            </a:r>
            <a:endParaRPr/>
          </a:p>
        </p:txBody>
      </p:sp>
      <p:sp>
        <p:nvSpPr>
          <p:cNvPr id="578" name="Google Shape;578;p5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+82</a:t>
            </a:r>
            <a:endParaRPr/>
          </a:p>
        </p:txBody>
      </p:sp>
      <p:sp>
        <p:nvSpPr>
          <p:cNvPr id="579" name="Google Shape;579;p5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0" name="Google Shape;580;p5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Mustard Seed Financial &amp; Insurance Inc</a:t>
            </a:r>
            <a:endParaRPr/>
          </a:p>
        </p:txBody>
      </p:sp>
      <p:sp>
        <p:nvSpPr>
          <p:cNvPr id="581" name="Google Shape;581;p5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146</a:t>
            </a:r>
            <a:endParaRPr/>
          </a:p>
        </p:txBody>
      </p:sp>
      <p:sp>
        <p:nvSpPr>
          <p:cNvPr id="582" name="Google Shape;582;p5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583" name="Google Shape;583;p5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2.1%</a:t>
            </a:r>
            <a:endParaRPr/>
          </a:p>
        </p:txBody>
      </p:sp>
      <p:sp>
        <p:nvSpPr>
          <p:cNvPr id="584" name="Google Shape;584;p5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-60</a:t>
            </a:r>
            <a:endParaRPr/>
          </a:p>
        </p:txBody>
      </p:sp>
      <p:sp>
        <p:nvSpPr>
          <p:cNvPr id="585" name="Google Shape;585;p5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Fredrick B. Roberson Insurance Service</a:t>
            </a:r>
            <a:endParaRPr/>
          </a:p>
        </p:txBody>
      </p:sp>
      <p:sp>
        <p:nvSpPr>
          <p:cNvPr id="586" name="Google Shape;586;p5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141</a:t>
            </a:r>
            <a:endParaRPr/>
          </a:p>
        </p:txBody>
      </p:sp>
      <p:sp>
        <p:nvSpPr>
          <p:cNvPr id="587" name="Google Shape;587;p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588" name="Google Shape;588;p5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5.7%</a:t>
            </a:r>
            <a:endParaRPr/>
          </a:p>
        </p:txBody>
      </p:sp>
      <p:sp>
        <p:nvSpPr>
          <p:cNvPr id="589" name="Google Shape;589;p5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+57</a:t>
            </a:r>
            <a:endParaRPr/>
          </a:p>
        </p:txBody>
      </p:sp>
      <p:sp>
        <p:nvSpPr>
          <p:cNvPr id="590" name="Google Shape;590;p5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1" name="Google Shape;591;p5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360 Risk Partners Insurance Solutions,</a:t>
            </a:r>
            <a:endParaRPr/>
          </a:p>
        </p:txBody>
      </p:sp>
      <p:sp>
        <p:nvSpPr>
          <p:cNvPr id="592" name="Google Shape;592;p5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132</a:t>
            </a:r>
            <a:endParaRPr/>
          </a:p>
        </p:txBody>
      </p:sp>
      <p:sp>
        <p:nvSpPr>
          <p:cNvPr id="593" name="Google Shape;593;p5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594" name="Google Shape;594;p5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6.8%</a:t>
            </a:r>
            <a:endParaRPr/>
          </a:p>
        </p:txBody>
      </p:sp>
      <p:sp>
        <p:nvSpPr>
          <p:cNvPr id="595" name="Google Shape;595;p5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+107</a:t>
            </a:r>
            <a:endParaRPr/>
          </a:p>
        </p:txBody>
      </p:sp>
      <p:sp>
        <p:nvSpPr>
          <p:cNvPr id="596" name="Google Shape;596;p5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Millan Group, Inc.</a:t>
            </a:r>
            <a:endParaRPr/>
          </a:p>
        </p:txBody>
      </p:sp>
      <p:sp>
        <p:nvSpPr>
          <p:cNvPr id="597" name="Google Shape;597;p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57</a:t>
            </a:r>
            <a:endParaRPr/>
          </a:p>
        </p:txBody>
      </p:sp>
      <p:sp>
        <p:nvSpPr>
          <p:cNvPr id="598" name="Google Shape;598;p5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99" name="Google Shape;599;p5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1.8%</a:t>
            </a:r>
            <a:endParaRPr/>
          </a:p>
        </p:txBody>
      </p:sp>
      <p:sp>
        <p:nvSpPr>
          <p:cNvPr id="600" name="Google Shape;600;p5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+56</a:t>
            </a:r>
            <a:endParaRPr/>
          </a:p>
        </p:txBody>
      </p:sp>
      <p:sp>
        <p:nvSpPr>
          <p:cNvPr id="601" name="Google Shape;601;p5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2" name="Google Shape;602;p5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WHA Insurance</a:t>
            </a:r>
            <a:endParaRPr/>
          </a:p>
        </p:txBody>
      </p:sp>
      <p:sp>
        <p:nvSpPr>
          <p:cNvPr id="603" name="Google Shape;603;p5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46</a:t>
            </a:r>
            <a:endParaRPr/>
          </a:p>
        </p:txBody>
      </p:sp>
      <p:sp>
        <p:nvSpPr>
          <p:cNvPr id="604" name="Google Shape;604;p5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05" name="Google Shape;605;p5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06" name="Google Shape;606;p5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+46</a:t>
            </a:r>
            <a:endParaRPr/>
          </a:p>
        </p:txBody>
      </p:sp>
      <p:sp>
        <p:nvSpPr>
          <p:cNvPr id="607" name="Google Shape;607;p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Avina's Insurance Services Inc.</a:t>
            </a:r>
            <a:endParaRPr/>
          </a:p>
        </p:txBody>
      </p:sp>
      <p:sp>
        <p:nvSpPr>
          <p:cNvPr id="608" name="Google Shape;608;p5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40</a:t>
            </a:r>
            <a:endParaRPr/>
          </a:p>
        </p:txBody>
      </p:sp>
      <p:sp>
        <p:nvSpPr>
          <p:cNvPr id="609" name="Google Shape;609;p5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10" name="Google Shape;610;p5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11" name="Google Shape;611;p5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+35</a:t>
            </a:r>
            <a:endParaRPr/>
          </a:p>
        </p:txBody>
      </p:sp>
      <p:sp>
        <p:nvSpPr>
          <p:cNvPr id="612" name="Google Shape;612;p5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3" name="Google Shape;613;p5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Commercial Specialists Insurance Servi</a:t>
            </a:r>
            <a:endParaRPr/>
          </a:p>
        </p:txBody>
      </p:sp>
      <p:sp>
        <p:nvSpPr>
          <p:cNvPr id="614" name="Google Shape;614;p5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37</a:t>
            </a:r>
            <a:endParaRPr/>
          </a:p>
        </p:txBody>
      </p:sp>
      <p:sp>
        <p:nvSpPr>
          <p:cNvPr id="615" name="Google Shape;615;p5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16" name="Google Shape;616;p5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8.1%</a:t>
            </a:r>
            <a:endParaRPr/>
          </a:p>
        </p:txBody>
      </p:sp>
      <p:sp>
        <p:nvSpPr>
          <p:cNvPr id="617" name="Google Shape;617;p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+8</a:t>
            </a:r>
            <a:endParaRPr/>
          </a:p>
        </p:txBody>
      </p:sp>
      <p:sp>
        <p:nvSpPr>
          <p:cNvPr id="618" name="Google Shape;618;p5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Immensity Insurance &amp; Risk Advisors Ll</a:t>
            </a:r>
            <a:endParaRPr/>
          </a:p>
        </p:txBody>
      </p:sp>
      <p:sp>
        <p:nvSpPr>
          <p:cNvPr id="619" name="Google Shape;619;p5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</a:t>
            </a:r>
            <a:endParaRPr/>
          </a:p>
        </p:txBody>
      </p:sp>
      <p:sp>
        <p:nvSpPr>
          <p:cNvPr id="620" name="Google Shape;620;p5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21" name="Google Shape;621;p5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22" name="Google Shape;622;p5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+35</a:t>
            </a:r>
            <a:endParaRPr/>
          </a:p>
        </p:txBody>
      </p:sp>
      <p:sp>
        <p:nvSpPr>
          <p:cNvPr id="623" name="Google Shape;623;p5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4" name="Google Shape;624;p5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Gerald Cummings &amp; Associates</a:t>
            </a:r>
            <a:endParaRPr/>
          </a:p>
        </p:txBody>
      </p:sp>
      <p:sp>
        <p:nvSpPr>
          <p:cNvPr id="625" name="Google Shape;625;p5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</a:t>
            </a:r>
            <a:endParaRPr/>
          </a:p>
        </p:txBody>
      </p:sp>
      <p:sp>
        <p:nvSpPr>
          <p:cNvPr id="626" name="Google Shape;626;p5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27" name="Google Shape;627;p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28" name="Google Shape;628;p5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+9</a:t>
            </a:r>
            <a:endParaRPr/>
          </a:p>
        </p:txBody>
      </p:sp>
      <p:sp>
        <p:nvSpPr>
          <p:cNvPr id="629" name="Google Shape;629;p5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Maria Candelaria Melara</a:t>
            </a:r>
            <a:endParaRPr/>
          </a:p>
        </p:txBody>
      </p:sp>
      <p:sp>
        <p:nvSpPr>
          <p:cNvPr id="630" name="Google Shape;630;p5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631" name="Google Shape;631;p5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32" name="Google Shape;632;p5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33" name="Google Shape;633;p5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+17</a:t>
            </a:r>
            <a:endParaRPr/>
          </a:p>
        </p:txBody>
      </p:sp>
      <p:sp>
        <p:nvSpPr>
          <p:cNvPr id="634" name="Google Shape;634;p5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5" name="Google Shape;635;p5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Julian Reyes Insurance Agency Inc</a:t>
            </a:r>
            <a:endParaRPr/>
          </a:p>
        </p:txBody>
      </p:sp>
      <p:sp>
        <p:nvSpPr>
          <p:cNvPr id="636" name="Google Shape;636;p5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637" name="Google Shape;637;p5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38" name="Google Shape;638;p5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6.2%</a:t>
            </a:r>
            <a:endParaRPr/>
          </a:p>
        </p:txBody>
      </p:sp>
      <p:sp>
        <p:nvSpPr>
          <p:cNvPr id="639" name="Google Shape;639;p5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+16</a:t>
            </a:r>
            <a:endParaRPr/>
          </a:p>
        </p:txBody>
      </p:sp>
      <p:sp>
        <p:nvSpPr>
          <p:cNvPr id="640" name="Google Shape;640;p5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Guardian Angel Insurance Services Inc </a:t>
            </a:r>
            <a:endParaRPr/>
          </a:p>
        </p:txBody>
      </p:sp>
      <p:sp>
        <p:nvSpPr>
          <p:cNvPr id="641" name="Google Shape;641;p5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642" name="Google Shape;642;p5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43" name="Google Shape;643;p5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44" name="Google Shape;644;p5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+15</a:t>
            </a:r>
            <a:endParaRPr/>
          </a:p>
        </p:txBody>
      </p:sp>
      <p:sp>
        <p:nvSpPr>
          <p:cNvPr id="645" name="Google Shape;645;p5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6" name="Google Shape;646;p5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Beaver State Insurance Agency Llc</a:t>
            </a:r>
            <a:endParaRPr/>
          </a:p>
        </p:txBody>
      </p:sp>
      <p:sp>
        <p:nvSpPr>
          <p:cNvPr id="647" name="Google Shape;647;p5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648" name="Google Shape;648;p5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49" name="Google Shape;649;p5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16.7%</a:t>
            </a:r>
            <a:endParaRPr/>
          </a:p>
        </p:txBody>
      </p:sp>
      <p:sp>
        <p:nvSpPr>
          <p:cNvPr id="650" name="Google Shape;650;p5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+4</a:t>
            </a:r>
            <a:endParaRPr/>
          </a:p>
        </p:txBody>
      </p:sp>
      <p:sp>
        <p:nvSpPr>
          <p:cNvPr id="651" name="Google Shape;651;p5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Jd Fulwiler &amp; Co Insurance</a:t>
            </a:r>
            <a:endParaRPr/>
          </a:p>
        </p:txBody>
      </p:sp>
      <p:sp>
        <p:nvSpPr>
          <p:cNvPr id="652" name="Google Shape;652;p5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653" name="Google Shape;653;p5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54" name="Google Shape;654;p5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55" name="Google Shape;655;p5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+12</a:t>
            </a:r>
            <a:endParaRPr/>
          </a:p>
        </p:txBody>
      </p:sp>
      <p:sp>
        <p:nvSpPr>
          <p:cNvPr id="656" name="Google Shape;656;p5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60" name="Shape 6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1" name="Google Shape;661;p6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2" name="Google Shape;662;p6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Monthly Trend</a:t>
            </a:r>
            <a:endParaRPr/>
          </a:p>
        </p:txBody>
      </p:sp>
      <p:sp>
        <p:nvSpPr>
          <p:cNvPr id="663" name="Google Shape;663;p6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Taylor Sloan  |  28 Total Agencies  |  Jan–May 2026</a:t>
            </a:r>
            <a:endParaRPr/>
          </a:p>
        </p:txBody>
      </p:sp>
      <p:sp>
        <p:nvSpPr>
          <p:cNvPr id="664" name="Google Shape;664;p6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5" name="Google Shape;665;p6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666" name="Google Shape;666;p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</a:t>
            </a:r>
            <a:endParaRPr/>
          </a:p>
        </p:txBody>
      </p:sp>
      <p:sp>
        <p:nvSpPr>
          <p:cNvPr id="667" name="Google Shape;667;p6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Biz</a:t>
            </a:r>
            <a:endParaRPr/>
          </a:p>
        </p:txBody>
      </p:sp>
      <p:sp>
        <p:nvSpPr>
          <p:cNvPr id="668" name="Google Shape;668;p6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669" name="Google Shape;669;p6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</a:t>
            </a:r>
            <a:endParaRPr/>
          </a:p>
        </p:txBody>
      </p:sp>
      <p:sp>
        <p:nvSpPr>
          <p:cNvPr id="670" name="Google Shape;670;p6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671" name="Google Shape;671;p6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Quotes</a:t>
            </a:r>
            <a:endParaRPr/>
          </a:p>
        </p:txBody>
      </p:sp>
      <p:sp>
        <p:nvSpPr>
          <p:cNvPr id="672" name="Google Shape;672;p6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673" name="Google Shape;673;p6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674" name="Google Shape;674;p6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675" name="Google Shape;675;p6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$589,430</a:t>
            </a:r>
            <a:endParaRPr/>
          </a:p>
        </p:txBody>
      </p:sp>
      <p:sp>
        <p:nvSpPr>
          <p:cNvPr id="676" name="Google Shape;676;p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$331,281</a:t>
            </a:r>
            <a:endParaRPr/>
          </a:p>
        </p:txBody>
      </p:sp>
      <p:sp>
        <p:nvSpPr>
          <p:cNvPr id="677" name="Google Shape;677;p6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$37,360</a:t>
            </a:r>
            <a:endParaRPr/>
          </a:p>
        </p:txBody>
      </p:sp>
      <p:sp>
        <p:nvSpPr>
          <p:cNvPr id="678" name="Google Shape;678;p6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$-45,513</a:t>
            </a:r>
            <a:endParaRPr/>
          </a:p>
        </p:txBody>
      </p:sp>
      <p:sp>
        <p:nvSpPr>
          <p:cNvPr id="679" name="Google Shape;679;p6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180</a:t>
            </a:r>
            <a:endParaRPr/>
          </a:p>
        </p:txBody>
      </p:sp>
      <p:sp>
        <p:nvSpPr>
          <p:cNvPr id="680" name="Google Shape;680;p6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130</a:t>
            </a:r>
            <a:endParaRPr/>
          </a:p>
        </p:txBody>
      </p:sp>
      <p:sp>
        <p:nvSpPr>
          <p:cNvPr id="681" name="Google Shape;681;p6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682" name="Google Shape;682;p6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7.2%</a:t>
            </a:r>
            <a:endParaRPr/>
          </a:p>
        </p:txBody>
      </p:sp>
      <p:sp>
        <p:nvSpPr>
          <p:cNvPr id="683" name="Google Shape;683;p6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4" name="Google Shape;684;p6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685" name="Google Shape;685;p6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$475,051</a:t>
            </a:r>
            <a:endParaRPr/>
          </a:p>
        </p:txBody>
      </p:sp>
      <p:sp>
        <p:nvSpPr>
          <p:cNvPr id="686" name="Google Shape;686;p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$50,299</a:t>
            </a:r>
            <a:endParaRPr/>
          </a:p>
        </p:txBody>
      </p:sp>
      <p:sp>
        <p:nvSpPr>
          <p:cNvPr id="687" name="Google Shape;687;p6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$27,219</a:t>
            </a:r>
            <a:endParaRPr/>
          </a:p>
        </p:txBody>
      </p:sp>
      <p:sp>
        <p:nvSpPr>
          <p:cNvPr id="688" name="Google Shape;688;p6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$-78,810</a:t>
            </a:r>
            <a:endParaRPr/>
          </a:p>
        </p:txBody>
      </p:sp>
      <p:sp>
        <p:nvSpPr>
          <p:cNvPr id="689" name="Google Shape;689;p6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248</a:t>
            </a:r>
            <a:endParaRPr/>
          </a:p>
        </p:txBody>
      </p:sp>
      <p:sp>
        <p:nvSpPr>
          <p:cNvPr id="690" name="Google Shape;690;p6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177</a:t>
            </a:r>
            <a:endParaRPr/>
          </a:p>
        </p:txBody>
      </p:sp>
      <p:sp>
        <p:nvSpPr>
          <p:cNvPr id="691" name="Google Shape;691;p6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692" name="Google Shape;692;p6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4.4%</a:t>
            </a:r>
            <a:endParaRPr/>
          </a:p>
        </p:txBody>
      </p:sp>
      <p:sp>
        <p:nvSpPr>
          <p:cNvPr id="693" name="Google Shape;693;p6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694" name="Google Shape;694;p6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$432,359</a:t>
            </a:r>
            <a:endParaRPr/>
          </a:p>
        </p:txBody>
      </p:sp>
      <p:sp>
        <p:nvSpPr>
          <p:cNvPr id="695" name="Google Shape;695;p6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$161,882</a:t>
            </a:r>
            <a:endParaRPr/>
          </a:p>
        </p:txBody>
      </p:sp>
      <p:sp>
        <p:nvSpPr>
          <p:cNvPr id="696" name="Google Shape;696;p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97" name="Google Shape;697;p6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$-78,751</a:t>
            </a:r>
            <a:endParaRPr/>
          </a:p>
        </p:txBody>
      </p:sp>
      <p:sp>
        <p:nvSpPr>
          <p:cNvPr id="698" name="Google Shape;698;p6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285</a:t>
            </a:r>
            <a:endParaRPr/>
          </a:p>
        </p:txBody>
      </p:sp>
      <p:sp>
        <p:nvSpPr>
          <p:cNvPr id="699" name="Google Shape;699;p6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192</a:t>
            </a:r>
            <a:endParaRPr/>
          </a:p>
        </p:txBody>
      </p:sp>
      <p:sp>
        <p:nvSpPr>
          <p:cNvPr id="700" name="Google Shape;700;p6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701" name="Google Shape;701;p6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6.7%</a:t>
            </a:r>
            <a:endParaRPr/>
          </a:p>
        </p:txBody>
      </p:sp>
      <p:sp>
        <p:nvSpPr>
          <p:cNvPr id="702" name="Google Shape;702;p6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3" name="Google Shape;703;p6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704" name="Google Shape;704;p6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$601,568</a:t>
            </a:r>
            <a:endParaRPr/>
          </a:p>
        </p:txBody>
      </p:sp>
      <p:sp>
        <p:nvSpPr>
          <p:cNvPr id="705" name="Google Shape;705;p6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$154,501</a:t>
            </a:r>
            <a:endParaRPr/>
          </a:p>
        </p:txBody>
      </p:sp>
      <p:sp>
        <p:nvSpPr>
          <p:cNvPr id="706" name="Google Shape;706;p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$61,018</a:t>
            </a:r>
            <a:endParaRPr/>
          </a:p>
        </p:txBody>
      </p:sp>
      <p:sp>
        <p:nvSpPr>
          <p:cNvPr id="707" name="Google Shape;707;p6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$-113,155</a:t>
            </a:r>
            <a:endParaRPr/>
          </a:p>
        </p:txBody>
      </p:sp>
      <p:sp>
        <p:nvSpPr>
          <p:cNvPr id="708" name="Google Shape;708;p6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330</a:t>
            </a:r>
            <a:endParaRPr/>
          </a:p>
        </p:txBody>
      </p:sp>
      <p:sp>
        <p:nvSpPr>
          <p:cNvPr id="709" name="Google Shape;709;p6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233</a:t>
            </a:r>
            <a:endParaRPr/>
          </a:p>
        </p:txBody>
      </p:sp>
      <p:sp>
        <p:nvSpPr>
          <p:cNvPr id="710" name="Google Shape;710;p6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711" name="Google Shape;711;p6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4.2%</a:t>
            </a:r>
            <a:endParaRPr/>
          </a:p>
        </p:txBody>
      </p:sp>
      <p:sp>
        <p:nvSpPr>
          <p:cNvPr id="712" name="Google Shape;712;p6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713" name="Google Shape;713;p6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$259,790</a:t>
            </a:r>
            <a:endParaRPr/>
          </a:p>
        </p:txBody>
      </p:sp>
      <p:sp>
        <p:nvSpPr>
          <p:cNvPr id="714" name="Google Shape;714;p6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$227,247</a:t>
            </a:r>
            <a:endParaRPr/>
          </a:p>
        </p:txBody>
      </p:sp>
      <p:sp>
        <p:nvSpPr>
          <p:cNvPr id="715" name="Google Shape;715;p6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16" name="Google Shape;716;p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$-202,915</a:t>
            </a:r>
            <a:endParaRPr/>
          </a:p>
        </p:txBody>
      </p:sp>
      <p:sp>
        <p:nvSpPr>
          <p:cNvPr id="717" name="Google Shape;717;p6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216</a:t>
            </a:r>
            <a:endParaRPr/>
          </a:p>
        </p:txBody>
      </p:sp>
      <p:sp>
        <p:nvSpPr>
          <p:cNvPr id="718" name="Google Shape;718;p6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141</a:t>
            </a:r>
            <a:endParaRPr/>
          </a:p>
        </p:txBody>
      </p:sp>
      <p:sp>
        <p:nvSpPr>
          <p:cNvPr id="719" name="Google Shape;719;p6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720" name="Google Shape;720;p6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5.6%</a:t>
            </a:r>
            <a:endParaRPr/>
          </a:p>
        </p:txBody>
      </p:sp>
      <p:sp>
        <p:nvSpPr>
          <p:cNvPr id="721" name="Google Shape;721;p6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2" name="Google Shape;722;p6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</a:t>
            </a:r>
            <a:endParaRPr/>
          </a:p>
        </p:txBody>
      </p:sp>
      <p:sp>
        <p:nvSpPr>
          <p:cNvPr id="723" name="Google Shape;723;p6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$2,358,198</a:t>
            </a:r>
            <a:endParaRPr/>
          </a:p>
        </p:txBody>
      </p:sp>
      <p:sp>
        <p:nvSpPr>
          <p:cNvPr id="724" name="Google Shape;724;p6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$925,210</a:t>
            </a:r>
            <a:endParaRPr/>
          </a:p>
        </p:txBody>
      </p:sp>
      <p:sp>
        <p:nvSpPr>
          <p:cNvPr id="725" name="Google Shape;725;p6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$125,596</a:t>
            </a:r>
            <a:endParaRPr/>
          </a:p>
        </p:txBody>
      </p:sp>
      <p:sp>
        <p:nvSpPr>
          <p:cNvPr id="726" name="Google Shape;726;p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$-519,145</a:t>
            </a:r>
            <a:endParaRPr/>
          </a:p>
        </p:txBody>
      </p:sp>
      <p:sp>
        <p:nvSpPr>
          <p:cNvPr id="727" name="Google Shape;727;p6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1,259</a:t>
            </a:r>
            <a:endParaRPr/>
          </a:p>
        </p:txBody>
      </p:sp>
      <p:sp>
        <p:nvSpPr>
          <p:cNvPr id="728" name="Google Shape;728;p6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873</a:t>
            </a:r>
            <a:endParaRPr/>
          </a:p>
        </p:txBody>
      </p:sp>
      <p:sp>
        <p:nvSpPr>
          <p:cNvPr id="729" name="Google Shape;729;p6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69</a:t>
            </a:r>
            <a:endParaRPr/>
          </a:p>
        </p:txBody>
      </p:sp>
      <p:sp>
        <p:nvSpPr>
          <p:cNvPr id="730" name="Google Shape;730;p6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5.5%</a:t>
            </a:r>
            <a:endParaRPr/>
          </a:p>
        </p:txBody>
      </p:sp>
      <p:sp>
        <p:nvSpPr>
          <p:cNvPr id="731" name="Google Shape;731;p6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Green = up vs prior month  |  Red = down vs prior month or negative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735" name="Shape 7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6" name="Google Shape;736;p7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DSG In My Portfolio — Taylor Sloan</a:t>
            </a:r>
            <a:endParaRPr/>
          </a:p>
        </p:txBody>
      </p:sp>
      <p:sp>
        <p:nvSpPr>
          <p:cNvPr id="737" name="Google Shape;737;p7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Dirt, Sand &amp; Gravel program performance across this bda's agencies  |  2026 YTD</a:t>
            </a:r>
            <a:endParaRPr/>
          </a:p>
        </p:txBody>
      </p:sp>
      <p:sp>
        <p:nvSpPr>
          <p:cNvPr id="738" name="Google Shape;738;p7"/>
          <p:cNvSpPr/>
          <p:nvPr/>
        </p:nvSpPr>
        <p:spPr>
          <a:xfrm>
            <a:off x="548640" y="1188720"/>
            <a:ext cx="260604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DSG SUBMISSIONS</a:t>
            </a:r>
            <a:endParaRPr/>
          </a:p>
        </p:txBody>
      </p:sp>
      <p:sp>
        <p:nvSpPr>
          <p:cNvPr id="739" name="Google Shape;739;p7"/>
          <p:cNvSpPr/>
          <p:nvPr/>
        </p:nvSpPr>
        <p:spPr>
          <a:xfrm>
            <a:off x="3337560" y="1188720"/>
            <a:ext cx="260604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ACCOUNTS</a:t>
            </a:r>
            <a:endParaRPr/>
          </a:p>
        </p:txBody>
      </p:sp>
      <p:sp>
        <p:nvSpPr>
          <p:cNvPr id="740" name="Google Shape;740;p7"/>
          <p:cNvSpPr/>
          <p:nvPr/>
        </p:nvSpPr>
        <p:spPr>
          <a:xfrm>
            <a:off x="6126480" y="1188720"/>
            <a:ext cx="260604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$64,793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GROSS WRITTEN PREM</a:t>
            </a:r>
            <a:endParaRPr/>
          </a:p>
        </p:txBody>
      </p:sp>
      <p:sp>
        <p:nvSpPr>
          <p:cNvPr id="741" name="Google Shape;741;p7"/>
          <p:cNvSpPr/>
          <p:nvPr/>
        </p:nvSpPr>
        <p:spPr>
          <a:xfrm>
            <a:off x="8915400" y="1188720"/>
            <a:ext cx="260604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2.5%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 RATE</a:t>
            </a:r>
            <a:endParaRPr/>
          </a:p>
        </p:txBody>
      </p:sp>
      <p:sp>
        <p:nvSpPr>
          <p:cNvPr id="742" name="Google Shape;742;p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3" name="Google Shape;743;p7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DSG ACTIVITY BY AGENCY (top 8 by submissions)</a:t>
            </a:r>
            <a:endParaRPr/>
          </a:p>
        </p:txBody>
      </p:sp>
      <p:sp>
        <p:nvSpPr>
          <p:cNvPr id="744" name="Google Shape;744;p7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Agency</a:t>
            </a:r>
            <a:endParaRPr/>
          </a:p>
        </p:txBody>
      </p:sp>
      <p:sp>
        <p:nvSpPr>
          <p:cNvPr id="745" name="Google Shape;745;p7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746" name="Google Shape;746;p7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Declined</a:t>
            </a:r>
            <a:endParaRPr/>
          </a:p>
        </p:txBody>
      </p:sp>
      <p:sp>
        <p:nvSpPr>
          <p:cNvPr id="747" name="Google Shape;747;p7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</a:t>
            </a:r>
            <a:endParaRPr/>
          </a:p>
        </p:txBody>
      </p:sp>
      <p:sp>
        <p:nvSpPr>
          <p:cNvPr id="748" name="Google Shape;748;p7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 %</a:t>
            </a:r>
            <a:endParaRPr/>
          </a:p>
        </p:txBody>
      </p:sp>
      <p:sp>
        <p:nvSpPr>
          <p:cNvPr id="749" name="Google Shape;749;p7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</a:t>
            </a:r>
            <a:endParaRPr/>
          </a:p>
        </p:txBody>
      </p:sp>
      <p:sp>
        <p:nvSpPr>
          <p:cNvPr id="750" name="Google Shape;750;p7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1" name="Google Shape;751;p7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Fredrick B. Roberson Insurance Services, Inc.</a:t>
            </a:r>
            <a:endParaRPr/>
          </a:p>
        </p:txBody>
      </p:sp>
      <p:sp>
        <p:nvSpPr>
          <p:cNvPr id="752" name="Google Shape;752;p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44</a:t>
            </a:r>
            <a:endParaRPr/>
          </a:p>
        </p:txBody>
      </p:sp>
      <p:sp>
        <p:nvSpPr>
          <p:cNvPr id="753" name="Google Shape;753;p7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754" name="Google Shape;754;p7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755" name="Google Shape;755;p7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6.8%</a:t>
            </a:r>
            <a:endParaRPr/>
          </a:p>
        </p:txBody>
      </p:sp>
      <p:sp>
        <p:nvSpPr>
          <p:cNvPr id="756" name="Google Shape;756;p7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$64,793</a:t>
            </a:r>
            <a:endParaRPr/>
          </a:p>
        </p:txBody>
      </p:sp>
      <p:sp>
        <p:nvSpPr>
          <p:cNvPr id="757" name="Google Shape;757;p7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All Lines Associates, Inc. DBA Valley Trucking Insuranc</a:t>
            </a:r>
            <a:endParaRPr/>
          </a:p>
        </p:txBody>
      </p:sp>
      <p:sp>
        <p:nvSpPr>
          <p:cNvPr id="758" name="Google Shape;758;p7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</a:t>
            </a:r>
            <a:endParaRPr/>
          </a:p>
        </p:txBody>
      </p:sp>
      <p:sp>
        <p:nvSpPr>
          <p:cNvPr id="759" name="Google Shape;759;p7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760" name="Google Shape;760;p7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61" name="Google Shape;761;p7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62" name="Google Shape;762;p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763" name="Google Shape;763;p7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4" name="Google Shape;764;p7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Commercial Specialists Insurance Services, Inc.</a:t>
            </a:r>
            <a:endParaRPr/>
          </a:p>
        </p:txBody>
      </p:sp>
      <p:sp>
        <p:nvSpPr>
          <p:cNvPr id="765" name="Google Shape;765;p7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766" name="Google Shape;766;p7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67" name="Google Shape;767;p7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68" name="Google Shape;768;p7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69" name="Google Shape;769;p7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770" name="Google Shape;770;p7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Millan Group, Inc.</a:t>
            </a:r>
            <a:endParaRPr/>
          </a:p>
        </p:txBody>
      </p:sp>
      <p:sp>
        <p:nvSpPr>
          <p:cNvPr id="771" name="Google Shape;771;p7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772" name="Google Shape;772;p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73" name="Google Shape;773;p7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74" name="Google Shape;774;p7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75" name="Google Shape;775;p7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776" name="Google Shape;776;p7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7" name="Google Shape;777;p7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All Capital Insurance Agency Inc</a:t>
            </a:r>
            <a:endParaRPr/>
          </a:p>
        </p:txBody>
      </p:sp>
      <p:sp>
        <p:nvSpPr>
          <p:cNvPr id="778" name="Google Shape;778;p7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779" name="Google Shape;779;p7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780" name="Google Shape;780;p7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81" name="Google Shape;781;p7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82" name="Google Shape;782;p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783" name="Google Shape;783;p7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WHA Insurance</a:t>
            </a:r>
            <a:endParaRPr/>
          </a:p>
        </p:txBody>
      </p:sp>
      <p:sp>
        <p:nvSpPr>
          <p:cNvPr id="784" name="Google Shape;784;p7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785" name="Google Shape;785;p7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786" name="Google Shape;786;p7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87" name="Google Shape;787;p7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88" name="Google Shape;788;p7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789" name="Google Shape;789;p7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0" name="Google Shape;790;p7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Gerald Cummings &amp; Associates</a:t>
            </a:r>
            <a:endParaRPr/>
          </a:p>
        </p:txBody>
      </p:sp>
      <p:sp>
        <p:nvSpPr>
          <p:cNvPr id="791" name="Google Shape;791;p7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792" name="Google Shape;792;p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793" name="Google Shape;793;p7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94" name="Google Shape;794;p7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95" name="Google Shape;795;p7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796" name="Google Shape;796;p7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360 Risk Partners Insurance Solutions, Inc.</a:t>
            </a:r>
            <a:endParaRPr/>
          </a:p>
        </p:txBody>
      </p:sp>
      <p:sp>
        <p:nvSpPr>
          <p:cNvPr id="797" name="Google Shape;797;p7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798" name="Google Shape;798;p7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99" name="Google Shape;799;p7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00" name="Google Shape;800;p7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01" name="Google Shape;801;p7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802" name="Google Shape;802;p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States with DSG bound business in this book: CA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06" name="Shape 8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Google Shape;807;p8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In My Portfolio — Taylor Sloan</a:t>
            </a:r>
            <a:endParaRPr/>
          </a:p>
        </p:txBody>
      </p:sp>
      <p:sp>
        <p:nvSpPr>
          <p:cNvPr id="808" name="Google Shape;808;p8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business (4+ power units) across this bda's agencies  |  2026 YTD</a:t>
            </a:r>
            <a:endParaRPr/>
          </a:p>
        </p:txBody>
      </p:sp>
      <p:sp>
        <p:nvSpPr>
          <p:cNvPr id="809" name="Google Shape;809;p8"/>
          <p:cNvSpPr/>
          <p:nvPr/>
        </p:nvSpPr>
        <p:spPr>
          <a:xfrm>
            <a:off x="548640" y="1188720"/>
            <a:ext cx="260604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SUBMISSIONS</a:t>
            </a:r>
            <a:endParaRPr/>
          </a:p>
        </p:txBody>
      </p:sp>
      <p:sp>
        <p:nvSpPr>
          <p:cNvPr id="810" name="Google Shape;810;p8"/>
          <p:cNvSpPr/>
          <p:nvPr/>
        </p:nvSpPr>
        <p:spPr>
          <a:xfrm>
            <a:off x="3337560" y="1188720"/>
            <a:ext cx="260604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</a:t>
            </a:r>
            <a:endParaRPr/>
          </a:p>
        </p:txBody>
      </p:sp>
      <p:sp>
        <p:nvSpPr>
          <p:cNvPr id="811" name="Google Shape;811;p8"/>
          <p:cNvSpPr/>
          <p:nvPr/>
        </p:nvSpPr>
        <p:spPr>
          <a:xfrm>
            <a:off x="6126480" y="1188720"/>
            <a:ext cx="260604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$941,106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GWP</a:t>
            </a:r>
            <a:endParaRPr/>
          </a:p>
        </p:txBody>
      </p:sp>
      <p:sp>
        <p:nvSpPr>
          <p:cNvPr id="812" name="Google Shape;812;p8"/>
          <p:cNvSpPr/>
          <p:nvPr/>
        </p:nvSpPr>
        <p:spPr>
          <a:xfrm>
            <a:off x="8915400" y="1188720"/>
            <a:ext cx="260604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AVG UNITS / SUB</a:t>
            </a:r>
            <a:endParaRPr/>
          </a:p>
        </p:txBody>
      </p:sp>
      <p:sp>
        <p:nvSpPr>
          <p:cNvPr id="813" name="Google Shape;813;p8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4" name="Google Shape;814;p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BY AGENCY (top 8)</a:t>
            </a:r>
            <a:endParaRPr/>
          </a:p>
        </p:txBody>
      </p:sp>
      <p:sp>
        <p:nvSpPr>
          <p:cNvPr id="815" name="Google Shape;815;p8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Agency</a:t>
            </a:r>
            <a:endParaRPr/>
          </a:p>
        </p:txBody>
      </p:sp>
      <p:sp>
        <p:nvSpPr>
          <p:cNvPr id="816" name="Google Shape;816;p8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817" name="Google Shape;817;p8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</a:t>
            </a:r>
            <a:endParaRPr/>
          </a:p>
        </p:txBody>
      </p:sp>
      <p:sp>
        <p:nvSpPr>
          <p:cNvPr id="818" name="Google Shape;818;p8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 %</a:t>
            </a:r>
            <a:endParaRPr/>
          </a:p>
        </p:txBody>
      </p:sp>
      <p:sp>
        <p:nvSpPr>
          <p:cNvPr id="819" name="Google Shape;819;p8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</a:t>
            </a:r>
            <a:endParaRPr/>
          </a:p>
        </p:txBody>
      </p:sp>
      <p:sp>
        <p:nvSpPr>
          <p:cNvPr id="820" name="Google Shape;820;p8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1" name="Google Shape;821;p8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All Capital Insurance Agency Inc</a:t>
            </a:r>
            <a:endParaRPr/>
          </a:p>
        </p:txBody>
      </p:sp>
      <p:sp>
        <p:nvSpPr>
          <p:cNvPr id="822" name="Google Shape;822;p8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43</a:t>
            </a:r>
            <a:endParaRPr/>
          </a:p>
        </p:txBody>
      </p:sp>
      <p:sp>
        <p:nvSpPr>
          <p:cNvPr id="823" name="Google Shape;823;p8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24" name="Google Shape;824;p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25" name="Google Shape;825;p8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826" name="Google Shape;826;p8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Fredrick B. Roberson Insurance Services, I</a:t>
            </a:r>
            <a:endParaRPr/>
          </a:p>
        </p:txBody>
      </p:sp>
      <p:sp>
        <p:nvSpPr>
          <p:cNvPr id="827" name="Google Shape;827;p8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828" name="Google Shape;828;p8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29" name="Google Shape;829;p8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30" name="Google Shape;830;p8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831" name="Google Shape;831;p8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2" name="Google Shape;832;p8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Millan Group, Inc.</a:t>
            </a:r>
            <a:endParaRPr/>
          </a:p>
        </p:txBody>
      </p:sp>
      <p:sp>
        <p:nvSpPr>
          <p:cNvPr id="833" name="Google Shape;833;p8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834" name="Google Shape;834;p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35" name="Google Shape;835;p8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10.0%</a:t>
            </a:r>
            <a:endParaRPr/>
          </a:p>
        </p:txBody>
      </p:sp>
      <p:sp>
        <p:nvSpPr>
          <p:cNvPr id="836" name="Google Shape;836;p8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$172,270</a:t>
            </a:r>
            <a:endParaRPr/>
          </a:p>
        </p:txBody>
      </p:sp>
      <p:sp>
        <p:nvSpPr>
          <p:cNvPr id="837" name="Google Shape;837;p8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Beaver State Insurance Agency LLC</a:t>
            </a:r>
            <a:endParaRPr/>
          </a:p>
        </p:txBody>
      </p:sp>
      <p:sp>
        <p:nvSpPr>
          <p:cNvPr id="838" name="Google Shape;838;p8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839" name="Google Shape;839;p8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840" name="Google Shape;840;p8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44.4%</a:t>
            </a:r>
            <a:endParaRPr/>
          </a:p>
        </p:txBody>
      </p:sp>
      <p:sp>
        <p:nvSpPr>
          <p:cNvPr id="841" name="Google Shape;841;p8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$516,673</a:t>
            </a:r>
            <a:endParaRPr/>
          </a:p>
        </p:txBody>
      </p:sp>
      <p:sp>
        <p:nvSpPr>
          <p:cNvPr id="842" name="Google Shape;842;p8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3" name="Google Shape;843;p8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Mustard Seed Financial &amp; Insurance Inc</a:t>
            </a:r>
            <a:endParaRPr/>
          </a:p>
        </p:txBody>
      </p:sp>
      <p:sp>
        <p:nvSpPr>
          <p:cNvPr id="844" name="Google Shape;844;p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845" name="Google Shape;845;p8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46" name="Google Shape;846;p8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47" name="Google Shape;847;p8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848" name="Google Shape;848;p8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All Lines Associates, Inc. DBA Valley Truc</a:t>
            </a:r>
            <a:endParaRPr/>
          </a:p>
        </p:txBody>
      </p:sp>
      <p:sp>
        <p:nvSpPr>
          <p:cNvPr id="849" name="Google Shape;849;p8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850" name="Google Shape;850;p8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51" name="Google Shape;851;p8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52" name="Google Shape;852;p8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853" name="Google Shape;853;p8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4" name="Google Shape;854;p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Commercial Specialists Insurance Services,</a:t>
            </a:r>
            <a:endParaRPr/>
          </a:p>
        </p:txBody>
      </p:sp>
      <p:sp>
        <p:nvSpPr>
          <p:cNvPr id="855" name="Google Shape;855;p8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856" name="Google Shape;856;p8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57" name="Google Shape;857;p8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14.3%</a:t>
            </a:r>
            <a:endParaRPr/>
          </a:p>
        </p:txBody>
      </p:sp>
      <p:sp>
        <p:nvSpPr>
          <p:cNvPr id="858" name="Google Shape;858;p8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$132,127</a:t>
            </a:r>
            <a:endParaRPr/>
          </a:p>
        </p:txBody>
      </p:sp>
      <p:sp>
        <p:nvSpPr>
          <p:cNvPr id="859" name="Google Shape;859;p8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WHA Insurance</a:t>
            </a:r>
            <a:endParaRPr/>
          </a:p>
        </p:txBody>
      </p:sp>
      <p:sp>
        <p:nvSpPr>
          <p:cNvPr id="860" name="Google Shape;860;p8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861" name="Google Shape;861;p8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62" name="Google Shape;862;p8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63" name="Google Shape;863;p8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864" name="Google Shape;864;p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5" name="Google Shape;865;p8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SIZE MIX</a:t>
            </a:r>
            <a:endParaRPr/>
          </a:p>
        </p:txBody>
      </p:sp>
      <p:sp>
        <p:nvSpPr>
          <p:cNvPr id="866" name="Google Shape;866;p8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4-5 units</a:t>
            </a:r>
            <a:endParaRPr/>
          </a:p>
        </p:txBody>
      </p:sp>
      <p:sp>
        <p:nvSpPr>
          <p:cNvPr id="867" name="Google Shape;867;p8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63</a:t>
            </a:r>
            <a:endParaRPr/>
          </a:p>
        </p:txBody>
      </p:sp>
      <p:sp>
        <p:nvSpPr>
          <p:cNvPr id="868" name="Google Shape;868;p8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(46%)</a:t>
            </a:r>
            <a:endParaRPr/>
          </a:p>
        </p:txBody>
      </p:sp>
      <p:sp>
        <p:nvSpPr>
          <p:cNvPr id="869" name="Google Shape;869;p8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6-10 units</a:t>
            </a:r>
            <a:endParaRPr/>
          </a:p>
        </p:txBody>
      </p:sp>
      <p:sp>
        <p:nvSpPr>
          <p:cNvPr id="870" name="Google Shape;870;p8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55</a:t>
            </a:r>
            <a:endParaRPr/>
          </a:p>
        </p:txBody>
      </p:sp>
      <p:sp>
        <p:nvSpPr>
          <p:cNvPr id="871" name="Google Shape;871;p8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(40%)</a:t>
            </a:r>
            <a:endParaRPr/>
          </a:p>
        </p:txBody>
      </p:sp>
      <p:sp>
        <p:nvSpPr>
          <p:cNvPr id="872" name="Google Shape;872;p8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11-25 units</a:t>
            </a:r>
            <a:endParaRPr/>
          </a:p>
        </p:txBody>
      </p:sp>
      <p:sp>
        <p:nvSpPr>
          <p:cNvPr id="873" name="Google Shape;873;p8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874" name="Google Shape;874;p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(14%)</a:t>
            </a:r>
            <a:endParaRPr/>
          </a:p>
        </p:txBody>
      </p:sp>
      <p:sp>
        <p:nvSpPr>
          <p:cNvPr id="875" name="Google Shape;875;p8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26-50 units</a:t>
            </a:r>
            <a:endParaRPr/>
          </a:p>
        </p:txBody>
      </p:sp>
      <p:sp>
        <p:nvSpPr>
          <p:cNvPr id="876" name="Google Shape;876;p8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77" name="Google Shape;877;p8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(1%)</a:t>
            </a:r>
            <a:endParaRPr/>
          </a:p>
        </p:txBody>
      </p:sp>
      <p:sp>
        <p:nvSpPr>
          <p:cNvPr id="878" name="Google Shape;878;p8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51+ units</a:t>
            </a:r>
            <a:endParaRPr/>
          </a:p>
        </p:txBody>
      </p:sp>
      <p:sp>
        <p:nvSpPr>
          <p:cNvPr id="879" name="Google Shape;879;p8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80" name="Google Shape;880;p8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(0%)</a:t>
            </a:r>
            <a:endParaRPr/>
          </a:p>
        </p:txBody>
      </p:sp>
      <p:sp>
        <p:nvSpPr>
          <p:cNvPr id="881" name="Google Shape;881;p8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 rate on fleet: 5.8%  ·  Declined: 49  ·  Source: cw_rep.transportation_submissions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85" name="Shape 8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Google Shape;886;p9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7" name="Google Shape;887;p9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Agency Producers — Taylor Sloan</a:t>
            </a:r>
            <a:endParaRPr/>
          </a:p>
        </p:txBody>
      </p:sp>
      <p:sp>
        <p:nvSpPr>
          <p:cNvPr id="888" name="Google Shape;888;p9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Jan–May 2026  |  Individual agents ranked by YTD submissions  |  Agent = broker_contact on submission  |  Trend = MoM</a:t>
            </a:r>
            <a:endParaRPr/>
          </a:p>
        </p:txBody>
      </p:sp>
      <p:sp>
        <p:nvSpPr>
          <p:cNvPr id="889" name="Google Shape;889;p9"/>
          <p:cNvSpPr/>
          <p:nvPr/>
        </p:nvSpPr>
        <p:spPr>
          <a:xfrm>
            <a:off x="182880" y="841248"/>
            <a:ext cx="2249424" cy="566928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1199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YTD Subs</a:t>
            </a:r>
            <a:endParaRPr/>
          </a:p>
        </p:txBody>
      </p:sp>
      <p:sp>
        <p:nvSpPr>
          <p:cNvPr id="890" name="Google Shape;890;p9"/>
          <p:cNvSpPr/>
          <p:nvPr/>
        </p:nvSpPr>
        <p:spPr>
          <a:xfrm>
            <a:off x="2569464" y="841248"/>
            <a:ext cx="2249424" cy="566928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YTD Binds</a:t>
            </a:r>
            <a:endParaRPr/>
          </a:p>
        </p:txBody>
      </p:sp>
      <p:sp>
        <p:nvSpPr>
          <p:cNvPr id="891" name="Google Shape;891;p9"/>
          <p:cNvSpPr/>
          <p:nvPr/>
        </p:nvSpPr>
        <p:spPr>
          <a:xfrm>
            <a:off x="4956048" y="841248"/>
            <a:ext cx="2249424" cy="566928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3.3%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Portfolio Hit Ratio</a:t>
            </a:r>
            <a:endParaRPr/>
          </a:p>
        </p:txBody>
      </p:sp>
      <p:sp>
        <p:nvSpPr>
          <p:cNvPr id="892" name="Google Shape;892;p9"/>
          <p:cNvSpPr/>
          <p:nvPr/>
        </p:nvSpPr>
        <p:spPr>
          <a:xfrm>
            <a:off x="7342631" y="841248"/>
            <a:ext cx="2249424" cy="566928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Active Agents</a:t>
            </a:r>
            <a:endParaRPr/>
          </a:p>
        </p:txBody>
      </p:sp>
      <p:sp>
        <p:nvSpPr>
          <p:cNvPr id="893" name="Google Shape;893;p9"/>
          <p:cNvSpPr/>
          <p:nvPr/>
        </p:nvSpPr>
        <p:spPr>
          <a:xfrm>
            <a:off x="9729215" y="841248"/>
            <a:ext cx="2249424" cy="566928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47%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Top 5 Agent Share</a:t>
            </a:r>
            <a:endParaRPr/>
          </a:p>
        </p:txBody>
      </p:sp>
      <p:sp>
        <p:nvSpPr>
          <p:cNvPr id="894" name="Google Shape;894;p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5" name="Google Shape;895;p9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TOP AGENTS BY SUBMISSIONS  —  Ranked 1–18</a:t>
            </a:r>
            <a:endParaRPr/>
          </a:p>
        </p:txBody>
      </p:sp>
      <p:sp>
        <p:nvSpPr>
          <p:cNvPr id="896" name="Google Shape;896;p9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Agent Name</a:t>
            </a:r>
            <a:endParaRPr/>
          </a:p>
        </p:txBody>
      </p:sp>
      <p:sp>
        <p:nvSpPr>
          <p:cNvPr id="897" name="Google Shape;897;p9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Agency</a:t>
            </a:r>
            <a:endParaRPr/>
          </a:p>
        </p:txBody>
      </p:sp>
      <p:sp>
        <p:nvSpPr>
          <p:cNvPr id="898" name="Google Shape;898;p9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899" name="Google Shape;899;p9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900" name="Google Shape;900;p9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%</a:t>
            </a:r>
            <a:endParaRPr/>
          </a:p>
        </p:txBody>
      </p:sp>
      <p:sp>
        <p:nvSpPr>
          <p:cNvPr id="901" name="Google Shape;901;p9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MoM</a:t>
            </a:r>
            <a:endParaRPr/>
          </a:p>
        </p:txBody>
      </p:sp>
      <p:sp>
        <p:nvSpPr>
          <p:cNvPr id="902" name="Google Shape;902;p9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3" name="Google Shape;903;p9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4" name="Google Shape;904;p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Dan Ostapenko</a:t>
            </a:r>
            <a:endParaRPr/>
          </a:p>
        </p:txBody>
      </p:sp>
      <p:sp>
        <p:nvSpPr>
          <p:cNvPr id="905" name="Google Shape;905;p9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All Capital Insurance Agency I</a:t>
            </a:r>
            <a:endParaRPr/>
          </a:p>
        </p:txBody>
      </p:sp>
      <p:sp>
        <p:nvSpPr>
          <p:cNvPr id="906" name="Google Shape;906;p9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207</a:t>
            </a:r>
            <a:endParaRPr/>
          </a:p>
        </p:txBody>
      </p:sp>
      <p:sp>
        <p:nvSpPr>
          <p:cNvPr id="907" name="Google Shape;907;p9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908" name="Google Shape;908;p9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2.4%</a:t>
            </a:r>
            <a:endParaRPr/>
          </a:p>
        </p:txBody>
      </p:sp>
      <p:sp>
        <p:nvSpPr>
          <p:cNvPr id="909" name="Google Shape;909;p9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910" name="Google Shape;910;p9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Bret Fair</a:t>
            </a:r>
            <a:endParaRPr/>
          </a:p>
        </p:txBody>
      </p:sp>
      <p:sp>
        <p:nvSpPr>
          <p:cNvPr id="911" name="Google Shape;911;p9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360 Risk Partners Insurance So</a:t>
            </a:r>
            <a:endParaRPr/>
          </a:p>
        </p:txBody>
      </p:sp>
      <p:sp>
        <p:nvSpPr>
          <p:cNvPr id="912" name="Google Shape;912;p9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132</a:t>
            </a:r>
            <a:endParaRPr/>
          </a:p>
        </p:txBody>
      </p:sp>
      <p:sp>
        <p:nvSpPr>
          <p:cNvPr id="913" name="Google Shape;913;p9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914" name="Google Shape;914;p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6.8%</a:t>
            </a:r>
            <a:endParaRPr/>
          </a:p>
        </p:txBody>
      </p:sp>
      <p:sp>
        <p:nvSpPr>
          <p:cNvPr id="915" name="Google Shape;915;p9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916" name="Google Shape;916;p9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7" name="Google Shape;917;p9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Kelly Link</a:t>
            </a:r>
            <a:endParaRPr/>
          </a:p>
        </p:txBody>
      </p:sp>
      <p:sp>
        <p:nvSpPr>
          <p:cNvPr id="918" name="Google Shape;918;p9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Mustard Seed Financial &amp; Insur</a:t>
            </a:r>
            <a:endParaRPr/>
          </a:p>
        </p:txBody>
      </p:sp>
      <p:sp>
        <p:nvSpPr>
          <p:cNvPr id="919" name="Google Shape;919;p9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112</a:t>
            </a:r>
            <a:endParaRPr/>
          </a:p>
        </p:txBody>
      </p:sp>
      <p:sp>
        <p:nvSpPr>
          <p:cNvPr id="920" name="Google Shape;920;p9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21" name="Google Shape;921;p9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1.8%</a:t>
            </a:r>
            <a:endParaRPr/>
          </a:p>
        </p:txBody>
      </p:sp>
      <p:sp>
        <p:nvSpPr>
          <p:cNvPr id="922" name="Google Shape;922;p9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923" name="Google Shape;923;p9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Liana Abramov</a:t>
            </a:r>
            <a:endParaRPr/>
          </a:p>
        </p:txBody>
      </p:sp>
      <p:sp>
        <p:nvSpPr>
          <p:cNvPr id="924" name="Google Shape;924;p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All Lines Associates, Inc. DBA</a:t>
            </a:r>
            <a:endParaRPr/>
          </a:p>
        </p:txBody>
      </p:sp>
      <p:sp>
        <p:nvSpPr>
          <p:cNvPr id="925" name="Google Shape;925;p9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57</a:t>
            </a:r>
            <a:endParaRPr/>
          </a:p>
        </p:txBody>
      </p:sp>
      <p:sp>
        <p:nvSpPr>
          <p:cNvPr id="926" name="Google Shape;926;p9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27" name="Google Shape;927;p9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28" name="Google Shape;928;p9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929" name="Google Shape;929;p9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0" name="Google Shape;930;p9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Katie Pereira</a:t>
            </a:r>
            <a:endParaRPr/>
          </a:p>
        </p:txBody>
      </p:sp>
      <p:sp>
        <p:nvSpPr>
          <p:cNvPr id="931" name="Google Shape;931;p9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Fredrick B. Roberson Insurance</a:t>
            </a:r>
            <a:endParaRPr/>
          </a:p>
        </p:txBody>
      </p:sp>
      <p:sp>
        <p:nvSpPr>
          <p:cNvPr id="932" name="Google Shape;932;p9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51</a:t>
            </a:r>
            <a:endParaRPr/>
          </a:p>
        </p:txBody>
      </p:sp>
      <p:sp>
        <p:nvSpPr>
          <p:cNvPr id="933" name="Google Shape;933;p9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34" name="Google Shape;934;p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35" name="Google Shape;935;p9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936" name="Google Shape;936;p9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McKinzee Adams</a:t>
            </a:r>
            <a:endParaRPr/>
          </a:p>
        </p:txBody>
      </p:sp>
      <p:sp>
        <p:nvSpPr>
          <p:cNvPr id="937" name="Google Shape;937;p9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All Lines Associates, Inc. DBA</a:t>
            </a:r>
            <a:endParaRPr/>
          </a:p>
        </p:txBody>
      </p:sp>
      <p:sp>
        <p:nvSpPr>
          <p:cNvPr id="938" name="Google Shape;938;p9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45</a:t>
            </a:r>
            <a:endParaRPr/>
          </a:p>
        </p:txBody>
      </p:sp>
      <p:sp>
        <p:nvSpPr>
          <p:cNvPr id="939" name="Google Shape;939;p9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40" name="Google Shape;940;p9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41" name="Google Shape;941;p9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→</a:t>
            </a:r>
            <a:endParaRPr/>
          </a:p>
        </p:txBody>
      </p:sp>
      <p:sp>
        <p:nvSpPr>
          <p:cNvPr id="942" name="Google Shape;942;p9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3" name="Google Shape;943;p9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Eva Avina</a:t>
            </a:r>
            <a:endParaRPr/>
          </a:p>
        </p:txBody>
      </p:sp>
      <p:sp>
        <p:nvSpPr>
          <p:cNvPr id="944" name="Google Shape;944;p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Avina's Insurance Services Inc</a:t>
            </a:r>
            <a:endParaRPr/>
          </a:p>
        </p:txBody>
      </p:sp>
      <p:sp>
        <p:nvSpPr>
          <p:cNvPr id="945" name="Google Shape;945;p9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40</a:t>
            </a:r>
            <a:endParaRPr/>
          </a:p>
        </p:txBody>
      </p:sp>
      <p:sp>
        <p:nvSpPr>
          <p:cNvPr id="946" name="Google Shape;946;p9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47" name="Google Shape;947;p9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48" name="Google Shape;948;p9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949" name="Google Shape;949;p9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Jeff Anderson</a:t>
            </a:r>
            <a:endParaRPr/>
          </a:p>
        </p:txBody>
      </p:sp>
      <p:sp>
        <p:nvSpPr>
          <p:cNvPr id="950" name="Google Shape;950;p9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All Lines Associates, Inc. DBA</a:t>
            </a:r>
            <a:endParaRPr/>
          </a:p>
        </p:txBody>
      </p:sp>
      <p:sp>
        <p:nvSpPr>
          <p:cNvPr id="951" name="Google Shape;951;p9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38</a:t>
            </a:r>
            <a:endParaRPr/>
          </a:p>
        </p:txBody>
      </p:sp>
      <p:sp>
        <p:nvSpPr>
          <p:cNvPr id="952" name="Google Shape;952;p9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53" name="Google Shape;953;p9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54" name="Google Shape;954;p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955" name="Google Shape;955;p9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6" name="Google Shape;956;p9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Randy Rivas</a:t>
            </a:r>
            <a:endParaRPr/>
          </a:p>
        </p:txBody>
      </p:sp>
      <p:sp>
        <p:nvSpPr>
          <p:cNvPr id="957" name="Google Shape;957;p9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Commercial Specialists Insuran</a:t>
            </a:r>
            <a:endParaRPr/>
          </a:p>
        </p:txBody>
      </p:sp>
      <p:sp>
        <p:nvSpPr>
          <p:cNvPr id="958" name="Google Shape;958;p9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37</a:t>
            </a:r>
            <a:endParaRPr/>
          </a:p>
        </p:txBody>
      </p:sp>
      <p:sp>
        <p:nvSpPr>
          <p:cNvPr id="959" name="Google Shape;959;p9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960" name="Google Shape;960;p9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8.1%</a:t>
            </a:r>
            <a:endParaRPr/>
          </a:p>
        </p:txBody>
      </p:sp>
      <p:sp>
        <p:nvSpPr>
          <p:cNvPr id="961" name="Google Shape;961;p9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962" name="Google Shape;962;p9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Arturo Gonzalez</a:t>
            </a:r>
            <a:endParaRPr/>
          </a:p>
        </p:txBody>
      </p:sp>
      <p:sp>
        <p:nvSpPr>
          <p:cNvPr id="963" name="Google Shape;963;p9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Fredrick B. Roberson Insurance</a:t>
            </a:r>
            <a:endParaRPr/>
          </a:p>
        </p:txBody>
      </p:sp>
      <p:sp>
        <p:nvSpPr>
          <p:cNvPr id="964" name="Google Shape;964;p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36</a:t>
            </a:r>
            <a:endParaRPr/>
          </a:p>
        </p:txBody>
      </p:sp>
      <p:sp>
        <p:nvSpPr>
          <p:cNvPr id="965" name="Google Shape;965;p9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966" name="Google Shape;966;p9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19.4%</a:t>
            </a:r>
            <a:endParaRPr/>
          </a:p>
        </p:txBody>
      </p:sp>
      <p:sp>
        <p:nvSpPr>
          <p:cNvPr id="967" name="Google Shape;967;p9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968" name="Google Shape;968;p9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9" name="Google Shape;969;p9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Avleen Sethi</a:t>
            </a:r>
            <a:endParaRPr/>
          </a:p>
        </p:txBody>
      </p:sp>
      <p:sp>
        <p:nvSpPr>
          <p:cNvPr id="970" name="Google Shape;970;p9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Immensity Insurance &amp; Risk Adv</a:t>
            </a:r>
            <a:endParaRPr/>
          </a:p>
        </p:txBody>
      </p:sp>
      <p:sp>
        <p:nvSpPr>
          <p:cNvPr id="971" name="Google Shape;971;p9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</a:t>
            </a:r>
            <a:endParaRPr/>
          </a:p>
        </p:txBody>
      </p:sp>
      <p:sp>
        <p:nvSpPr>
          <p:cNvPr id="972" name="Google Shape;972;p9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73" name="Google Shape;973;p9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74" name="Google Shape;974;p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975" name="Google Shape;975;p9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Raul Millan</a:t>
            </a:r>
            <a:endParaRPr/>
          </a:p>
        </p:txBody>
      </p:sp>
      <p:sp>
        <p:nvSpPr>
          <p:cNvPr id="976" name="Google Shape;976;p9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Millan Group, Inc.</a:t>
            </a:r>
            <a:endParaRPr/>
          </a:p>
        </p:txBody>
      </p:sp>
      <p:sp>
        <p:nvSpPr>
          <p:cNvPr id="977" name="Google Shape;977;p9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</a:t>
            </a:r>
            <a:endParaRPr/>
          </a:p>
        </p:txBody>
      </p:sp>
      <p:sp>
        <p:nvSpPr>
          <p:cNvPr id="978" name="Google Shape;978;p9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79" name="Google Shape;979;p9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3.0%</a:t>
            </a:r>
            <a:endParaRPr/>
          </a:p>
        </p:txBody>
      </p:sp>
      <p:sp>
        <p:nvSpPr>
          <p:cNvPr id="980" name="Google Shape;980;p9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981" name="Google Shape;981;p9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2" name="Google Shape;982;p9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Gerald Cummings II</a:t>
            </a:r>
            <a:endParaRPr/>
          </a:p>
        </p:txBody>
      </p:sp>
      <p:sp>
        <p:nvSpPr>
          <p:cNvPr id="983" name="Google Shape;983;p9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Gerald Cummings &amp; Associates</a:t>
            </a:r>
            <a:endParaRPr/>
          </a:p>
        </p:txBody>
      </p:sp>
      <p:sp>
        <p:nvSpPr>
          <p:cNvPr id="984" name="Google Shape;984;p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</a:t>
            </a:r>
            <a:endParaRPr/>
          </a:p>
        </p:txBody>
      </p:sp>
      <p:sp>
        <p:nvSpPr>
          <p:cNvPr id="985" name="Google Shape;985;p9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86" name="Google Shape;986;p9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87" name="Google Shape;987;p9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988" name="Google Shape;988;p9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Edgar Millan</a:t>
            </a:r>
            <a:endParaRPr/>
          </a:p>
        </p:txBody>
      </p:sp>
      <p:sp>
        <p:nvSpPr>
          <p:cNvPr id="989" name="Google Shape;989;p9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Millan Group, Inc.</a:t>
            </a:r>
            <a:endParaRPr/>
          </a:p>
        </p:txBody>
      </p:sp>
      <p:sp>
        <p:nvSpPr>
          <p:cNvPr id="990" name="Google Shape;990;p9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991" name="Google Shape;991;p9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92" name="Google Shape;992;p9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93" name="Google Shape;993;p9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994" name="Google Shape;994;p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5" name="Google Shape;995;p9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Jacob Cunningham</a:t>
            </a:r>
            <a:endParaRPr/>
          </a:p>
        </p:txBody>
      </p:sp>
      <p:sp>
        <p:nvSpPr>
          <p:cNvPr id="996" name="Google Shape;996;p9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Mustard Seed Financial &amp; Insur</a:t>
            </a:r>
            <a:endParaRPr/>
          </a:p>
        </p:txBody>
      </p:sp>
      <p:sp>
        <p:nvSpPr>
          <p:cNvPr id="997" name="Google Shape;997;p9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</a:t>
            </a:r>
            <a:endParaRPr/>
          </a:p>
        </p:txBody>
      </p:sp>
      <p:sp>
        <p:nvSpPr>
          <p:cNvPr id="998" name="Google Shape;998;p9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99" name="Google Shape;999;p9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4.3%</a:t>
            </a:r>
            <a:endParaRPr/>
          </a:p>
        </p:txBody>
      </p:sp>
      <p:sp>
        <p:nvSpPr>
          <p:cNvPr id="1000" name="Google Shape;1000;p9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1001" name="Google Shape;1001;p9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Vicky Nunez</a:t>
            </a:r>
            <a:endParaRPr/>
          </a:p>
        </p:txBody>
      </p:sp>
      <p:sp>
        <p:nvSpPr>
          <p:cNvPr id="1002" name="Google Shape;1002;p9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Fredrick B. Roberson Insurance</a:t>
            </a:r>
            <a:endParaRPr/>
          </a:p>
        </p:txBody>
      </p:sp>
      <p:sp>
        <p:nvSpPr>
          <p:cNvPr id="1003" name="Google Shape;1003;p9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</a:t>
            </a:r>
            <a:endParaRPr/>
          </a:p>
        </p:txBody>
      </p:sp>
      <p:sp>
        <p:nvSpPr>
          <p:cNvPr id="1004" name="Google Shape;1004;p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05" name="Google Shape;1005;p9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06" name="Google Shape;1006;p9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1007" name="Google Shape;1007;p9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8" name="Google Shape;1008;p9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Cameron Pechia</a:t>
            </a:r>
            <a:endParaRPr/>
          </a:p>
        </p:txBody>
      </p:sp>
      <p:sp>
        <p:nvSpPr>
          <p:cNvPr id="1009" name="Google Shape;1009;p9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All Lines Associates, Inc. DBA</a:t>
            </a:r>
            <a:endParaRPr/>
          </a:p>
        </p:txBody>
      </p:sp>
      <p:sp>
        <p:nvSpPr>
          <p:cNvPr id="1010" name="Google Shape;1010;p9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1011" name="Google Shape;1011;p9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012" name="Google Shape;1012;p9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10.5%</a:t>
            </a:r>
            <a:endParaRPr/>
          </a:p>
        </p:txBody>
      </p:sp>
      <p:sp>
        <p:nvSpPr>
          <p:cNvPr id="1013" name="Google Shape;1013;p9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1014" name="Google Shape;1014;p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Maria Melara</a:t>
            </a:r>
            <a:endParaRPr/>
          </a:p>
        </p:txBody>
      </p:sp>
      <p:sp>
        <p:nvSpPr>
          <p:cNvPr id="1015" name="Google Shape;1015;p9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Maria Candelaria Melara</a:t>
            </a:r>
            <a:endParaRPr/>
          </a:p>
        </p:txBody>
      </p:sp>
      <p:sp>
        <p:nvSpPr>
          <p:cNvPr id="1016" name="Google Shape;1016;p9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1017" name="Google Shape;1017;p9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18" name="Google Shape;1018;p9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19" name="Google Shape;1019;p9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→</a:t>
            </a:r>
            <a:endParaRPr/>
          </a:p>
        </p:txBody>
      </p:sp>
      <p:sp>
        <p:nvSpPr>
          <p:cNvPr id="1020" name="Google Shape;1020;p9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1" name="Google Shape;1021;p9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CONTINUED  —  Ranked 19–36</a:t>
            </a:r>
            <a:endParaRPr/>
          </a:p>
        </p:txBody>
      </p:sp>
      <p:sp>
        <p:nvSpPr>
          <p:cNvPr id="1022" name="Google Shape;1022;p9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Agent Name</a:t>
            </a:r>
            <a:endParaRPr/>
          </a:p>
        </p:txBody>
      </p:sp>
      <p:sp>
        <p:nvSpPr>
          <p:cNvPr id="1023" name="Google Shape;1023;p9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Agency</a:t>
            </a:r>
            <a:endParaRPr/>
          </a:p>
        </p:txBody>
      </p:sp>
      <p:sp>
        <p:nvSpPr>
          <p:cNvPr id="1024" name="Google Shape;1024;p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1025" name="Google Shape;1025;p9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1026" name="Google Shape;1026;p9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%</a:t>
            </a:r>
            <a:endParaRPr/>
          </a:p>
        </p:txBody>
      </p:sp>
      <p:sp>
        <p:nvSpPr>
          <p:cNvPr id="1027" name="Google Shape;1027;p9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MoM</a:t>
            </a:r>
            <a:endParaRPr/>
          </a:p>
        </p:txBody>
      </p:sp>
      <p:sp>
        <p:nvSpPr>
          <p:cNvPr id="1028" name="Google Shape;1028;p9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9" name="Google Shape;1029;p9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0" name="Google Shape;1030;p9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Julian Reyes</a:t>
            </a:r>
            <a:endParaRPr/>
          </a:p>
        </p:txBody>
      </p:sp>
      <p:sp>
        <p:nvSpPr>
          <p:cNvPr id="1031" name="Google Shape;1031;p9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Julian Reyes Insurance Agency </a:t>
            </a:r>
            <a:endParaRPr/>
          </a:p>
        </p:txBody>
      </p:sp>
      <p:sp>
        <p:nvSpPr>
          <p:cNvPr id="1032" name="Google Shape;1032;p9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1033" name="Google Shape;1033;p9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034" name="Google Shape;1034;p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6.2%</a:t>
            </a:r>
            <a:endParaRPr/>
          </a:p>
        </p:txBody>
      </p:sp>
      <p:sp>
        <p:nvSpPr>
          <p:cNvPr id="1035" name="Google Shape;1035;p9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1036" name="Google Shape;1036;p9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Yulia Angel</a:t>
            </a:r>
            <a:endParaRPr/>
          </a:p>
        </p:txBody>
      </p:sp>
      <p:sp>
        <p:nvSpPr>
          <p:cNvPr id="1037" name="Google Shape;1037;p9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Guardian Angel Insurance Servi</a:t>
            </a:r>
            <a:endParaRPr/>
          </a:p>
        </p:txBody>
      </p:sp>
      <p:sp>
        <p:nvSpPr>
          <p:cNvPr id="1038" name="Google Shape;1038;p9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1039" name="Google Shape;1039;p9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40" name="Google Shape;1040;p9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41" name="Google Shape;1041;p9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1042" name="Google Shape;1042;p9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3" name="Google Shape;1043;p9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Roger Pena</a:t>
            </a:r>
            <a:endParaRPr/>
          </a:p>
        </p:txBody>
      </p:sp>
      <p:sp>
        <p:nvSpPr>
          <p:cNvPr id="1044" name="Google Shape;1044;p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Beaver State Insurance Agency </a:t>
            </a:r>
            <a:endParaRPr/>
          </a:p>
        </p:txBody>
      </p:sp>
      <p:sp>
        <p:nvSpPr>
          <p:cNvPr id="1045" name="Google Shape;1045;p9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1046" name="Google Shape;1046;p9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047" name="Google Shape;1047;p9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16.7%</a:t>
            </a:r>
            <a:endParaRPr/>
          </a:p>
        </p:txBody>
      </p:sp>
      <p:sp>
        <p:nvSpPr>
          <p:cNvPr id="1048" name="Google Shape;1048;p9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→</a:t>
            </a:r>
            <a:endParaRPr/>
          </a:p>
        </p:txBody>
      </p:sp>
      <p:sp>
        <p:nvSpPr>
          <p:cNvPr id="1049" name="Google Shape;1049;p9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Carol Robertson</a:t>
            </a:r>
            <a:endParaRPr/>
          </a:p>
        </p:txBody>
      </p:sp>
      <p:sp>
        <p:nvSpPr>
          <p:cNvPr id="1050" name="Google Shape;1050;p9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Jd Fulwiler &amp; Co Insurance</a:t>
            </a:r>
            <a:endParaRPr/>
          </a:p>
        </p:txBody>
      </p:sp>
      <p:sp>
        <p:nvSpPr>
          <p:cNvPr id="1051" name="Google Shape;1051;p9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1052" name="Google Shape;1052;p9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53" name="Google Shape;1053;p9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54" name="Google Shape;1054;p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→</a:t>
            </a:r>
            <a:endParaRPr/>
          </a:p>
        </p:txBody>
      </p:sp>
      <p:sp>
        <p:nvSpPr>
          <p:cNvPr id="1055" name="Google Shape;1055;p9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6" name="Google Shape;1056;p9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Artem Tkachuk</a:t>
            </a:r>
            <a:endParaRPr/>
          </a:p>
        </p:txBody>
      </p:sp>
      <p:sp>
        <p:nvSpPr>
          <p:cNvPr id="1057" name="Google Shape;1057;p9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All Capital Insurance Agency I</a:t>
            </a:r>
            <a:endParaRPr/>
          </a:p>
        </p:txBody>
      </p:sp>
      <p:sp>
        <p:nvSpPr>
          <p:cNvPr id="1058" name="Google Shape;1058;p9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1059" name="Google Shape;1059;p9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60" name="Google Shape;1060;p9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61" name="Google Shape;1061;p9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1062" name="Google Shape;1062;p9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Juanita Dixon</a:t>
            </a:r>
            <a:endParaRPr/>
          </a:p>
        </p:txBody>
      </p:sp>
      <p:sp>
        <p:nvSpPr>
          <p:cNvPr id="1063" name="Google Shape;1063;p9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All Lines Associates, Inc. DBA</a:t>
            </a:r>
            <a:endParaRPr/>
          </a:p>
        </p:txBody>
      </p:sp>
      <p:sp>
        <p:nvSpPr>
          <p:cNvPr id="1064" name="Google Shape;1064;p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1065" name="Google Shape;1065;p9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66" name="Google Shape;1066;p9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67" name="Google Shape;1067;p9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1068" name="Google Shape;1068;p9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9" name="Google Shape;1069;p9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Beth Gonzalez</a:t>
            </a:r>
            <a:endParaRPr/>
          </a:p>
        </p:txBody>
      </p:sp>
      <p:sp>
        <p:nvSpPr>
          <p:cNvPr id="1070" name="Google Shape;1070;p9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WHA Insurance</a:t>
            </a:r>
            <a:endParaRPr/>
          </a:p>
        </p:txBody>
      </p:sp>
      <p:sp>
        <p:nvSpPr>
          <p:cNvPr id="1071" name="Google Shape;1071;p9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1072" name="Google Shape;1072;p9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73" name="Google Shape;1073;p9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74" name="Google Shape;1074;p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1075" name="Google Shape;1075;p9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Salvador Alcala</a:t>
            </a:r>
            <a:endParaRPr/>
          </a:p>
        </p:txBody>
      </p:sp>
      <p:sp>
        <p:nvSpPr>
          <p:cNvPr id="1076" name="Google Shape;1076;p9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Fredrick B. Roberson Insurance</a:t>
            </a:r>
            <a:endParaRPr/>
          </a:p>
        </p:txBody>
      </p:sp>
      <p:sp>
        <p:nvSpPr>
          <p:cNvPr id="1077" name="Google Shape;1077;p9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1078" name="Google Shape;1078;p9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079" name="Google Shape;1079;p9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11.1%</a:t>
            </a:r>
            <a:endParaRPr/>
          </a:p>
        </p:txBody>
      </p:sp>
      <p:sp>
        <p:nvSpPr>
          <p:cNvPr id="1080" name="Google Shape;1080;p9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1081" name="Google Shape;1081;p9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2" name="Google Shape;1082;p9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Stephen Klabo</a:t>
            </a:r>
            <a:endParaRPr/>
          </a:p>
        </p:txBody>
      </p:sp>
      <p:sp>
        <p:nvSpPr>
          <p:cNvPr id="1083" name="Google Shape;1083;p9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WHA Insurance</a:t>
            </a:r>
            <a:endParaRPr/>
          </a:p>
        </p:txBody>
      </p:sp>
      <p:sp>
        <p:nvSpPr>
          <p:cNvPr id="1084" name="Google Shape;1084;p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1085" name="Google Shape;1085;p9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86" name="Google Shape;1086;p9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87" name="Google Shape;1087;p9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1088" name="Google Shape;1088;p9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Leticia Mendoza</a:t>
            </a:r>
            <a:endParaRPr/>
          </a:p>
        </p:txBody>
      </p:sp>
      <p:sp>
        <p:nvSpPr>
          <p:cNvPr id="1089" name="Google Shape;1089;p9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Rva Insurance Agency Inc</a:t>
            </a:r>
            <a:endParaRPr/>
          </a:p>
        </p:txBody>
      </p:sp>
      <p:sp>
        <p:nvSpPr>
          <p:cNvPr id="1090" name="Google Shape;1090;p9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1091" name="Google Shape;1091;p9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92" name="Google Shape;1092;p9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93" name="Google Shape;1093;p9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1094" name="Google Shape;1094;p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5" name="Google Shape;1095;p9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Rachael Huston</a:t>
            </a:r>
            <a:endParaRPr/>
          </a:p>
        </p:txBody>
      </p:sp>
      <p:sp>
        <p:nvSpPr>
          <p:cNvPr id="1096" name="Google Shape;1096;p9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Fredrick B. Roberson Insurance</a:t>
            </a:r>
            <a:endParaRPr/>
          </a:p>
        </p:txBody>
      </p:sp>
      <p:sp>
        <p:nvSpPr>
          <p:cNvPr id="1097" name="Google Shape;1097;p9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1098" name="Google Shape;1098;p9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99" name="Google Shape;1099;p9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100" name="Google Shape;1100;p9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1101" name="Google Shape;1101;p9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Cynthia Neal</a:t>
            </a:r>
            <a:endParaRPr/>
          </a:p>
        </p:txBody>
      </p:sp>
      <p:sp>
        <p:nvSpPr>
          <p:cNvPr id="1102" name="Google Shape;1102;p9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NEAL'S INSURANCE SERVICES</a:t>
            </a:r>
            <a:endParaRPr/>
          </a:p>
        </p:txBody>
      </p:sp>
      <p:sp>
        <p:nvSpPr>
          <p:cNvPr id="1103" name="Google Shape;1103;p9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1104" name="Google Shape;1104;p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105" name="Google Shape;1105;p9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12.5%</a:t>
            </a:r>
            <a:endParaRPr/>
          </a:p>
        </p:txBody>
      </p:sp>
      <p:sp>
        <p:nvSpPr>
          <p:cNvPr id="1106" name="Google Shape;1106;p9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1107" name="Google Shape;1107;p9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8" name="Google Shape;1108;p9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Pettina Sams</a:t>
            </a:r>
            <a:endParaRPr/>
          </a:p>
        </p:txBody>
      </p:sp>
      <p:sp>
        <p:nvSpPr>
          <p:cNvPr id="1109" name="Google Shape;1109;p9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WHA Insurance</a:t>
            </a:r>
            <a:endParaRPr/>
          </a:p>
        </p:txBody>
      </p:sp>
      <p:sp>
        <p:nvSpPr>
          <p:cNvPr id="1110" name="Google Shape;1110;p9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1111" name="Google Shape;1111;p9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112" name="Google Shape;1112;p9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113" name="Google Shape;1113;p9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1114" name="Google Shape;1114;p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Sabrina Cornejo</a:t>
            </a:r>
            <a:endParaRPr/>
          </a:p>
        </p:txBody>
      </p:sp>
      <p:sp>
        <p:nvSpPr>
          <p:cNvPr id="1115" name="Google Shape;1115;p9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Genesis Truck Insurance Servic</a:t>
            </a:r>
            <a:endParaRPr/>
          </a:p>
        </p:txBody>
      </p:sp>
      <p:sp>
        <p:nvSpPr>
          <p:cNvPr id="1116" name="Google Shape;1116;p9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1117" name="Google Shape;1117;p9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118" name="Google Shape;1118;p9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119" name="Google Shape;1119;p9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→</a:t>
            </a:r>
            <a:endParaRPr/>
          </a:p>
        </p:txBody>
      </p:sp>
      <p:sp>
        <p:nvSpPr>
          <p:cNvPr id="1120" name="Google Shape;1120;p9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1" name="Google Shape;1121;p9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Jacob Wilcox</a:t>
            </a:r>
            <a:endParaRPr/>
          </a:p>
        </p:txBody>
      </p:sp>
      <p:sp>
        <p:nvSpPr>
          <p:cNvPr id="1122" name="Google Shape;1122;p9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Mustard Seed Financial &amp; Insur</a:t>
            </a:r>
            <a:endParaRPr/>
          </a:p>
        </p:txBody>
      </p:sp>
      <p:sp>
        <p:nvSpPr>
          <p:cNvPr id="1123" name="Google Shape;1123;p9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1124" name="Google Shape;1124;p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125" name="Google Shape;1125;p9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126" name="Google Shape;1126;p9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1127" name="Google Shape;1127;p9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Daniel Thomas</a:t>
            </a:r>
            <a:endParaRPr/>
          </a:p>
        </p:txBody>
      </p:sp>
      <p:sp>
        <p:nvSpPr>
          <p:cNvPr id="1128" name="Google Shape;1128;p9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Omega Insurance Service</a:t>
            </a:r>
            <a:endParaRPr/>
          </a:p>
        </p:txBody>
      </p:sp>
      <p:sp>
        <p:nvSpPr>
          <p:cNvPr id="1129" name="Google Shape;1129;p9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1130" name="Google Shape;1130;p9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131" name="Google Shape;1131;p9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28.6%</a:t>
            </a:r>
            <a:endParaRPr/>
          </a:p>
        </p:txBody>
      </p:sp>
      <p:sp>
        <p:nvSpPr>
          <p:cNvPr id="1132" name="Google Shape;1132;p9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1133" name="Google Shape;1133;p9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4" name="Google Shape;1134;p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Cameron Crawley</a:t>
            </a:r>
            <a:endParaRPr/>
          </a:p>
        </p:txBody>
      </p:sp>
      <p:sp>
        <p:nvSpPr>
          <p:cNvPr id="1135" name="Google Shape;1135;p9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WHA Insurance</a:t>
            </a:r>
            <a:endParaRPr/>
          </a:p>
        </p:txBody>
      </p:sp>
      <p:sp>
        <p:nvSpPr>
          <p:cNvPr id="1136" name="Google Shape;1136;p9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1137" name="Google Shape;1137;p9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138" name="Google Shape;1138;p9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139" name="Google Shape;1139;p9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→</a:t>
            </a:r>
            <a:endParaRPr/>
          </a:p>
        </p:txBody>
      </p:sp>
      <p:sp>
        <p:nvSpPr>
          <p:cNvPr id="1140" name="Google Shape;1140;p9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Kaleena Adams</a:t>
            </a:r>
            <a:endParaRPr/>
          </a:p>
        </p:txBody>
      </p:sp>
      <p:sp>
        <p:nvSpPr>
          <p:cNvPr id="1141" name="Google Shape;1141;p9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Fredrick B. Roberson Insurance</a:t>
            </a:r>
            <a:endParaRPr/>
          </a:p>
        </p:txBody>
      </p:sp>
      <p:sp>
        <p:nvSpPr>
          <p:cNvPr id="1142" name="Google Shape;1142;p9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1143" name="Google Shape;1143;p9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144" name="Google Shape;1144;p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145" name="Google Shape;1145;p9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1146" name="Google Shape;1146;p9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Source: Metabase  |  Agent = broker_contact_user_id on submission record  |  Hit ratio = binds / subs  |  MoM = month-over-month  |  2 subs had no agent mapped (broker_contact_user_id not set)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150" name="Shape 1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1" name="Google Shape;1151;p1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2" name="Google Shape;1152;p10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Top Performers vs Underperformers</a:t>
            </a:r>
            <a:endParaRPr/>
          </a:p>
        </p:txBody>
      </p:sp>
      <p:sp>
        <p:nvSpPr>
          <p:cNvPr id="1153" name="Google Shape;1153;p10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Jan–May 2026  |  Standouts and agencies needing attention</a:t>
            </a:r>
            <a:endParaRPr/>
          </a:p>
        </p:txBody>
      </p:sp>
      <p:sp>
        <p:nvSpPr>
          <p:cNvPr id="1154" name="Google Shape;1154;p10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5" name="Google Shape;1155;p10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EXCEEDING — Top 5</a:t>
            </a:r>
            <a:endParaRPr/>
          </a:p>
        </p:txBody>
      </p:sp>
      <p:sp>
        <p:nvSpPr>
          <p:cNvPr id="1156" name="Google Shape;1156;p10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7" name="Google Shape;1157;p10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 — Bottom 5</a:t>
            </a:r>
            <a:endParaRPr/>
          </a:p>
        </p:txBody>
      </p:sp>
      <p:sp>
        <p:nvSpPr>
          <p:cNvPr id="1158" name="Google Shape;1158;p10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/>
          </a:p>
        </p:txBody>
      </p:sp>
      <p:sp>
        <p:nvSpPr>
          <p:cNvPr id="1159" name="Google Shape;1159;p10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Genesis Truck Insurance Services Inc</a:t>
            </a:r>
            <a:endParaRPr/>
          </a:p>
        </p:txBody>
      </p:sp>
      <p:sp>
        <p:nvSpPr>
          <p:cNvPr id="1160" name="Google Shape;1160;p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 $0  |  Subs 9  |  Binds 0  |  HR 0.0%</a:t>
            </a:r>
            <a:endParaRPr/>
          </a:p>
        </p:txBody>
      </p:sp>
      <p:sp>
        <p:nvSpPr>
          <p:cNvPr id="1161" name="Google Shape;1161;p10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 volume up 700% MoM</a:t>
            </a:r>
            <a:endParaRPr/>
          </a:p>
        </p:txBody>
      </p:sp>
      <p:sp>
        <p:nvSpPr>
          <p:cNvPr id="1162" name="Google Shape;1162;p10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/>
          </a:p>
        </p:txBody>
      </p:sp>
      <p:sp>
        <p:nvSpPr>
          <p:cNvPr id="1163" name="Google Shape;1163;p10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360 Risk Partners Insurance Solutions, Inc</a:t>
            </a:r>
            <a:endParaRPr/>
          </a:p>
        </p:txBody>
      </p:sp>
      <p:sp>
        <p:nvSpPr>
          <p:cNvPr id="1164" name="Google Shape;1164;p10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 $290,447  |  Subs 132  |  Binds 9  |  HR 6.8%</a:t>
            </a:r>
            <a:endParaRPr/>
          </a:p>
        </p:txBody>
      </p:sp>
      <p:sp>
        <p:nvSpPr>
          <p:cNvPr id="1165" name="Google Shape;1165;p10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 6.8% (portfolio avg: 3.3%)  |  $290,447 YTD GWP</a:t>
            </a:r>
            <a:endParaRPr/>
          </a:p>
        </p:txBody>
      </p:sp>
      <p:sp>
        <p:nvSpPr>
          <p:cNvPr id="1166" name="Google Shape;1166;p10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/>
          </a:p>
        </p:txBody>
      </p:sp>
      <p:sp>
        <p:nvSpPr>
          <p:cNvPr id="1167" name="Google Shape;1167;p10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Fredrick B. Roberson Insurance Services, I</a:t>
            </a:r>
            <a:endParaRPr/>
          </a:p>
        </p:txBody>
      </p:sp>
      <p:sp>
        <p:nvSpPr>
          <p:cNvPr id="1168" name="Google Shape;1168;p10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 $241,087  |  Subs 141  |  Binds 8  |  HR 5.7%</a:t>
            </a:r>
            <a:endParaRPr/>
          </a:p>
        </p:txBody>
      </p:sp>
      <p:sp>
        <p:nvSpPr>
          <p:cNvPr id="1169" name="Google Shape;1169;p10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 5.7% (portfolio avg: 3.3%)  |  $241,087 YTD GWP</a:t>
            </a:r>
            <a:endParaRPr/>
          </a:p>
        </p:txBody>
      </p:sp>
      <p:sp>
        <p:nvSpPr>
          <p:cNvPr id="1170" name="Google Shape;1170;p1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/>
          </a:p>
        </p:txBody>
      </p:sp>
      <p:sp>
        <p:nvSpPr>
          <p:cNvPr id="1171" name="Google Shape;1171;p10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Omega Insurance Service</a:t>
            </a:r>
            <a:endParaRPr/>
          </a:p>
        </p:txBody>
      </p:sp>
      <p:sp>
        <p:nvSpPr>
          <p:cNvPr id="1172" name="Google Shape;1172;p10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 $41,015  |  Subs 7  |  Binds 2  |  HR 28.6%</a:t>
            </a:r>
            <a:endParaRPr/>
          </a:p>
        </p:txBody>
      </p:sp>
      <p:sp>
        <p:nvSpPr>
          <p:cNvPr id="1173" name="Google Shape;1173;p10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 28.6% (portfolio avg: 3.3%)  |  $26,723 in new business</a:t>
            </a:r>
            <a:endParaRPr/>
          </a:p>
        </p:txBody>
      </p:sp>
      <p:sp>
        <p:nvSpPr>
          <p:cNvPr id="1174" name="Google Shape;1174;p10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/>
          </a:p>
        </p:txBody>
      </p:sp>
      <p:sp>
        <p:nvSpPr>
          <p:cNvPr id="1175" name="Google Shape;1175;p10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Commercial Specialists Insurance Services,</a:t>
            </a:r>
            <a:endParaRPr/>
          </a:p>
        </p:txBody>
      </p:sp>
      <p:sp>
        <p:nvSpPr>
          <p:cNvPr id="1176" name="Google Shape;1176;p10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 $140,857  |  Subs 37  |  Binds 3  |  HR 8.1%</a:t>
            </a:r>
            <a:endParaRPr/>
          </a:p>
        </p:txBody>
      </p:sp>
      <p:sp>
        <p:nvSpPr>
          <p:cNvPr id="1177" name="Google Shape;1177;p10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 8.1% (portfolio avg: 3.3%)  |  $140,857 YTD GWP</a:t>
            </a:r>
            <a:endParaRPr/>
          </a:p>
        </p:txBody>
      </p:sp>
      <p:sp>
        <p:nvSpPr>
          <p:cNvPr id="1178" name="Google Shape;1178;p10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/>
          </a:p>
        </p:txBody>
      </p:sp>
      <p:sp>
        <p:nvSpPr>
          <p:cNvPr id="1179" name="Google Shape;1179;p10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WHA Insurance</a:t>
            </a:r>
            <a:endParaRPr/>
          </a:p>
        </p:txBody>
      </p:sp>
      <p:sp>
        <p:nvSpPr>
          <p:cNvPr id="1180" name="Google Shape;1180;p1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 $0  |  Subs 46  |  Binds 0  |  HR 0.0%</a:t>
            </a:r>
            <a:endParaRPr/>
          </a:p>
        </p:txBody>
      </p:sp>
      <p:sp>
        <p:nvSpPr>
          <p:cNvPr id="1181" name="Google Shape;1181;p10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46 submissions with 0 binds - zero conversion  |  Submissions dropped 70% MoM (23 -&gt; 7)</a:t>
            </a:r>
            <a:endParaRPr/>
          </a:p>
        </p:txBody>
      </p:sp>
      <p:sp>
        <p:nvSpPr>
          <p:cNvPr id="1182" name="Google Shape;1182;p10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/>
          </a:p>
        </p:txBody>
      </p:sp>
      <p:sp>
        <p:nvSpPr>
          <p:cNvPr id="1183" name="Google Shape;1183;p10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Avina's Insurance Services Inc.</a:t>
            </a:r>
            <a:endParaRPr/>
          </a:p>
        </p:txBody>
      </p:sp>
      <p:sp>
        <p:nvSpPr>
          <p:cNvPr id="1184" name="Google Shape;1184;p10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 $0  |  Subs 40  |  Binds 0  |  HR 0.0%</a:t>
            </a:r>
            <a:endParaRPr/>
          </a:p>
        </p:txBody>
      </p:sp>
      <p:sp>
        <p:nvSpPr>
          <p:cNvPr id="1185" name="Google Shape;1185;p10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40 submissions with 0 binds - zero conversion  |  32 quotes generated but 0 converted to binds</a:t>
            </a:r>
            <a:endParaRPr/>
          </a:p>
        </p:txBody>
      </p:sp>
      <p:sp>
        <p:nvSpPr>
          <p:cNvPr id="1186" name="Google Shape;1186;p10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/>
          </a:p>
        </p:txBody>
      </p:sp>
      <p:sp>
        <p:nvSpPr>
          <p:cNvPr id="1187" name="Google Shape;1187;p10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Immensity Insurance &amp; Risk Advisors Llc</a:t>
            </a:r>
            <a:endParaRPr/>
          </a:p>
        </p:txBody>
      </p:sp>
      <p:sp>
        <p:nvSpPr>
          <p:cNvPr id="1188" name="Google Shape;1188;p10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 $0  |  Subs 35  |  Binds 0  |  HR 0.0%</a:t>
            </a:r>
            <a:endParaRPr/>
          </a:p>
        </p:txBody>
      </p:sp>
      <p:sp>
        <p:nvSpPr>
          <p:cNvPr id="1189" name="Google Shape;1189;p10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 submissions with 0 binds - zero conversion  |  Submissions dropped 71% MoM (17 -&gt; 5)</a:t>
            </a:r>
            <a:endParaRPr/>
          </a:p>
        </p:txBody>
      </p:sp>
      <p:sp>
        <p:nvSpPr>
          <p:cNvPr id="1190" name="Google Shape;1190;p1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/>
          </a:p>
        </p:txBody>
      </p:sp>
      <p:sp>
        <p:nvSpPr>
          <p:cNvPr id="1191" name="Google Shape;1191;p10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Gerald Cummings &amp; Associates</a:t>
            </a:r>
            <a:endParaRPr/>
          </a:p>
        </p:txBody>
      </p:sp>
      <p:sp>
        <p:nvSpPr>
          <p:cNvPr id="1192" name="Google Shape;1192;p10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 $0  |  Subs 30  |  Binds 0  |  HR 0.0%</a:t>
            </a:r>
            <a:endParaRPr/>
          </a:p>
        </p:txBody>
      </p:sp>
      <p:sp>
        <p:nvSpPr>
          <p:cNvPr id="1193" name="Google Shape;1193;p10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 submissions with 0 binds - zero conversion  |  19 quotes generated but 0 converted to binds</a:t>
            </a:r>
            <a:endParaRPr/>
          </a:p>
        </p:txBody>
      </p:sp>
      <p:sp>
        <p:nvSpPr>
          <p:cNvPr id="1194" name="Google Shape;1194;p10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/>
          </a:p>
        </p:txBody>
      </p:sp>
      <p:sp>
        <p:nvSpPr>
          <p:cNvPr id="1195" name="Google Shape;1195;p10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Millan Group, Inc.</a:t>
            </a:r>
            <a:endParaRPr/>
          </a:p>
        </p:txBody>
      </p:sp>
      <p:sp>
        <p:nvSpPr>
          <p:cNvPr id="1196" name="Google Shape;1196;p10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 $205,400  |  Subs 57  |  Binds 1  |  HR 1.8%</a:t>
            </a:r>
            <a:endParaRPr/>
          </a:p>
        </p:txBody>
      </p:sp>
      <p:sp>
        <p:nvSpPr>
          <p:cNvPr id="1197" name="Google Shape;1197;p10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 only 1.8% on 57 subs  |  Cancellations are 90% of new business ($184,861 vs $205,561)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01" name="Shape 1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2" name="Google Shape;1202;p1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3" name="Google Shape;1203;p11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Newly Appointed in My Portfolio — Taylor Sloan</a:t>
            </a:r>
            <a:endParaRPr/>
          </a:p>
        </p:txBody>
      </p:sp>
      <p:sp>
        <p:nvSpPr>
          <p:cNvPr id="1204" name="Google Shape;1204;p11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Agencies assigned to this BDA for onboarding in 2026  |  Production metrics since assignment date</a:t>
            </a:r>
            <a:endParaRPr/>
          </a:p>
        </p:txBody>
      </p:sp>
      <p:sp>
        <p:nvSpPr>
          <p:cNvPr id="1205" name="Google Shape;1205;p11"/>
          <p:cNvSpPr/>
          <p:nvPr/>
        </p:nvSpPr>
        <p:spPr>
          <a:xfrm>
            <a:off x="36576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APPOINTED YTD</a:t>
            </a:r>
            <a:endParaRPr/>
          </a:p>
        </p:txBody>
      </p:sp>
      <p:sp>
        <p:nvSpPr>
          <p:cNvPr id="1206" name="Google Shape;1206;p11"/>
          <p:cNvSpPr/>
          <p:nvPr/>
        </p:nvSpPr>
        <p:spPr>
          <a:xfrm>
            <a:off x="274320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APPOINTED Q2</a:t>
            </a:r>
            <a:endParaRPr/>
          </a:p>
        </p:txBody>
      </p:sp>
      <p:sp>
        <p:nvSpPr>
          <p:cNvPr id="1207" name="Google Shape;1207;p11"/>
          <p:cNvSpPr/>
          <p:nvPr/>
        </p:nvSpPr>
        <p:spPr>
          <a:xfrm>
            <a:off x="512064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38d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AVG TIME TO 1ST SUB</a:t>
            </a:r>
            <a:endParaRPr/>
          </a:p>
        </p:txBody>
      </p:sp>
      <p:sp>
        <p:nvSpPr>
          <p:cNvPr id="1208" name="Google Shape;1208;p11"/>
          <p:cNvSpPr/>
          <p:nvPr/>
        </p:nvSpPr>
        <p:spPr>
          <a:xfrm>
            <a:off x="7498079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AVG TIME TO 1ST BIND</a:t>
            </a:r>
            <a:endParaRPr/>
          </a:p>
        </p:txBody>
      </p:sp>
      <p:sp>
        <p:nvSpPr>
          <p:cNvPr id="1209" name="Google Shape;1209;p11"/>
          <p:cNvSpPr/>
          <p:nvPr/>
        </p:nvSpPr>
        <p:spPr>
          <a:xfrm>
            <a:off x="987552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SUBS POST-APPT</a:t>
            </a:r>
            <a:endParaRPr/>
          </a:p>
        </p:txBody>
      </p:sp>
      <p:sp>
        <p:nvSpPr>
          <p:cNvPr id="1210" name="Google Shape;1210;p11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Activation: 4/4 appointed agencies have submitted (100%)  •  0/4 have bound (0%)  •  Total bound: 0  •  Total GWP: $0</a:t>
            </a:r>
            <a:endParaRPr/>
          </a:p>
        </p:txBody>
      </p:sp>
      <p:sp>
        <p:nvSpPr>
          <p:cNvPr id="1211" name="Google Shape;1211;p11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2" name="Google Shape;1212;p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APPOINTED AGENCIES (newest first)</a:t>
            </a:r>
            <a:endParaRPr/>
          </a:p>
        </p:txBody>
      </p:sp>
      <p:sp>
        <p:nvSpPr>
          <p:cNvPr id="1213" name="Google Shape;1213;p11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Agency</a:t>
            </a:r>
            <a:endParaRPr/>
          </a:p>
        </p:txBody>
      </p:sp>
      <p:sp>
        <p:nvSpPr>
          <p:cNvPr id="1214" name="Google Shape;1214;p11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Appointed</a:t>
            </a:r>
            <a:endParaRPr/>
          </a:p>
        </p:txBody>
      </p:sp>
      <p:sp>
        <p:nvSpPr>
          <p:cNvPr id="1215" name="Google Shape;1215;p11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1216" name="Google Shape;1216;p11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Days to 1st Sub</a:t>
            </a:r>
            <a:endParaRPr/>
          </a:p>
        </p:txBody>
      </p:sp>
      <p:sp>
        <p:nvSpPr>
          <p:cNvPr id="1217" name="Google Shape;1217;p11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1218" name="Google Shape;1218;p11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Days to 1st Bind</a:t>
            </a:r>
            <a:endParaRPr/>
          </a:p>
        </p:txBody>
      </p:sp>
      <p:sp>
        <p:nvSpPr>
          <p:cNvPr id="1219" name="Google Shape;1219;p11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</a:t>
            </a:r>
            <a:endParaRPr/>
          </a:p>
        </p:txBody>
      </p:sp>
      <p:sp>
        <p:nvSpPr>
          <p:cNvPr id="1220" name="Google Shape;1220;p11"/>
          <p:cNvSpPr/>
          <p:nvPr/>
        </p:nvSpPr>
        <p:spPr>
          <a:xfrm>
            <a:off x="365760" y="2880360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1" name="Google Shape;1221;p11"/>
          <p:cNvSpPr txBox="1"/>
          <p:nvPr/>
        </p:nvSpPr>
        <p:spPr>
          <a:xfrm>
            <a:off x="365760" y="2916936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Maria Candelaria Melara</a:t>
            </a:r>
            <a:endParaRPr/>
          </a:p>
        </p:txBody>
      </p:sp>
      <p:sp>
        <p:nvSpPr>
          <p:cNvPr id="1222" name="Google Shape;1222;p11"/>
          <p:cNvSpPr txBox="1"/>
          <p:nvPr/>
        </p:nvSpPr>
        <p:spPr>
          <a:xfrm>
            <a:off x="3657600" y="2916936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2026-04-20</a:t>
            </a:r>
            <a:endParaRPr/>
          </a:p>
        </p:txBody>
      </p:sp>
      <p:sp>
        <p:nvSpPr>
          <p:cNvPr id="1223" name="Google Shape;1223;p11"/>
          <p:cNvSpPr txBox="1"/>
          <p:nvPr/>
        </p:nvSpPr>
        <p:spPr>
          <a:xfrm>
            <a:off x="4754880" y="2916936"/>
            <a:ext cx="868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1224" name="Google Shape;1224;p11"/>
          <p:cNvSpPr txBox="1"/>
          <p:nvPr/>
        </p:nvSpPr>
        <p:spPr>
          <a:xfrm>
            <a:off x="5623560" y="2916936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10d</a:t>
            </a:r>
            <a:endParaRPr/>
          </a:p>
        </p:txBody>
      </p:sp>
      <p:sp>
        <p:nvSpPr>
          <p:cNvPr id="1225" name="Google Shape;1225;p11"/>
          <p:cNvSpPr txBox="1"/>
          <p:nvPr/>
        </p:nvSpPr>
        <p:spPr>
          <a:xfrm>
            <a:off x="6903720" y="2916936"/>
            <a:ext cx="868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226" name="Google Shape;1226;p11"/>
          <p:cNvSpPr txBox="1"/>
          <p:nvPr/>
        </p:nvSpPr>
        <p:spPr>
          <a:xfrm>
            <a:off x="7772400" y="2916936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1227" name="Google Shape;1227;p11"/>
          <p:cNvSpPr txBox="1"/>
          <p:nvPr/>
        </p:nvSpPr>
        <p:spPr>
          <a:xfrm>
            <a:off x="9144000" y="2916936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1228" name="Google Shape;1228;p11"/>
          <p:cNvSpPr txBox="1"/>
          <p:nvPr/>
        </p:nvSpPr>
        <p:spPr>
          <a:xfrm>
            <a:off x="365760" y="3227832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Genesis Truck Insurance Services Inc</a:t>
            </a:r>
            <a:endParaRPr/>
          </a:p>
        </p:txBody>
      </p:sp>
      <p:sp>
        <p:nvSpPr>
          <p:cNvPr id="1229" name="Google Shape;1229;p11"/>
          <p:cNvSpPr txBox="1"/>
          <p:nvPr/>
        </p:nvSpPr>
        <p:spPr>
          <a:xfrm>
            <a:off x="3657600" y="3227832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2026-02-25</a:t>
            </a:r>
            <a:endParaRPr/>
          </a:p>
        </p:txBody>
      </p:sp>
      <p:sp>
        <p:nvSpPr>
          <p:cNvPr id="1230" name="Google Shape;1230;p11"/>
          <p:cNvSpPr txBox="1"/>
          <p:nvPr/>
        </p:nvSpPr>
        <p:spPr>
          <a:xfrm>
            <a:off x="4754880" y="3227832"/>
            <a:ext cx="868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1231" name="Google Shape;1231;p11"/>
          <p:cNvSpPr txBox="1"/>
          <p:nvPr/>
        </p:nvSpPr>
        <p:spPr>
          <a:xfrm>
            <a:off x="5623560" y="3227832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54d</a:t>
            </a:r>
            <a:endParaRPr/>
          </a:p>
        </p:txBody>
      </p:sp>
      <p:sp>
        <p:nvSpPr>
          <p:cNvPr id="1232" name="Google Shape;1232;p11"/>
          <p:cNvSpPr txBox="1"/>
          <p:nvPr/>
        </p:nvSpPr>
        <p:spPr>
          <a:xfrm>
            <a:off x="6903720" y="3227832"/>
            <a:ext cx="868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233" name="Google Shape;1233;p11"/>
          <p:cNvSpPr txBox="1"/>
          <p:nvPr/>
        </p:nvSpPr>
        <p:spPr>
          <a:xfrm>
            <a:off x="7772400" y="3227832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1234" name="Google Shape;1234;p11"/>
          <p:cNvSpPr txBox="1"/>
          <p:nvPr/>
        </p:nvSpPr>
        <p:spPr>
          <a:xfrm>
            <a:off x="9144000" y="3227832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1235" name="Google Shape;1235;p11"/>
          <p:cNvSpPr/>
          <p:nvPr/>
        </p:nvSpPr>
        <p:spPr>
          <a:xfrm>
            <a:off x="365760" y="3502151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6" name="Google Shape;1236;p11"/>
          <p:cNvSpPr txBox="1"/>
          <p:nvPr/>
        </p:nvSpPr>
        <p:spPr>
          <a:xfrm>
            <a:off x="365760" y="3538727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Rva Insurance Agency Inc</a:t>
            </a:r>
            <a:endParaRPr/>
          </a:p>
        </p:txBody>
      </p:sp>
      <p:sp>
        <p:nvSpPr>
          <p:cNvPr id="1237" name="Google Shape;1237;p11"/>
          <p:cNvSpPr txBox="1"/>
          <p:nvPr/>
        </p:nvSpPr>
        <p:spPr>
          <a:xfrm>
            <a:off x="3657600" y="3538727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2026-02-23</a:t>
            </a:r>
            <a:endParaRPr/>
          </a:p>
        </p:txBody>
      </p:sp>
      <p:sp>
        <p:nvSpPr>
          <p:cNvPr id="1238" name="Google Shape;1238;p11"/>
          <p:cNvSpPr txBox="1"/>
          <p:nvPr/>
        </p:nvSpPr>
        <p:spPr>
          <a:xfrm>
            <a:off x="4754880" y="3538727"/>
            <a:ext cx="868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1239" name="Google Shape;1239;p11"/>
          <p:cNvSpPr txBox="1"/>
          <p:nvPr/>
        </p:nvSpPr>
        <p:spPr>
          <a:xfrm>
            <a:off x="5623560" y="3538727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21d</a:t>
            </a:r>
            <a:endParaRPr/>
          </a:p>
        </p:txBody>
      </p:sp>
      <p:sp>
        <p:nvSpPr>
          <p:cNvPr id="1240" name="Google Shape;1240;p11"/>
          <p:cNvSpPr txBox="1"/>
          <p:nvPr/>
        </p:nvSpPr>
        <p:spPr>
          <a:xfrm>
            <a:off x="6903720" y="3538727"/>
            <a:ext cx="868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241" name="Google Shape;1241;p11"/>
          <p:cNvSpPr txBox="1"/>
          <p:nvPr/>
        </p:nvSpPr>
        <p:spPr>
          <a:xfrm>
            <a:off x="7772400" y="3538727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1242" name="Google Shape;1242;p11"/>
          <p:cNvSpPr txBox="1"/>
          <p:nvPr/>
        </p:nvSpPr>
        <p:spPr>
          <a:xfrm>
            <a:off x="9144000" y="3538727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1243" name="Google Shape;1243;p11"/>
          <p:cNvSpPr txBox="1"/>
          <p:nvPr/>
        </p:nvSpPr>
        <p:spPr>
          <a:xfrm>
            <a:off x="365760" y="3849624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Immensity Insurance &amp; Risk Advisors Llc</a:t>
            </a:r>
            <a:endParaRPr/>
          </a:p>
        </p:txBody>
      </p:sp>
      <p:sp>
        <p:nvSpPr>
          <p:cNvPr id="1244" name="Google Shape;1244;p11"/>
          <p:cNvSpPr txBox="1"/>
          <p:nvPr/>
        </p:nvSpPr>
        <p:spPr>
          <a:xfrm>
            <a:off x="3657600" y="3849624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2026-01-09</a:t>
            </a:r>
            <a:endParaRPr/>
          </a:p>
        </p:txBody>
      </p:sp>
      <p:sp>
        <p:nvSpPr>
          <p:cNvPr id="1245" name="Google Shape;1245;p11"/>
          <p:cNvSpPr txBox="1"/>
          <p:nvPr/>
        </p:nvSpPr>
        <p:spPr>
          <a:xfrm>
            <a:off x="4754880" y="3849624"/>
            <a:ext cx="868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</a:t>
            </a:r>
            <a:endParaRPr/>
          </a:p>
        </p:txBody>
      </p:sp>
      <p:sp>
        <p:nvSpPr>
          <p:cNvPr id="1246" name="Google Shape;1246;p11"/>
          <p:cNvSpPr txBox="1"/>
          <p:nvPr/>
        </p:nvSpPr>
        <p:spPr>
          <a:xfrm>
            <a:off x="5623560" y="3849624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66d</a:t>
            </a:r>
            <a:endParaRPr/>
          </a:p>
        </p:txBody>
      </p:sp>
      <p:sp>
        <p:nvSpPr>
          <p:cNvPr id="1247" name="Google Shape;1247;p11"/>
          <p:cNvSpPr txBox="1"/>
          <p:nvPr/>
        </p:nvSpPr>
        <p:spPr>
          <a:xfrm>
            <a:off x="6903720" y="3849624"/>
            <a:ext cx="868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248" name="Google Shape;1248;p11"/>
          <p:cNvSpPr txBox="1"/>
          <p:nvPr/>
        </p:nvSpPr>
        <p:spPr>
          <a:xfrm>
            <a:off x="7772400" y="3849624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1249" name="Google Shape;1249;p11"/>
          <p:cNvSpPr txBox="1"/>
          <p:nvPr/>
        </p:nvSpPr>
        <p:spPr>
          <a:xfrm>
            <a:off x="9144000" y="3849624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1250" name="Google Shape;1250;p11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Source: HubSpot company records where onboarding_success_agent = Taylor Sloan and createdate is within 2026 (= newly assigned to this BDA for onboarding). Metrics are subs/binds/GWP on each agency since their assignment date. BDAs not scored on OKR 4 — informational only.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54" name="Shape 1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5" name="Google Shape;1255;p1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6" name="Google Shape;1256;p1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Assessment &amp; Priorities</a:t>
            </a:r>
            <a:endParaRPr/>
          </a:p>
        </p:txBody>
      </p:sp>
      <p:sp>
        <p:nvSpPr>
          <p:cNvPr id="1257" name="Google Shape;1257;p12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Taylor Sloan Portfolio  |  Jan–May 2026  |  Strengths, gaps, and ranked action items</a:t>
            </a:r>
            <a:endParaRPr/>
          </a:p>
        </p:txBody>
      </p:sp>
      <p:sp>
        <p:nvSpPr>
          <p:cNvPr id="1258" name="Google Shape;1258;p12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9" name="Google Shape;1259;p12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1260" name="Google Shape;1260;p12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1261" name="Google Shape;1261;p12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Top 3 (360 Risk Partners Insuran, Fredrick B. Roberson Insu, Millan Group, Inc.) drive $736,935 (61%) of portfolio YTD GWP</a:t>
            </a:r>
            <a:endParaRPr/>
          </a:p>
        </p:txBody>
      </p:sp>
      <p:sp>
        <p:nvSpPr>
          <p:cNvPr id="1262" name="Google Shape;1262;p12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1263" name="Google Shape;1263;p12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Strong hit ratios: Omega Insurance Serv (28.6%), Beaver State Insuran (16.7%), Silicon Valley Insur (16.7%)</a:t>
            </a:r>
            <a:endParaRPr/>
          </a:p>
        </p:txBody>
      </p:sp>
      <p:sp>
        <p:nvSpPr>
          <p:cNvPr id="1264" name="Google Shape;1264;p12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1265" name="Google Shape;1265;p12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 agencies converting submissions to bound business in Jan–May 2026</a:t>
            </a:r>
            <a:endParaRPr/>
          </a:p>
        </p:txBody>
      </p:sp>
      <p:sp>
        <p:nvSpPr>
          <p:cNvPr id="1266" name="Google Shape;1266;p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1267" name="Google Shape;1267;p12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1,199 total submissions across 26 active agencies</a:t>
            </a:r>
            <a:endParaRPr/>
          </a:p>
        </p:txBody>
      </p:sp>
      <p:sp>
        <p:nvSpPr>
          <p:cNvPr id="1268" name="Google Shape;1268;p12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9" name="Google Shape;1269;p12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 - Areas for Improvement</a:t>
            </a:r>
            <a:endParaRPr/>
          </a:p>
        </p:txBody>
      </p:sp>
      <p:sp>
        <p:nvSpPr>
          <p:cNvPr id="1270" name="Google Shape;1270;p12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1271" name="Google Shape;1271;p12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 agencies with zero Jan–May 2026 activity: Safeguard Insurance , Titanic Insurance Se</a:t>
            </a:r>
            <a:endParaRPr/>
          </a:p>
        </p:txBody>
      </p:sp>
      <p:sp>
        <p:nvSpPr>
          <p:cNvPr id="1272" name="Google Shape;1272;p12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1273" name="Google Shape;1273;p12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 agencies submitting but 0 binds (234 subs): WHA Insurance (46), Avina's Insurance Se (40)</a:t>
            </a:r>
            <a:endParaRPr/>
          </a:p>
        </p:txBody>
      </p:sp>
      <p:sp>
        <p:nvSpPr>
          <p:cNvPr id="1274" name="Google Shape;1274;p12"/>
          <p:cNvSpPr txBox="1"/>
          <p:nvPr/>
        </p:nvSpPr>
        <p:spPr>
          <a:xfrm>
            <a:off x="6309359" y="1993392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1275" name="Google Shape;1275;p12"/>
          <p:cNvSpPr txBox="1"/>
          <p:nvPr/>
        </p:nvSpPr>
        <p:spPr>
          <a:xfrm>
            <a:off x="6492240" y="1993392"/>
            <a:ext cx="5120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Low hit ratios need coaching: All Lines Associates (1.1%), Millan Group, Inc. (1.8%), Mustard Seed Financi (2.1%)</a:t>
            </a:r>
            <a:endParaRPr/>
          </a:p>
        </p:txBody>
      </p:sp>
      <p:sp>
        <p:nvSpPr>
          <p:cNvPr id="1276" name="Google Shape;1276;p12"/>
          <p:cNvSpPr txBox="1"/>
          <p:nvPr/>
        </p:nvSpPr>
        <p:spPr>
          <a:xfrm>
            <a:off x="6309359" y="2304288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1277" name="Google Shape;1277;p12"/>
          <p:cNvSpPr txBox="1"/>
          <p:nvPr/>
        </p:nvSpPr>
        <p:spPr>
          <a:xfrm>
            <a:off x="6492240" y="2304288"/>
            <a:ext cx="5120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Overall portfolio hit ratio 3.3% — below 5-8% target</a:t>
            </a:r>
            <a:endParaRPr/>
          </a:p>
        </p:txBody>
      </p:sp>
      <p:sp>
        <p:nvSpPr>
          <p:cNvPr id="1278" name="Google Shape;1278;p12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9" name="Google Shape;1279;p12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TOP STRATEGIC PRIORITIES — Ranked by Estimated Impact</a:t>
            </a:r>
            <a:endParaRPr/>
          </a:p>
        </p:txBody>
      </p:sp>
      <p:sp>
        <p:nvSpPr>
          <p:cNvPr id="1280" name="Google Shape;1280;p12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/>
          </a:p>
        </p:txBody>
      </p:sp>
      <p:sp>
        <p:nvSpPr>
          <p:cNvPr id="1281" name="Google Shape;1281;p12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Close Quote-to-Bind Gap</a:t>
            </a:r>
            <a:endParaRPr/>
          </a:p>
        </p:txBody>
      </p:sp>
      <p:sp>
        <p:nvSpPr>
          <p:cNvPr id="1282" name="Google Shape;1282;p12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 agencies have 173 quotes but 0 binds: WHA Insurance (33q), Avina's Insurance Service (32q), Immensity Insurance &amp; Ris (31q). Follow up on pricing, coverage, response time gaps.</a:t>
            </a:r>
            <a:endParaRPr/>
          </a:p>
        </p:txBody>
      </p:sp>
      <p:sp>
        <p:nvSpPr>
          <p:cNvPr id="1283" name="Google Shape;1283;p12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/>
          </a:p>
        </p:txBody>
      </p:sp>
      <p:sp>
        <p:nvSpPr>
          <p:cNvPr id="1284" name="Google Shape;1284;p12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Lift Portfolio Hit Ratio to 5%</a:t>
            </a:r>
            <a:endParaRPr/>
          </a:p>
        </p:txBody>
      </p:sp>
      <p:sp>
        <p:nvSpPr>
          <p:cNvPr id="1285" name="Google Shape;1285;p12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Current: 3.3% (39 binds / 1,199 subs). Need 20 more binds. Focus on submission quality and appetite education.</a:t>
            </a:r>
            <a:endParaRPr/>
          </a:p>
        </p:txBody>
      </p:sp>
      <p:sp>
        <p:nvSpPr>
          <p:cNvPr id="1286" name="Google Shape;1286;p12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/>
          </a:p>
        </p:txBody>
      </p:sp>
      <p:sp>
        <p:nvSpPr>
          <p:cNvPr id="1287" name="Google Shape;1287;p12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Improve Low Hit Ratio Agencies</a:t>
            </a:r>
            <a:endParaRPr/>
          </a:p>
        </p:txBody>
      </p:sp>
      <p:sp>
        <p:nvSpPr>
          <p:cNvPr id="1288" name="Google Shape;1288;p12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 agencies with 20+ subs but &lt;3% HR: All Lines Associates (1.1%), Millan Group, Inc. (1.8%), Mustard Seed Financi (2.1%). Conduct submission quality training to lift conversion 2-3 points.</a:t>
            </a:r>
            <a:endParaRPr/>
          </a:p>
        </p:txBody>
      </p:sp>
      <p:sp>
        <p:nvSpPr>
          <p:cNvPr id="1289" name="Google Shape;1289;p12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/>
          </a:p>
        </p:txBody>
      </p:sp>
      <p:sp>
        <p:nvSpPr>
          <p:cNvPr id="1290" name="Google Shape;1290;p12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Reduce Cancellation Rates</a:t>
            </a:r>
            <a:endParaRPr/>
          </a:p>
        </p:txBody>
      </p:sp>
      <p:sp>
        <p:nvSpPr>
          <p:cNvPr id="1291" name="Google Shape;1291;p12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 agencies with cancellations &gt;40% of new biz: Millan Group, Inc., Fredrick B. Roberson Insu, 360 Risk Partners Insuran. $480,693 total cancellations - investigate retention.</a:t>
            </a:r>
            <a:endParaRPr/>
          </a:p>
        </p:txBody>
      </p:sp>
      <p:sp>
        <p:nvSpPr>
          <p:cNvPr id="1292" name="Google Shape;1292;p12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/>
          </a:p>
        </p:txBody>
      </p:sp>
      <p:sp>
        <p:nvSpPr>
          <p:cNvPr id="1293" name="Google Shape;1293;p12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Diversify Revenue Base</a:t>
            </a:r>
            <a:endParaRPr/>
          </a:p>
        </p:txBody>
      </p:sp>
      <p:sp>
        <p:nvSpPr>
          <p:cNvPr id="1294" name="Google Shape;1294;p12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Top 3 agencies drive 61% of premium. Develop mid-tier: Commercial Specialists In, Mustard Seed Financial &amp; , All Lines Associates, Inc. Target 25-50% growth each.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98" name="Shape 1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9" name="Google Shape;1299;p13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0" name="Google Shape;1300;p13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Recently Bound Submissions</a:t>
            </a:r>
            <a:endParaRPr/>
          </a:p>
        </p:txBody>
      </p:sp>
      <p:sp>
        <p:nvSpPr>
          <p:cNvPr id="1301" name="Google Shape;1301;p1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Taylor Sloan  |  Last 25 Bound Submissions  |  39 Total Bound in Portfolio</a:t>
            </a:r>
            <a:endParaRPr/>
          </a:p>
        </p:txBody>
      </p:sp>
      <p:sp>
        <p:nvSpPr>
          <p:cNvPr id="1302" name="Google Shape;1302;p13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#</a:t>
            </a:r>
            <a:endParaRPr/>
          </a:p>
        </p:txBody>
      </p:sp>
      <p:sp>
        <p:nvSpPr>
          <p:cNvPr id="1303" name="Google Shape;1303;p13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 #</a:t>
            </a:r>
            <a:endParaRPr/>
          </a:p>
        </p:txBody>
      </p:sp>
      <p:sp>
        <p:nvSpPr>
          <p:cNvPr id="1304" name="Google Shape;1304;p13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Agency</a:t>
            </a:r>
            <a:endParaRPr/>
          </a:p>
        </p:txBody>
      </p:sp>
      <p:sp>
        <p:nvSpPr>
          <p:cNvPr id="1305" name="Google Shape;1305;p13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Insured (Account)</a:t>
            </a:r>
            <a:endParaRPr/>
          </a:p>
        </p:txBody>
      </p:sp>
      <p:sp>
        <p:nvSpPr>
          <p:cNvPr id="1306" name="Google Shape;1306;p13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Agent</a:t>
            </a:r>
            <a:endParaRPr/>
          </a:p>
        </p:txBody>
      </p:sp>
      <p:sp>
        <p:nvSpPr>
          <p:cNvPr id="1307" name="Google Shape;1307;p13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Premium</a:t>
            </a:r>
            <a:endParaRPr/>
          </a:p>
        </p:txBody>
      </p:sp>
      <p:sp>
        <p:nvSpPr>
          <p:cNvPr id="1308" name="Google Shape;1308;p13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 Date</a:t>
            </a:r>
            <a:endParaRPr/>
          </a:p>
        </p:txBody>
      </p:sp>
      <p:sp>
        <p:nvSpPr>
          <p:cNvPr id="1309" name="Google Shape;1309;p13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0" name="Google Shape;1310;p13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311" name="Google Shape;1311;p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257843956256</a:t>
            </a:r>
            <a:endParaRPr/>
          </a:p>
        </p:txBody>
      </p:sp>
      <p:sp>
        <p:nvSpPr>
          <p:cNvPr id="1312" name="Google Shape;1312;p13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Fredrick B. Roberson Insurance Ser</a:t>
            </a:r>
            <a:endParaRPr/>
          </a:p>
        </p:txBody>
      </p:sp>
      <p:sp>
        <p:nvSpPr>
          <p:cNvPr id="1313" name="Google Shape;1313;p13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N/A</a:t>
            </a:r>
            <a:endParaRPr/>
          </a:p>
        </p:txBody>
      </p:sp>
      <p:sp>
        <p:nvSpPr>
          <p:cNvPr id="1314" name="Google Shape;1314;p13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Arturo Gonzalez</a:t>
            </a:r>
            <a:endParaRPr/>
          </a:p>
        </p:txBody>
      </p:sp>
      <p:sp>
        <p:nvSpPr>
          <p:cNvPr id="1315" name="Google Shape;1315;p13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$21,663</a:t>
            </a:r>
            <a:endParaRPr/>
          </a:p>
        </p:txBody>
      </p:sp>
      <p:sp>
        <p:nvSpPr>
          <p:cNvPr id="1316" name="Google Shape;1316;p13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19, 2026</a:t>
            </a:r>
            <a:endParaRPr/>
          </a:p>
        </p:txBody>
      </p:sp>
      <p:sp>
        <p:nvSpPr>
          <p:cNvPr id="1317" name="Google Shape;1317;p13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8" name="Google Shape;1318;p13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319" name="Google Shape;1319;p13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266013829474</a:t>
            </a:r>
            <a:endParaRPr/>
          </a:p>
        </p:txBody>
      </p:sp>
      <p:sp>
        <p:nvSpPr>
          <p:cNvPr id="1320" name="Google Shape;1320;p13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Fredrick B. Roberson Insurance Ser</a:t>
            </a:r>
            <a:endParaRPr/>
          </a:p>
        </p:txBody>
      </p:sp>
      <p:sp>
        <p:nvSpPr>
          <p:cNvPr id="1321" name="Google Shape;1321;p1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VALLEY SOLUTIONS LP</a:t>
            </a:r>
            <a:endParaRPr/>
          </a:p>
        </p:txBody>
      </p:sp>
      <p:sp>
        <p:nvSpPr>
          <p:cNvPr id="1322" name="Google Shape;1322;p13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Arturo Gonzalez</a:t>
            </a:r>
            <a:endParaRPr/>
          </a:p>
        </p:txBody>
      </p:sp>
      <p:sp>
        <p:nvSpPr>
          <p:cNvPr id="1323" name="Google Shape;1323;p13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$24,587</a:t>
            </a:r>
            <a:endParaRPr/>
          </a:p>
        </p:txBody>
      </p:sp>
      <p:sp>
        <p:nvSpPr>
          <p:cNvPr id="1324" name="Google Shape;1324;p13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19, 2026</a:t>
            </a:r>
            <a:endParaRPr/>
          </a:p>
        </p:txBody>
      </p:sp>
      <p:sp>
        <p:nvSpPr>
          <p:cNvPr id="1325" name="Google Shape;1325;p13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1326" name="Google Shape;1326;p13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260924435161</a:t>
            </a:r>
            <a:endParaRPr/>
          </a:p>
        </p:txBody>
      </p:sp>
      <p:sp>
        <p:nvSpPr>
          <p:cNvPr id="1327" name="Google Shape;1327;p13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Julian Reyes Insurance Agency Inc</a:t>
            </a:r>
            <a:endParaRPr/>
          </a:p>
        </p:txBody>
      </p:sp>
      <p:sp>
        <p:nvSpPr>
          <p:cNvPr id="1328" name="Google Shape;1328;p13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DURAN EXPRESS LLC</a:t>
            </a:r>
            <a:endParaRPr/>
          </a:p>
        </p:txBody>
      </p:sp>
      <p:sp>
        <p:nvSpPr>
          <p:cNvPr id="1329" name="Google Shape;1329;p13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Julian Reyes</a:t>
            </a:r>
            <a:endParaRPr/>
          </a:p>
        </p:txBody>
      </p:sp>
      <p:sp>
        <p:nvSpPr>
          <p:cNvPr id="1330" name="Google Shape;1330;p13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$21,428</a:t>
            </a:r>
            <a:endParaRPr/>
          </a:p>
        </p:txBody>
      </p:sp>
      <p:sp>
        <p:nvSpPr>
          <p:cNvPr id="1331" name="Google Shape;1331;p1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15, 2026</a:t>
            </a:r>
            <a:endParaRPr/>
          </a:p>
        </p:txBody>
      </p:sp>
      <p:sp>
        <p:nvSpPr>
          <p:cNvPr id="1332" name="Google Shape;1332;p13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3" name="Google Shape;1333;p13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1334" name="Google Shape;1334;p13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259020536506</a:t>
            </a:r>
            <a:endParaRPr/>
          </a:p>
        </p:txBody>
      </p:sp>
      <p:sp>
        <p:nvSpPr>
          <p:cNvPr id="1335" name="Google Shape;1335;p13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All Capital Insurance Agency Inc</a:t>
            </a:r>
            <a:endParaRPr/>
          </a:p>
        </p:txBody>
      </p:sp>
      <p:sp>
        <p:nvSpPr>
          <p:cNvPr id="1336" name="Google Shape;1336;p13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FLAMINGO TRUCKING LLC</a:t>
            </a:r>
            <a:endParaRPr/>
          </a:p>
        </p:txBody>
      </p:sp>
      <p:sp>
        <p:nvSpPr>
          <p:cNvPr id="1337" name="Google Shape;1337;p13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Dan Ostapenko</a:t>
            </a:r>
            <a:endParaRPr/>
          </a:p>
        </p:txBody>
      </p:sp>
      <p:sp>
        <p:nvSpPr>
          <p:cNvPr id="1338" name="Google Shape;1338;p13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$5,880</a:t>
            </a:r>
            <a:endParaRPr/>
          </a:p>
        </p:txBody>
      </p:sp>
      <p:sp>
        <p:nvSpPr>
          <p:cNvPr id="1339" name="Google Shape;1339;p13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13, 2026</a:t>
            </a:r>
            <a:endParaRPr/>
          </a:p>
        </p:txBody>
      </p:sp>
      <p:sp>
        <p:nvSpPr>
          <p:cNvPr id="1340" name="Google Shape;1340;p13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1341" name="Google Shape;1341;p1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261519641326</a:t>
            </a:r>
            <a:endParaRPr/>
          </a:p>
        </p:txBody>
      </p:sp>
      <p:sp>
        <p:nvSpPr>
          <p:cNvPr id="1342" name="Google Shape;1342;p13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Beaver State Insurance Agency Llc</a:t>
            </a:r>
            <a:endParaRPr/>
          </a:p>
        </p:txBody>
      </p:sp>
      <p:sp>
        <p:nvSpPr>
          <p:cNvPr id="1343" name="Google Shape;1343;p13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 &amp; J TRANSPORT</a:t>
            </a:r>
            <a:endParaRPr/>
          </a:p>
        </p:txBody>
      </p:sp>
      <p:sp>
        <p:nvSpPr>
          <p:cNvPr id="1344" name="Google Shape;1344;p13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Roger Pena</a:t>
            </a:r>
            <a:endParaRPr/>
          </a:p>
        </p:txBody>
      </p:sp>
      <p:sp>
        <p:nvSpPr>
          <p:cNvPr id="1345" name="Google Shape;1345;p13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$20,168</a:t>
            </a:r>
            <a:endParaRPr/>
          </a:p>
        </p:txBody>
      </p:sp>
      <p:sp>
        <p:nvSpPr>
          <p:cNvPr id="1346" name="Google Shape;1346;p13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13, 2026</a:t>
            </a:r>
            <a:endParaRPr/>
          </a:p>
        </p:txBody>
      </p:sp>
      <p:sp>
        <p:nvSpPr>
          <p:cNvPr id="1347" name="Google Shape;1347;p13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8" name="Google Shape;1348;p13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1349" name="Google Shape;1349;p13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250728839520</a:t>
            </a:r>
            <a:endParaRPr/>
          </a:p>
        </p:txBody>
      </p:sp>
      <p:sp>
        <p:nvSpPr>
          <p:cNvPr id="1350" name="Google Shape;1350;p13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All Capital Insurance Agency Inc</a:t>
            </a:r>
            <a:endParaRPr/>
          </a:p>
        </p:txBody>
      </p:sp>
      <p:sp>
        <p:nvSpPr>
          <p:cNvPr id="1351" name="Google Shape;1351;p1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FLAMINGO TRUCKING LLC</a:t>
            </a:r>
            <a:endParaRPr/>
          </a:p>
        </p:txBody>
      </p:sp>
      <p:sp>
        <p:nvSpPr>
          <p:cNvPr id="1352" name="Google Shape;1352;p13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Dan Ostapenko</a:t>
            </a:r>
            <a:endParaRPr/>
          </a:p>
        </p:txBody>
      </p:sp>
      <p:sp>
        <p:nvSpPr>
          <p:cNvPr id="1353" name="Google Shape;1353;p13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$28,544</a:t>
            </a:r>
            <a:endParaRPr/>
          </a:p>
        </p:txBody>
      </p:sp>
      <p:sp>
        <p:nvSpPr>
          <p:cNvPr id="1354" name="Google Shape;1354;p13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12, 2026</a:t>
            </a:r>
            <a:endParaRPr/>
          </a:p>
        </p:txBody>
      </p:sp>
      <p:sp>
        <p:nvSpPr>
          <p:cNvPr id="1355" name="Google Shape;1355;p13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1356" name="Google Shape;1356;p13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268376573402</a:t>
            </a:r>
            <a:endParaRPr/>
          </a:p>
        </p:txBody>
      </p:sp>
      <p:sp>
        <p:nvSpPr>
          <p:cNvPr id="1357" name="Google Shape;1357;p13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Omega Insurance Service</a:t>
            </a:r>
            <a:endParaRPr/>
          </a:p>
        </p:txBody>
      </p:sp>
      <p:sp>
        <p:nvSpPr>
          <p:cNvPr id="1358" name="Google Shape;1358;p13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QUICK LOGISTICS LLC</a:t>
            </a:r>
            <a:endParaRPr/>
          </a:p>
        </p:txBody>
      </p:sp>
      <p:sp>
        <p:nvSpPr>
          <p:cNvPr id="1359" name="Google Shape;1359;p13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Daniel Thomas</a:t>
            </a:r>
            <a:endParaRPr/>
          </a:p>
        </p:txBody>
      </p:sp>
      <p:sp>
        <p:nvSpPr>
          <p:cNvPr id="1360" name="Google Shape;1360;p13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$13,410</a:t>
            </a:r>
            <a:endParaRPr/>
          </a:p>
        </p:txBody>
      </p:sp>
      <p:sp>
        <p:nvSpPr>
          <p:cNvPr id="1361" name="Google Shape;1361;p1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12, 2026</a:t>
            </a:r>
            <a:endParaRPr/>
          </a:p>
        </p:txBody>
      </p:sp>
      <p:sp>
        <p:nvSpPr>
          <p:cNvPr id="1362" name="Google Shape;1362;p13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3" name="Google Shape;1363;p13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1364" name="Google Shape;1364;p13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256382040271</a:t>
            </a:r>
            <a:endParaRPr/>
          </a:p>
        </p:txBody>
      </p:sp>
      <p:sp>
        <p:nvSpPr>
          <p:cNvPr id="1365" name="Google Shape;1365;p13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Fredrick B. Roberson Insurance Ser</a:t>
            </a:r>
            <a:endParaRPr/>
          </a:p>
        </p:txBody>
      </p:sp>
      <p:sp>
        <p:nvSpPr>
          <p:cNvPr id="1366" name="Google Shape;1366;p13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N/A</a:t>
            </a:r>
            <a:endParaRPr/>
          </a:p>
        </p:txBody>
      </p:sp>
      <p:sp>
        <p:nvSpPr>
          <p:cNvPr id="1367" name="Google Shape;1367;p13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Arturo Gonzalez</a:t>
            </a:r>
            <a:endParaRPr/>
          </a:p>
        </p:txBody>
      </p:sp>
      <p:sp>
        <p:nvSpPr>
          <p:cNvPr id="1368" name="Google Shape;1368;p13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$18,782</a:t>
            </a:r>
            <a:endParaRPr/>
          </a:p>
        </p:txBody>
      </p:sp>
      <p:sp>
        <p:nvSpPr>
          <p:cNvPr id="1369" name="Google Shape;1369;p13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11, 2026</a:t>
            </a:r>
            <a:endParaRPr/>
          </a:p>
        </p:txBody>
      </p:sp>
      <p:sp>
        <p:nvSpPr>
          <p:cNvPr id="1370" name="Google Shape;1370;p13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1371" name="Google Shape;1371;p1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258496292790</a:t>
            </a:r>
            <a:endParaRPr/>
          </a:p>
        </p:txBody>
      </p:sp>
      <p:sp>
        <p:nvSpPr>
          <p:cNvPr id="1372" name="Google Shape;1372;p13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Omega Insurance Service</a:t>
            </a:r>
            <a:endParaRPr/>
          </a:p>
        </p:txBody>
      </p:sp>
      <p:sp>
        <p:nvSpPr>
          <p:cNvPr id="1373" name="Google Shape;1373;p13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XCL LOGISTICS LLC</a:t>
            </a:r>
            <a:endParaRPr/>
          </a:p>
        </p:txBody>
      </p:sp>
      <p:sp>
        <p:nvSpPr>
          <p:cNvPr id="1374" name="Google Shape;1374;p13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Daniel Thomas</a:t>
            </a:r>
            <a:endParaRPr/>
          </a:p>
        </p:txBody>
      </p:sp>
      <p:sp>
        <p:nvSpPr>
          <p:cNvPr id="1375" name="Google Shape;1375;p13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$14,105</a:t>
            </a:r>
            <a:endParaRPr/>
          </a:p>
        </p:txBody>
      </p:sp>
      <p:sp>
        <p:nvSpPr>
          <p:cNvPr id="1376" name="Google Shape;1376;p13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05, 2026</a:t>
            </a:r>
            <a:endParaRPr/>
          </a:p>
        </p:txBody>
      </p:sp>
      <p:sp>
        <p:nvSpPr>
          <p:cNvPr id="1377" name="Google Shape;1377;p13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8" name="Google Shape;1378;p13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1379" name="Google Shape;1379;p13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263862857520</a:t>
            </a:r>
            <a:endParaRPr/>
          </a:p>
        </p:txBody>
      </p:sp>
      <p:sp>
        <p:nvSpPr>
          <p:cNvPr id="1380" name="Google Shape;1380;p13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Fredrick B. Roberson Insurance Ser</a:t>
            </a:r>
            <a:endParaRPr/>
          </a:p>
        </p:txBody>
      </p:sp>
      <p:sp>
        <p:nvSpPr>
          <p:cNvPr id="1381" name="Google Shape;1381;p1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AVINA &amp; SONS TRUCKING INC</a:t>
            </a:r>
            <a:endParaRPr/>
          </a:p>
        </p:txBody>
      </p:sp>
      <p:sp>
        <p:nvSpPr>
          <p:cNvPr id="1382" name="Google Shape;1382;p13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Arturo Gonzalez</a:t>
            </a:r>
            <a:endParaRPr/>
          </a:p>
        </p:txBody>
      </p:sp>
      <p:sp>
        <p:nvSpPr>
          <p:cNvPr id="1383" name="Google Shape;1383;p13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$18,022</a:t>
            </a:r>
            <a:endParaRPr/>
          </a:p>
        </p:txBody>
      </p:sp>
      <p:sp>
        <p:nvSpPr>
          <p:cNvPr id="1384" name="Google Shape;1384;p13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04, 2026</a:t>
            </a:r>
            <a:endParaRPr/>
          </a:p>
        </p:txBody>
      </p:sp>
      <p:sp>
        <p:nvSpPr>
          <p:cNvPr id="1385" name="Google Shape;1385;p13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1386" name="Google Shape;1386;p13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253318955951</a:t>
            </a:r>
            <a:endParaRPr/>
          </a:p>
        </p:txBody>
      </p:sp>
      <p:sp>
        <p:nvSpPr>
          <p:cNvPr id="1387" name="Google Shape;1387;p13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Beaver State Insurance Agency Llc</a:t>
            </a:r>
            <a:endParaRPr/>
          </a:p>
        </p:txBody>
      </p:sp>
      <p:sp>
        <p:nvSpPr>
          <p:cNvPr id="1388" name="Google Shape;1388;p13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GENERAL DELIVERY LOGISTICS LLC</a:t>
            </a:r>
            <a:endParaRPr/>
          </a:p>
        </p:txBody>
      </p:sp>
      <p:sp>
        <p:nvSpPr>
          <p:cNvPr id="1389" name="Google Shape;1389;p13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Roger Pena</a:t>
            </a:r>
            <a:endParaRPr/>
          </a:p>
        </p:txBody>
      </p:sp>
      <p:sp>
        <p:nvSpPr>
          <p:cNvPr id="1390" name="Google Shape;1390;p13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$139,244</a:t>
            </a:r>
            <a:endParaRPr/>
          </a:p>
        </p:txBody>
      </p:sp>
      <p:sp>
        <p:nvSpPr>
          <p:cNvPr id="1391" name="Google Shape;1391;p1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28, 2026</a:t>
            </a:r>
            <a:endParaRPr/>
          </a:p>
        </p:txBody>
      </p:sp>
      <p:sp>
        <p:nvSpPr>
          <p:cNvPr id="1392" name="Google Shape;1392;p13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3" name="Google Shape;1393;p13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1394" name="Google Shape;1394;p13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265001817075</a:t>
            </a:r>
            <a:endParaRPr/>
          </a:p>
        </p:txBody>
      </p:sp>
      <p:sp>
        <p:nvSpPr>
          <p:cNvPr id="1395" name="Google Shape;1395;p13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360 Risk Partners Insurance Soluti</a:t>
            </a:r>
            <a:endParaRPr/>
          </a:p>
        </p:txBody>
      </p:sp>
      <p:sp>
        <p:nvSpPr>
          <p:cNvPr id="1396" name="Google Shape;1396;p13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TRUSTWORTHY &amp; RELIABLE TRUCKING </a:t>
            </a:r>
            <a:endParaRPr/>
          </a:p>
        </p:txBody>
      </p:sp>
      <p:sp>
        <p:nvSpPr>
          <p:cNvPr id="1397" name="Google Shape;1397;p13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Bret Fair</a:t>
            </a:r>
            <a:endParaRPr/>
          </a:p>
        </p:txBody>
      </p:sp>
      <p:sp>
        <p:nvSpPr>
          <p:cNvPr id="1398" name="Google Shape;1398;p13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$23,798</a:t>
            </a:r>
            <a:endParaRPr/>
          </a:p>
        </p:txBody>
      </p:sp>
      <p:sp>
        <p:nvSpPr>
          <p:cNvPr id="1399" name="Google Shape;1399;p13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24, 2026</a:t>
            </a:r>
            <a:endParaRPr/>
          </a:p>
        </p:txBody>
      </p:sp>
      <p:sp>
        <p:nvSpPr>
          <p:cNvPr id="1400" name="Google Shape;1400;p13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1401" name="Google Shape;1401;p1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264522940397</a:t>
            </a:r>
            <a:endParaRPr/>
          </a:p>
        </p:txBody>
      </p:sp>
      <p:sp>
        <p:nvSpPr>
          <p:cNvPr id="1402" name="Google Shape;1402;p13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360 Risk Partners Insurance Soluti</a:t>
            </a:r>
            <a:endParaRPr/>
          </a:p>
        </p:txBody>
      </p:sp>
      <p:sp>
        <p:nvSpPr>
          <p:cNvPr id="1403" name="Google Shape;1403;p13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OLD HALL LOGISTICS INC</a:t>
            </a:r>
            <a:endParaRPr/>
          </a:p>
        </p:txBody>
      </p:sp>
      <p:sp>
        <p:nvSpPr>
          <p:cNvPr id="1404" name="Google Shape;1404;p13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Bret Fair</a:t>
            </a:r>
            <a:endParaRPr/>
          </a:p>
        </p:txBody>
      </p:sp>
      <p:sp>
        <p:nvSpPr>
          <p:cNvPr id="1405" name="Google Shape;1405;p13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$47,185</a:t>
            </a:r>
            <a:endParaRPr/>
          </a:p>
        </p:txBody>
      </p:sp>
      <p:sp>
        <p:nvSpPr>
          <p:cNvPr id="1406" name="Google Shape;1406;p13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22, 2026</a:t>
            </a:r>
            <a:endParaRPr/>
          </a:p>
        </p:txBody>
      </p:sp>
      <p:sp>
        <p:nvSpPr>
          <p:cNvPr id="1407" name="Google Shape;1407;p13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8" name="Google Shape;1408;p13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1409" name="Google Shape;1409;p13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260150536153</a:t>
            </a:r>
            <a:endParaRPr/>
          </a:p>
        </p:txBody>
      </p:sp>
      <p:sp>
        <p:nvSpPr>
          <p:cNvPr id="1410" name="Google Shape;1410;p13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Commercial Specialists Insurance S</a:t>
            </a:r>
            <a:endParaRPr/>
          </a:p>
        </p:txBody>
      </p:sp>
      <p:sp>
        <p:nvSpPr>
          <p:cNvPr id="1411" name="Google Shape;1411;p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CAMILA'S TRANSPORTATION LLC</a:t>
            </a:r>
            <a:endParaRPr/>
          </a:p>
        </p:txBody>
      </p:sp>
      <p:sp>
        <p:nvSpPr>
          <p:cNvPr id="1412" name="Google Shape;1412;p13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Randy Rivas</a:t>
            </a:r>
            <a:endParaRPr/>
          </a:p>
        </p:txBody>
      </p:sp>
      <p:sp>
        <p:nvSpPr>
          <p:cNvPr id="1413" name="Google Shape;1413;p13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$132,127</a:t>
            </a:r>
            <a:endParaRPr/>
          </a:p>
        </p:txBody>
      </p:sp>
      <p:sp>
        <p:nvSpPr>
          <p:cNvPr id="1414" name="Google Shape;1414;p13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22, 2026</a:t>
            </a:r>
            <a:endParaRPr/>
          </a:p>
        </p:txBody>
      </p:sp>
      <p:sp>
        <p:nvSpPr>
          <p:cNvPr id="1415" name="Google Shape;1415;p13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1416" name="Google Shape;1416;p13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268980060372</a:t>
            </a:r>
            <a:endParaRPr/>
          </a:p>
        </p:txBody>
      </p:sp>
      <p:sp>
        <p:nvSpPr>
          <p:cNvPr id="1417" name="Google Shape;1417;p13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All Lines Associates, Inc. DBA Val</a:t>
            </a:r>
            <a:endParaRPr/>
          </a:p>
        </p:txBody>
      </p:sp>
      <p:sp>
        <p:nvSpPr>
          <p:cNvPr id="1418" name="Google Shape;1418;p13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 &amp; K TRUCKING INC</a:t>
            </a:r>
            <a:endParaRPr/>
          </a:p>
        </p:txBody>
      </p:sp>
      <p:sp>
        <p:nvSpPr>
          <p:cNvPr id="1419" name="Google Shape;1419;p13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Cameron Pechia</a:t>
            </a:r>
            <a:endParaRPr/>
          </a:p>
        </p:txBody>
      </p:sp>
      <p:sp>
        <p:nvSpPr>
          <p:cNvPr id="1420" name="Google Shape;1420;p13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$31,479</a:t>
            </a:r>
            <a:endParaRPr/>
          </a:p>
        </p:txBody>
      </p:sp>
      <p:sp>
        <p:nvSpPr>
          <p:cNvPr id="1421" name="Google Shape;1421;p1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22, 2026</a:t>
            </a:r>
            <a:endParaRPr/>
          </a:p>
        </p:txBody>
      </p:sp>
      <p:sp>
        <p:nvSpPr>
          <p:cNvPr id="1422" name="Google Shape;1422;p13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3" name="Google Shape;1423;p13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1424" name="Google Shape;1424;p13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259547988917</a:t>
            </a:r>
            <a:endParaRPr/>
          </a:p>
        </p:txBody>
      </p:sp>
      <p:sp>
        <p:nvSpPr>
          <p:cNvPr id="1425" name="Google Shape;1425;p13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360 Risk Partners Insurance Soluti</a:t>
            </a:r>
            <a:endParaRPr/>
          </a:p>
        </p:txBody>
      </p:sp>
      <p:sp>
        <p:nvSpPr>
          <p:cNvPr id="1426" name="Google Shape;1426;p13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LOR TRANSPORTATION LLC</a:t>
            </a:r>
            <a:endParaRPr/>
          </a:p>
        </p:txBody>
      </p:sp>
      <p:sp>
        <p:nvSpPr>
          <p:cNvPr id="1427" name="Google Shape;1427;p13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Bret Fair</a:t>
            </a:r>
            <a:endParaRPr/>
          </a:p>
        </p:txBody>
      </p:sp>
      <p:sp>
        <p:nvSpPr>
          <p:cNvPr id="1428" name="Google Shape;1428;p13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$20,753</a:t>
            </a:r>
            <a:endParaRPr/>
          </a:p>
        </p:txBody>
      </p:sp>
      <p:sp>
        <p:nvSpPr>
          <p:cNvPr id="1429" name="Google Shape;1429;p13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17, 2026</a:t>
            </a:r>
            <a:endParaRPr/>
          </a:p>
        </p:txBody>
      </p:sp>
      <p:sp>
        <p:nvSpPr>
          <p:cNvPr id="1430" name="Google Shape;1430;p13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1431" name="Google Shape;1431;p1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252499860877</a:t>
            </a:r>
            <a:endParaRPr/>
          </a:p>
        </p:txBody>
      </p:sp>
      <p:sp>
        <p:nvSpPr>
          <p:cNvPr id="1432" name="Google Shape;1432;p13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360 Risk Partners Insurance Soluti</a:t>
            </a:r>
            <a:endParaRPr/>
          </a:p>
        </p:txBody>
      </p:sp>
      <p:sp>
        <p:nvSpPr>
          <p:cNvPr id="1433" name="Google Shape;1433;p13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ENCORE DRIVE LLC</a:t>
            </a:r>
            <a:endParaRPr/>
          </a:p>
        </p:txBody>
      </p:sp>
      <p:sp>
        <p:nvSpPr>
          <p:cNvPr id="1434" name="Google Shape;1434;p13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Bret Fair</a:t>
            </a:r>
            <a:endParaRPr/>
          </a:p>
        </p:txBody>
      </p:sp>
      <p:sp>
        <p:nvSpPr>
          <p:cNvPr id="1435" name="Google Shape;1435;p13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$29,422</a:t>
            </a:r>
            <a:endParaRPr/>
          </a:p>
        </p:txBody>
      </p:sp>
      <p:sp>
        <p:nvSpPr>
          <p:cNvPr id="1436" name="Google Shape;1436;p13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15, 2026</a:t>
            </a:r>
            <a:endParaRPr/>
          </a:p>
        </p:txBody>
      </p:sp>
      <p:sp>
        <p:nvSpPr>
          <p:cNvPr id="1437" name="Google Shape;1437;p13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8" name="Google Shape;1438;p13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1439" name="Google Shape;1439;p13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265963353503</a:t>
            </a:r>
            <a:endParaRPr/>
          </a:p>
        </p:txBody>
      </p:sp>
      <p:sp>
        <p:nvSpPr>
          <p:cNvPr id="1440" name="Google Shape;1440;p13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All Capital Insurance Agency Inc</a:t>
            </a:r>
            <a:endParaRPr/>
          </a:p>
        </p:txBody>
      </p:sp>
      <p:sp>
        <p:nvSpPr>
          <p:cNvPr id="1441" name="Google Shape;1441;p1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RELIABLE TRUCK LINES INC</a:t>
            </a:r>
            <a:endParaRPr/>
          </a:p>
        </p:txBody>
      </p:sp>
      <p:sp>
        <p:nvSpPr>
          <p:cNvPr id="1442" name="Google Shape;1442;p13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Dima Kalinin</a:t>
            </a:r>
            <a:endParaRPr/>
          </a:p>
        </p:txBody>
      </p:sp>
      <p:sp>
        <p:nvSpPr>
          <p:cNvPr id="1443" name="Google Shape;1443;p13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$550</a:t>
            </a:r>
            <a:endParaRPr/>
          </a:p>
        </p:txBody>
      </p:sp>
      <p:sp>
        <p:nvSpPr>
          <p:cNvPr id="1444" name="Google Shape;1444;p13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10, 2026</a:t>
            </a:r>
            <a:endParaRPr/>
          </a:p>
        </p:txBody>
      </p:sp>
      <p:sp>
        <p:nvSpPr>
          <p:cNvPr id="1445" name="Google Shape;1445;p13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1446" name="Google Shape;1446;p13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253711248414</a:t>
            </a:r>
            <a:endParaRPr/>
          </a:p>
        </p:txBody>
      </p:sp>
      <p:sp>
        <p:nvSpPr>
          <p:cNvPr id="1447" name="Google Shape;1447;p13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Mustard Seed Financial &amp; Insurance</a:t>
            </a:r>
            <a:endParaRPr/>
          </a:p>
        </p:txBody>
      </p:sp>
      <p:sp>
        <p:nvSpPr>
          <p:cNvPr id="1448" name="Google Shape;1448;p13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ZOTOL TRUCKING LOGISTICS LLC</a:t>
            </a:r>
            <a:endParaRPr/>
          </a:p>
        </p:txBody>
      </p:sp>
      <p:sp>
        <p:nvSpPr>
          <p:cNvPr id="1449" name="Google Shape;1449;p13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Kelly Link</a:t>
            </a:r>
            <a:endParaRPr/>
          </a:p>
        </p:txBody>
      </p:sp>
      <p:sp>
        <p:nvSpPr>
          <p:cNvPr id="1450" name="Google Shape;1450;p13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$24,889</a:t>
            </a:r>
            <a:endParaRPr/>
          </a:p>
        </p:txBody>
      </p:sp>
      <p:sp>
        <p:nvSpPr>
          <p:cNvPr id="1451" name="Google Shape;1451;p1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09, 2026</a:t>
            </a:r>
            <a:endParaRPr/>
          </a:p>
        </p:txBody>
      </p:sp>
      <p:sp>
        <p:nvSpPr>
          <p:cNvPr id="1452" name="Google Shape;1452;p13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3" name="Google Shape;1453;p13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1454" name="Google Shape;1454;p13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268597554247</a:t>
            </a:r>
            <a:endParaRPr/>
          </a:p>
        </p:txBody>
      </p:sp>
      <p:sp>
        <p:nvSpPr>
          <p:cNvPr id="1455" name="Google Shape;1455;p13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Fredrick B. Roberson Insurance Ser</a:t>
            </a:r>
            <a:endParaRPr/>
          </a:p>
        </p:txBody>
      </p:sp>
      <p:sp>
        <p:nvSpPr>
          <p:cNvPr id="1456" name="Google Shape;1456;p13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NORWOOD &amp; SONS TRUCKING</a:t>
            </a:r>
            <a:endParaRPr/>
          </a:p>
        </p:txBody>
      </p:sp>
      <p:sp>
        <p:nvSpPr>
          <p:cNvPr id="1457" name="Google Shape;1457;p13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Arturo Gonzalez</a:t>
            </a:r>
            <a:endParaRPr/>
          </a:p>
        </p:txBody>
      </p:sp>
      <p:sp>
        <p:nvSpPr>
          <p:cNvPr id="1458" name="Google Shape;1458;p13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$49,749</a:t>
            </a:r>
            <a:endParaRPr/>
          </a:p>
        </p:txBody>
      </p:sp>
      <p:sp>
        <p:nvSpPr>
          <p:cNvPr id="1459" name="Google Shape;1459;p13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06, 2026</a:t>
            </a:r>
            <a:endParaRPr/>
          </a:p>
        </p:txBody>
      </p:sp>
      <p:sp>
        <p:nvSpPr>
          <p:cNvPr id="1460" name="Google Shape;1460;p13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</a:t>
            </a:r>
            <a:endParaRPr/>
          </a:p>
        </p:txBody>
      </p:sp>
      <p:sp>
        <p:nvSpPr>
          <p:cNvPr id="1461" name="Google Shape;1461;p1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269426646443</a:t>
            </a:r>
            <a:endParaRPr/>
          </a:p>
        </p:txBody>
      </p:sp>
      <p:sp>
        <p:nvSpPr>
          <p:cNvPr id="1462" name="Google Shape;1462;p13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All Lines Associates, Inc. DBA Val</a:t>
            </a:r>
            <a:endParaRPr/>
          </a:p>
        </p:txBody>
      </p:sp>
      <p:sp>
        <p:nvSpPr>
          <p:cNvPr id="1463" name="Google Shape;1463;p13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EFFICIENCY TRUCKING</a:t>
            </a:r>
            <a:endParaRPr/>
          </a:p>
        </p:txBody>
      </p:sp>
      <p:sp>
        <p:nvSpPr>
          <p:cNvPr id="1464" name="Google Shape;1464;p13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Cameron Pechia</a:t>
            </a:r>
            <a:endParaRPr/>
          </a:p>
        </p:txBody>
      </p:sp>
      <p:sp>
        <p:nvSpPr>
          <p:cNvPr id="1465" name="Google Shape;1465;p13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$24,614</a:t>
            </a:r>
            <a:endParaRPr/>
          </a:p>
        </p:txBody>
      </p:sp>
      <p:sp>
        <p:nvSpPr>
          <p:cNvPr id="1466" name="Google Shape;1466;p13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30, 2026</a:t>
            </a:r>
            <a:endParaRPr/>
          </a:p>
        </p:txBody>
      </p:sp>
      <p:sp>
        <p:nvSpPr>
          <p:cNvPr id="1467" name="Google Shape;1467;p13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8" name="Google Shape;1468;p13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1469" name="Google Shape;1469;p13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264452989329</a:t>
            </a:r>
            <a:endParaRPr/>
          </a:p>
        </p:txBody>
      </p:sp>
      <p:sp>
        <p:nvSpPr>
          <p:cNvPr id="1470" name="Google Shape;1470;p13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360 Risk Partners Insurance Soluti</a:t>
            </a:r>
            <a:endParaRPr/>
          </a:p>
        </p:txBody>
      </p:sp>
      <p:sp>
        <p:nvSpPr>
          <p:cNvPr id="1471" name="Google Shape;1471;p1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Freight Transport Service</a:t>
            </a:r>
            <a:endParaRPr/>
          </a:p>
        </p:txBody>
      </p:sp>
      <p:sp>
        <p:nvSpPr>
          <p:cNvPr id="1472" name="Google Shape;1472;p13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Bret Fair</a:t>
            </a:r>
            <a:endParaRPr/>
          </a:p>
        </p:txBody>
      </p:sp>
      <p:sp>
        <p:nvSpPr>
          <p:cNvPr id="1473" name="Google Shape;1473;p13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$20,231</a:t>
            </a:r>
            <a:endParaRPr/>
          </a:p>
        </p:txBody>
      </p:sp>
      <p:sp>
        <p:nvSpPr>
          <p:cNvPr id="1474" name="Google Shape;1474;p13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27, 2026</a:t>
            </a:r>
            <a:endParaRPr/>
          </a:p>
        </p:txBody>
      </p:sp>
      <p:sp>
        <p:nvSpPr>
          <p:cNvPr id="1475" name="Google Shape;1475;p13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</a:t>
            </a:r>
            <a:endParaRPr/>
          </a:p>
        </p:txBody>
      </p:sp>
      <p:sp>
        <p:nvSpPr>
          <p:cNvPr id="1476" name="Google Shape;1476;p13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265350142542</a:t>
            </a:r>
            <a:endParaRPr/>
          </a:p>
        </p:txBody>
      </p:sp>
      <p:sp>
        <p:nvSpPr>
          <p:cNvPr id="1477" name="Google Shape;1477;p13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360 Risk Partners Insurance Soluti</a:t>
            </a:r>
            <a:endParaRPr/>
          </a:p>
        </p:txBody>
      </p:sp>
      <p:sp>
        <p:nvSpPr>
          <p:cNvPr id="1478" name="Google Shape;1478;p13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Kd Trucking</a:t>
            </a:r>
            <a:endParaRPr/>
          </a:p>
        </p:txBody>
      </p:sp>
      <p:sp>
        <p:nvSpPr>
          <p:cNvPr id="1479" name="Google Shape;1479;p13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Bret Fair</a:t>
            </a:r>
            <a:endParaRPr/>
          </a:p>
        </p:txBody>
      </p:sp>
      <p:sp>
        <p:nvSpPr>
          <p:cNvPr id="1480" name="Google Shape;1480;p13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$20,892</a:t>
            </a:r>
            <a:endParaRPr/>
          </a:p>
        </p:txBody>
      </p:sp>
      <p:sp>
        <p:nvSpPr>
          <p:cNvPr id="1481" name="Google Shape;1481;p1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18, 2026</a:t>
            </a:r>
            <a:endParaRPr/>
          </a:p>
        </p:txBody>
      </p:sp>
      <p:sp>
        <p:nvSpPr>
          <p:cNvPr id="1482" name="Google Shape;1482;p13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3" name="Google Shape;1483;p13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1484" name="Google Shape;1484;p13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262593844194</a:t>
            </a:r>
            <a:endParaRPr/>
          </a:p>
        </p:txBody>
      </p:sp>
      <p:sp>
        <p:nvSpPr>
          <p:cNvPr id="1485" name="Google Shape;1485;p13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Commercial Specialists Insurance S</a:t>
            </a:r>
            <a:endParaRPr/>
          </a:p>
        </p:txBody>
      </p:sp>
      <p:sp>
        <p:nvSpPr>
          <p:cNvPr id="1486" name="Google Shape;1486;p13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KATERINAS TRUCKING LLC</a:t>
            </a:r>
            <a:endParaRPr/>
          </a:p>
        </p:txBody>
      </p:sp>
      <p:sp>
        <p:nvSpPr>
          <p:cNvPr id="1487" name="Google Shape;1487;p13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Randy Rivas</a:t>
            </a:r>
            <a:endParaRPr/>
          </a:p>
        </p:txBody>
      </p:sp>
      <p:sp>
        <p:nvSpPr>
          <p:cNvPr id="1488" name="Google Shape;1488;p13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$4,694</a:t>
            </a:r>
            <a:endParaRPr/>
          </a:p>
        </p:txBody>
      </p:sp>
      <p:sp>
        <p:nvSpPr>
          <p:cNvPr id="1489" name="Google Shape;1489;p13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18, 2026</a:t>
            </a:r>
            <a:endParaRPr/>
          </a:p>
        </p:txBody>
      </p:sp>
      <p:sp>
        <p:nvSpPr>
          <p:cNvPr id="1490" name="Google Shape;1490;p13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1491" name="Google Shape;1491;p1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268341460913</a:t>
            </a:r>
            <a:endParaRPr/>
          </a:p>
        </p:txBody>
      </p:sp>
      <p:sp>
        <p:nvSpPr>
          <p:cNvPr id="1492" name="Google Shape;1492;p13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360 Risk Partners Insurance Soluti</a:t>
            </a:r>
            <a:endParaRPr/>
          </a:p>
        </p:txBody>
      </p:sp>
      <p:sp>
        <p:nvSpPr>
          <p:cNvPr id="1493" name="Google Shape;1493;p13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Diesel Logistic, LLC</a:t>
            </a:r>
            <a:endParaRPr/>
          </a:p>
        </p:txBody>
      </p:sp>
      <p:sp>
        <p:nvSpPr>
          <p:cNvPr id="1494" name="Google Shape;1494;p13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Bret Fair</a:t>
            </a:r>
            <a:endParaRPr/>
          </a:p>
        </p:txBody>
      </p:sp>
      <p:sp>
        <p:nvSpPr>
          <p:cNvPr id="1495" name="Google Shape;1495;p13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$14,519</a:t>
            </a:r>
            <a:endParaRPr/>
          </a:p>
        </p:txBody>
      </p:sp>
      <p:sp>
        <p:nvSpPr>
          <p:cNvPr id="1496" name="Google Shape;1496;p13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16, 2026</a:t>
            </a:r>
            <a:endParaRPr/>
          </a:p>
        </p:txBody>
      </p:sp>
      <p:sp>
        <p:nvSpPr>
          <p:cNvPr id="1497" name="Google Shape;1497;p13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8" name="Google Shape;1498;p13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(Last 25 Submissions)</a:t>
            </a:r>
            <a:endParaRPr/>
          </a:p>
        </p:txBody>
      </p:sp>
      <p:sp>
        <p:nvSpPr>
          <p:cNvPr id="1499" name="Google Shape;1499;p13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$770,734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503" name="Shape 15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4" name="Google Shape;1504;p14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5" name="Google Shape;1505;p14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 Watch — Next 90 Days</a:t>
            </a:r>
            <a:endParaRPr/>
          </a:p>
        </p:txBody>
      </p:sp>
      <p:sp>
        <p:nvSpPr>
          <p:cNvPr id="1506" name="Google Shape;1506;p14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Taylor Sloan  |  Active in-force policies expiring through Aug 18, 2026</a:t>
            </a:r>
            <a:endParaRPr/>
          </a:p>
        </p:txBody>
      </p:sp>
      <p:sp>
        <p:nvSpPr>
          <p:cNvPr id="1507" name="Google Shape;1507;p14"/>
          <p:cNvSpPr/>
          <p:nvPr/>
        </p:nvSpPr>
        <p:spPr>
          <a:xfrm>
            <a:off x="36576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POLICIES UP</a:t>
            </a:r>
            <a:endParaRPr/>
          </a:p>
        </p:txBody>
      </p:sp>
      <p:sp>
        <p:nvSpPr>
          <p:cNvPr id="1508" name="Google Shape;1508;p14"/>
          <p:cNvSpPr/>
          <p:nvPr/>
        </p:nvSpPr>
        <p:spPr>
          <a:xfrm>
            <a:off x="274320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$147,703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PREMIUM AT RISK</a:t>
            </a:r>
            <a:endParaRPr/>
          </a:p>
        </p:txBody>
      </p:sp>
      <p:sp>
        <p:nvSpPr>
          <p:cNvPr id="1509" name="Google Shape;1509;p14"/>
          <p:cNvSpPr/>
          <p:nvPr/>
        </p:nvSpPr>
        <p:spPr>
          <a:xfrm>
            <a:off x="512064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F59E0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EXPIRE ≤30 DAYS</a:t>
            </a:r>
            <a:endParaRPr/>
          </a:p>
        </p:txBody>
      </p:sp>
      <p:sp>
        <p:nvSpPr>
          <p:cNvPr id="1510" name="Google Shape;1510;p14"/>
          <p:cNvSpPr/>
          <p:nvPr/>
        </p:nvSpPr>
        <p:spPr>
          <a:xfrm>
            <a:off x="7498079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31-60 DAYS</a:t>
            </a:r>
            <a:endParaRPr/>
          </a:p>
        </p:txBody>
      </p:sp>
      <p:sp>
        <p:nvSpPr>
          <p:cNvPr id="1511" name="Google Shape;1511;p14"/>
          <p:cNvSpPr/>
          <p:nvPr/>
        </p:nvSpPr>
        <p:spPr>
          <a:xfrm>
            <a:off x="987552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61-90 DAYS</a:t>
            </a:r>
            <a:endParaRPr/>
          </a:p>
        </p:txBody>
      </p:sp>
      <p:sp>
        <p:nvSpPr>
          <p:cNvPr id="1512" name="Google Shape;1512;p14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3" name="Google Shape;1513;p14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POLICIES EXPIRING (sorted by date — earliest first)</a:t>
            </a:r>
            <a:endParaRPr/>
          </a:p>
        </p:txBody>
      </p:sp>
      <p:sp>
        <p:nvSpPr>
          <p:cNvPr id="1514" name="Google Shape;1514;p14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Agency</a:t>
            </a:r>
            <a:endParaRPr/>
          </a:p>
        </p:txBody>
      </p:sp>
      <p:sp>
        <p:nvSpPr>
          <p:cNvPr id="1515" name="Google Shape;1515;p14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 #</a:t>
            </a:r>
            <a:endParaRPr/>
          </a:p>
        </p:txBody>
      </p:sp>
      <p:sp>
        <p:nvSpPr>
          <p:cNvPr id="1516" name="Google Shape;1516;p14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Insured</a:t>
            </a:r>
            <a:endParaRPr/>
          </a:p>
        </p:txBody>
      </p:sp>
      <p:sp>
        <p:nvSpPr>
          <p:cNvPr id="1517" name="Google Shape;1517;p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Exp Date</a:t>
            </a:r>
            <a:endParaRPr/>
          </a:p>
        </p:txBody>
      </p:sp>
      <p:sp>
        <p:nvSpPr>
          <p:cNvPr id="1518" name="Google Shape;1518;p14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Days</a:t>
            </a:r>
            <a:endParaRPr/>
          </a:p>
        </p:txBody>
      </p:sp>
      <p:sp>
        <p:nvSpPr>
          <p:cNvPr id="1519" name="Google Shape;1519;p14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Coverage</a:t>
            </a:r>
            <a:endParaRPr/>
          </a:p>
        </p:txBody>
      </p:sp>
      <p:sp>
        <p:nvSpPr>
          <p:cNvPr id="1520" name="Google Shape;1520;p14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</a:t>
            </a:r>
            <a:endParaRPr/>
          </a:p>
        </p:txBody>
      </p:sp>
      <p:sp>
        <p:nvSpPr>
          <p:cNvPr id="1521" name="Google Shape;1521;p14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State</a:t>
            </a:r>
            <a:endParaRPr/>
          </a:p>
        </p:txBody>
      </p:sp>
      <p:sp>
        <p:nvSpPr>
          <p:cNvPr id="1522" name="Google Shape;1522;p14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3" name="Google Shape;1523;p14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Fredrick B. Roberson Insurance</a:t>
            </a:r>
            <a:endParaRPr/>
          </a:p>
        </p:txBody>
      </p:sp>
      <p:sp>
        <p:nvSpPr>
          <p:cNvPr id="1524" name="Google Shape;1524;p14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255652169527</a:t>
            </a:r>
            <a:endParaRPr/>
          </a:p>
        </p:txBody>
      </p:sp>
      <p:sp>
        <p:nvSpPr>
          <p:cNvPr id="1525" name="Google Shape;1525;p14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KALAR TRUCKING LLC</a:t>
            </a:r>
            <a:endParaRPr/>
          </a:p>
        </p:txBody>
      </p:sp>
      <p:sp>
        <p:nvSpPr>
          <p:cNvPr id="1526" name="Google Shape;1526;p14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2026-05-29</a:t>
            </a:r>
            <a:endParaRPr/>
          </a:p>
        </p:txBody>
      </p:sp>
      <p:sp>
        <p:nvSpPr>
          <p:cNvPr id="1527" name="Google Shape;1527;p1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9d</a:t>
            </a:r>
            <a:endParaRPr/>
          </a:p>
        </p:txBody>
      </p:sp>
      <p:sp>
        <p:nvSpPr>
          <p:cNvPr id="1528" name="Google Shape;1528;p14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APD</a:t>
            </a:r>
            <a:endParaRPr/>
          </a:p>
        </p:txBody>
      </p:sp>
      <p:sp>
        <p:nvSpPr>
          <p:cNvPr id="1529" name="Google Shape;1529;p14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530" name="Google Shape;1530;p14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</a:t>
            </a:r>
            <a:endParaRPr/>
          </a:p>
        </p:txBody>
      </p:sp>
      <p:sp>
        <p:nvSpPr>
          <p:cNvPr id="1531" name="Google Shape;1531;p14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Fredrick B. Roberson Insurance</a:t>
            </a:r>
            <a:endParaRPr/>
          </a:p>
        </p:txBody>
      </p:sp>
      <p:sp>
        <p:nvSpPr>
          <p:cNvPr id="1532" name="Google Shape;1532;p14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259085042038</a:t>
            </a:r>
            <a:endParaRPr/>
          </a:p>
        </p:txBody>
      </p:sp>
      <p:sp>
        <p:nvSpPr>
          <p:cNvPr id="1533" name="Google Shape;1533;p14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GARIBO'S TRUCKING LLC</a:t>
            </a:r>
            <a:endParaRPr/>
          </a:p>
        </p:txBody>
      </p:sp>
      <p:sp>
        <p:nvSpPr>
          <p:cNvPr id="1534" name="Google Shape;1534;p14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2026-06-17</a:t>
            </a:r>
            <a:endParaRPr/>
          </a:p>
        </p:txBody>
      </p:sp>
      <p:sp>
        <p:nvSpPr>
          <p:cNvPr id="1535" name="Google Shape;1535;p14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28d</a:t>
            </a:r>
            <a:endParaRPr/>
          </a:p>
        </p:txBody>
      </p:sp>
      <p:sp>
        <p:nvSpPr>
          <p:cNvPr id="1536" name="Google Shape;1536;p14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MTC</a:t>
            </a:r>
            <a:endParaRPr/>
          </a:p>
        </p:txBody>
      </p:sp>
      <p:sp>
        <p:nvSpPr>
          <p:cNvPr id="1537" name="Google Shape;1537;p1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$1,384</a:t>
            </a:r>
            <a:endParaRPr/>
          </a:p>
        </p:txBody>
      </p:sp>
      <p:sp>
        <p:nvSpPr>
          <p:cNvPr id="1538" name="Google Shape;1538;p14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</a:t>
            </a:r>
            <a:endParaRPr/>
          </a:p>
        </p:txBody>
      </p:sp>
      <p:sp>
        <p:nvSpPr>
          <p:cNvPr id="1539" name="Google Shape;1539;p14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0" name="Google Shape;1540;p14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Fredrick B. Roberson Insurance</a:t>
            </a:r>
            <a:endParaRPr/>
          </a:p>
        </p:txBody>
      </p:sp>
      <p:sp>
        <p:nvSpPr>
          <p:cNvPr id="1541" name="Google Shape;1541;p14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255308348407</a:t>
            </a:r>
            <a:endParaRPr/>
          </a:p>
        </p:txBody>
      </p:sp>
      <p:sp>
        <p:nvSpPr>
          <p:cNvPr id="1542" name="Google Shape;1542;p14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ARMANDO PLASCENCIA</a:t>
            </a:r>
            <a:endParaRPr/>
          </a:p>
        </p:txBody>
      </p:sp>
      <p:sp>
        <p:nvSpPr>
          <p:cNvPr id="1543" name="Google Shape;1543;p14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2026-06-20</a:t>
            </a:r>
            <a:endParaRPr/>
          </a:p>
        </p:txBody>
      </p:sp>
      <p:sp>
        <p:nvSpPr>
          <p:cNvPr id="1544" name="Google Shape;1544;p14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59E0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31d</a:t>
            </a:r>
            <a:endParaRPr/>
          </a:p>
        </p:txBody>
      </p:sp>
      <p:sp>
        <p:nvSpPr>
          <p:cNvPr id="1545" name="Google Shape;1545;p14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APD</a:t>
            </a:r>
            <a:endParaRPr/>
          </a:p>
        </p:txBody>
      </p:sp>
      <p:sp>
        <p:nvSpPr>
          <p:cNvPr id="1546" name="Google Shape;1546;p14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547" name="Google Shape;1547;p1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</a:t>
            </a:r>
            <a:endParaRPr/>
          </a:p>
        </p:txBody>
      </p:sp>
      <p:sp>
        <p:nvSpPr>
          <p:cNvPr id="1548" name="Google Shape;1548;p14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Silicon Valley Insurance Cente</a:t>
            </a:r>
            <a:endParaRPr/>
          </a:p>
        </p:txBody>
      </p:sp>
      <p:sp>
        <p:nvSpPr>
          <p:cNvPr id="1549" name="Google Shape;1549;p14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254995507219</a:t>
            </a:r>
            <a:endParaRPr/>
          </a:p>
        </p:txBody>
      </p:sp>
      <p:sp>
        <p:nvSpPr>
          <p:cNvPr id="1550" name="Google Shape;1550;p14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VAZ BROTHERS TRUCKING INC</a:t>
            </a:r>
            <a:endParaRPr/>
          </a:p>
        </p:txBody>
      </p:sp>
      <p:sp>
        <p:nvSpPr>
          <p:cNvPr id="1551" name="Google Shape;1551;p14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2026-06-21</a:t>
            </a:r>
            <a:endParaRPr/>
          </a:p>
        </p:txBody>
      </p:sp>
      <p:sp>
        <p:nvSpPr>
          <p:cNvPr id="1552" name="Google Shape;1552;p14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59E0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32d</a:t>
            </a:r>
            <a:endParaRPr/>
          </a:p>
        </p:txBody>
      </p:sp>
      <p:sp>
        <p:nvSpPr>
          <p:cNvPr id="1553" name="Google Shape;1553;p14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APD</a:t>
            </a:r>
            <a:endParaRPr/>
          </a:p>
        </p:txBody>
      </p:sp>
      <p:sp>
        <p:nvSpPr>
          <p:cNvPr id="1554" name="Google Shape;1554;p14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$12,541</a:t>
            </a:r>
            <a:endParaRPr/>
          </a:p>
        </p:txBody>
      </p:sp>
      <p:sp>
        <p:nvSpPr>
          <p:cNvPr id="1555" name="Google Shape;1555;p14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</a:t>
            </a:r>
            <a:endParaRPr/>
          </a:p>
        </p:txBody>
      </p:sp>
      <p:sp>
        <p:nvSpPr>
          <p:cNvPr id="1556" name="Google Shape;1556;p14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7" name="Google Shape;1557;p1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Beaver State Insurance Agency </a:t>
            </a:r>
            <a:endParaRPr/>
          </a:p>
        </p:txBody>
      </p:sp>
      <p:sp>
        <p:nvSpPr>
          <p:cNvPr id="1558" name="Google Shape;1558;p14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253318955951</a:t>
            </a:r>
            <a:endParaRPr/>
          </a:p>
        </p:txBody>
      </p:sp>
      <p:sp>
        <p:nvSpPr>
          <p:cNvPr id="1559" name="Google Shape;1559;p14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GENERAL DELIVERY LOGISTICS LLC</a:t>
            </a:r>
            <a:endParaRPr/>
          </a:p>
        </p:txBody>
      </p:sp>
      <p:sp>
        <p:nvSpPr>
          <p:cNvPr id="1560" name="Google Shape;1560;p14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2026-06-28</a:t>
            </a:r>
            <a:endParaRPr/>
          </a:p>
        </p:txBody>
      </p:sp>
      <p:sp>
        <p:nvSpPr>
          <p:cNvPr id="1561" name="Google Shape;1561;p14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59E0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39d</a:t>
            </a:r>
            <a:endParaRPr/>
          </a:p>
        </p:txBody>
      </p:sp>
      <p:sp>
        <p:nvSpPr>
          <p:cNvPr id="1562" name="Google Shape;1562;p14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</a:t>
            </a:r>
            <a:endParaRPr/>
          </a:p>
        </p:txBody>
      </p:sp>
      <p:sp>
        <p:nvSpPr>
          <p:cNvPr id="1563" name="Google Shape;1563;p14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$121,554</a:t>
            </a:r>
            <a:endParaRPr/>
          </a:p>
        </p:txBody>
      </p:sp>
      <p:sp>
        <p:nvSpPr>
          <p:cNvPr id="1564" name="Google Shape;1564;p14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OR</a:t>
            </a:r>
            <a:endParaRPr/>
          </a:p>
        </p:txBody>
      </p:sp>
      <p:sp>
        <p:nvSpPr>
          <p:cNvPr id="1565" name="Google Shape;1565;p14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360 Risk Partners Insurance So</a:t>
            </a:r>
            <a:endParaRPr/>
          </a:p>
        </p:txBody>
      </p:sp>
      <p:sp>
        <p:nvSpPr>
          <p:cNvPr id="1566" name="Google Shape;1566;p14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257080278776</a:t>
            </a:r>
            <a:endParaRPr/>
          </a:p>
        </p:txBody>
      </p:sp>
      <p:sp>
        <p:nvSpPr>
          <p:cNvPr id="1567" name="Google Shape;1567;p1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VALENNY TRANSPORT LLC</a:t>
            </a:r>
            <a:endParaRPr/>
          </a:p>
        </p:txBody>
      </p:sp>
      <p:sp>
        <p:nvSpPr>
          <p:cNvPr id="1568" name="Google Shape;1568;p14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2026-07-07</a:t>
            </a:r>
            <a:endParaRPr/>
          </a:p>
        </p:txBody>
      </p:sp>
      <p:sp>
        <p:nvSpPr>
          <p:cNvPr id="1569" name="Google Shape;1569;p14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59E0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48d</a:t>
            </a:r>
            <a:endParaRPr/>
          </a:p>
        </p:txBody>
      </p:sp>
      <p:sp>
        <p:nvSpPr>
          <p:cNvPr id="1570" name="Google Shape;1570;p14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MTC</a:t>
            </a:r>
            <a:endParaRPr/>
          </a:p>
        </p:txBody>
      </p:sp>
      <p:sp>
        <p:nvSpPr>
          <p:cNvPr id="1571" name="Google Shape;1571;p14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$960</a:t>
            </a:r>
            <a:endParaRPr/>
          </a:p>
        </p:txBody>
      </p:sp>
      <p:sp>
        <p:nvSpPr>
          <p:cNvPr id="1572" name="Google Shape;1572;p14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TN</a:t>
            </a:r>
            <a:endParaRPr/>
          </a:p>
        </p:txBody>
      </p:sp>
      <p:sp>
        <p:nvSpPr>
          <p:cNvPr id="1573" name="Google Shape;1573;p14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4" name="Google Shape;1574;p14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All Lines Associates, Inc. DBA</a:t>
            </a:r>
            <a:endParaRPr/>
          </a:p>
        </p:txBody>
      </p:sp>
      <p:sp>
        <p:nvSpPr>
          <p:cNvPr id="1575" name="Google Shape;1575;p14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255718681932</a:t>
            </a:r>
            <a:endParaRPr/>
          </a:p>
        </p:txBody>
      </p:sp>
      <p:sp>
        <p:nvSpPr>
          <p:cNvPr id="1576" name="Google Shape;1576;p14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APAT TRUCKING LLC</a:t>
            </a:r>
            <a:endParaRPr/>
          </a:p>
        </p:txBody>
      </p:sp>
      <p:sp>
        <p:nvSpPr>
          <p:cNvPr id="1577" name="Google Shape;1577;p1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2026-07-08</a:t>
            </a:r>
            <a:endParaRPr/>
          </a:p>
        </p:txBody>
      </p:sp>
      <p:sp>
        <p:nvSpPr>
          <p:cNvPr id="1578" name="Google Shape;1578;p14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59E0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49d</a:t>
            </a:r>
            <a:endParaRPr/>
          </a:p>
        </p:txBody>
      </p:sp>
      <p:sp>
        <p:nvSpPr>
          <p:cNvPr id="1579" name="Google Shape;1579;p14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APD</a:t>
            </a:r>
            <a:endParaRPr/>
          </a:p>
        </p:txBody>
      </p:sp>
      <p:sp>
        <p:nvSpPr>
          <p:cNvPr id="1580" name="Google Shape;1580;p14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$7,550</a:t>
            </a:r>
            <a:endParaRPr/>
          </a:p>
        </p:txBody>
      </p:sp>
      <p:sp>
        <p:nvSpPr>
          <p:cNvPr id="1581" name="Google Shape;1581;p14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TX</a:t>
            </a:r>
            <a:endParaRPr/>
          </a:p>
        </p:txBody>
      </p:sp>
      <p:sp>
        <p:nvSpPr>
          <p:cNvPr id="1582" name="Google Shape;1582;p14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All Lines Associates, Inc. DBA</a:t>
            </a:r>
            <a:endParaRPr/>
          </a:p>
        </p:txBody>
      </p:sp>
      <p:sp>
        <p:nvSpPr>
          <p:cNvPr id="1583" name="Google Shape;1583;p14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251690681994</a:t>
            </a:r>
            <a:endParaRPr/>
          </a:p>
        </p:txBody>
      </p:sp>
      <p:sp>
        <p:nvSpPr>
          <p:cNvPr id="1584" name="Google Shape;1584;p14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RED RIVER FREIGHT LINES INC</a:t>
            </a:r>
            <a:endParaRPr/>
          </a:p>
        </p:txBody>
      </p:sp>
      <p:sp>
        <p:nvSpPr>
          <p:cNvPr id="1585" name="Google Shape;1585;p14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2026-08-17</a:t>
            </a:r>
            <a:endParaRPr/>
          </a:p>
        </p:txBody>
      </p:sp>
      <p:sp>
        <p:nvSpPr>
          <p:cNvPr id="1586" name="Google Shape;1586;p14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89d</a:t>
            </a:r>
            <a:endParaRPr/>
          </a:p>
        </p:txBody>
      </p:sp>
      <p:sp>
        <p:nvSpPr>
          <p:cNvPr id="1587" name="Google Shape;1587;p1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APD</a:t>
            </a:r>
            <a:endParaRPr/>
          </a:p>
        </p:txBody>
      </p:sp>
      <p:sp>
        <p:nvSpPr>
          <p:cNvPr id="1588" name="Google Shape;1588;p14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$3,714</a:t>
            </a:r>
            <a:endParaRPr/>
          </a:p>
        </p:txBody>
      </p:sp>
      <p:sp>
        <p:nvSpPr>
          <p:cNvPr id="1589" name="Google Shape;1589;p14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TX</a:t>
            </a:r>
            <a:endParaRPr/>
          </a:p>
        </p:txBody>
      </p:sp>
      <p:sp>
        <p:nvSpPr>
          <p:cNvPr id="1590" name="Google Shape;1590;p14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Showing 8 of 8 upcoming renewals  |  Source: dw_reader.policy_premium  |  Active in-force only  |  Sorted by expiration date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594" name="Shape 15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5" name="Google Shape;1595;p15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6" name="Google Shape;1596;p15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Pending Cancellations — Save List — Next 90 Days</a:t>
            </a:r>
            <a:endParaRPr/>
          </a:p>
        </p:txBody>
      </p:sp>
      <p:sp>
        <p:nvSpPr>
          <p:cNvPr id="1597" name="Google Shape;1597;p15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Taylor Sloan  |  Policies with cancellation_date on or before Aug 18, 2026  |  Sorted by urgency — call these agencies first</a:t>
            </a:r>
            <a:endParaRPr/>
          </a:p>
        </p:txBody>
      </p:sp>
      <p:sp>
        <p:nvSpPr>
          <p:cNvPr id="1598" name="Google Shape;1598;p15"/>
          <p:cNvSpPr/>
          <p:nvPr/>
        </p:nvSpPr>
        <p:spPr>
          <a:xfrm>
            <a:off x="36576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POLICIES PENDING CANCEL</a:t>
            </a:r>
            <a:endParaRPr/>
          </a:p>
        </p:txBody>
      </p:sp>
      <p:sp>
        <p:nvSpPr>
          <p:cNvPr id="1599" name="Google Shape;1599;p15"/>
          <p:cNvSpPr/>
          <p:nvPr/>
        </p:nvSpPr>
        <p:spPr>
          <a:xfrm>
            <a:off x="274320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PREMIUM AT RISK</a:t>
            </a:r>
            <a:endParaRPr/>
          </a:p>
        </p:txBody>
      </p:sp>
      <p:sp>
        <p:nvSpPr>
          <p:cNvPr id="1600" name="Google Shape;1600;p15"/>
          <p:cNvSpPr/>
          <p:nvPr/>
        </p:nvSpPr>
        <p:spPr>
          <a:xfrm>
            <a:off x="512064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≤30 DAYS (URGENT)</a:t>
            </a:r>
            <a:endParaRPr/>
          </a:p>
        </p:txBody>
      </p:sp>
      <p:sp>
        <p:nvSpPr>
          <p:cNvPr id="1601" name="Google Shape;1601;p15"/>
          <p:cNvSpPr/>
          <p:nvPr/>
        </p:nvSpPr>
        <p:spPr>
          <a:xfrm>
            <a:off x="7498079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≤30 DAY PREMIUM</a:t>
            </a:r>
            <a:endParaRPr/>
          </a:p>
        </p:txBody>
      </p:sp>
      <p:sp>
        <p:nvSpPr>
          <p:cNvPr id="1602" name="Google Shape;1602;p15"/>
          <p:cNvSpPr/>
          <p:nvPr/>
        </p:nvSpPr>
        <p:spPr>
          <a:xfrm>
            <a:off x="987552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TOP REASON</a:t>
            </a:r>
            <a:endParaRPr/>
          </a:p>
        </p:txBody>
      </p:sp>
      <p:sp>
        <p:nvSpPr>
          <p:cNvPr id="1603" name="Google Shape;1603;p15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4" name="Google Shape;1604;p15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PENDING CANCELS (sorted by cancel date — earliest first)</a:t>
            </a:r>
            <a:endParaRPr/>
          </a:p>
        </p:txBody>
      </p:sp>
      <p:sp>
        <p:nvSpPr>
          <p:cNvPr id="1605" name="Google Shape;1605;p15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Days</a:t>
            </a:r>
            <a:endParaRPr/>
          </a:p>
        </p:txBody>
      </p:sp>
      <p:sp>
        <p:nvSpPr>
          <p:cNvPr id="1606" name="Google Shape;1606;p15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 Date</a:t>
            </a:r>
            <a:endParaRPr/>
          </a:p>
        </p:txBody>
      </p:sp>
      <p:sp>
        <p:nvSpPr>
          <p:cNvPr id="1607" name="Google Shape;1607;p15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 #</a:t>
            </a:r>
            <a:endParaRPr/>
          </a:p>
        </p:txBody>
      </p:sp>
      <p:sp>
        <p:nvSpPr>
          <p:cNvPr id="1608" name="Google Shape;1608;p15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Insured</a:t>
            </a:r>
            <a:endParaRPr/>
          </a:p>
        </p:txBody>
      </p:sp>
      <p:sp>
        <p:nvSpPr>
          <p:cNvPr id="1609" name="Google Shape;1609;p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Agency</a:t>
            </a:r>
            <a:endParaRPr/>
          </a:p>
        </p:txBody>
      </p:sp>
      <p:sp>
        <p:nvSpPr>
          <p:cNvPr id="1610" name="Google Shape;1610;p15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LOB</a:t>
            </a:r>
            <a:endParaRPr/>
          </a:p>
        </p:txBody>
      </p:sp>
      <p:sp>
        <p:nvSpPr>
          <p:cNvPr id="1611" name="Google Shape;1611;p15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State</a:t>
            </a:r>
            <a:endParaRPr/>
          </a:p>
        </p:txBody>
      </p:sp>
      <p:sp>
        <p:nvSpPr>
          <p:cNvPr id="1612" name="Google Shape;1612;p15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</a:t>
            </a:r>
            <a:endParaRPr/>
          </a:p>
        </p:txBody>
      </p:sp>
      <p:sp>
        <p:nvSpPr>
          <p:cNvPr id="1613" name="Google Shape;1613;p15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Reason</a:t>
            </a:r>
            <a:endParaRPr/>
          </a:p>
        </p:txBody>
      </p:sp>
      <p:sp>
        <p:nvSpPr>
          <p:cNvPr id="1614" name="Google Shape;1614;p15"/>
          <p:cNvSpPr txBox="1"/>
          <p:nvPr/>
        </p:nvSpPr>
        <p:spPr>
          <a:xfrm>
            <a:off x="457200" y="3657600"/>
            <a:ext cx="113385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pending cancellations in the next 90 days for this book. 🎉</a:t>
            </a:r>
            <a:endParaRPr/>
          </a:p>
        </p:txBody>
      </p:sp>
      <p:sp>
        <p:nvSpPr>
          <p:cNvPr id="1615" name="Google Shape;1615;p15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Showing 0 of 0 pending cancels  |  Source: dw_reader.policy_premium  |  Non-payment = green (most savable), Insured-requested = red, Days ≤14 = red  |  Action: contact agency, confirm reinstatement plan, escalate non-payment cases for billing fix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619" name="Shape 16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0" name="Google Shape;1620;p16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1" name="Google Shape;1621;p16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360 Risk Partners Insurance Solutions, Inc.</a:t>
            </a:r>
            <a:endParaRPr/>
          </a:p>
        </p:txBody>
      </p:sp>
      <p:sp>
        <p:nvSpPr>
          <p:cNvPr id="1622" name="Google Shape;1622;p16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3  |  Region: Pacific Northwest  |  State: CA  |  City: Sacramento</a:t>
            </a:r>
            <a:endParaRPr/>
          </a:p>
        </p:txBody>
      </p:sp>
      <p:sp>
        <p:nvSpPr>
          <p:cNvPr id="1623" name="Google Shape;1623;p16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$290,447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1624" name="Google Shape;1624;p16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$213,147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1625" name="Google Shape;1625;p16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$23,591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1626" name="Google Shape;1626;p16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$53,710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1627" name="Google Shape;1627;p16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$-110,183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1628" name="Google Shape;1628;p16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$223,957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1629" name="Google Shape;1629;p16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$454,523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1630" name="Google Shape;1630;p16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108%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1631" name="Google Shape;1631;p16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1632" name="Google Shape;1632;p16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1633" name="Google Shape;1633;p16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6.8%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1634" name="Google Shape;1634;p16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1635" name="Google Shape;1635;p16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$217,601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1636" name="Google Shape;1636;p16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7" name="Google Shape;1637;p16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1638" name="Google Shape;1638;p16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1639" name="Google Shape;1639;p16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1640" name="Google Shape;1640;p16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1641" name="Google Shape;1641;p16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1642" name="Google Shape;1642;p16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1643" name="Google Shape;1643;p16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1644" name="Google Shape;1644;p16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5" name="Google Shape;1645;p1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1646" name="Google Shape;1646;p16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$63,719</a:t>
            </a:r>
            <a:endParaRPr/>
          </a:p>
        </p:txBody>
      </p:sp>
      <p:sp>
        <p:nvSpPr>
          <p:cNvPr id="1647" name="Google Shape;1647;p16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$40,128</a:t>
            </a:r>
            <a:endParaRPr/>
          </a:p>
        </p:txBody>
      </p:sp>
      <p:sp>
        <p:nvSpPr>
          <p:cNvPr id="1648" name="Google Shape;1648;p16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$23,591</a:t>
            </a:r>
            <a:endParaRPr/>
          </a:p>
        </p:txBody>
      </p:sp>
      <p:sp>
        <p:nvSpPr>
          <p:cNvPr id="1649" name="Google Shape;1649;p16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650" name="Google Shape;1650;p16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651" name="Google Shape;1651;p16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2" name="Google Shape;1652;p16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1653" name="Google Shape;1653;p16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$413</a:t>
            </a:r>
            <a:endParaRPr/>
          </a:p>
        </p:txBody>
      </p:sp>
      <p:sp>
        <p:nvSpPr>
          <p:cNvPr id="1654" name="Google Shape;1654;p16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655" name="Google Shape;1655;p1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656" name="Google Shape;1656;p16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$413</a:t>
            </a:r>
            <a:endParaRPr/>
          </a:p>
        </p:txBody>
      </p:sp>
      <p:sp>
        <p:nvSpPr>
          <p:cNvPr id="1657" name="Google Shape;1657;p16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$-23,183</a:t>
            </a:r>
            <a:endParaRPr/>
          </a:p>
        </p:txBody>
      </p:sp>
      <p:sp>
        <p:nvSpPr>
          <p:cNvPr id="1658" name="Google Shape;1658;p16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9" name="Google Shape;1659;p16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1660" name="Google Shape;1660;p16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$78,204</a:t>
            </a:r>
            <a:endParaRPr/>
          </a:p>
        </p:txBody>
      </p:sp>
      <p:sp>
        <p:nvSpPr>
          <p:cNvPr id="1661" name="Google Shape;1661;p16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$65,276</a:t>
            </a:r>
            <a:endParaRPr/>
          </a:p>
        </p:txBody>
      </p:sp>
      <p:sp>
        <p:nvSpPr>
          <p:cNvPr id="1662" name="Google Shape;1662;p16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663" name="Google Shape;1663;p16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$12,928</a:t>
            </a:r>
            <a:endParaRPr/>
          </a:p>
        </p:txBody>
      </p:sp>
      <p:sp>
        <p:nvSpPr>
          <p:cNvPr id="1664" name="Google Shape;1664;p16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$-12,928</a:t>
            </a:r>
            <a:endParaRPr/>
          </a:p>
        </p:txBody>
      </p:sp>
      <p:sp>
        <p:nvSpPr>
          <p:cNvPr id="1665" name="Google Shape;1665;p1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6" name="Google Shape;1666;p16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1667" name="Google Shape;1667;p16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$111,337</a:t>
            </a:r>
            <a:endParaRPr/>
          </a:p>
        </p:txBody>
      </p:sp>
      <p:sp>
        <p:nvSpPr>
          <p:cNvPr id="1668" name="Google Shape;1668;p16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$91,407</a:t>
            </a:r>
            <a:endParaRPr/>
          </a:p>
        </p:txBody>
      </p:sp>
      <p:sp>
        <p:nvSpPr>
          <p:cNvPr id="1669" name="Google Shape;1669;p16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670" name="Google Shape;1670;p16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$19,930</a:t>
            </a:r>
            <a:endParaRPr/>
          </a:p>
        </p:txBody>
      </p:sp>
      <p:sp>
        <p:nvSpPr>
          <p:cNvPr id="1671" name="Google Shape;1671;p16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$-37,864</a:t>
            </a:r>
            <a:endParaRPr/>
          </a:p>
        </p:txBody>
      </p:sp>
      <p:sp>
        <p:nvSpPr>
          <p:cNvPr id="1672" name="Google Shape;1672;p16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3" name="Google Shape;1673;p16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1674" name="Google Shape;1674;p16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$36,775</a:t>
            </a:r>
            <a:endParaRPr/>
          </a:p>
        </p:txBody>
      </p:sp>
      <p:sp>
        <p:nvSpPr>
          <p:cNvPr id="1675" name="Google Shape;1675;p1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$16,336</a:t>
            </a:r>
            <a:endParaRPr/>
          </a:p>
        </p:txBody>
      </p:sp>
      <p:sp>
        <p:nvSpPr>
          <p:cNvPr id="1676" name="Google Shape;1676;p16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677" name="Google Shape;1677;p16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$20,438</a:t>
            </a:r>
            <a:endParaRPr/>
          </a:p>
        </p:txBody>
      </p:sp>
      <p:sp>
        <p:nvSpPr>
          <p:cNvPr id="1678" name="Google Shape;1678;p16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$-36,208</a:t>
            </a:r>
            <a:endParaRPr/>
          </a:p>
        </p:txBody>
      </p:sp>
      <p:sp>
        <p:nvSpPr>
          <p:cNvPr id="1679" name="Google Shape;1679;p16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0" name="Google Shape;1680;p16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1681" name="Google Shape;1681;p16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$290,447</a:t>
            </a:r>
            <a:endParaRPr/>
          </a:p>
        </p:txBody>
      </p:sp>
      <p:sp>
        <p:nvSpPr>
          <p:cNvPr id="1682" name="Google Shape;1682;p16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$213,147</a:t>
            </a:r>
            <a:endParaRPr/>
          </a:p>
        </p:txBody>
      </p:sp>
      <p:sp>
        <p:nvSpPr>
          <p:cNvPr id="1683" name="Google Shape;1683;p16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$23,591</a:t>
            </a:r>
            <a:endParaRPr/>
          </a:p>
        </p:txBody>
      </p:sp>
      <p:sp>
        <p:nvSpPr>
          <p:cNvPr id="1684" name="Google Shape;1684;p16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$53,710</a:t>
            </a:r>
            <a:endParaRPr/>
          </a:p>
        </p:txBody>
      </p:sp>
      <p:sp>
        <p:nvSpPr>
          <p:cNvPr id="1685" name="Google Shape;1685;p1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$-110,183</a:t>
            </a:r>
            <a:endParaRPr/>
          </a:p>
        </p:txBody>
      </p:sp>
      <p:sp>
        <p:nvSpPr>
          <p:cNvPr id="1686" name="Google Shape;1686;p16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7" name="Google Shape;1687;p16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1688" name="Google Shape;1688;p1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1689" name="Google Shape;1689;p16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1690" name="Google Shape;1690;p16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1691" name="Google Shape;1691;p16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1692" name="Google Shape;1692;p16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1693" name="Google Shape;1693;p16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1694" name="Google Shape;1694;p16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5" name="Google Shape;1695;p1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1696" name="Google Shape;1696;p16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1697" name="Google Shape;1697;p16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698" name="Google Shape;1698;p1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1699" name="Google Shape;1699;p16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700" name="Google Shape;1700;p16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5.0%</a:t>
            </a:r>
            <a:endParaRPr/>
          </a:p>
        </p:txBody>
      </p:sp>
      <p:sp>
        <p:nvSpPr>
          <p:cNvPr id="1701" name="Google Shape;1701;p16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2" name="Google Shape;1702;p16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1703" name="Google Shape;1703;p16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39</a:t>
            </a:r>
            <a:endParaRPr/>
          </a:p>
        </p:txBody>
      </p:sp>
      <p:sp>
        <p:nvSpPr>
          <p:cNvPr id="1704" name="Google Shape;1704;p16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705" name="Google Shape;1705;p1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37</a:t>
            </a:r>
            <a:endParaRPr/>
          </a:p>
        </p:txBody>
      </p:sp>
      <p:sp>
        <p:nvSpPr>
          <p:cNvPr id="1706" name="Google Shape;1706;p16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707" name="Google Shape;1707;p16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708" name="Google Shape;1708;p1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9" name="Google Shape;1709;p16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1710" name="Google Shape;1710;p16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</a:t>
            </a:r>
            <a:endParaRPr/>
          </a:p>
        </p:txBody>
      </p:sp>
      <p:sp>
        <p:nvSpPr>
          <p:cNvPr id="1711" name="Google Shape;1711;p16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712" name="Google Shape;1712;p16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</a:t>
            </a:r>
            <a:endParaRPr/>
          </a:p>
        </p:txBody>
      </p:sp>
      <p:sp>
        <p:nvSpPr>
          <p:cNvPr id="1713" name="Google Shape;1713;p16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1714" name="Google Shape;1714;p16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20.0%</a:t>
            </a:r>
            <a:endParaRPr/>
          </a:p>
        </p:txBody>
      </p:sp>
      <p:sp>
        <p:nvSpPr>
          <p:cNvPr id="1715" name="Google Shape;1715;p1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6" name="Google Shape;1716;p16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1717" name="Google Shape;1717;p16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</a:t>
            </a:r>
            <a:endParaRPr/>
          </a:p>
        </p:txBody>
      </p:sp>
      <p:sp>
        <p:nvSpPr>
          <p:cNvPr id="1718" name="Google Shape;1718;p1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719" name="Google Shape;1719;p16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</a:t>
            </a:r>
            <a:endParaRPr/>
          </a:p>
        </p:txBody>
      </p:sp>
      <p:sp>
        <p:nvSpPr>
          <p:cNvPr id="1720" name="Google Shape;1720;p16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1721" name="Google Shape;1721;p16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12.5%</a:t>
            </a:r>
            <a:endParaRPr/>
          </a:p>
        </p:txBody>
      </p:sp>
      <p:sp>
        <p:nvSpPr>
          <p:cNvPr id="1722" name="Google Shape;1722;p16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3" name="Google Shape;1723;p16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1724" name="Google Shape;1724;p16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1725" name="Google Shape;1725;p1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726" name="Google Shape;1726;p16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1727" name="Google Shape;1727;p16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728" name="Google Shape;1728;p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5.0%</a:t>
            </a:r>
            <a:endParaRPr/>
          </a:p>
        </p:txBody>
      </p:sp>
      <p:sp>
        <p:nvSpPr>
          <p:cNvPr id="1729" name="Google Shape;1729;p16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0" name="Google Shape;1730;p16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1731" name="Google Shape;1731;p16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132</a:t>
            </a:r>
            <a:endParaRPr/>
          </a:p>
        </p:txBody>
      </p:sp>
      <p:sp>
        <p:nvSpPr>
          <p:cNvPr id="1732" name="Google Shape;1732;p16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1733" name="Google Shape;1733;p16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128</a:t>
            </a:r>
            <a:endParaRPr/>
          </a:p>
        </p:txBody>
      </p:sp>
      <p:sp>
        <p:nvSpPr>
          <p:cNvPr id="1734" name="Google Shape;1734;p16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1735" name="Google Shape;1735;p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6.8%</a:t>
            </a:r>
            <a:endParaRPr/>
          </a:p>
        </p:txBody>
      </p:sp>
      <p:sp>
        <p:nvSpPr>
          <p:cNvPr id="1736" name="Google Shape;1736;p16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7" name="Google Shape;1737;p16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1738" name="Google Shape;1738;p16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739" name="Google Shape;1739;p16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1740" name="Google Shape;1740;p16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1741" name="Google Shape;1741;p16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1742" name="Google Shape;1742;p16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1743" name="Google Shape;1743;p16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1744" name="Google Shape;1744;p16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1745" name="Google Shape;1745;p1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1746" name="Google Shape;1746;p16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1747" name="Google Shape;1747;p16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1748" name="Google Shape;1748;p16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1749" name="Google Shape;1749;p16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1750" name="Google Shape;1750;p16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1751" name="Google Shape;1751;p16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1752" name="Google Shape;1752;p16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753" name="Google Shape;1753;p16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1754" name="Google Shape;1754;p16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755" name="Google Shape;1755;p1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39</a:t>
            </a:r>
            <a:endParaRPr/>
          </a:p>
        </p:txBody>
      </p:sp>
      <p:sp>
        <p:nvSpPr>
          <p:cNvPr id="1756" name="Google Shape;1756;p16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757" name="Google Shape;1757;p16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</a:t>
            </a:r>
            <a:endParaRPr/>
          </a:p>
        </p:txBody>
      </p:sp>
      <p:sp>
        <p:nvSpPr>
          <p:cNvPr id="1758" name="Google Shape;1758;p16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1759" name="Google Shape;1759;p16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</a:t>
            </a:r>
            <a:endParaRPr/>
          </a:p>
        </p:txBody>
      </p:sp>
      <p:sp>
        <p:nvSpPr>
          <p:cNvPr id="1760" name="Google Shape;1760;p16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1761" name="Google Shape;1761;p16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1762" name="Google Shape;1762;p16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1763" name="Google Shape;1763;p16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141</a:t>
            </a:r>
            <a:endParaRPr/>
          </a:p>
        </p:txBody>
      </p:sp>
      <p:sp>
        <p:nvSpPr>
          <p:cNvPr id="1764" name="Google Shape;1764;p16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1765" name="Google Shape;1765;p1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766" name="Google Shape;1766;p16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$64K</a:t>
            </a:r>
            <a:endParaRPr/>
          </a:p>
        </p:txBody>
      </p:sp>
      <p:sp>
        <p:nvSpPr>
          <p:cNvPr id="1767" name="Google Shape;1767;p16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$60K</a:t>
            </a:r>
            <a:endParaRPr/>
          </a:p>
        </p:txBody>
      </p:sp>
      <p:sp>
        <p:nvSpPr>
          <p:cNvPr id="1768" name="Google Shape;1768;p16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$413</a:t>
            </a:r>
            <a:endParaRPr/>
          </a:p>
        </p:txBody>
      </p:sp>
      <p:sp>
        <p:nvSpPr>
          <p:cNvPr id="1769" name="Google Shape;1769;p16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770" name="Google Shape;1770;p16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$78K</a:t>
            </a:r>
            <a:endParaRPr/>
          </a:p>
        </p:txBody>
      </p:sp>
      <p:sp>
        <p:nvSpPr>
          <p:cNvPr id="1771" name="Google Shape;1771;p16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772" name="Google Shape;1772;p16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$111K</a:t>
            </a:r>
            <a:endParaRPr/>
          </a:p>
        </p:txBody>
      </p:sp>
      <p:sp>
        <p:nvSpPr>
          <p:cNvPr id="1773" name="Google Shape;1773;p16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774" name="Google Shape;1774;p16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$37K</a:t>
            </a:r>
            <a:endParaRPr/>
          </a:p>
        </p:txBody>
      </p:sp>
      <p:sp>
        <p:nvSpPr>
          <p:cNvPr id="1775" name="Google Shape;1775;p1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$60K</a:t>
            </a:r>
            <a:endParaRPr/>
          </a:p>
        </p:txBody>
      </p:sp>
      <p:sp>
        <p:nvSpPr>
          <p:cNvPr id="1776" name="Google Shape;1776;p16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$290K</a:t>
            </a:r>
            <a:endParaRPr/>
          </a:p>
        </p:txBody>
      </p:sp>
      <p:sp>
        <p:nvSpPr>
          <p:cNvPr id="1777" name="Google Shape;1777;p16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8" name="Google Shape;1778;p16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1779" name="Google Shape;1779;p16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1780" name="Google Shape;1780;p16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$290,447 YTD gross written premium</a:t>
            </a:r>
            <a:endParaRPr/>
          </a:p>
        </p:txBody>
      </p:sp>
      <p:sp>
        <p:nvSpPr>
          <p:cNvPr id="1781" name="Google Shape;1781;p16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1782" name="Google Shape;1782;p16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$213,147 in new business production</a:t>
            </a:r>
            <a:endParaRPr/>
          </a:p>
        </p:txBody>
      </p:sp>
      <p:sp>
        <p:nvSpPr>
          <p:cNvPr id="1783" name="Google Shape;1783;p16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4" name="Google Shape;1784;p16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1785" name="Google Shape;1785;p1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1786" name="Google Shape;1786;p16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52% of new business ($110,183)</a:t>
            </a:r>
            <a:endParaRPr/>
          </a:p>
        </p:txBody>
      </p:sp>
      <p:sp>
        <p:nvSpPr>
          <p:cNvPr id="1787" name="Google Shape;1787;p1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1788" name="Google Shape;1788;p16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 dropped 67% month-over-month</a:t>
            </a:r>
            <a:endParaRPr/>
          </a:p>
        </p:txBody>
      </p:sp>
      <p:sp>
        <p:nvSpPr>
          <p:cNvPr id="1789" name="Google Shape;1789;p1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0" name="Google Shape;1790;p16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1791" name="Google Shape;1791;p16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1792" name="Google Shape;1792;p16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$213,147 in new business. Ask: "What types of accounts are you seeing the most success with?" Use this to identify more of their book that fits our appetite.</a:t>
            </a:r>
            <a:endParaRPr/>
          </a:p>
        </p:txBody>
      </p:sp>
      <p:sp>
        <p:nvSpPr>
          <p:cNvPr id="1793" name="Google Shape;1793;p16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1794" name="Google Shape;1794;p16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Address the $110,183 in cancellations. Ask: "Are we losing these to price, service, or coverage?" Proactive retention discussions can protect the book and strengthen the relationship.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798" name="Shape 17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9" name="Google Shape;1799;p17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0" name="Google Shape;1800;p17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Fredrick B. Roberson Insurance Services, Inc.</a:t>
            </a:r>
            <a:endParaRPr/>
          </a:p>
        </p:txBody>
      </p:sp>
      <p:sp>
        <p:nvSpPr>
          <p:cNvPr id="1801" name="Google Shape;1801;p17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3  |  Region: Pacific Northwest  |  State: California  |  City: Redding</a:t>
            </a:r>
            <a:endParaRPr/>
          </a:p>
        </p:txBody>
      </p:sp>
      <p:sp>
        <p:nvSpPr>
          <p:cNvPr id="1802" name="Google Shape;1802;p17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$241,087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1803" name="Google Shape;1803;p17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$152,737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1804" name="Google Shape;1804;p17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1805" name="Google Shape;1805;p17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$88,350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1806" name="Google Shape;1806;p17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$-134,613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1807" name="Google Shape;1807;p17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$652,204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1808" name="Google Shape;1808;p17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$558,701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1809" name="Google Shape;1809;p17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1810" name="Google Shape;1810;p17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1811" name="Google Shape;1811;p17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1812" name="Google Shape;1812;p17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5.7%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1813" name="Google Shape;1813;p17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1814" name="Google Shape;1814;p17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$192,175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1815" name="Google Shape;1815;p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6" name="Google Shape;1816;p17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1817" name="Google Shape;1817;p17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1818" name="Google Shape;1818;p17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1819" name="Google Shape;1819;p17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1820" name="Google Shape;1820;p17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1821" name="Google Shape;1821;p17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1822" name="Google Shape;1822;p17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1823" name="Google Shape;1823;p17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4" name="Google Shape;1824;p17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1825" name="Google Shape;1825;p1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$46,132</a:t>
            </a:r>
            <a:endParaRPr/>
          </a:p>
        </p:txBody>
      </p:sp>
      <p:sp>
        <p:nvSpPr>
          <p:cNvPr id="1826" name="Google Shape;1826;p17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$46,132</a:t>
            </a:r>
            <a:endParaRPr/>
          </a:p>
        </p:txBody>
      </p:sp>
      <p:sp>
        <p:nvSpPr>
          <p:cNvPr id="1827" name="Google Shape;1827;p17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828" name="Google Shape;1828;p17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829" name="Google Shape;1829;p17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$-45,513</a:t>
            </a:r>
            <a:endParaRPr/>
          </a:p>
        </p:txBody>
      </p:sp>
      <p:sp>
        <p:nvSpPr>
          <p:cNvPr id="1830" name="Google Shape;1830;p17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1" name="Google Shape;1831;p17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1832" name="Google Shape;1832;p17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$92,512</a:t>
            </a:r>
            <a:endParaRPr/>
          </a:p>
        </p:txBody>
      </p:sp>
      <p:sp>
        <p:nvSpPr>
          <p:cNvPr id="1833" name="Google Shape;1833;p17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$50,299</a:t>
            </a:r>
            <a:endParaRPr/>
          </a:p>
        </p:txBody>
      </p:sp>
      <p:sp>
        <p:nvSpPr>
          <p:cNvPr id="1834" name="Google Shape;1834;p17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835" name="Google Shape;1835;p1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$42,214</a:t>
            </a:r>
            <a:endParaRPr/>
          </a:p>
        </p:txBody>
      </p:sp>
      <p:sp>
        <p:nvSpPr>
          <p:cNvPr id="1836" name="Google Shape;1836;p17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$-42,214</a:t>
            </a:r>
            <a:endParaRPr/>
          </a:p>
        </p:txBody>
      </p:sp>
      <p:sp>
        <p:nvSpPr>
          <p:cNvPr id="1837" name="Google Shape;1837;p17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8" name="Google Shape;1838;p17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1839" name="Google Shape;1839;p17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$59,813</a:t>
            </a:r>
            <a:endParaRPr/>
          </a:p>
        </p:txBody>
      </p:sp>
      <p:sp>
        <p:nvSpPr>
          <p:cNvPr id="1840" name="Google Shape;1840;p17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$12,926</a:t>
            </a:r>
            <a:endParaRPr/>
          </a:p>
        </p:txBody>
      </p:sp>
      <p:sp>
        <p:nvSpPr>
          <p:cNvPr id="1841" name="Google Shape;1841;p17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842" name="Google Shape;1842;p17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$46,887</a:t>
            </a:r>
            <a:endParaRPr/>
          </a:p>
        </p:txBody>
      </p:sp>
      <p:sp>
        <p:nvSpPr>
          <p:cNvPr id="1843" name="Google Shape;1843;p17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$-46,887</a:t>
            </a:r>
            <a:endParaRPr/>
          </a:p>
        </p:txBody>
      </p:sp>
      <p:sp>
        <p:nvSpPr>
          <p:cNvPr id="1844" name="Google Shape;1844;p17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5" name="Google Shape;1845;p1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1846" name="Google Shape;1846;p17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847" name="Google Shape;1847;p17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848" name="Google Shape;1848;p17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849" name="Google Shape;1849;p17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850" name="Google Shape;1850;p17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851" name="Google Shape;1851;p17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2" name="Google Shape;1852;p17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1853" name="Google Shape;1853;p17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$42,630</a:t>
            </a:r>
            <a:endParaRPr/>
          </a:p>
        </p:txBody>
      </p:sp>
      <p:sp>
        <p:nvSpPr>
          <p:cNvPr id="1854" name="Google Shape;1854;p17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$43,380</a:t>
            </a:r>
            <a:endParaRPr/>
          </a:p>
        </p:txBody>
      </p:sp>
      <p:sp>
        <p:nvSpPr>
          <p:cNvPr id="1855" name="Google Shape;1855;p1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856" name="Google Shape;1856;p17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$-750</a:t>
            </a:r>
            <a:endParaRPr/>
          </a:p>
        </p:txBody>
      </p:sp>
      <p:sp>
        <p:nvSpPr>
          <p:cNvPr id="1857" name="Google Shape;1857;p17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858" name="Google Shape;1858;p17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9" name="Google Shape;1859;p17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1860" name="Google Shape;1860;p17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$241,087</a:t>
            </a:r>
            <a:endParaRPr/>
          </a:p>
        </p:txBody>
      </p:sp>
      <p:sp>
        <p:nvSpPr>
          <p:cNvPr id="1861" name="Google Shape;1861;p17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$152,737</a:t>
            </a:r>
            <a:endParaRPr/>
          </a:p>
        </p:txBody>
      </p:sp>
      <p:sp>
        <p:nvSpPr>
          <p:cNvPr id="1862" name="Google Shape;1862;p17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863" name="Google Shape;1863;p17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$88,350</a:t>
            </a:r>
            <a:endParaRPr/>
          </a:p>
        </p:txBody>
      </p:sp>
      <p:sp>
        <p:nvSpPr>
          <p:cNvPr id="1864" name="Google Shape;1864;p17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$-134,613</a:t>
            </a:r>
            <a:endParaRPr/>
          </a:p>
        </p:txBody>
      </p:sp>
      <p:sp>
        <p:nvSpPr>
          <p:cNvPr id="1865" name="Google Shape;1865;p1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6" name="Google Shape;1866;p17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1867" name="Google Shape;1867;p17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1868" name="Google Shape;1868;p1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1869" name="Google Shape;1869;p17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1870" name="Google Shape;1870;p17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1871" name="Google Shape;1871;p17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1872" name="Google Shape;1872;p17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1873" name="Google Shape;1873;p17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4" name="Google Shape;1874;p17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1875" name="Google Shape;1875;p1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</a:t>
            </a:r>
            <a:endParaRPr/>
          </a:p>
        </p:txBody>
      </p:sp>
      <p:sp>
        <p:nvSpPr>
          <p:cNvPr id="1876" name="Google Shape;1876;p17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877" name="Google Shape;1877;p17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</a:t>
            </a:r>
            <a:endParaRPr/>
          </a:p>
        </p:txBody>
      </p:sp>
      <p:sp>
        <p:nvSpPr>
          <p:cNvPr id="1878" name="Google Shape;1878;p1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879" name="Google Shape;1879;p17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3.6%</a:t>
            </a:r>
            <a:endParaRPr/>
          </a:p>
        </p:txBody>
      </p:sp>
      <p:sp>
        <p:nvSpPr>
          <p:cNvPr id="1880" name="Google Shape;1880;p17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1" name="Google Shape;1881;p17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1882" name="Google Shape;1882;p17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34</a:t>
            </a:r>
            <a:endParaRPr/>
          </a:p>
        </p:txBody>
      </p:sp>
      <p:sp>
        <p:nvSpPr>
          <p:cNvPr id="1883" name="Google Shape;1883;p17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1884" name="Google Shape;1884;p17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</a:t>
            </a:r>
            <a:endParaRPr/>
          </a:p>
        </p:txBody>
      </p:sp>
      <p:sp>
        <p:nvSpPr>
          <p:cNvPr id="1885" name="Google Shape;1885;p1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1886" name="Google Shape;1886;p17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8.8%</a:t>
            </a:r>
            <a:endParaRPr/>
          </a:p>
        </p:txBody>
      </p:sp>
      <p:sp>
        <p:nvSpPr>
          <p:cNvPr id="1887" name="Google Shape;1887;p17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8" name="Google Shape;1888;p1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1889" name="Google Shape;1889;p17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</a:t>
            </a:r>
            <a:endParaRPr/>
          </a:p>
        </p:txBody>
      </p:sp>
      <p:sp>
        <p:nvSpPr>
          <p:cNvPr id="1890" name="Google Shape;1890;p17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1891" name="Google Shape;1891;p17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1892" name="Google Shape;1892;p17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1893" name="Google Shape;1893;p17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9.1%</a:t>
            </a:r>
            <a:endParaRPr/>
          </a:p>
        </p:txBody>
      </p:sp>
      <p:sp>
        <p:nvSpPr>
          <p:cNvPr id="1894" name="Google Shape;1894;p17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5" name="Google Shape;1895;p1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1896" name="Google Shape;1896;p17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38</a:t>
            </a:r>
            <a:endParaRPr/>
          </a:p>
        </p:txBody>
      </p:sp>
      <p:sp>
        <p:nvSpPr>
          <p:cNvPr id="1897" name="Google Shape;1897;p17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898" name="Google Shape;1898;p1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36</a:t>
            </a:r>
            <a:endParaRPr/>
          </a:p>
        </p:txBody>
      </p:sp>
      <p:sp>
        <p:nvSpPr>
          <p:cNvPr id="1899" name="Google Shape;1899;p17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900" name="Google Shape;1900;p17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2.6%</a:t>
            </a:r>
            <a:endParaRPr/>
          </a:p>
        </p:txBody>
      </p:sp>
      <p:sp>
        <p:nvSpPr>
          <p:cNvPr id="1901" name="Google Shape;1901;p17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2" name="Google Shape;1902;p17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1903" name="Google Shape;1903;p17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1904" name="Google Shape;1904;p17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905" name="Google Shape;1905;p1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1906" name="Google Shape;1906;p17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1907" name="Google Shape;1907;p17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23.5%</a:t>
            </a:r>
            <a:endParaRPr/>
          </a:p>
        </p:txBody>
      </p:sp>
      <p:sp>
        <p:nvSpPr>
          <p:cNvPr id="1908" name="Google Shape;1908;p17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9" name="Google Shape;1909;p17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1910" name="Google Shape;1910;p17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141</a:t>
            </a:r>
            <a:endParaRPr/>
          </a:p>
        </p:txBody>
      </p:sp>
      <p:sp>
        <p:nvSpPr>
          <p:cNvPr id="1911" name="Google Shape;1911;p17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1912" name="Google Shape;1912;p17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123</a:t>
            </a:r>
            <a:endParaRPr/>
          </a:p>
        </p:txBody>
      </p:sp>
      <p:sp>
        <p:nvSpPr>
          <p:cNvPr id="1913" name="Google Shape;1913;p17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1914" name="Google Shape;1914;p17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5.7%</a:t>
            </a:r>
            <a:endParaRPr/>
          </a:p>
        </p:txBody>
      </p:sp>
      <p:sp>
        <p:nvSpPr>
          <p:cNvPr id="1915" name="Google Shape;1915;p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6" name="Google Shape;1916;p17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1917" name="Google Shape;1917;p17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918" name="Google Shape;1918;p17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1919" name="Google Shape;1919;p17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1920" name="Google Shape;1920;p17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1921" name="Google Shape;1921;p17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1922" name="Google Shape;1922;p17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1923" name="Google Shape;1923;p17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1924" name="Google Shape;1924;p17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1925" name="Google Shape;1925;p1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1926" name="Google Shape;1926;p17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1927" name="Google Shape;1927;p17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1928" name="Google Shape;1928;p17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1929" name="Google Shape;1929;p17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1930" name="Google Shape;1930;p17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1931" name="Google Shape;1931;p17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</a:t>
            </a:r>
            <a:endParaRPr/>
          </a:p>
        </p:txBody>
      </p:sp>
      <p:sp>
        <p:nvSpPr>
          <p:cNvPr id="1932" name="Google Shape;1932;p17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</a:t>
            </a:r>
            <a:endParaRPr/>
          </a:p>
        </p:txBody>
      </p:sp>
      <p:sp>
        <p:nvSpPr>
          <p:cNvPr id="1933" name="Google Shape;1933;p17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1934" name="Google Shape;1934;p17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34</a:t>
            </a:r>
            <a:endParaRPr/>
          </a:p>
        </p:txBody>
      </p:sp>
      <p:sp>
        <p:nvSpPr>
          <p:cNvPr id="1935" name="Google Shape;1935;p1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1936" name="Google Shape;1936;p17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</a:t>
            </a:r>
            <a:endParaRPr/>
          </a:p>
        </p:txBody>
      </p:sp>
      <p:sp>
        <p:nvSpPr>
          <p:cNvPr id="1937" name="Google Shape;1937;p17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1938" name="Google Shape;1938;p17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38</a:t>
            </a:r>
            <a:endParaRPr/>
          </a:p>
        </p:txBody>
      </p:sp>
      <p:sp>
        <p:nvSpPr>
          <p:cNvPr id="1939" name="Google Shape;1939;p17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1940" name="Google Shape;1940;p17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1941" name="Google Shape;1941;p17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84</a:t>
            </a:r>
            <a:endParaRPr/>
          </a:p>
        </p:txBody>
      </p:sp>
      <p:sp>
        <p:nvSpPr>
          <p:cNvPr id="1942" name="Google Shape;1942;p17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150</a:t>
            </a:r>
            <a:endParaRPr/>
          </a:p>
        </p:txBody>
      </p:sp>
      <p:sp>
        <p:nvSpPr>
          <p:cNvPr id="1943" name="Google Shape;1943;p17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1944" name="Google Shape;1944;p17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$1K</a:t>
            </a:r>
            <a:endParaRPr/>
          </a:p>
        </p:txBody>
      </p:sp>
      <p:sp>
        <p:nvSpPr>
          <p:cNvPr id="1945" name="Google Shape;1945;p1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$46K</a:t>
            </a:r>
            <a:endParaRPr/>
          </a:p>
        </p:txBody>
      </p:sp>
      <p:sp>
        <p:nvSpPr>
          <p:cNvPr id="1946" name="Google Shape;1946;p17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$30K</a:t>
            </a:r>
            <a:endParaRPr/>
          </a:p>
        </p:txBody>
      </p:sp>
      <p:sp>
        <p:nvSpPr>
          <p:cNvPr id="1947" name="Google Shape;1947;p17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$93K</a:t>
            </a:r>
            <a:endParaRPr/>
          </a:p>
        </p:txBody>
      </p:sp>
      <p:sp>
        <p:nvSpPr>
          <p:cNvPr id="1948" name="Google Shape;1948;p17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$59K</a:t>
            </a:r>
            <a:endParaRPr/>
          </a:p>
        </p:txBody>
      </p:sp>
      <p:sp>
        <p:nvSpPr>
          <p:cNvPr id="1949" name="Google Shape;1949;p17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$60K</a:t>
            </a:r>
            <a:endParaRPr/>
          </a:p>
        </p:txBody>
      </p:sp>
      <p:sp>
        <p:nvSpPr>
          <p:cNvPr id="1950" name="Google Shape;1950;p17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$12K</a:t>
            </a:r>
            <a:endParaRPr/>
          </a:p>
        </p:txBody>
      </p:sp>
      <p:sp>
        <p:nvSpPr>
          <p:cNvPr id="1951" name="Google Shape;1951;p17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952" name="Google Shape;1952;p17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$232K</a:t>
            </a:r>
            <a:endParaRPr/>
          </a:p>
        </p:txBody>
      </p:sp>
      <p:sp>
        <p:nvSpPr>
          <p:cNvPr id="1953" name="Google Shape;1953;p17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$43K</a:t>
            </a:r>
            <a:endParaRPr/>
          </a:p>
        </p:txBody>
      </p:sp>
      <p:sp>
        <p:nvSpPr>
          <p:cNvPr id="1954" name="Google Shape;1954;p17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$335K</a:t>
            </a:r>
            <a:endParaRPr/>
          </a:p>
        </p:txBody>
      </p:sp>
      <p:sp>
        <p:nvSpPr>
          <p:cNvPr id="1955" name="Google Shape;1955;p1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$241K</a:t>
            </a:r>
            <a:endParaRPr/>
          </a:p>
        </p:txBody>
      </p:sp>
      <p:sp>
        <p:nvSpPr>
          <p:cNvPr id="1956" name="Google Shape;1956;p17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7" name="Google Shape;1957;p17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1958" name="Google Shape;1958;p17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1959" name="Google Shape;1959;p17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$241,087 YTD gross written premium</a:t>
            </a:r>
            <a:endParaRPr/>
          </a:p>
        </p:txBody>
      </p:sp>
      <p:sp>
        <p:nvSpPr>
          <p:cNvPr id="1960" name="Google Shape;1960;p17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1961" name="Google Shape;1961;p17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$152,737 in new business production</a:t>
            </a:r>
            <a:endParaRPr/>
          </a:p>
        </p:txBody>
      </p:sp>
      <p:sp>
        <p:nvSpPr>
          <p:cNvPr id="1962" name="Google Shape;1962;p17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3" name="Google Shape;1963;p17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1964" name="Google Shape;1964;p17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1965" name="Google Shape;1965;p1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88% of new business ($134,613)</a:t>
            </a:r>
            <a:endParaRPr/>
          </a:p>
        </p:txBody>
      </p:sp>
      <p:sp>
        <p:nvSpPr>
          <p:cNvPr id="1966" name="Google Shape;1966;p17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1967" name="Google Shape;1967;p1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 volume dropped from 38 to 17 MoM</a:t>
            </a:r>
            <a:endParaRPr/>
          </a:p>
        </p:txBody>
      </p:sp>
      <p:sp>
        <p:nvSpPr>
          <p:cNvPr id="1968" name="Google Shape;1968;p17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9" name="Google Shape;1969;p1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1970" name="Google Shape;1970;p17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1971" name="Google Shape;1971;p17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$152,737 in new business. Ask: "What types of accounts are you seeing the most success with?" Use this to identify more of their book that fits our appetite.</a:t>
            </a:r>
            <a:endParaRPr/>
          </a:p>
        </p:txBody>
      </p:sp>
      <p:sp>
        <p:nvSpPr>
          <p:cNvPr id="1972" name="Google Shape;1972;p17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1973" name="Google Shape;1973;p17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Address the $134,613 in cancellations. Ask: "Are we losing these to price, service, or coverage?" Proactive retention discussions can protect the book and strengthen the relationship.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977" name="Shape 19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8" name="Google Shape;1978;p18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9" name="Google Shape;1979;p18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Millan Group, Inc.</a:t>
            </a:r>
            <a:endParaRPr/>
          </a:p>
        </p:txBody>
      </p:sp>
      <p:sp>
        <p:nvSpPr>
          <p:cNvPr id="1980" name="Google Shape;1980;p18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3  |  Region: Pacific Northwest  |  State: CA  |  City: N/A</a:t>
            </a:r>
            <a:endParaRPr/>
          </a:p>
        </p:txBody>
      </p:sp>
      <p:sp>
        <p:nvSpPr>
          <p:cNvPr id="1981" name="Google Shape;1981;p18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$205,400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1982" name="Google Shape;1982;p18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$205,561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1983" name="Google Shape;1983;p18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1984" name="Google Shape;1984;p18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$-161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1985" name="Google Shape;1985;p18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$-184,861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1986" name="Google Shape;1986;p18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$82,176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1987" name="Google Shape;1987;p18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$287,576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1988" name="Google Shape;1988;p18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208%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1989" name="Google Shape;1989;p18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1990" name="Google Shape;1990;p18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1991" name="Google Shape;1991;p18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1.8%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1992" name="Google Shape;1992;p18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$172,270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1993" name="Google Shape;1993;p18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1994" name="Google Shape;1994;p18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5" name="Google Shape;1995;p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1996" name="Google Shape;1996;p18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1997" name="Google Shape;1997;p18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1998" name="Google Shape;1998;p18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1999" name="Google Shape;1999;p18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2000" name="Google Shape;2000;p18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2001" name="Google Shape;2001;p18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2002" name="Google Shape;2002;p18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3" name="Google Shape;2003;p18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2004" name="Google Shape;2004;p18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$176,420</a:t>
            </a:r>
            <a:endParaRPr/>
          </a:p>
        </p:txBody>
      </p:sp>
      <p:sp>
        <p:nvSpPr>
          <p:cNvPr id="2005" name="Google Shape;2005;p1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$176,420</a:t>
            </a:r>
            <a:endParaRPr/>
          </a:p>
        </p:txBody>
      </p:sp>
      <p:sp>
        <p:nvSpPr>
          <p:cNvPr id="2006" name="Google Shape;2006;p18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007" name="Google Shape;2007;p18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008" name="Google Shape;2008;p18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009" name="Google Shape;2009;p18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0" name="Google Shape;2010;p18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011" name="Google Shape;2011;p18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012" name="Google Shape;2012;p18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013" name="Google Shape;2013;p18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014" name="Google Shape;2014;p18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015" name="Google Shape;2015;p1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$-13,414</a:t>
            </a:r>
            <a:endParaRPr/>
          </a:p>
        </p:txBody>
      </p:sp>
      <p:sp>
        <p:nvSpPr>
          <p:cNvPr id="2016" name="Google Shape;2016;p18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7" name="Google Shape;2017;p18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2018" name="Google Shape;2018;p18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$-161</a:t>
            </a:r>
            <a:endParaRPr/>
          </a:p>
        </p:txBody>
      </p:sp>
      <p:sp>
        <p:nvSpPr>
          <p:cNvPr id="2019" name="Google Shape;2019;p18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020" name="Google Shape;2020;p18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021" name="Google Shape;2021;p18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$-161</a:t>
            </a:r>
            <a:endParaRPr/>
          </a:p>
        </p:txBody>
      </p:sp>
      <p:sp>
        <p:nvSpPr>
          <p:cNvPr id="2022" name="Google Shape;2022;p18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023" name="Google Shape;2023;p18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4" name="Google Shape;2024;p18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2025" name="Google Shape;2025;p1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$29,140</a:t>
            </a:r>
            <a:endParaRPr/>
          </a:p>
        </p:txBody>
      </p:sp>
      <p:sp>
        <p:nvSpPr>
          <p:cNvPr id="2026" name="Google Shape;2026;p18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$29,140</a:t>
            </a:r>
            <a:endParaRPr/>
          </a:p>
        </p:txBody>
      </p:sp>
      <p:sp>
        <p:nvSpPr>
          <p:cNvPr id="2027" name="Google Shape;2027;p18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028" name="Google Shape;2028;p18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029" name="Google Shape;2029;p18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$-14,284</a:t>
            </a:r>
            <a:endParaRPr/>
          </a:p>
        </p:txBody>
      </p:sp>
      <p:sp>
        <p:nvSpPr>
          <p:cNvPr id="2030" name="Google Shape;2030;p18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1" name="Google Shape;2031;p18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032" name="Google Shape;2032;p18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033" name="Google Shape;2033;p18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034" name="Google Shape;2034;p18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035" name="Google Shape;2035;p1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036" name="Google Shape;2036;p18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$-157,164</a:t>
            </a:r>
            <a:endParaRPr/>
          </a:p>
        </p:txBody>
      </p:sp>
      <p:sp>
        <p:nvSpPr>
          <p:cNvPr id="2037" name="Google Shape;2037;p18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8" name="Google Shape;2038;p18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2039" name="Google Shape;2039;p18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$205,400</a:t>
            </a:r>
            <a:endParaRPr/>
          </a:p>
        </p:txBody>
      </p:sp>
      <p:sp>
        <p:nvSpPr>
          <p:cNvPr id="2040" name="Google Shape;2040;p18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$205,561</a:t>
            </a:r>
            <a:endParaRPr/>
          </a:p>
        </p:txBody>
      </p:sp>
      <p:sp>
        <p:nvSpPr>
          <p:cNvPr id="2041" name="Google Shape;2041;p18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042" name="Google Shape;2042;p18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$-161</a:t>
            </a:r>
            <a:endParaRPr/>
          </a:p>
        </p:txBody>
      </p:sp>
      <p:sp>
        <p:nvSpPr>
          <p:cNvPr id="2043" name="Google Shape;2043;p18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$-184,861</a:t>
            </a:r>
            <a:endParaRPr/>
          </a:p>
        </p:txBody>
      </p:sp>
      <p:sp>
        <p:nvSpPr>
          <p:cNvPr id="2044" name="Google Shape;2044;p18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5" name="Google Shape;2045;p1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2046" name="Google Shape;2046;p18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047" name="Google Shape;2047;p18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2048" name="Google Shape;2048;p1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2049" name="Google Shape;2049;p18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2050" name="Google Shape;2050;p18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051" name="Google Shape;2051;p18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2052" name="Google Shape;2052;p18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3" name="Google Shape;2053;p18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2054" name="Google Shape;2054;p18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2055" name="Google Shape;2055;p1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2056" name="Google Shape;2056;p18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2057" name="Google Shape;2057;p18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058" name="Google Shape;2058;p1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4.5%</a:t>
            </a:r>
            <a:endParaRPr/>
          </a:p>
        </p:txBody>
      </p:sp>
      <p:sp>
        <p:nvSpPr>
          <p:cNvPr id="2059" name="Google Shape;2059;p18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0" name="Google Shape;2060;p18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061" name="Google Shape;2061;p18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2062" name="Google Shape;2062;p18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063" name="Google Shape;2063;p18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2064" name="Google Shape;2064;p18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065" name="Google Shape;2065;p1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2066" name="Google Shape;2066;p18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7" name="Google Shape;2067;p18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2068" name="Google Shape;2068;p1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2069" name="Google Shape;2069;p18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2070" name="Google Shape;2070;p18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2071" name="Google Shape;2071;p18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072" name="Google Shape;2072;p18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14.3%</a:t>
            </a:r>
            <a:endParaRPr/>
          </a:p>
        </p:txBody>
      </p:sp>
      <p:sp>
        <p:nvSpPr>
          <p:cNvPr id="2073" name="Google Shape;2073;p18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4" name="Google Shape;2074;p18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2075" name="Google Shape;2075;p1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2076" name="Google Shape;2076;p18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2077" name="Google Shape;2077;p18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2078" name="Google Shape;2078;p1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079" name="Google Shape;2079;p18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5.6%</a:t>
            </a:r>
            <a:endParaRPr/>
          </a:p>
        </p:txBody>
      </p:sp>
      <p:sp>
        <p:nvSpPr>
          <p:cNvPr id="2080" name="Google Shape;2080;p18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1" name="Google Shape;2081;p18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082" name="Google Shape;2082;p18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2083" name="Google Shape;2083;p18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084" name="Google Shape;2084;p18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2085" name="Google Shape;2085;p1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086" name="Google Shape;2086;p18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2087" name="Google Shape;2087;p18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8" name="Google Shape;2088;p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2089" name="Google Shape;2089;p18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57</a:t>
            </a:r>
            <a:endParaRPr/>
          </a:p>
        </p:txBody>
      </p:sp>
      <p:sp>
        <p:nvSpPr>
          <p:cNvPr id="2090" name="Google Shape;2090;p18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2091" name="Google Shape;2091;p18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48</a:t>
            </a:r>
            <a:endParaRPr/>
          </a:p>
        </p:txBody>
      </p:sp>
      <p:sp>
        <p:nvSpPr>
          <p:cNvPr id="2092" name="Google Shape;2092;p18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093" name="Google Shape;2093;p18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1.8%</a:t>
            </a:r>
            <a:endParaRPr/>
          </a:p>
        </p:txBody>
      </p:sp>
      <p:sp>
        <p:nvSpPr>
          <p:cNvPr id="2094" name="Google Shape;2094;p18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5" name="Google Shape;2095;p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2096" name="Google Shape;2096;p18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2097" name="Google Shape;2097;p18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2098" name="Google Shape;2098;p18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2099" name="Google Shape;2099;p18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2100" name="Google Shape;2100;p18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2101" name="Google Shape;2101;p18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2102" name="Google Shape;2102;p18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2103" name="Google Shape;2103;p18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2104" name="Google Shape;2104;p18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2105" name="Google Shape;2105;p1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2106" name="Google Shape;2106;p18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2107" name="Google Shape;2107;p18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2108" name="Google Shape;2108;p18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2109" name="Google Shape;2109;p18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2110" name="Google Shape;2110;p18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111" name="Google Shape;2111;p18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2112" name="Google Shape;2112;p18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113" name="Google Shape;2113;p18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2114" name="Google Shape;2114;p18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115" name="Google Shape;2115;p1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2116" name="Google Shape;2116;p18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117" name="Google Shape;2117;p18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2118" name="Google Shape;2118;p18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119" name="Google Shape;2119;p18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2120" name="Google Shape;2120;p18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121" name="Google Shape;2121;p18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64</a:t>
            </a:r>
            <a:endParaRPr/>
          </a:p>
        </p:txBody>
      </p:sp>
      <p:sp>
        <p:nvSpPr>
          <p:cNvPr id="2122" name="Google Shape;2122;p18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2123" name="Google Shape;2123;p18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124" name="Google Shape;2124;p18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$176K</a:t>
            </a:r>
            <a:endParaRPr/>
          </a:p>
        </p:txBody>
      </p:sp>
      <p:sp>
        <p:nvSpPr>
          <p:cNvPr id="2125" name="Google Shape;2125;p1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126" name="Google Shape;2126;p18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127" name="Google Shape;2127;p18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128" name="Google Shape;2128;p18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$-161</a:t>
            </a:r>
            <a:endParaRPr/>
          </a:p>
        </p:txBody>
      </p:sp>
      <p:sp>
        <p:nvSpPr>
          <p:cNvPr id="2129" name="Google Shape;2129;p18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130" name="Google Shape;2130;p18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$29K</a:t>
            </a:r>
            <a:endParaRPr/>
          </a:p>
        </p:txBody>
      </p:sp>
      <p:sp>
        <p:nvSpPr>
          <p:cNvPr id="2131" name="Google Shape;2131;p18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132" name="Google Shape;2132;p18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133" name="Google Shape;2133;p18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134" name="Google Shape;2134;p18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$205K</a:t>
            </a:r>
            <a:endParaRPr/>
          </a:p>
        </p:txBody>
      </p:sp>
      <p:sp>
        <p:nvSpPr>
          <p:cNvPr id="2135" name="Google Shape;2135;p1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6" name="Google Shape;2136;p18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2137" name="Google Shape;2137;p18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2138" name="Google Shape;2138;p18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$205,400 YTD gross written premium</a:t>
            </a:r>
            <a:endParaRPr/>
          </a:p>
        </p:txBody>
      </p:sp>
      <p:sp>
        <p:nvSpPr>
          <p:cNvPr id="2139" name="Google Shape;2139;p18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2140" name="Google Shape;2140;p18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$205,561 in new business production</a:t>
            </a:r>
            <a:endParaRPr/>
          </a:p>
        </p:txBody>
      </p:sp>
      <p:sp>
        <p:nvSpPr>
          <p:cNvPr id="2141" name="Google Shape;2141;p18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2" name="Google Shape;2142;p18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2143" name="Google Shape;2143;p18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2144" name="Google Shape;2144;p18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Low 1.8% hit ratio on 57 subs - needs coaching</a:t>
            </a:r>
            <a:endParaRPr/>
          </a:p>
        </p:txBody>
      </p:sp>
      <p:sp>
        <p:nvSpPr>
          <p:cNvPr id="2145" name="Google Shape;2145;p1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2146" name="Google Shape;2146;p18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90% of new business ($184,861)</a:t>
            </a:r>
            <a:endParaRPr/>
          </a:p>
        </p:txBody>
      </p:sp>
      <p:sp>
        <p:nvSpPr>
          <p:cNvPr id="2147" name="Google Shape;2147;p1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8" name="Google Shape;2148;p18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2149" name="Google Shape;2149;p1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2150" name="Google Shape;2150;p18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Walk through recent lost quotes (57 subs, only 1 binds). Ask: "What are the top 2 reasons your clients go elsewhere?" Use answers to tailor appetite and pricing discussions.</a:t>
            </a:r>
            <a:endParaRPr/>
          </a:p>
        </p:txBody>
      </p:sp>
      <p:sp>
        <p:nvSpPr>
          <p:cNvPr id="2151" name="Google Shape;2151;p18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2152" name="Google Shape;2152;p18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$205,561 in new business. Ask: "What types of accounts are you seeing the most success with?" Use this to identify more of their book that fits our appetite.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156" name="Shape 2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7" name="Google Shape;2157;p19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8" name="Google Shape;2158;p19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Commercial Specialists Insurance Services, Inc.</a:t>
            </a:r>
            <a:endParaRPr/>
          </a:p>
        </p:txBody>
      </p:sp>
      <p:sp>
        <p:nvSpPr>
          <p:cNvPr id="2159" name="Google Shape;2159;p19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Pacific Northwest  |  State: CA  |  City: Newbury Park</a:t>
            </a:r>
            <a:endParaRPr/>
          </a:p>
        </p:txBody>
      </p:sp>
      <p:sp>
        <p:nvSpPr>
          <p:cNvPr id="2160" name="Google Shape;2160;p19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$140,857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2161" name="Google Shape;2161;p19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$139,546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2162" name="Google Shape;2162;p19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2163" name="Google Shape;2163;p19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$1,311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2164" name="Google Shape;2164;p19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$-17,419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2165" name="Google Shape;2165;p19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$75,550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2166" name="Google Shape;2166;p19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$197,152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2167" name="Google Shape;2167;p19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155%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2168" name="Google Shape;2168;p19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2169" name="Google Shape;2169;p19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170" name="Google Shape;2170;p19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8.1%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2171" name="Google Shape;2171;p19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$132,127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2172" name="Google Shape;2172;p19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$13,144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2173" name="Google Shape;2173;p19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4" name="Google Shape;2174;p19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2175" name="Google Shape;2175;p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176" name="Google Shape;2176;p19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2177" name="Google Shape;2177;p19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2178" name="Google Shape;2178;p19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2179" name="Google Shape;2179;p19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2180" name="Google Shape;2180;p19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2181" name="Google Shape;2181;p19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2" name="Google Shape;2182;p19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2183" name="Google Shape;2183;p19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$-442</a:t>
            </a:r>
            <a:endParaRPr/>
          </a:p>
        </p:txBody>
      </p:sp>
      <p:sp>
        <p:nvSpPr>
          <p:cNvPr id="2184" name="Google Shape;2184;p19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185" name="Google Shape;2185;p1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186" name="Google Shape;2186;p19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$-442</a:t>
            </a:r>
            <a:endParaRPr/>
          </a:p>
        </p:txBody>
      </p:sp>
      <p:sp>
        <p:nvSpPr>
          <p:cNvPr id="2187" name="Google Shape;2187;p19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188" name="Google Shape;2188;p19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9" name="Google Shape;2189;p19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190" name="Google Shape;2190;p19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$178</a:t>
            </a:r>
            <a:endParaRPr/>
          </a:p>
        </p:txBody>
      </p:sp>
      <p:sp>
        <p:nvSpPr>
          <p:cNvPr id="2191" name="Google Shape;2191;p19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192" name="Google Shape;2192;p19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193" name="Google Shape;2193;p19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$178</a:t>
            </a:r>
            <a:endParaRPr/>
          </a:p>
        </p:txBody>
      </p:sp>
      <p:sp>
        <p:nvSpPr>
          <p:cNvPr id="2194" name="Google Shape;2194;p19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195" name="Google Shape;2195;p1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6" name="Google Shape;2196;p19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2197" name="Google Shape;2197;p19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$7,739</a:t>
            </a:r>
            <a:endParaRPr/>
          </a:p>
        </p:txBody>
      </p:sp>
      <p:sp>
        <p:nvSpPr>
          <p:cNvPr id="2198" name="Google Shape;2198;p19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$5,919</a:t>
            </a:r>
            <a:endParaRPr/>
          </a:p>
        </p:txBody>
      </p:sp>
      <p:sp>
        <p:nvSpPr>
          <p:cNvPr id="2199" name="Google Shape;2199;p19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200" name="Google Shape;2200;p19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$1,820</a:t>
            </a:r>
            <a:endParaRPr/>
          </a:p>
        </p:txBody>
      </p:sp>
      <p:sp>
        <p:nvSpPr>
          <p:cNvPr id="2201" name="Google Shape;2201;p19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$-1,820</a:t>
            </a:r>
            <a:endParaRPr/>
          </a:p>
        </p:txBody>
      </p:sp>
      <p:sp>
        <p:nvSpPr>
          <p:cNvPr id="2202" name="Google Shape;2202;p19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3" name="Google Shape;2203;p19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2204" name="Google Shape;2204;p19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$-245</a:t>
            </a:r>
            <a:endParaRPr/>
          </a:p>
        </p:txBody>
      </p:sp>
      <p:sp>
        <p:nvSpPr>
          <p:cNvPr id="2205" name="Google Shape;2205;p1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206" name="Google Shape;2206;p19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207" name="Google Shape;2207;p19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$-245</a:t>
            </a:r>
            <a:endParaRPr/>
          </a:p>
        </p:txBody>
      </p:sp>
      <p:sp>
        <p:nvSpPr>
          <p:cNvPr id="2208" name="Google Shape;2208;p19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$-15,599</a:t>
            </a:r>
            <a:endParaRPr/>
          </a:p>
        </p:txBody>
      </p:sp>
      <p:sp>
        <p:nvSpPr>
          <p:cNvPr id="2209" name="Google Shape;2209;p19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0" name="Google Shape;2210;p19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211" name="Google Shape;2211;p19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$133,627</a:t>
            </a:r>
            <a:endParaRPr/>
          </a:p>
        </p:txBody>
      </p:sp>
      <p:sp>
        <p:nvSpPr>
          <p:cNvPr id="2212" name="Google Shape;2212;p19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$133,627</a:t>
            </a:r>
            <a:endParaRPr/>
          </a:p>
        </p:txBody>
      </p:sp>
      <p:sp>
        <p:nvSpPr>
          <p:cNvPr id="2213" name="Google Shape;2213;p19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214" name="Google Shape;2214;p19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215" name="Google Shape;2215;p1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216" name="Google Shape;2216;p19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7" name="Google Shape;2217;p19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2218" name="Google Shape;2218;p19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$140,857</a:t>
            </a:r>
            <a:endParaRPr/>
          </a:p>
        </p:txBody>
      </p:sp>
      <p:sp>
        <p:nvSpPr>
          <p:cNvPr id="2219" name="Google Shape;2219;p19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$139,546</a:t>
            </a:r>
            <a:endParaRPr/>
          </a:p>
        </p:txBody>
      </p:sp>
      <p:sp>
        <p:nvSpPr>
          <p:cNvPr id="2220" name="Google Shape;2220;p19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221" name="Google Shape;2221;p19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$1,311</a:t>
            </a:r>
            <a:endParaRPr/>
          </a:p>
        </p:txBody>
      </p:sp>
      <p:sp>
        <p:nvSpPr>
          <p:cNvPr id="2222" name="Google Shape;2222;p19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$-17,419</a:t>
            </a:r>
            <a:endParaRPr/>
          </a:p>
        </p:txBody>
      </p:sp>
      <p:sp>
        <p:nvSpPr>
          <p:cNvPr id="2223" name="Google Shape;2223;p19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4" name="Google Shape;2224;p19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2225" name="Google Shape;2225;p1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226" name="Google Shape;2226;p19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2227" name="Google Shape;2227;p19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2228" name="Google Shape;2228;p1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2229" name="Google Shape;2229;p19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230" name="Google Shape;2230;p19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2231" name="Google Shape;2231;p19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2" name="Google Shape;2232;p19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2233" name="Google Shape;2233;p19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2234" name="Google Shape;2234;p19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2235" name="Google Shape;2235;p1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2236" name="Google Shape;2236;p19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237" name="Google Shape;2237;p19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12.5%</a:t>
            </a:r>
            <a:endParaRPr/>
          </a:p>
        </p:txBody>
      </p:sp>
      <p:sp>
        <p:nvSpPr>
          <p:cNvPr id="2238" name="Google Shape;2238;p1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9" name="Google Shape;2239;p19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240" name="Google Shape;2240;p19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2241" name="Google Shape;2241;p19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242" name="Google Shape;2242;p19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2243" name="Google Shape;2243;p19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2244" name="Google Shape;2244;p19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25.0%</a:t>
            </a:r>
            <a:endParaRPr/>
          </a:p>
        </p:txBody>
      </p:sp>
      <p:sp>
        <p:nvSpPr>
          <p:cNvPr id="2245" name="Google Shape;2245;p1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6" name="Google Shape;2246;p19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2247" name="Google Shape;2247;p19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2248" name="Google Shape;2248;p1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249" name="Google Shape;2249;p19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2250" name="Google Shape;2250;p19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2251" name="Google Shape;2251;p19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25.0%</a:t>
            </a:r>
            <a:endParaRPr/>
          </a:p>
        </p:txBody>
      </p:sp>
      <p:sp>
        <p:nvSpPr>
          <p:cNvPr id="2252" name="Google Shape;2252;p19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3" name="Google Shape;2253;p19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2254" name="Google Shape;2254;p19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2255" name="Google Shape;2255;p1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2256" name="Google Shape;2256;p19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2257" name="Google Shape;2257;p19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2258" name="Google Shape;2258;p1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20.0%</a:t>
            </a:r>
            <a:endParaRPr/>
          </a:p>
        </p:txBody>
      </p:sp>
      <p:sp>
        <p:nvSpPr>
          <p:cNvPr id="2259" name="Google Shape;2259;p19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0" name="Google Shape;2260;p19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261" name="Google Shape;2261;p19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2262" name="Google Shape;2262;p19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263" name="Google Shape;2263;p19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2264" name="Google Shape;2264;p19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265" name="Google Shape;2265;p1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20.0%</a:t>
            </a:r>
            <a:endParaRPr/>
          </a:p>
        </p:txBody>
      </p:sp>
      <p:sp>
        <p:nvSpPr>
          <p:cNvPr id="2266" name="Google Shape;2266;p19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7" name="Google Shape;2267;p19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2268" name="Google Shape;2268;p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37</a:t>
            </a:r>
            <a:endParaRPr/>
          </a:p>
        </p:txBody>
      </p:sp>
      <p:sp>
        <p:nvSpPr>
          <p:cNvPr id="2269" name="Google Shape;2269;p19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2270" name="Google Shape;2270;p19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</a:t>
            </a:r>
            <a:endParaRPr/>
          </a:p>
        </p:txBody>
      </p:sp>
      <p:sp>
        <p:nvSpPr>
          <p:cNvPr id="2271" name="Google Shape;2271;p19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2272" name="Google Shape;2272;p19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8.1%</a:t>
            </a:r>
            <a:endParaRPr/>
          </a:p>
        </p:txBody>
      </p:sp>
      <p:sp>
        <p:nvSpPr>
          <p:cNvPr id="2273" name="Google Shape;2273;p19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4" name="Google Shape;2274;p19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2275" name="Google Shape;2275;p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2276" name="Google Shape;2276;p19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2277" name="Google Shape;2277;p19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2278" name="Google Shape;2278;p19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2279" name="Google Shape;2279;p19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2280" name="Google Shape;2280;p19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2281" name="Google Shape;2281;p19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2282" name="Google Shape;2282;p19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2283" name="Google Shape;2283;p19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2284" name="Google Shape;2284;p19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2285" name="Google Shape;2285;p1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2286" name="Google Shape;2286;p19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2287" name="Google Shape;2287;p19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2288" name="Google Shape;2288;p19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2289" name="Google Shape;2289;p19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2290" name="Google Shape;2290;p19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2291" name="Google Shape;2291;p19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2292" name="Google Shape;2292;p19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2293" name="Google Shape;2293;p19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2294" name="Google Shape;2294;p19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2295" name="Google Shape;2295;p1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2296" name="Google Shape;2296;p19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2297" name="Google Shape;2297;p19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2298" name="Google Shape;2298;p19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2299" name="Google Shape;2299;p19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</a:t>
            </a:r>
            <a:endParaRPr/>
          </a:p>
        </p:txBody>
      </p:sp>
      <p:sp>
        <p:nvSpPr>
          <p:cNvPr id="2300" name="Google Shape;2300;p19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43</a:t>
            </a:r>
            <a:endParaRPr/>
          </a:p>
        </p:txBody>
      </p:sp>
      <p:sp>
        <p:nvSpPr>
          <p:cNvPr id="2301" name="Google Shape;2301;p19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2302" name="Google Shape;2302;p19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303" name="Google Shape;2303;p19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$-442</a:t>
            </a:r>
            <a:endParaRPr/>
          </a:p>
        </p:txBody>
      </p:sp>
      <p:sp>
        <p:nvSpPr>
          <p:cNvPr id="2304" name="Google Shape;2304;p19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$9K</a:t>
            </a:r>
            <a:endParaRPr/>
          </a:p>
        </p:txBody>
      </p:sp>
      <p:sp>
        <p:nvSpPr>
          <p:cNvPr id="2305" name="Google Shape;2305;p1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$178</a:t>
            </a:r>
            <a:endParaRPr/>
          </a:p>
        </p:txBody>
      </p:sp>
      <p:sp>
        <p:nvSpPr>
          <p:cNvPr id="2306" name="Google Shape;2306;p19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307" name="Google Shape;2307;p19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$8K</a:t>
            </a:r>
            <a:endParaRPr/>
          </a:p>
        </p:txBody>
      </p:sp>
      <p:sp>
        <p:nvSpPr>
          <p:cNvPr id="2308" name="Google Shape;2308;p19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309" name="Google Shape;2309;p19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$-245</a:t>
            </a:r>
            <a:endParaRPr/>
          </a:p>
        </p:txBody>
      </p:sp>
      <p:sp>
        <p:nvSpPr>
          <p:cNvPr id="2310" name="Google Shape;2310;p19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$10K</a:t>
            </a:r>
            <a:endParaRPr/>
          </a:p>
        </p:txBody>
      </p:sp>
      <p:sp>
        <p:nvSpPr>
          <p:cNvPr id="2311" name="Google Shape;2311;p19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$134K</a:t>
            </a:r>
            <a:endParaRPr/>
          </a:p>
        </p:txBody>
      </p:sp>
      <p:sp>
        <p:nvSpPr>
          <p:cNvPr id="2312" name="Google Shape;2312;p19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$19K</a:t>
            </a:r>
            <a:endParaRPr/>
          </a:p>
        </p:txBody>
      </p:sp>
      <p:sp>
        <p:nvSpPr>
          <p:cNvPr id="2313" name="Google Shape;2313;p19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$141K</a:t>
            </a:r>
            <a:endParaRPr/>
          </a:p>
        </p:txBody>
      </p:sp>
      <p:sp>
        <p:nvSpPr>
          <p:cNvPr id="2314" name="Google Shape;2314;p19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5" name="Google Shape;2315;p1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2316" name="Google Shape;2316;p19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2317" name="Google Shape;2317;p19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$140,857 YTD gross written premium</a:t>
            </a:r>
            <a:endParaRPr/>
          </a:p>
        </p:txBody>
      </p:sp>
      <p:sp>
        <p:nvSpPr>
          <p:cNvPr id="2318" name="Google Shape;2318;p19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2319" name="Google Shape;2319;p19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$139,546 in new business production</a:t>
            </a:r>
            <a:endParaRPr/>
          </a:p>
        </p:txBody>
      </p:sp>
      <p:sp>
        <p:nvSpPr>
          <p:cNvPr id="2320" name="Google Shape;2320;p19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1" name="Google Shape;2321;p19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2322" name="Google Shape;2322;p19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2323" name="Google Shape;2323;p19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significant concerns identified this quarter</a:t>
            </a:r>
            <a:endParaRPr/>
          </a:p>
        </p:txBody>
      </p:sp>
      <p:sp>
        <p:nvSpPr>
          <p:cNvPr id="2324" name="Google Shape;2324;p19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2325" name="Google Shape;2325;p1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Continue monitoring performance metrics</a:t>
            </a:r>
            <a:endParaRPr/>
          </a:p>
        </p:txBody>
      </p:sp>
      <p:sp>
        <p:nvSpPr>
          <p:cNvPr id="2326" name="Google Shape;2326;p19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7" name="Google Shape;2327;p1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2328" name="Google Shape;2328;p19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2329" name="Google Shape;2329;p1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$139,546 in new business. Ask: "What types of accounts are you seeing the most success with?" Use this to identify more of their book that fits our appetite.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333" name="Shape 2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4" name="Google Shape;2334;p2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5" name="Google Shape;2335;p20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Mustard Seed Financial &amp; Insurance Inc</a:t>
            </a:r>
            <a:endParaRPr/>
          </a:p>
        </p:txBody>
      </p:sp>
      <p:sp>
        <p:nvSpPr>
          <p:cNvPr id="2336" name="Google Shape;2336;p20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3  |  Region: Pacific Northwest  |  State: Idaho  |  City: Boise, ID</a:t>
            </a:r>
            <a:endParaRPr/>
          </a:p>
        </p:txBody>
      </p:sp>
      <p:sp>
        <p:nvSpPr>
          <p:cNvPr id="2337" name="Google Shape;2337;p20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$95,156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2338" name="Google Shape;2338;p20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$66,456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2339" name="Google Shape;2339;p20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$27,219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2340" name="Google Shape;2340;p20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$1,481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2341" name="Google Shape;2341;p20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$-33,919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2342" name="Google Shape;2342;p20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$466,044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2343" name="Google Shape;2343;p20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$399,439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2344" name="Google Shape;2344;p20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2345" name="Google Shape;2345;p20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2346" name="Google Shape;2346;p20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347" name="Google Shape;2347;p20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2.1%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2348" name="Google Shape;2348;p20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2349" name="Google Shape;2349;p20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$75,261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2350" name="Google Shape;2350;p20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1" name="Google Shape;2351;p20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2352" name="Google Shape;2352;p20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353" name="Google Shape;2353;p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2354" name="Google Shape;2354;p20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2355" name="Google Shape;2355;p20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2356" name="Google Shape;2356;p20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2357" name="Google Shape;2357;p20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2358" name="Google Shape;2358;p20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9" name="Google Shape;2359;p20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2360" name="Google Shape;2360;p20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$15,534</a:t>
            </a:r>
            <a:endParaRPr/>
          </a:p>
        </p:txBody>
      </p:sp>
      <p:sp>
        <p:nvSpPr>
          <p:cNvPr id="2361" name="Google Shape;2361;p20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$15,534</a:t>
            </a:r>
            <a:endParaRPr/>
          </a:p>
        </p:txBody>
      </p:sp>
      <p:sp>
        <p:nvSpPr>
          <p:cNvPr id="2362" name="Google Shape;2362;p20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363" name="Google Shape;2363;p2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364" name="Google Shape;2364;p20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365" name="Google Shape;2365;p20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6" name="Google Shape;2366;p20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367" name="Google Shape;2367;p20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$27,219</a:t>
            </a:r>
            <a:endParaRPr/>
          </a:p>
        </p:txBody>
      </p:sp>
      <p:sp>
        <p:nvSpPr>
          <p:cNvPr id="2368" name="Google Shape;2368;p20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369" name="Google Shape;2369;p20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$27,219</a:t>
            </a:r>
            <a:endParaRPr/>
          </a:p>
        </p:txBody>
      </p:sp>
      <p:sp>
        <p:nvSpPr>
          <p:cNvPr id="2370" name="Google Shape;2370;p20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371" name="Google Shape;2371;p20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372" name="Google Shape;2372;p20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3" name="Google Shape;2373;p2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2374" name="Google Shape;2374;p20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$51,916</a:t>
            </a:r>
            <a:endParaRPr/>
          </a:p>
        </p:txBody>
      </p:sp>
      <p:sp>
        <p:nvSpPr>
          <p:cNvPr id="2375" name="Google Shape;2375;p20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$50,923</a:t>
            </a:r>
            <a:endParaRPr/>
          </a:p>
        </p:txBody>
      </p:sp>
      <p:sp>
        <p:nvSpPr>
          <p:cNvPr id="2376" name="Google Shape;2376;p20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377" name="Google Shape;2377;p20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$993</a:t>
            </a:r>
            <a:endParaRPr/>
          </a:p>
        </p:txBody>
      </p:sp>
      <p:sp>
        <p:nvSpPr>
          <p:cNvPr id="2378" name="Google Shape;2378;p20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379" name="Google Shape;2379;p20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0" name="Google Shape;2380;p20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2381" name="Google Shape;2381;p20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$488</a:t>
            </a:r>
            <a:endParaRPr/>
          </a:p>
        </p:txBody>
      </p:sp>
      <p:sp>
        <p:nvSpPr>
          <p:cNvPr id="2382" name="Google Shape;2382;p20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383" name="Google Shape;2383;p2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384" name="Google Shape;2384;p20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$488</a:t>
            </a:r>
            <a:endParaRPr/>
          </a:p>
        </p:txBody>
      </p:sp>
      <p:sp>
        <p:nvSpPr>
          <p:cNvPr id="2385" name="Google Shape;2385;p20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$-24,376</a:t>
            </a:r>
            <a:endParaRPr/>
          </a:p>
        </p:txBody>
      </p:sp>
      <p:sp>
        <p:nvSpPr>
          <p:cNvPr id="2386" name="Google Shape;2386;p20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7" name="Google Shape;2387;p20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388" name="Google Shape;2388;p20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389" name="Google Shape;2389;p20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390" name="Google Shape;2390;p20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391" name="Google Shape;2391;p20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392" name="Google Shape;2392;p20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$-9,543</a:t>
            </a:r>
            <a:endParaRPr/>
          </a:p>
        </p:txBody>
      </p:sp>
      <p:sp>
        <p:nvSpPr>
          <p:cNvPr id="2393" name="Google Shape;2393;p2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4" name="Google Shape;2394;p20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2395" name="Google Shape;2395;p20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$95,156</a:t>
            </a:r>
            <a:endParaRPr/>
          </a:p>
        </p:txBody>
      </p:sp>
      <p:sp>
        <p:nvSpPr>
          <p:cNvPr id="2396" name="Google Shape;2396;p20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$66,456</a:t>
            </a:r>
            <a:endParaRPr/>
          </a:p>
        </p:txBody>
      </p:sp>
      <p:sp>
        <p:nvSpPr>
          <p:cNvPr id="2397" name="Google Shape;2397;p20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$27,219</a:t>
            </a:r>
            <a:endParaRPr/>
          </a:p>
        </p:txBody>
      </p:sp>
      <p:sp>
        <p:nvSpPr>
          <p:cNvPr id="2398" name="Google Shape;2398;p20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$1,481</a:t>
            </a:r>
            <a:endParaRPr/>
          </a:p>
        </p:txBody>
      </p:sp>
      <p:sp>
        <p:nvSpPr>
          <p:cNvPr id="2399" name="Google Shape;2399;p20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$-33,919</a:t>
            </a:r>
            <a:endParaRPr/>
          </a:p>
        </p:txBody>
      </p:sp>
      <p:sp>
        <p:nvSpPr>
          <p:cNvPr id="2400" name="Google Shape;2400;p20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1" name="Google Shape;2401;p20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2402" name="Google Shape;2402;p20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403" name="Google Shape;2403;p2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2404" name="Google Shape;2404;p20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2405" name="Google Shape;2405;p20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2406" name="Google Shape;2406;p2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407" name="Google Shape;2407;p20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2408" name="Google Shape;2408;p20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9" name="Google Shape;2409;p20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2410" name="Google Shape;2410;p20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2411" name="Google Shape;2411;p20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412" name="Google Shape;2412;p20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2413" name="Google Shape;2413;p2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414" name="Google Shape;2414;p20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4.0%</a:t>
            </a:r>
            <a:endParaRPr/>
          </a:p>
        </p:txBody>
      </p:sp>
      <p:sp>
        <p:nvSpPr>
          <p:cNvPr id="2415" name="Google Shape;2415;p20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6" name="Google Shape;2416;p2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417" name="Google Shape;2417;p20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2418" name="Google Shape;2418;p20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419" name="Google Shape;2419;p20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2420" name="Google Shape;2420;p20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421" name="Google Shape;2421;p20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4.0%</a:t>
            </a:r>
            <a:endParaRPr/>
          </a:p>
        </p:txBody>
      </p:sp>
      <p:sp>
        <p:nvSpPr>
          <p:cNvPr id="2422" name="Google Shape;2422;p20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3" name="Google Shape;2423;p2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2424" name="Google Shape;2424;p20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</a:t>
            </a:r>
            <a:endParaRPr/>
          </a:p>
        </p:txBody>
      </p:sp>
      <p:sp>
        <p:nvSpPr>
          <p:cNvPr id="2425" name="Google Shape;2425;p20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426" name="Google Shape;2426;p2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</a:t>
            </a:r>
            <a:endParaRPr/>
          </a:p>
        </p:txBody>
      </p:sp>
      <p:sp>
        <p:nvSpPr>
          <p:cNvPr id="2427" name="Google Shape;2427;p20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428" name="Google Shape;2428;p20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2429" name="Google Shape;2429;p20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0" name="Google Shape;2430;p20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2431" name="Google Shape;2431;p20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54</a:t>
            </a:r>
            <a:endParaRPr/>
          </a:p>
        </p:txBody>
      </p:sp>
      <p:sp>
        <p:nvSpPr>
          <p:cNvPr id="2432" name="Google Shape;2432;p20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2433" name="Google Shape;2433;p2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48</a:t>
            </a:r>
            <a:endParaRPr/>
          </a:p>
        </p:txBody>
      </p:sp>
      <p:sp>
        <p:nvSpPr>
          <p:cNvPr id="2434" name="Google Shape;2434;p20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2435" name="Google Shape;2435;p20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3.7%</a:t>
            </a:r>
            <a:endParaRPr/>
          </a:p>
        </p:txBody>
      </p:sp>
      <p:sp>
        <p:nvSpPr>
          <p:cNvPr id="2436" name="Google Shape;2436;p2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7" name="Google Shape;2437;p20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438" name="Google Shape;2438;p20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2439" name="Google Shape;2439;p20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440" name="Google Shape;2440;p20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</a:t>
            </a:r>
            <a:endParaRPr/>
          </a:p>
        </p:txBody>
      </p:sp>
      <p:sp>
        <p:nvSpPr>
          <p:cNvPr id="2441" name="Google Shape;2441;p20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442" name="Google Shape;2442;p20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2443" name="Google Shape;2443;p2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4" name="Google Shape;2444;p20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2445" name="Google Shape;2445;p20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146</a:t>
            </a:r>
            <a:endParaRPr/>
          </a:p>
        </p:txBody>
      </p:sp>
      <p:sp>
        <p:nvSpPr>
          <p:cNvPr id="2446" name="Google Shape;2446;p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2447" name="Google Shape;2447;p20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138</a:t>
            </a:r>
            <a:endParaRPr/>
          </a:p>
        </p:txBody>
      </p:sp>
      <p:sp>
        <p:nvSpPr>
          <p:cNvPr id="2448" name="Google Shape;2448;p20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2449" name="Google Shape;2449;p20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2.1%</a:t>
            </a:r>
            <a:endParaRPr/>
          </a:p>
        </p:txBody>
      </p:sp>
      <p:sp>
        <p:nvSpPr>
          <p:cNvPr id="2450" name="Google Shape;2450;p20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1" name="Google Shape;2451;p20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2452" name="Google Shape;2452;p20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2453" name="Google Shape;2453;p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2454" name="Google Shape;2454;p20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2455" name="Google Shape;2455;p20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2456" name="Google Shape;2456;p20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2457" name="Google Shape;2457;p20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2458" name="Google Shape;2458;p20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2459" name="Google Shape;2459;p20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2460" name="Google Shape;2460;p20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2461" name="Google Shape;2461;p20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2462" name="Google Shape;2462;p20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2463" name="Google Shape;2463;p2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2464" name="Google Shape;2464;p20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2465" name="Google Shape;2465;p20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2466" name="Google Shape;2466;p20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40</a:t>
            </a:r>
            <a:endParaRPr/>
          </a:p>
        </p:txBody>
      </p:sp>
      <p:sp>
        <p:nvSpPr>
          <p:cNvPr id="2467" name="Google Shape;2467;p20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2468" name="Google Shape;2468;p20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44</a:t>
            </a:r>
            <a:endParaRPr/>
          </a:p>
        </p:txBody>
      </p:sp>
      <p:sp>
        <p:nvSpPr>
          <p:cNvPr id="2469" name="Google Shape;2469;p20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2470" name="Google Shape;2470;p20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</a:t>
            </a:r>
            <a:endParaRPr/>
          </a:p>
        </p:txBody>
      </p:sp>
      <p:sp>
        <p:nvSpPr>
          <p:cNvPr id="2471" name="Google Shape;2471;p20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</a:t>
            </a:r>
            <a:endParaRPr/>
          </a:p>
        </p:txBody>
      </p:sp>
      <p:sp>
        <p:nvSpPr>
          <p:cNvPr id="2472" name="Google Shape;2472;p20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42</a:t>
            </a:r>
            <a:endParaRPr/>
          </a:p>
        </p:txBody>
      </p:sp>
      <p:sp>
        <p:nvSpPr>
          <p:cNvPr id="2473" name="Google Shape;2473;p2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54</a:t>
            </a:r>
            <a:endParaRPr/>
          </a:p>
        </p:txBody>
      </p:sp>
      <p:sp>
        <p:nvSpPr>
          <p:cNvPr id="2474" name="Google Shape;2474;p20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53</a:t>
            </a:r>
            <a:endParaRPr/>
          </a:p>
        </p:txBody>
      </p:sp>
      <p:sp>
        <p:nvSpPr>
          <p:cNvPr id="2475" name="Google Shape;2475;p20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2476" name="Google Shape;2476;p20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206</a:t>
            </a:r>
            <a:endParaRPr/>
          </a:p>
        </p:txBody>
      </p:sp>
      <p:sp>
        <p:nvSpPr>
          <p:cNvPr id="2477" name="Google Shape;2477;p20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155</a:t>
            </a:r>
            <a:endParaRPr/>
          </a:p>
        </p:txBody>
      </p:sp>
      <p:sp>
        <p:nvSpPr>
          <p:cNvPr id="2478" name="Google Shape;2478;p20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2479" name="Google Shape;2479;p20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$33K</a:t>
            </a:r>
            <a:endParaRPr/>
          </a:p>
        </p:txBody>
      </p:sp>
      <p:sp>
        <p:nvSpPr>
          <p:cNvPr id="2480" name="Google Shape;2480;p20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$16K</a:t>
            </a:r>
            <a:endParaRPr/>
          </a:p>
        </p:txBody>
      </p:sp>
      <p:sp>
        <p:nvSpPr>
          <p:cNvPr id="2481" name="Google Shape;2481;p20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$88K</a:t>
            </a:r>
            <a:endParaRPr/>
          </a:p>
        </p:txBody>
      </p:sp>
      <p:sp>
        <p:nvSpPr>
          <p:cNvPr id="2482" name="Google Shape;2482;p20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$27K</a:t>
            </a:r>
            <a:endParaRPr/>
          </a:p>
        </p:txBody>
      </p:sp>
      <p:sp>
        <p:nvSpPr>
          <p:cNvPr id="2483" name="Google Shape;2483;p2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484" name="Google Shape;2484;p20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$52K</a:t>
            </a:r>
            <a:endParaRPr/>
          </a:p>
        </p:txBody>
      </p:sp>
      <p:sp>
        <p:nvSpPr>
          <p:cNvPr id="2485" name="Google Shape;2485;p20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$24K</a:t>
            </a:r>
            <a:endParaRPr/>
          </a:p>
        </p:txBody>
      </p:sp>
      <p:sp>
        <p:nvSpPr>
          <p:cNvPr id="2486" name="Google Shape;2486;p20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$488</a:t>
            </a:r>
            <a:endParaRPr/>
          </a:p>
        </p:txBody>
      </p:sp>
      <p:sp>
        <p:nvSpPr>
          <p:cNvPr id="2487" name="Google Shape;2487;p20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$16K</a:t>
            </a:r>
            <a:endParaRPr/>
          </a:p>
        </p:txBody>
      </p:sp>
      <p:sp>
        <p:nvSpPr>
          <p:cNvPr id="2488" name="Google Shape;2488;p20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489" name="Google Shape;2489;p20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$162K</a:t>
            </a:r>
            <a:endParaRPr/>
          </a:p>
        </p:txBody>
      </p:sp>
      <p:sp>
        <p:nvSpPr>
          <p:cNvPr id="2490" name="Google Shape;2490;p20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$95K</a:t>
            </a:r>
            <a:endParaRPr/>
          </a:p>
        </p:txBody>
      </p:sp>
      <p:sp>
        <p:nvSpPr>
          <p:cNvPr id="2491" name="Google Shape;2491;p20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2" name="Google Shape;2492;p20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2493" name="Google Shape;2493;p2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2494" name="Google Shape;2494;p20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$95,156 YTD gross written premium</a:t>
            </a:r>
            <a:endParaRPr/>
          </a:p>
        </p:txBody>
      </p:sp>
      <p:sp>
        <p:nvSpPr>
          <p:cNvPr id="2495" name="Google Shape;2495;p20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2496" name="Google Shape;2496;p20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$66,456 in new business production</a:t>
            </a:r>
            <a:endParaRPr/>
          </a:p>
        </p:txBody>
      </p:sp>
      <p:sp>
        <p:nvSpPr>
          <p:cNvPr id="2497" name="Google Shape;2497;p20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8" name="Google Shape;2498;p20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2499" name="Google Shape;2499;p20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2500" name="Google Shape;2500;p20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Low 2.1% hit ratio on 146 subs - needs coaching</a:t>
            </a:r>
            <a:endParaRPr/>
          </a:p>
        </p:txBody>
      </p:sp>
      <p:sp>
        <p:nvSpPr>
          <p:cNvPr id="2501" name="Google Shape;2501;p20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2502" name="Google Shape;2502;p20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51% of new business ($33,919)</a:t>
            </a:r>
            <a:endParaRPr/>
          </a:p>
        </p:txBody>
      </p:sp>
      <p:sp>
        <p:nvSpPr>
          <p:cNvPr id="2503" name="Google Shape;2503;p2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4" name="Google Shape;2504;p20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2505" name="Google Shape;2505;p2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2506" name="Google Shape;2506;p20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Walk through recent lost quotes (146 subs, only 3 binds). Ask: "What are the top 2 reasons your clients go elsewhere?" Use answers to tailor appetite and pricing discussions.</a:t>
            </a:r>
            <a:endParaRPr/>
          </a:p>
        </p:txBody>
      </p:sp>
      <p:sp>
        <p:nvSpPr>
          <p:cNvPr id="2507" name="Google Shape;2507;p2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2508" name="Google Shape;2508;p20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$66,456 in new business. Ask: "What types of accounts are you seeing the most success with?" Use this to identify more of their book that fits our appetite.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512" name="Shape 25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3" name="Google Shape;2513;p2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4" name="Google Shape;2514;p21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All Lines Associates, Inc. DBA Valley Trucking Insurance</a:t>
            </a:r>
            <a:endParaRPr/>
          </a:p>
        </p:txBody>
      </p:sp>
      <p:sp>
        <p:nvSpPr>
          <p:cNvPr id="2515" name="Google Shape;2515;p21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3  |  Region: Pacific Northwest  |  State: WA  |  City: Spokane</a:t>
            </a:r>
            <a:endParaRPr/>
          </a:p>
        </p:txBody>
      </p:sp>
      <p:sp>
        <p:nvSpPr>
          <p:cNvPr id="2516" name="Google Shape;2516;p21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$86,423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2517" name="Google Shape;2517;p21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$82,403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2518" name="Google Shape;2518;p21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2519" name="Google Shape;2519;p21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$4,020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2520" name="Google Shape;2520;p21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$-21,033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2521" name="Google Shape;2521;p21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$119,178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2522" name="Google Shape;2522;p21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$165,009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2523" name="Google Shape;2523;p21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2524" name="Google Shape;2524;p21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2525" name="Google Shape;2525;p21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526" name="Google Shape;2526;p21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1.1%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2527" name="Google Shape;2527;p21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2528" name="Google Shape;2528;p21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$56,092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2529" name="Google Shape;2529;p21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0" name="Google Shape;2530;p21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2531" name="Google Shape;2531;p21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532" name="Google Shape;2532;p21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2533" name="Google Shape;2533;p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2534" name="Google Shape;2534;p21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2535" name="Google Shape;2535;p21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2536" name="Google Shape;2536;p21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2537" name="Google Shape;2537;p21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8" name="Google Shape;2538;p21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2539" name="Google Shape;2539;p21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$22,161</a:t>
            </a:r>
            <a:endParaRPr/>
          </a:p>
        </p:txBody>
      </p:sp>
      <p:sp>
        <p:nvSpPr>
          <p:cNvPr id="2540" name="Google Shape;2540;p21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$22,161</a:t>
            </a:r>
            <a:endParaRPr/>
          </a:p>
        </p:txBody>
      </p:sp>
      <p:sp>
        <p:nvSpPr>
          <p:cNvPr id="2541" name="Google Shape;2541;p21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542" name="Google Shape;2542;p21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543" name="Google Shape;2543;p2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544" name="Google Shape;2544;p21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5" name="Google Shape;2545;p21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546" name="Google Shape;2546;p21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$1,829</a:t>
            </a:r>
            <a:endParaRPr/>
          </a:p>
        </p:txBody>
      </p:sp>
      <p:sp>
        <p:nvSpPr>
          <p:cNvPr id="2547" name="Google Shape;2547;p21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548" name="Google Shape;2548;p21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549" name="Google Shape;2549;p21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$1,829</a:t>
            </a:r>
            <a:endParaRPr/>
          </a:p>
        </p:txBody>
      </p:sp>
      <p:sp>
        <p:nvSpPr>
          <p:cNvPr id="2550" name="Google Shape;2550;p21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551" name="Google Shape;2551;p21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2" name="Google Shape;2552;p21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2553" name="Google Shape;2553;p2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$29,472</a:t>
            </a:r>
            <a:endParaRPr/>
          </a:p>
        </p:txBody>
      </p:sp>
      <p:sp>
        <p:nvSpPr>
          <p:cNvPr id="2554" name="Google Shape;2554;p21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$26,839</a:t>
            </a:r>
            <a:endParaRPr/>
          </a:p>
        </p:txBody>
      </p:sp>
      <p:sp>
        <p:nvSpPr>
          <p:cNvPr id="2555" name="Google Shape;2555;p21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556" name="Google Shape;2556;p21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$2,633</a:t>
            </a:r>
            <a:endParaRPr/>
          </a:p>
        </p:txBody>
      </p:sp>
      <p:sp>
        <p:nvSpPr>
          <p:cNvPr id="2557" name="Google Shape;2557;p21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558" name="Google Shape;2558;p21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9" name="Google Shape;2559;p21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2560" name="Google Shape;2560;p21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$32,962</a:t>
            </a:r>
            <a:endParaRPr/>
          </a:p>
        </p:txBody>
      </p:sp>
      <p:sp>
        <p:nvSpPr>
          <p:cNvPr id="2561" name="Google Shape;2561;p21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$33,404</a:t>
            </a:r>
            <a:endParaRPr/>
          </a:p>
        </p:txBody>
      </p:sp>
      <p:sp>
        <p:nvSpPr>
          <p:cNvPr id="2562" name="Google Shape;2562;p21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563" name="Google Shape;2563;p2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$-442</a:t>
            </a:r>
            <a:endParaRPr/>
          </a:p>
        </p:txBody>
      </p:sp>
      <p:sp>
        <p:nvSpPr>
          <p:cNvPr id="2564" name="Google Shape;2564;p21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$-21,033</a:t>
            </a:r>
            <a:endParaRPr/>
          </a:p>
        </p:txBody>
      </p:sp>
      <p:sp>
        <p:nvSpPr>
          <p:cNvPr id="2565" name="Google Shape;2565;p21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6" name="Google Shape;2566;p21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567" name="Google Shape;2567;p21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568" name="Google Shape;2568;p21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569" name="Google Shape;2569;p21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570" name="Google Shape;2570;p21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571" name="Google Shape;2571;p21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572" name="Google Shape;2572;p21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3" name="Google Shape;2573;p2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2574" name="Google Shape;2574;p21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$86,423</a:t>
            </a:r>
            <a:endParaRPr/>
          </a:p>
        </p:txBody>
      </p:sp>
      <p:sp>
        <p:nvSpPr>
          <p:cNvPr id="2575" name="Google Shape;2575;p21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$82,403</a:t>
            </a:r>
            <a:endParaRPr/>
          </a:p>
        </p:txBody>
      </p:sp>
      <p:sp>
        <p:nvSpPr>
          <p:cNvPr id="2576" name="Google Shape;2576;p21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577" name="Google Shape;2577;p21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$4,020</a:t>
            </a:r>
            <a:endParaRPr/>
          </a:p>
        </p:txBody>
      </p:sp>
      <p:sp>
        <p:nvSpPr>
          <p:cNvPr id="2578" name="Google Shape;2578;p21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$-21,033</a:t>
            </a:r>
            <a:endParaRPr/>
          </a:p>
        </p:txBody>
      </p:sp>
      <p:sp>
        <p:nvSpPr>
          <p:cNvPr id="2579" name="Google Shape;2579;p21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0" name="Google Shape;2580;p21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2581" name="Google Shape;2581;p21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582" name="Google Shape;2582;p21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2583" name="Google Shape;2583;p2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2584" name="Google Shape;2584;p21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2585" name="Google Shape;2585;p21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586" name="Google Shape;2586;p2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2587" name="Google Shape;2587;p21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8" name="Google Shape;2588;p21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2589" name="Google Shape;2589;p21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2590" name="Google Shape;2590;p21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591" name="Google Shape;2591;p21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2592" name="Google Shape;2592;p21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593" name="Google Shape;2593;p2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5.3%</a:t>
            </a:r>
            <a:endParaRPr/>
          </a:p>
        </p:txBody>
      </p:sp>
      <p:sp>
        <p:nvSpPr>
          <p:cNvPr id="2594" name="Google Shape;2594;p21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5" name="Google Shape;2595;p21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596" name="Google Shape;2596;p2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42</a:t>
            </a:r>
            <a:endParaRPr/>
          </a:p>
        </p:txBody>
      </p:sp>
      <p:sp>
        <p:nvSpPr>
          <p:cNvPr id="2597" name="Google Shape;2597;p21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598" name="Google Shape;2598;p21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41</a:t>
            </a:r>
            <a:endParaRPr/>
          </a:p>
        </p:txBody>
      </p:sp>
      <p:sp>
        <p:nvSpPr>
          <p:cNvPr id="2599" name="Google Shape;2599;p21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2600" name="Google Shape;2600;p21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4.8%</a:t>
            </a:r>
            <a:endParaRPr/>
          </a:p>
        </p:txBody>
      </p:sp>
      <p:sp>
        <p:nvSpPr>
          <p:cNvPr id="2601" name="Google Shape;2601;p21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2" name="Google Shape;2602;p21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2603" name="Google Shape;2603;p2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43</a:t>
            </a:r>
            <a:endParaRPr/>
          </a:p>
        </p:txBody>
      </p:sp>
      <p:sp>
        <p:nvSpPr>
          <p:cNvPr id="2604" name="Google Shape;2604;p21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605" name="Google Shape;2605;p21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43</a:t>
            </a:r>
            <a:endParaRPr/>
          </a:p>
        </p:txBody>
      </p:sp>
      <p:sp>
        <p:nvSpPr>
          <p:cNvPr id="2606" name="Google Shape;2606;p2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2607" name="Google Shape;2607;p21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4.7%</a:t>
            </a:r>
            <a:endParaRPr/>
          </a:p>
        </p:txBody>
      </p:sp>
      <p:sp>
        <p:nvSpPr>
          <p:cNvPr id="2608" name="Google Shape;2608;p21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9" name="Google Shape;2609;p21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2610" name="Google Shape;2610;p21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48</a:t>
            </a:r>
            <a:endParaRPr/>
          </a:p>
        </p:txBody>
      </p:sp>
      <p:sp>
        <p:nvSpPr>
          <p:cNvPr id="2611" name="Google Shape;2611;p21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2612" name="Google Shape;2612;p21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44</a:t>
            </a:r>
            <a:endParaRPr/>
          </a:p>
        </p:txBody>
      </p:sp>
      <p:sp>
        <p:nvSpPr>
          <p:cNvPr id="2613" name="Google Shape;2613;p2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2614" name="Google Shape;2614;p21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4.2%</a:t>
            </a:r>
            <a:endParaRPr/>
          </a:p>
        </p:txBody>
      </p:sp>
      <p:sp>
        <p:nvSpPr>
          <p:cNvPr id="2615" name="Google Shape;2615;p21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6" name="Google Shape;2616;p2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617" name="Google Shape;2617;p21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</a:t>
            </a:r>
            <a:endParaRPr/>
          </a:p>
        </p:txBody>
      </p:sp>
      <p:sp>
        <p:nvSpPr>
          <p:cNvPr id="2618" name="Google Shape;2618;p21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2619" name="Google Shape;2619;p21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</a:t>
            </a:r>
            <a:endParaRPr/>
          </a:p>
        </p:txBody>
      </p:sp>
      <p:sp>
        <p:nvSpPr>
          <p:cNvPr id="2620" name="Google Shape;2620;p21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621" name="Google Shape;2621;p21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2622" name="Google Shape;2622;p21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3" name="Google Shape;2623;p2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2624" name="Google Shape;2624;p21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177</a:t>
            </a:r>
            <a:endParaRPr/>
          </a:p>
        </p:txBody>
      </p:sp>
      <p:sp>
        <p:nvSpPr>
          <p:cNvPr id="2625" name="Google Shape;2625;p21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2626" name="Google Shape;2626;p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169</a:t>
            </a:r>
            <a:endParaRPr/>
          </a:p>
        </p:txBody>
      </p:sp>
      <p:sp>
        <p:nvSpPr>
          <p:cNvPr id="2627" name="Google Shape;2627;p21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2628" name="Google Shape;2628;p21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1.1%</a:t>
            </a:r>
            <a:endParaRPr/>
          </a:p>
        </p:txBody>
      </p:sp>
      <p:sp>
        <p:nvSpPr>
          <p:cNvPr id="2629" name="Google Shape;2629;p21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0" name="Google Shape;2630;p21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2631" name="Google Shape;2631;p21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2632" name="Google Shape;2632;p21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2633" name="Google Shape;2633;p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2634" name="Google Shape;2634;p21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2635" name="Google Shape;2635;p21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2636" name="Google Shape;2636;p21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2637" name="Google Shape;2637;p21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2638" name="Google Shape;2638;p21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2639" name="Google Shape;2639;p21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2640" name="Google Shape;2640;p21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2641" name="Google Shape;2641;p21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2642" name="Google Shape;2642;p21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2643" name="Google Shape;2643;p2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2644" name="Google Shape;2644;p21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2645" name="Google Shape;2645;p21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2646" name="Google Shape;2646;p21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2647" name="Google Shape;2647;p21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2648" name="Google Shape;2648;p21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42</a:t>
            </a:r>
            <a:endParaRPr/>
          </a:p>
        </p:txBody>
      </p:sp>
      <p:sp>
        <p:nvSpPr>
          <p:cNvPr id="2649" name="Google Shape;2649;p21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</a:t>
            </a:r>
            <a:endParaRPr/>
          </a:p>
        </p:txBody>
      </p:sp>
      <p:sp>
        <p:nvSpPr>
          <p:cNvPr id="2650" name="Google Shape;2650;p21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43</a:t>
            </a:r>
            <a:endParaRPr/>
          </a:p>
        </p:txBody>
      </p:sp>
      <p:sp>
        <p:nvSpPr>
          <p:cNvPr id="2651" name="Google Shape;2651;p21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2652" name="Google Shape;2652;p21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48</a:t>
            </a:r>
            <a:endParaRPr/>
          </a:p>
        </p:txBody>
      </p:sp>
      <p:sp>
        <p:nvSpPr>
          <p:cNvPr id="2653" name="Google Shape;2653;p2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2654" name="Google Shape;2654;p21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</a:t>
            </a:r>
            <a:endParaRPr/>
          </a:p>
        </p:txBody>
      </p:sp>
      <p:sp>
        <p:nvSpPr>
          <p:cNvPr id="2655" name="Google Shape;2655;p21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95</a:t>
            </a:r>
            <a:endParaRPr/>
          </a:p>
        </p:txBody>
      </p:sp>
      <p:sp>
        <p:nvSpPr>
          <p:cNvPr id="2656" name="Google Shape;2656;p21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183</a:t>
            </a:r>
            <a:endParaRPr/>
          </a:p>
        </p:txBody>
      </p:sp>
      <p:sp>
        <p:nvSpPr>
          <p:cNvPr id="2657" name="Google Shape;2657;p21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2658" name="Google Shape;2658;p21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659" name="Google Shape;2659;p21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$22K</a:t>
            </a:r>
            <a:endParaRPr/>
          </a:p>
        </p:txBody>
      </p:sp>
      <p:sp>
        <p:nvSpPr>
          <p:cNvPr id="2660" name="Google Shape;2660;p21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$19K</a:t>
            </a:r>
            <a:endParaRPr/>
          </a:p>
        </p:txBody>
      </p:sp>
      <p:sp>
        <p:nvSpPr>
          <p:cNvPr id="2661" name="Google Shape;2661;p21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$2K</a:t>
            </a:r>
            <a:endParaRPr/>
          </a:p>
        </p:txBody>
      </p:sp>
      <p:sp>
        <p:nvSpPr>
          <p:cNvPr id="2662" name="Google Shape;2662;p21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663" name="Google Shape;2663;p2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$29K</a:t>
            </a:r>
            <a:endParaRPr/>
          </a:p>
        </p:txBody>
      </p:sp>
      <p:sp>
        <p:nvSpPr>
          <p:cNvPr id="2664" name="Google Shape;2664;p21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665" name="Google Shape;2665;p21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$33K</a:t>
            </a:r>
            <a:endParaRPr/>
          </a:p>
        </p:txBody>
      </p:sp>
      <p:sp>
        <p:nvSpPr>
          <p:cNvPr id="2666" name="Google Shape;2666;p21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$22K</a:t>
            </a:r>
            <a:endParaRPr/>
          </a:p>
        </p:txBody>
      </p:sp>
      <p:sp>
        <p:nvSpPr>
          <p:cNvPr id="2667" name="Google Shape;2667;p21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668" name="Google Shape;2668;p21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$41K</a:t>
            </a:r>
            <a:endParaRPr/>
          </a:p>
        </p:txBody>
      </p:sp>
      <p:sp>
        <p:nvSpPr>
          <p:cNvPr id="2669" name="Google Shape;2669;p21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$86K</a:t>
            </a:r>
            <a:endParaRPr/>
          </a:p>
        </p:txBody>
      </p:sp>
      <p:sp>
        <p:nvSpPr>
          <p:cNvPr id="2670" name="Google Shape;2670;p21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1" name="Google Shape;2671;p21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2672" name="Google Shape;2672;p21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2673" name="Google Shape;2673;p2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$86,423 YTD gross written premium</a:t>
            </a:r>
            <a:endParaRPr/>
          </a:p>
        </p:txBody>
      </p:sp>
      <p:sp>
        <p:nvSpPr>
          <p:cNvPr id="2674" name="Google Shape;2674;p21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2675" name="Google Shape;2675;p21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$82,403 in new business production</a:t>
            </a:r>
            <a:endParaRPr/>
          </a:p>
        </p:txBody>
      </p:sp>
      <p:sp>
        <p:nvSpPr>
          <p:cNvPr id="2676" name="Google Shape;2676;p21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7" name="Google Shape;2677;p21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2678" name="Google Shape;2678;p21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2679" name="Google Shape;2679;p21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Low 1.1% hit ratio on 177 subs - needs coaching</a:t>
            </a:r>
            <a:endParaRPr/>
          </a:p>
        </p:txBody>
      </p:sp>
      <p:sp>
        <p:nvSpPr>
          <p:cNvPr id="2680" name="Google Shape;2680;p21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1" name="Google Shape;2681;p2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2682" name="Google Shape;2682;p21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2683" name="Google Shape;2683;p2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Walk through recent lost quotes (177 subs, only 2 binds). Ask: "What are the top 2 reasons your clients go elsewhere?" Use answers to tailor appetite and pricing discussions.</a:t>
            </a:r>
            <a:endParaRPr/>
          </a:p>
        </p:txBody>
      </p:sp>
      <p:sp>
        <p:nvSpPr>
          <p:cNvPr id="2684" name="Google Shape;2684;p21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2685" name="Google Shape;2685;p2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$82,403 in new business. Ask: "What types of accounts are you seeing the most success with?" Use this to identify more of their book that fits our appetite.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689" name="Shape 26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0" name="Google Shape;2690;p2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1" name="Google Shape;2691;p2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NEAL'S INSURANCE SERVICES</a:t>
            </a:r>
            <a:endParaRPr/>
          </a:p>
        </p:txBody>
      </p:sp>
      <p:sp>
        <p:nvSpPr>
          <p:cNvPr id="2692" name="Google Shape;2692;p22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Pacific Northwest  |  State: CA  |  City: Hayward</a:t>
            </a:r>
            <a:endParaRPr/>
          </a:p>
        </p:txBody>
      </p:sp>
      <p:sp>
        <p:nvSpPr>
          <p:cNvPr id="2693" name="Google Shape;2693;p22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$61,005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2694" name="Google Shape;2694;p22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2695" name="Google Shape;2695;p22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$61,018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2696" name="Google Shape;2696;p22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2697" name="Google Shape;2697;p22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2698" name="Google Shape;2698;p22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$85,193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2699" name="Google Shape;2699;p22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$65,663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2700" name="Google Shape;2700;p22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2701" name="Google Shape;2701;p22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2702" name="Google Shape;2702;p22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703" name="Google Shape;2703;p22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12.5%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2704" name="Google Shape;2704;p22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2705" name="Google Shape;2705;p22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$47,665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2706" name="Google Shape;2706;p22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7" name="Google Shape;2707;p22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2708" name="Google Shape;2708;p22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709" name="Google Shape;2709;p22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2710" name="Google Shape;2710;p22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2711" name="Google Shape;2711;p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2712" name="Google Shape;2712;p22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2713" name="Google Shape;2713;p22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2714" name="Google Shape;2714;p22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5" name="Google Shape;2715;p22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2716" name="Google Shape;2716;p22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17" name="Google Shape;2717;p22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18" name="Google Shape;2718;p22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19" name="Google Shape;2719;p22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20" name="Google Shape;2720;p22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21" name="Google Shape;2721;p2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2" name="Google Shape;2722;p22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723" name="Google Shape;2723;p22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$-13</a:t>
            </a:r>
            <a:endParaRPr/>
          </a:p>
        </p:txBody>
      </p:sp>
      <p:sp>
        <p:nvSpPr>
          <p:cNvPr id="2724" name="Google Shape;2724;p22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25" name="Google Shape;2725;p22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26" name="Google Shape;2726;p22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$-13</a:t>
            </a:r>
            <a:endParaRPr/>
          </a:p>
        </p:txBody>
      </p:sp>
      <p:sp>
        <p:nvSpPr>
          <p:cNvPr id="2727" name="Google Shape;2727;p22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28" name="Google Shape;2728;p22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9" name="Google Shape;2729;p22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2730" name="Google Shape;2730;p22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31" name="Google Shape;2731;p2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32" name="Google Shape;2732;p22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33" name="Google Shape;2733;p22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34" name="Google Shape;2734;p22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35" name="Google Shape;2735;p22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6" name="Google Shape;2736;p22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2737" name="Google Shape;2737;p22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$61,018</a:t>
            </a:r>
            <a:endParaRPr/>
          </a:p>
        </p:txBody>
      </p:sp>
      <p:sp>
        <p:nvSpPr>
          <p:cNvPr id="2738" name="Google Shape;2738;p22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39" name="Google Shape;2739;p22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$61,018</a:t>
            </a:r>
            <a:endParaRPr/>
          </a:p>
        </p:txBody>
      </p:sp>
      <p:sp>
        <p:nvSpPr>
          <p:cNvPr id="2740" name="Google Shape;2740;p22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41" name="Google Shape;2741;p2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42" name="Google Shape;2742;p22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3" name="Google Shape;2743;p22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744" name="Google Shape;2744;p22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45" name="Google Shape;2745;p22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46" name="Google Shape;2746;p22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47" name="Google Shape;2747;p22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48" name="Google Shape;2748;p22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49" name="Google Shape;2749;p22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0" name="Google Shape;2750;p22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2751" name="Google Shape;2751;p2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$61,005</a:t>
            </a:r>
            <a:endParaRPr/>
          </a:p>
        </p:txBody>
      </p:sp>
      <p:sp>
        <p:nvSpPr>
          <p:cNvPr id="2752" name="Google Shape;2752;p22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53" name="Google Shape;2753;p22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$61,018</a:t>
            </a:r>
            <a:endParaRPr/>
          </a:p>
        </p:txBody>
      </p:sp>
      <p:sp>
        <p:nvSpPr>
          <p:cNvPr id="2754" name="Google Shape;2754;p22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$-13</a:t>
            </a:r>
            <a:endParaRPr/>
          </a:p>
        </p:txBody>
      </p:sp>
      <p:sp>
        <p:nvSpPr>
          <p:cNvPr id="2755" name="Google Shape;2755;p22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56" name="Google Shape;2756;p22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7" name="Google Shape;2757;p22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2758" name="Google Shape;2758;p22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759" name="Google Shape;2759;p22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2760" name="Google Shape;2760;p22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2761" name="Google Shape;2761;p2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2762" name="Google Shape;2762;p22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763" name="Google Shape;2763;p22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2764" name="Google Shape;2764;p2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5" name="Google Shape;2765;p22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2766" name="Google Shape;2766;p22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767" name="Google Shape;2767;p22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768" name="Google Shape;2768;p22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769" name="Google Shape;2769;p22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770" name="Google Shape;2770;p22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100.0%</a:t>
            </a:r>
            <a:endParaRPr/>
          </a:p>
        </p:txBody>
      </p:sp>
      <p:sp>
        <p:nvSpPr>
          <p:cNvPr id="2771" name="Google Shape;2771;p2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2" name="Google Shape;2772;p22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773" name="Google Shape;2773;p22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2774" name="Google Shape;2774;p2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775" name="Google Shape;2775;p22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2776" name="Google Shape;2776;p22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777" name="Google Shape;2777;p22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25.0%</a:t>
            </a:r>
            <a:endParaRPr/>
          </a:p>
        </p:txBody>
      </p:sp>
      <p:sp>
        <p:nvSpPr>
          <p:cNvPr id="2778" name="Google Shape;2778;p22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9" name="Google Shape;2779;p22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2780" name="Google Shape;2780;p22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2781" name="Google Shape;2781;p2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782" name="Google Shape;2782;p22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2783" name="Google Shape;2783;p22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784" name="Google Shape;2784;p2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2785" name="Google Shape;2785;p22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6" name="Google Shape;2786;p22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2787" name="Google Shape;2787;p22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788" name="Google Shape;2788;p22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789" name="Google Shape;2789;p22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790" name="Google Shape;2790;p22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791" name="Google Shape;2791;p2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2792" name="Google Shape;2792;p22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3" name="Google Shape;2793;p22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794" name="Google Shape;2794;p2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795" name="Google Shape;2795;p22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796" name="Google Shape;2796;p22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797" name="Google Shape;2797;p22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798" name="Google Shape;2798;p22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2799" name="Google Shape;2799;p22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0" name="Google Shape;2800;p22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2801" name="Google Shape;2801;p2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2802" name="Google Shape;2802;p22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803" name="Google Shape;2803;p22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2804" name="Google Shape;2804;p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805" name="Google Shape;2805;p22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12.5%</a:t>
            </a:r>
            <a:endParaRPr/>
          </a:p>
        </p:txBody>
      </p:sp>
      <p:sp>
        <p:nvSpPr>
          <p:cNvPr id="2806" name="Google Shape;2806;p22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7" name="Google Shape;2807;p22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2808" name="Google Shape;2808;p22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2809" name="Google Shape;2809;p22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2810" name="Google Shape;2810;p22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2811" name="Google Shape;2811;p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2812" name="Google Shape;2812;p22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2813" name="Google Shape;2813;p22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2814" name="Google Shape;2814;p22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2815" name="Google Shape;2815;p22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2816" name="Google Shape;2816;p22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2817" name="Google Shape;2817;p22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2818" name="Google Shape;2818;p22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2819" name="Google Shape;2819;p22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2820" name="Google Shape;2820;p22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2821" name="Google Shape;2821;p2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2822" name="Google Shape;2822;p22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823" name="Google Shape;2823;p22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824" name="Google Shape;2824;p22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2825" name="Google Shape;2825;p22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2826" name="Google Shape;2826;p22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2827" name="Google Shape;2827;p22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2828" name="Google Shape;2828;p22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2829" name="Google Shape;2829;p22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830" name="Google Shape;2830;p22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831" name="Google Shape;2831;p2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832" name="Google Shape;2832;p22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2833" name="Google Shape;2833;p22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2834" name="Google Shape;2834;p22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2835" name="Google Shape;2835;p22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836" name="Google Shape;2836;p22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837" name="Google Shape;2837;p22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$1K</a:t>
            </a:r>
            <a:endParaRPr/>
          </a:p>
        </p:txBody>
      </p:sp>
      <p:sp>
        <p:nvSpPr>
          <p:cNvPr id="2838" name="Google Shape;2838;p22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$-13</a:t>
            </a:r>
            <a:endParaRPr/>
          </a:p>
        </p:txBody>
      </p:sp>
      <p:sp>
        <p:nvSpPr>
          <p:cNvPr id="2839" name="Google Shape;2839;p22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$29K</a:t>
            </a:r>
            <a:endParaRPr/>
          </a:p>
        </p:txBody>
      </p:sp>
      <p:sp>
        <p:nvSpPr>
          <p:cNvPr id="2840" name="Google Shape;2840;p22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841" name="Google Shape;2841;p2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$51K</a:t>
            </a:r>
            <a:endParaRPr/>
          </a:p>
        </p:txBody>
      </p:sp>
      <p:sp>
        <p:nvSpPr>
          <p:cNvPr id="2842" name="Google Shape;2842;p22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$61K</a:t>
            </a:r>
            <a:endParaRPr/>
          </a:p>
        </p:txBody>
      </p:sp>
      <p:sp>
        <p:nvSpPr>
          <p:cNvPr id="2843" name="Google Shape;2843;p22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844" name="Google Shape;2844;p22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845" name="Google Shape;2845;p22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$81K</a:t>
            </a:r>
            <a:endParaRPr/>
          </a:p>
        </p:txBody>
      </p:sp>
      <p:sp>
        <p:nvSpPr>
          <p:cNvPr id="2846" name="Google Shape;2846;p22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$61K</a:t>
            </a:r>
            <a:endParaRPr/>
          </a:p>
        </p:txBody>
      </p:sp>
      <p:sp>
        <p:nvSpPr>
          <p:cNvPr id="2847" name="Google Shape;2847;p22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8" name="Google Shape;2848;p22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2849" name="Google Shape;2849;p22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2850" name="Google Shape;2850;p22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$61,005 YTD gross written premium</a:t>
            </a:r>
            <a:endParaRPr/>
          </a:p>
        </p:txBody>
      </p:sp>
      <p:sp>
        <p:nvSpPr>
          <p:cNvPr id="2851" name="Google Shape;2851;p2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2852" name="Google Shape;2852;p22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$61,018 in renewals - strong retention</a:t>
            </a:r>
            <a:endParaRPr/>
          </a:p>
        </p:txBody>
      </p:sp>
      <p:sp>
        <p:nvSpPr>
          <p:cNvPr id="2853" name="Google Shape;2853;p2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4" name="Google Shape;2854;p22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2855" name="Google Shape;2855;p22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2856" name="Google Shape;2856;p22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new business - all premium from renewals/endorsements only</a:t>
            </a:r>
            <a:endParaRPr/>
          </a:p>
        </p:txBody>
      </p:sp>
      <p:sp>
        <p:nvSpPr>
          <p:cNvPr id="2857" name="Google Shape;2857;p22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8" name="Google Shape;2858;p22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2859" name="Google Shape;2859;p2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2860" name="Google Shape;2860;p22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Their $61,018 in renewals shows they trust our product. Ask: "What's holding back new submissions?" They may need updated appetite info or a refresher on our quoting process.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864" name="Shape 28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5" name="Google Shape;2865;p23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6" name="Google Shape;2866;p23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Omega Insurance Service</a:t>
            </a:r>
            <a:endParaRPr/>
          </a:p>
        </p:txBody>
      </p:sp>
      <p:sp>
        <p:nvSpPr>
          <p:cNvPr id="2867" name="Google Shape;2867;p2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Pacific Northwest  |  State: CA  |  City: N/A</a:t>
            </a:r>
            <a:endParaRPr/>
          </a:p>
        </p:txBody>
      </p:sp>
      <p:sp>
        <p:nvSpPr>
          <p:cNvPr id="2868" name="Google Shape;2868;p23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$41,015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2869" name="Google Shape;2869;p23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$26,723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2870" name="Google Shape;2870;p23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$13,769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2871" name="Google Shape;2871;p23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$523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2872" name="Google Shape;2872;p23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2873" name="Google Shape;2873;p23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$134,092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2874" name="Google Shape;2874;p23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$105,072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2875" name="Google Shape;2875;p23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2876" name="Google Shape;2876;p23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2877" name="Google Shape;2877;p23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878" name="Google Shape;2878;p23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28.6%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2879" name="Google Shape;2879;p23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2880" name="Google Shape;2880;p23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$27,515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2881" name="Google Shape;2881;p23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2" name="Google Shape;2882;p23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2883" name="Google Shape;2883;p23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884" name="Google Shape;2884;p23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2885" name="Google Shape;2885;p23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2886" name="Google Shape;2886;p23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2887" name="Google Shape;2887;p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2888" name="Google Shape;2888;p23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2889" name="Google Shape;2889;p23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0" name="Google Shape;2890;p23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2891" name="Google Shape;2891;p23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$27,082</a:t>
            </a:r>
            <a:endParaRPr/>
          </a:p>
        </p:txBody>
      </p:sp>
      <p:sp>
        <p:nvSpPr>
          <p:cNvPr id="2892" name="Google Shape;2892;p23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$13,312</a:t>
            </a:r>
            <a:endParaRPr/>
          </a:p>
        </p:txBody>
      </p:sp>
      <p:sp>
        <p:nvSpPr>
          <p:cNvPr id="2893" name="Google Shape;2893;p23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$13,769</a:t>
            </a:r>
            <a:endParaRPr/>
          </a:p>
        </p:txBody>
      </p:sp>
      <p:sp>
        <p:nvSpPr>
          <p:cNvPr id="2894" name="Google Shape;2894;p23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895" name="Google Shape;2895;p23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896" name="Google Shape;2896;p23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7" name="Google Shape;2897;p2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898" name="Google Shape;2898;p23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899" name="Google Shape;2899;p23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00" name="Google Shape;2900;p23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01" name="Google Shape;2901;p23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02" name="Google Shape;2902;p23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03" name="Google Shape;2903;p23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04" name="Google Shape;2904;p23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2905" name="Google Shape;2905;p23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06" name="Google Shape;2906;p23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07" name="Google Shape;2907;p2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08" name="Google Shape;2908;p23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09" name="Google Shape;2909;p23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10" name="Google Shape;2910;p23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1" name="Google Shape;2911;p23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2912" name="Google Shape;2912;p23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13" name="Google Shape;2913;p23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14" name="Google Shape;2914;p23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15" name="Google Shape;2915;p23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16" name="Google Shape;2916;p23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17" name="Google Shape;2917;p2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8" name="Google Shape;2918;p23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919" name="Google Shape;2919;p23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$13,934</a:t>
            </a:r>
            <a:endParaRPr/>
          </a:p>
        </p:txBody>
      </p:sp>
      <p:sp>
        <p:nvSpPr>
          <p:cNvPr id="2920" name="Google Shape;2920;p23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$13,410</a:t>
            </a:r>
            <a:endParaRPr/>
          </a:p>
        </p:txBody>
      </p:sp>
      <p:sp>
        <p:nvSpPr>
          <p:cNvPr id="2921" name="Google Shape;2921;p23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22" name="Google Shape;2922;p23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$523</a:t>
            </a:r>
            <a:endParaRPr/>
          </a:p>
        </p:txBody>
      </p:sp>
      <p:sp>
        <p:nvSpPr>
          <p:cNvPr id="2923" name="Google Shape;2923;p23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24" name="Google Shape;2924;p23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5" name="Google Shape;2925;p23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2926" name="Google Shape;2926;p23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$41,015</a:t>
            </a:r>
            <a:endParaRPr/>
          </a:p>
        </p:txBody>
      </p:sp>
      <p:sp>
        <p:nvSpPr>
          <p:cNvPr id="2927" name="Google Shape;2927;p2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$26,723</a:t>
            </a:r>
            <a:endParaRPr/>
          </a:p>
        </p:txBody>
      </p:sp>
      <p:sp>
        <p:nvSpPr>
          <p:cNvPr id="2928" name="Google Shape;2928;p23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$13,769</a:t>
            </a:r>
            <a:endParaRPr/>
          </a:p>
        </p:txBody>
      </p:sp>
      <p:sp>
        <p:nvSpPr>
          <p:cNvPr id="2929" name="Google Shape;2929;p23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$523</a:t>
            </a:r>
            <a:endParaRPr/>
          </a:p>
        </p:txBody>
      </p:sp>
      <p:sp>
        <p:nvSpPr>
          <p:cNvPr id="2930" name="Google Shape;2930;p23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31" name="Google Shape;2931;p23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2" name="Google Shape;2932;p23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2933" name="Google Shape;2933;p23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934" name="Google Shape;2934;p23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2935" name="Google Shape;2935;p23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2936" name="Google Shape;2936;p23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2937" name="Google Shape;2937;p2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938" name="Google Shape;2938;p23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2939" name="Google Shape;2939;p23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0" name="Google Shape;2940;p2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2941" name="Google Shape;2941;p23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942" name="Google Shape;2942;p23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943" name="Google Shape;2943;p23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944" name="Google Shape;2944;p23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945" name="Google Shape;2945;p23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2946" name="Google Shape;2946;p23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7" name="Google Shape;2947;p2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948" name="Google Shape;2948;p23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949" name="Google Shape;2949;p23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950" name="Google Shape;2950;p2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951" name="Google Shape;2951;p23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952" name="Google Shape;2952;p23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2953" name="Google Shape;2953;p23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4" name="Google Shape;2954;p23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2955" name="Google Shape;2955;p23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956" name="Google Shape;2956;p23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957" name="Google Shape;2957;p2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958" name="Google Shape;2958;p23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959" name="Google Shape;2959;p23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2960" name="Google Shape;2960;p2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1" name="Google Shape;2961;p23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2962" name="Google Shape;2962;p23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2963" name="Google Shape;2963;p23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964" name="Google Shape;2964;p23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2965" name="Google Shape;2965;p23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966" name="Google Shape;2966;p23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2967" name="Google Shape;2967;p2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8" name="Google Shape;2968;p23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969" name="Google Shape;2969;p23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2970" name="Google Shape;2970;p2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971" name="Google Shape;2971;p23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2972" name="Google Shape;2972;p23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2973" name="Google Shape;2973;p23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50.0%</a:t>
            </a:r>
            <a:endParaRPr/>
          </a:p>
        </p:txBody>
      </p:sp>
      <p:sp>
        <p:nvSpPr>
          <p:cNvPr id="2974" name="Google Shape;2974;p23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5" name="Google Shape;2975;p23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2976" name="Google Shape;2976;p23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2977" name="Google Shape;2977;p2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978" name="Google Shape;2978;p23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2979" name="Google Shape;2979;p23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2980" name="Google Shape;2980;p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28.6%</a:t>
            </a:r>
            <a:endParaRPr/>
          </a:p>
        </p:txBody>
      </p:sp>
      <p:sp>
        <p:nvSpPr>
          <p:cNvPr id="2981" name="Google Shape;2981;p23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2" name="Google Shape;2982;p23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2983" name="Google Shape;2983;p23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2984" name="Google Shape;2984;p23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2985" name="Google Shape;2985;p23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2986" name="Google Shape;2986;p23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2987" name="Google Shape;2987;p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2988" name="Google Shape;2988;p23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2989" name="Google Shape;2989;p23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2990" name="Google Shape;2990;p23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2991" name="Google Shape;2991;p23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2992" name="Google Shape;2992;p23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2993" name="Google Shape;2993;p23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2994" name="Google Shape;2994;p23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2995" name="Google Shape;2995;p23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2996" name="Google Shape;2996;p23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2997" name="Google Shape;2997;p2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998" name="Google Shape;2998;p23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999" name="Google Shape;2999;p23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000" name="Google Shape;3000;p23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001" name="Google Shape;3001;p23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3002" name="Google Shape;3002;p23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003" name="Google Shape;3003;p23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004" name="Google Shape;3004;p23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005" name="Google Shape;3005;p23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006" name="Google Shape;3006;p23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3007" name="Google Shape;3007;p2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3008" name="Google Shape;3008;p23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3009" name="Google Shape;3009;p23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3010" name="Google Shape;3010;p23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011" name="Google Shape;3011;p23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$27K</a:t>
            </a:r>
            <a:endParaRPr/>
          </a:p>
        </p:txBody>
      </p:sp>
      <p:sp>
        <p:nvSpPr>
          <p:cNvPr id="3012" name="Google Shape;3012;p23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013" name="Google Shape;3013;p23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014" name="Google Shape;3014;p23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$70K</a:t>
            </a:r>
            <a:endParaRPr/>
          </a:p>
        </p:txBody>
      </p:sp>
      <p:sp>
        <p:nvSpPr>
          <p:cNvPr id="3015" name="Google Shape;3015;p23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016" name="Google Shape;3016;p23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017" name="Google Shape;3017;p2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018" name="Google Shape;3018;p23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019" name="Google Shape;3019;p23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$14K</a:t>
            </a:r>
            <a:endParaRPr/>
          </a:p>
        </p:txBody>
      </p:sp>
      <p:sp>
        <p:nvSpPr>
          <p:cNvPr id="3020" name="Google Shape;3020;p23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$70K</a:t>
            </a:r>
            <a:endParaRPr/>
          </a:p>
        </p:txBody>
      </p:sp>
      <p:sp>
        <p:nvSpPr>
          <p:cNvPr id="3021" name="Google Shape;3021;p23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$41K</a:t>
            </a:r>
            <a:endParaRPr/>
          </a:p>
        </p:txBody>
      </p:sp>
      <p:sp>
        <p:nvSpPr>
          <p:cNvPr id="3022" name="Google Shape;3022;p23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3" name="Google Shape;3023;p23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3024" name="Google Shape;3024;p23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3025" name="Google Shape;3025;p23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$41,015 YTD gross written premium</a:t>
            </a:r>
            <a:endParaRPr/>
          </a:p>
        </p:txBody>
      </p:sp>
      <p:sp>
        <p:nvSpPr>
          <p:cNvPr id="3026" name="Google Shape;3026;p23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3027" name="Google Shape;3027;p2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$26,723 in new business production</a:t>
            </a:r>
            <a:endParaRPr/>
          </a:p>
        </p:txBody>
      </p:sp>
      <p:sp>
        <p:nvSpPr>
          <p:cNvPr id="3028" name="Google Shape;3028;p23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9" name="Google Shape;3029;p2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3030" name="Google Shape;3030;p23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3031" name="Google Shape;3031;p23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significant concerns identified this quarter</a:t>
            </a:r>
            <a:endParaRPr/>
          </a:p>
        </p:txBody>
      </p:sp>
      <p:sp>
        <p:nvSpPr>
          <p:cNvPr id="3032" name="Google Shape;3032;p23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3033" name="Google Shape;3033;p23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Continue monitoring performance metrics</a:t>
            </a:r>
            <a:endParaRPr/>
          </a:p>
        </p:txBody>
      </p:sp>
      <p:sp>
        <p:nvSpPr>
          <p:cNvPr id="3034" name="Google Shape;3034;p23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35" name="Google Shape;3035;p23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3036" name="Google Shape;3036;p23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3037" name="Google Shape;3037;p2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Celebrate the $26,723 in new business. Ask what made those deals work and how you can help replicate that success with similar accounts in their pipeline.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041" name="Shape 30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2" name="Google Shape;3042;p24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43" name="Google Shape;3043;p24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Beaver State Insurance Agency Llc</a:t>
            </a:r>
            <a:endParaRPr/>
          </a:p>
        </p:txBody>
      </p:sp>
      <p:sp>
        <p:nvSpPr>
          <p:cNvPr id="3044" name="Google Shape;3044;p24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3  |  Region: Pacific Northwest  |  State: OR  |  City: Salem</a:t>
            </a:r>
            <a:endParaRPr/>
          </a:p>
        </p:txBody>
      </p:sp>
      <p:sp>
        <p:nvSpPr>
          <p:cNvPr id="3045" name="Google Shape;3045;p24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$26,465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3046" name="Google Shape;3046;p24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$20,493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3047" name="Google Shape;3047;p24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3048" name="Google Shape;3048;p24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$5,972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3049" name="Google Shape;3049;p24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3050" name="Google Shape;3050;p24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$132,689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3051" name="Google Shape;3051;p24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$142,047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3052" name="Google Shape;3052;p24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3053" name="Google Shape;3053;p24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3054" name="Google Shape;3054;p24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3055" name="Google Shape;3055;p24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16.7%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3056" name="Google Shape;3056;p24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$139,244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3057" name="Google Shape;3057;p24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$20,168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3058" name="Google Shape;3058;p24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9" name="Google Shape;3059;p24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3060" name="Google Shape;3060;p24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3061" name="Google Shape;3061;p24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3062" name="Google Shape;3062;p24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3063" name="Google Shape;3063;p24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3064" name="Google Shape;3064;p24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3065" name="Google Shape;3065;p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3066" name="Google Shape;3066;p24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7" name="Google Shape;3067;p24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3068" name="Google Shape;3068;p24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$3,937</a:t>
            </a:r>
            <a:endParaRPr/>
          </a:p>
        </p:txBody>
      </p:sp>
      <p:sp>
        <p:nvSpPr>
          <p:cNvPr id="3069" name="Google Shape;3069;p24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070" name="Google Shape;3070;p24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071" name="Google Shape;3071;p24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$3,937</a:t>
            </a:r>
            <a:endParaRPr/>
          </a:p>
        </p:txBody>
      </p:sp>
      <p:sp>
        <p:nvSpPr>
          <p:cNvPr id="3072" name="Google Shape;3072;p24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073" name="Google Shape;3073;p24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74" name="Google Shape;3074;p24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3075" name="Google Shape;3075;p2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$532</a:t>
            </a:r>
            <a:endParaRPr/>
          </a:p>
        </p:txBody>
      </p:sp>
      <p:sp>
        <p:nvSpPr>
          <p:cNvPr id="3076" name="Google Shape;3076;p24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077" name="Google Shape;3077;p24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078" name="Google Shape;3078;p24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$532</a:t>
            </a:r>
            <a:endParaRPr/>
          </a:p>
        </p:txBody>
      </p:sp>
      <p:sp>
        <p:nvSpPr>
          <p:cNvPr id="3079" name="Google Shape;3079;p24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080" name="Google Shape;3080;p24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1" name="Google Shape;3081;p24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3082" name="Google Shape;3082;p24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083" name="Google Shape;3083;p24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084" name="Google Shape;3084;p24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085" name="Google Shape;3085;p2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086" name="Google Shape;3086;p24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087" name="Google Shape;3087;p24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8" name="Google Shape;3088;p24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3089" name="Google Shape;3089;p24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$1,503</a:t>
            </a:r>
            <a:endParaRPr/>
          </a:p>
        </p:txBody>
      </p:sp>
      <p:sp>
        <p:nvSpPr>
          <p:cNvPr id="3090" name="Google Shape;3090;p24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091" name="Google Shape;3091;p24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092" name="Google Shape;3092;p24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$1,503</a:t>
            </a:r>
            <a:endParaRPr/>
          </a:p>
        </p:txBody>
      </p:sp>
      <p:sp>
        <p:nvSpPr>
          <p:cNvPr id="3093" name="Google Shape;3093;p24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094" name="Google Shape;3094;p24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5" name="Google Shape;3095;p2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3096" name="Google Shape;3096;p24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$20,493</a:t>
            </a:r>
            <a:endParaRPr/>
          </a:p>
        </p:txBody>
      </p:sp>
      <p:sp>
        <p:nvSpPr>
          <p:cNvPr id="3097" name="Google Shape;3097;p24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$20,493</a:t>
            </a:r>
            <a:endParaRPr/>
          </a:p>
        </p:txBody>
      </p:sp>
      <p:sp>
        <p:nvSpPr>
          <p:cNvPr id="3098" name="Google Shape;3098;p24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099" name="Google Shape;3099;p24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00" name="Google Shape;3100;p24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01" name="Google Shape;3101;p24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2" name="Google Shape;3102;p24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3103" name="Google Shape;3103;p24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$26,465</a:t>
            </a:r>
            <a:endParaRPr/>
          </a:p>
        </p:txBody>
      </p:sp>
      <p:sp>
        <p:nvSpPr>
          <p:cNvPr id="3104" name="Google Shape;3104;p24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$20,493</a:t>
            </a:r>
            <a:endParaRPr/>
          </a:p>
        </p:txBody>
      </p:sp>
      <p:sp>
        <p:nvSpPr>
          <p:cNvPr id="3105" name="Google Shape;3105;p2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06" name="Google Shape;3106;p24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$5,972</a:t>
            </a:r>
            <a:endParaRPr/>
          </a:p>
        </p:txBody>
      </p:sp>
      <p:sp>
        <p:nvSpPr>
          <p:cNvPr id="3107" name="Google Shape;3107;p24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08" name="Google Shape;3108;p2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9" name="Google Shape;3109;p24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3110" name="Google Shape;3110;p24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3111" name="Google Shape;3111;p24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3112" name="Google Shape;3112;p24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3113" name="Google Shape;3113;p24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3114" name="Google Shape;3114;p24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3115" name="Google Shape;3115;p2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3116" name="Google Shape;3116;p24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7" name="Google Shape;3117;p24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3118" name="Google Shape;3118;p2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119" name="Google Shape;3119;p24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120" name="Google Shape;3120;p24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121" name="Google Shape;3121;p24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122" name="Google Shape;3122;p24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50.0%</a:t>
            </a:r>
            <a:endParaRPr/>
          </a:p>
        </p:txBody>
      </p:sp>
      <p:sp>
        <p:nvSpPr>
          <p:cNvPr id="3123" name="Google Shape;3123;p24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4" name="Google Shape;3124;p24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3125" name="Google Shape;3125;p2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126" name="Google Shape;3126;p24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127" name="Google Shape;3127;p24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128" name="Google Shape;3128;p2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129" name="Google Shape;3129;p24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50.0%</a:t>
            </a:r>
            <a:endParaRPr/>
          </a:p>
        </p:txBody>
      </p:sp>
      <p:sp>
        <p:nvSpPr>
          <p:cNvPr id="3130" name="Google Shape;3130;p24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31" name="Google Shape;3131;p24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3132" name="Google Shape;3132;p24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3133" name="Google Shape;3133;p24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134" name="Google Shape;3134;p24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3135" name="Google Shape;3135;p2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136" name="Google Shape;3136;p24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3137" name="Google Shape;3137;p24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38" name="Google Shape;3138;p2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3139" name="Google Shape;3139;p24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3140" name="Google Shape;3140;p24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141" name="Google Shape;3141;p24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142" name="Google Shape;3142;p24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143" name="Google Shape;3143;p24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25.0%</a:t>
            </a:r>
            <a:endParaRPr/>
          </a:p>
        </p:txBody>
      </p:sp>
      <p:sp>
        <p:nvSpPr>
          <p:cNvPr id="3144" name="Google Shape;3144;p24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5" name="Google Shape;3145;p2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3146" name="Google Shape;3146;p24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147" name="Google Shape;3147;p24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148" name="Google Shape;3148;p2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149" name="Google Shape;3149;p24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150" name="Google Shape;3150;p24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50.0%</a:t>
            </a:r>
            <a:endParaRPr/>
          </a:p>
        </p:txBody>
      </p:sp>
      <p:sp>
        <p:nvSpPr>
          <p:cNvPr id="3151" name="Google Shape;3151;p24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2" name="Google Shape;3152;p24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3153" name="Google Shape;3153;p24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3154" name="Google Shape;3154;p24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155" name="Google Shape;3155;p2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3156" name="Google Shape;3156;p24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157" name="Google Shape;3157;p24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16.7%</a:t>
            </a:r>
            <a:endParaRPr/>
          </a:p>
        </p:txBody>
      </p:sp>
      <p:sp>
        <p:nvSpPr>
          <p:cNvPr id="3158" name="Google Shape;3158;p24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9" name="Google Shape;3159;p24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3160" name="Google Shape;3160;p24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161" name="Google Shape;3161;p24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3162" name="Google Shape;3162;p24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3163" name="Google Shape;3163;p24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3164" name="Google Shape;3164;p24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3165" name="Google Shape;3165;p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3166" name="Google Shape;3166;p24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3167" name="Google Shape;3167;p24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3168" name="Google Shape;3168;p24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3169" name="Google Shape;3169;p24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3170" name="Google Shape;3170;p24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3171" name="Google Shape;3171;p24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3172" name="Google Shape;3172;p24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3173" name="Google Shape;3173;p24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3174" name="Google Shape;3174;p24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175" name="Google Shape;3175;p2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176" name="Google Shape;3176;p24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177" name="Google Shape;3177;p24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178" name="Google Shape;3178;p24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3179" name="Google Shape;3179;p24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3180" name="Google Shape;3180;p24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181" name="Google Shape;3181;p24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3182" name="Google Shape;3182;p24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183" name="Google Shape;3183;p24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184" name="Google Shape;3184;p24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3185" name="Google Shape;3185;p2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3186" name="Google Shape;3186;p24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3187" name="Google Shape;3187;p24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$15K</a:t>
            </a:r>
            <a:endParaRPr/>
          </a:p>
        </p:txBody>
      </p:sp>
      <p:sp>
        <p:nvSpPr>
          <p:cNvPr id="3188" name="Google Shape;3188;p24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$4K</a:t>
            </a:r>
            <a:endParaRPr/>
          </a:p>
        </p:txBody>
      </p:sp>
      <p:sp>
        <p:nvSpPr>
          <p:cNvPr id="3189" name="Google Shape;3189;p24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90" name="Google Shape;3190;p24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$532</a:t>
            </a:r>
            <a:endParaRPr/>
          </a:p>
        </p:txBody>
      </p:sp>
      <p:sp>
        <p:nvSpPr>
          <p:cNvPr id="3191" name="Google Shape;3191;p24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$2K</a:t>
            </a:r>
            <a:endParaRPr/>
          </a:p>
        </p:txBody>
      </p:sp>
      <p:sp>
        <p:nvSpPr>
          <p:cNvPr id="3192" name="Google Shape;3192;p24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93" name="Google Shape;3193;p24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94" name="Google Shape;3194;p24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$2K</a:t>
            </a:r>
            <a:endParaRPr/>
          </a:p>
        </p:txBody>
      </p:sp>
      <p:sp>
        <p:nvSpPr>
          <p:cNvPr id="3195" name="Google Shape;3195;p2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96" name="Google Shape;3196;p24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$20K</a:t>
            </a:r>
            <a:endParaRPr/>
          </a:p>
        </p:txBody>
      </p:sp>
      <p:sp>
        <p:nvSpPr>
          <p:cNvPr id="3197" name="Google Shape;3197;p24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$17K</a:t>
            </a:r>
            <a:endParaRPr/>
          </a:p>
        </p:txBody>
      </p:sp>
      <p:sp>
        <p:nvSpPr>
          <p:cNvPr id="3198" name="Google Shape;3198;p24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$26K</a:t>
            </a:r>
            <a:endParaRPr/>
          </a:p>
        </p:txBody>
      </p:sp>
      <p:sp>
        <p:nvSpPr>
          <p:cNvPr id="3199" name="Google Shape;3199;p24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0" name="Google Shape;3200;p24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3201" name="Google Shape;3201;p24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3202" name="Google Shape;3202;p24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$26,465 YTD gross written premium</a:t>
            </a:r>
            <a:endParaRPr/>
          </a:p>
        </p:txBody>
      </p:sp>
      <p:sp>
        <p:nvSpPr>
          <p:cNvPr id="3203" name="Google Shape;3203;p24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3204" name="Google Shape;3204;p24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$20,493 in new business production</a:t>
            </a:r>
            <a:endParaRPr/>
          </a:p>
        </p:txBody>
      </p:sp>
      <p:sp>
        <p:nvSpPr>
          <p:cNvPr id="3205" name="Google Shape;3205;p2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6" name="Google Shape;3206;p24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3207" name="Google Shape;3207;p2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3208" name="Google Shape;3208;p24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significant concerns identified this quarter</a:t>
            </a:r>
            <a:endParaRPr/>
          </a:p>
        </p:txBody>
      </p:sp>
      <p:sp>
        <p:nvSpPr>
          <p:cNvPr id="3209" name="Google Shape;3209;p24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3210" name="Google Shape;3210;p24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Continue monitoring performance metrics</a:t>
            </a:r>
            <a:endParaRPr/>
          </a:p>
        </p:txBody>
      </p:sp>
      <p:sp>
        <p:nvSpPr>
          <p:cNvPr id="3211" name="Google Shape;3211;p24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2" name="Google Shape;3212;p24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3213" name="Google Shape;3213;p24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3214" name="Google Shape;3214;p24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Celebrate the $20,493 in new business. Ask what made those deals work and how you can help replicate that success with similar accounts in their pipeline.</a:t>
            </a:r>
            <a:endParaRPr/>
          </a:p>
        </p:txBody>
      </p:sp>
      <p:sp>
        <p:nvSpPr>
          <p:cNvPr id="3215" name="Google Shape;3215;p2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3216" name="Google Shape;3216;p24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Momentum is building - premium grew MoM. Keep the energy going: "Things are moving in the right direction. What do you need from me to keep this pace up?"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220" name="Shape 3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1" name="Google Shape;3221;p25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22" name="Google Shape;3222;p25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All Capital Insurance Agency Inc</a:t>
            </a:r>
            <a:endParaRPr/>
          </a:p>
        </p:txBody>
      </p:sp>
      <p:sp>
        <p:nvSpPr>
          <p:cNvPr id="3223" name="Google Shape;3223;p25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3  |  Region: Pacific Northwest  |  State: WA  |  City: Vancouver</a:t>
            </a:r>
            <a:endParaRPr/>
          </a:p>
        </p:txBody>
      </p:sp>
      <p:sp>
        <p:nvSpPr>
          <p:cNvPr id="3224" name="Google Shape;3224;p25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$17,343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3225" name="Google Shape;3225;p25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$18,143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3226" name="Google Shape;3226;p25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3227" name="Google Shape;3227;p25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$-800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3228" name="Google Shape;3228;p25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$-17,116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3229" name="Google Shape;3229;p25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$149,423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3230" name="Google Shape;3230;p25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$149,412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3231" name="Google Shape;3231;p25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3232" name="Google Shape;3232;p25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3233" name="Google Shape;3233;p25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3234" name="Google Shape;3234;p25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2.7%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3235" name="Google Shape;3235;p25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3236" name="Google Shape;3236;p25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$83,787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3237" name="Google Shape;3237;p25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8" name="Google Shape;3238;p25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3239" name="Google Shape;3239;p25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3240" name="Google Shape;3240;p25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3241" name="Google Shape;3241;p25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3242" name="Google Shape;3242;p25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3243" name="Google Shape;3243;p25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3244" name="Google Shape;3244;p25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3245" name="Google Shape;3245;p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46" name="Google Shape;3246;p25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3247" name="Google Shape;3247;p25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$19,628</a:t>
            </a:r>
            <a:endParaRPr/>
          </a:p>
        </p:txBody>
      </p:sp>
      <p:sp>
        <p:nvSpPr>
          <p:cNvPr id="3248" name="Google Shape;3248;p25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$17,593</a:t>
            </a:r>
            <a:endParaRPr/>
          </a:p>
        </p:txBody>
      </p:sp>
      <p:sp>
        <p:nvSpPr>
          <p:cNvPr id="3249" name="Google Shape;3249;p25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50" name="Google Shape;3250;p25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$2,035</a:t>
            </a:r>
            <a:endParaRPr/>
          </a:p>
        </p:txBody>
      </p:sp>
      <p:sp>
        <p:nvSpPr>
          <p:cNvPr id="3251" name="Google Shape;3251;p25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52" name="Google Shape;3252;p25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3" name="Google Shape;3253;p25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3254" name="Google Shape;3254;p25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55" name="Google Shape;3255;p2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56" name="Google Shape;3256;p25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57" name="Google Shape;3257;p25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58" name="Google Shape;3258;p25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59" name="Google Shape;3259;p25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60" name="Google Shape;3260;p25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3261" name="Google Shape;3261;p25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62" name="Google Shape;3262;p25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63" name="Google Shape;3263;p25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64" name="Google Shape;3264;p25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65" name="Google Shape;3265;p2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$-17,116</a:t>
            </a:r>
            <a:endParaRPr/>
          </a:p>
        </p:txBody>
      </p:sp>
      <p:sp>
        <p:nvSpPr>
          <p:cNvPr id="3266" name="Google Shape;3266;p25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67" name="Google Shape;3267;p25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3268" name="Google Shape;3268;p25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$550</a:t>
            </a:r>
            <a:endParaRPr/>
          </a:p>
        </p:txBody>
      </p:sp>
      <p:sp>
        <p:nvSpPr>
          <p:cNvPr id="3269" name="Google Shape;3269;p25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$550</a:t>
            </a:r>
            <a:endParaRPr/>
          </a:p>
        </p:txBody>
      </p:sp>
      <p:sp>
        <p:nvSpPr>
          <p:cNvPr id="3270" name="Google Shape;3270;p25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71" name="Google Shape;3271;p25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72" name="Google Shape;3272;p25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73" name="Google Shape;3273;p25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74" name="Google Shape;3274;p25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3275" name="Google Shape;3275;p2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$-2,835</a:t>
            </a:r>
            <a:endParaRPr/>
          </a:p>
        </p:txBody>
      </p:sp>
      <p:sp>
        <p:nvSpPr>
          <p:cNvPr id="3276" name="Google Shape;3276;p25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77" name="Google Shape;3277;p25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78" name="Google Shape;3278;p25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$-2,835</a:t>
            </a:r>
            <a:endParaRPr/>
          </a:p>
        </p:txBody>
      </p:sp>
      <p:sp>
        <p:nvSpPr>
          <p:cNvPr id="3279" name="Google Shape;3279;p25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80" name="Google Shape;3280;p25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1" name="Google Shape;3281;p25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3282" name="Google Shape;3282;p25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$17,343</a:t>
            </a:r>
            <a:endParaRPr/>
          </a:p>
        </p:txBody>
      </p:sp>
      <p:sp>
        <p:nvSpPr>
          <p:cNvPr id="3283" name="Google Shape;3283;p25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$18,143</a:t>
            </a:r>
            <a:endParaRPr/>
          </a:p>
        </p:txBody>
      </p:sp>
      <p:sp>
        <p:nvSpPr>
          <p:cNvPr id="3284" name="Google Shape;3284;p25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85" name="Google Shape;3285;p2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$-800</a:t>
            </a:r>
            <a:endParaRPr/>
          </a:p>
        </p:txBody>
      </p:sp>
      <p:sp>
        <p:nvSpPr>
          <p:cNvPr id="3286" name="Google Shape;3286;p25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$-17,116</a:t>
            </a:r>
            <a:endParaRPr/>
          </a:p>
        </p:txBody>
      </p:sp>
      <p:sp>
        <p:nvSpPr>
          <p:cNvPr id="3287" name="Google Shape;3287;p25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8" name="Google Shape;3288;p2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3289" name="Google Shape;3289;p25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3290" name="Google Shape;3290;p25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3291" name="Google Shape;3291;p25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3292" name="Google Shape;3292;p25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3293" name="Google Shape;3293;p25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3294" name="Google Shape;3294;p25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3295" name="Google Shape;3295;p2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6" name="Google Shape;3296;p25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3297" name="Google Shape;3297;p25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40</a:t>
            </a:r>
            <a:endParaRPr/>
          </a:p>
        </p:txBody>
      </p:sp>
      <p:sp>
        <p:nvSpPr>
          <p:cNvPr id="3298" name="Google Shape;3298;p2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3299" name="Google Shape;3299;p25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37</a:t>
            </a:r>
            <a:endParaRPr/>
          </a:p>
        </p:txBody>
      </p:sp>
      <p:sp>
        <p:nvSpPr>
          <p:cNvPr id="3300" name="Google Shape;3300;p25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3301" name="Google Shape;3301;p25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12.5%</a:t>
            </a:r>
            <a:endParaRPr/>
          </a:p>
        </p:txBody>
      </p:sp>
      <p:sp>
        <p:nvSpPr>
          <p:cNvPr id="3302" name="Google Shape;3302;p25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03" name="Google Shape;3303;p25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3304" name="Google Shape;3304;p25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66</a:t>
            </a:r>
            <a:endParaRPr/>
          </a:p>
        </p:txBody>
      </p:sp>
      <p:sp>
        <p:nvSpPr>
          <p:cNvPr id="3305" name="Google Shape;3305;p2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3306" name="Google Shape;3306;p25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61</a:t>
            </a:r>
            <a:endParaRPr/>
          </a:p>
        </p:txBody>
      </p:sp>
      <p:sp>
        <p:nvSpPr>
          <p:cNvPr id="3307" name="Google Shape;3307;p25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308" name="Google Shape;3308;p2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3309" name="Google Shape;3309;p25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10" name="Google Shape;3310;p25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3311" name="Google Shape;3311;p25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67</a:t>
            </a:r>
            <a:endParaRPr/>
          </a:p>
        </p:txBody>
      </p:sp>
      <p:sp>
        <p:nvSpPr>
          <p:cNvPr id="3312" name="Google Shape;3312;p25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3313" name="Google Shape;3313;p25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48</a:t>
            </a:r>
            <a:endParaRPr/>
          </a:p>
        </p:txBody>
      </p:sp>
      <p:sp>
        <p:nvSpPr>
          <p:cNvPr id="3314" name="Google Shape;3314;p25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3315" name="Google Shape;3315;p2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4.5%</a:t>
            </a:r>
            <a:endParaRPr/>
          </a:p>
        </p:txBody>
      </p:sp>
      <p:sp>
        <p:nvSpPr>
          <p:cNvPr id="3316" name="Google Shape;3316;p25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17" name="Google Shape;3317;p25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3318" name="Google Shape;3318;p2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</a:t>
            </a:r>
            <a:endParaRPr/>
          </a:p>
        </p:txBody>
      </p:sp>
      <p:sp>
        <p:nvSpPr>
          <p:cNvPr id="3319" name="Google Shape;3319;p25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3320" name="Google Shape;3320;p25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3321" name="Google Shape;3321;p25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322" name="Google Shape;3322;p25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3.0%</a:t>
            </a:r>
            <a:endParaRPr/>
          </a:p>
        </p:txBody>
      </p:sp>
      <p:sp>
        <p:nvSpPr>
          <p:cNvPr id="3323" name="Google Shape;3323;p25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4" name="Google Shape;3324;p25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3325" name="Google Shape;3325;p2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</a:t>
            </a:r>
            <a:endParaRPr/>
          </a:p>
        </p:txBody>
      </p:sp>
      <p:sp>
        <p:nvSpPr>
          <p:cNvPr id="3326" name="Google Shape;3326;p25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3327" name="Google Shape;3327;p25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3328" name="Google Shape;3328;p2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329" name="Google Shape;3329;p25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7.7%</a:t>
            </a:r>
            <a:endParaRPr/>
          </a:p>
        </p:txBody>
      </p:sp>
      <p:sp>
        <p:nvSpPr>
          <p:cNvPr id="3330" name="Google Shape;3330;p25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31" name="Google Shape;3331;p25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3332" name="Google Shape;3332;p25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223</a:t>
            </a:r>
            <a:endParaRPr/>
          </a:p>
        </p:txBody>
      </p:sp>
      <p:sp>
        <p:nvSpPr>
          <p:cNvPr id="3333" name="Google Shape;3333;p25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43</a:t>
            </a:r>
            <a:endParaRPr/>
          </a:p>
        </p:txBody>
      </p:sp>
      <p:sp>
        <p:nvSpPr>
          <p:cNvPr id="3334" name="Google Shape;3334;p25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180</a:t>
            </a:r>
            <a:endParaRPr/>
          </a:p>
        </p:txBody>
      </p:sp>
      <p:sp>
        <p:nvSpPr>
          <p:cNvPr id="3335" name="Google Shape;3335;p2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3336" name="Google Shape;3336;p25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2.7%</a:t>
            </a:r>
            <a:endParaRPr/>
          </a:p>
        </p:txBody>
      </p:sp>
      <p:sp>
        <p:nvSpPr>
          <p:cNvPr id="3337" name="Google Shape;3337;p25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38" name="Google Shape;3338;p25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3339" name="Google Shape;3339;p25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340" name="Google Shape;3340;p25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3341" name="Google Shape;3341;p25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3342" name="Google Shape;3342;p25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3343" name="Google Shape;3343;p25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3344" name="Google Shape;3344;p25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3345" name="Google Shape;3345;p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3346" name="Google Shape;3346;p25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3347" name="Google Shape;3347;p25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3348" name="Google Shape;3348;p25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3349" name="Google Shape;3349;p25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3350" name="Google Shape;3350;p25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3351" name="Google Shape;3351;p25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3352" name="Google Shape;3352;p25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3353" name="Google Shape;3353;p25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3354" name="Google Shape;3354;p25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40</a:t>
            </a:r>
            <a:endParaRPr/>
          </a:p>
        </p:txBody>
      </p:sp>
      <p:sp>
        <p:nvSpPr>
          <p:cNvPr id="3355" name="Google Shape;3355;p2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3356" name="Google Shape;3356;p25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66</a:t>
            </a:r>
            <a:endParaRPr/>
          </a:p>
        </p:txBody>
      </p:sp>
      <p:sp>
        <p:nvSpPr>
          <p:cNvPr id="3357" name="Google Shape;3357;p25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3358" name="Google Shape;3358;p25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67</a:t>
            </a:r>
            <a:endParaRPr/>
          </a:p>
        </p:txBody>
      </p:sp>
      <p:sp>
        <p:nvSpPr>
          <p:cNvPr id="3359" name="Google Shape;3359;p25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3360" name="Google Shape;3360;p25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</a:t>
            </a:r>
            <a:endParaRPr/>
          </a:p>
        </p:txBody>
      </p:sp>
      <p:sp>
        <p:nvSpPr>
          <p:cNvPr id="3361" name="Google Shape;3361;p25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</a:t>
            </a:r>
            <a:endParaRPr/>
          </a:p>
        </p:txBody>
      </p:sp>
      <p:sp>
        <p:nvSpPr>
          <p:cNvPr id="3362" name="Google Shape;3362;p25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</a:t>
            </a:r>
            <a:endParaRPr/>
          </a:p>
        </p:txBody>
      </p:sp>
      <p:sp>
        <p:nvSpPr>
          <p:cNvPr id="3363" name="Google Shape;3363;p25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84</a:t>
            </a:r>
            <a:endParaRPr/>
          </a:p>
        </p:txBody>
      </p:sp>
      <p:sp>
        <p:nvSpPr>
          <p:cNvPr id="3364" name="Google Shape;3364;p25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232</a:t>
            </a:r>
            <a:endParaRPr/>
          </a:p>
        </p:txBody>
      </p:sp>
      <p:sp>
        <p:nvSpPr>
          <p:cNvPr id="3365" name="Google Shape;3365;p2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3366" name="Google Shape;3366;p25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$9K</a:t>
            </a:r>
            <a:endParaRPr/>
          </a:p>
        </p:txBody>
      </p:sp>
      <p:sp>
        <p:nvSpPr>
          <p:cNvPr id="3367" name="Google Shape;3367;p25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$20K</a:t>
            </a:r>
            <a:endParaRPr/>
          </a:p>
        </p:txBody>
      </p:sp>
      <p:sp>
        <p:nvSpPr>
          <p:cNvPr id="3368" name="Google Shape;3368;p25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</a:t>
            </a:r>
            <a:endParaRPr/>
          </a:p>
        </p:txBody>
      </p:sp>
      <p:sp>
        <p:nvSpPr>
          <p:cNvPr id="3369" name="Google Shape;3369;p25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370" name="Google Shape;3370;p25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$8K</a:t>
            </a:r>
            <a:endParaRPr/>
          </a:p>
        </p:txBody>
      </p:sp>
      <p:sp>
        <p:nvSpPr>
          <p:cNvPr id="3371" name="Google Shape;3371;p25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372" name="Google Shape;3372;p25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373" name="Google Shape;3373;p25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$550</a:t>
            </a:r>
            <a:endParaRPr/>
          </a:p>
        </p:txBody>
      </p:sp>
      <p:sp>
        <p:nvSpPr>
          <p:cNvPr id="3374" name="Google Shape;3374;p25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375" name="Google Shape;3375;p2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$-2,835</a:t>
            </a:r>
            <a:endParaRPr/>
          </a:p>
        </p:txBody>
      </p:sp>
      <p:sp>
        <p:nvSpPr>
          <p:cNvPr id="3376" name="Google Shape;3376;p25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$17K</a:t>
            </a:r>
            <a:endParaRPr/>
          </a:p>
        </p:txBody>
      </p:sp>
      <p:sp>
        <p:nvSpPr>
          <p:cNvPr id="3377" name="Google Shape;3377;p25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$17K</a:t>
            </a:r>
            <a:endParaRPr/>
          </a:p>
        </p:txBody>
      </p:sp>
      <p:sp>
        <p:nvSpPr>
          <p:cNvPr id="3378" name="Google Shape;3378;p25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9" name="Google Shape;3379;p25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3380" name="Google Shape;3380;p25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3381" name="Google Shape;3381;p25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$17,343 YTD gross written premium</a:t>
            </a:r>
            <a:endParaRPr/>
          </a:p>
        </p:txBody>
      </p:sp>
      <p:sp>
        <p:nvSpPr>
          <p:cNvPr id="3382" name="Google Shape;3382;p25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3383" name="Google Shape;3383;p25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$18,143 in new business production</a:t>
            </a:r>
            <a:endParaRPr/>
          </a:p>
        </p:txBody>
      </p:sp>
      <p:sp>
        <p:nvSpPr>
          <p:cNvPr id="3384" name="Google Shape;3384;p25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5" name="Google Shape;3385;p2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3386" name="Google Shape;3386;p25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3387" name="Google Shape;3387;p2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Low 2.7% hit ratio on 223 subs - needs coaching</a:t>
            </a:r>
            <a:endParaRPr/>
          </a:p>
        </p:txBody>
      </p:sp>
      <p:sp>
        <p:nvSpPr>
          <p:cNvPr id="3388" name="Google Shape;3388;p25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3389" name="Google Shape;3389;p25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94% of new business ($17,116)</a:t>
            </a:r>
            <a:endParaRPr/>
          </a:p>
        </p:txBody>
      </p:sp>
      <p:sp>
        <p:nvSpPr>
          <p:cNvPr id="3390" name="Google Shape;3390;p25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1" name="Google Shape;3391;p25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3392" name="Google Shape;3392;p25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3393" name="Google Shape;3393;p25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Walk through recent lost quotes (223 subs, only 6 binds). Ask: "What are the top 2 reasons your clients go elsewhere?" Use answers to tailor appetite and pricing discussions.</a:t>
            </a:r>
            <a:endParaRPr/>
          </a:p>
        </p:txBody>
      </p:sp>
      <p:sp>
        <p:nvSpPr>
          <p:cNvPr id="3394" name="Google Shape;3394;p25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3395" name="Google Shape;3395;p2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Celebrate the $18,143 in new business. Ask what made those deals work and how you can help replicate that success with similar accounts in their pipeline.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399" name="Shape 3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0" name="Google Shape;3400;p26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1" name="Google Shape;3401;p26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Silicon Valley Insurance Center Inc.</a:t>
            </a:r>
            <a:endParaRPr/>
          </a:p>
        </p:txBody>
      </p:sp>
      <p:sp>
        <p:nvSpPr>
          <p:cNvPr id="3402" name="Google Shape;3402;p26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Pacific Northwest  |  State: CA  |  City: San Diego</a:t>
            </a:r>
            <a:endParaRPr/>
          </a:p>
        </p:txBody>
      </p:sp>
      <p:sp>
        <p:nvSpPr>
          <p:cNvPr id="3403" name="Google Shape;3403;p26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$4,160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3404" name="Google Shape;3404;p26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3405" name="Google Shape;3405;p26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3406" name="Google Shape;3406;p26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$4,160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3407" name="Google Shape;3407;p26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3408" name="Google Shape;3408;p26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$73,589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3409" name="Google Shape;3409;p26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$51,905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3410" name="Google Shape;3410;p26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3411" name="Google Shape;3411;p26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3412" name="Google Shape;3412;p26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3413" name="Google Shape;3413;p26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16.7%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3414" name="Google Shape;3414;p26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$59,678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3415" name="Google Shape;3415;p26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3416" name="Google Shape;3416;p26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17" name="Google Shape;3417;p26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3418" name="Google Shape;3418;p26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3419" name="Google Shape;3419;p26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3420" name="Google Shape;3420;p26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3421" name="Google Shape;3421;p26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3422" name="Google Shape;3422;p26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3423" name="Google Shape;3423;p26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3424" name="Google Shape;3424;p26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25" name="Google Shape;3425;p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3426" name="Google Shape;3426;p26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27" name="Google Shape;3427;p26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28" name="Google Shape;3428;p26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29" name="Google Shape;3429;p26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30" name="Google Shape;3430;p26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31" name="Google Shape;3431;p26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2" name="Google Shape;3432;p26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3433" name="Google Shape;3433;p26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$4,352</a:t>
            </a:r>
            <a:endParaRPr/>
          </a:p>
        </p:txBody>
      </p:sp>
      <p:sp>
        <p:nvSpPr>
          <p:cNvPr id="3434" name="Google Shape;3434;p26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35" name="Google Shape;3435;p2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36" name="Google Shape;3436;p26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$4,352</a:t>
            </a:r>
            <a:endParaRPr/>
          </a:p>
        </p:txBody>
      </p:sp>
      <p:sp>
        <p:nvSpPr>
          <p:cNvPr id="3437" name="Google Shape;3437;p26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38" name="Google Shape;3438;p26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9" name="Google Shape;3439;p26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3440" name="Google Shape;3440;p26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$-192</a:t>
            </a:r>
            <a:endParaRPr/>
          </a:p>
        </p:txBody>
      </p:sp>
      <p:sp>
        <p:nvSpPr>
          <p:cNvPr id="3441" name="Google Shape;3441;p26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42" name="Google Shape;3442;p26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43" name="Google Shape;3443;p26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$-192</a:t>
            </a:r>
            <a:endParaRPr/>
          </a:p>
        </p:txBody>
      </p:sp>
      <p:sp>
        <p:nvSpPr>
          <p:cNvPr id="3444" name="Google Shape;3444;p26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45" name="Google Shape;3445;p2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6" name="Google Shape;3446;p26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3447" name="Google Shape;3447;p26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48" name="Google Shape;3448;p26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49" name="Google Shape;3449;p26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50" name="Google Shape;3450;p26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51" name="Google Shape;3451;p26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52" name="Google Shape;3452;p26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3" name="Google Shape;3453;p26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3454" name="Google Shape;3454;p26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55" name="Google Shape;3455;p2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56" name="Google Shape;3456;p26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57" name="Google Shape;3457;p26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58" name="Google Shape;3458;p26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59" name="Google Shape;3459;p26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0" name="Google Shape;3460;p26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3461" name="Google Shape;3461;p26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$4,160</a:t>
            </a:r>
            <a:endParaRPr/>
          </a:p>
        </p:txBody>
      </p:sp>
      <p:sp>
        <p:nvSpPr>
          <p:cNvPr id="3462" name="Google Shape;3462;p26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63" name="Google Shape;3463;p26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64" name="Google Shape;3464;p26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$4,160</a:t>
            </a:r>
            <a:endParaRPr/>
          </a:p>
        </p:txBody>
      </p:sp>
      <p:sp>
        <p:nvSpPr>
          <p:cNvPr id="3465" name="Google Shape;3465;p2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66" name="Google Shape;3466;p26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7" name="Google Shape;3467;p26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3468" name="Google Shape;3468;p2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3469" name="Google Shape;3469;p26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3470" name="Google Shape;3470;p26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3471" name="Google Shape;3471;p26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3472" name="Google Shape;3472;p26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3473" name="Google Shape;3473;p26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3474" name="Google Shape;3474;p26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5" name="Google Shape;3475;p2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3476" name="Google Shape;3476;p26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477" name="Google Shape;3477;p26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478" name="Google Shape;3478;p2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479" name="Google Shape;3479;p26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480" name="Google Shape;3480;p26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3481" name="Google Shape;3481;p26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82" name="Google Shape;3482;p26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3483" name="Google Shape;3483;p26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484" name="Google Shape;3484;p26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485" name="Google Shape;3485;p2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486" name="Google Shape;3486;p26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487" name="Google Shape;3487;p26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50.0%</a:t>
            </a:r>
            <a:endParaRPr/>
          </a:p>
        </p:txBody>
      </p:sp>
      <p:sp>
        <p:nvSpPr>
          <p:cNvPr id="3488" name="Google Shape;3488;p2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89" name="Google Shape;3489;p26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3490" name="Google Shape;3490;p26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491" name="Google Shape;3491;p26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492" name="Google Shape;3492;p26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493" name="Google Shape;3493;p26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494" name="Google Shape;3494;p26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50.0%</a:t>
            </a:r>
            <a:endParaRPr/>
          </a:p>
        </p:txBody>
      </p:sp>
      <p:sp>
        <p:nvSpPr>
          <p:cNvPr id="3495" name="Google Shape;3495;p2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6" name="Google Shape;3496;p26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3497" name="Google Shape;3497;p26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498" name="Google Shape;3498;p2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499" name="Google Shape;3499;p26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500" name="Google Shape;3500;p26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501" name="Google Shape;3501;p26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3502" name="Google Shape;3502;p26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3" name="Google Shape;3503;p26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3504" name="Google Shape;3504;p26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505" name="Google Shape;3505;p2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506" name="Google Shape;3506;p26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507" name="Google Shape;3507;p26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508" name="Google Shape;3508;p2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3509" name="Google Shape;3509;p26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0" name="Google Shape;3510;p26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3511" name="Google Shape;3511;p26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3512" name="Google Shape;3512;p26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513" name="Google Shape;3513;p26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3514" name="Google Shape;3514;p26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515" name="Google Shape;3515;p2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16.7%</a:t>
            </a:r>
            <a:endParaRPr/>
          </a:p>
        </p:txBody>
      </p:sp>
      <p:sp>
        <p:nvSpPr>
          <p:cNvPr id="3516" name="Google Shape;3516;p26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7" name="Google Shape;3517;p26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3518" name="Google Shape;3518;p26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519" name="Google Shape;3519;p26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3520" name="Google Shape;3520;p26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3521" name="Google Shape;3521;p26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3522" name="Google Shape;3522;p26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3523" name="Google Shape;3523;p26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3524" name="Google Shape;3524;p26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3525" name="Google Shape;3525;p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3526" name="Google Shape;3526;p26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3527" name="Google Shape;3527;p26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3528" name="Google Shape;3528;p26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3529" name="Google Shape;3529;p26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3530" name="Google Shape;3530;p26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3531" name="Google Shape;3531;p26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3532" name="Google Shape;3532;p26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533" name="Google Shape;3533;p26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534" name="Google Shape;3534;p26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535" name="Google Shape;3535;p2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536" name="Google Shape;3536;p26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537" name="Google Shape;3537;p26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538" name="Google Shape;3538;p26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3539" name="Google Shape;3539;p26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540" name="Google Shape;3540;p26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3541" name="Google Shape;3541;p26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542" name="Google Shape;3542;p26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3543" name="Google Shape;3543;p26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3544" name="Google Shape;3544;p26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3545" name="Google Shape;3545;p2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$757</a:t>
            </a:r>
            <a:endParaRPr/>
          </a:p>
        </p:txBody>
      </p:sp>
      <p:sp>
        <p:nvSpPr>
          <p:cNvPr id="3546" name="Google Shape;3546;p26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547" name="Google Shape;3547;p26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548" name="Google Shape;3548;p26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$4K</a:t>
            </a:r>
            <a:endParaRPr/>
          </a:p>
        </p:txBody>
      </p:sp>
      <p:sp>
        <p:nvSpPr>
          <p:cNvPr id="3549" name="Google Shape;3549;p26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$21K</a:t>
            </a:r>
            <a:endParaRPr/>
          </a:p>
        </p:txBody>
      </p:sp>
      <p:sp>
        <p:nvSpPr>
          <p:cNvPr id="3550" name="Google Shape;3550;p26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$-192</a:t>
            </a:r>
            <a:endParaRPr/>
          </a:p>
        </p:txBody>
      </p:sp>
      <p:sp>
        <p:nvSpPr>
          <p:cNvPr id="3551" name="Google Shape;3551;p26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$4K</a:t>
            </a:r>
            <a:endParaRPr/>
          </a:p>
        </p:txBody>
      </p:sp>
      <p:sp>
        <p:nvSpPr>
          <p:cNvPr id="3552" name="Google Shape;3552;p26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553" name="Google Shape;3553;p26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$227</a:t>
            </a:r>
            <a:endParaRPr/>
          </a:p>
        </p:txBody>
      </p:sp>
      <p:sp>
        <p:nvSpPr>
          <p:cNvPr id="3554" name="Google Shape;3554;p26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555" name="Google Shape;3555;p2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$26K</a:t>
            </a:r>
            <a:endParaRPr/>
          </a:p>
        </p:txBody>
      </p:sp>
      <p:sp>
        <p:nvSpPr>
          <p:cNvPr id="3556" name="Google Shape;3556;p26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$4K</a:t>
            </a:r>
            <a:endParaRPr/>
          </a:p>
        </p:txBody>
      </p:sp>
      <p:sp>
        <p:nvSpPr>
          <p:cNvPr id="3557" name="Google Shape;3557;p26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8" name="Google Shape;3558;p26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3559" name="Google Shape;3559;p26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3560" name="Google Shape;3560;p26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$4,160 YTD gross written premium</a:t>
            </a:r>
            <a:endParaRPr/>
          </a:p>
        </p:txBody>
      </p:sp>
      <p:sp>
        <p:nvSpPr>
          <p:cNvPr id="3561" name="Google Shape;3561;p26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3562" name="Google Shape;3562;p26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16.7% hit ratio - above average conversion</a:t>
            </a:r>
            <a:endParaRPr/>
          </a:p>
        </p:txBody>
      </p:sp>
      <p:sp>
        <p:nvSpPr>
          <p:cNvPr id="3563" name="Google Shape;3563;p26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4" name="Google Shape;3564;p26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3565" name="Google Shape;3565;p2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3566" name="Google Shape;3566;p26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 dropped 104% month-over-month</a:t>
            </a:r>
            <a:endParaRPr/>
          </a:p>
        </p:txBody>
      </p:sp>
      <p:sp>
        <p:nvSpPr>
          <p:cNvPr id="3567" name="Google Shape;3567;p2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3568" name="Google Shape;3568;p26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new business - all premium from renewals/endorsements only</a:t>
            </a:r>
            <a:endParaRPr/>
          </a:p>
        </p:txBody>
      </p:sp>
      <p:sp>
        <p:nvSpPr>
          <p:cNvPr id="3569" name="Google Shape;3569;p2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0" name="Google Shape;3570;p26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3571" name="Google Shape;3571;p26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3572" name="Google Shape;3572;p26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Volume dropped significantly last month. Lead with curiosity, not concern: "I noticed things slowed down - anything going on I can help with?" Identify if it's seasonal, competitive, or operational.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576" name="Shape 35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7" name="Google Shape;3577;p27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8" name="Google Shape;3578;p27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AMK Insurance Agency, Inc.</a:t>
            </a:r>
            <a:endParaRPr/>
          </a:p>
        </p:txBody>
      </p:sp>
      <p:sp>
        <p:nvSpPr>
          <p:cNvPr id="3579" name="Google Shape;3579;p27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5  |  Region: West  |  State: CA  |  City: San Jose</a:t>
            </a:r>
            <a:endParaRPr/>
          </a:p>
        </p:txBody>
      </p:sp>
      <p:sp>
        <p:nvSpPr>
          <p:cNvPr id="3580" name="Google Shape;3580;p27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3581" name="Google Shape;3581;p27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3582" name="Google Shape;3582;p27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3583" name="Google Shape;3583;p27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3584" name="Google Shape;3584;p27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3585" name="Google Shape;3585;p27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3586" name="Google Shape;3586;p27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3587" name="Google Shape;3587;p27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3588" name="Google Shape;3588;p27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3589" name="Google Shape;3589;p27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3590" name="Google Shape;3590;p27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3591" name="Google Shape;3591;p27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3592" name="Google Shape;3592;p27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3593" name="Google Shape;3593;p2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4" name="Google Shape;3594;p27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3595" name="Google Shape;3595;p27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3596" name="Google Shape;3596;p27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3597" name="Google Shape;3597;p27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3598" name="Google Shape;3598;p27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3599" name="Google Shape;3599;p27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3600" name="Google Shape;3600;p27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3601" name="Google Shape;3601;p27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02" name="Google Shape;3602;p27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3603" name="Google Shape;3603;p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04" name="Google Shape;3604;p27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05" name="Google Shape;3605;p27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06" name="Google Shape;3606;p27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07" name="Google Shape;3607;p27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08" name="Google Shape;3608;p27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09" name="Google Shape;3609;p27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3610" name="Google Shape;3610;p27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11" name="Google Shape;3611;p27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12" name="Google Shape;3612;p27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13" name="Google Shape;3613;p2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14" name="Google Shape;3614;p27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15" name="Google Shape;3615;p27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16" name="Google Shape;3616;p27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3617" name="Google Shape;3617;p27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18" name="Google Shape;3618;p27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19" name="Google Shape;3619;p27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20" name="Google Shape;3620;p27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21" name="Google Shape;3621;p27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22" name="Google Shape;3622;p27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23" name="Google Shape;3623;p2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3624" name="Google Shape;3624;p27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25" name="Google Shape;3625;p27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26" name="Google Shape;3626;p27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27" name="Google Shape;3627;p27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28" name="Google Shape;3628;p27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29" name="Google Shape;3629;p27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30" name="Google Shape;3630;p27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3631" name="Google Shape;3631;p27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32" name="Google Shape;3632;p27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33" name="Google Shape;3633;p2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34" name="Google Shape;3634;p27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35" name="Google Shape;3635;p27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36" name="Google Shape;3636;p27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37" name="Google Shape;3637;p27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3638" name="Google Shape;3638;p27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39" name="Google Shape;3639;p27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40" name="Google Shape;3640;p27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41" name="Google Shape;3641;p27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42" name="Google Shape;3642;p27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43" name="Google Shape;3643;p2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44" name="Google Shape;3644;p27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3645" name="Google Shape;3645;p27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3646" name="Google Shape;3646;p2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3647" name="Google Shape;3647;p27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3648" name="Google Shape;3648;p27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3649" name="Google Shape;3649;p27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3650" name="Google Shape;3650;p27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3651" name="Google Shape;3651;p27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2" name="Google Shape;3652;p27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3653" name="Google Shape;3653;p2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654" name="Google Shape;3654;p27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655" name="Google Shape;3655;p27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656" name="Google Shape;3656;p2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657" name="Google Shape;3657;p27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3658" name="Google Shape;3658;p27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9" name="Google Shape;3659;p27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3660" name="Google Shape;3660;p27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661" name="Google Shape;3661;p27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662" name="Google Shape;3662;p27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663" name="Google Shape;3663;p2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664" name="Google Shape;3664;p27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3665" name="Google Shape;3665;p27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66" name="Google Shape;3666;p2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3667" name="Google Shape;3667;p27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668" name="Google Shape;3668;p27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669" name="Google Shape;3669;p27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670" name="Google Shape;3670;p27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671" name="Google Shape;3671;p27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3672" name="Google Shape;3672;p27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3" name="Google Shape;3673;p2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3674" name="Google Shape;3674;p27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3675" name="Google Shape;3675;p27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3676" name="Google Shape;3676;p2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677" name="Google Shape;3677;p27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678" name="Google Shape;3678;p27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3679" name="Google Shape;3679;p27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80" name="Google Shape;3680;p27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3681" name="Google Shape;3681;p27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682" name="Google Shape;3682;p27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683" name="Google Shape;3683;p2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684" name="Google Shape;3684;p27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685" name="Google Shape;3685;p27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3686" name="Google Shape;3686;p27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87" name="Google Shape;3687;p27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3688" name="Google Shape;3688;p27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3689" name="Google Shape;3689;p27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3690" name="Google Shape;3690;p27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3691" name="Google Shape;3691;p27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692" name="Google Shape;3692;p27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3693" name="Google Shape;3693;p2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94" name="Google Shape;3694;p27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3695" name="Google Shape;3695;p27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696" name="Google Shape;3696;p27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3697" name="Google Shape;3697;p27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3698" name="Google Shape;3698;p27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3699" name="Google Shape;3699;p27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3700" name="Google Shape;3700;p27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3701" name="Google Shape;3701;p27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3702" name="Google Shape;3702;p27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3703" name="Google Shape;3703;p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3704" name="Google Shape;3704;p27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3705" name="Google Shape;3705;p27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3706" name="Google Shape;3706;p27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3707" name="Google Shape;3707;p27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3708" name="Google Shape;3708;p27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3709" name="Google Shape;3709;p27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710" name="Google Shape;3710;p27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711" name="Google Shape;3711;p27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712" name="Google Shape;3712;p27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713" name="Google Shape;3713;p2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714" name="Google Shape;3714;p27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715" name="Google Shape;3715;p27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716" name="Google Shape;3716;p27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3717" name="Google Shape;3717;p27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718" name="Google Shape;3718;p27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719" name="Google Shape;3719;p27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720" name="Google Shape;3720;p27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3721" name="Google Shape;3721;p27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3722" name="Google Shape;3722;p27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723" name="Google Shape;3723;p2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724" name="Google Shape;3724;p27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725" name="Google Shape;3725;p27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726" name="Google Shape;3726;p27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727" name="Google Shape;3727;p27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728" name="Google Shape;3728;p27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729" name="Google Shape;3729;p27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730" name="Google Shape;3730;p27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731" name="Google Shape;3731;p27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732" name="Google Shape;3732;p27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733" name="Google Shape;3733;p2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734" name="Google Shape;3734;p27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35" name="Google Shape;3735;p27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3736" name="Google Shape;3736;p27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3737" name="Google Shape;3737;p27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 quotes generated - active in pipeline</a:t>
            </a:r>
            <a:endParaRPr/>
          </a:p>
        </p:txBody>
      </p:sp>
      <p:sp>
        <p:nvSpPr>
          <p:cNvPr id="3738" name="Google Shape;3738;p27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39" name="Google Shape;3739;p27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3740" name="Google Shape;3740;p27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3741" name="Google Shape;3741;p2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written premium despite 7 submissions</a:t>
            </a:r>
            <a:endParaRPr/>
          </a:p>
        </p:txBody>
      </p:sp>
      <p:sp>
        <p:nvSpPr>
          <p:cNvPr id="3742" name="Google Shape;3742;p27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3743" name="Google Shape;3743;p2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 submissions with zero binds - zero conversion</a:t>
            </a:r>
            <a:endParaRPr/>
          </a:p>
        </p:txBody>
      </p:sp>
      <p:sp>
        <p:nvSpPr>
          <p:cNvPr id="3744" name="Google Shape;3744;p27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5" name="Google Shape;3745;p2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3746" name="Google Shape;3746;p27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3747" name="Google Shape;3747;p27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Pull up their 7 recent quotes and review together. Ask: "Which of these were closest to binding?" Offer to re-quote or adjust terms on the most promising ones.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751" name="Shape 3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2" name="Google Shape;3752;p28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53" name="Google Shape;3753;p28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Avina's Insurance Services Inc.</a:t>
            </a:r>
            <a:endParaRPr/>
          </a:p>
        </p:txBody>
      </p:sp>
      <p:sp>
        <p:nvSpPr>
          <p:cNvPr id="3754" name="Google Shape;3754;p28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Pacific Northwest  |  State: CA  |  City: Cerritos</a:t>
            </a:r>
            <a:endParaRPr/>
          </a:p>
        </p:txBody>
      </p:sp>
      <p:sp>
        <p:nvSpPr>
          <p:cNvPr id="3755" name="Google Shape;3755;p28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3756" name="Google Shape;3756;p28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3757" name="Google Shape;3757;p28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3758" name="Google Shape;3758;p28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3759" name="Google Shape;3759;p28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3760" name="Google Shape;3760;p28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$42,900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3761" name="Google Shape;3761;p28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$42,900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3762" name="Google Shape;3762;p28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3763" name="Google Shape;3763;p28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3764" name="Google Shape;3764;p28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3765" name="Google Shape;3765;p28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3766" name="Google Shape;3766;p28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3767" name="Google Shape;3767;p28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3768" name="Google Shape;3768;p28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69" name="Google Shape;3769;p2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3770" name="Google Shape;3770;p28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3771" name="Google Shape;3771;p28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3772" name="Google Shape;3772;p28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3773" name="Google Shape;3773;p28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3774" name="Google Shape;3774;p28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3775" name="Google Shape;3775;p28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3776" name="Google Shape;3776;p28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77" name="Google Shape;3777;p28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3778" name="Google Shape;3778;p28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779" name="Google Shape;3779;p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780" name="Google Shape;3780;p28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781" name="Google Shape;3781;p28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782" name="Google Shape;3782;p28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783" name="Google Shape;3783;p28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84" name="Google Shape;3784;p28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3785" name="Google Shape;3785;p28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786" name="Google Shape;3786;p28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787" name="Google Shape;3787;p28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788" name="Google Shape;3788;p28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789" name="Google Shape;3789;p2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790" name="Google Shape;3790;p28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91" name="Google Shape;3791;p28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3792" name="Google Shape;3792;p28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793" name="Google Shape;3793;p28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794" name="Google Shape;3794;p28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795" name="Google Shape;3795;p28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796" name="Google Shape;3796;p28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797" name="Google Shape;3797;p28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98" name="Google Shape;3798;p28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3799" name="Google Shape;3799;p2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00" name="Google Shape;3800;p28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01" name="Google Shape;3801;p28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02" name="Google Shape;3802;p28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03" name="Google Shape;3803;p28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04" name="Google Shape;3804;p28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5" name="Google Shape;3805;p28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3806" name="Google Shape;3806;p28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07" name="Google Shape;3807;p28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08" name="Google Shape;3808;p28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09" name="Google Shape;3809;p2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10" name="Google Shape;3810;p28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11" name="Google Shape;3811;p28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12" name="Google Shape;3812;p28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3813" name="Google Shape;3813;p28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14" name="Google Shape;3814;p28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15" name="Google Shape;3815;p28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16" name="Google Shape;3816;p28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17" name="Google Shape;3817;p28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18" name="Google Shape;3818;p28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19" name="Google Shape;3819;p2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3820" name="Google Shape;3820;p28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3821" name="Google Shape;3821;p28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3822" name="Google Shape;3822;p2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3823" name="Google Shape;3823;p28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3824" name="Google Shape;3824;p28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3825" name="Google Shape;3825;p28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3826" name="Google Shape;3826;p28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27" name="Google Shape;3827;p28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3828" name="Google Shape;3828;p28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3829" name="Google Shape;3829;p2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830" name="Google Shape;3830;p28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3831" name="Google Shape;3831;p28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832" name="Google Shape;3832;p2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3833" name="Google Shape;3833;p28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34" name="Google Shape;3834;p28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3835" name="Google Shape;3835;p28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3836" name="Google Shape;3836;p28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837" name="Google Shape;3837;p28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3838" name="Google Shape;3838;p28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839" name="Google Shape;3839;p2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3840" name="Google Shape;3840;p28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41" name="Google Shape;3841;p28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3842" name="Google Shape;3842;p2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3843" name="Google Shape;3843;p28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844" name="Google Shape;3844;p28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3845" name="Google Shape;3845;p28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846" name="Google Shape;3846;p28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3847" name="Google Shape;3847;p28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48" name="Google Shape;3848;p28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3849" name="Google Shape;3849;p2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3850" name="Google Shape;3850;p28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851" name="Google Shape;3851;p28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3852" name="Google Shape;3852;p2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853" name="Google Shape;3853;p28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3854" name="Google Shape;3854;p28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55" name="Google Shape;3855;p28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3856" name="Google Shape;3856;p28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3857" name="Google Shape;3857;p28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858" name="Google Shape;3858;p28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3859" name="Google Shape;3859;p2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860" name="Google Shape;3860;p28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3861" name="Google Shape;3861;p28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62" name="Google Shape;3862;p2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3863" name="Google Shape;3863;p28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40</a:t>
            </a:r>
            <a:endParaRPr/>
          </a:p>
        </p:txBody>
      </p:sp>
      <p:sp>
        <p:nvSpPr>
          <p:cNvPr id="3864" name="Google Shape;3864;p28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3865" name="Google Shape;3865;p28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</a:t>
            </a:r>
            <a:endParaRPr/>
          </a:p>
        </p:txBody>
      </p:sp>
      <p:sp>
        <p:nvSpPr>
          <p:cNvPr id="3866" name="Google Shape;3866;p28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867" name="Google Shape;3867;p28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3868" name="Google Shape;3868;p28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69" name="Google Shape;3869;p2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3870" name="Google Shape;3870;p28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871" name="Google Shape;3871;p28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3872" name="Google Shape;3872;p28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3873" name="Google Shape;3873;p28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3874" name="Google Shape;3874;p28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3875" name="Google Shape;3875;p28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3876" name="Google Shape;3876;p28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3877" name="Google Shape;3877;p28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3878" name="Google Shape;3878;p28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3879" name="Google Shape;3879;p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3880" name="Google Shape;3880;p28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3881" name="Google Shape;3881;p28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3882" name="Google Shape;3882;p28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3883" name="Google Shape;3883;p28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3884" name="Google Shape;3884;p28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885" name="Google Shape;3885;p28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3886" name="Google Shape;3886;p28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887" name="Google Shape;3887;p28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3888" name="Google Shape;3888;p28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889" name="Google Shape;3889;p2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3890" name="Google Shape;3890;p28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891" name="Google Shape;3891;p28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3892" name="Google Shape;3892;p28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3893" name="Google Shape;3893;p28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3894" name="Google Shape;3894;p28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3895" name="Google Shape;3895;p28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40</a:t>
            </a:r>
            <a:endParaRPr/>
          </a:p>
        </p:txBody>
      </p:sp>
      <p:sp>
        <p:nvSpPr>
          <p:cNvPr id="3896" name="Google Shape;3896;p28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3897" name="Google Shape;3897;p28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98" name="Google Shape;3898;p28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99" name="Google Shape;3899;p2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00" name="Google Shape;3900;p28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01" name="Google Shape;3901;p28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02" name="Google Shape;3902;p28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03" name="Google Shape;3903;p28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04" name="Google Shape;3904;p28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05" name="Google Shape;3905;p28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06" name="Google Shape;3906;p28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07" name="Google Shape;3907;p28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08" name="Google Shape;3908;p28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09" name="Google Shape;3909;p2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0" name="Google Shape;3910;p28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3911" name="Google Shape;3911;p28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3912" name="Google Shape;3912;p28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40 submissions - highly active agency</a:t>
            </a:r>
            <a:endParaRPr/>
          </a:p>
        </p:txBody>
      </p:sp>
      <p:sp>
        <p:nvSpPr>
          <p:cNvPr id="3913" name="Google Shape;3913;p28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3914" name="Google Shape;3914;p28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 quotes generated - active in pipeline</a:t>
            </a:r>
            <a:endParaRPr/>
          </a:p>
        </p:txBody>
      </p:sp>
      <p:sp>
        <p:nvSpPr>
          <p:cNvPr id="3915" name="Google Shape;3915;p28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6" name="Google Shape;3916;p28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3917" name="Google Shape;3917;p28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3918" name="Google Shape;3918;p28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written premium despite 40 submissions</a:t>
            </a:r>
            <a:endParaRPr/>
          </a:p>
        </p:txBody>
      </p:sp>
      <p:sp>
        <p:nvSpPr>
          <p:cNvPr id="3919" name="Google Shape;3919;p2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3920" name="Google Shape;3920;p28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40 submissions with zero binds - zero conversion</a:t>
            </a:r>
            <a:endParaRPr/>
          </a:p>
        </p:txBody>
      </p:sp>
      <p:sp>
        <p:nvSpPr>
          <p:cNvPr id="3921" name="Google Shape;3921;p2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22" name="Google Shape;3922;p28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3923" name="Google Shape;3923;p2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3924" name="Google Shape;3924;p28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Review their 40 quoted-not-bound submissions together. Ask which quotes were close and what competitors offered - identifies specific pricing or appetite gaps to escalate internally.</a:t>
            </a:r>
            <a:endParaRPr/>
          </a:p>
        </p:txBody>
      </p:sp>
      <p:sp>
        <p:nvSpPr>
          <p:cNvPr id="3925" name="Google Shape;3925;p28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3926" name="Google Shape;3926;p28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Pull up their 32 recent quotes and review together. Ask: "Which of these were closest to binding?" Offer to re-quote or adjust terms on the most promising ones.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930" name="Shape 39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1" name="Google Shape;3931;p29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32" name="Google Shape;3932;p29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Genesis Truck Insurance Services Inc</a:t>
            </a:r>
            <a:endParaRPr/>
          </a:p>
        </p:txBody>
      </p:sp>
      <p:sp>
        <p:nvSpPr>
          <p:cNvPr id="3933" name="Google Shape;3933;p29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West  |  State: N/A  |  City: N/A</a:t>
            </a:r>
            <a:endParaRPr/>
          </a:p>
        </p:txBody>
      </p:sp>
      <p:sp>
        <p:nvSpPr>
          <p:cNvPr id="3934" name="Google Shape;3934;p29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3935" name="Google Shape;3935;p29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3936" name="Google Shape;3936;p29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3937" name="Google Shape;3937;p29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3938" name="Google Shape;3938;p29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3939" name="Google Shape;3939;p29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3940" name="Google Shape;3940;p29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3941" name="Google Shape;3941;p29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3942" name="Google Shape;3942;p29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3943" name="Google Shape;3943;p29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3944" name="Google Shape;3944;p29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3945" name="Google Shape;3945;p29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3946" name="Google Shape;3946;p29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3947" name="Google Shape;3947;p29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48" name="Google Shape;3948;p29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3949" name="Google Shape;3949;p2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3950" name="Google Shape;3950;p29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3951" name="Google Shape;3951;p29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3952" name="Google Shape;3952;p29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3953" name="Google Shape;3953;p29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3954" name="Google Shape;3954;p29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3955" name="Google Shape;3955;p29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56" name="Google Shape;3956;p29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3957" name="Google Shape;3957;p29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58" name="Google Shape;3958;p29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59" name="Google Shape;3959;p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60" name="Google Shape;3960;p29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61" name="Google Shape;3961;p29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62" name="Google Shape;3962;p29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63" name="Google Shape;3963;p29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3964" name="Google Shape;3964;p29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65" name="Google Shape;3965;p29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66" name="Google Shape;3966;p29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67" name="Google Shape;3967;p29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68" name="Google Shape;3968;p29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69" name="Google Shape;3969;p2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70" name="Google Shape;3970;p29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3971" name="Google Shape;3971;p29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72" name="Google Shape;3972;p29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73" name="Google Shape;3973;p29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74" name="Google Shape;3974;p29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75" name="Google Shape;3975;p29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76" name="Google Shape;3976;p29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77" name="Google Shape;3977;p29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3978" name="Google Shape;3978;p29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79" name="Google Shape;3979;p2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80" name="Google Shape;3980;p29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81" name="Google Shape;3981;p29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82" name="Google Shape;3982;p29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83" name="Google Shape;3983;p29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84" name="Google Shape;3984;p29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3985" name="Google Shape;3985;p29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86" name="Google Shape;3986;p29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87" name="Google Shape;3987;p29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88" name="Google Shape;3988;p29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89" name="Google Shape;3989;p2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90" name="Google Shape;3990;p29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91" name="Google Shape;3991;p29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3992" name="Google Shape;3992;p29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93" name="Google Shape;3993;p29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94" name="Google Shape;3994;p29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95" name="Google Shape;3995;p29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96" name="Google Shape;3996;p29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97" name="Google Shape;3997;p29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98" name="Google Shape;3998;p29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3999" name="Google Shape;3999;p2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4000" name="Google Shape;4000;p29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4001" name="Google Shape;4001;p29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4002" name="Google Shape;4002;p2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4003" name="Google Shape;4003;p29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4004" name="Google Shape;4004;p29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4005" name="Google Shape;4005;p29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06" name="Google Shape;4006;p29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4007" name="Google Shape;4007;p29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008" name="Google Shape;4008;p29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009" name="Google Shape;4009;p2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010" name="Google Shape;4010;p29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011" name="Google Shape;4011;p29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012" name="Google Shape;4012;p2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3" name="Google Shape;4013;p29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4014" name="Google Shape;4014;p29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015" name="Google Shape;4015;p29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016" name="Google Shape;4016;p29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017" name="Google Shape;4017;p29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018" name="Google Shape;4018;p29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019" name="Google Shape;4019;p2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20" name="Google Shape;4020;p29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4021" name="Google Shape;4021;p29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022" name="Google Shape;4022;p2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023" name="Google Shape;4023;p29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024" name="Google Shape;4024;p29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025" name="Google Shape;4025;p29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026" name="Google Shape;4026;p29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27" name="Google Shape;4027;p29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4028" name="Google Shape;4028;p29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029" name="Google Shape;4029;p2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030" name="Google Shape;4030;p29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031" name="Google Shape;4031;p29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032" name="Google Shape;4032;p2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033" name="Google Shape;4033;p29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34" name="Google Shape;4034;p29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4035" name="Google Shape;4035;p29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4036" name="Google Shape;4036;p29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037" name="Google Shape;4037;p29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4038" name="Google Shape;4038;p29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039" name="Google Shape;4039;p2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040" name="Google Shape;4040;p29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41" name="Google Shape;4041;p29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4042" name="Google Shape;4042;p2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4043" name="Google Shape;4043;p29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044" name="Google Shape;4044;p29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4045" name="Google Shape;4045;p29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046" name="Google Shape;4046;p29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047" name="Google Shape;4047;p29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48" name="Google Shape;4048;p29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4049" name="Google Shape;4049;p2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4050" name="Google Shape;4050;p29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4051" name="Google Shape;4051;p29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4052" name="Google Shape;4052;p29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4053" name="Google Shape;4053;p29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4054" name="Google Shape;4054;p29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4055" name="Google Shape;4055;p29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4056" name="Google Shape;4056;p29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4057" name="Google Shape;4057;p29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4058" name="Google Shape;4058;p29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4059" name="Google Shape;4059;p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4060" name="Google Shape;4060;p29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4061" name="Google Shape;4061;p29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4062" name="Google Shape;4062;p29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4063" name="Google Shape;4063;p29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064" name="Google Shape;4064;p29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065" name="Google Shape;4065;p29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066" name="Google Shape;4066;p29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067" name="Google Shape;4067;p29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068" name="Google Shape;4068;p29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069" name="Google Shape;4069;p2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070" name="Google Shape;4070;p29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071" name="Google Shape;4071;p29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072" name="Google Shape;4072;p29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4073" name="Google Shape;4073;p29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074" name="Google Shape;4074;p29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4075" name="Google Shape;4075;p29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4076" name="Google Shape;4076;p29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77" name="Google Shape;4077;p29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78" name="Google Shape;4078;p29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79" name="Google Shape;4079;p2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80" name="Google Shape;4080;p29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81" name="Google Shape;4081;p29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82" name="Google Shape;4082;p29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83" name="Google Shape;4083;p29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84" name="Google Shape;4084;p29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85" name="Google Shape;4085;p29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86" name="Google Shape;4086;p29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87" name="Google Shape;4087;p29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88" name="Google Shape;4088;p29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89" name="Google Shape;4089;p2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4090" name="Google Shape;4090;p29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4091" name="Google Shape;4091;p29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 quotes generated - active in pipeline</a:t>
            </a:r>
            <a:endParaRPr/>
          </a:p>
        </p:txBody>
      </p:sp>
      <p:sp>
        <p:nvSpPr>
          <p:cNvPr id="4092" name="Google Shape;4092;p29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93" name="Google Shape;4093;p29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4094" name="Google Shape;4094;p29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4095" name="Google Shape;4095;p29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written premium despite 9 submissions</a:t>
            </a:r>
            <a:endParaRPr/>
          </a:p>
        </p:txBody>
      </p:sp>
      <p:sp>
        <p:nvSpPr>
          <p:cNvPr id="4096" name="Google Shape;4096;p29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4097" name="Google Shape;4097;p2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 submissions with zero binds - zero conversion</a:t>
            </a:r>
            <a:endParaRPr/>
          </a:p>
        </p:txBody>
      </p:sp>
      <p:sp>
        <p:nvSpPr>
          <p:cNvPr id="4098" name="Google Shape;4098;p29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99" name="Google Shape;4099;p2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4100" name="Google Shape;4100;p29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4101" name="Google Shape;4101;p2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Pull up their 5 recent quotes and review together. Ask: "Which of these were closest to binding?" Offer to re-quote or adjust terms on the most promising ones.</a:t>
            </a:r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105" name="Shape 4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6" name="Google Shape;4106;p3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07" name="Google Shape;4107;p30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Gerald Cummings &amp; Associates</a:t>
            </a:r>
            <a:endParaRPr/>
          </a:p>
        </p:txBody>
      </p:sp>
      <p:sp>
        <p:nvSpPr>
          <p:cNvPr id="4108" name="Google Shape;4108;p30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Pacific Northwest  |  State: OR  |  City: Beaverton</a:t>
            </a:r>
            <a:endParaRPr/>
          </a:p>
        </p:txBody>
      </p:sp>
      <p:sp>
        <p:nvSpPr>
          <p:cNvPr id="4109" name="Google Shape;4109;p30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4110" name="Google Shape;4110;p30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4111" name="Google Shape;4111;p30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4112" name="Google Shape;4112;p30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4113" name="Google Shape;4113;p30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4114" name="Google Shape;4114;p30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$31,314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4115" name="Google Shape;4115;p30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$5,733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4116" name="Google Shape;4116;p30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4117" name="Google Shape;4117;p30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4118" name="Google Shape;4118;p30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4119" name="Google Shape;4119;p30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4120" name="Google Shape;4120;p30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4121" name="Google Shape;4121;p30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4122" name="Google Shape;4122;p30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23" name="Google Shape;4123;p30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4124" name="Google Shape;4124;p30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4125" name="Google Shape;4125;p3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4126" name="Google Shape;4126;p30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4127" name="Google Shape;4127;p30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4128" name="Google Shape;4128;p30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4129" name="Google Shape;4129;p30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4130" name="Google Shape;4130;p30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31" name="Google Shape;4131;p30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4132" name="Google Shape;4132;p30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33" name="Google Shape;4133;p30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34" name="Google Shape;4134;p30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35" name="Google Shape;4135;p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36" name="Google Shape;4136;p30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37" name="Google Shape;4137;p30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38" name="Google Shape;4138;p30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4139" name="Google Shape;4139;p30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40" name="Google Shape;4140;p30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41" name="Google Shape;4141;p30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42" name="Google Shape;4142;p30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43" name="Google Shape;4143;p30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44" name="Google Shape;4144;p30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45" name="Google Shape;4145;p3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4146" name="Google Shape;4146;p30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47" name="Google Shape;4147;p30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48" name="Google Shape;4148;p30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49" name="Google Shape;4149;p30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50" name="Google Shape;4150;p30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51" name="Google Shape;4151;p30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52" name="Google Shape;4152;p30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4153" name="Google Shape;4153;p30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54" name="Google Shape;4154;p30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55" name="Google Shape;4155;p3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56" name="Google Shape;4156;p30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57" name="Google Shape;4157;p30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58" name="Google Shape;4158;p30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59" name="Google Shape;4159;p30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4160" name="Google Shape;4160;p30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61" name="Google Shape;4161;p30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62" name="Google Shape;4162;p30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63" name="Google Shape;4163;p30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64" name="Google Shape;4164;p30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65" name="Google Shape;4165;p3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66" name="Google Shape;4166;p30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4167" name="Google Shape;4167;p30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68" name="Google Shape;4168;p30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69" name="Google Shape;4169;p30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70" name="Google Shape;4170;p30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71" name="Google Shape;4171;p30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72" name="Google Shape;4172;p30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73" name="Google Shape;4173;p30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4174" name="Google Shape;4174;p30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4175" name="Google Shape;4175;p3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4176" name="Google Shape;4176;p30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4177" name="Google Shape;4177;p30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4178" name="Google Shape;4178;p3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4179" name="Google Shape;4179;p30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4180" name="Google Shape;4180;p30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1" name="Google Shape;4181;p30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4182" name="Google Shape;4182;p30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183" name="Google Shape;4183;p30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184" name="Google Shape;4184;p30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185" name="Google Shape;4185;p3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186" name="Google Shape;4186;p30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187" name="Google Shape;4187;p30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8" name="Google Shape;4188;p3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4189" name="Google Shape;4189;p30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190" name="Google Shape;4190;p30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191" name="Google Shape;4191;p30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192" name="Google Shape;4192;p30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193" name="Google Shape;4193;p30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194" name="Google Shape;4194;p30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95" name="Google Shape;4195;p3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4196" name="Google Shape;4196;p30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197" name="Google Shape;4197;p30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198" name="Google Shape;4198;p3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199" name="Google Shape;4199;p30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200" name="Google Shape;4200;p30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201" name="Google Shape;4201;p30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02" name="Google Shape;4202;p30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4203" name="Google Shape;4203;p30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4204" name="Google Shape;4204;p30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205" name="Google Shape;4205;p3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4206" name="Google Shape;4206;p30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207" name="Google Shape;4207;p30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208" name="Google Shape;4208;p3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09" name="Google Shape;4209;p30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4210" name="Google Shape;4210;p30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4211" name="Google Shape;4211;p30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212" name="Google Shape;4212;p30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4213" name="Google Shape;4213;p30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214" name="Google Shape;4214;p30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215" name="Google Shape;4215;p3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16" name="Google Shape;4216;p30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4217" name="Google Shape;4217;p30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</a:t>
            </a:r>
            <a:endParaRPr/>
          </a:p>
        </p:txBody>
      </p:sp>
      <p:sp>
        <p:nvSpPr>
          <p:cNvPr id="4218" name="Google Shape;4218;p3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219" name="Google Shape;4219;p30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</a:t>
            </a:r>
            <a:endParaRPr/>
          </a:p>
        </p:txBody>
      </p:sp>
      <p:sp>
        <p:nvSpPr>
          <p:cNvPr id="4220" name="Google Shape;4220;p30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221" name="Google Shape;4221;p30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222" name="Google Shape;4222;p30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23" name="Google Shape;4223;p30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4224" name="Google Shape;4224;p30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4225" name="Google Shape;4225;p3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4226" name="Google Shape;4226;p30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4227" name="Google Shape;4227;p30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4228" name="Google Shape;4228;p30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4229" name="Google Shape;4229;p30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4230" name="Google Shape;4230;p30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4231" name="Google Shape;4231;p30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4232" name="Google Shape;4232;p30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4233" name="Google Shape;4233;p30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4234" name="Google Shape;4234;p30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4235" name="Google Shape;4235;p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4236" name="Google Shape;4236;p30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4237" name="Google Shape;4237;p30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4238" name="Google Shape;4238;p30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239" name="Google Shape;4239;p30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240" name="Google Shape;4240;p30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241" name="Google Shape;4241;p30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242" name="Google Shape;4242;p30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4243" name="Google Shape;4243;p30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244" name="Google Shape;4244;p30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245" name="Google Shape;4245;p3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4246" name="Google Shape;4246;p30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4247" name="Google Shape;4247;p30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4248" name="Google Shape;4248;p30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</a:t>
            </a:r>
            <a:endParaRPr/>
          </a:p>
        </p:txBody>
      </p:sp>
      <p:sp>
        <p:nvSpPr>
          <p:cNvPr id="4249" name="Google Shape;4249;p30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</a:t>
            </a:r>
            <a:endParaRPr/>
          </a:p>
        </p:txBody>
      </p:sp>
      <p:sp>
        <p:nvSpPr>
          <p:cNvPr id="4250" name="Google Shape;4250;p30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4251" name="Google Shape;4251;p30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$11K</a:t>
            </a:r>
            <a:endParaRPr/>
          </a:p>
        </p:txBody>
      </p:sp>
      <p:sp>
        <p:nvSpPr>
          <p:cNvPr id="4252" name="Google Shape;4252;p30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253" name="Google Shape;4253;p30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$8K</a:t>
            </a:r>
            <a:endParaRPr/>
          </a:p>
        </p:txBody>
      </p:sp>
      <p:sp>
        <p:nvSpPr>
          <p:cNvPr id="4254" name="Google Shape;4254;p30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255" name="Google Shape;4255;p3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$-76</a:t>
            </a:r>
            <a:endParaRPr/>
          </a:p>
        </p:txBody>
      </p:sp>
      <p:sp>
        <p:nvSpPr>
          <p:cNvPr id="4256" name="Google Shape;4256;p30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257" name="Google Shape;4257;p30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$6K</a:t>
            </a:r>
            <a:endParaRPr/>
          </a:p>
        </p:txBody>
      </p:sp>
      <p:sp>
        <p:nvSpPr>
          <p:cNvPr id="4258" name="Google Shape;4258;p30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259" name="Google Shape;4259;p30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$750</a:t>
            </a:r>
            <a:endParaRPr/>
          </a:p>
        </p:txBody>
      </p:sp>
      <p:sp>
        <p:nvSpPr>
          <p:cNvPr id="4260" name="Google Shape;4260;p30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261" name="Google Shape;4261;p30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$26K</a:t>
            </a:r>
            <a:endParaRPr/>
          </a:p>
        </p:txBody>
      </p:sp>
      <p:sp>
        <p:nvSpPr>
          <p:cNvPr id="4262" name="Google Shape;4262;p30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263" name="Google Shape;4263;p30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64" name="Google Shape;4264;p30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4265" name="Google Shape;4265;p3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4266" name="Google Shape;4266;p30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 submissions - highly active agency</a:t>
            </a:r>
            <a:endParaRPr/>
          </a:p>
        </p:txBody>
      </p:sp>
      <p:sp>
        <p:nvSpPr>
          <p:cNvPr id="4267" name="Google Shape;4267;p30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4268" name="Google Shape;4268;p30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 quotes generated - active in pipeline</a:t>
            </a:r>
            <a:endParaRPr/>
          </a:p>
        </p:txBody>
      </p:sp>
      <p:sp>
        <p:nvSpPr>
          <p:cNvPr id="4269" name="Google Shape;4269;p30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70" name="Google Shape;4270;p30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4271" name="Google Shape;4271;p30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4272" name="Google Shape;4272;p30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written premium despite 30 submissions</a:t>
            </a:r>
            <a:endParaRPr/>
          </a:p>
        </p:txBody>
      </p:sp>
      <p:sp>
        <p:nvSpPr>
          <p:cNvPr id="4273" name="Google Shape;4273;p30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4274" name="Google Shape;4274;p30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 submissions with zero binds - zero conversion</a:t>
            </a:r>
            <a:endParaRPr/>
          </a:p>
        </p:txBody>
      </p:sp>
      <p:sp>
        <p:nvSpPr>
          <p:cNvPr id="4275" name="Google Shape;4275;p3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76" name="Google Shape;4276;p30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4277" name="Google Shape;4277;p3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4278" name="Google Shape;4278;p30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Review their 30 quoted-not-bound submissions together. Ask which quotes were close and what competitors offered - identifies specific pricing or appetite gaps to escalate internally.</a:t>
            </a:r>
            <a:endParaRPr/>
          </a:p>
        </p:txBody>
      </p:sp>
      <p:sp>
        <p:nvSpPr>
          <p:cNvPr id="4279" name="Google Shape;4279;p3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4280" name="Google Shape;4280;p30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Pull up their 19 recent quotes and review together. Ask: "Which of these were closest to binding?" Offer to re-quote or adjust terms on the most promising ones.</a:t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284" name="Shape 4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5" name="Google Shape;4285;p3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86" name="Google Shape;4286;p31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Guardian Angel Insurance Services Inc Dba  Angel Guard Insurance Agency</a:t>
            </a:r>
            <a:endParaRPr/>
          </a:p>
        </p:txBody>
      </p:sp>
      <p:sp>
        <p:nvSpPr>
          <p:cNvPr id="4287" name="Google Shape;4287;p31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West  |  State: N/A  |  City: N/A</a:t>
            </a:r>
            <a:endParaRPr/>
          </a:p>
        </p:txBody>
      </p:sp>
      <p:sp>
        <p:nvSpPr>
          <p:cNvPr id="4288" name="Google Shape;4288;p31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4289" name="Google Shape;4289;p31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4290" name="Google Shape;4290;p31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4291" name="Google Shape;4291;p31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4292" name="Google Shape;4292;p31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4293" name="Google Shape;4293;p31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4294" name="Google Shape;4294;p31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4295" name="Google Shape;4295;p31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4296" name="Google Shape;4296;p31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4297" name="Google Shape;4297;p31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4298" name="Google Shape;4298;p31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4299" name="Google Shape;4299;p31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4300" name="Google Shape;4300;p31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4301" name="Google Shape;4301;p31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2" name="Google Shape;4302;p31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4303" name="Google Shape;4303;p31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4304" name="Google Shape;4304;p31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4305" name="Google Shape;4305;p3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4306" name="Google Shape;4306;p31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4307" name="Google Shape;4307;p31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4308" name="Google Shape;4308;p31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4309" name="Google Shape;4309;p31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10" name="Google Shape;4310;p31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4311" name="Google Shape;4311;p31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12" name="Google Shape;4312;p31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13" name="Google Shape;4313;p31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14" name="Google Shape;4314;p31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15" name="Google Shape;4315;p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16" name="Google Shape;4316;p31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17" name="Google Shape;4317;p31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4318" name="Google Shape;4318;p31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19" name="Google Shape;4319;p31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20" name="Google Shape;4320;p31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21" name="Google Shape;4321;p31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22" name="Google Shape;4322;p31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23" name="Google Shape;4323;p31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24" name="Google Shape;4324;p31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4325" name="Google Shape;4325;p3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26" name="Google Shape;4326;p31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27" name="Google Shape;4327;p31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28" name="Google Shape;4328;p31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29" name="Google Shape;4329;p31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30" name="Google Shape;4330;p31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31" name="Google Shape;4331;p31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4332" name="Google Shape;4332;p31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33" name="Google Shape;4333;p31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34" name="Google Shape;4334;p31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35" name="Google Shape;4335;p3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36" name="Google Shape;4336;p31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37" name="Google Shape;4337;p31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38" name="Google Shape;4338;p31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4339" name="Google Shape;4339;p31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40" name="Google Shape;4340;p31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41" name="Google Shape;4341;p31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42" name="Google Shape;4342;p31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43" name="Google Shape;4343;p31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44" name="Google Shape;4344;p31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45" name="Google Shape;4345;p3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4346" name="Google Shape;4346;p31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47" name="Google Shape;4347;p31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48" name="Google Shape;4348;p31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49" name="Google Shape;4349;p31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50" name="Google Shape;4350;p31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51" name="Google Shape;4351;p31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52" name="Google Shape;4352;p31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4353" name="Google Shape;4353;p31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4354" name="Google Shape;4354;p31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4355" name="Google Shape;4355;p3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4356" name="Google Shape;4356;p31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4357" name="Google Shape;4357;p31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4358" name="Google Shape;4358;p3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4359" name="Google Shape;4359;p31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0" name="Google Shape;4360;p31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4361" name="Google Shape;4361;p31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362" name="Google Shape;4362;p31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363" name="Google Shape;4363;p31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364" name="Google Shape;4364;p31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365" name="Google Shape;4365;p3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366" name="Google Shape;4366;p31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7" name="Google Shape;4367;p31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4368" name="Google Shape;4368;p3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369" name="Google Shape;4369;p31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370" name="Google Shape;4370;p31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371" name="Google Shape;4371;p31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372" name="Google Shape;4372;p31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373" name="Google Shape;4373;p31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74" name="Google Shape;4374;p31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4375" name="Google Shape;4375;p3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4376" name="Google Shape;4376;p31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377" name="Google Shape;4377;p31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4378" name="Google Shape;4378;p3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379" name="Google Shape;4379;p31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380" name="Google Shape;4380;p31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81" name="Google Shape;4381;p31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4382" name="Google Shape;4382;p31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4383" name="Google Shape;4383;p31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384" name="Google Shape;4384;p31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4385" name="Google Shape;4385;p3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386" name="Google Shape;4386;p31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387" name="Google Shape;4387;p31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88" name="Google Shape;4388;p3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4389" name="Google Shape;4389;p31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390" name="Google Shape;4390;p31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391" name="Google Shape;4391;p31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392" name="Google Shape;4392;p31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393" name="Google Shape;4393;p31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394" name="Google Shape;4394;p31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95" name="Google Shape;4395;p3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4396" name="Google Shape;4396;p31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4397" name="Google Shape;4397;p31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398" name="Google Shape;4398;p3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4399" name="Google Shape;4399;p31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400" name="Google Shape;4400;p31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401" name="Google Shape;4401;p31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02" name="Google Shape;4402;p31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4403" name="Google Shape;4403;p31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4404" name="Google Shape;4404;p31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4405" name="Google Shape;4405;p3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4406" name="Google Shape;4406;p31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4407" name="Google Shape;4407;p31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4408" name="Google Shape;4408;p31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4409" name="Google Shape;4409;p31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4410" name="Google Shape;4410;p31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4411" name="Google Shape;4411;p31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4412" name="Google Shape;4412;p31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4413" name="Google Shape;4413;p31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4414" name="Google Shape;4414;p31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4415" name="Google Shape;4415;p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4416" name="Google Shape;4416;p31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4417" name="Google Shape;4417;p31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418" name="Google Shape;4418;p31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419" name="Google Shape;4419;p31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420" name="Google Shape;4420;p31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421" name="Google Shape;4421;p31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422" name="Google Shape;4422;p31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4423" name="Google Shape;4423;p31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424" name="Google Shape;4424;p31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4425" name="Google Shape;4425;p3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426" name="Google Shape;4426;p31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427" name="Google Shape;4427;p31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428" name="Google Shape;4428;p31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4429" name="Google Shape;4429;p31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4430" name="Google Shape;4430;p31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431" name="Google Shape;4431;p31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432" name="Google Shape;4432;p31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433" name="Google Shape;4433;p31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434" name="Google Shape;4434;p31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435" name="Google Shape;4435;p3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436" name="Google Shape;4436;p31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437" name="Google Shape;4437;p31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438" name="Google Shape;4438;p31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439" name="Google Shape;4439;p31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440" name="Google Shape;4440;p31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441" name="Google Shape;4441;p31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442" name="Google Shape;4442;p31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43" name="Google Shape;4443;p31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4444" name="Google Shape;4444;p31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4445" name="Google Shape;4445;p3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 quotes generated - active in pipeline</a:t>
            </a:r>
            <a:endParaRPr/>
          </a:p>
        </p:txBody>
      </p:sp>
      <p:sp>
        <p:nvSpPr>
          <p:cNvPr id="4446" name="Google Shape;4446;p31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47" name="Google Shape;4447;p31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4448" name="Google Shape;4448;p31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4449" name="Google Shape;4449;p31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written premium despite 15 submissions</a:t>
            </a:r>
            <a:endParaRPr/>
          </a:p>
        </p:txBody>
      </p:sp>
      <p:sp>
        <p:nvSpPr>
          <p:cNvPr id="4450" name="Google Shape;4450;p31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4451" name="Google Shape;4451;p31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 submissions with zero binds - zero conversion</a:t>
            </a:r>
            <a:endParaRPr/>
          </a:p>
        </p:txBody>
      </p:sp>
      <p:sp>
        <p:nvSpPr>
          <p:cNvPr id="4452" name="Google Shape;4452;p31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53" name="Google Shape;4453;p3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4454" name="Google Shape;4454;p31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4455" name="Google Shape;4455;p3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Review their 15 quoted-not-bound submissions together. Ask which quotes were close and what competitors offered - identifies specific pricing or appetite gaps to escalate internally.</a:t>
            </a:r>
            <a:endParaRPr/>
          </a:p>
        </p:txBody>
      </p:sp>
      <p:sp>
        <p:nvSpPr>
          <p:cNvPr id="4456" name="Google Shape;4456;p31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4457" name="Google Shape;4457;p3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Pull up their 12 recent quotes and review together. Ask: "Which of these were closest to binding?" Offer to re-quote or adjust terms on the most promising ones.</a:t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461" name="Shape 4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2" name="Google Shape;4462;p3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63" name="Google Shape;4463;p3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Immensity Insurance &amp; Risk Advisors Llc</a:t>
            </a:r>
            <a:endParaRPr/>
          </a:p>
        </p:txBody>
      </p:sp>
      <p:sp>
        <p:nvSpPr>
          <p:cNvPr id="4464" name="Google Shape;4464;p32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West  |  State: N/A  |  City: N/A</a:t>
            </a:r>
            <a:endParaRPr/>
          </a:p>
        </p:txBody>
      </p:sp>
      <p:sp>
        <p:nvSpPr>
          <p:cNvPr id="4465" name="Google Shape;4465;p32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4466" name="Google Shape;4466;p32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4467" name="Google Shape;4467;p32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4468" name="Google Shape;4468;p32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4469" name="Google Shape;4469;p32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4470" name="Google Shape;4470;p32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4471" name="Google Shape;4471;p32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4472" name="Google Shape;4472;p32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4473" name="Google Shape;4473;p32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4474" name="Google Shape;4474;p32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4475" name="Google Shape;4475;p32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4476" name="Google Shape;4476;p32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4477" name="Google Shape;4477;p32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4478" name="Google Shape;4478;p32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79" name="Google Shape;4479;p32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4480" name="Google Shape;4480;p32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4481" name="Google Shape;4481;p32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4482" name="Google Shape;4482;p32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4483" name="Google Shape;4483;p3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4484" name="Google Shape;4484;p32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4485" name="Google Shape;4485;p32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4486" name="Google Shape;4486;p32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7" name="Google Shape;4487;p32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4488" name="Google Shape;4488;p32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489" name="Google Shape;4489;p32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490" name="Google Shape;4490;p32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491" name="Google Shape;4491;p32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492" name="Google Shape;4492;p32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493" name="Google Shape;4493;p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94" name="Google Shape;4494;p32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4495" name="Google Shape;4495;p32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496" name="Google Shape;4496;p32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497" name="Google Shape;4497;p32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498" name="Google Shape;4498;p32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499" name="Google Shape;4499;p32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00" name="Google Shape;4500;p32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01" name="Google Shape;4501;p32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4502" name="Google Shape;4502;p32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03" name="Google Shape;4503;p3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04" name="Google Shape;4504;p32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05" name="Google Shape;4505;p32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06" name="Google Shape;4506;p32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07" name="Google Shape;4507;p32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08" name="Google Shape;4508;p32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4509" name="Google Shape;4509;p32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10" name="Google Shape;4510;p32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11" name="Google Shape;4511;p32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12" name="Google Shape;4512;p32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13" name="Google Shape;4513;p3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14" name="Google Shape;4514;p32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15" name="Google Shape;4515;p32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4516" name="Google Shape;4516;p32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17" name="Google Shape;4517;p32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18" name="Google Shape;4518;p32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19" name="Google Shape;4519;p32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20" name="Google Shape;4520;p32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21" name="Google Shape;4521;p32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22" name="Google Shape;4522;p32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4523" name="Google Shape;4523;p3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24" name="Google Shape;4524;p32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25" name="Google Shape;4525;p32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26" name="Google Shape;4526;p32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27" name="Google Shape;4527;p32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28" name="Google Shape;4528;p32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29" name="Google Shape;4529;p32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4530" name="Google Shape;4530;p32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4531" name="Google Shape;4531;p32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4532" name="Google Shape;4532;p32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4533" name="Google Shape;4533;p3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4534" name="Google Shape;4534;p32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4535" name="Google Shape;4535;p32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4536" name="Google Shape;4536;p3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37" name="Google Shape;4537;p32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4538" name="Google Shape;4538;p32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539" name="Google Shape;4539;p32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540" name="Google Shape;4540;p32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541" name="Google Shape;4541;p32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542" name="Google Shape;4542;p32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543" name="Google Shape;4543;p3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44" name="Google Shape;4544;p32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4545" name="Google Shape;4545;p32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546" name="Google Shape;4546;p3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547" name="Google Shape;4547;p32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548" name="Google Shape;4548;p32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549" name="Google Shape;4549;p32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550" name="Google Shape;4550;p32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51" name="Google Shape;4551;p32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4552" name="Google Shape;4552;p32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4553" name="Google Shape;4553;p3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554" name="Google Shape;4554;p32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4555" name="Google Shape;4555;p32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556" name="Google Shape;4556;p3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557" name="Google Shape;4557;p32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58" name="Google Shape;4558;p32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4559" name="Google Shape;4559;p32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4560" name="Google Shape;4560;p32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561" name="Google Shape;4561;p32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4562" name="Google Shape;4562;p32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563" name="Google Shape;4563;p3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564" name="Google Shape;4564;p32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65" name="Google Shape;4565;p32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4566" name="Google Shape;4566;p3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4567" name="Google Shape;4567;p32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568" name="Google Shape;4568;p32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4569" name="Google Shape;4569;p32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570" name="Google Shape;4570;p32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571" name="Google Shape;4571;p32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72" name="Google Shape;4572;p32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4573" name="Google Shape;4573;p3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</a:t>
            </a:r>
            <a:endParaRPr/>
          </a:p>
        </p:txBody>
      </p:sp>
      <p:sp>
        <p:nvSpPr>
          <p:cNvPr id="4574" name="Google Shape;4574;p32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575" name="Google Shape;4575;p32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</a:t>
            </a:r>
            <a:endParaRPr/>
          </a:p>
        </p:txBody>
      </p:sp>
      <p:sp>
        <p:nvSpPr>
          <p:cNvPr id="4576" name="Google Shape;4576;p3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577" name="Google Shape;4577;p32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578" name="Google Shape;4578;p32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79" name="Google Shape;4579;p32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4580" name="Google Shape;4580;p32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4581" name="Google Shape;4581;p32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4582" name="Google Shape;4582;p32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4583" name="Google Shape;4583;p3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4584" name="Google Shape;4584;p32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4585" name="Google Shape;4585;p32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4586" name="Google Shape;4586;p32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4587" name="Google Shape;4587;p32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4588" name="Google Shape;4588;p32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4589" name="Google Shape;4589;p32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4590" name="Google Shape;4590;p32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4591" name="Google Shape;4591;p32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4592" name="Google Shape;4592;p32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4593" name="Google Shape;4593;p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4594" name="Google Shape;4594;p32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595" name="Google Shape;4595;p32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596" name="Google Shape;4596;p32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597" name="Google Shape;4597;p32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598" name="Google Shape;4598;p32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599" name="Google Shape;4599;p32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4600" name="Google Shape;4600;p32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601" name="Google Shape;4601;p32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4602" name="Google Shape;4602;p32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603" name="Google Shape;4603;p3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4604" name="Google Shape;4604;p32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605" name="Google Shape;4605;p32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</a:t>
            </a:r>
            <a:endParaRPr/>
          </a:p>
        </p:txBody>
      </p:sp>
      <p:sp>
        <p:nvSpPr>
          <p:cNvPr id="4606" name="Google Shape;4606;p32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4607" name="Google Shape;4607;p32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08" name="Google Shape;4608;p32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09" name="Google Shape;4609;p32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10" name="Google Shape;4610;p32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11" name="Google Shape;4611;p32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12" name="Google Shape;4612;p32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13" name="Google Shape;4613;p3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14" name="Google Shape;4614;p32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15" name="Google Shape;4615;p32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16" name="Google Shape;4616;p32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17" name="Google Shape;4617;p32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18" name="Google Shape;4618;p32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19" name="Google Shape;4619;p32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20" name="Google Shape;4620;p32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4621" name="Google Shape;4621;p32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4622" name="Google Shape;4622;p32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 submissions - highly active agency</a:t>
            </a:r>
            <a:endParaRPr/>
          </a:p>
        </p:txBody>
      </p:sp>
      <p:sp>
        <p:nvSpPr>
          <p:cNvPr id="4623" name="Google Shape;4623;p3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4624" name="Google Shape;4624;p32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 quotes generated - active in pipeline</a:t>
            </a:r>
            <a:endParaRPr/>
          </a:p>
        </p:txBody>
      </p:sp>
      <p:sp>
        <p:nvSpPr>
          <p:cNvPr id="4625" name="Google Shape;4625;p3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26" name="Google Shape;4626;p32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4627" name="Google Shape;4627;p32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4628" name="Google Shape;4628;p32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written premium despite 35 submissions</a:t>
            </a:r>
            <a:endParaRPr/>
          </a:p>
        </p:txBody>
      </p:sp>
      <p:sp>
        <p:nvSpPr>
          <p:cNvPr id="4629" name="Google Shape;4629;p32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4630" name="Google Shape;4630;p32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 submissions with zero binds - zero conversion</a:t>
            </a:r>
            <a:endParaRPr/>
          </a:p>
        </p:txBody>
      </p:sp>
      <p:sp>
        <p:nvSpPr>
          <p:cNvPr id="4631" name="Google Shape;4631;p32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32" name="Google Shape;4632;p32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4633" name="Google Shape;4633;p3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4634" name="Google Shape;4634;p32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Review their 35 quoted-not-bound submissions together. Ask which quotes were close and what competitors offered - identifies specific pricing or appetite gaps to escalate internally.</a:t>
            </a:r>
            <a:endParaRPr/>
          </a:p>
        </p:txBody>
      </p:sp>
      <p:sp>
        <p:nvSpPr>
          <p:cNvPr id="4635" name="Google Shape;4635;p3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4636" name="Google Shape;4636;p32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Pull up their 31 recent quotes and review together. Ask: "Which of these were closest to binding?" Offer to re-quote or adjust terms on the most promising ones.</a:t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640" name="Shape 4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1" name="Google Shape;4641;p33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42" name="Google Shape;4642;p33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Insurance Safety System Llc</a:t>
            </a:r>
            <a:endParaRPr/>
          </a:p>
        </p:txBody>
      </p:sp>
      <p:sp>
        <p:nvSpPr>
          <p:cNvPr id="4643" name="Google Shape;4643;p3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5  |  Region: Pacific Northwest  |  State: WA  |  City: Tukwila</a:t>
            </a:r>
            <a:endParaRPr/>
          </a:p>
        </p:txBody>
      </p:sp>
      <p:sp>
        <p:nvSpPr>
          <p:cNvPr id="4644" name="Google Shape;4644;p33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4645" name="Google Shape;4645;p33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4646" name="Google Shape;4646;p33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4647" name="Google Shape;4647;p33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4648" name="Google Shape;4648;p33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4649" name="Google Shape;4649;p33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4650" name="Google Shape;4650;p33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4651" name="Google Shape;4651;p33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4652" name="Google Shape;4652;p33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4653" name="Google Shape;4653;p33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4654" name="Google Shape;4654;p33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4655" name="Google Shape;4655;p33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4656" name="Google Shape;4656;p33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4657" name="Google Shape;4657;p33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58" name="Google Shape;4658;p33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4659" name="Google Shape;4659;p33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4660" name="Google Shape;4660;p33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4661" name="Google Shape;4661;p33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4662" name="Google Shape;4662;p33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4663" name="Google Shape;4663;p3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4664" name="Google Shape;4664;p33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4665" name="Google Shape;4665;p33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66" name="Google Shape;4666;p33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4667" name="Google Shape;4667;p33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68" name="Google Shape;4668;p33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69" name="Google Shape;4669;p33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70" name="Google Shape;4670;p33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71" name="Google Shape;4671;p33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72" name="Google Shape;4672;p33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73" name="Google Shape;4673;p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4674" name="Google Shape;4674;p33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75" name="Google Shape;4675;p33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76" name="Google Shape;4676;p33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77" name="Google Shape;4677;p33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78" name="Google Shape;4678;p33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79" name="Google Shape;4679;p33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80" name="Google Shape;4680;p33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4681" name="Google Shape;4681;p33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82" name="Google Shape;4682;p33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83" name="Google Shape;4683;p3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84" name="Google Shape;4684;p33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85" name="Google Shape;4685;p33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86" name="Google Shape;4686;p33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87" name="Google Shape;4687;p33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4688" name="Google Shape;4688;p33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89" name="Google Shape;4689;p33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90" name="Google Shape;4690;p33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91" name="Google Shape;4691;p33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92" name="Google Shape;4692;p33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93" name="Google Shape;4693;p3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4" name="Google Shape;4694;p33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4695" name="Google Shape;4695;p33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96" name="Google Shape;4696;p33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97" name="Google Shape;4697;p33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98" name="Google Shape;4698;p33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99" name="Google Shape;4699;p33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00" name="Google Shape;4700;p33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01" name="Google Shape;4701;p33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4702" name="Google Shape;4702;p33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03" name="Google Shape;4703;p3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04" name="Google Shape;4704;p33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05" name="Google Shape;4705;p33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06" name="Google Shape;4706;p33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07" name="Google Shape;4707;p33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08" name="Google Shape;4708;p33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4709" name="Google Shape;4709;p33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4710" name="Google Shape;4710;p33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4711" name="Google Shape;4711;p33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4712" name="Google Shape;4712;p33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4713" name="Google Shape;4713;p3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4714" name="Google Shape;4714;p33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4715" name="Google Shape;4715;p33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16" name="Google Shape;4716;p3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4717" name="Google Shape;4717;p33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718" name="Google Shape;4718;p33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719" name="Google Shape;4719;p33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720" name="Google Shape;4720;p33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721" name="Google Shape;4721;p33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722" name="Google Shape;4722;p33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23" name="Google Shape;4723;p3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4724" name="Google Shape;4724;p33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725" name="Google Shape;4725;p33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726" name="Google Shape;4726;p3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727" name="Google Shape;4727;p33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728" name="Google Shape;4728;p33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729" name="Google Shape;4729;p33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30" name="Google Shape;4730;p33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4731" name="Google Shape;4731;p33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4732" name="Google Shape;4732;p33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733" name="Google Shape;4733;p3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734" name="Google Shape;4734;p33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735" name="Google Shape;4735;p33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736" name="Google Shape;4736;p3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37" name="Google Shape;4737;p33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4738" name="Google Shape;4738;p33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739" name="Google Shape;4739;p33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740" name="Google Shape;4740;p33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741" name="Google Shape;4741;p33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742" name="Google Shape;4742;p33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743" name="Google Shape;4743;p3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44" name="Google Shape;4744;p33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4745" name="Google Shape;4745;p33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746" name="Google Shape;4746;p3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747" name="Google Shape;4747;p33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748" name="Google Shape;4748;p33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749" name="Google Shape;4749;p33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750" name="Google Shape;4750;p33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51" name="Google Shape;4751;p33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4752" name="Google Shape;4752;p33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4753" name="Google Shape;4753;p3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754" name="Google Shape;4754;p33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4755" name="Google Shape;4755;p33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756" name="Google Shape;4756;p3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757" name="Google Shape;4757;p33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58" name="Google Shape;4758;p33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4759" name="Google Shape;4759;p33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4760" name="Google Shape;4760;p33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4761" name="Google Shape;4761;p33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4762" name="Google Shape;4762;p33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4763" name="Google Shape;4763;p3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4764" name="Google Shape;4764;p33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4765" name="Google Shape;4765;p33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4766" name="Google Shape;4766;p33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4767" name="Google Shape;4767;p33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4768" name="Google Shape;4768;p33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4769" name="Google Shape;4769;p33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4770" name="Google Shape;4770;p33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4771" name="Google Shape;4771;p33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4772" name="Google Shape;4772;p33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4773" name="Google Shape;4773;p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774" name="Google Shape;4774;p33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775" name="Google Shape;4775;p33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776" name="Google Shape;4776;p33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777" name="Google Shape;4777;p33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778" name="Google Shape;4778;p33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4779" name="Google Shape;4779;p33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4780" name="Google Shape;4780;p33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781" name="Google Shape;4781;p33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4782" name="Google Shape;4782;p33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783" name="Google Shape;4783;p3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4784" name="Google Shape;4784;p33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4785" name="Google Shape;4785;p33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4786" name="Google Shape;4786;p33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87" name="Google Shape;4787;p33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88" name="Google Shape;4788;p33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89" name="Google Shape;4789;p33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90" name="Google Shape;4790;p33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91" name="Google Shape;4791;p33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92" name="Google Shape;4792;p33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93" name="Google Shape;4793;p3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94" name="Google Shape;4794;p33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95" name="Google Shape;4795;p33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96" name="Google Shape;4796;p33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97" name="Google Shape;4797;p33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98" name="Google Shape;4798;p33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99" name="Google Shape;4799;p33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4800" name="Google Shape;4800;p33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4801" name="Google Shape;4801;p33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 quotes generated - active in pipeline</a:t>
            </a:r>
            <a:endParaRPr/>
          </a:p>
        </p:txBody>
      </p:sp>
      <p:sp>
        <p:nvSpPr>
          <p:cNvPr id="4802" name="Google Shape;4802;p33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03" name="Google Shape;4803;p3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4804" name="Google Shape;4804;p33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4805" name="Google Shape;4805;p33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written premium despite 9 submissions</a:t>
            </a:r>
            <a:endParaRPr/>
          </a:p>
        </p:txBody>
      </p:sp>
      <p:sp>
        <p:nvSpPr>
          <p:cNvPr id="4806" name="Google Shape;4806;p33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4807" name="Google Shape;4807;p33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 submissions with zero binds - zero conversion</a:t>
            </a:r>
            <a:endParaRPr/>
          </a:p>
        </p:txBody>
      </p:sp>
      <p:sp>
        <p:nvSpPr>
          <p:cNvPr id="4808" name="Google Shape;4808;p33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09" name="Google Shape;4809;p33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4810" name="Google Shape;4810;p33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4811" name="Google Shape;4811;p3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Pull up their 3 recent quotes and review together. Ask: "Which of these were closest to binding?" Offer to re-quote or adjust terms on the most promising ones.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815" name="Shape 48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6" name="Google Shape;4816;p34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17" name="Google Shape;4817;p34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Jd Fulwiler &amp; Co Insurance</a:t>
            </a:r>
            <a:endParaRPr/>
          </a:p>
        </p:txBody>
      </p:sp>
      <p:sp>
        <p:nvSpPr>
          <p:cNvPr id="4818" name="Google Shape;4818;p34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Pacific Northwest  |  State: Oregon  |  City: Portland</a:t>
            </a:r>
            <a:endParaRPr/>
          </a:p>
        </p:txBody>
      </p:sp>
      <p:sp>
        <p:nvSpPr>
          <p:cNvPr id="4819" name="Google Shape;4819;p34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4820" name="Google Shape;4820;p34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4821" name="Google Shape;4821;p34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4822" name="Google Shape;4822;p34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4823" name="Google Shape;4823;p34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4824" name="Google Shape;4824;p34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4825" name="Google Shape;4825;p34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4826" name="Google Shape;4826;p34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4827" name="Google Shape;4827;p34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4828" name="Google Shape;4828;p34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4829" name="Google Shape;4829;p34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4830" name="Google Shape;4830;p34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4831" name="Google Shape;4831;p34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4832" name="Google Shape;4832;p34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33" name="Google Shape;4833;p34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4834" name="Google Shape;4834;p34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4835" name="Google Shape;4835;p34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4836" name="Google Shape;4836;p34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4837" name="Google Shape;4837;p34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4838" name="Google Shape;4838;p34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4839" name="Google Shape;4839;p3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4840" name="Google Shape;4840;p34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41" name="Google Shape;4841;p34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4842" name="Google Shape;4842;p34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43" name="Google Shape;4843;p34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44" name="Google Shape;4844;p34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45" name="Google Shape;4845;p34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46" name="Google Shape;4846;p34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47" name="Google Shape;4847;p34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48" name="Google Shape;4848;p34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4849" name="Google Shape;4849;p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50" name="Google Shape;4850;p34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51" name="Google Shape;4851;p34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52" name="Google Shape;4852;p34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53" name="Google Shape;4853;p34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54" name="Google Shape;4854;p34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55" name="Google Shape;4855;p34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4856" name="Google Shape;4856;p34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57" name="Google Shape;4857;p34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58" name="Google Shape;4858;p34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59" name="Google Shape;4859;p3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60" name="Google Shape;4860;p34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61" name="Google Shape;4861;p34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62" name="Google Shape;4862;p34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4863" name="Google Shape;4863;p34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64" name="Google Shape;4864;p34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65" name="Google Shape;4865;p34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66" name="Google Shape;4866;p34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67" name="Google Shape;4867;p34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68" name="Google Shape;4868;p34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69" name="Google Shape;4869;p3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4870" name="Google Shape;4870;p34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71" name="Google Shape;4871;p34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72" name="Google Shape;4872;p34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73" name="Google Shape;4873;p34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74" name="Google Shape;4874;p34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75" name="Google Shape;4875;p34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76" name="Google Shape;4876;p34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4877" name="Google Shape;4877;p34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78" name="Google Shape;4878;p34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79" name="Google Shape;4879;p3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80" name="Google Shape;4880;p34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81" name="Google Shape;4881;p34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82" name="Google Shape;4882;p3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3" name="Google Shape;4883;p34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4884" name="Google Shape;4884;p34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4885" name="Google Shape;4885;p34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4886" name="Google Shape;4886;p34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4887" name="Google Shape;4887;p34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4888" name="Google Shape;4888;p34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4889" name="Google Shape;4889;p3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4890" name="Google Shape;4890;p34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91" name="Google Shape;4891;p34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4892" name="Google Shape;4892;p3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893" name="Google Shape;4893;p34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894" name="Google Shape;4894;p34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895" name="Google Shape;4895;p34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896" name="Google Shape;4896;p34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897" name="Google Shape;4897;p34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98" name="Google Shape;4898;p34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4899" name="Google Shape;4899;p3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900" name="Google Shape;4900;p34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901" name="Google Shape;4901;p34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902" name="Google Shape;4902;p3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903" name="Google Shape;4903;p34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904" name="Google Shape;4904;p34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05" name="Google Shape;4905;p34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4906" name="Google Shape;4906;p34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907" name="Google Shape;4907;p34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908" name="Google Shape;4908;p34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909" name="Google Shape;4909;p3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910" name="Google Shape;4910;p34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911" name="Google Shape;4911;p34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12" name="Google Shape;4912;p3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4913" name="Google Shape;4913;p34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914" name="Google Shape;4914;p34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915" name="Google Shape;4915;p34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916" name="Google Shape;4916;p34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917" name="Google Shape;4917;p34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918" name="Google Shape;4918;p34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19" name="Google Shape;4919;p3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4920" name="Google Shape;4920;p34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4921" name="Google Shape;4921;p34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922" name="Google Shape;4922;p3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4923" name="Google Shape;4923;p34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924" name="Google Shape;4924;p34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925" name="Google Shape;4925;p34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26" name="Google Shape;4926;p34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4927" name="Google Shape;4927;p34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4928" name="Google Shape;4928;p34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929" name="Google Shape;4929;p3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4930" name="Google Shape;4930;p34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931" name="Google Shape;4931;p34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932" name="Google Shape;4932;p34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33" name="Google Shape;4933;p34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4934" name="Google Shape;4934;p34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4935" name="Google Shape;4935;p34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4936" name="Google Shape;4936;p34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4937" name="Google Shape;4937;p34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4938" name="Google Shape;4938;p34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4939" name="Google Shape;4939;p3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4940" name="Google Shape;4940;p34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4941" name="Google Shape;4941;p34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4942" name="Google Shape;4942;p34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4943" name="Google Shape;4943;p34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4944" name="Google Shape;4944;p34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4945" name="Google Shape;4945;p34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4946" name="Google Shape;4946;p34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4947" name="Google Shape;4947;p34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4948" name="Google Shape;4948;p34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949" name="Google Shape;4949;p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950" name="Google Shape;4950;p34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951" name="Google Shape;4951;p34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952" name="Google Shape;4952;p34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953" name="Google Shape;4953;p34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954" name="Google Shape;4954;p34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955" name="Google Shape;4955;p34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956" name="Google Shape;4956;p34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957" name="Google Shape;4957;p34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4958" name="Google Shape;4958;p34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959" name="Google Shape;4959;p3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4960" name="Google Shape;4960;p34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4961" name="Google Shape;4961;p34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62" name="Google Shape;4962;p34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63" name="Google Shape;4963;p34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64" name="Google Shape;4964;p34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65" name="Google Shape;4965;p34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66" name="Google Shape;4966;p34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67" name="Google Shape;4967;p34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68" name="Google Shape;4968;p34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69" name="Google Shape;4969;p3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70" name="Google Shape;4970;p34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71" name="Google Shape;4971;p34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72" name="Google Shape;4972;p34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73" name="Google Shape;4973;p34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74" name="Google Shape;4974;p34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4975" name="Google Shape;4975;p34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4976" name="Google Shape;4976;p34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 quotes generated - active in pipeline</a:t>
            </a:r>
            <a:endParaRPr/>
          </a:p>
        </p:txBody>
      </p:sp>
      <p:sp>
        <p:nvSpPr>
          <p:cNvPr id="4977" name="Google Shape;4977;p3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78" name="Google Shape;4978;p34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4979" name="Google Shape;4979;p3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4980" name="Google Shape;4980;p34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written premium despite 12 submissions</a:t>
            </a:r>
            <a:endParaRPr/>
          </a:p>
        </p:txBody>
      </p:sp>
      <p:sp>
        <p:nvSpPr>
          <p:cNvPr id="4981" name="Google Shape;4981;p34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4982" name="Google Shape;4982;p34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 submissions with zero binds - zero conversion</a:t>
            </a:r>
            <a:endParaRPr/>
          </a:p>
        </p:txBody>
      </p:sp>
      <p:sp>
        <p:nvSpPr>
          <p:cNvPr id="4983" name="Google Shape;4983;p34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84" name="Google Shape;4984;p34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4985" name="Google Shape;4985;p34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4986" name="Google Shape;4986;p34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Review their 12 quoted-not-bound submissions together. Ask which quotes were close and what competitors offered - identifies specific pricing or appetite gaps to escalate internally.</a:t>
            </a:r>
            <a:endParaRPr/>
          </a:p>
        </p:txBody>
      </p:sp>
      <p:sp>
        <p:nvSpPr>
          <p:cNvPr id="4987" name="Google Shape;4987;p3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4988" name="Google Shape;4988;p34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Pull up their 8 recent quotes and review together. Ask: "Which of these were closest to binding?" Offer to re-quote or adjust terms on the most promising ones.</a:t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992" name="Shape 49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3" name="Google Shape;4993;p35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94" name="Google Shape;4994;p35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Julian Reyes Insurance Agency Inc</a:t>
            </a:r>
            <a:endParaRPr/>
          </a:p>
        </p:txBody>
      </p:sp>
      <p:sp>
        <p:nvSpPr>
          <p:cNvPr id="4995" name="Google Shape;4995;p35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West  |  State: CA  |  City: Pomona</a:t>
            </a:r>
            <a:endParaRPr/>
          </a:p>
        </p:txBody>
      </p:sp>
      <p:sp>
        <p:nvSpPr>
          <p:cNvPr id="4996" name="Google Shape;4996;p35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4997" name="Google Shape;4997;p35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4998" name="Google Shape;4998;p35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4999" name="Google Shape;4999;p35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5000" name="Google Shape;5000;p35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5001" name="Google Shape;5001;p35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5002" name="Google Shape;5002;p35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5003" name="Google Shape;5003;p35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5004" name="Google Shape;5004;p35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5005" name="Google Shape;5005;p35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006" name="Google Shape;5006;p35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6.2%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007" name="Google Shape;5007;p35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5008" name="Google Shape;5008;p35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$21,428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5009" name="Google Shape;5009;p35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10" name="Google Shape;5010;p35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5011" name="Google Shape;5011;p35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012" name="Google Shape;5012;p35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5013" name="Google Shape;5013;p35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5014" name="Google Shape;5014;p35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5015" name="Google Shape;5015;p35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5016" name="Google Shape;5016;p35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5017" name="Google Shape;5017;p3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18" name="Google Shape;5018;p35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5019" name="Google Shape;5019;p35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20" name="Google Shape;5020;p35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21" name="Google Shape;5021;p35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22" name="Google Shape;5022;p35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23" name="Google Shape;5023;p35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24" name="Google Shape;5024;p35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25" name="Google Shape;5025;p35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5026" name="Google Shape;5026;p35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27" name="Google Shape;5027;p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28" name="Google Shape;5028;p35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29" name="Google Shape;5029;p35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30" name="Google Shape;5030;p35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31" name="Google Shape;5031;p35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32" name="Google Shape;5032;p35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5033" name="Google Shape;5033;p35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34" name="Google Shape;5034;p35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35" name="Google Shape;5035;p35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36" name="Google Shape;5036;p35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37" name="Google Shape;5037;p3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38" name="Google Shape;5038;p35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39" name="Google Shape;5039;p35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5040" name="Google Shape;5040;p35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41" name="Google Shape;5041;p35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42" name="Google Shape;5042;p35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43" name="Google Shape;5043;p35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44" name="Google Shape;5044;p35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45" name="Google Shape;5045;p35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46" name="Google Shape;5046;p35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047" name="Google Shape;5047;p3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48" name="Google Shape;5048;p35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49" name="Google Shape;5049;p35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50" name="Google Shape;5050;p35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51" name="Google Shape;5051;p35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52" name="Google Shape;5052;p35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53" name="Google Shape;5053;p35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5054" name="Google Shape;5054;p35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55" name="Google Shape;5055;p35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56" name="Google Shape;5056;p35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57" name="Google Shape;5057;p3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58" name="Google Shape;5058;p35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59" name="Google Shape;5059;p35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60" name="Google Shape;5060;p3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5061" name="Google Shape;5061;p35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062" name="Google Shape;5062;p35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5063" name="Google Shape;5063;p35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5064" name="Google Shape;5064;p35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5065" name="Google Shape;5065;p35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066" name="Google Shape;5066;p35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067" name="Google Shape;5067;p3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68" name="Google Shape;5068;p35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5069" name="Google Shape;5069;p35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070" name="Google Shape;5070;p3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071" name="Google Shape;5071;p35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072" name="Google Shape;5072;p35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073" name="Google Shape;5073;p35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074" name="Google Shape;5074;p35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75" name="Google Shape;5075;p35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5076" name="Google Shape;5076;p35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077" name="Google Shape;5077;p3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078" name="Google Shape;5078;p35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079" name="Google Shape;5079;p35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080" name="Google Shape;5080;p3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081" name="Google Shape;5081;p35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82" name="Google Shape;5082;p35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5083" name="Google Shape;5083;p35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5084" name="Google Shape;5084;p35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085" name="Google Shape;5085;p35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5086" name="Google Shape;5086;p35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087" name="Google Shape;5087;p3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088" name="Google Shape;5088;p35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89" name="Google Shape;5089;p35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5090" name="Google Shape;5090;p3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5091" name="Google Shape;5091;p35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092" name="Google Shape;5092;p35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5093" name="Google Shape;5093;p35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094" name="Google Shape;5094;p35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095" name="Google Shape;5095;p35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96" name="Google Shape;5096;p35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097" name="Google Shape;5097;p3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5098" name="Google Shape;5098;p35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099" name="Google Shape;5099;p35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5100" name="Google Shape;5100;p3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101" name="Google Shape;5101;p35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33.3%</a:t>
            </a:r>
            <a:endParaRPr/>
          </a:p>
        </p:txBody>
      </p:sp>
      <p:sp>
        <p:nvSpPr>
          <p:cNvPr id="5102" name="Google Shape;5102;p35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03" name="Google Shape;5103;p35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5104" name="Google Shape;5104;p35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5105" name="Google Shape;5105;p35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106" name="Google Shape;5106;p35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5107" name="Google Shape;5107;p3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108" name="Google Shape;5108;p35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6.2%</a:t>
            </a:r>
            <a:endParaRPr/>
          </a:p>
        </p:txBody>
      </p:sp>
      <p:sp>
        <p:nvSpPr>
          <p:cNvPr id="5109" name="Google Shape;5109;p35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10" name="Google Shape;5110;p35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5111" name="Google Shape;5111;p35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5112" name="Google Shape;5112;p35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5113" name="Google Shape;5113;p35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5114" name="Google Shape;5114;p35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5115" name="Google Shape;5115;p35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5116" name="Google Shape;5116;p35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5117" name="Google Shape;5117;p3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5118" name="Google Shape;5118;p35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5119" name="Google Shape;5119;p35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5120" name="Google Shape;5120;p35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5121" name="Google Shape;5121;p35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5122" name="Google Shape;5122;p35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5123" name="Google Shape;5123;p35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5124" name="Google Shape;5124;p35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5125" name="Google Shape;5125;p35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126" name="Google Shape;5126;p35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127" name="Google Shape;5127;p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128" name="Google Shape;5128;p35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129" name="Google Shape;5129;p35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130" name="Google Shape;5130;p35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5131" name="Google Shape;5131;p35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132" name="Google Shape;5132;p35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5133" name="Google Shape;5133;p35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134" name="Google Shape;5134;p35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5135" name="Google Shape;5135;p35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136" name="Google Shape;5136;p35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5137" name="Google Shape;5137;p3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5138" name="Google Shape;5138;p35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139" name="Google Shape;5139;p35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140" name="Google Shape;5140;p35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141" name="Google Shape;5141;p35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142" name="Google Shape;5142;p35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143" name="Google Shape;5143;p35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144" name="Google Shape;5144;p35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145" name="Google Shape;5145;p35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146" name="Google Shape;5146;p35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147" name="Google Shape;5147;p3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148" name="Google Shape;5148;p35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149" name="Google Shape;5149;p35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150" name="Google Shape;5150;p35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51" name="Google Shape;5151;p35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5152" name="Google Shape;5152;p35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5153" name="Google Shape;5153;p35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6.2% hit ratio - above average conversion</a:t>
            </a:r>
            <a:endParaRPr/>
          </a:p>
        </p:txBody>
      </p:sp>
      <p:sp>
        <p:nvSpPr>
          <p:cNvPr id="5154" name="Google Shape;5154;p35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5155" name="Google Shape;5155;p35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 bind(s) - converting submissions to business</a:t>
            </a:r>
            <a:endParaRPr/>
          </a:p>
        </p:txBody>
      </p:sp>
      <p:sp>
        <p:nvSpPr>
          <p:cNvPr id="5156" name="Google Shape;5156;p35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57" name="Google Shape;5157;p3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5158" name="Google Shape;5158;p35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5159" name="Google Shape;5159;p3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written premium despite 16 submissions</a:t>
            </a:r>
            <a:endParaRPr/>
          </a:p>
        </p:txBody>
      </p:sp>
      <p:sp>
        <p:nvSpPr>
          <p:cNvPr id="5160" name="Google Shape;5160;p35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5161" name="Google Shape;5161;p35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 volume dropped from 8 to 3 MoM</a:t>
            </a:r>
            <a:endParaRPr/>
          </a:p>
        </p:txBody>
      </p:sp>
      <p:sp>
        <p:nvSpPr>
          <p:cNvPr id="5162" name="Google Shape;5162;p35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63" name="Google Shape;5163;p35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5164" name="Google Shape;5164;p35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5165" name="Google Shape;5165;p35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Open with a value-add: share a recent market update or new appetite expansion relevant to their book. Position yourself as a resource, not just a follow-up call.</a:t>
            </a:r>
            <a:endParaRPr/>
          </a:p>
        </p:txBody>
      </p:sp>
      <p:sp>
        <p:nvSpPr>
          <p:cNvPr id="5166" name="Google Shape;5166;p35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5167" name="Google Shape;5167;p3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Ask: "What's the biggest challenge in your trucking book right now?" Use their answer to tailor your next outreach with specific solutions.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171" name="Shape 5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72" name="Google Shape;5172;p36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73" name="Google Shape;5173;p36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Maria Candelaria Melara</a:t>
            </a:r>
            <a:endParaRPr/>
          </a:p>
        </p:txBody>
      </p:sp>
      <p:sp>
        <p:nvSpPr>
          <p:cNvPr id="5174" name="Google Shape;5174;p36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Pacific Northwest  |  State: N/A  |  City: Modesto</a:t>
            </a:r>
            <a:endParaRPr/>
          </a:p>
        </p:txBody>
      </p:sp>
      <p:sp>
        <p:nvSpPr>
          <p:cNvPr id="5175" name="Google Shape;5175;p36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5176" name="Google Shape;5176;p36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5177" name="Google Shape;5177;p36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5178" name="Google Shape;5178;p36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5179" name="Google Shape;5179;p36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5180" name="Google Shape;5180;p36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5181" name="Google Shape;5181;p36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5182" name="Google Shape;5182;p36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5183" name="Google Shape;5183;p36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5184" name="Google Shape;5184;p36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185" name="Google Shape;5185;p36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186" name="Google Shape;5186;p36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5187" name="Google Shape;5187;p36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5188" name="Google Shape;5188;p36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89" name="Google Shape;5189;p36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5190" name="Google Shape;5190;p36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191" name="Google Shape;5191;p36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5192" name="Google Shape;5192;p36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5193" name="Google Shape;5193;p36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5194" name="Google Shape;5194;p36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5195" name="Google Shape;5195;p36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5196" name="Google Shape;5196;p36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97" name="Google Shape;5197;p3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5198" name="Google Shape;5198;p36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199" name="Google Shape;5199;p36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00" name="Google Shape;5200;p36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01" name="Google Shape;5201;p36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02" name="Google Shape;5202;p36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03" name="Google Shape;5203;p36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04" name="Google Shape;5204;p36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5205" name="Google Shape;5205;p36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06" name="Google Shape;5206;p36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07" name="Google Shape;5207;p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08" name="Google Shape;5208;p36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09" name="Google Shape;5209;p36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10" name="Google Shape;5210;p36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11" name="Google Shape;5211;p36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5212" name="Google Shape;5212;p36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13" name="Google Shape;5213;p36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14" name="Google Shape;5214;p36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15" name="Google Shape;5215;p36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16" name="Google Shape;5216;p36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17" name="Google Shape;5217;p3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18" name="Google Shape;5218;p36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5219" name="Google Shape;5219;p36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20" name="Google Shape;5220;p36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21" name="Google Shape;5221;p36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22" name="Google Shape;5222;p36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23" name="Google Shape;5223;p36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24" name="Google Shape;5224;p36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25" name="Google Shape;5225;p36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226" name="Google Shape;5226;p36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27" name="Google Shape;5227;p3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28" name="Google Shape;5228;p36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29" name="Google Shape;5229;p36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30" name="Google Shape;5230;p36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31" name="Google Shape;5231;p36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32" name="Google Shape;5232;p36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5233" name="Google Shape;5233;p36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34" name="Google Shape;5234;p36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35" name="Google Shape;5235;p36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36" name="Google Shape;5236;p36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37" name="Google Shape;5237;p3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38" name="Google Shape;5238;p36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39" name="Google Shape;5239;p36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5240" name="Google Shape;5240;p3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241" name="Google Shape;5241;p36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5242" name="Google Shape;5242;p36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5243" name="Google Shape;5243;p36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5244" name="Google Shape;5244;p36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245" name="Google Shape;5245;p36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246" name="Google Shape;5246;p36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47" name="Google Shape;5247;p3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5248" name="Google Shape;5248;p36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249" name="Google Shape;5249;p36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250" name="Google Shape;5250;p3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251" name="Google Shape;5251;p36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252" name="Google Shape;5252;p36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253" name="Google Shape;5253;p36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54" name="Google Shape;5254;p36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5255" name="Google Shape;5255;p36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256" name="Google Shape;5256;p36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257" name="Google Shape;5257;p3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258" name="Google Shape;5258;p36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259" name="Google Shape;5259;p36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260" name="Google Shape;5260;p3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61" name="Google Shape;5261;p36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5262" name="Google Shape;5262;p36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263" name="Google Shape;5263;p36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264" name="Google Shape;5264;p36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265" name="Google Shape;5265;p36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266" name="Google Shape;5266;p36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267" name="Google Shape;5267;p3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68" name="Google Shape;5268;p36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5269" name="Google Shape;5269;p36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5270" name="Google Shape;5270;p3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271" name="Google Shape;5271;p36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5272" name="Google Shape;5272;p36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273" name="Google Shape;5273;p36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274" name="Google Shape;5274;p36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75" name="Google Shape;5275;p36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276" name="Google Shape;5276;p36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5277" name="Google Shape;5277;p3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278" name="Google Shape;5278;p36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5279" name="Google Shape;5279;p36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280" name="Google Shape;5280;p3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281" name="Google Shape;5281;p36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82" name="Google Shape;5282;p36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5283" name="Google Shape;5283;p36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5284" name="Google Shape;5284;p36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285" name="Google Shape;5285;p36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5286" name="Google Shape;5286;p36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287" name="Google Shape;5287;p3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288" name="Google Shape;5288;p36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89" name="Google Shape;5289;p36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5290" name="Google Shape;5290;p36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5291" name="Google Shape;5291;p36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5292" name="Google Shape;5292;p36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5293" name="Google Shape;5293;p36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5294" name="Google Shape;5294;p36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5295" name="Google Shape;5295;p36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5296" name="Google Shape;5296;p36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5297" name="Google Shape;5297;p3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5298" name="Google Shape;5298;p36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5299" name="Google Shape;5299;p36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5300" name="Google Shape;5300;p36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5301" name="Google Shape;5301;p36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5302" name="Google Shape;5302;p36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5303" name="Google Shape;5303;p36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5304" name="Google Shape;5304;p36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305" name="Google Shape;5305;p36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306" name="Google Shape;5306;p36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307" name="Google Shape;5307;p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308" name="Google Shape;5308;p36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309" name="Google Shape;5309;p36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310" name="Google Shape;5310;p36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311" name="Google Shape;5311;p36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5312" name="Google Shape;5312;p36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313" name="Google Shape;5313;p36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5314" name="Google Shape;5314;p36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315" name="Google Shape;5315;p36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5316" name="Google Shape;5316;p36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5317" name="Google Shape;5317;p3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18" name="Google Shape;5318;p36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19" name="Google Shape;5319;p36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20" name="Google Shape;5320;p36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21" name="Google Shape;5321;p36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22" name="Google Shape;5322;p36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23" name="Google Shape;5323;p36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24" name="Google Shape;5324;p36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25" name="Google Shape;5325;p36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26" name="Google Shape;5326;p36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27" name="Google Shape;5327;p3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28" name="Google Shape;5328;p36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29" name="Google Shape;5329;p36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30" name="Google Shape;5330;p36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5331" name="Google Shape;5331;p36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5332" name="Google Shape;5332;p36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 quotes generated - active in pipeline</a:t>
            </a:r>
            <a:endParaRPr/>
          </a:p>
        </p:txBody>
      </p:sp>
      <p:sp>
        <p:nvSpPr>
          <p:cNvPr id="5333" name="Google Shape;5333;p36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34" name="Google Shape;5334;p36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5335" name="Google Shape;5335;p3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5336" name="Google Shape;5336;p36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written premium despite 17 submissions</a:t>
            </a:r>
            <a:endParaRPr/>
          </a:p>
        </p:txBody>
      </p:sp>
      <p:sp>
        <p:nvSpPr>
          <p:cNvPr id="5337" name="Google Shape;5337;p3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5338" name="Google Shape;5338;p36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 submissions with zero binds - zero conversion</a:t>
            </a:r>
            <a:endParaRPr/>
          </a:p>
        </p:txBody>
      </p:sp>
      <p:sp>
        <p:nvSpPr>
          <p:cNvPr id="5339" name="Google Shape;5339;p3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40" name="Google Shape;5340;p36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5341" name="Google Shape;5341;p36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5342" name="Google Shape;5342;p36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Review their 17 quoted-not-bound submissions together. Ask which quotes were close and what competitors offered - identifies specific pricing or appetite gaps to escalate internally.</a:t>
            </a:r>
            <a:endParaRPr/>
          </a:p>
        </p:txBody>
      </p:sp>
      <p:sp>
        <p:nvSpPr>
          <p:cNvPr id="5343" name="Google Shape;5343;p36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5344" name="Google Shape;5344;p36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Pull up their 14 recent quotes and review together. Ask: "Which of these were closest to binding?" Offer to re-quote or adjust terms on the most promising ones.</a:t>
            </a:r>
            <a:endParaRPr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348" name="Shape 5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49" name="Google Shape;5349;p37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50" name="Google Shape;5350;p37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Regina Finstad Entrprise Llc</a:t>
            </a:r>
            <a:endParaRPr/>
          </a:p>
        </p:txBody>
      </p:sp>
      <p:sp>
        <p:nvSpPr>
          <p:cNvPr id="5351" name="Google Shape;5351;p37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Pacific Northwest  |  State: CA  |  City: San Ramon</a:t>
            </a:r>
            <a:endParaRPr/>
          </a:p>
        </p:txBody>
      </p:sp>
      <p:sp>
        <p:nvSpPr>
          <p:cNvPr id="5352" name="Google Shape;5352;p37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5353" name="Google Shape;5353;p37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5354" name="Google Shape;5354;p37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5355" name="Google Shape;5355;p37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5356" name="Google Shape;5356;p37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5357" name="Google Shape;5357;p37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$26,299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5358" name="Google Shape;5358;p37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$26,299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5359" name="Google Shape;5359;p37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5360" name="Google Shape;5360;p37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5361" name="Google Shape;5361;p37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362" name="Google Shape;5362;p37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363" name="Google Shape;5363;p37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5364" name="Google Shape;5364;p37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5365" name="Google Shape;5365;p3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66" name="Google Shape;5366;p37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5367" name="Google Shape;5367;p37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368" name="Google Shape;5368;p37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5369" name="Google Shape;5369;p37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5370" name="Google Shape;5370;p37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5371" name="Google Shape;5371;p37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5372" name="Google Shape;5372;p37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5373" name="Google Shape;5373;p37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74" name="Google Shape;5374;p37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5375" name="Google Shape;5375;p3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76" name="Google Shape;5376;p37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77" name="Google Shape;5377;p37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78" name="Google Shape;5378;p37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79" name="Google Shape;5379;p37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80" name="Google Shape;5380;p37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81" name="Google Shape;5381;p37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5382" name="Google Shape;5382;p37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83" name="Google Shape;5383;p37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84" name="Google Shape;5384;p37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85" name="Google Shape;5385;p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86" name="Google Shape;5386;p37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87" name="Google Shape;5387;p37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88" name="Google Shape;5388;p37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5389" name="Google Shape;5389;p37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90" name="Google Shape;5390;p37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91" name="Google Shape;5391;p37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92" name="Google Shape;5392;p37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93" name="Google Shape;5393;p37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94" name="Google Shape;5394;p37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95" name="Google Shape;5395;p3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5396" name="Google Shape;5396;p37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97" name="Google Shape;5397;p37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98" name="Google Shape;5398;p37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99" name="Google Shape;5399;p37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00" name="Google Shape;5400;p37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01" name="Google Shape;5401;p37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02" name="Google Shape;5402;p37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403" name="Google Shape;5403;p37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04" name="Google Shape;5404;p37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05" name="Google Shape;5405;p3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06" name="Google Shape;5406;p37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07" name="Google Shape;5407;p37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08" name="Google Shape;5408;p37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09" name="Google Shape;5409;p37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5410" name="Google Shape;5410;p37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11" name="Google Shape;5411;p37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12" name="Google Shape;5412;p37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13" name="Google Shape;5413;p37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14" name="Google Shape;5414;p37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15" name="Google Shape;5415;p3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16" name="Google Shape;5416;p37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5417" name="Google Shape;5417;p37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418" name="Google Shape;5418;p3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5419" name="Google Shape;5419;p37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5420" name="Google Shape;5420;p37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5421" name="Google Shape;5421;p37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422" name="Google Shape;5422;p37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423" name="Google Shape;5423;p37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24" name="Google Shape;5424;p37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5425" name="Google Shape;5425;p3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426" name="Google Shape;5426;p37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427" name="Google Shape;5427;p37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428" name="Google Shape;5428;p3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429" name="Google Shape;5429;p37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430" name="Google Shape;5430;p37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31" name="Google Shape;5431;p37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5432" name="Google Shape;5432;p37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433" name="Google Shape;5433;p37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434" name="Google Shape;5434;p37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435" name="Google Shape;5435;p3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436" name="Google Shape;5436;p37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437" name="Google Shape;5437;p37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38" name="Google Shape;5438;p3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5439" name="Google Shape;5439;p37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440" name="Google Shape;5440;p37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441" name="Google Shape;5441;p37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442" name="Google Shape;5442;p37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443" name="Google Shape;5443;p37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444" name="Google Shape;5444;p37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45" name="Google Shape;5445;p3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5446" name="Google Shape;5446;p37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447" name="Google Shape;5447;p37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448" name="Google Shape;5448;p3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449" name="Google Shape;5449;p37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450" name="Google Shape;5450;p37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451" name="Google Shape;5451;p37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52" name="Google Shape;5452;p37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453" name="Google Shape;5453;p37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454" name="Google Shape;5454;p37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455" name="Google Shape;5455;p3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456" name="Google Shape;5456;p37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457" name="Google Shape;5457;p37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458" name="Google Shape;5458;p37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59" name="Google Shape;5459;p37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5460" name="Google Shape;5460;p37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461" name="Google Shape;5461;p37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462" name="Google Shape;5462;p37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463" name="Google Shape;5463;p37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464" name="Google Shape;5464;p37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465" name="Google Shape;5465;p3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66" name="Google Shape;5466;p37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5467" name="Google Shape;5467;p37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5468" name="Google Shape;5468;p37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5469" name="Google Shape;5469;p37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5470" name="Google Shape;5470;p37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5471" name="Google Shape;5471;p37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5472" name="Google Shape;5472;p37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5473" name="Google Shape;5473;p37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5474" name="Google Shape;5474;p37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5475" name="Google Shape;5475;p3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5476" name="Google Shape;5476;p37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5477" name="Google Shape;5477;p37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5478" name="Google Shape;5478;p37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5479" name="Google Shape;5479;p37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5480" name="Google Shape;5480;p37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5481" name="Google Shape;5481;p37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5482" name="Google Shape;5482;p37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483" name="Google Shape;5483;p37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484" name="Google Shape;5484;p37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485" name="Google Shape;5485;p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5486" name="Google Shape;5486;p37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487" name="Google Shape;5487;p37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488" name="Google Shape;5488;p37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489" name="Google Shape;5489;p37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5490" name="Google Shape;5490;p37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491" name="Google Shape;5491;p37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</a:t>
            </a:r>
            <a:endParaRPr/>
          </a:p>
        </p:txBody>
      </p:sp>
      <p:sp>
        <p:nvSpPr>
          <p:cNvPr id="5492" name="Google Shape;5492;p37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493" name="Google Shape;5493;p37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5494" name="Google Shape;5494;p37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95" name="Google Shape;5495;p3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96" name="Google Shape;5496;p37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97" name="Google Shape;5497;p37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98" name="Google Shape;5498;p37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99" name="Google Shape;5499;p37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00" name="Google Shape;5500;p37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01" name="Google Shape;5501;p37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02" name="Google Shape;5502;p37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03" name="Google Shape;5503;p37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04" name="Google Shape;5504;p37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05" name="Google Shape;5505;p3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06" name="Google Shape;5506;p37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07" name="Google Shape;5507;p37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5508" name="Google Shape;5508;p37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5509" name="Google Shape;5509;p37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 quotes generated - active in pipeline</a:t>
            </a:r>
            <a:endParaRPr/>
          </a:p>
        </p:txBody>
      </p:sp>
      <p:sp>
        <p:nvSpPr>
          <p:cNvPr id="5510" name="Google Shape;5510;p37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11" name="Google Shape;5511;p37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5512" name="Google Shape;5512;p37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5513" name="Google Shape;5513;p3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written premium despite 1 submissions</a:t>
            </a:r>
            <a:endParaRPr/>
          </a:p>
        </p:txBody>
      </p:sp>
      <p:sp>
        <p:nvSpPr>
          <p:cNvPr id="5514" name="Google Shape;5514;p37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15" name="Google Shape;5515;p3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5516" name="Google Shape;5516;p37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5517" name="Google Shape;5517;p37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Open with a value-add: share a recent market update or new appetite expansion relevant to their book. Position yourself as a resource, not just a follow-up call.</a:t>
            </a:r>
            <a:endParaRPr/>
          </a:p>
        </p:txBody>
      </p:sp>
      <p:sp>
        <p:nvSpPr>
          <p:cNvPr id="5518" name="Google Shape;5518;p37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5519" name="Google Shape;5519;p37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Ask: "What's the biggest challenge in your trucking book right now?" Use their answer to tailor your next outreach with specific solutions.</a:t>
            </a:r>
            <a:endParaRPr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523" name="Shape 55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4" name="Google Shape;5524;p38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25" name="Google Shape;5525;p38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Rva Insurance Agency Inc</a:t>
            </a:r>
            <a:endParaRPr/>
          </a:p>
        </p:txBody>
      </p:sp>
      <p:sp>
        <p:nvSpPr>
          <p:cNvPr id="5526" name="Google Shape;5526;p38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West  |  State: N/A  |  City: N/A</a:t>
            </a:r>
            <a:endParaRPr/>
          </a:p>
        </p:txBody>
      </p:sp>
      <p:sp>
        <p:nvSpPr>
          <p:cNvPr id="5527" name="Google Shape;5527;p38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5528" name="Google Shape;5528;p38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5529" name="Google Shape;5529;p38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5530" name="Google Shape;5530;p38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5531" name="Google Shape;5531;p38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5532" name="Google Shape;5532;p38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5533" name="Google Shape;5533;p38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5534" name="Google Shape;5534;p38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5535" name="Google Shape;5535;p38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5536" name="Google Shape;5536;p38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537" name="Google Shape;5537;p38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538" name="Google Shape;5538;p38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5539" name="Google Shape;5539;p38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5540" name="Google Shape;5540;p38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41" name="Google Shape;5541;p3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5542" name="Google Shape;5542;p38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543" name="Google Shape;5543;p38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5544" name="Google Shape;5544;p38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5545" name="Google Shape;5545;p38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5546" name="Google Shape;5546;p38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5547" name="Google Shape;5547;p38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5548" name="Google Shape;5548;p38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49" name="Google Shape;5549;p38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5550" name="Google Shape;5550;p38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51" name="Google Shape;5551;p3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52" name="Google Shape;5552;p38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53" name="Google Shape;5553;p38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54" name="Google Shape;5554;p38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55" name="Google Shape;5555;p38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56" name="Google Shape;5556;p38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5557" name="Google Shape;5557;p38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58" name="Google Shape;5558;p38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59" name="Google Shape;5559;p38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60" name="Google Shape;5560;p38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61" name="Google Shape;5561;p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62" name="Google Shape;5562;p38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63" name="Google Shape;5563;p38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5564" name="Google Shape;5564;p38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65" name="Google Shape;5565;p38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66" name="Google Shape;5566;p38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67" name="Google Shape;5567;p38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68" name="Google Shape;5568;p38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69" name="Google Shape;5569;p38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70" name="Google Shape;5570;p38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5571" name="Google Shape;5571;p3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72" name="Google Shape;5572;p38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73" name="Google Shape;5573;p38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74" name="Google Shape;5574;p38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75" name="Google Shape;5575;p38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76" name="Google Shape;5576;p38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77" name="Google Shape;5577;p38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578" name="Google Shape;5578;p38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79" name="Google Shape;5579;p38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80" name="Google Shape;5580;p38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81" name="Google Shape;5581;p3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82" name="Google Shape;5582;p38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83" name="Google Shape;5583;p38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84" name="Google Shape;5584;p38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5585" name="Google Shape;5585;p38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86" name="Google Shape;5586;p38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87" name="Google Shape;5587;p38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88" name="Google Shape;5588;p38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89" name="Google Shape;5589;p38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90" name="Google Shape;5590;p38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91" name="Google Shape;5591;p3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5592" name="Google Shape;5592;p38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593" name="Google Shape;5593;p38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5594" name="Google Shape;5594;p3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5595" name="Google Shape;5595;p38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5596" name="Google Shape;5596;p38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597" name="Google Shape;5597;p38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598" name="Google Shape;5598;p38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99" name="Google Shape;5599;p38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5600" name="Google Shape;5600;p38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601" name="Google Shape;5601;p3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602" name="Google Shape;5602;p38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603" name="Google Shape;5603;p38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604" name="Google Shape;5604;p3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605" name="Google Shape;5605;p38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06" name="Google Shape;5606;p38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5607" name="Google Shape;5607;p38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608" name="Google Shape;5608;p38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609" name="Google Shape;5609;p38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610" name="Google Shape;5610;p38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611" name="Google Shape;5611;p3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612" name="Google Shape;5612;p38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13" name="Google Shape;5613;p38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5614" name="Google Shape;5614;p3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5615" name="Google Shape;5615;p38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616" name="Google Shape;5616;p38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5617" name="Google Shape;5617;p38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618" name="Google Shape;5618;p38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619" name="Google Shape;5619;p38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20" name="Google Shape;5620;p38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5621" name="Google Shape;5621;p3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5622" name="Google Shape;5622;p38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623" name="Google Shape;5623;p38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624" name="Google Shape;5624;p3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625" name="Google Shape;5625;p38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626" name="Google Shape;5626;p38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27" name="Google Shape;5627;p38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628" name="Google Shape;5628;p38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629" name="Google Shape;5629;p38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630" name="Google Shape;5630;p38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631" name="Google Shape;5631;p3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632" name="Google Shape;5632;p38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633" name="Google Shape;5633;p38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34" name="Google Shape;5634;p3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5635" name="Google Shape;5635;p38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5636" name="Google Shape;5636;p38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637" name="Google Shape;5637;p38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5638" name="Google Shape;5638;p38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639" name="Google Shape;5639;p38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640" name="Google Shape;5640;p38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41" name="Google Shape;5641;p3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5642" name="Google Shape;5642;p38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5643" name="Google Shape;5643;p38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5644" name="Google Shape;5644;p38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5645" name="Google Shape;5645;p38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5646" name="Google Shape;5646;p38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5647" name="Google Shape;5647;p38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5648" name="Google Shape;5648;p38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5649" name="Google Shape;5649;p38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5650" name="Google Shape;5650;p38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5651" name="Google Shape;5651;p3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5652" name="Google Shape;5652;p38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5653" name="Google Shape;5653;p38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5654" name="Google Shape;5654;p38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5655" name="Google Shape;5655;p38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5656" name="Google Shape;5656;p38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657" name="Google Shape;5657;p38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658" name="Google Shape;5658;p38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659" name="Google Shape;5659;p38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660" name="Google Shape;5660;p38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661" name="Google Shape;5661;p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5662" name="Google Shape;5662;p38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663" name="Google Shape;5663;p38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5664" name="Google Shape;5664;p38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665" name="Google Shape;5665;p38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666" name="Google Shape;5666;p38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667" name="Google Shape;5667;p38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5668" name="Google Shape;5668;p38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5669" name="Google Shape;5669;p38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70" name="Google Shape;5670;p38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71" name="Google Shape;5671;p3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72" name="Google Shape;5672;p38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73" name="Google Shape;5673;p38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74" name="Google Shape;5674;p38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75" name="Google Shape;5675;p38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76" name="Google Shape;5676;p38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77" name="Google Shape;5677;p38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78" name="Google Shape;5678;p38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79" name="Google Shape;5679;p38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80" name="Google Shape;5680;p38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81" name="Google Shape;5681;p3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82" name="Google Shape;5682;p38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5683" name="Google Shape;5683;p38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5684" name="Google Shape;5684;p38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 quotes generated - active in pipeline</a:t>
            </a:r>
            <a:endParaRPr/>
          </a:p>
        </p:txBody>
      </p:sp>
      <p:sp>
        <p:nvSpPr>
          <p:cNvPr id="5685" name="Google Shape;5685;p38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86" name="Google Shape;5686;p38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5687" name="Google Shape;5687;p38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5688" name="Google Shape;5688;p38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written premium despite 9 submissions</a:t>
            </a:r>
            <a:endParaRPr/>
          </a:p>
        </p:txBody>
      </p:sp>
      <p:sp>
        <p:nvSpPr>
          <p:cNvPr id="5689" name="Google Shape;5689;p3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5690" name="Google Shape;5690;p38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 submissions with zero binds - zero conversion</a:t>
            </a:r>
            <a:endParaRPr/>
          </a:p>
        </p:txBody>
      </p:sp>
      <p:sp>
        <p:nvSpPr>
          <p:cNvPr id="5691" name="Google Shape;5691;p3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92" name="Google Shape;5692;p38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5693" name="Google Shape;5693;p3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5694" name="Google Shape;5694;p38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Pull up their 6 recent quotes and review together. Ask: "Which of these were closest to binding?" Offer to re-quote or adjust terms on the most promising ones.</a:t>
            </a:r>
            <a:endParaRPr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698" name="Shape 56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9" name="Google Shape;5699;p39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00" name="Google Shape;5700;p39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Santa Fe Insurance Services</a:t>
            </a:r>
            <a:endParaRPr/>
          </a:p>
        </p:txBody>
      </p:sp>
      <p:sp>
        <p:nvSpPr>
          <p:cNvPr id="5701" name="Google Shape;5701;p39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5  |  Region: Southwest  |  State: CA  |  City: Los Ã�ngeles</a:t>
            </a:r>
            <a:endParaRPr/>
          </a:p>
        </p:txBody>
      </p:sp>
      <p:sp>
        <p:nvSpPr>
          <p:cNvPr id="5702" name="Google Shape;5702;p39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5703" name="Google Shape;5703;p39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5704" name="Google Shape;5704;p39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5705" name="Google Shape;5705;p39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5706" name="Google Shape;5706;p39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5707" name="Google Shape;5707;p39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5708" name="Google Shape;5708;p39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5709" name="Google Shape;5709;p39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5710" name="Google Shape;5710;p39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5711" name="Google Shape;5711;p39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712" name="Google Shape;5712;p39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713" name="Google Shape;5713;p39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5714" name="Google Shape;5714;p39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5715" name="Google Shape;5715;p39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16" name="Google Shape;5716;p39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5717" name="Google Shape;5717;p3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718" name="Google Shape;5718;p39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5719" name="Google Shape;5719;p39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5720" name="Google Shape;5720;p39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5721" name="Google Shape;5721;p39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5722" name="Google Shape;5722;p39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5723" name="Google Shape;5723;p39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24" name="Google Shape;5724;p39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5725" name="Google Shape;5725;p39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26" name="Google Shape;5726;p39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27" name="Google Shape;5727;p3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28" name="Google Shape;5728;p39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29" name="Google Shape;5729;p39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30" name="Google Shape;5730;p39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31" name="Google Shape;5731;p39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5732" name="Google Shape;5732;p39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33" name="Google Shape;5733;p39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34" name="Google Shape;5734;p39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35" name="Google Shape;5735;p39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36" name="Google Shape;5736;p39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37" name="Google Shape;5737;p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38" name="Google Shape;5738;p39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5739" name="Google Shape;5739;p39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40" name="Google Shape;5740;p39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41" name="Google Shape;5741;p39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42" name="Google Shape;5742;p39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43" name="Google Shape;5743;p39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44" name="Google Shape;5744;p39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45" name="Google Shape;5745;p39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5746" name="Google Shape;5746;p39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47" name="Google Shape;5747;p3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48" name="Google Shape;5748;p39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49" name="Google Shape;5749;p39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50" name="Google Shape;5750;p39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51" name="Google Shape;5751;p39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52" name="Google Shape;5752;p39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753" name="Google Shape;5753;p39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54" name="Google Shape;5754;p39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55" name="Google Shape;5755;p39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56" name="Google Shape;5756;p39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57" name="Google Shape;5757;p3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58" name="Google Shape;5758;p39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59" name="Google Shape;5759;p39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5760" name="Google Shape;5760;p39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61" name="Google Shape;5761;p39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62" name="Google Shape;5762;p39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63" name="Google Shape;5763;p39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64" name="Google Shape;5764;p39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65" name="Google Shape;5765;p39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66" name="Google Shape;5766;p39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5767" name="Google Shape;5767;p3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768" name="Google Shape;5768;p39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5769" name="Google Shape;5769;p39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5770" name="Google Shape;5770;p3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5771" name="Google Shape;5771;p39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772" name="Google Shape;5772;p39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773" name="Google Shape;5773;p39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74" name="Google Shape;5774;p39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5775" name="Google Shape;5775;p39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776" name="Google Shape;5776;p39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777" name="Google Shape;5777;p3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778" name="Google Shape;5778;p39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779" name="Google Shape;5779;p39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780" name="Google Shape;5780;p3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81" name="Google Shape;5781;p39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5782" name="Google Shape;5782;p39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783" name="Google Shape;5783;p39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784" name="Google Shape;5784;p39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785" name="Google Shape;5785;p39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786" name="Google Shape;5786;p39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787" name="Google Shape;5787;p3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88" name="Google Shape;5788;p39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5789" name="Google Shape;5789;p39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790" name="Google Shape;5790;p3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791" name="Google Shape;5791;p39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792" name="Google Shape;5792;p39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793" name="Google Shape;5793;p39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794" name="Google Shape;5794;p39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95" name="Google Shape;5795;p39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5796" name="Google Shape;5796;p39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797" name="Google Shape;5797;p3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798" name="Google Shape;5798;p39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799" name="Google Shape;5799;p39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800" name="Google Shape;5800;p3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801" name="Google Shape;5801;p39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02" name="Google Shape;5802;p39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803" name="Google Shape;5803;p39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804" name="Google Shape;5804;p39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805" name="Google Shape;5805;p39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806" name="Google Shape;5806;p39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807" name="Google Shape;5807;p3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808" name="Google Shape;5808;p39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09" name="Google Shape;5809;p39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5810" name="Google Shape;5810;p3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811" name="Google Shape;5811;p39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812" name="Google Shape;5812;p39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813" name="Google Shape;5813;p39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814" name="Google Shape;5814;p39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815" name="Google Shape;5815;p39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16" name="Google Shape;5816;p39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5817" name="Google Shape;5817;p3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5818" name="Google Shape;5818;p39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5819" name="Google Shape;5819;p39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5820" name="Google Shape;5820;p39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5821" name="Google Shape;5821;p39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5822" name="Google Shape;5822;p39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5823" name="Google Shape;5823;p39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5824" name="Google Shape;5824;p39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5825" name="Google Shape;5825;p39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5826" name="Google Shape;5826;p39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5827" name="Google Shape;5827;p3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5828" name="Google Shape;5828;p39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5829" name="Google Shape;5829;p39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5830" name="Google Shape;5830;p39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5831" name="Google Shape;5831;p39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832" name="Google Shape;5832;p39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833" name="Google Shape;5833;p39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834" name="Google Shape;5834;p39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835" name="Google Shape;5835;p39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836" name="Google Shape;5836;p39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837" name="Google Shape;5837;p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838" name="Google Shape;5838;p39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839" name="Google Shape;5839;p39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840" name="Google Shape;5840;p39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841" name="Google Shape;5841;p39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5842" name="Google Shape;5842;p39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843" name="Google Shape;5843;p39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5844" name="Google Shape;5844;p39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45" name="Google Shape;5845;p39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46" name="Google Shape;5846;p39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47" name="Google Shape;5847;p3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48" name="Google Shape;5848;p39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49" name="Google Shape;5849;p39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50" name="Google Shape;5850;p39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51" name="Google Shape;5851;p39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52" name="Google Shape;5852;p39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53" name="Google Shape;5853;p39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54" name="Google Shape;5854;p39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55" name="Google Shape;5855;p39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56" name="Google Shape;5856;p39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57" name="Google Shape;5857;p3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5858" name="Google Shape;5858;p39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5859" name="Google Shape;5859;p39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 quotes generated - active in pipeline</a:t>
            </a:r>
            <a:endParaRPr/>
          </a:p>
        </p:txBody>
      </p:sp>
      <p:sp>
        <p:nvSpPr>
          <p:cNvPr id="5860" name="Google Shape;5860;p39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61" name="Google Shape;5861;p39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5862" name="Google Shape;5862;p39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5863" name="Google Shape;5863;p39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written premium despite 2 submissions</a:t>
            </a:r>
            <a:endParaRPr/>
          </a:p>
        </p:txBody>
      </p:sp>
      <p:sp>
        <p:nvSpPr>
          <p:cNvPr id="5864" name="Google Shape;5864;p39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65" name="Google Shape;5865;p3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5866" name="Google Shape;5866;p39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5867" name="Google Shape;5867;p3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Open with a value-add: share a recent market update or new appetite expansion relevant to their book. Position yourself as a resource, not just a follow-up call.</a:t>
            </a:r>
            <a:endParaRPr/>
          </a:p>
        </p:txBody>
      </p:sp>
      <p:sp>
        <p:nvSpPr>
          <p:cNvPr id="5868" name="Google Shape;5868;p39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5869" name="Google Shape;5869;p39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Ask: "What's the biggest challenge in your trucking book right now?" Use their answer to tailor your next outreach with specific solutions.</a:t>
            </a:r>
            <a:endParaRPr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873" name="Shape 58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74" name="Google Shape;5874;p4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75" name="Google Shape;5875;p40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Tec Equipment, Inc.</a:t>
            </a:r>
            <a:endParaRPr/>
          </a:p>
        </p:txBody>
      </p:sp>
      <p:sp>
        <p:nvSpPr>
          <p:cNvPr id="5876" name="Google Shape;5876;p40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N/A  |  Region: Pacific Northwest  |  State: OR  |  City: Portland</a:t>
            </a:r>
            <a:endParaRPr/>
          </a:p>
        </p:txBody>
      </p:sp>
      <p:sp>
        <p:nvSpPr>
          <p:cNvPr id="5877" name="Google Shape;5877;p40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5878" name="Google Shape;5878;p40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5879" name="Google Shape;5879;p40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5880" name="Google Shape;5880;p40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5881" name="Google Shape;5881;p40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5882" name="Google Shape;5882;p40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5883" name="Google Shape;5883;p40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5884" name="Google Shape;5884;p40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5885" name="Google Shape;5885;p40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5886" name="Google Shape;5886;p40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887" name="Google Shape;5887;p40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888" name="Google Shape;5888;p40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5889" name="Google Shape;5889;p40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5890" name="Google Shape;5890;p40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91" name="Google Shape;5891;p40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5892" name="Google Shape;5892;p40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893" name="Google Shape;5893;p4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5894" name="Google Shape;5894;p40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5895" name="Google Shape;5895;p40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5896" name="Google Shape;5896;p40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5897" name="Google Shape;5897;p40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5898" name="Google Shape;5898;p40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99" name="Google Shape;5899;p40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5900" name="Google Shape;5900;p40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01" name="Google Shape;5901;p40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02" name="Google Shape;5902;p40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03" name="Google Shape;5903;p4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04" name="Google Shape;5904;p40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05" name="Google Shape;5905;p40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06" name="Google Shape;5906;p40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5907" name="Google Shape;5907;p40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08" name="Google Shape;5908;p40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09" name="Google Shape;5909;p40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10" name="Google Shape;5910;p40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11" name="Google Shape;5911;p40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12" name="Google Shape;5912;p40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13" name="Google Shape;5913;p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5914" name="Google Shape;5914;p40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15" name="Google Shape;5915;p40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16" name="Google Shape;5916;p40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17" name="Google Shape;5917;p40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18" name="Google Shape;5918;p40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19" name="Google Shape;5919;p40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20" name="Google Shape;5920;p40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5921" name="Google Shape;5921;p40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22" name="Google Shape;5922;p40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23" name="Google Shape;5923;p4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24" name="Google Shape;5924;p40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25" name="Google Shape;5925;p40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26" name="Google Shape;5926;p40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27" name="Google Shape;5927;p40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928" name="Google Shape;5928;p40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29" name="Google Shape;5929;p40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30" name="Google Shape;5930;p40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31" name="Google Shape;5931;p40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32" name="Google Shape;5932;p40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33" name="Google Shape;5933;p4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34" name="Google Shape;5934;p40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5935" name="Google Shape;5935;p40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36" name="Google Shape;5936;p40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37" name="Google Shape;5937;p40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38" name="Google Shape;5938;p40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39" name="Google Shape;5939;p40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40" name="Google Shape;5940;p40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41" name="Google Shape;5941;p40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5942" name="Google Shape;5942;p40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943" name="Google Shape;5943;p4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5944" name="Google Shape;5944;p40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5945" name="Google Shape;5945;p40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5946" name="Google Shape;5946;p4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947" name="Google Shape;5947;p40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948" name="Google Shape;5948;p40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49" name="Google Shape;5949;p40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5950" name="Google Shape;5950;p40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951" name="Google Shape;5951;p40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952" name="Google Shape;5952;p40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953" name="Google Shape;5953;p4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954" name="Google Shape;5954;p40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955" name="Google Shape;5955;p40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56" name="Google Shape;5956;p4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5957" name="Google Shape;5957;p40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958" name="Google Shape;5958;p40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959" name="Google Shape;5959;p40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960" name="Google Shape;5960;p40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961" name="Google Shape;5961;p40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962" name="Google Shape;5962;p40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63" name="Google Shape;5963;p4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5964" name="Google Shape;5964;p40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965" name="Google Shape;5965;p40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966" name="Google Shape;5966;p4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967" name="Google Shape;5967;p40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968" name="Google Shape;5968;p40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969" name="Google Shape;5969;p40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70" name="Google Shape;5970;p40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5971" name="Google Shape;5971;p40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972" name="Google Shape;5972;p40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973" name="Google Shape;5973;p4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974" name="Google Shape;5974;p40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975" name="Google Shape;5975;p40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976" name="Google Shape;5976;p4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77" name="Google Shape;5977;p40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978" name="Google Shape;5978;p40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5979" name="Google Shape;5979;p40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980" name="Google Shape;5980;p40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5981" name="Google Shape;5981;p40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982" name="Google Shape;5982;p40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983" name="Google Shape;5983;p4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84" name="Google Shape;5984;p40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5985" name="Google Shape;5985;p40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5986" name="Google Shape;5986;p4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987" name="Google Shape;5987;p40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5988" name="Google Shape;5988;p40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989" name="Google Shape;5989;p40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990" name="Google Shape;5990;p40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91" name="Google Shape;5991;p40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5992" name="Google Shape;5992;p40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5993" name="Google Shape;5993;p4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5994" name="Google Shape;5994;p40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5995" name="Google Shape;5995;p40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5996" name="Google Shape;5996;p40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5997" name="Google Shape;5997;p40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5998" name="Google Shape;5998;p40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5999" name="Google Shape;5999;p40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6000" name="Google Shape;6000;p40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6001" name="Google Shape;6001;p40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6002" name="Google Shape;6002;p40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6003" name="Google Shape;6003;p4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6004" name="Google Shape;6004;p40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6005" name="Google Shape;6005;p40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6006" name="Google Shape;6006;p40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007" name="Google Shape;6007;p40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008" name="Google Shape;6008;p40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009" name="Google Shape;6009;p40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010" name="Google Shape;6010;p40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011" name="Google Shape;6011;p40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012" name="Google Shape;6012;p40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013" name="Google Shape;6013;p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014" name="Google Shape;6014;p40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015" name="Google Shape;6015;p40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016" name="Google Shape;6016;p40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017" name="Google Shape;6017;p40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6018" name="Google Shape;6018;p40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6019" name="Google Shape;6019;p40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20" name="Google Shape;6020;p40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21" name="Google Shape;6021;p40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22" name="Google Shape;6022;p40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23" name="Google Shape;6023;p4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24" name="Google Shape;6024;p40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25" name="Google Shape;6025;p40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26" name="Google Shape;6026;p40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27" name="Google Shape;6027;p40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28" name="Google Shape;6028;p40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29" name="Google Shape;6029;p40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30" name="Google Shape;6030;p40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31" name="Google Shape;6031;p40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32" name="Google Shape;6032;p40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6033" name="Google Shape;6033;p4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6034" name="Google Shape;6034;p40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 quotes generated - active in pipeline</a:t>
            </a:r>
            <a:endParaRPr/>
          </a:p>
        </p:txBody>
      </p:sp>
      <p:sp>
        <p:nvSpPr>
          <p:cNvPr id="6035" name="Google Shape;6035;p40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36" name="Google Shape;6036;p40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6037" name="Google Shape;6037;p40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6038" name="Google Shape;6038;p40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written premium despite 5 submissions</a:t>
            </a:r>
            <a:endParaRPr/>
          </a:p>
        </p:txBody>
      </p:sp>
      <p:sp>
        <p:nvSpPr>
          <p:cNvPr id="6039" name="Google Shape;6039;p40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6040" name="Google Shape;6040;p40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 submissions with zero binds - zero conversion</a:t>
            </a:r>
            <a:endParaRPr/>
          </a:p>
        </p:txBody>
      </p:sp>
      <p:sp>
        <p:nvSpPr>
          <p:cNvPr id="6041" name="Google Shape;6041;p4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42" name="Google Shape;6042;p40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6043" name="Google Shape;6043;p4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6044" name="Google Shape;6044;p40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Pull up their 3 recent quotes and review together. Ask: "Which of these were closest to binding?" Offer to re-quote or adjust terms on the most promising ones.</a:t>
            </a:r>
            <a:endParaRPr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048" name="Shape 60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9" name="Google Shape;6049;p4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50" name="Google Shape;6050;p41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WHA Insurance</a:t>
            </a:r>
            <a:endParaRPr/>
          </a:p>
        </p:txBody>
      </p:sp>
      <p:sp>
        <p:nvSpPr>
          <p:cNvPr id="6051" name="Google Shape;6051;p41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West  |  State: OR  |  City: Eugene</a:t>
            </a:r>
            <a:endParaRPr/>
          </a:p>
        </p:txBody>
      </p:sp>
      <p:sp>
        <p:nvSpPr>
          <p:cNvPr id="6052" name="Google Shape;6052;p41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6053" name="Google Shape;6053;p41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6054" name="Google Shape;6054;p41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6055" name="Google Shape;6055;p41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6056" name="Google Shape;6056;p41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6057" name="Google Shape;6057;p41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6058" name="Google Shape;6058;p41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6059" name="Google Shape;6059;p41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6060" name="Google Shape;6060;p41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6061" name="Google Shape;6061;p41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6062" name="Google Shape;6062;p41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6063" name="Google Shape;6063;p41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6064" name="Google Shape;6064;p41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6065" name="Google Shape;6065;p41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66" name="Google Shape;6066;p41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6067" name="Google Shape;6067;p41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6068" name="Google Shape;6068;p41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6069" name="Google Shape;6069;p4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6070" name="Google Shape;6070;p41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6071" name="Google Shape;6071;p41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6072" name="Google Shape;6072;p41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6073" name="Google Shape;6073;p41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74" name="Google Shape;6074;p41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6075" name="Google Shape;6075;p41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76" name="Google Shape;6076;p41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77" name="Google Shape;6077;p41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78" name="Google Shape;6078;p41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79" name="Google Shape;6079;p4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80" name="Google Shape;6080;p41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81" name="Google Shape;6081;p41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6082" name="Google Shape;6082;p41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83" name="Google Shape;6083;p41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84" name="Google Shape;6084;p41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85" name="Google Shape;6085;p41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86" name="Google Shape;6086;p41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87" name="Google Shape;6087;p41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88" name="Google Shape;6088;p41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6089" name="Google Shape;6089;p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90" name="Google Shape;6090;p41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91" name="Google Shape;6091;p41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92" name="Google Shape;6092;p41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93" name="Google Shape;6093;p41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94" name="Google Shape;6094;p41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95" name="Google Shape;6095;p41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6096" name="Google Shape;6096;p41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97" name="Google Shape;6097;p41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98" name="Google Shape;6098;p41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99" name="Google Shape;6099;p4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00" name="Google Shape;6100;p41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01" name="Google Shape;6101;p41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02" name="Google Shape;6102;p41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6103" name="Google Shape;6103;p41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04" name="Google Shape;6104;p41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05" name="Google Shape;6105;p41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06" name="Google Shape;6106;p41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07" name="Google Shape;6107;p41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08" name="Google Shape;6108;p41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09" name="Google Shape;6109;p4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6110" name="Google Shape;6110;p41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11" name="Google Shape;6111;p41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12" name="Google Shape;6112;p41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13" name="Google Shape;6113;p41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14" name="Google Shape;6114;p41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15" name="Google Shape;6115;p41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16" name="Google Shape;6116;p41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6117" name="Google Shape;6117;p41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6118" name="Google Shape;6118;p41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6119" name="Google Shape;6119;p4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6120" name="Google Shape;6120;p41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6121" name="Google Shape;6121;p41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6122" name="Google Shape;6122;p4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6123" name="Google Shape;6123;p41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24" name="Google Shape;6124;p41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6125" name="Google Shape;6125;p41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126" name="Google Shape;6126;p41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127" name="Google Shape;6127;p41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128" name="Google Shape;6128;p41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129" name="Google Shape;6129;p4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130" name="Google Shape;6130;p41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31" name="Google Shape;6131;p41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6132" name="Google Shape;6132;p4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133" name="Google Shape;6133;p41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134" name="Google Shape;6134;p41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135" name="Google Shape;6135;p41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136" name="Google Shape;6136;p41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137" name="Google Shape;6137;p41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38" name="Google Shape;6138;p41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6139" name="Google Shape;6139;p4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6140" name="Google Shape;6140;p41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6141" name="Google Shape;6141;p41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6142" name="Google Shape;6142;p4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143" name="Google Shape;6143;p41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144" name="Google Shape;6144;p41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45" name="Google Shape;6145;p41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6146" name="Google Shape;6146;p41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</a:t>
            </a:r>
            <a:endParaRPr/>
          </a:p>
        </p:txBody>
      </p:sp>
      <p:sp>
        <p:nvSpPr>
          <p:cNvPr id="6147" name="Google Shape;6147;p41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148" name="Google Shape;6148;p41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6149" name="Google Shape;6149;p4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150" name="Google Shape;6150;p41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151" name="Google Shape;6151;p41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52" name="Google Shape;6152;p4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6153" name="Google Shape;6153;p41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6154" name="Google Shape;6154;p41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155" name="Google Shape;6155;p41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6156" name="Google Shape;6156;p41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157" name="Google Shape;6157;p41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158" name="Google Shape;6158;p41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59" name="Google Shape;6159;p4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6160" name="Google Shape;6160;p41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46</a:t>
            </a:r>
            <a:endParaRPr/>
          </a:p>
        </p:txBody>
      </p:sp>
      <p:sp>
        <p:nvSpPr>
          <p:cNvPr id="6161" name="Google Shape;6161;p41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6162" name="Google Shape;6162;p4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39</a:t>
            </a:r>
            <a:endParaRPr/>
          </a:p>
        </p:txBody>
      </p:sp>
      <p:sp>
        <p:nvSpPr>
          <p:cNvPr id="6163" name="Google Shape;6163;p41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164" name="Google Shape;6164;p41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165" name="Google Shape;6165;p41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66" name="Google Shape;6166;p41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6167" name="Google Shape;6167;p41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6168" name="Google Shape;6168;p41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6169" name="Google Shape;6169;p4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6170" name="Google Shape;6170;p41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6171" name="Google Shape;6171;p41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6172" name="Google Shape;6172;p41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6173" name="Google Shape;6173;p41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6174" name="Google Shape;6174;p41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6175" name="Google Shape;6175;p41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6176" name="Google Shape;6176;p41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6177" name="Google Shape;6177;p41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6178" name="Google Shape;6178;p41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6179" name="Google Shape;6179;p4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6180" name="Google Shape;6180;p41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6181" name="Google Shape;6181;p41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182" name="Google Shape;6182;p41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183" name="Google Shape;6183;p41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184" name="Google Shape;6184;p41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185" name="Google Shape;6185;p41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186" name="Google Shape;6186;p41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6187" name="Google Shape;6187;p41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188" name="Google Shape;6188;p41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</a:t>
            </a:r>
            <a:endParaRPr/>
          </a:p>
        </p:txBody>
      </p:sp>
      <p:sp>
        <p:nvSpPr>
          <p:cNvPr id="6189" name="Google Shape;6189;p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190" name="Google Shape;6190;p41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6191" name="Google Shape;6191;p41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192" name="Google Shape;6192;p41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46</a:t>
            </a:r>
            <a:endParaRPr/>
          </a:p>
        </p:txBody>
      </p:sp>
      <p:sp>
        <p:nvSpPr>
          <p:cNvPr id="6193" name="Google Shape;6193;p41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6194" name="Google Shape;6194;p41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95" name="Google Shape;6195;p41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96" name="Google Shape;6196;p41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97" name="Google Shape;6197;p41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98" name="Google Shape;6198;p41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99" name="Google Shape;6199;p4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200" name="Google Shape;6200;p41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201" name="Google Shape;6201;p41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202" name="Google Shape;6202;p41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203" name="Google Shape;6203;p41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204" name="Google Shape;6204;p41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205" name="Google Shape;6205;p41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206" name="Google Shape;6206;p41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07" name="Google Shape;6207;p41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6208" name="Google Shape;6208;p41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6209" name="Google Shape;6209;p4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46 submissions - highly active agency</a:t>
            </a:r>
            <a:endParaRPr/>
          </a:p>
        </p:txBody>
      </p:sp>
      <p:sp>
        <p:nvSpPr>
          <p:cNvPr id="6210" name="Google Shape;6210;p41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6211" name="Google Shape;6211;p41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 quotes generated - active in pipeline</a:t>
            </a:r>
            <a:endParaRPr/>
          </a:p>
        </p:txBody>
      </p:sp>
      <p:sp>
        <p:nvSpPr>
          <p:cNvPr id="6212" name="Google Shape;6212;p41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13" name="Google Shape;6213;p41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6214" name="Google Shape;6214;p41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6215" name="Google Shape;6215;p41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written premium despite 46 submissions</a:t>
            </a:r>
            <a:endParaRPr/>
          </a:p>
        </p:txBody>
      </p:sp>
      <p:sp>
        <p:nvSpPr>
          <p:cNvPr id="6216" name="Google Shape;6216;p41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6217" name="Google Shape;6217;p41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46 submissions with zero binds - zero conversion</a:t>
            </a:r>
            <a:endParaRPr/>
          </a:p>
        </p:txBody>
      </p:sp>
      <p:sp>
        <p:nvSpPr>
          <p:cNvPr id="6218" name="Google Shape;6218;p41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19" name="Google Shape;6219;p4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6220" name="Google Shape;6220;p41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6221" name="Google Shape;6221;p4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Review their 46 quoted-not-bound submissions together. Ask which quotes were close and what competitors offered - identifies specific pricing or appetite gaps to escalate internally.</a:t>
            </a:r>
            <a:endParaRPr/>
          </a:p>
        </p:txBody>
      </p:sp>
      <p:sp>
        <p:nvSpPr>
          <p:cNvPr id="6222" name="Google Shape;6222;p41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6223" name="Google Shape;6223;p4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Pull up their 33 recent quotes and review together. Ask: "Which of these were closest to binding?" Offer to re-quote or adjust terms on the most promising ones.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</cp:coreProperties>
</file>