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</p:sldIdLst>
  <p:sldSz cy="6858000" cx="12191675"/>
  <p:notesSz cx="6858000" cy="9144000"/>
  <p:embeddedFontLst>
    <p:embeddedFont>
      <p:font typeface="Quattrocento Sans"/>
      <p:regular r:id="rId68"/>
      <p:bold r:id="rId69"/>
      <p:italic r:id="rId70"/>
      <p:boldItalic r:id="rId7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2" roundtripDataSignature="AMtx7mgL5co30yIHbuqsAJqFUAIi/noZ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2" Type="http://customschemas.google.com/relationships/presentationmetadata" Target="meta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QuattrocentoSans-boldItalic.fntdata"/><Relationship Id="rId70" Type="http://schemas.openxmlformats.org/officeDocument/2006/relationships/font" Target="fonts/QuattrocentoSans-italic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font" Target="fonts/QuattrocentoSans-regular.fntdata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QuattrocentoSans-bold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" name="Google Shape;80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6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8" name="Google Shape;114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7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9" name="Google Shape;119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5" name="Google Shape;124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9" name="Google Shape;128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2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6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8" name="Google Shape;162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3" name="Google Shape;165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8" name="Shape 1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Google Shape;182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0" name="Google Shape;183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5" name="Shape 2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6" name="Google Shape;200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7" name="Google Shape;200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4" name="Shape 2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" name="Google Shape;218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6" name="Google Shape;2186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3" name="Shape 2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Google Shape;236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5" name="Google Shape;2365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0" name="Shape 2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Google Shape;254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2" name="Google Shape;2542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7" name="Shape 2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Google Shape;271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9" name="Google Shape;2719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4" name="Shape 2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5" name="Google Shape;2895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6" name="Google Shape;2896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1" name="Shape 3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" name="Google Shape;307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3" name="Google Shape;3073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0" name="Shape 3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1" name="Google Shape;325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2" name="Google Shape;3252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7" name="Shape 3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8" name="Google Shape;3428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9" name="Google Shape;3429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4" name="Shape 3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5" name="Google Shape;3605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6" name="Google Shape;3606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3" name="Shape 3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4" name="Google Shape;3784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5" name="Google Shape;3785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0" name="Shape 3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1" name="Google Shape;3961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2" name="Google Shape;3962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9" name="Shape 4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0" name="Google Shape;4140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1" name="Google Shape;4141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8" name="Shape 4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9" name="Google Shape;4319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0" name="Google Shape;4320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7" name="Shape 4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8" name="Google Shape;4498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9" name="Google Shape;4499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4" name="Shape 4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5" name="Google Shape;4675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6" name="Google Shape;4676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3" name="Shape 4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4" name="Google Shape;4854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5" name="Google Shape;4855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2" name="Shape 5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3" name="Google Shape;5033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4" name="Google Shape;5034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9" name="Shape 5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0" name="Google Shape;5210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1" name="Google Shape;5211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8" name="Shape 5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9" name="Google Shape;5389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0" name="Google Shape;5390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7" name="Shape 5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8" name="Google Shape;5568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9" name="Google Shape;5569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4" name="Shape 5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5" name="Google Shape;5745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6" name="Google Shape;5746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3" name="Shape 5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4" name="Google Shape;5924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5" name="Google Shape;5925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0" name="Shape 6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1" name="Google Shape;6101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2" name="Google Shape;6102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9" name="Shape 6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0" name="Google Shape;6280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1" name="Google Shape;6281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6" name="Shape 6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7" name="Google Shape;6457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8" name="Google Shape;6458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1" name="Shape 6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2" name="Google Shape;6632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3" name="Google Shape;6633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6" name="Shape 6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7" name="Google Shape;6807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8" name="Google Shape;6808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5" name="Shape 6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6" name="Google Shape;6986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7" name="Google Shape;6987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0" name="Shape 7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1" name="Google Shape;7161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2" name="Google Shape;7162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9" name="Shape 7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0" name="Google Shape;7340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1" name="Google Shape;7341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6" name="Shape 7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7" name="Google Shape;7517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8" name="Google Shape;7518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5" name="Shape 7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6" name="Google Shape;7696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7" name="Google Shape;7697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70" name="Shape 7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1" name="Google Shape;7871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2" name="Google Shape;7872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3" name="Shape 8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4" name="Google Shape;8044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5" name="Google Shape;8045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18" name="Shape 8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9" name="Google Shape;8219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0" name="Google Shape;8220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93" name="Shape 8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4" name="Google Shape;8394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95" name="Google Shape;8395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2" name="Shape 8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3" name="Google Shape;8573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74" name="Google Shape;8574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47" name="Shape 8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8" name="Google Shape;8748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49" name="Google Shape;8749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4" name="Shape 8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5" name="Google Shape;8925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26" name="Google Shape;8926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7" name="Shape 9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8" name="Google Shape;9098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9" name="Google Shape;9099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4" name="Shape 9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5" name="Google Shape;9275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6" name="Google Shape;9276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49" name="Shape 9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0" name="Google Shape;9450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1" name="Google Shape;9451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28" name="Shape 9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9" name="Google Shape;9629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0" name="Google Shape;9630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07" name="Shape 9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8" name="Google Shape;9808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9" name="Google Shape;9809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6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20, 2026  |  48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48 Total Agencies  |  47 Active  |  1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$2,141,336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$1,607,621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$365,394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$168,321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$-439,990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$3,874,286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$4,045,336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$4,649,143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$291,782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$1,505,316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$453,747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$112,504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204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$341,815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$318,123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221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$232,246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520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413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$223,662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$94,239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$97,665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$56,397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$43,548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$44,479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$888,857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$157,607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480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$643,860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$413,481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447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$622,513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$263,948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548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$832,522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$493,369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$370,229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$279,217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323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$2,141,336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$1,607,621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2237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(1)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Trinity Ins Services Llc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Cameron Brader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4" name="Google Shape;284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98.3</a:t>
            </a:r>
            <a:endParaRPr/>
          </a:p>
        </p:txBody>
      </p:sp>
      <p:sp>
        <p:nvSpPr>
          <p:cNvPr id="286" name="Google Shape;286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7" name="Google Shape;287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8" name="Google Shape;288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1" name="Google Shape;291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2" name="Google Shape;292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3" name="Google Shape;293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+64%</a:t>
            </a:r>
            <a:endParaRPr/>
          </a:p>
        </p:txBody>
      </p:sp>
      <p:sp>
        <p:nvSpPr>
          <p:cNvPr id="294" name="Google Shape;294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7" name="Google Shape;297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299" name="Google Shape;299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95%</a:t>
            </a:r>
            <a:endParaRPr/>
          </a:p>
        </p:txBody>
      </p:sp>
      <p:sp>
        <p:nvSpPr>
          <p:cNvPr id="300" name="Google Shape;300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3" name="Google Shape;303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4" name="Google Shape;304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 of 48 agencies  |  Goal 75%</a:t>
            </a:r>
            <a:endParaRPr/>
          </a:p>
        </p:txBody>
      </p:sp>
      <p:sp>
        <p:nvSpPr>
          <p:cNvPr id="305" name="Google Shape;305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98%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Cameron Brader</a:t>
            </a:r>
            <a:endParaRPr/>
          </a:p>
        </p:txBody>
      </p:sp>
      <p:sp>
        <p:nvSpPr>
          <p:cNvPr id="313" name="Google Shape;313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4" name="Google Shape;314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848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5" name="Google Shape;315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6" name="Google Shape;316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879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1–10  (Jan–Mar)</a:t>
            </a:r>
            <a:endParaRPr/>
          </a:p>
        </p:txBody>
      </p:sp>
      <p:sp>
        <p:nvSpPr>
          <p:cNvPr id="321" name="Google Shape;321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2" name="Google Shape;322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3" name="Google Shape;323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27" name="Google Shape;327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1" name="Google Shape;331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3" name="Google Shape;333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36" name="Google Shape;336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39" name="Google Shape;339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" name="Google Shape;341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78%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344" name="Google Shape;344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47" name="Google Shape;347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" name="Google Shape;349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52" name="Google Shape;352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" name="Google Shape;357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102%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60" name="Google Shape;360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5" name="Google Shape;365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134%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68" name="Google Shape;368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3" name="Google Shape;373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104%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76" name="Google Shape;376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79" name="Google Shape;379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1" name="Google Shape;381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80%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384" name="Google Shape;384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87" name="Google Shape;387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9" name="Google Shape;389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2" name="Google Shape;392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5" name="Google Shape;395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" name="Google Shape;397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00" name="Google Shape;400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3" name="Google Shape;403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5" name="Google Shape;405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54%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8" name="Google Shape;408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11–20  (Mar–May)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16" name="Google Shape;416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20" name="Google Shape;420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54%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5" name="Google Shape;425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28" name="Google Shape;428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" name="Google Shape;430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3" name="Google Shape;433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6" name="Google Shape;436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8" name="Google Shape;438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41" name="Google Shape;441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4" name="Google Shape;444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6" name="Google Shape;446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9" name="Google Shape;449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2" name="Google Shape;452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4" name="Google Shape;454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57" name="Google Shape;457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0" name="Google Shape;460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2" name="Google Shape;462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76%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65" name="Google Shape;465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68" name="Google Shape;468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0" name="Google Shape;470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3" name="Google Shape;473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6" name="Google Shape;476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8" name="Google Shape;478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106%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1" name="Google Shape;481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4" name="Google Shape;484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6" name="Google Shape;486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89" name="Google Shape;489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5/18–5/20*</a:t>
            </a:r>
            <a:endParaRPr/>
          </a:p>
        </p:txBody>
      </p:sp>
      <p:sp>
        <p:nvSpPr>
          <p:cNvPr id="492" name="Google Shape;492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4" name="Google Shape;494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26%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Cameron Brader</a:t>
            </a:r>
            <a:endParaRPr/>
          </a:p>
        </p:txBody>
      </p:sp>
      <p:sp>
        <p:nvSpPr>
          <p:cNvPr id="504" name="Google Shape;504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05" name="Google Shape;505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8152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06" name="Google Shape;506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07" name="Google Shape;507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8" name="Google Shape;508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+270.7%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09" name="Google Shape;509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0" name="Google Shape;510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2" name="Google Shape;512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3" name="Google Shape;513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14" name="Google Shape;514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16" name="Google Shape;516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1" name="Google Shape;521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2,497</a:t>
            </a:r>
            <a:endParaRPr/>
          </a:p>
        </p:txBody>
      </p:sp>
      <p:sp>
        <p:nvSpPr>
          <p:cNvPr id="522" name="Google Shape;522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439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+469%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2,292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305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+651%</a:t>
            </a:r>
            <a:endParaRPr/>
          </a:p>
        </p:txBody>
      </p:sp>
      <p:sp>
        <p:nvSpPr>
          <p:cNvPr id="532" name="Google Shape;532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2,534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533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+375%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6.6%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491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+5%</a:t>
            </a:r>
            <a:endParaRPr/>
          </a:p>
        </p:txBody>
      </p:sp>
      <p:sp>
        <p:nvSpPr>
          <p:cNvPr id="545" name="Google Shape;545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431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-27%</a:t>
            </a:r>
            <a:endParaRPr/>
          </a:p>
        </p:txBody>
      </p:sp>
      <p:sp>
        <p:nvSpPr>
          <p:cNvPr id="552" name="Google Shape;552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8,152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2,199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+271%</a:t>
            </a:r>
            <a:endParaRPr/>
          </a:p>
        </p:txBody>
      </p:sp>
      <p:sp>
        <p:nvSpPr>
          <p:cNvPr id="559" name="Google Shape;559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66" name="Google Shape;566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520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71" name="Google Shape;571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-348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+280</a:t>
            </a:r>
            <a:endParaRPr/>
          </a:p>
        </p:txBody>
      </p:sp>
      <p:sp>
        <p:nvSpPr>
          <p:cNvPr id="578" name="Google Shape;578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204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+112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+22</a:t>
            </a:r>
            <a:endParaRPr/>
          </a:p>
        </p:txBody>
      </p:sp>
      <p:sp>
        <p:nvSpPr>
          <p:cNvPr id="589" name="Google Shape;589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+49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Insurance, 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+49</a:t>
            </a:r>
            <a:endParaRPr/>
          </a:p>
        </p:txBody>
      </p:sp>
      <p:sp>
        <p:nvSpPr>
          <p:cNvPr id="600" name="Google Shape;600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-59</a:t>
            </a:r>
            <a:endParaRPr/>
          </a:p>
        </p:txBody>
      </p:sp>
      <p:sp>
        <p:nvSpPr>
          <p:cNvPr id="611" name="Google Shape;611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+58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</a:t>
            </a:r>
            <a:endParaRPr/>
          </a:p>
        </p:txBody>
      </p:sp>
      <p:sp>
        <p:nvSpPr>
          <p:cNvPr id="622" name="Google Shape;622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+20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+46</a:t>
            </a:r>
            <a:endParaRPr/>
          </a:p>
        </p:txBody>
      </p:sp>
      <p:sp>
        <p:nvSpPr>
          <p:cNvPr id="633" name="Google Shape;633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+41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+27</a:t>
            </a:r>
            <a:endParaRPr/>
          </a:p>
        </p:txBody>
      </p:sp>
      <p:sp>
        <p:nvSpPr>
          <p:cNvPr id="644" name="Google Shape;644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+39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-15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2" name="Google Shape;662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48 Total Agencies  |  Jan–May 2026</a:t>
            </a:r>
            <a:endParaRPr/>
          </a:p>
        </p:txBody>
      </p:sp>
      <p:sp>
        <p:nvSpPr>
          <p:cNvPr id="663" name="Google Shape;663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5" name="Google Shape;665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66" name="Google Shape;666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67" name="Google Shape;667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8" name="Google Shape;668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69" name="Google Shape;669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0" name="Google Shape;670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$888,857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$157,607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$-63,069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480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682" name="Google Shape;682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$643,860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$413,481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$-183,739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447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296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$622,513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$263,948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$41,383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$-91,138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548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381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701" name="Google Shape;701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$832,522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$493,369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$186,013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$-6,570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379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$370,229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$279,217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$121,391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$-95,474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323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720" name="Google Shape;720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$3,357,982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$1,607,621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$365,394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$-439,990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2,333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1,642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Cameron Brader</a:t>
            </a:r>
            <a:endParaRPr/>
          </a:p>
        </p:txBody>
      </p:sp>
      <p:sp>
        <p:nvSpPr>
          <p:cNvPr id="736" name="Google Shape;736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37" name="Google Shape;737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38" name="Google Shape;738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39" name="Google Shape;739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0" name="Google Shape;740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1" name="Google Shape;741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3" name="Google Shape;743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44" name="Google Shape;744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5" name="Google Shape;745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46" name="Google Shape;746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48" name="Google Shape;748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49" name="Google Shape;749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751" name="Google Shape;751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52" name="Google Shape;752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53" name="Google Shape;753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62" name="Google Shape;762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Mcculloh Insurance Group LLC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5" name="Google Shape;775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 LLC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Insurance, LLC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8" name="Google Shape;788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PA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Cameron Brader</a:t>
            </a:r>
            <a:endParaRPr/>
          </a:p>
        </p:txBody>
      </p:sp>
      <p:sp>
        <p:nvSpPr>
          <p:cNvPr id="807" name="Google Shape;807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08" name="Google Shape;808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09" name="Google Shape;809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0" name="Google Shape;810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$1,957,427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1" name="Google Shape;811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2" name="Google Shape;812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14" name="Google Shape;814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15" name="Google Shape;815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6" name="Google Shape;816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17" name="Google Shape;817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19" name="Google Shape;819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821" name="Google Shape;821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822" name="Google Shape;822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3" name="Google Shape;823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824" name="Google Shape;824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$228,422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$247,954</a:t>
            </a:r>
            <a:endParaRPr/>
          </a:p>
        </p:txBody>
      </p:sp>
      <p:sp>
        <p:nvSpPr>
          <p:cNvPr id="830" name="Google Shape;830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1" name="Google Shape;841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$145,448</a:t>
            </a:r>
            <a:endParaRPr/>
          </a:p>
        </p:txBody>
      </p:sp>
      <p:sp>
        <p:nvSpPr>
          <p:cNvPr id="852" name="Google Shape;852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$63,149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46.2%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$1,004,689</a:t>
            </a:r>
            <a:endParaRPr/>
          </a:p>
        </p:txBody>
      </p:sp>
      <p:sp>
        <p:nvSpPr>
          <p:cNvPr id="863" name="Google Shape;863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(55%)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(33%)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(10%)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8.3%  ·  Declined: 74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Cameron Brader</a:t>
            </a:r>
            <a:endParaRPr/>
          </a:p>
        </p:txBody>
      </p:sp>
      <p:sp>
        <p:nvSpPr>
          <p:cNvPr id="887" name="Google Shape;887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88" name="Google Shape;888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89" name="Google Shape;889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0" name="Google Shape;890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1" name="Google Shape;891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2" name="Google Shape;892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3" name="Google Shape;893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895" name="Google Shape;895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896" name="Google Shape;896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97" name="Google Shape;897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9" name="Google Shape;899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1" name="Google Shape;901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DeSantis</a:t>
            </a:r>
            <a:endParaRPr/>
          </a:p>
        </p:txBody>
      </p:sp>
      <p:sp>
        <p:nvSpPr>
          <p:cNvPr id="904" name="Google Shape;904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905" name="Google Shape;905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517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5" name="Google Shape;915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 Shvedov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Roman Ben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8" name="Google Shape;928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Holly Fawber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1" name="Google Shape;941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Zabala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4" name="Google Shape;954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Bolormaa C Ganbileg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Henry Cifuentes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67" name="Google Shape;967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Aaron Rickabaugh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Nikitas Kasiotis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0" name="Google Shape;980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ALAIN SOLANO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Lakeisha Mclawhorn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3" name="Google Shape;993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Rudy Suarez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6" name="Google Shape;1006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Dominguez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Benjamin Brown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Rose Insurance Llc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9" name="Google Shape;1019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27" name="Google Shape;1027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Donald N Mcculloh</a:t>
            </a:r>
            <a:endParaRPr/>
          </a:p>
        </p:txBody>
      </p:sp>
      <p:sp>
        <p:nvSpPr>
          <p:cNvPr id="1030" name="Google Shape;1030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Mcculloh Insurance Group LLC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Brittany Smith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41" name="Google Shape;1041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Gary McCarthy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Deven Kumm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54" name="Google Shape;1054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Timathee Asshur Ryazanov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Insurance Group Inc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Cade Erwin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7" name="Google Shape;1067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Nestor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Yervand Ter-Ghahramanyan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0" name="Google Shape;1080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Laramie Smith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Fdi Management Group, Inc.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Darrell Rawlinson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93" name="Google Shape;1093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" name="Google Shape;1094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Del Carmen Rodrigu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Forward Insurance Group Ll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Armenakian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06" name="Google Shape;1106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Anyelo Gonzalez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Enver Berker Hazar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Hazar Financial Services LLC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9" name="Google Shape;1119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0" name="Google Shape;1120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Milena Belorusets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Zurab Arsamakov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32" name="Google Shape;1132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Mullary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Insurance Connectio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Avra Aubin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Owners Liability Team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2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2" name="Google Shape;1152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3" name="Google Shape;1153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55" name="Google Shape;1155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6" name="Google Shape;1156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57" name="Google Shape;1157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58" name="Google Shape;1158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159" name="Google Shape;1159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$341,815  |  Subs 303  |  Binds 21  |  HR 6.9%</a:t>
            </a:r>
            <a:endParaRPr/>
          </a:p>
        </p:txBody>
      </p:sp>
      <p:sp>
        <p:nvSpPr>
          <p:cNvPr id="1160" name="Google Shape;1160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6.9% (portfolio avg: 4.2%)  |  $341,815 YTD GWP</a:t>
            </a:r>
            <a:endParaRPr/>
          </a:p>
        </p:txBody>
      </p:sp>
      <p:sp>
        <p:nvSpPr>
          <p:cNvPr id="1161" name="Google Shape;1161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2" name="Google Shape;1162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$453,747  |  Subs 204  |  Binds 9  |  HR 4.4%</a:t>
            </a:r>
            <a:endParaRPr/>
          </a:p>
        </p:txBody>
      </p:sp>
      <p:sp>
        <p:nvSpPr>
          <p:cNvPr id="1164" name="Google Shape;1164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4.4% (portfolio avg: 4.2%)  |  $453,747 YTD GWP</a:t>
            </a:r>
            <a:endParaRPr/>
          </a:p>
        </p:txBody>
      </p:sp>
      <p:sp>
        <p:nvSpPr>
          <p:cNvPr id="1165" name="Google Shape;1165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66" name="Google Shape;1166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167" name="Google Shape;1167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$232,246  |  Subs 520  |  Binds 8  |  HR 1.5%</a:t>
            </a:r>
            <a:endParaRPr/>
          </a:p>
        </p:txBody>
      </p:sp>
      <p:sp>
        <p:nvSpPr>
          <p:cNvPr id="1168" name="Google Shape;1168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$232,246 YTD GWP  |  8 binds in Q1</a:t>
            </a:r>
            <a:endParaRPr/>
          </a:p>
        </p:txBody>
      </p:sp>
      <p:sp>
        <p:nvSpPr>
          <p:cNvPr id="1169" name="Google Shape;1169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$41,306  |  Subs 41  |  Binds 8  |  HR 19.5%</a:t>
            </a:r>
            <a:endParaRPr/>
          </a:p>
        </p:txBody>
      </p:sp>
      <p:sp>
        <p:nvSpPr>
          <p:cNvPr id="1172" name="Google Shape;1172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19.5% (portfolio avg: 4.2%)  |  8 binds in Q1</a:t>
            </a:r>
            <a:endParaRPr/>
          </a:p>
        </p:txBody>
      </p:sp>
      <p:sp>
        <p:nvSpPr>
          <p:cNvPr id="1173" name="Google Shape;1173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$223,662  |  Subs 26  |  Binds 3  |  HR 11.5%</a:t>
            </a:r>
            <a:endParaRPr/>
          </a:p>
        </p:txBody>
      </p:sp>
      <p:sp>
        <p:nvSpPr>
          <p:cNvPr id="1176" name="Google Shape;1176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11.5% (portfolio avg: 4.2%)  |  $223,662 YTD GWP</a:t>
            </a:r>
            <a:endParaRPr/>
          </a:p>
        </p:txBody>
      </p:sp>
      <p:sp>
        <p:nvSpPr>
          <p:cNvPr id="1177" name="Google Shape;1177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84  |  Binds 0  |  HR 0.0%</a:t>
            </a:r>
            <a:endParaRPr/>
          </a:p>
        </p:txBody>
      </p:sp>
      <p:sp>
        <p:nvSpPr>
          <p:cNvPr id="1180" name="Google Shape;1180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 submissions with 0 binds - zero conversion  |  56 quotes generated but 0 converted to binds</a:t>
            </a:r>
            <a:endParaRPr/>
          </a:p>
        </p:txBody>
      </p:sp>
      <p:sp>
        <p:nvSpPr>
          <p:cNvPr id="1181" name="Google Shape;1181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$23,279  |  Subs 43  |  Binds 2  |  HR 4.7%</a:t>
            </a:r>
            <a:endParaRPr/>
          </a:p>
        </p:txBody>
      </p:sp>
      <p:sp>
        <p:nvSpPr>
          <p:cNvPr id="1184" name="Google Shape;1184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963% of new business ($26,230 vs $2,722)</a:t>
            </a:r>
            <a:endParaRPr/>
          </a:p>
        </p:txBody>
      </p:sp>
      <p:sp>
        <p:nvSpPr>
          <p:cNvPr id="1185" name="Google Shape;1185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$21,797  |  Subs 44  |  Binds 0  |  HR 0.0%</a:t>
            </a:r>
            <a:endParaRPr/>
          </a:p>
        </p:txBody>
      </p:sp>
      <p:sp>
        <p:nvSpPr>
          <p:cNvPr id="1188" name="Google Shape;1188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 submissions with 0 binds - zero conversion  |  Submissions dropped 62% MoM (16 -&gt; 6)</a:t>
            </a:r>
            <a:endParaRPr/>
          </a:p>
        </p:txBody>
      </p:sp>
      <p:sp>
        <p:nvSpPr>
          <p:cNvPr id="1189" name="Google Shape;1189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$-680  |  Subs 49  |  Binds 0  |  HR 0.0%</a:t>
            </a:r>
            <a:endParaRPr/>
          </a:p>
        </p:txBody>
      </p:sp>
      <p:sp>
        <p:nvSpPr>
          <p:cNvPr id="1192" name="Google Shape;1192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 submissions with 0 binds - zero conversion  |  Negative net written premium: $-680</a:t>
            </a:r>
            <a:endParaRPr/>
          </a:p>
        </p:txBody>
      </p:sp>
      <p:sp>
        <p:nvSpPr>
          <p:cNvPr id="1193" name="Google Shape;1193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Rose Insurance Llc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39  |  Binds 0  |  HR 0.0%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submissions with 0 binds - zero conversion  |  Submissions dropped 62% MoM (8 -&gt; 3)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0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2" name="Google Shape;1202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Cameron Brader</a:t>
            </a:r>
            <a:endParaRPr/>
          </a:p>
        </p:txBody>
      </p:sp>
      <p:sp>
        <p:nvSpPr>
          <p:cNvPr id="1203" name="Google Shape;1203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04" name="Google Shape;1204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05" name="Google Shape;1205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06" name="Google Shape;1206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07" name="Google Shape;1207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08" name="Google Shape;1208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09" name="Google Shape;1209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3/3 appointed agencies have submitted (100%)  •  1/3 have bound (33%)  •  Total bound: 8  •  Total GWP: $33,015</a:t>
            </a:r>
            <a:endParaRPr/>
          </a:p>
        </p:txBody>
      </p:sp>
      <p:sp>
        <p:nvSpPr>
          <p:cNvPr id="1210" name="Google Shape;1210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2" name="Google Shape;1212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15" name="Google Shape;1215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16" name="Google Shape;1216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17" name="Google Shape;1217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19" name="Google Shape;1219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0" name="Google Shape;1220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Crotty Insurance Agency, Inc.</a:t>
            </a:r>
            <a:endParaRPr/>
          </a:p>
        </p:txBody>
      </p:sp>
      <p:sp>
        <p:nvSpPr>
          <p:cNvPr id="1221" name="Google Shape;1221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2026-03-31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27d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2026-03-24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230" name="Google Shape;1230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13d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14d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$33,015</a:t>
            </a:r>
            <a:endParaRPr/>
          </a:p>
        </p:txBody>
      </p:sp>
      <p:sp>
        <p:nvSpPr>
          <p:cNvPr id="1234" name="Google Shape;1234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New Rochelle Agencies Corp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2026-03-11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49" name="Google Shape;1249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Portfolio  |  Jan–May 2026  |  Strengths, gaps, and ranked action items</a:t>
            </a:r>
            <a:endParaRPr/>
          </a:p>
        </p:txBody>
      </p:sp>
      <p:sp>
        <p:nvSpPr>
          <p:cNvPr id="1250" name="Google Shape;1250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52" name="Google Shape;1252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53" name="Google Shape;1253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(World Insurance Associate, Transportation Risk Manag, Bond Insurance Brokerage ) drive $1,027,808 (48%) of portfolio YTD GWP</a:t>
            </a:r>
            <a:endParaRPr/>
          </a:p>
        </p:txBody>
      </p:sp>
      <p:sp>
        <p:nvSpPr>
          <p:cNvPr id="1254" name="Google Shape;1254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55" name="Google Shape;1255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M G I Brokerage Inc (40.0%), Michael Pigott Agenc (33.3%), Jabbarco Insurance G (19.5%)</a:t>
            </a:r>
            <a:endParaRPr/>
          </a:p>
        </p:txBody>
      </p:sp>
      <p:sp>
        <p:nvSpPr>
          <p:cNvPr id="1256" name="Google Shape;1256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57" name="Google Shape;1257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 agencies converting submissions to bound business in Jan–May 2026</a:t>
            </a:r>
            <a:endParaRPr/>
          </a:p>
        </p:txBody>
      </p:sp>
      <p:sp>
        <p:nvSpPr>
          <p:cNvPr id="1258" name="Google Shape;1258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59" name="Google Shape;1259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2,237 total submissions across 47 active agencies</a:t>
            </a:r>
            <a:endParaRPr/>
          </a:p>
        </p:txBody>
      </p:sp>
      <p:sp>
        <p:nvSpPr>
          <p:cNvPr id="1260" name="Google Shape;1260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62" name="Google Shape;1262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agencies with zero Jan–May 2026 activity: Trinity Ins Services</a:t>
            </a:r>
            <a:endParaRPr/>
          </a:p>
        </p:txBody>
      </p:sp>
      <p:sp>
        <p:nvSpPr>
          <p:cNvPr id="1264" name="Google Shape;1264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65" name="Google Shape;1265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agencies submitting but 0 binds (351 subs): Gia Group Llc (84), Z&amp;H Brokerage Inc (49)</a:t>
            </a:r>
            <a:endParaRPr/>
          </a:p>
        </p:txBody>
      </p:sp>
      <p:sp>
        <p:nvSpPr>
          <p:cNvPr id="1266" name="Google Shape;1266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67" name="Google Shape;1267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Bond Insurance Broke (1.5%), Lux Insurance Llc (2.2%), My Va Insurance Llc (2.2%)</a:t>
            </a:r>
            <a:endParaRPr/>
          </a:p>
        </p:txBody>
      </p:sp>
      <p:sp>
        <p:nvSpPr>
          <p:cNvPr id="1268" name="Google Shape;1268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69" name="Google Shape;1269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4.2% — below 5-8% target</a:t>
            </a:r>
            <a:endParaRPr/>
          </a:p>
        </p:txBody>
      </p:sp>
      <p:sp>
        <p:nvSpPr>
          <p:cNvPr id="1270" name="Google Shape;1270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1" name="Google Shape;1271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72" name="Google Shape;1272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73" name="Google Shape;1273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74" name="Google Shape;1274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agencies have 240 quotes but 0 binds: Gia Group Llc (56q), Z&amp;H Brokerage Inc (38q), Argos Insurance Group, Ll (32q). Follow up on pricing, coverage, response time gaps.</a:t>
            </a:r>
            <a:endParaRPr/>
          </a:p>
        </p:txBody>
      </p:sp>
      <p:sp>
        <p:nvSpPr>
          <p:cNvPr id="1275" name="Google Shape;1275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76" name="Google Shape;1276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277" name="Google Shape;1277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agencies with 30+ subs and some binds but &lt;5% HR: Bond Insurance Broke (520s/8b), World Insurance Asso (204s/9b), AGS Insurance Group  (78s/3b). Small HR improvements on large volume = significant premium lift.</a:t>
            </a:r>
            <a:endParaRPr/>
          </a:p>
        </p:txBody>
      </p:sp>
      <p:sp>
        <p:nvSpPr>
          <p:cNvPr id="1278" name="Google Shape;1278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agencies with 20+ subs but &lt;3% HR: Bond Insurance Broke (1.5%), Lux Insurance Llc (2.2%), My Va Insurance Llc (2.2%). Conduct submission quality training to lift conversion 2-3 points.</a:t>
            </a:r>
            <a:endParaRPr/>
          </a:p>
        </p:txBody>
      </p:sp>
      <p:sp>
        <p:nvSpPr>
          <p:cNvPr id="1281" name="Google Shape;1281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83" name="Google Shape;1283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4.2% (93 binds / 2,237 subs). Need 18 more binds. Focus on submission quality and appetite education.</a:t>
            </a:r>
            <a:endParaRPr/>
          </a:p>
        </p:txBody>
      </p:sp>
      <p:sp>
        <p:nvSpPr>
          <p:cNvPr id="1284" name="Google Shape;1284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Convert Zero-Bind Agencies</a:t>
            </a:r>
            <a:endParaRPr/>
          </a:p>
        </p:txBody>
      </p:sp>
      <p:sp>
        <p:nvSpPr>
          <p:cNvPr id="1286" name="Google Shape;1286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agencies with 312 submissions but 0 binds. Top: Gia Group Llc (84), Z&amp;H Brokerage Inc (49), Argos Insurance Group, Ll (44). Even 5% conversion = ~$234,000 new premium.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0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2" name="Google Shape;1292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293" name="Google Shape;1293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Last 25 Bound Submissions  |  93 Total Bound in Portfolio</a:t>
            </a:r>
            <a:endParaRPr/>
          </a:p>
        </p:txBody>
      </p:sp>
      <p:sp>
        <p:nvSpPr>
          <p:cNvPr id="1294" name="Google Shape;1294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295" name="Google Shape;1295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296" name="Google Shape;1296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97" name="Google Shape;1297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298" name="Google Shape;1298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299" name="Google Shape;1299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00" name="Google Shape;1300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01" name="Google Shape;1301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2" name="Google Shape;1302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03" name="Google Shape;1303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265926486466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305" name="Google Shape;1305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BUROQ LLC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$21,270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09" name="Google Shape;1309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0" name="Google Shape;1310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264570908915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SMART DELIVERY AND COURIER SERVI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 Shvedov</a:t>
            </a:r>
            <a:endParaRPr/>
          </a:p>
        </p:txBody>
      </p:sp>
      <p:sp>
        <p:nvSpPr>
          <p:cNvPr id="1315" name="Google Shape;1315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$23,344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252618525256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MANNNYS TRUCKING LLC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DeSantis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$25,870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24" name="Google Shape;1324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5" name="Google Shape;1325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253445080668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 &amp; J EXPRESS LLC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Deven Kumm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$12,076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251723976240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5150 LOGISTICS LLC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Zachary Wagner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$19,239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39" name="Google Shape;1339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260819829513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BERWINE LOGISTIC LLC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$19,684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262924661783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 TRIPLE D LOGISTICS LLC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$3,185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54" name="Google Shape;1354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265900046429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RB TRUCKING AND LOGISTICS LLC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Nestor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$45,528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260964878942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gyng logistics llc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Craig Erwin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$3,186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69" name="Google Shape;1369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0" name="Google Shape;1370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266802150889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BROSKEE TRANSPORT LLC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Edwin Ramos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$24,618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266557195862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ASY TRUCKING LLC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Cade Erwin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$43,631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384" name="Google Shape;1384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5" name="Google Shape;1385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264497790274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Hazar Financial Services LLC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WILD TURKEY TRUCKING LLC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Enver Berker Hazar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$17,124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258460674396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ASP TRANSPORT LLC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399" name="Google Shape;1399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0" name="Google Shape;1400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263461522795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HALIM DESIGN LLC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$8,217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267195806734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MONDFRUIT GROUP CORP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Lakeisha Mclawhorn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$21,216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01, 2026</a:t>
            </a:r>
            <a:endParaRPr/>
          </a:p>
        </p:txBody>
      </p:sp>
      <p:sp>
        <p:nvSpPr>
          <p:cNvPr id="1414" name="Google Shape;1414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5" name="Google Shape;1415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263337182051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AUGUSTA TRANSPORT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266027929393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HIGHLINE AUTO TRANSPORT LLC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Jeffery Scafuro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$40,831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429" name="Google Shape;1429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0" name="Google Shape;1430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265127943011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SOA MOTIONS LLC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$24,695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261153401288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AGRON TRANSPORT LLC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Holly Bedisky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444" name="Google Shape;1444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5" name="Google Shape;1445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251752181717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EXPRESS CARRIER CORP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$28,434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255142717595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C&amp;C TRUCKING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DeSantis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$8,382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27, 2026</a:t>
            </a:r>
            <a:endParaRPr/>
          </a:p>
        </p:txBody>
      </p:sp>
      <p:sp>
        <p:nvSpPr>
          <p:cNvPr id="1459" name="Google Shape;1459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0" name="Google Shape;1460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263399061819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TOLIBJON KLICHEV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$3,058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25, 2026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269899045609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PARVIZ TOSHEV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$2,944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474" name="Google Shape;1474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5" name="Google Shape;1475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263609980665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FAKHRI TOKHIROV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$3,093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23, 2026</a:t>
            </a:r>
            <a:endParaRPr/>
          </a:p>
        </p:txBody>
      </p:sp>
      <p:sp>
        <p:nvSpPr>
          <p:cNvPr id="1482" name="Google Shape;1482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83" name="Google Shape;1483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266824266188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EXPRESS INC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$2,822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23, 2026</a:t>
            </a:r>
            <a:endParaRPr/>
          </a:p>
        </p:txBody>
      </p:sp>
      <p:sp>
        <p:nvSpPr>
          <p:cNvPr id="1489" name="Google Shape;1489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0" name="Google Shape;1490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$453,698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5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7" name="Google Shape;1497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498" name="Google Shape;1498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Active in-force policies expiring through Aug 18, 2026</a:t>
            </a:r>
            <a:endParaRPr/>
          </a:p>
        </p:txBody>
      </p:sp>
      <p:sp>
        <p:nvSpPr>
          <p:cNvPr id="1499" name="Google Shape;1499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00" name="Google Shape;1500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$185,545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01" name="Google Shape;1501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02" name="Google Shape;1502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03" name="Google Shape;1503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04" name="Google Shape;1504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06" name="Google Shape;1506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07" name="Google Shape;1507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08" name="Google Shape;1508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09" name="Google Shape;1509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10" name="Google Shape;1510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11" name="Google Shape;1511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12" name="Google Shape;1512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13" name="Google Shape;1513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14" name="Google Shape;1514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5" name="Google Shape;1515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1516" name="Google Shape;1516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257131475515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LIVE &amp; SURVIVE TRUCKING LLC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$7,315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23" name="Google Shape;1523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Integrated Insurance Solutions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255177671722</a:t>
            </a:r>
            <a:endParaRPr/>
          </a:p>
        </p:txBody>
      </p:sp>
      <p:sp>
        <p:nvSpPr>
          <p:cNvPr id="1525" name="Google Shape;1525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W EXPRESS INC</a:t>
            </a:r>
            <a:endParaRPr/>
          </a:p>
        </p:txBody>
      </p:sp>
      <p:sp>
        <p:nvSpPr>
          <p:cNvPr id="1526" name="Google Shape;1526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2026-05-24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$38,599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MD</a:t>
            </a:r>
            <a:endParaRPr/>
          </a:p>
        </p:txBody>
      </p:sp>
      <p:sp>
        <p:nvSpPr>
          <p:cNvPr id="1531" name="Google Shape;1531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2" name="Google Shape;1532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251697655578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RN TRANSPORT SERVICE INC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2026-06-04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15d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$13,052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MD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250942353301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LJP BOX TRUCK LLC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2026-06-12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23d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$23,912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48" name="Google Shape;1548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255235012023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CROSSWAY GROUP LLC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2026-06-17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28d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Forward Insurance Group Ll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259847234487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 &amp; VENTURA TRUCKING LLC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31d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$10,706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65" name="Google Shape;1565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6" name="Google Shape;1566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253494692346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 TRANSPORTATION INC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2026-06-24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35d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$1,980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254008084121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EAST DA WEST LLC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41d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$1,012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82" name="Google Shape;1582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3" name="Google Shape;1583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255036814038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DIXON SOLUTIONS LLC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41d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$24,407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256291836103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393 ROADWAYS LLC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2026-07-10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51d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$8,017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599" name="Google Shape;1599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255142717595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CYNTHIA VILLANUEVA ROSALES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2026-07-20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61d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$8,184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254237412721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 LINING TRANSPORTATION INC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2026-07-30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71d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16" name="Google Shape;1616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7" name="Google Shape;1617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258788926265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TOP NOTCH INC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2026-07-31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72d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3" name="Google Shape;1623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$10,430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20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9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1" name="Google Shape;1631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32" name="Google Shape;1632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Policies with cancellation_date on or before Aug 18, 2026  |  Sorted by urgency — call these agencies first</a:t>
            </a:r>
            <a:endParaRPr/>
          </a:p>
        </p:txBody>
      </p:sp>
      <p:sp>
        <p:nvSpPr>
          <p:cNvPr id="1633" name="Google Shape;1633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34" name="Google Shape;1634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35" name="Google Shape;1635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36" name="Google Shape;1636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37" name="Google Shape;1637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38" name="Google Shape;1638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9" name="Google Shape;1639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40" name="Google Shape;1640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41" name="Google Shape;1641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42" name="Google Shape;1642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43" name="Google Shape;1643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44" name="Google Shape;1644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45" name="Google Shape;1645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46" name="Google Shape;1646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47" name="Google Shape;1647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48" name="Google Shape;1648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49" name="Google Shape;1649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50" name="Google Shape;1650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6" name="Google Shape;1656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657" name="Google Shape;1657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Blackwood</a:t>
            </a:r>
            <a:endParaRPr/>
          </a:p>
        </p:txBody>
      </p:sp>
      <p:sp>
        <p:nvSpPr>
          <p:cNvPr id="1658" name="Google Shape;1658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$453,747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59" name="Google Shape;1659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60" name="Google Shape;1660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$112,504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61" name="Google Shape;1661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62" name="Google Shape;1662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$-206,433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63" name="Google Shape;1663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$347,667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64" name="Google Shape;1664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$543,375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65" name="Google Shape;1665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66" name="Google Shape;1666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67" name="Google Shape;1667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68" name="Google Shape;1668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69" name="Google Shape;1669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70" name="Google Shape;1670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$162,668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71" name="Google Shape;1671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73" name="Google Shape;1673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74" name="Google Shape;1674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75" name="Google Shape;1675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76" name="Google Shape;1676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77" name="Google Shape;1677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78" name="Google Shape;1678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79" name="Google Shape;1679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81" name="Google Shape;1681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$29,618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$29,618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84" name="Google Shape;1684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85" name="Google Shape;1685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86" name="Google Shape;1686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7" name="Google Shape;1687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88" name="Google Shape;1688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$159,295</a:t>
            </a:r>
            <a:endParaRPr/>
          </a:p>
        </p:txBody>
      </p:sp>
      <p:sp>
        <p:nvSpPr>
          <p:cNvPr id="1689" name="Google Shape;1689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$159,295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1" name="Google Shape;1691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2" name="Google Shape;1692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$-159,111</a:t>
            </a:r>
            <a:endParaRPr/>
          </a:p>
        </p:txBody>
      </p:sp>
      <p:sp>
        <p:nvSpPr>
          <p:cNvPr id="1693" name="Google Shape;1693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4" name="Google Shape;1694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695" name="Google Shape;1695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$33,592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$35,011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$-1,419</a:t>
            </a:r>
            <a:endParaRPr/>
          </a:p>
        </p:txBody>
      </p:sp>
      <p:sp>
        <p:nvSpPr>
          <p:cNvPr id="1699" name="Google Shape;1699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$-13,395</a:t>
            </a:r>
            <a:endParaRPr/>
          </a:p>
        </p:txBody>
      </p:sp>
      <p:sp>
        <p:nvSpPr>
          <p:cNvPr id="1700" name="Google Shape;1700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02" name="Google Shape;1702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$68,459</a:t>
            </a:r>
            <a:endParaRPr/>
          </a:p>
        </p:txBody>
      </p:sp>
      <p:sp>
        <p:nvSpPr>
          <p:cNvPr id="1703" name="Google Shape;1703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$54,413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$13,172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$874</a:t>
            </a:r>
            <a:endParaRPr/>
          </a:p>
        </p:txBody>
      </p:sp>
      <p:sp>
        <p:nvSpPr>
          <p:cNvPr id="1706" name="Google Shape;1706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07" name="Google Shape;1707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8" name="Google Shape;1708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09" name="Google Shape;1709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$162,783</a:t>
            </a:r>
            <a:endParaRPr/>
          </a:p>
        </p:txBody>
      </p:sp>
      <p:sp>
        <p:nvSpPr>
          <p:cNvPr id="1710" name="Google Shape;1710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$62,722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$99,332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$729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$-33,927</a:t>
            </a:r>
            <a:endParaRPr/>
          </a:p>
        </p:txBody>
      </p:sp>
      <p:sp>
        <p:nvSpPr>
          <p:cNvPr id="1714" name="Google Shape;1714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5" name="Google Shape;1715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16" name="Google Shape;1716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$453,747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$112,504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$-206,433</a:t>
            </a:r>
            <a:endParaRPr/>
          </a:p>
        </p:txBody>
      </p:sp>
      <p:sp>
        <p:nvSpPr>
          <p:cNvPr id="1721" name="Google Shape;1721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2" name="Google Shape;1722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23" name="Google Shape;1723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28" name="Google Shape;1728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29" name="Google Shape;1729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0" name="Google Shape;1730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736" name="Google Shape;1736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739" name="Google Shape;1739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1743" name="Google Shape;1743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4" name="Google Shape;1744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750" name="Google Shape;1750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1757" name="Google Shape;1757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8" name="Google Shape;1758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764" name="Google Shape;1764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5" name="Google Shape;1765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204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1771" name="Google Shape;1771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2" name="Google Shape;1772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74" name="Google Shape;1774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78" name="Google Shape;1778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795" name="Google Shape;1795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211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$159K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$133K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$163K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$258K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$454K</a:t>
            </a:r>
            <a:endParaRPr/>
          </a:p>
        </p:txBody>
      </p:sp>
      <p:sp>
        <p:nvSpPr>
          <p:cNvPr id="1812" name="Google Shape;1812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3" name="Google Shape;1813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$453,747 YTD gross written premium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 in new business production</a:t>
            </a:r>
            <a:endParaRPr/>
          </a:p>
        </p:txBody>
      </p:sp>
      <p:sp>
        <p:nvSpPr>
          <p:cNvPr id="1818" name="Google Shape;1818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61% of new business ($206,433)</a:t>
            </a:r>
            <a:endParaRPr/>
          </a:p>
        </p:txBody>
      </p:sp>
      <p:sp>
        <p:nvSpPr>
          <p:cNvPr id="1822" name="Google Shape;1822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3" name="Google Shape;1823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$341,058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$206,433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1" name="Shape 1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Google Shape;1832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3" name="Google Shape;1833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834" name="Google Shape;1834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Kearny</a:t>
            </a:r>
            <a:endParaRPr/>
          </a:p>
        </p:txBody>
      </p:sp>
      <p:sp>
        <p:nvSpPr>
          <p:cNvPr id="1835" name="Google Shape;1835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$341,815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36" name="Google Shape;1836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37" name="Google Shape;1837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38" name="Google Shape;1838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39" name="Google Shape;1839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$-47,167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40" name="Google Shape;1840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41" name="Google Shape;1841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$558,325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42" name="Google Shape;1842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43" name="Google Shape;1843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44" name="Google Shape;1844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45" name="Google Shape;1845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46" name="Google Shape;1846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47" name="Google Shape;1847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$456,550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48" name="Google Shape;1848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50" name="Google Shape;1850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51" name="Google Shape;1851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52" name="Google Shape;1852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53" name="Google Shape;1853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54" name="Google Shape;1854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55" name="Google Shape;1855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56" name="Google Shape;1856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58" name="Google Shape;1858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$4,218</a:t>
            </a:r>
            <a:endParaRPr/>
          </a:p>
        </p:txBody>
      </p:sp>
      <p:sp>
        <p:nvSpPr>
          <p:cNvPr id="1859" name="Google Shape;1859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$4,218</a:t>
            </a:r>
            <a:endParaRPr/>
          </a:p>
        </p:txBody>
      </p:sp>
      <p:sp>
        <p:nvSpPr>
          <p:cNvPr id="1860" name="Google Shape;1860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1" name="Google Shape;1861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2" name="Google Shape;1862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3" name="Google Shape;1863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4" name="Google Shape;1864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65" name="Google Shape;1865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$121,720</a:t>
            </a:r>
            <a:endParaRPr/>
          </a:p>
        </p:txBody>
      </p:sp>
      <p:sp>
        <p:nvSpPr>
          <p:cNvPr id="1866" name="Google Shape;1866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$119,353</a:t>
            </a:r>
            <a:endParaRPr/>
          </a:p>
        </p:txBody>
      </p:sp>
      <p:sp>
        <p:nvSpPr>
          <p:cNvPr id="1867" name="Google Shape;1867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8" name="Google Shape;1868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$2,367</a:t>
            </a:r>
            <a:endParaRPr/>
          </a:p>
        </p:txBody>
      </p:sp>
      <p:sp>
        <p:nvSpPr>
          <p:cNvPr id="1869" name="Google Shape;1869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0" name="Google Shape;1870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1" name="Google Shape;1871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72" name="Google Shape;1872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$69,884</a:t>
            </a:r>
            <a:endParaRPr/>
          </a:p>
        </p:txBody>
      </p:sp>
      <p:sp>
        <p:nvSpPr>
          <p:cNvPr id="1873" name="Google Shape;1873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$48,457</a:t>
            </a:r>
            <a:endParaRPr/>
          </a:p>
        </p:txBody>
      </p:sp>
      <p:sp>
        <p:nvSpPr>
          <p:cNvPr id="1874" name="Google Shape;1874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$21,427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$-47,167</a:t>
            </a:r>
            <a:endParaRPr/>
          </a:p>
        </p:txBody>
      </p:sp>
      <p:sp>
        <p:nvSpPr>
          <p:cNvPr id="1877" name="Google Shape;1877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8" name="Google Shape;1878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$104,790</a:t>
            </a:r>
            <a:endParaRPr/>
          </a:p>
        </p:txBody>
      </p:sp>
      <p:sp>
        <p:nvSpPr>
          <p:cNvPr id="1880" name="Google Shape;1880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$104,892</a:t>
            </a:r>
            <a:endParaRPr/>
          </a:p>
        </p:txBody>
      </p:sp>
      <p:sp>
        <p:nvSpPr>
          <p:cNvPr id="1881" name="Google Shape;1881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82" name="Google Shape;1882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84" name="Google Shape;1884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5" name="Google Shape;1885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86" name="Google Shape;1886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$41,202</a:t>
            </a:r>
            <a:endParaRPr/>
          </a:p>
        </p:txBody>
      </p:sp>
      <p:sp>
        <p:nvSpPr>
          <p:cNvPr id="1887" name="Google Shape;1887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$41,202</a:t>
            </a:r>
            <a:endParaRPr/>
          </a:p>
        </p:txBody>
      </p:sp>
      <p:sp>
        <p:nvSpPr>
          <p:cNvPr id="1888" name="Google Shape;1888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89" name="Google Shape;1889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1" name="Google Shape;1891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2" name="Google Shape;1892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93" name="Google Shape;1893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$341,815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$318,123</a:t>
            </a:r>
            <a:endParaRPr/>
          </a:p>
        </p:txBody>
      </p:sp>
      <p:sp>
        <p:nvSpPr>
          <p:cNvPr id="1895" name="Google Shape;1895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$23,692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$-47,167</a:t>
            </a:r>
            <a:endParaRPr/>
          </a:p>
        </p:txBody>
      </p:sp>
      <p:sp>
        <p:nvSpPr>
          <p:cNvPr id="1898" name="Google Shape;1898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9" name="Google Shape;1899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00" name="Google Shape;1900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02" name="Google Shape;1902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06" name="Google Shape;1906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7" name="Google Shape;1907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909" name="Google Shape;1909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1913" name="Google Shape;1913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4" name="Google Shape;1914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918" name="Google Shape;1918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8.2%</a:t>
            </a:r>
            <a:endParaRPr/>
          </a:p>
        </p:txBody>
      </p:sp>
      <p:sp>
        <p:nvSpPr>
          <p:cNvPr id="1920" name="Google Shape;1920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1927" name="Google Shape;1927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8" name="Google Shape;1928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1934" name="Google Shape;1934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5" name="Google Shape;1935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1941" name="Google Shape;1941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1948" name="Google Shape;1948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9" name="Google Shape;1949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51" name="Google Shape;1951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56" name="Google Shape;1956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969" name="Google Shape;1969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315</a:t>
            </a:r>
            <a:endParaRPr/>
          </a:p>
        </p:txBody>
      </p:sp>
      <p:sp>
        <p:nvSpPr>
          <p:cNvPr id="1976" name="Google Shape;1976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$122K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$342K</a:t>
            </a:r>
            <a:endParaRPr/>
          </a:p>
        </p:txBody>
      </p:sp>
      <p:sp>
        <p:nvSpPr>
          <p:cNvPr id="1989" name="Google Shape;1989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92" name="Google Shape;1992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$341,815 YTD gross written premium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$318,123 in new business production</a:t>
            </a:r>
            <a:endParaRPr/>
          </a:p>
        </p:txBody>
      </p:sp>
      <p:sp>
        <p:nvSpPr>
          <p:cNvPr id="1995" name="Google Shape;1995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61% month-over-month</a:t>
            </a:r>
            <a:endParaRPr/>
          </a:p>
        </p:txBody>
      </p:sp>
      <p:sp>
        <p:nvSpPr>
          <p:cNvPr id="1999" name="Google Shape;1999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0" name="Google Shape;2000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$318,123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8" name="Shape 2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9" name="Google Shape;2009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2011" name="Google Shape;2011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NY  |  City: New York</a:t>
            </a:r>
            <a:endParaRPr/>
          </a:p>
        </p:txBody>
      </p:sp>
      <p:sp>
        <p:nvSpPr>
          <p:cNvPr id="2012" name="Google Shape;2012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$232,246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13" name="Google Shape;2013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14" name="Google Shape;2014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15" name="Google Shape;2015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$70,754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16" name="Google Shape;2016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$-68,684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17" name="Google Shape;2017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$1,015,457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18" name="Google Shape;2018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$685,009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19" name="Google Shape;2019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20" name="Google Shape;2020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21" name="Google Shape;2021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22" name="Google Shape;2022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23" name="Google Shape;2023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24" name="Google Shape;2024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$177,430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25" name="Google Shape;2025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6" name="Google Shape;2026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27" name="Google Shape;2027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28" name="Google Shape;2028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29" name="Google Shape;2029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30" name="Google Shape;2030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31" name="Google Shape;2031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32" name="Google Shape;2032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33" name="Google Shape;2033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4" name="Google Shape;2034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35" name="Google Shape;2035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$103,317</a:t>
            </a:r>
            <a:endParaRPr/>
          </a:p>
        </p:txBody>
      </p:sp>
      <p:sp>
        <p:nvSpPr>
          <p:cNvPr id="2036" name="Google Shape;2036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$82,529</a:t>
            </a:r>
            <a:endParaRPr/>
          </a:p>
        </p:txBody>
      </p:sp>
      <p:sp>
        <p:nvSpPr>
          <p:cNvPr id="2037" name="Google Shape;2037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8" name="Google Shape;2038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$20,788</a:t>
            </a:r>
            <a:endParaRPr/>
          </a:p>
        </p:txBody>
      </p:sp>
      <p:sp>
        <p:nvSpPr>
          <p:cNvPr id="2039" name="Google Shape;2039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$-36,989</a:t>
            </a:r>
            <a:endParaRPr/>
          </a:p>
        </p:txBody>
      </p:sp>
      <p:sp>
        <p:nvSpPr>
          <p:cNvPr id="2040" name="Google Shape;2040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1" name="Google Shape;2041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42" name="Google Shape;2042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$463</a:t>
            </a:r>
            <a:endParaRPr/>
          </a:p>
        </p:txBody>
      </p:sp>
      <p:sp>
        <p:nvSpPr>
          <p:cNvPr id="2043" name="Google Shape;2043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044" name="Google Shape;2044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5" name="Google Shape;2045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</a:t>
            </a:r>
            <a:endParaRPr/>
          </a:p>
        </p:txBody>
      </p:sp>
      <p:sp>
        <p:nvSpPr>
          <p:cNvPr id="2046" name="Google Shape;2046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$-6,764</a:t>
            </a:r>
            <a:endParaRPr/>
          </a:p>
        </p:txBody>
      </p:sp>
      <p:sp>
        <p:nvSpPr>
          <p:cNvPr id="2047" name="Google Shape;2047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8" name="Google Shape;2048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49" name="Google Shape;2049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$36,655</a:t>
            </a:r>
            <a:endParaRPr/>
          </a:p>
        </p:txBody>
      </p:sp>
      <p:sp>
        <p:nvSpPr>
          <p:cNvPr id="2050" name="Google Shape;2050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1" name="Google Shape;2051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</p:txBody>
      </p:sp>
      <p:sp>
        <p:nvSpPr>
          <p:cNvPr id="2052" name="Google Shape;2052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$15,386</a:t>
            </a:r>
            <a:endParaRPr/>
          </a:p>
        </p:txBody>
      </p:sp>
      <p:sp>
        <p:nvSpPr>
          <p:cNvPr id="2053" name="Google Shape;2053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$-14,145</a:t>
            </a:r>
            <a:endParaRPr/>
          </a:p>
        </p:txBody>
      </p:sp>
      <p:sp>
        <p:nvSpPr>
          <p:cNvPr id="2054" name="Google Shape;2054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5" name="Google Shape;2055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$74,756</a:t>
            </a:r>
            <a:endParaRPr/>
          </a:p>
        </p:txBody>
      </p:sp>
      <p:sp>
        <p:nvSpPr>
          <p:cNvPr id="2057" name="Google Shape;2057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$57,145</a:t>
            </a:r>
            <a:endParaRPr/>
          </a:p>
        </p:txBody>
      </p:sp>
      <p:sp>
        <p:nvSpPr>
          <p:cNvPr id="2058" name="Google Shape;2058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9" name="Google Shape;2059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$17,612</a:t>
            </a:r>
            <a:endParaRPr/>
          </a:p>
        </p:txBody>
      </p:sp>
      <p:sp>
        <p:nvSpPr>
          <p:cNvPr id="2060" name="Google Shape;2060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$-2,111</a:t>
            </a:r>
            <a:endParaRPr/>
          </a:p>
        </p:txBody>
      </p:sp>
      <p:sp>
        <p:nvSpPr>
          <p:cNvPr id="2061" name="Google Shape;2061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2" name="Google Shape;2062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63" name="Google Shape;2063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$17,055</a:t>
            </a:r>
            <a:endParaRPr/>
          </a:p>
        </p:txBody>
      </p:sp>
      <p:sp>
        <p:nvSpPr>
          <p:cNvPr id="2064" name="Google Shape;2064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5" name="Google Shape;2065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6" name="Google Shape;2066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$17,055</a:t>
            </a:r>
            <a:endParaRPr/>
          </a:p>
        </p:txBody>
      </p:sp>
      <p:sp>
        <p:nvSpPr>
          <p:cNvPr id="2067" name="Google Shape;2067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$-8,675</a:t>
            </a:r>
            <a:endParaRPr/>
          </a:p>
        </p:txBody>
      </p:sp>
      <p:sp>
        <p:nvSpPr>
          <p:cNvPr id="2068" name="Google Shape;2068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9" name="Google Shape;2069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$232,246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$70,754</a:t>
            </a:r>
            <a:endParaRPr/>
          </a:p>
        </p:txBody>
      </p:sp>
      <p:sp>
        <p:nvSpPr>
          <p:cNvPr id="2074" name="Google Shape;2074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$-68,684</a:t>
            </a:r>
            <a:endParaRPr/>
          </a:p>
        </p:txBody>
      </p:sp>
      <p:sp>
        <p:nvSpPr>
          <p:cNvPr id="2075" name="Google Shape;2075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6" name="Google Shape;2076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81" name="Google Shape;2081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82" name="Google Shape;2082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83" name="Google Shape;2083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4" name="Google Shape;2084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</p:txBody>
      </p:sp>
      <p:sp>
        <p:nvSpPr>
          <p:cNvPr id="2088" name="Google Shape;2088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090" name="Google Shape;2090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095" name="Google Shape;2095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96" name="Google Shape;2096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2097" name="Google Shape;2097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8" name="Google Shape;2098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03" name="Google Shape;2103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2104" name="Google Shape;2104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10" name="Google Shape;2110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2111" name="Google Shape;2111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2" name="Google Shape;2112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17" name="Google Shape;2117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2118" name="Google Shape;2118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9" name="Google Shape;2119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520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494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24" name="Google Shape;2124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2125" name="Google Shape;2125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6" name="Google Shape;2126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28" name="Google Shape;2128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31" name="Google Shape;2131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274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227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868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543</a:t>
            </a:r>
            <a:endParaRPr/>
          </a:p>
        </p:txBody>
      </p:sp>
      <p:sp>
        <p:nvSpPr>
          <p:cNvPr id="2153" name="Google Shape;2153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$103K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$463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$258K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$120K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$563K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$232K</a:t>
            </a:r>
            <a:endParaRPr/>
          </a:p>
        </p:txBody>
      </p:sp>
      <p:sp>
        <p:nvSpPr>
          <p:cNvPr id="2166" name="Google Shape;2166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$232,246 YTD gross written premium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 in new business production</a:t>
            </a:r>
            <a:endParaRPr/>
          </a:p>
        </p:txBody>
      </p:sp>
      <p:sp>
        <p:nvSpPr>
          <p:cNvPr id="2172" name="Google Shape;2172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74" name="Google Shape;2174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1.5% hit ratio on 520 subs - needs coaching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49% of new business ($68,684)</a:t>
            </a:r>
            <a:endParaRPr/>
          </a:p>
        </p:txBody>
      </p:sp>
      <p:sp>
        <p:nvSpPr>
          <p:cNvPr id="2178" name="Google Shape;2178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9" name="Google Shape;2179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(520 subs, only 8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$140,223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7" name="Shape 2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8" name="Google Shape;2188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2190" name="Google Shape;2190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MANASSAS</a:t>
            </a:r>
            <a:endParaRPr/>
          </a:p>
        </p:txBody>
      </p:sp>
      <p:sp>
        <p:nvSpPr>
          <p:cNvPr id="2191" name="Google Shape;2191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92" name="Google Shape;2192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93" name="Google Shape;2193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94" name="Google Shape;2194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95" name="Google Shape;2195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96" name="Google Shape;2196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97" name="Google Shape;2197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98" name="Google Shape;2198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99" name="Google Shape;2199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00" name="Google Shape;2200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01" name="Google Shape;2201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02" name="Google Shape;2202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03" name="Google Shape;2203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$39,913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04" name="Google Shape;2204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5" name="Google Shape;2205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06" name="Google Shape;2206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07" name="Google Shape;2207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08" name="Google Shape;2208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09" name="Google Shape;2209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10" name="Google Shape;2210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11" name="Google Shape;2211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12" name="Google Shape;2212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3" name="Google Shape;2213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14" name="Google Shape;2214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5" name="Google Shape;2215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6" name="Google Shape;2216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7" name="Google Shape;2217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8" name="Google Shape;2218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9" name="Google Shape;2219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0" name="Google Shape;2220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21" name="Google Shape;2221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$19,537</a:t>
            </a:r>
            <a:endParaRPr/>
          </a:p>
        </p:txBody>
      </p:sp>
      <p:sp>
        <p:nvSpPr>
          <p:cNvPr id="2222" name="Google Shape;2222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$19,537</a:t>
            </a:r>
            <a:endParaRPr/>
          </a:p>
        </p:txBody>
      </p:sp>
      <p:sp>
        <p:nvSpPr>
          <p:cNvPr id="2223" name="Google Shape;2223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4" name="Google Shape;2224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5" name="Google Shape;2225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6" name="Google Shape;2226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7" name="Google Shape;2227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28" name="Google Shape;2228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9" name="Google Shape;2229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0" name="Google Shape;2230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1" name="Google Shape;2231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2" name="Google Shape;2232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3" name="Google Shape;2233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4" name="Google Shape;2234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35" name="Google Shape;2235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$212,460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$21,252</a:t>
            </a:r>
            <a:endParaRPr/>
          </a:p>
        </p:txBody>
      </p:sp>
      <p:sp>
        <p:nvSpPr>
          <p:cNvPr id="2237" name="Google Shape;2237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</p:txBody>
      </p:sp>
      <p:sp>
        <p:nvSpPr>
          <p:cNvPr id="2238" name="Google Shape;2238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$26,300</a:t>
            </a:r>
            <a:endParaRPr/>
          </a:p>
        </p:txBody>
      </p:sp>
      <p:sp>
        <p:nvSpPr>
          <p:cNvPr id="2239" name="Google Shape;2239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0" name="Google Shape;2240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1" name="Google Shape;2241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42" name="Google Shape;2242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$-8,335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2244" name="Google Shape;2244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5" name="Google Shape;2245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$-9,284</a:t>
            </a:r>
            <a:endParaRPr/>
          </a:p>
        </p:txBody>
      </p:sp>
      <p:sp>
        <p:nvSpPr>
          <p:cNvPr id="2246" name="Google Shape;2246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7" name="Google Shape;2247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8" name="Google Shape;2248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$223,662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</a:t>
            </a:r>
            <a:endParaRPr/>
          </a:p>
        </p:txBody>
      </p:sp>
      <p:sp>
        <p:nvSpPr>
          <p:cNvPr id="2251" name="Google Shape;2251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</p:txBody>
      </p:sp>
      <p:sp>
        <p:nvSpPr>
          <p:cNvPr id="2252" name="Google Shape;2252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$17,016</a:t>
            </a:r>
            <a:endParaRPr/>
          </a:p>
        </p:txBody>
      </p:sp>
      <p:sp>
        <p:nvSpPr>
          <p:cNvPr id="2253" name="Google Shape;2253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4" name="Google Shape;2254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5" name="Google Shape;2255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56" name="Google Shape;2256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58" name="Google Shape;2258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59" name="Google Shape;2259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60" name="Google Shape;2260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62" name="Google Shape;2262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3" name="Google Shape;2263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65" name="Google Shape;2265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66" name="Google Shape;2266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67" name="Google Shape;2267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2269" name="Google Shape;2269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0" name="Google Shape;2270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73" name="Google Shape;2273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74" name="Google Shape;2274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276" name="Google Shape;2276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7" name="Google Shape;2277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83" name="Google Shape;2283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4" name="Google Shape;2284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2290" name="Google Shape;2290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1" name="Google Shape;2291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97" name="Google Shape;2297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8" name="Google Shape;2298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</p:txBody>
      </p:sp>
      <p:sp>
        <p:nvSpPr>
          <p:cNvPr id="2304" name="Google Shape;2304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5" name="Google Shape;2305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07" name="Google Shape;2307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15" name="Google Shape;2315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30" name="Google Shape;2330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$212K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$-8,335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$224K</a:t>
            </a:r>
            <a:endParaRPr/>
          </a:p>
        </p:txBody>
      </p:sp>
      <p:sp>
        <p:nvSpPr>
          <p:cNvPr id="2345" name="Google Shape;2345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6" name="Google Shape;2346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$223,662 YTD gross written premium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 in new business production</a:t>
            </a:r>
            <a:endParaRPr/>
          </a:p>
        </p:txBody>
      </p:sp>
      <p:sp>
        <p:nvSpPr>
          <p:cNvPr id="2351" name="Google Shape;2351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2" name="Google Shape;2352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104% month-over-month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19 to 3 MoM</a:t>
            </a:r>
            <a:endParaRPr/>
          </a:p>
        </p:txBody>
      </p:sp>
      <p:sp>
        <p:nvSpPr>
          <p:cNvPr id="2357" name="Google Shape;2357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8" name="Google Shape;2358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59" name="Google Shape;2359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$41,738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$164,909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6" name="Shape 2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7" name="Google Shape;2367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8" name="Google Shape;2368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2369" name="Google Shape;2369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Hershey</a:t>
            </a:r>
            <a:endParaRPr/>
          </a:p>
        </p:txBody>
      </p:sp>
      <p:sp>
        <p:nvSpPr>
          <p:cNvPr id="2370" name="Google Shape;2370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71" name="Google Shape;2371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72" name="Google Shape;2372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73" name="Google Shape;2373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74" name="Google Shape;2374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75" name="Google Shape;2375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76" name="Google Shape;2376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77" name="Google Shape;2377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78" name="Google Shape;2378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79" name="Google Shape;2379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80" name="Google Shape;2380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81" name="Google Shape;2381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82" name="Google Shape;2382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83" name="Google Shape;2383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4" name="Google Shape;2384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85" name="Google Shape;2385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86" name="Google Shape;2386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87" name="Google Shape;2387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88" name="Google Shape;2388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89" name="Google Shape;2389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90" name="Google Shape;2390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91" name="Google Shape;2391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2" name="Google Shape;2392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93" name="Google Shape;2393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4" name="Google Shape;2394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5" name="Google Shape;2395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6" name="Google Shape;2396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7" name="Google Shape;2397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8" name="Google Shape;2398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9" name="Google Shape;2399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00" name="Google Shape;2400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1" name="Google Shape;2401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2" name="Google Shape;2402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3" name="Google Shape;2403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4" name="Google Shape;2404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5" name="Google Shape;2405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6" name="Google Shape;2406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07" name="Google Shape;2407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8" name="Google Shape;2408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9" name="Google Shape;2409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1" name="Google Shape;2411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2" name="Google Shape;2412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3" name="Google Shape;2413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14" name="Google Shape;2414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</p:txBody>
      </p:sp>
      <p:sp>
        <p:nvSpPr>
          <p:cNvPr id="2415" name="Google Shape;2415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</p:txBody>
      </p:sp>
      <p:sp>
        <p:nvSpPr>
          <p:cNvPr id="2416" name="Google Shape;2416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7" name="Google Shape;2417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8" name="Google Shape;2418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9" name="Google Shape;2419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0" name="Google Shape;2420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21" name="Google Shape;2421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$46,817</a:t>
            </a:r>
            <a:endParaRPr/>
          </a:p>
        </p:txBody>
      </p:sp>
      <p:sp>
        <p:nvSpPr>
          <p:cNvPr id="2422" name="Google Shape;2422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$46,817</a:t>
            </a:r>
            <a:endParaRPr/>
          </a:p>
        </p:txBody>
      </p:sp>
      <p:sp>
        <p:nvSpPr>
          <p:cNvPr id="2423" name="Google Shape;2423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4" name="Google Shape;2424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5" name="Google Shape;2425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6" name="Google Shape;2426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7" name="Google Shape;2427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28" name="Google Shape;2428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2429" name="Google Shape;2429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2430" name="Google Shape;2430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2" name="Google Shape;2432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3" name="Google Shape;2433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4" name="Google Shape;2434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35" name="Google Shape;2435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36" name="Google Shape;2436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37" name="Google Shape;2437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39" name="Google Shape;2439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40" name="Google Shape;2440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41" name="Google Shape;2441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2" name="Google Shape;2442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43" name="Google Shape;2443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44" name="Google Shape;2444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48" name="Google Shape;2448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9" name="Google Shape;2449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50" name="Google Shape;2450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1" name="Google Shape;2451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3" name="Google Shape;2453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55" name="Google Shape;2455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6" name="Google Shape;2456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58" name="Google Shape;2458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462" name="Google Shape;2462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3" name="Google Shape;2463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69" name="Google Shape;2469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0" name="Google Shape;2470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2476" name="Google Shape;2476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7" name="Google Shape;2477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2483" name="Google Shape;2483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4" name="Google Shape;2484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86" name="Google Shape;2486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92" name="Google Shape;2492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511" name="Google Shape;2511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524" name="Google Shape;2524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5" name="Google Shape;2525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27" name="Google Shape;2527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 YTD gross written premium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 in new business production</a:t>
            </a:r>
            <a:endParaRPr/>
          </a:p>
        </p:txBody>
      </p:sp>
      <p:sp>
        <p:nvSpPr>
          <p:cNvPr id="2530" name="Google Shape;2530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1" name="Google Shape;2531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536" name="Google Shape;2536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7" name="Google Shape;2537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39" name="Google Shape;2539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$105,450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3" name="Shape 2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Google Shape;2544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5" name="Google Shape;2545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2546" name="Google Shape;2546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Sayreville</a:t>
            </a:r>
            <a:endParaRPr/>
          </a:p>
        </p:txBody>
      </p:sp>
      <p:sp>
        <p:nvSpPr>
          <p:cNvPr id="2547" name="Google Shape;2547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$94,239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48" name="Google Shape;2548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$97,665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49" name="Google Shape;2549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50" name="Google Shape;2550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51" name="Google Shape;2551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52" name="Google Shape;2552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$9,675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53" name="Google Shape;2553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$97,025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54" name="Google Shape;2554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55" name="Google Shape;2555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56" name="Google Shape;2556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57" name="Google Shape;2557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58" name="Google Shape;2558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59" name="Google Shape;2559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$45,066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60" name="Google Shape;2560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1" name="Google Shape;2561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62" name="Google Shape;2562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63" name="Google Shape;2563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64" name="Google Shape;2564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65" name="Google Shape;2565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66" name="Google Shape;2566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67" name="Google Shape;2567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68" name="Google Shape;2568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9" name="Google Shape;2569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70" name="Google Shape;2570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1" name="Google Shape;2571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2" name="Google Shape;2572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3" name="Google Shape;2573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4" name="Google Shape;2574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5" name="Google Shape;2575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6" name="Google Shape;2576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77" name="Google Shape;2577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$72,724</a:t>
            </a:r>
            <a:endParaRPr/>
          </a:p>
        </p:txBody>
      </p:sp>
      <p:sp>
        <p:nvSpPr>
          <p:cNvPr id="2578" name="Google Shape;2578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$72,724</a:t>
            </a:r>
            <a:endParaRPr/>
          </a:p>
        </p:txBody>
      </p:sp>
      <p:sp>
        <p:nvSpPr>
          <p:cNvPr id="2579" name="Google Shape;2579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0" name="Google Shape;2580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1" name="Google Shape;2581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2" name="Google Shape;2582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3" name="Google Shape;2583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84" name="Google Shape;2584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$8,457</a:t>
            </a:r>
            <a:endParaRPr/>
          </a:p>
        </p:txBody>
      </p:sp>
      <p:sp>
        <p:nvSpPr>
          <p:cNvPr id="2585" name="Google Shape;2585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$21,722</a:t>
            </a:r>
            <a:endParaRPr/>
          </a:p>
        </p:txBody>
      </p:sp>
      <p:sp>
        <p:nvSpPr>
          <p:cNvPr id="2586" name="Google Shape;2586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7" name="Google Shape;2587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$-13,265</a:t>
            </a:r>
            <a:endParaRPr/>
          </a:p>
        </p:txBody>
      </p:sp>
      <p:sp>
        <p:nvSpPr>
          <p:cNvPr id="2588" name="Google Shape;2588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9" name="Google Shape;2589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0" name="Google Shape;2590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91" name="Google Shape;2591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$10,144</a:t>
            </a:r>
            <a:endParaRPr/>
          </a:p>
        </p:txBody>
      </p:sp>
      <p:sp>
        <p:nvSpPr>
          <p:cNvPr id="2592" name="Google Shape;2592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$3,220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</p:txBody>
      </p:sp>
      <p:sp>
        <p:nvSpPr>
          <p:cNvPr id="2594" name="Google Shape;2594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$1,053</a:t>
            </a:r>
            <a:endParaRPr/>
          </a:p>
        </p:txBody>
      </p:sp>
      <p:sp>
        <p:nvSpPr>
          <p:cNvPr id="2595" name="Google Shape;2595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6" name="Google Shape;2596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7" name="Google Shape;2597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98" name="Google Shape;2598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$2,914</a:t>
            </a:r>
            <a:endParaRPr/>
          </a:p>
        </p:txBody>
      </p:sp>
      <p:sp>
        <p:nvSpPr>
          <p:cNvPr id="2599" name="Google Shape;2599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1" name="Google Shape;2601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$2,914</a:t>
            </a:r>
            <a:endParaRPr/>
          </a:p>
        </p:txBody>
      </p:sp>
      <p:sp>
        <p:nvSpPr>
          <p:cNvPr id="2602" name="Google Shape;2602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3" name="Google Shape;2603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4" name="Google Shape;2604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05" name="Google Shape;2605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$94,239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$97,665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</p:txBody>
      </p:sp>
      <p:sp>
        <p:nvSpPr>
          <p:cNvPr id="2608" name="Google Shape;2608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$-9,297</a:t>
            </a:r>
            <a:endParaRPr/>
          </a:p>
        </p:txBody>
      </p:sp>
      <p:sp>
        <p:nvSpPr>
          <p:cNvPr id="2609" name="Google Shape;2609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0" name="Google Shape;2610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1" name="Google Shape;2611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12" name="Google Shape;2612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15" name="Google Shape;2615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16" name="Google Shape;2616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17" name="Google Shape;2617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18" name="Google Shape;2618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9" name="Google Shape;2619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23" name="Google Shape;2623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24" name="Google Shape;2624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2625" name="Google Shape;2625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6" name="Google Shape;2626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29" name="Google Shape;2629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30" name="Google Shape;2630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31" name="Google Shape;2631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632" name="Google Shape;2632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3" name="Google Shape;2633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38" name="Google Shape;2638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2639" name="Google Shape;2639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0" name="Google Shape;2640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42" name="Google Shape;2642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45" name="Google Shape;2645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2646" name="Google Shape;2646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7" name="Google Shape;2647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653" name="Google Shape;2653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4" name="Google Shape;2654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59" name="Google Shape;2659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660" name="Google Shape;2660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1" name="Google Shape;2661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63" name="Google Shape;2663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66" name="Google Shape;2666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67" name="Google Shape;2667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680" name="Google Shape;2680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81" name="Google Shape;2681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687" name="Google Shape;2687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688" name="Google Shape;2688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0" name="Google Shape;2690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696" name="Google Shape;2696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2701" name="Google Shape;2701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2" name="Google Shape;2702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703" name="Google Shape;2703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$94,239 YTD gross written premium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$97,665 in new business production</a:t>
            </a:r>
            <a:endParaRPr/>
          </a:p>
        </p:txBody>
      </p:sp>
      <p:sp>
        <p:nvSpPr>
          <p:cNvPr id="2707" name="Google Shape;2707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8" name="Google Shape;2708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10" name="Google Shape;2710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71% month-over-month</a:t>
            </a:r>
            <a:endParaRPr/>
          </a:p>
        </p:txBody>
      </p:sp>
      <p:sp>
        <p:nvSpPr>
          <p:cNvPr id="2711" name="Google Shape;2711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2" name="Google Shape;2712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$97,665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20" name="Shape 2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Google Shape;2721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2" name="Google Shape;2722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2723" name="Google Shape;2723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Roseland</a:t>
            </a:r>
            <a:endParaRPr/>
          </a:p>
        </p:txBody>
      </p:sp>
      <p:sp>
        <p:nvSpPr>
          <p:cNvPr id="2724" name="Google Shape;2724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25" name="Google Shape;2725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26" name="Google Shape;2726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27" name="Google Shape;2727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28" name="Google Shape;2728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$-26,118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29" name="Google Shape;2729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30" name="Google Shape;2730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31" name="Google Shape;2731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32" name="Google Shape;2732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33" name="Google Shape;2733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34" name="Google Shape;2734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35" name="Google Shape;2735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36" name="Google Shape;2736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$47,562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37" name="Google Shape;2737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8" name="Google Shape;2738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39" name="Google Shape;2739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40" name="Google Shape;2740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41" name="Google Shape;2741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42" name="Google Shape;2742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43" name="Google Shape;2743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44" name="Google Shape;2744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45" name="Google Shape;2745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6" name="Google Shape;2746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47" name="Google Shape;2747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8" name="Google Shape;2748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9" name="Google Shape;2749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0" name="Google Shape;2750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1" name="Google Shape;2751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2" name="Google Shape;2752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3" name="Google Shape;2753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54" name="Google Shape;2754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5" name="Google Shape;2755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6" name="Google Shape;2756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7" name="Google Shape;2757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8" name="Google Shape;2758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9" name="Google Shape;2759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0" name="Google Shape;2760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61" name="Google Shape;2761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2" name="Google Shape;2762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3" name="Google Shape;2763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4" name="Google Shape;2764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5" name="Google Shape;2765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6" name="Google Shape;2766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7" name="Google Shape;2767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$44,014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$44,014</a:t>
            </a:r>
            <a:endParaRPr/>
          </a:p>
        </p:txBody>
      </p:sp>
      <p:sp>
        <p:nvSpPr>
          <p:cNvPr id="2770" name="Google Shape;2770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1" name="Google Shape;2771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2" name="Google Shape;2772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3" name="Google Shape;2773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4" name="Google Shape;2774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75" name="Google Shape;2775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$49,062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$49,062</a:t>
            </a:r>
            <a:endParaRPr/>
          </a:p>
        </p:txBody>
      </p:sp>
      <p:sp>
        <p:nvSpPr>
          <p:cNvPr id="2777" name="Google Shape;2777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8" name="Google Shape;2778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9" name="Google Shape;2779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$-26,118</a:t>
            </a:r>
            <a:endParaRPr/>
          </a:p>
        </p:txBody>
      </p:sp>
      <p:sp>
        <p:nvSpPr>
          <p:cNvPr id="2780" name="Google Shape;2780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1" name="Google Shape;2781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5" name="Google Shape;2785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6" name="Google Shape;2786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$-26,118</a:t>
            </a:r>
            <a:endParaRPr/>
          </a:p>
        </p:txBody>
      </p:sp>
      <p:sp>
        <p:nvSpPr>
          <p:cNvPr id="2787" name="Google Shape;2787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8" name="Google Shape;2788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89" name="Google Shape;2789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92" name="Google Shape;2792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93" name="Google Shape;2793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94" name="Google Shape;2794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95" name="Google Shape;2795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6" name="Google Shape;2796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9" name="Google Shape;2799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0" name="Google Shape;2800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02" name="Google Shape;2802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3" name="Google Shape;2803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06" name="Google Shape;2806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07" name="Google Shape;2807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09" name="Google Shape;2809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0" name="Google Shape;2810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16" name="Google Shape;2816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7" name="Google Shape;2817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823" name="Google Shape;2823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4" name="Google Shape;2824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830" name="Google Shape;2830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1" name="Google Shape;2831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2837" name="Google Shape;2837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8" name="Google Shape;2838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40" name="Google Shape;2840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48" name="Google Shape;2848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53" name="Google Shape;2853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57" name="Google Shape;2857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8" name="Google Shape;2858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863" name="Google Shape;2863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4" name="Google Shape;2864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7" name="Google Shape;2867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2878" name="Google Shape;2878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9" name="Google Shape;2879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80" name="Google Shape;2880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81" name="Google Shape;2881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 YTD gross written premium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83" name="Google Shape;2883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$93,076 in new business production</a:t>
            </a:r>
            <a:endParaRPr/>
          </a:p>
        </p:txBody>
      </p:sp>
      <p:sp>
        <p:nvSpPr>
          <p:cNvPr id="2884" name="Google Shape;2884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5" name="Google Shape;2885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890" name="Google Shape;2890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1" name="Google Shape;2891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$93,076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7" name="Shape 2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8" name="Google Shape;2898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9" name="Google Shape;2899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Insurance, Llc</a:t>
            </a:r>
            <a:endParaRPr/>
          </a:p>
        </p:txBody>
      </p:sp>
      <p:sp>
        <p:nvSpPr>
          <p:cNvPr id="2900" name="Google Shape;2900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MD  |  City: Owings Mills</a:t>
            </a:r>
            <a:endParaRPr/>
          </a:p>
        </p:txBody>
      </p:sp>
      <p:sp>
        <p:nvSpPr>
          <p:cNvPr id="2901" name="Google Shape;2901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02" name="Google Shape;2902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03" name="Google Shape;2903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04" name="Google Shape;2904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05" name="Google Shape;2905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$-30,794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06" name="Google Shape;2906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07" name="Google Shape;2907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08" name="Google Shape;2908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09" name="Google Shape;2909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10" name="Google Shape;2910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11" name="Google Shape;2911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12" name="Google Shape;2912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13" name="Google Shape;2913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$41,683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14" name="Google Shape;2914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5" name="Google Shape;2915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16" name="Google Shape;2916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17" name="Google Shape;2917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18" name="Google Shape;2918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19" name="Google Shape;2919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20" name="Google Shape;2920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21" name="Google Shape;2921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22" name="Google Shape;2922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3" name="Google Shape;2923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24" name="Google Shape;2924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$3,951</a:t>
            </a:r>
            <a:endParaRPr/>
          </a:p>
        </p:txBody>
      </p:sp>
      <p:sp>
        <p:nvSpPr>
          <p:cNvPr id="2925" name="Google Shape;2925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$3,951</a:t>
            </a:r>
            <a:endParaRPr/>
          </a:p>
        </p:txBody>
      </p:sp>
      <p:sp>
        <p:nvSpPr>
          <p:cNvPr id="2926" name="Google Shape;2926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7" name="Google Shape;2927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8" name="Google Shape;2928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9" name="Google Shape;2929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0" name="Google Shape;2930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31" name="Google Shape;2931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2" name="Google Shape;2932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3" name="Google Shape;2933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4" name="Google Shape;2934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5" name="Google Shape;2935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6" name="Google Shape;2936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7" name="Google Shape;2937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38" name="Google Shape;2938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$46,674</a:t>
            </a:r>
            <a:endParaRPr/>
          </a:p>
        </p:txBody>
      </p:sp>
      <p:sp>
        <p:nvSpPr>
          <p:cNvPr id="2939" name="Google Shape;2939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$46,674</a:t>
            </a:r>
            <a:endParaRPr/>
          </a:p>
        </p:txBody>
      </p:sp>
      <p:sp>
        <p:nvSpPr>
          <p:cNvPr id="2940" name="Google Shape;2940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1" name="Google Shape;2941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2" name="Google Shape;2942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$-3,388</a:t>
            </a:r>
            <a:endParaRPr/>
          </a:p>
        </p:txBody>
      </p:sp>
      <p:sp>
        <p:nvSpPr>
          <p:cNvPr id="2943" name="Google Shape;2943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4" name="Google Shape;2944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45" name="Google Shape;2945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6" name="Google Shape;2946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7" name="Google Shape;2947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9" name="Google Shape;2949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$-653</a:t>
            </a:r>
            <a:endParaRPr/>
          </a:p>
        </p:txBody>
      </p:sp>
      <p:sp>
        <p:nvSpPr>
          <p:cNvPr id="2950" name="Google Shape;2950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1" name="Google Shape;2951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52" name="Google Shape;2952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2953" name="Google Shape;2953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2954" name="Google Shape;2954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6" name="Google Shape;2956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$-26,754</a:t>
            </a:r>
            <a:endParaRPr/>
          </a:p>
        </p:txBody>
      </p:sp>
      <p:sp>
        <p:nvSpPr>
          <p:cNvPr id="2957" name="Google Shape;2957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8" name="Google Shape;2958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59" name="Google Shape;2959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2960" name="Google Shape;2960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2961" name="Google Shape;2961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$-30,794</a:t>
            </a:r>
            <a:endParaRPr/>
          </a:p>
        </p:txBody>
      </p:sp>
      <p:sp>
        <p:nvSpPr>
          <p:cNvPr id="2964" name="Google Shape;2964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5" name="Google Shape;2965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66" name="Google Shape;2966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67" name="Google Shape;2967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68" name="Google Shape;2968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72" name="Google Shape;2972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3" name="Google Shape;2973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74" name="Google Shape;2974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75" name="Google Shape;2975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979" name="Google Shape;2979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0" name="Google Shape;2980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81" name="Google Shape;2981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82" name="Google Shape;2982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984" name="Google Shape;2984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86" name="Google Shape;2986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88" name="Google Shape;2988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2993" name="Google Shape;2993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4" name="Google Shape;2994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95" name="Google Shape;2995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3000" name="Google Shape;3000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1" name="Google Shape;3001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02" name="Google Shape;3002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07" name="Google Shape;3007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8" name="Google Shape;3008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09" name="Google Shape;3009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3014" name="Google Shape;3014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5" name="Google Shape;3015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17" name="Google Shape;3017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22" name="Google Shape;3022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23" name="Google Shape;3023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038" name="Google Shape;3038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042" name="Google Shape;3042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43" name="Google Shape;3043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4" name="Google Shape;3044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045" name="Google Shape;3045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6" name="Google Shape;3046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8" name="Google Shape;3048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052" name="Google Shape;3052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3055" name="Google Shape;3055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6" name="Google Shape;3056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58" name="Google Shape;3058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 YTD gross written premium</a:t>
            </a:r>
            <a:endParaRPr/>
          </a:p>
        </p:txBody>
      </p:sp>
      <p:sp>
        <p:nvSpPr>
          <p:cNvPr id="3059" name="Google Shape;3059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60" name="Google Shape;3060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 in new business production</a:t>
            </a:r>
            <a:endParaRPr/>
          </a:p>
        </p:txBody>
      </p:sp>
      <p:sp>
        <p:nvSpPr>
          <p:cNvPr id="3061" name="Google Shape;3061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2" name="Google Shape;3062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63" name="Google Shape;3063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64" name="Google Shape;3064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20 to 8 MoM</a:t>
            </a:r>
            <a:endParaRPr/>
          </a:p>
        </p:txBody>
      </p:sp>
      <p:sp>
        <p:nvSpPr>
          <p:cNvPr id="3065" name="Google Shape;3065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6" name="Google Shape;3066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$77,378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69" name="Google Shape;3069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$30,794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4" name="Shape 3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Google Shape;3075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6" name="Google Shape;3076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3077" name="Google Shape;3077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NY  |  City: Brewster</a:t>
            </a:r>
            <a:endParaRPr/>
          </a:p>
        </p:txBody>
      </p:sp>
      <p:sp>
        <p:nvSpPr>
          <p:cNvPr id="3078" name="Google Shape;3078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79" name="Google Shape;3079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80" name="Google Shape;3080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81" name="Google Shape;3081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82" name="Google Shape;3082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83" name="Google Shape;3083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$147,805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84" name="Google Shape;3084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$158,225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85" name="Google Shape;3085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86" name="Google Shape;3086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87" name="Google Shape;3087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88" name="Google Shape;3088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89" name="Google Shape;3089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90" name="Google Shape;3090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91" name="Google Shape;3091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2" name="Google Shape;3092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93" name="Google Shape;3093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94" name="Google Shape;3094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95" name="Google Shape;3095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96" name="Google Shape;3096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97" name="Google Shape;3097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98" name="Google Shape;3098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99" name="Google Shape;3099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0" name="Google Shape;3100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01" name="Google Shape;3101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</p:txBody>
      </p:sp>
      <p:sp>
        <p:nvSpPr>
          <p:cNvPr id="3102" name="Google Shape;3102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3" name="Google Shape;3103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4" name="Google Shape;3104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</p:txBody>
      </p:sp>
      <p:sp>
        <p:nvSpPr>
          <p:cNvPr id="3105" name="Google Shape;3105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$-16,895</a:t>
            </a:r>
            <a:endParaRPr/>
          </a:p>
        </p:txBody>
      </p:sp>
      <p:sp>
        <p:nvSpPr>
          <p:cNvPr id="3106" name="Google Shape;3106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7" name="Google Shape;3107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08" name="Google Shape;3108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9" name="Google Shape;3109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0" name="Google Shape;3110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1" name="Google Shape;3111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2" name="Google Shape;3112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3" name="Google Shape;3113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4" name="Google Shape;3114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15" name="Google Shape;3115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6" name="Google Shape;3116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7" name="Google Shape;3117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8" name="Google Shape;3118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9" name="Google Shape;3119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0" name="Google Shape;3120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1" name="Google Shape;3121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22" name="Google Shape;3122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3123" name="Google Shape;3123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3124" name="Google Shape;3124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5" name="Google Shape;3125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$-1,080</a:t>
            </a:r>
            <a:endParaRPr/>
          </a:p>
        </p:txBody>
      </p:sp>
      <p:sp>
        <p:nvSpPr>
          <p:cNvPr id="3127" name="Google Shape;3127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8" name="Google Shape;3128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29" name="Google Shape;3129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3130" name="Google Shape;3130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1" name="Google Shape;3131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3132" name="Google Shape;3132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3" name="Google Shape;3133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4" name="Google Shape;3134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5" name="Google Shape;3135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36" name="Google Shape;3136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</a:t>
            </a:r>
            <a:endParaRPr/>
          </a:p>
        </p:txBody>
      </p:sp>
      <p:sp>
        <p:nvSpPr>
          <p:cNvPr id="3137" name="Google Shape;3137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3138" name="Google Shape;3138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$-17,975</a:t>
            </a:r>
            <a:endParaRPr/>
          </a:p>
        </p:txBody>
      </p:sp>
      <p:sp>
        <p:nvSpPr>
          <p:cNvPr id="3141" name="Google Shape;3141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2" name="Google Shape;3142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44" name="Google Shape;3144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45" name="Google Shape;3145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46" name="Google Shape;3146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47" name="Google Shape;3147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49" name="Google Shape;3149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0" name="Google Shape;3150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51" name="Google Shape;3151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152" name="Google Shape;3152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53" name="Google Shape;3153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154" name="Google Shape;3154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56" name="Google Shape;3156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7" name="Google Shape;3157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58" name="Google Shape;3158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59" name="Google Shape;3159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0" name="Google Shape;3160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61" name="Google Shape;3161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3163" name="Google Shape;3163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4" name="Google Shape;3164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67" name="Google Shape;3167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168" name="Google Shape;3168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70" name="Google Shape;3170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1" name="Google Shape;3171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74" name="Google Shape;3174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175" name="Google Shape;3175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3177" name="Google Shape;3177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8" name="Google Shape;3178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1" name="Google Shape;3181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84" name="Google Shape;3184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5" name="Google Shape;3185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188" name="Google Shape;3188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3191" name="Google Shape;3191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2" name="Google Shape;3192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94" name="Google Shape;3194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99" name="Google Shape;3199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00" name="Google Shape;3200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211" name="Google Shape;3211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3218" name="Google Shape;3218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1" name="Google Shape;3221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222" name="Google Shape;3222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225" name="Google Shape;3225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6" name="Google Shape;3226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3231" name="Google Shape;3231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3232" name="Google Shape;3232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3" name="Google Shape;3233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35" name="Google Shape;3235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 YTD gross written premium</a:t>
            </a:r>
            <a:endParaRPr/>
          </a:p>
        </p:txBody>
      </p:sp>
      <p:sp>
        <p:nvSpPr>
          <p:cNvPr id="3236" name="Google Shape;3236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 in new business production</a:t>
            </a:r>
            <a:endParaRPr/>
          </a:p>
        </p:txBody>
      </p:sp>
      <p:sp>
        <p:nvSpPr>
          <p:cNvPr id="3238" name="Google Shape;3238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9" name="Google Shape;3239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40" name="Google Shape;3240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41" name="Google Shape;3241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75% of new business ($17,975)</a:t>
            </a:r>
            <a:endParaRPr/>
          </a:p>
        </p:txBody>
      </p:sp>
      <p:sp>
        <p:nvSpPr>
          <p:cNvPr id="3242" name="Google Shape;3242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43" name="Google Shape;3243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23 to 9 MoM</a:t>
            </a:r>
            <a:endParaRPr/>
          </a:p>
        </p:txBody>
      </p:sp>
      <p:sp>
        <p:nvSpPr>
          <p:cNvPr id="3244" name="Google Shape;3244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5" name="Google Shape;3245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47" name="Google Shape;3247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$23,933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248" name="Google Shape;3248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49" name="Google Shape;3249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$17,975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3" name="Shape 3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4" name="Google Shape;3254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5" name="Google Shape;3255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3256" name="Google Shape;3256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Illinois  |  City: Springfield</a:t>
            </a:r>
            <a:endParaRPr/>
          </a:p>
        </p:txBody>
      </p:sp>
      <p:sp>
        <p:nvSpPr>
          <p:cNvPr id="3257" name="Google Shape;3257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58" name="Google Shape;3258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59" name="Google Shape;3259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60" name="Google Shape;3260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61" name="Google Shape;3261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62" name="Google Shape;3262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63" name="Google Shape;3263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$69,540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64" name="Google Shape;3264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65" name="Google Shape;3265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66" name="Google Shape;3266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67" name="Google Shape;3267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68" name="Google Shape;3268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69" name="Google Shape;3269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70" name="Google Shape;3270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1" name="Google Shape;3271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72" name="Google Shape;3272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73" name="Google Shape;3273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74" name="Google Shape;3274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75" name="Google Shape;3275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76" name="Google Shape;3276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77" name="Google Shape;3277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78" name="Google Shape;3278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9" name="Google Shape;3279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80" name="Google Shape;3280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1" name="Google Shape;3281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2" name="Google Shape;3282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3" name="Google Shape;3283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4" name="Google Shape;3284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5" name="Google Shape;3285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6" name="Google Shape;3286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87" name="Google Shape;3287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8" name="Google Shape;3288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9" name="Google Shape;3289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0" name="Google Shape;3290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1" name="Google Shape;3291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2" name="Google Shape;3292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3" name="Google Shape;3293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94" name="Google Shape;3294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$60,139</a:t>
            </a:r>
            <a:endParaRPr/>
          </a:p>
        </p:txBody>
      </p:sp>
      <p:sp>
        <p:nvSpPr>
          <p:cNvPr id="3295" name="Google Shape;3295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$60,139</a:t>
            </a:r>
            <a:endParaRPr/>
          </a:p>
        </p:txBody>
      </p:sp>
      <p:sp>
        <p:nvSpPr>
          <p:cNvPr id="3296" name="Google Shape;3296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7" name="Google Shape;3297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8" name="Google Shape;3298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9" name="Google Shape;3299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0" name="Google Shape;3300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01" name="Google Shape;3301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$-3,741</a:t>
            </a:r>
            <a:endParaRPr/>
          </a:p>
        </p:txBody>
      </p:sp>
      <p:sp>
        <p:nvSpPr>
          <p:cNvPr id="3302" name="Google Shape;3302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303" name="Google Shape;3303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$-4,291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6" name="Google Shape;3306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7" name="Google Shape;3307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08" name="Google Shape;3308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9" name="Google Shape;3309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0" name="Google Shape;3310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3" name="Google Shape;3313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4" name="Google Shape;3314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15" name="Google Shape;3315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$56,397</a:t>
            </a:r>
            <a:endParaRPr/>
          </a:p>
        </p:txBody>
      </p:sp>
      <p:sp>
        <p:nvSpPr>
          <p:cNvPr id="3316" name="Google Shape;3316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</a:t>
            </a:r>
            <a:endParaRPr/>
          </a:p>
        </p:txBody>
      </p:sp>
      <p:sp>
        <p:nvSpPr>
          <p:cNvPr id="3317" name="Google Shape;3317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$-4,291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0" name="Google Shape;3320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1" name="Google Shape;3321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22" name="Google Shape;3322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23" name="Google Shape;3323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24" name="Google Shape;3324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28" name="Google Shape;3328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9" name="Google Shape;3329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30" name="Google Shape;3330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31" name="Google Shape;3331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35" name="Google Shape;3335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6" name="Google Shape;3336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37" name="Google Shape;3337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38" name="Google Shape;3338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40" name="Google Shape;3340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342" name="Google Shape;3342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3" name="Google Shape;3343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44" name="Google Shape;3344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3349" name="Google Shape;3349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0" name="Google Shape;3350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51" name="Google Shape;3351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3356" name="Google Shape;3356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7" name="Google Shape;3357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58" name="Google Shape;3358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3363" name="Google Shape;3363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4" name="Google Shape;3364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65" name="Google Shape;3365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3370" name="Google Shape;3370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1" name="Google Shape;3371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72" name="Google Shape;3372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73" name="Google Shape;3373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78" name="Google Shape;3378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79" name="Google Shape;3379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85" name="Google Shape;3385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96" name="Google Shape;3396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99" name="Google Shape;3399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3400" name="Google Shape;3400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$106K</a:t>
            </a:r>
            <a:endParaRPr/>
          </a:p>
        </p:txBody>
      </p:sp>
      <p:sp>
        <p:nvSpPr>
          <p:cNvPr id="3402" name="Google Shape;3402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3" name="Google Shape;3403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4" name="Google Shape;3404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$-3,741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$112K</a:t>
            </a:r>
            <a:endParaRPr/>
          </a:p>
        </p:txBody>
      </p:sp>
      <p:sp>
        <p:nvSpPr>
          <p:cNvPr id="3410" name="Google Shape;3410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3411" name="Google Shape;3411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2" name="Google Shape;3412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14" name="Google Shape;3414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$56,397 YTD gross written premium</a:t>
            </a:r>
            <a:endParaRPr/>
          </a:p>
        </p:txBody>
      </p:sp>
      <p:sp>
        <p:nvSpPr>
          <p:cNvPr id="3415" name="Google Shape;3415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16" name="Google Shape;3416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 in new business production</a:t>
            </a:r>
            <a:endParaRPr/>
          </a:p>
        </p:txBody>
      </p:sp>
      <p:sp>
        <p:nvSpPr>
          <p:cNvPr id="3417" name="Google Shape;3417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8" name="Google Shape;3418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19" name="Google Shape;3419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20" name="Google Shape;3420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421" name="Google Shape;3421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22" name="Google Shape;3422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423" name="Google Shape;3423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4" name="Google Shape;3424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26" name="Google Shape;3426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$60,689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30" name="Shape 3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1" name="Google Shape;3431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2" name="Google Shape;3432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3433" name="Google Shape;3433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Lititz</a:t>
            </a:r>
            <a:endParaRPr/>
          </a:p>
        </p:txBody>
      </p:sp>
      <p:sp>
        <p:nvSpPr>
          <p:cNvPr id="3434" name="Google Shape;3434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35" name="Google Shape;3435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36" name="Google Shape;3436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37" name="Google Shape;3437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38" name="Google Shape;3438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39" name="Google Shape;3439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40" name="Google Shape;3440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41" name="Google Shape;3441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42" name="Google Shape;3442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43" name="Google Shape;3443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44" name="Google Shape;3444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45" name="Google Shape;3445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46" name="Google Shape;3446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47" name="Google Shape;3447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8" name="Google Shape;3448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49" name="Google Shape;3449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50" name="Google Shape;3450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51" name="Google Shape;3451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52" name="Google Shape;3452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53" name="Google Shape;3453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54" name="Google Shape;3454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55" name="Google Shape;3455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6" name="Google Shape;3456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57" name="Google Shape;3457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8" name="Google Shape;3458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9" name="Google Shape;3459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0" name="Google Shape;3460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1" name="Google Shape;3461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2" name="Google Shape;3462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3" name="Google Shape;3463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64" name="Google Shape;3464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3465" name="Google Shape;3465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3466" name="Google Shape;3466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7" name="Google Shape;3467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8" name="Google Shape;3468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9" name="Google Shape;3469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0" name="Google Shape;3470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71" name="Google Shape;3471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3472" name="Google Shape;3472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3" name="Google Shape;3473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3474" name="Google Shape;3474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5" name="Google Shape;3475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6" name="Google Shape;3476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7" name="Google Shape;3477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</p:txBody>
      </p:sp>
      <p:sp>
        <p:nvSpPr>
          <p:cNvPr id="3479" name="Google Shape;3479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0" name="Google Shape;3480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1" name="Google Shape;3481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</p:txBody>
      </p:sp>
      <p:sp>
        <p:nvSpPr>
          <p:cNvPr id="3482" name="Google Shape;3482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3" name="Google Shape;3483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4" name="Google Shape;3484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85" name="Google Shape;3485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6" name="Google Shape;3486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7" name="Google Shape;3487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8" name="Google Shape;3488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9" name="Google Shape;3489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0" name="Google Shape;3490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1" name="Google Shape;3491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92" name="Google Shape;3492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</a:t>
            </a:r>
            <a:endParaRPr/>
          </a:p>
        </p:txBody>
      </p:sp>
      <p:sp>
        <p:nvSpPr>
          <p:cNvPr id="3493" name="Google Shape;3493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3494" name="Google Shape;3494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3495" name="Google Shape;3495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</p:txBody>
      </p:sp>
      <p:sp>
        <p:nvSpPr>
          <p:cNvPr id="3496" name="Google Shape;3496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7" name="Google Shape;3497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8" name="Google Shape;3498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00" name="Google Shape;3500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01" name="Google Shape;3501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02" name="Google Shape;3502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03" name="Google Shape;3503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05" name="Google Shape;3505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6" name="Google Shape;3506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07" name="Google Shape;3507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508" name="Google Shape;3508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09" name="Google Shape;3509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10" name="Google Shape;3510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3512" name="Google Shape;3512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3" name="Google Shape;3513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16" name="Google Shape;3516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517" name="Google Shape;3517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19" name="Google Shape;3519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0" name="Google Shape;3520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23" name="Google Shape;3523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524" name="Google Shape;3524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26" name="Google Shape;3526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7" name="Google Shape;3527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0" name="Google Shape;3530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1" name="Google Shape;3531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3533" name="Google Shape;3533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4" name="Google Shape;3534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7" name="Google Shape;3537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3540" name="Google Shape;3540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1" name="Google Shape;3541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544" name="Google Shape;3544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3547" name="Google Shape;3547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8" name="Google Shape;3548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50" name="Google Shape;3550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57" name="Google Shape;3557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58" name="Google Shape;3558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63" name="Google Shape;3563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3564" name="Google Shape;3564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70" name="Google Shape;3570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3574" name="Google Shape;3574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3577" name="Google Shape;3577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78" name="Google Shape;3578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$76K</a:t>
            </a:r>
            <a:endParaRPr/>
          </a:p>
        </p:txBody>
      </p:sp>
      <p:sp>
        <p:nvSpPr>
          <p:cNvPr id="3581" name="Google Shape;3581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582" name="Google Shape;3582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$399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$180K</a:t>
            </a:r>
            <a:endParaRPr/>
          </a:p>
        </p:txBody>
      </p:sp>
      <p:sp>
        <p:nvSpPr>
          <p:cNvPr id="3587" name="Google Shape;3587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3588" name="Google Shape;3588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9" name="Google Shape;3589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91" name="Google Shape;3591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 YTD gross written premium</a:t>
            </a:r>
            <a:endParaRPr/>
          </a:p>
        </p:txBody>
      </p:sp>
      <p:sp>
        <p:nvSpPr>
          <p:cNvPr id="3592" name="Google Shape;3592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 in new business production</a:t>
            </a:r>
            <a:endParaRPr/>
          </a:p>
        </p:txBody>
      </p:sp>
      <p:sp>
        <p:nvSpPr>
          <p:cNvPr id="3594" name="Google Shape;3594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5" name="Google Shape;3595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96" name="Google Shape;3596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97" name="Google Shape;3597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3598" name="Google Shape;3598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9" name="Google Shape;3599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$14,242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07" name="Shape 3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8" name="Google Shape;3608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9" name="Google Shape;3609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3610" name="Google Shape;3610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Califon</a:t>
            </a:r>
            <a:endParaRPr/>
          </a:p>
        </p:txBody>
      </p:sp>
      <p:sp>
        <p:nvSpPr>
          <p:cNvPr id="3611" name="Google Shape;3611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$43,548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12" name="Google Shape;3612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$44,479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13" name="Google Shape;3613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14" name="Google Shape;3614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15" name="Google Shape;3615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16" name="Google Shape;3616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$88,683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17" name="Google Shape;3617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$128,537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18" name="Google Shape;3618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19" name="Google Shape;3619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20" name="Google Shape;3620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21" name="Google Shape;3621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22" name="Google Shape;3622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23" name="Google Shape;3623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$67,579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24" name="Google Shape;3624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5" name="Google Shape;3625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26" name="Google Shape;3626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27" name="Google Shape;3627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28" name="Google Shape;3628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29" name="Google Shape;3629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30" name="Google Shape;3630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31" name="Google Shape;3631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32" name="Google Shape;3632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3" name="Google Shape;3633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34" name="Google Shape;3634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5" name="Google Shape;3635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6" name="Google Shape;3636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7" name="Google Shape;3637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8" name="Google Shape;3638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9" name="Google Shape;3639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0" name="Google Shape;3640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41" name="Google Shape;3641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2" name="Google Shape;3642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3" name="Google Shape;3643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4" name="Google Shape;3644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5" name="Google Shape;3645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6" name="Google Shape;3646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7" name="Google Shape;3647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48" name="Google Shape;3648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649" name="Google Shape;3649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0" name="Google Shape;3650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1" name="Google Shape;3651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652" name="Google Shape;3652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3" name="Google Shape;3653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4" name="Google Shape;3654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$19,559</a:t>
            </a:r>
            <a:endParaRPr/>
          </a:p>
        </p:txBody>
      </p:sp>
      <p:sp>
        <p:nvSpPr>
          <p:cNvPr id="3656" name="Google Shape;3656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$19,559</a:t>
            </a:r>
            <a:endParaRPr/>
          </a:p>
        </p:txBody>
      </p:sp>
      <p:sp>
        <p:nvSpPr>
          <p:cNvPr id="3657" name="Google Shape;3657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8" name="Google Shape;3658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9" name="Google Shape;3659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0" name="Google Shape;3660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1" name="Google Shape;3661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$24,920</a:t>
            </a:r>
            <a:endParaRPr/>
          </a:p>
        </p:txBody>
      </p:sp>
      <p:sp>
        <p:nvSpPr>
          <p:cNvPr id="3663" name="Google Shape;3663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$24,920</a:t>
            </a:r>
            <a:endParaRPr/>
          </a:p>
        </p:txBody>
      </p:sp>
      <p:sp>
        <p:nvSpPr>
          <p:cNvPr id="3664" name="Google Shape;3664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5" name="Google Shape;3665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6" name="Google Shape;3666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7" name="Google Shape;3667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8" name="Google Shape;3668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$43,548</a:t>
            </a:r>
            <a:endParaRPr/>
          </a:p>
        </p:txBody>
      </p:sp>
      <p:sp>
        <p:nvSpPr>
          <p:cNvPr id="3670" name="Google Shape;3670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$44,479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2" name="Google Shape;3672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673" name="Google Shape;3673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4" name="Google Shape;3674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5" name="Google Shape;3675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77" name="Google Shape;3677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78" name="Google Shape;3678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79" name="Google Shape;3679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80" name="Google Shape;3680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82" name="Google Shape;3682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3" name="Google Shape;3683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84" name="Google Shape;3684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685" name="Google Shape;3685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86" name="Google Shape;3686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687" name="Google Shape;3687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89" name="Google Shape;3689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0" name="Google Shape;3690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93" name="Google Shape;3693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694" name="Google Shape;3694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96" name="Google Shape;3696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7" name="Google Shape;3697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01" name="Google Shape;3701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703" name="Google Shape;3703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4" name="Google Shape;3704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08" name="Google Shape;3708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3710" name="Google Shape;3710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1" name="Google Shape;3711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3717" name="Google Shape;3717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8" name="Google Shape;3718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3724" name="Google Shape;3724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5" name="Google Shape;3725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27" name="Google Shape;3727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34" name="Google Shape;3734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35" name="Google Shape;3735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38" name="Google Shape;3738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39" name="Google Shape;3739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748" name="Google Shape;3748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749" name="Google Shape;3749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53" name="Google Shape;3753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4" name="Google Shape;3754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5" name="Google Shape;3755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6" name="Google Shape;3756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758" name="Google Shape;3758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759" name="Google Shape;3759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60" name="Google Shape;3760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$315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3765" name="Google Shape;3765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6" name="Google Shape;3766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67" name="Google Shape;3767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68" name="Google Shape;3768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$43,548 YTD gross written premium</a:t>
            </a:r>
            <a:endParaRPr/>
          </a:p>
        </p:txBody>
      </p:sp>
      <p:sp>
        <p:nvSpPr>
          <p:cNvPr id="3769" name="Google Shape;3769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70" name="Google Shape;3770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$44,479 in new business production</a:t>
            </a:r>
            <a:endParaRPr/>
          </a:p>
        </p:txBody>
      </p:sp>
      <p:sp>
        <p:nvSpPr>
          <p:cNvPr id="3771" name="Google Shape;3771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73" name="Google Shape;3773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74" name="Google Shape;3774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775" name="Google Shape;3775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777" name="Google Shape;3777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8" name="Google Shape;3778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$44,479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781" name="Google Shape;3781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86" name="Shape 3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7" name="Google Shape;3787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8" name="Google Shape;3788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3789" name="Google Shape;3789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MA  |  City: East Longmeadow</a:t>
            </a:r>
            <a:endParaRPr/>
          </a:p>
        </p:txBody>
      </p:sp>
      <p:sp>
        <p:nvSpPr>
          <p:cNvPr id="3790" name="Google Shape;3790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91" name="Google Shape;3791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92" name="Google Shape;3792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93" name="Google Shape;3793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94" name="Google Shape;3794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95" name="Google Shape;3795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96" name="Google Shape;3796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$63,517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97" name="Google Shape;3797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98" name="Google Shape;3798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99" name="Google Shape;3799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00" name="Google Shape;3800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01" name="Google Shape;3801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02" name="Google Shape;3802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03" name="Google Shape;3803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4" name="Google Shape;3804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05" name="Google Shape;3805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06" name="Google Shape;3806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07" name="Google Shape;3807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08" name="Google Shape;3808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09" name="Google Shape;3809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10" name="Google Shape;3810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11" name="Google Shape;3811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2" name="Google Shape;3812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13" name="Google Shape;3813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4" name="Google Shape;3814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5" name="Google Shape;3815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6" name="Google Shape;3816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7" name="Google Shape;3817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8" name="Google Shape;3818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9" name="Google Shape;3819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20" name="Google Shape;3820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1" name="Google Shape;3821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2" name="Google Shape;3822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3" name="Google Shape;3823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4" name="Google Shape;3824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5" name="Google Shape;3825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6" name="Google Shape;3826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27" name="Google Shape;3827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</p:txBody>
      </p:sp>
      <p:sp>
        <p:nvSpPr>
          <p:cNvPr id="3828" name="Google Shape;3828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9" name="Google Shape;3829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0" name="Google Shape;3830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</p:txBody>
      </p:sp>
      <p:sp>
        <p:nvSpPr>
          <p:cNvPr id="3831" name="Google Shape;3831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2" name="Google Shape;3832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3" name="Google Shape;3833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34" name="Google Shape;3834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</p:txBody>
      </p:sp>
      <p:sp>
        <p:nvSpPr>
          <p:cNvPr id="3835" name="Google Shape;3835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7" name="Google Shape;3837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8" name="Google Shape;3838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9" name="Google Shape;3839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0" name="Google Shape;3840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41" name="Google Shape;3841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2" name="Google Shape;3842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3" name="Google Shape;3843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4" name="Google Shape;3844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5" name="Google Shape;3845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6" name="Google Shape;3846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7" name="Google Shape;3847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48" name="Google Shape;3848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$42,551</a:t>
            </a:r>
            <a:endParaRPr/>
          </a:p>
        </p:txBody>
      </p:sp>
      <p:sp>
        <p:nvSpPr>
          <p:cNvPr id="3849" name="Google Shape;3849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</p:txBody>
      </p:sp>
      <p:sp>
        <p:nvSpPr>
          <p:cNvPr id="3850" name="Google Shape;3850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1" name="Google Shape;3851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</p:txBody>
      </p:sp>
      <p:sp>
        <p:nvSpPr>
          <p:cNvPr id="3852" name="Google Shape;3852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3" name="Google Shape;3853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4" name="Google Shape;3854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55" name="Google Shape;3855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56" name="Google Shape;3856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57" name="Google Shape;3857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58" name="Google Shape;3858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59" name="Google Shape;3859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61" name="Google Shape;3861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2" name="Google Shape;3862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63" name="Google Shape;3863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64" name="Google Shape;3864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5" name="Google Shape;3865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66" name="Google Shape;3866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3868" name="Google Shape;3868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9" name="Google Shape;3869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70" name="Google Shape;3870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1" name="Google Shape;3871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75" name="Google Shape;3875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6" name="Google Shape;3876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77" name="Google Shape;3877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78" name="Google Shape;3878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82" name="Google Shape;3882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3" name="Google Shape;3883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84" name="Google Shape;3884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885" name="Google Shape;3885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887" name="Google Shape;3887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3889" name="Google Shape;3889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0" name="Google Shape;3890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96" name="Google Shape;3896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7" name="Google Shape;3897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3903" name="Google Shape;3903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4" name="Google Shape;3904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06" name="Google Shape;3906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09" name="Google Shape;3909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10" name="Google Shape;3910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15" name="Google Shape;3915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16" name="Google Shape;3916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21" name="Google Shape;3921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925" name="Google Shape;3925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927" name="Google Shape;3927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8" name="Google Shape;3928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931" name="Google Shape;3931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32" name="Google Shape;3932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4" name="Google Shape;3934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5" name="Google Shape;3935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7" name="Google Shape;3937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9" name="Google Shape;3939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3944" name="Google Shape;3944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5" name="Google Shape;3945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46" name="Google Shape;3946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47" name="Google Shape;3947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$42,551 YTD gross written premium</a:t>
            </a:r>
            <a:endParaRPr/>
          </a:p>
        </p:txBody>
      </p:sp>
      <p:sp>
        <p:nvSpPr>
          <p:cNvPr id="3948" name="Google Shape;3948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49" name="Google Shape;3949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 in new business production</a:t>
            </a:r>
            <a:endParaRPr/>
          </a:p>
        </p:txBody>
      </p:sp>
      <p:sp>
        <p:nvSpPr>
          <p:cNvPr id="3950" name="Google Shape;3950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1" name="Google Shape;3951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52" name="Google Shape;3952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53" name="Google Shape;3953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2.2% hit ratio on 46 subs - needs coaching</a:t>
            </a:r>
            <a:endParaRPr/>
          </a:p>
        </p:txBody>
      </p:sp>
      <p:sp>
        <p:nvSpPr>
          <p:cNvPr id="3954" name="Google Shape;3954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5" name="Google Shape;3955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(46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$37,729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63" name="Shape 3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4" name="Google Shape;3964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5" name="Google Shape;3965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3966" name="Google Shape;3966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N/A  |  City: Fesasterville</a:t>
            </a:r>
            <a:endParaRPr/>
          </a:p>
        </p:txBody>
      </p:sp>
      <p:sp>
        <p:nvSpPr>
          <p:cNvPr id="3967" name="Google Shape;3967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68" name="Google Shape;3968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$40,213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69" name="Google Shape;3969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70" name="Google Shape;3970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71" name="Google Shape;3971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72" name="Google Shape;3972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73" name="Google Shape;3973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74" name="Google Shape;3974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75" name="Google Shape;3975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76" name="Google Shape;3976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77" name="Google Shape;3977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78" name="Google Shape;3978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79" name="Google Shape;3979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80" name="Google Shape;3980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1" name="Google Shape;3981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82" name="Google Shape;3982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83" name="Google Shape;3983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84" name="Google Shape;3984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85" name="Google Shape;3985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86" name="Google Shape;3986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87" name="Google Shape;3987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88" name="Google Shape;3988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9" name="Google Shape;3989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90" name="Google Shape;3990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1" name="Google Shape;3991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2" name="Google Shape;3992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3" name="Google Shape;3993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4" name="Google Shape;3994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5" name="Google Shape;3995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6" name="Google Shape;3996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97" name="Google Shape;3997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8" name="Google Shape;3998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9" name="Google Shape;3999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0" name="Google Shape;4000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1" name="Google Shape;4001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2" name="Google Shape;4002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3" name="Google Shape;4003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04" name="Google Shape;4004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5" name="Google Shape;4005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6" name="Google Shape;4006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7" name="Google Shape;4007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8" name="Google Shape;4008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9" name="Google Shape;4009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0" name="Google Shape;4010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11" name="Google Shape;4011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$30,871</a:t>
            </a:r>
            <a:endParaRPr/>
          </a:p>
        </p:txBody>
      </p:sp>
      <p:sp>
        <p:nvSpPr>
          <p:cNvPr id="4012" name="Google Shape;4012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$30,871</a:t>
            </a:r>
            <a:endParaRPr/>
          </a:p>
        </p:txBody>
      </p:sp>
      <p:sp>
        <p:nvSpPr>
          <p:cNvPr id="4013" name="Google Shape;4013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4" name="Google Shape;4014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6" name="Google Shape;4016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7" name="Google Shape;4017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$10,435</a:t>
            </a:r>
            <a:endParaRPr/>
          </a:p>
        </p:txBody>
      </p:sp>
      <p:sp>
        <p:nvSpPr>
          <p:cNvPr id="4019" name="Google Shape;4019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$9,342</a:t>
            </a:r>
            <a:endParaRPr/>
          </a:p>
        </p:txBody>
      </p:sp>
      <p:sp>
        <p:nvSpPr>
          <p:cNvPr id="4020" name="Google Shape;4020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1" name="Google Shape;4021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$1,093</a:t>
            </a:r>
            <a:endParaRPr/>
          </a:p>
        </p:txBody>
      </p:sp>
      <p:sp>
        <p:nvSpPr>
          <p:cNvPr id="4022" name="Google Shape;4022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3" name="Google Shape;4023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4" name="Google Shape;4024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$41,306</a:t>
            </a:r>
            <a:endParaRPr/>
          </a:p>
        </p:txBody>
      </p:sp>
      <p:sp>
        <p:nvSpPr>
          <p:cNvPr id="4026" name="Google Shape;4026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$40,213</a:t>
            </a:r>
            <a:endParaRPr/>
          </a:p>
        </p:txBody>
      </p:sp>
      <p:sp>
        <p:nvSpPr>
          <p:cNvPr id="4027" name="Google Shape;4027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8" name="Google Shape;4028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$1,093</a:t>
            </a:r>
            <a:endParaRPr/>
          </a:p>
        </p:txBody>
      </p:sp>
      <p:sp>
        <p:nvSpPr>
          <p:cNvPr id="4029" name="Google Shape;4029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0" name="Google Shape;4030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1" name="Google Shape;4031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33" name="Google Shape;4033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34" name="Google Shape;4034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35" name="Google Shape;4035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36" name="Google Shape;4036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37" name="Google Shape;4037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38" name="Google Shape;4038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9" name="Google Shape;4039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40" name="Google Shape;4040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1" name="Google Shape;4041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2" name="Google Shape;4042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3" name="Google Shape;4043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4" name="Google Shape;4044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45" name="Google Shape;4045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6" name="Google Shape;4046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47" name="Google Shape;4047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9" name="Google Shape;4049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0" name="Google Shape;4050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52" name="Google Shape;4052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3" name="Google Shape;4053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6" name="Google Shape;4056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7" name="Google Shape;4057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59" name="Google Shape;4059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0" name="Google Shape;4060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63" name="Google Shape;4063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064" name="Google Shape;4064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066" name="Google Shape;4066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7" name="Google Shape;4067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4073" name="Google Shape;4073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4" name="Google Shape;4074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</p:txBody>
      </p:sp>
      <p:sp>
        <p:nvSpPr>
          <p:cNvPr id="4080" name="Google Shape;4080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1" name="Google Shape;4081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83" name="Google Shape;4083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88" name="Google Shape;4088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92" name="Google Shape;4092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93" name="Google Shape;4093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9" name="Google Shape;4099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2" name="Google Shape;4102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104" name="Google Shape;4104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5" name="Google Shape;4105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06" name="Google Shape;4106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7" name="Google Shape;4107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1" name="Google Shape;4111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3" name="Google Shape;4113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4" name="Google Shape;4114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6" name="Google Shape;4116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4121" name="Google Shape;4121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2" name="Google Shape;4122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23" name="Google Shape;4123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$41,306 YTD gross written premium</a:t>
            </a:r>
            <a:endParaRPr/>
          </a:p>
        </p:txBody>
      </p:sp>
      <p:sp>
        <p:nvSpPr>
          <p:cNvPr id="4125" name="Google Shape;4125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26" name="Google Shape;4126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$40,213 in new business production</a:t>
            </a:r>
            <a:endParaRPr/>
          </a:p>
        </p:txBody>
      </p:sp>
      <p:sp>
        <p:nvSpPr>
          <p:cNvPr id="4127" name="Google Shape;4127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8" name="Google Shape;4128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29" name="Google Shape;4129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30" name="Google Shape;4130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66% month-over-month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32" name="Google Shape;4132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36 to 6 MoM</a:t>
            </a:r>
            <a:endParaRPr/>
          </a:p>
        </p:txBody>
      </p:sp>
      <p:sp>
        <p:nvSpPr>
          <p:cNvPr id="4133" name="Google Shape;4133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4" name="Google Shape;4134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36" name="Google Shape;4136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$40,213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42" name="Shape 4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3" name="Google Shape;4143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4" name="Google Shape;4144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4145" name="Google Shape;4145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Sterling</a:t>
            </a:r>
            <a:endParaRPr/>
          </a:p>
        </p:txBody>
      </p:sp>
      <p:sp>
        <p:nvSpPr>
          <p:cNvPr id="4146" name="Google Shape;4146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47" name="Google Shape;4147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48" name="Google Shape;4148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49" name="Google Shape;4149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50" name="Google Shape;4150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51" name="Google Shape;4151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$78,793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52" name="Google Shape;4152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$110,296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53" name="Google Shape;4153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54" name="Google Shape;4154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55" name="Google Shape;4155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56" name="Google Shape;4156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57" name="Google Shape;4157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58" name="Google Shape;4158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59" name="Google Shape;4159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0" name="Google Shape;4160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61" name="Google Shape;4161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62" name="Google Shape;4162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63" name="Google Shape;4163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64" name="Google Shape;4164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65" name="Google Shape;4165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66" name="Google Shape;4166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67" name="Google Shape;4167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8" name="Google Shape;4168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69" name="Google Shape;4169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0" name="Google Shape;4170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1" name="Google Shape;4171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2" name="Google Shape;4172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3" name="Google Shape;4173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4" name="Google Shape;4174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5" name="Google Shape;4175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76" name="Google Shape;4176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7" name="Google Shape;4177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8" name="Google Shape;4178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9" name="Google Shape;4179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0" name="Google Shape;4180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1" name="Google Shape;4181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2" name="Google Shape;4182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83" name="Google Shape;4183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4" name="Google Shape;4184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5" name="Google Shape;4185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6" name="Google Shape;4186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7" name="Google Shape;4187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8" name="Google Shape;4188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9" name="Google Shape;4189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90" name="Google Shape;4190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191" name="Google Shape;4191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192" name="Google Shape;4192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3" name="Google Shape;4193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4" name="Google Shape;4194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5" name="Google Shape;4195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6" name="Google Shape;4196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0" name="Google Shape;4200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1" name="Google Shape;4201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2" name="Google Shape;4202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3" name="Google Shape;4203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7" name="Google Shape;4207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8" name="Google Shape;4208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9" name="Google Shape;4209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0" name="Google Shape;4210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14" name="Google Shape;4214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15" name="Google Shape;4215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16" name="Google Shape;4216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17" name="Google Shape;4217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8" name="Google Shape;4218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21" name="Google Shape;4221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22" name="Google Shape;4222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3" name="Google Shape;4223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24" name="Google Shape;4224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5" name="Google Shape;4225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8" name="Google Shape;4228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229" name="Google Shape;4229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31" name="Google Shape;4231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2" name="Google Shape;4232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35" name="Google Shape;4235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36" name="Google Shape;4236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238" name="Google Shape;4238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9" name="Google Shape;4239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2" name="Google Shape;4242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43" name="Google Shape;4243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45" name="Google Shape;4245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6" name="Google Shape;4246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50" name="Google Shape;4250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52" name="Google Shape;4252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3" name="Google Shape;4253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257" name="Google Shape;4257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4259" name="Google Shape;4259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0" name="Google Shape;4260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62" name="Google Shape;4262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64" name="Google Shape;4264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65" name="Google Shape;4265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76" name="Google Shape;4276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81" name="Google Shape;4281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83" name="Google Shape;4283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84" name="Google Shape;4284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85" name="Google Shape;4285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286" name="Google Shape;4286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0" name="Google Shape;4290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3" name="Google Shape;4293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5" name="Google Shape;4295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4300" name="Google Shape;4300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1" name="Google Shape;4301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302" name="Google Shape;4302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 YTD gross written premium</a:t>
            </a:r>
            <a:endParaRPr/>
          </a:p>
        </p:txBody>
      </p:sp>
      <p:sp>
        <p:nvSpPr>
          <p:cNvPr id="4304" name="Google Shape;4304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05" name="Google Shape;4305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 in new business production</a:t>
            </a:r>
            <a:endParaRPr/>
          </a:p>
        </p:txBody>
      </p:sp>
      <p:sp>
        <p:nvSpPr>
          <p:cNvPr id="4306" name="Google Shape;4306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7" name="Google Shape;4307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09" name="Google Shape;4309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2.2% hit ratio on 46 subs - needs coaching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9 to 2 MoM</a:t>
            </a:r>
            <a:endParaRPr/>
          </a:p>
        </p:txBody>
      </p:sp>
      <p:sp>
        <p:nvSpPr>
          <p:cNvPr id="4312" name="Google Shape;4312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3" name="Google Shape;4313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14" name="Google Shape;4314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15" name="Google Shape;4315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(46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$31,503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21" name="Shape 4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2" name="Google Shape;4322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3" name="Google Shape;4323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Rein Connected Insurance Agency, Llc</a:t>
            </a:r>
            <a:endParaRPr/>
          </a:p>
        </p:txBody>
      </p:sp>
      <p:sp>
        <p:nvSpPr>
          <p:cNvPr id="4324" name="Google Shape;4324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MA  |  City: Boston</a:t>
            </a:r>
            <a:endParaRPr/>
          </a:p>
        </p:txBody>
      </p:sp>
      <p:sp>
        <p:nvSpPr>
          <p:cNvPr id="4325" name="Google Shape;4325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26" name="Google Shape;4326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27" name="Google Shape;4327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28" name="Google Shape;4328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29" name="Google Shape;4329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30" name="Google Shape;4330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$44,700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31" name="Google Shape;4331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32" name="Google Shape;4332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33" name="Google Shape;4333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34" name="Google Shape;4334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35" name="Google Shape;4335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36" name="Google Shape;4336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37" name="Google Shape;4337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38" name="Google Shape;4338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9" name="Google Shape;4339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40" name="Google Shape;4340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41" name="Google Shape;4341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42" name="Google Shape;4342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43" name="Google Shape;4343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44" name="Google Shape;4344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45" name="Google Shape;4345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46" name="Google Shape;4346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7" name="Google Shape;4347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48" name="Google Shape;4348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9" name="Google Shape;4349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0" name="Google Shape;4350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1" name="Google Shape;4351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2" name="Google Shape;4352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3" name="Google Shape;4353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4" name="Google Shape;4354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55" name="Google Shape;4355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</p:txBody>
      </p:sp>
      <p:sp>
        <p:nvSpPr>
          <p:cNvPr id="4356" name="Google Shape;4356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</p:txBody>
      </p:sp>
      <p:sp>
        <p:nvSpPr>
          <p:cNvPr id="4357" name="Google Shape;4357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8" name="Google Shape;4358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9" name="Google Shape;4359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0" name="Google Shape;4360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1" name="Google Shape;4361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62" name="Google Shape;4362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</p:txBody>
      </p:sp>
      <p:sp>
        <p:nvSpPr>
          <p:cNvPr id="4363" name="Google Shape;4363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4" name="Google Shape;4364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5" name="Google Shape;4365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</p:txBody>
      </p:sp>
      <p:sp>
        <p:nvSpPr>
          <p:cNvPr id="4366" name="Google Shape;4366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7" name="Google Shape;4367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8" name="Google Shape;4368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69" name="Google Shape;4369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0" name="Google Shape;4370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2" name="Google Shape;4372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3" name="Google Shape;4373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4" name="Google Shape;4374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5" name="Google Shape;4375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7" name="Google Shape;4377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8" name="Google Shape;4378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9" name="Google Shape;4379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0" name="Google Shape;4380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1" name="Google Shape;4381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2" name="Google Shape;4382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$27,572</a:t>
            </a:r>
            <a:endParaRPr/>
          </a:p>
        </p:txBody>
      </p:sp>
      <p:sp>
        <p:nvSpPr>
          <p:cNvPr id="4384" name="Google Shape;4384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</p:txBody>
      </p:sp>
      <p:sp>
        <p:nvSpPr>
          <p:cNvPr id="4385" name="Google Shape;4385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6" name="Google Shape;4386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</p:txBody>
      </p:sp>
      <p:sp>
        <p:nvSpPr>
          <p:cNvPr id="4387" name="Google Shape;4387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8" name="Google Shape;4388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9" name="Google Shape;4389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93" name="Google Shape;4393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94" name="Google Shape;4394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95" name="Google Shape;4395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96" name="Google Shape;4396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7" name="Google Shape;4397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0" name="Google Shape;4400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01" name="Google Shape;4401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02" name="Google Shape;4402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403" name="Google Shape;4403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4" name="Google Shape;4404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7" name="Google Shape;4407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08" name="Google Shape;4408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10" name="Google Shape;4410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1" name="Google Shape;4411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15" name="Google Shape;4415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17" name="Google Shape;4417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8" name="Google Shape;4418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22" name="Google Shape;4422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24" name="Google Shape;4424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5" name="Google Shape;4425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31" name="Google Shape;4431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2" name="Google Shape;4432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38" name="Google Shape;4438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9" name="Google Shape;4439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41" name="Google Shape;4441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42" name="Google Shape;4442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43" name="Google Shape;4443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52" name="Google Shape;4452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53" name="Google Shape;4453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58" name="Google Shape;4458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60" name="Google Shape;4460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62" name="Google Shape;4462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63" name="Google Shape;4463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9" name="Google Shape;4469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470" name="Google Shape;4470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472" name="Google Shape;4472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4473" name="Google Shape;4473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4478" name="Google Shape;4478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4479" name="Google Shape;4479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0" name="Google Shape;4480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81" name="Google Shape;4481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$27,572 YTD gross written premium</a:t>
            </a:r>
            <a:endParaRPr/>
          </a:p>
        </p:txBody>
      </p:sp>
      <p:sp>
        <p:nvSpPr>
          <p:cNvPr id="4483" name="Google Shape;4483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84" name="Google Shape;4484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 in new business production</a:t>
            </a:r>
            <a:endParaRPr/>
          </a:p>
        </p:txBody>
      </p:sp>
      <p:sp>
        <p:nvSpPr>
          <p:cNvPr id="4485" name="Google Shape;4485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6" name="Google Shape;4486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88" name="Google Shape;4488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85% month-over-month</a:t>
            </a:r>
            <a:endParaRPr/>
          </a:p>
        </p:txBody>
      </p:sp>
      <p:sp>
        <p:nvSpPr>
          <p:cNvPr id="4491" name="Google Shape;4491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2" name="Google Shape;4492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94" name="Google Shape;4494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$24,037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00" name="Shape 4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1" name="Google Shape;4501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2" name="Google Shape;4502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Owners Liability Team, LLC dba Bolt Agency</a:t>
            </a:r>
            <a:endParaRPr/>
          </a:p>
        </p:txBody>
      </p:sp>
      <p:sp>
        <p:nvSpPr>
          <p:cNvPr id="4503" name="Google Shape;4503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Austin</a:t>
            </a:r>
            <a:endParaRPr/>
          </a:p>
        </p:txBody>
      </p:sp>
      <p:sp>
        <p:nvSpPr>
          <p:cNvPr id="4504" name="Google Shape;4504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505" name="Google Shape;4505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06" name="Google Shape;4506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07" name="Google Shape;4507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08" name="Google Shape;4508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09" name="Google Shape;4509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$44,831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10" name="Google Shape;4510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$62,554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11" name="Google Shape;4511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12" name="Google Shape;4512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13" name="Google Shape;4513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14" name="Google Shape;4514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15" name="Google Shape;4515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16" name="Google Shape;4516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$25,888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17" name="Google Shape;4517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8" name="Google Shape;4518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19" name="Google Shape;4519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20" name="Google Shape;4520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21" name="Google Shape;4521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22" name="Google Shape;4522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23" name="Google Shape;4523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24" name="Google Shape;4524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25" name="Google Shape;4525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6" name="Google Shape;4526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27" name="Google Shape;4527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4528" name="Google Shape;4528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4529" name="Google Shape;4529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0" name="Google Shape;4530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1" name="Google Shape;4531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2" name="Google Shape;4532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3" name="Google Shape;4533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34" name="Google Shape;4534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5" name="Google Shape;4535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6" name="Google Shape;4536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7" name="Google Shape;4537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8" name="Google Shape;4538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9" name="Google Shape;4539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0" name="Google Shape;4540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41" name="Google Shape;4541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2" name="Google Shape;4542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3" name="Google Shape;4543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4" name="Google Shape;4544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5" name="Google Shape;4545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6" name="Google Shape;4546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7" name="Google Shape;4547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9" name="Google Shape;4549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0" name="Google Shape;4550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1" name="Google Shape;4551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2" name="Google Shape;4552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3" name="Google Shape;4553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4" name="Google Shape;4554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55" name="Google Shape;4555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6" name="Google Shape;4556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7" name="Google Shape;4557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8" name="Google Shape;4558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9" name="Google Shape;4559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0" name="Google Shape;4560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1" name="Google Shape;4561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62" name="Google Shape;4562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4563" name="Google Shape;4563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4564" name="Google Shape;4564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5" name="Google Shape;4565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7" name="Google Shape;4567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8" name="Google Shape;4568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70" name="Google Shape;4570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71" name="Google Shape;4571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72" name="Google Shape;4572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75" name="Google Shape;4575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6" name="Google Shape;4576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77" name="Google Shape;4577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78" name="Google Shape;4578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9" name="Google Shape;4579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81" name="Google Shape;4581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4582" name="Google Shape;4582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3" name="Google Shape;4583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84" name="Google Shape;4584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5" name="Google Shape;4585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89" name="Google Shape;4589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0" name="Google Shape;4590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91" name="Google Shape;4591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92" name="Google Shape;4592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96" name="Google Shape;4596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7" name="Google Shape;4597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98" name="Google Shape;4598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99" name="Google Shape;4599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03" name="Google Shape;4603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4" name="Google Shape;4604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05" name="Google Shape;4605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06" name="Google Shape;4606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10" name="Google Shape;4610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1" name="Google Shape;4611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12" name="Google Shape;4612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613" name="Google Shape;4613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4617" name="Google Shape;4617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8" name="Google Shape;4618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19" name="Google Shape;4619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20" name="Google Shape;4620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26" name="Google Shape;4626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32" name="Google Shape;4632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39" name="Google Shape;4639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40" name="Google Shape;4640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41" name="Google Shape;4641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42" name="Google Shape;4642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45" name="Google Shape;4645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46" name="Google Shape;4646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9" name="Google Shape;4649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2" name="Google Shape;4652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655" name="Google Shape;4655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6" name="Google Shape;4656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658" name="Google Shape;4658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9" name="Google Shape;4659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60" name="Google Shape;4660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 YTD gross written premium</a:t>
            </a:r>
            <a:endParaRPr/>
          </a:p>
        </p:txBody>
      </p:sp>
      <p:sp>
        <p:nvSpPr>
          <p:cNvPr id="4662" name="Google Shape;4662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63" name="Google Shape;4663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 in new business production</a:t>
            </a:r>
            <a:endParaRPr/>
          </a:p>
        </p:txBody>
      </p:sp>
      <p:sp>
        <p:nvSpPr>
          <p:cNvPr id="4664" name="Google Shape;4664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5" name="Google Shape;4665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69" name="Google Shape;4669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4670" name="Google Shape;4670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1" name="Google Shape;4671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$26,113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77" name="Shape 4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8" name="Google Shape;4678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9" name="Google Shape;4679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4680" name="Google Shape;4680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Allentown</a:t>
            </a:r>
            <a:endParaRPr/>
          </a:p>
        </p:txBody>
      </p:sp>
      <p:sp>
        <p:nvSpPr>
          <p:cNvPr id="4681" name="Google Shape;4681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82" name="Google Shape;4682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83" name="Google Shape;4683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84" name="Google Shape;4684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85" name="Google Shape;4685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$-26,230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86" name="Google Shape;4686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$114,719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87" name="Google Shape;4687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$100,291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88" name="Google Shape;4688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89" name="Google Shape;4689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90" name="Google Shape;4690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91" name="Google Shape;4691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92" name="Google Shape;4692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93" name="Google Shape;4693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$23,814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94" name="Google Shape;4694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5" name="Google Shape;4695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96" name="Google Shape;4696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97" name="Google Shape;4697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98" name="Google Shape;4698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99" name="Google Shape;4699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00" name="Google Shape;4700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01" name="Google Shape;4701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02" name="Google Shape;4702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3" name="Google Shape;4703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04" name="Google Shape;4704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</p:txBody>
      </p:sp>
      <p:sp>
        <p:nvSpPr>
          <p:cNvPr id="4705" name="Google Shape;4705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</p:txBody>
      </p:sp>
      <p:sp>
        <p:nvSpPr>
          <p:cNvPr id="4706" name="Google Shape;4706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7" name="Google Shape;4707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8" name="Google Shape;4708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9" name="Google Shape;4709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0" name="Google Shape;4710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11" name="Google Shape;4711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$18,237</a:t>
            </a:r>
            <a:endParaRPr/>
          </a:p>
        </p:txBody>
      </p:sp>
      <p:sp>
        <p:nvSpPr>
          <p:cNvPr id="4712" name="Google Shape;4712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3" name="Google Shape;4713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4" name="Google Shape;4714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$18,237</a:t>
            </a:r>
            <a:endParaRPr/>
          </a:p>
        </p:txBody>
      </p:sp>
      <p:sp>
        <p:nvSpPr>
          <p:cNvPr id="4715" name="Google Shape;4715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$-17,865</a:t>
            </a:r>
            <a:endParaRPr/>
          </a:p>
        </p:txBody>
      </p:sp>
      <p:sp>
        <p:nvSpPr>
          <p:cNvPr id="4716" name="Google Shape;4716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7" name="Google Shape;4717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18" name="Google Shape;4718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$2,320</a:t>
            </a:r>
            <a:endParaRPr/>
          </a:p>
        </p:txBody>
      </p:sp>
      <p:sp>
        <p:nvSpPr>
          <p:cNvPr id="4719" name="Google Shape;4719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0" name="Google Shape;4720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1" name="Google Shape;4721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$2,320</a:t>
            </a:r>
            <a:endParaRPr/>
          </a:p>
        </p:txBody>
      </p:sp>
      <p:sp>
        <p:nvSpPr>
          <p:cNvPr id="4722" name="Google Shape;4722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$-8,365</a:t>
            </a:r>
            <a:endParaRPr/>
          </a:p>
        </p:txBody>
      </p:sp>
      <p:sp>
        <p:nvSpPr>
          <p:cNvPr id="4723" name="Google Shape;4723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4" name="Google Shape;4724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25" name="Google Shape;4725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6" name="Google Shape;4726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8" name="Google Shape;4728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9" name="Google Shape;4729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0" name="Google Shape;4730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1" name="Google Shape;4731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3" name="Google Shape;4733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4" name="Google Shape;4734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5" name="Google Shape;4735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6" name="Google Shape;4736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7" name="Google Shape;4737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8" name="Google Shape;4738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$23,279</a:t>
            </a:r>
            <a:endParaRPr/>
          </a:p>
        </p:txBody>
      </p:sp>
      <p:sp>
        <p:nvSpPr>
          <p:cNvPr id="4740" name="Google Shape;4740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</p:txBody>
      </p:sp>
      <p:sp>
        <p:nvSpPr>
          <p:cNvPr id="4741" name="Google Shape;4741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2" name="Google Shape;4742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$20,557</a:t>
            </a:r>
            <a:endParaRPr/>
          </a:p>
        </p:txBody>
      </p:sp>
      <p:sp>
        <p:nvSpPr>
          <p:cNvPr id="4743" name="Google Shape;4743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$-26,230</a:t>
            </a:r>
            <a:endParaRPr/>
          </a:p>
        </p:txBody>
      </p:sp>
      <p:sp>
        <p:nvSpPr>
          <p:cNvPr id="4744" name="Google Shape;4744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5" name="Google Shape;4745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49" name="Google Shape;4749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50" name="Google Shape;4750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51" name="Google Shape;4751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52" name="Google Shape;4752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3" name="Google Shape;4753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6" name="Google Shape;4756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57" name="Google Shape;4757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8" name="Google Shape;4758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759" name="Google Shape;4759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0" name="Google Shape;4760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63" name="Google Shape;4763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64" name="Google Shape;4764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766" name="Google Shape;4766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7" name="Google Shape;4767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71" name="Google Shape;4771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773" name="Google Shape;4773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4" name="Google Shape;4774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778" name="Google Shape;4778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80" name="Google Shape;4780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1" name="Google Shape;4781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5" name="Google Shape;4785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87" name="Google Shape;4787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8" name="Google Shape;4788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792" name="Google Shape;4792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4794" name="Google Shape;4794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5" name="Google Shape;4795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97" name="Google Shape;4797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98" name="Google Shape;4798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99" name="Google Shape;4799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00" name="Google Shape;4800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03" name="Google Shape;4803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813" name="Google Shape;4813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14" name="Google Shape;4814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18" name="Google Shape;4818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19" name="Google Shape;4819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824" name="Google Shape;4824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4825" name="Google Shape;4825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$-48</a:t>
            </a:r>
            <a:endParaRPr/>
          </a:p>
        </p:txBody>
      </p:sp>
      <p:sp>
        <p:nvSpPr>
          <p:cNvPr id="4826" name="Google Shape;4826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828" name="Google Shape;4828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1" name="Google Shape;4831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2" name="Google Shape;4832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835" name="Google Shape;4835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6" name="Google Shape;4836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38" name="Google Shape;4838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$23,279 YTD gross written premium</a:t>
            </a:r>
            <a:endParaRPr/>
          </a:p>
        </p:txBody>
      </p:sp>
      <p:sp>
        <p:nvSpPr>
          <p:cNvPr id="4839" name="Google Shape;4839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40" name="Google Shape;4840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 in new business production</a:t>
            </a:r>
            <a:endParaRPr/>
          </a:p>
        </p:txBody>
      </p:sp>
      <p:sp>
        <p:nvSpPr>
          <p:cNvPr id="4841" name="Google Shape;4841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2" name="Google Shape;4842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963% of new business ($26,230)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46" name="Google Shape;4846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87% month-over-month</a:t>
            </a:r>
            <a:endParaRPr/>
          </a:p>
        </p:txBody>
      </p:sp>
      <p:sp>
        <p:nvSpPr>
          <p:cNvPr id="4847" name="Google Shape;4847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8" name="Google Shape;4848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$2,722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$26,230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56" name="Shape 4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7" name="Google Shape;4857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8" name="Google Shape;4858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Hazar Financial Services LLC</a:t>
            </a:r>
            <a:endParaRPr/>
          </a:p>
        </p:txBody>
      </p:sp>
      <p:sp>
        <p:nvSpPr>
          <p:cNvPr id="4859" name="Google Shape;4859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MD  |  City: Kensington</a:t>
            </a:r>
            <a:endParaRPr/>
          </a:p>
        </p:txBody>
      </p:sp>
      <p:sp>
        <p:nvSpPr>
          <p:cNvPr id="4860" name="Google Shape;4860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61" name="Google Shape;4861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62" name="Google Shape;4862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63" name="Google Shape;4863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64" name="Google Shape;4864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$-3,974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65" name="Google Shape;4865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66" name="Google Shape;4866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$72,279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67" name="Google Shape;4867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68" name="Google Shape;4868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69" name="Google Shape;4869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70" name="Google Shape;4870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71" name="Google Shape;4871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72" name="Google Shape;4872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73" name="Google Shape;4873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4" name="Google Shape;4874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75" name="Google Shape;4875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76" name="Google Shape;4876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77" name="Google Shape;4877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78" name="Google Shape;4878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79" name="Google Shape;4879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80" name="Google Shape;4880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81" name="Google Shape;4881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2" name="Google Shape;4882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83" name="Google Shape;4883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4884" name="Google Shape;4884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5" name="Google Shape;4885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6" name="Google Shape;4886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4887" name="Google Shape;4887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8" name="Google Shape;4888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9" name="Google Shape;4889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90" name="Google Shape;4890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1" name="Google Shape;4891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2" name="Google Shape;4892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3" name="Google Shape;4893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4" name="Google Shape;4894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5" name="Google Shape;4895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6" name="Google Shape;4896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97" name="Google Shape;4897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8" name="Google Shape;4898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9" name="Google Shape;4899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0" name="Google Shape;4900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1" name="Google Shape;4901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$-1,248</a:t>
            </a:r>
            <a:endParaRPr/>
          </a:p>
        </p:txBody>
      </p:sp>
      <p:sp>
        <p:nvSpPr>
          <p:cNvPr id="4902" name="Google Shape;4902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3" name="Google Shape;4903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04" name="Google Shape;4904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4905" name="Google Shape;4905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4906" name="Google Shape;4906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7" name="Google Shape;4907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8" name="Google Shape;4908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$-2,726</a:t>
            </a:r>
            <a:endParaRPr/>
          </a:p>
        </p:txBody>
      </p:sp>
      <p:sp>
        <p:nvSpPr>
          <p:cNvPr id="4909" name="Google Shape;4909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0" name="Google Shape;4910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11" name="Google Shape;4911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$17,449</a:t>
            </a:r>
            <a:endParaRPr/>
          </a:p>
        </p:txBody>
      </p:sp>
      <p:sp>
        <p:nvSpPr>
          <p:cNvPr id="4912" name="Google Shape;4912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$17,449</a:t>
            </a:r>
            <a:endParaRPr/>
          </a:p>
        </p:txBody>
      </p:sp>
      <p:sp>
        <p:nvSpPr>
          <p:cNvPr id="4913" name="Google Shape;4913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4" name="Google Shape;4914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5" name="Google Shape;4915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6" name="Google Shape;4916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7" name="Google Shape;4917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18" name="Google Shape;4918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$23,179</a:t>
            </a:r>
            <a:endParaRPr/>
          </a:p>
        </p:txBody>
      </p:sp>
      <p:sp>
        <p:nvSpPr>
          <p:cNvPr id="4919" name="Google Shape;4919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$23,105</a:t>
            </a:r>
            <a:endParaRPr/>
          </a:p>
        </p:txBody>
      </p:sp>
      <p:sp>
        <p:nvSpPr>
          <p:cNvPr id="4920" name="Google Shape;4920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1" name="Google Shape;4921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4922" name="Google Shape;4922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$-3,974</a:t>
            </a:r>
            <a:endParaRPr/>
          </a:p>
        </p:txBody>
      </p:sp>
      <p:sp>
        <p:nvSpPr>
          <p:cNvPr id="4923" name="Google Shape;4923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4" name="Google Shape;4924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25" name="Google Shape;4925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26" name="Google Shape;4926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28" name="Google Shape;4928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29" name="Google Shape;4929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31" name="Google Shape;4931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2" name="Google Shape;4932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33" name="Google Shape;4933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5" name="Google Shape;4935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36" name="Google Shape;4936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38" name="Google Shape;4938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9" name="Google Shape;4939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2" name="Google Shape;4942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43" name="Google Shape;4943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45" name="Google Shape;4945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6" name="Google Shape;4946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9" name="Google Shape;4949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50" name="Google Shape;4950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52" name="Google Shape;4952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3" name="Google Shape;4953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6" name="Google Shape;4956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57" name="Google Shape;4957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59" name="Google Shape;4959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0" name="Google Shape;4960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4966" name="Google Shape;4966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7" name="Google Shape;4967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4973" name="Google Shape;4973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4" name="Google Shape;4974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76" name="Google Shape;4976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77" name="Google Shape;4977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78" name="Google Shape;4978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83" name="Google Shape;4983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89" name="Google Shape;4989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0" name="Google Shape;4990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2" name="Google Shape;4992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3" name="Google Shape;4993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95" name="Google Shape;4995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96" name="Google Shape;4996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97" name="Google Shape;4997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8" name="Google Shape;4998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$-6,523</a:t>
            </a:r>
            <a:endParaRPr/>
          </a:p>
        </p:txBody>
      </p:sp>
      <p:sp>
        <p:nvSpPr>
          <p:cNvPr id="5003" name="Google Shape;5003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5004" name="Google Shape;5004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5" name="Google Shape;5005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010" name="Google Shape;5010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011" name="Google Shape;5011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014" name="Google Shape;5014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5" name="Google Shape;5015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17" name="Google Shape;5017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$23,179 YTD gross written premium</a:t>
            </a:r>
            <a:endParaRPr/>
          </a:p>
        </p:txBody>
      </p:sp>
      <p:sp>
        <p:nvSpPr>
          <p:cNvPr id="5018" name="Google Shape;5018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19" name="Google Shape;5019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$23,105 in new business production</a:t>
            </a:r>
            <a:endParaRPr/>
          </a:p>
        </p:txBody>
      </p:sp>
      <p:sp>
        <p:nvSpPr>
          <p:cNvPr id="5020" name="Google Shape;5020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1" name="Google Shape;5021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024" name="Google Shape;5024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25" name="Google Shape;5025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026" name="Google Shape;5026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Google Shape;5027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$23,105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31" name="Google Shape;5031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35" name="Shape 5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6" name="Google Shape;5036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7" name="Google Shape;5037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Mcculloh Insurance Group LLC</a:t>
            </a:r>
            <a:endParaRPr/>
          </a:p>
        </p:txBody>
      </p:sp>
      <p:sp>
        <p:nvSpPr>
          <p:cNvPr id="5038" name="Google Shape;5038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MD  |  City: Bethesda</a:t>
            </a:r>
            <a:endParaRPr/>
          </a:p>
        </p:txBody>
      </p:sp>
      <p:sp>
        <p:nvSpPr>
          <p:cNvPr id="5039" name="Google Shape;5039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40" name="Google Shape;5040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41" name="Google Shape;5041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42" name="Google Shape;5042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43" name="Google Shape;5043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44" name="Google Shape;5044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45" name="Google Shape;5045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$84,696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46" name="Google Shape;5046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47" name="Google Shape;5047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48" name="Google Shape;5048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49" name="Google Shape;5049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50" name="Google Shape;5050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51" name="Google Shape;5051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52" name="Google Shape;5052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3" name="Google Shape;5053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54" name="Google Shape;5054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55" name="Google Shape;5055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56" name="Google Shape;5056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57" name="Google Shape;5057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58" name="Google Shape;5058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59" name="Google Shape;5059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60" name="Google Shape;5060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1" name="Google Shape;5061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62" name="Google Shape;5062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</p:txBody>
      </p:sp>
      <p:sp>
        <p:nvSpPr>
          <p:cNvPr id="5063" name="Google Shape;5063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4" name="Google Shape;5064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5" name="Google Shape;5065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</p:txBody>
      </p:sp>
      <p:sp>
        <p:nvSpPr>
          <p:cNvPr id="5066" name="Google Shape;5066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$-9,185</a:t>
            </a:r>
            <a:endParaRPr/>
          </a:p>
        </p:txBody>
      </p:sp>
      <p:sp>
        <p:nvSpPr>
          <p:cNvPr id="5067" name="Google Shape;5067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8" name="Google Shape;5068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69" name="Google Shape;5069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0" name="Google Shape;5070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1" name="Google Shape;5071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2" name="Google Shape;5072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3" name="Google Shape;5073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4" name="Google Shape;5074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5" name="Google Shape;5075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76" name="Google Shape;5076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</a:t>
            </a:r>
            <a:endParaRPr/>
          </a:p>
        </p:txBody>
      </p:sp>
      <p:sp>
        <p:nvSpPr>
          <p:cNvPr id="5077" name="Google Shape;5077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</a:t>
            </a:r>
            <a:endParaRPr/>
          </a:p>
        </p:txBody>
      </p:sp>
      <p:sp>
        <p:nvSpPr>
          <p:cNvPr id="5078" name="Google Shape;5078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9" name="Google Shape;5079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0" name="Google Shape;5080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1" name="Google Shape;5081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2" name="Google Shape;5082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83" name="Google Shape;5083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4" name="Google Shape;5084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5" name="Google Shape;5085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6" name="Google Shape;5086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8" name="Google Shape;5088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9" name="Google Shape;5089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90" name="Google Shape;5090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1" name="Google Shape;5091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2" name="Google Shape;5092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3" name="Google Shape;5093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4" name="Google Shape;5094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5" name="Google Shape;5095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6" name="Google Shape;5096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97" name="Google Shape;5097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$22,309</a:t>
            </a:r>
            <a:endParaRPr/>
          </a:p>
        </p:txBody>
      </p:sp>
      <p:sp>
        <p:nvSpPr>
          <p:cNvPr id="5098" name="Google Shape;5098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</a:t>
            </a:r>
            <a:endParaRPr/>
          </a:p>
        </p:txBody>
      </p:sp>
      <p:sp>
        <p:nvSpPr>
          <p:cNvPr id="5099" name="Google Shape;5099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0" name="Google Shape;5100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$-9,185</a:t>
            </a:r>
            <a:endParaRPr/>
          </a:p>
        </p:txBody>
      </p:sp>
      <p:sp>
        <p:nvSpPr>
          <p:cNvPr id="5102" name="Google Shape;5102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3" name="Google Shape;5103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04" name="Google Shape;5104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07" name="Google Shape;5107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08" name="Google Shape;5108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09" name="Google Shape;5109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10" name="Google Shape;5110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1" name="Google Shape;5111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12" name="Google Shape;5112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4" name="Google Shape;5114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15" name="Google Shape;5115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17" name="Google Shape;5117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8" name="Google Shape;5118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5124" name="Google Shape;5124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5" name="Google Shape;5125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8" name="Google Shape;5128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5131" name="Google Shape;5131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2" name="Google Shape;5132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5" name="Google Shape;5135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38" name="Google Shape;5138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9" name="Google Shape;5139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45" name="Google Shape;5145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6" name="Google Shape;5146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150" name="Google Shape;5150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5152" name="Google Shape;5152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3" name="Google Shape;5153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55" name="Google Shape;5155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56" name="Google Shape;5156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57" name="Google Shape;5157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60" name="Google Shape;5160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63" name="Google Shape;5163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68" name="Google Shape;5168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169" name="Google Shape;5169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72" name="Google Shape;5172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74" name="Google Shape;5174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75" name="Google Shape;5175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76" name="Google Shape;5176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5182" name="Google Shape;5182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5183" name="Google Shape;5183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188" name="Google Shape;5188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9" name="Google Shape;5189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$169K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193" name="Google Shape;5193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4" name="Google Shape;5194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95" name="Google Shape;5195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96" name="Google Shape;5196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$22,309 YTD gross written premium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 in new business production</a:t>
            </a:r>
            <a:endParaRPr/>
          </a:p>
        </p:txBody>
      </p:sp>
      <p:sp>
        <p:nvSpPr>
          <p:cNvPr id="5199" name="Google Shape;5199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0" name="Google Shape;5200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02" name="Google Shape;5202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70% of new business ($9,185)</a:t>
            </a:r>
            <a:endParaRPr/>
          </a:p>
        </p:txBody>
      </p:sp>
      <p:sp>
        <p:nvSpPr>
          <p:cNvPr id="5203" name="Google Shape;5203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4" name="Google Shape;5204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$13,125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$9,185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12" name="Shape 5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3" name="Google Shape;5213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4" name="Google Shape;5214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5215" name="Google Shape;5215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Middlesex</a:t>
            </a:r>
            <a:endParaRPr/>
          </a:p>
        </p:txBody>
      </p:sp>
      <p:sp>
        <p:nvSpPr>
          <p:cNvPr id="5216" name="Google Shape;5216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17" name="Google Shape;5217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18" name="Google Shape;5218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19" name="Google Shape;5219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20" name="Google Shape;5220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21" name="Google Shape;5221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22" name="Google Shape;5222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23" name="Google Shape;5223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24" name="Google Shape;5224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25" name="Google Shape;5225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26" name="Google Shape;5226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27" name="Google Shape;5227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28" name="Google Shape;5228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29" name="Google Shape;5229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0" name="Google Shape;5230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31" name="Google Shape;5231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32" name="Google Shape;5232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33" name="Google Shape;5233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34" name="Google Shape;5234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35" name="Google Shape;5235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36" name="Google Shape;5236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37" name="Google Shape;5237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8" name="Google Shape;5238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39" name="Google Shape;5239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0" name="Google Shape;5240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1" name="Google Shape;5241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2" name="Google Shape;5242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3" name="Google Shape;5243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4" name="Google Shape;5244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5" name="Google Shape;5245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46" name="Google Shape;5246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7" name="Google Shape;5247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8" name="Google Shape;5248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9" name="Google Shape;5249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0" name="Google Shape;5250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1" name="Google Shape;5251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2" name="Google Shape;5252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53" name="Google Shape;5253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$21,605</a:t>
            </a:r>
            <a:endParaRPr/>
          </a:p>
        </p:txBody>
      </p:sp>
      <p:sp>
        <p:nvSpPr>
          <p:cNvPr id="5254" name="Google Shape;5254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</a:t>
            </a:r>
            <a:endParaRPr/>
          </a:p>
        </p:txBody>
      </p:sp>
      <p:sp>
        <p:nvSpPr>
          <p:cNvPr id="5255" name="Google Shape;5255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6" name="Google Shape;5256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$-724</a:t>
            </a:r>
            <a:endParaRPr/>
          </a:p>
        </p:txBody>
      </p:sp>
      <p:sp>
        <p:nvSpPr>
          <p:cNvPr id="5257" name="Google Shape;5257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8" name="Google Shape;5258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9" name="Google Shape;5259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60" name="Google Shape;5260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</a:t>
            </a:r>
            <a:endParaRPr/>
          </a:p>
        </p:txBody>
      </p:sp>
      <p:sp>
        <p:nvSpPr>
          <p:cNvPr id="5261" name="Google Shape;5261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</a:t>
            </a:r>
            <a:endParaRPr/>
          </a:p>
        </p:txBody>
      </p:sp>
      <p:sp>
        <p:nvSpPr>
          <p:cNvPr id="5264" name="Google Shape;5264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5" name="Google Shape;5265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6" name="Google Shape;5266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67" name="Google Shape;5267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8" name="Google Shape;5268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9" name="Google Shape;5269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2" name="Google Shape;5272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3" name="Google Shape;5273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74" name="Google Shape;5274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</a:t>
            </a:r>
            <a:endParaRPr/>
          </a:p>
        </p:txBody>
      </p:sp>
      <p:sp>
        <p:nvSpPr>
          <p:cNvPr id="5275" name="Google Shape;5275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</a:t>
            </a:r>
            <a:endParaRPr/>
          </a:p>
        </p:txBody>
      </p:sp>
      <p:sp>
        <p:nvSpPr>
          <p:cNvPr id="5276" name="Google Shape;5276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$-532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9" name="Google Shape;5279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0" name="Google Shape;5280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81" name="Google Shape;5281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82" name="Google Shape;5282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83" name="Google Shape;5283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87" name="Google Shape;5287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8" name="Google Shape;5288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89" name="Google Shape;5289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90" name="Google Shape;5290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1" name="Google Shape;5291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94" name="Google Shape;5294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5" name="Google Shape;5295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96" name="Google Shape;5296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301" name="Google Shape;5301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2" name="Google Shape;5302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03" name="Google Shape;5303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04" name="Google Shape;5304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5308" name="Google Shape;5308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9" name="Google Shape;5309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10" name="Google Shape;5310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11" name="Google Shape;5311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15" name="Google Shape;5315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6" name="Google Shape;5316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17" name="Google Shape;5317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18" name="Google Shape;5318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9" name="Google Shape;5319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22" name="Google Shape;5322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3" name="Google Shape;5323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6" name="Google Shape;5326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29" name="Google Shape;5329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0" name="Google Shape;5330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32" name="Google Shape;5332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33" name="Google Shape;5333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34" name="Google Shape;5334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39" name="Google Shape;5339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40" name="Google Shape;5340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46" name="Google Shape;5346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47" name="Google Shape;5347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48" name="Google Shape;5348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49" name="Google Shape;5349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53" name="Google Shape;5353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4" name="Google Shape;5354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55" name="Google Shape;5355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56" name="Google Shape;5356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1" name="Google Shape;5361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2" name="Google Shape;5362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3" name="Google Shape;5363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7" name="Google Shape;5367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8" name="Google Shape;5368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9" name="Google Shape;5369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370" name="Google Shape;5370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1" name="Google Shape;5371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 YTD gross written premium</a:t>
            </a:r>
            <a:endParaRPr/>
          </a:p>
        </p:txBody>
      </p:sp>
      <p:sp>
        <p:nvSpPr>
          <p:cNvPr id="5374" name="Google Shape;5374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75" name="Google Shape;5375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 in new business production</a:t>
            </a:r>
            <a:endParaRPr/>
          </a:p>
        </p:txBody>
      </p:sp>
      <p:sp>
        <p:nvSpPr>
          <p:cNvPr id="5376" name="Google Shape;5376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7" name="Google Shape;5377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79" name="Google Shape;5379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 submissions with zero binds - zero conversion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5382" name="Google Shape;5382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3" name="Google Shape;5383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$22,329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91" name="Shape 5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2" name="Google Shape;5392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3" name="Google Shape;5393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Statechoice Insurance</a:t>
            </a:r>
            <a:endParaRPr/>
          </a:p>
        </p:txBody>
      </p:sp>
      <p:sp>
        <p:nvSpPr>
          <p:cNvPr id="5394" name="Google Shape;5394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CT  |  City: West Hartford</a:t>
            </a:r>
            <a:endParaRPr/>
          </a:p>
        </p:txBody>
      </p:sp>
      <p:sp>
        <p:nvSpPr>
          <p:cNvPr id="5395" name="Google Shape;5395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96" name="Google Shape;5396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97" name="Google Shape;5397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98" name="Google Shape;5398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99" name="Google Shape;5399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00" name="Google Shape;5400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$106,401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01" name="Google Shape;5401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02" name="Google Shape;5402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03" name="Google Shape;5403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04" name="Google Shape;5404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05" name="Google Shape;5405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06" name="Google Shape;5406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07" name="Google Shape;5407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08" name="Google Shape;5408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9" name="Google Shape;5409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10" name="Google Shape;5410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11" name="Google Shape;5411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12" name="Google Shape;5412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13" name="Google Shape;5413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14" name="Google Shape;5414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15" name="Google Shape;5415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16" name="Google Shape;5416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7" name="Google Shape;5417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18" name="Google Shape;5418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419" name="Google Shape;5419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0" name="Google Shape;5420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421" name="Google Shape;5421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2" name="Google Shape;5422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3" name="Google Shape;5423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4" name="Google Shape;5424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25" name="Google Shape;5425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6" name="Google Shape;5426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7" name="Google Shape;5427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8" name="Google Shape;5428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9" name="Google Shape;5429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0" name="Google Shape;5430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1" name="Google Shape;5431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32" name="Google Shape;5432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3" name="Google Shape;5433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4" name="Google Shape;5434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5" name="Google Shape;5435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6" name="Google Shape;5436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7" name="Google Shape;5437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8" name="Google Shape;5438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0" name="Google Shape;5440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1" name="Google Shape;5441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3" name="Google Shape;5443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4" name="Google Shape;5444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5" name="Google Shape;5445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7" name="Google Shape;5447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8" name="Google Shape;5448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0" name="Google Shape;5450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1" name="Google Shape;5451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2" name="Google Shape;5452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454" name="Google Shape;5454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5" name="Google Shape;5455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8" name="Google Shape;5458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9" name="Google Shape;5459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61" name="Google Shape;5461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62" name="Google Shape;5462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65" name="Google Shape;5465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66" name="Google Shape;5466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7" name="Google Shape;5467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68" name="Google Shape;5468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69" name="Google Shape;5469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2" name="Google Shape;5472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73" name="Google Shape;5473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4" name="Google Shape;5474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75" name="Google Shape;5475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76" name="Google Shape;5476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80" name="Google Shape;5480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1" name="Google Shape;5481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83" name="Google Shape;5483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87" name="Google Shape;5487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8" name="Google Shape;5488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0" name="Google Shape;5490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94" name="Google Shape;5494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5" name="Google Shape;5495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7" name="Google Shape;5497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1" name="Google Shape;5501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2" name="Google Shape;5502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04" name="Google Shape;5504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7" name="Google Shape;5507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8" name="Google Shape;5508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9" name="Google Shape;5509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11" name="Google Shape;5511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12" name="Google Shape;5512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14" name="Google Shape;5514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15" name="Google Shape;5515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25" name="Google Shape;5525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26" name="Google Shape;5526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31" name="Google Shape;5531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32" name="Google Shape;5532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33" name="Google Shape;5533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538" name="Google Shape;5538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539" name="Google Shape;5539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0" name="Google Shape;5540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4" name="Google Shape;5544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5" name="Google Shape;5545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6" name="Google Shape;5546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549" name="Google Shape;5549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0" name="Google Shape;5550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51" name="Google Shape;5551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52" name="Google Shape;5552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 YTD gross written premium</a:t>
            </a:r>
            <a:endParaRPr/>
          </a:p>
        </p:txBody>
      </p:sp>
      <p:sp>
        <p:nvSpPr>
          <p:cNvPr id="5553" name="Google Shape;5553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 in renewals - strong retention</a:t>
            </a:r>
            <a:endParaRPr/>
          </a:p>
        </p:txBody>
      </p:sp>
      <p:sp>
        <p:nvSpPr>
          <p:cNvPr id="5555" name="Google Shape;5555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6" name="Google Shape;5556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5559" name="Google Shape;5559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60" name="Google Shape;5560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561" name="Google Shape;5561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2" name="Google Shape;5562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66" name="Google Shape;5566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70" name="Shape 5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1" name="Google Shape;5571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2" name="Google Shape;5572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Pigott Agency Llc</a:t>
            </a:r>
            <a:endParaRPr/>
          </a:p>
        </p:txBody>
      </p:sp>
      <p:sp>
        <p:nvSpPr>
          <p:cNvPr id="5573" name="Google Shape;5573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Bensalem</a:t>
            </a:r>
            <a:endParaRPr/>
          </a:p>
        </p:txBody>
      </p:sp>
      <p:sp>
        <p:nvSpPr>
          <p:cNvPr id="5574" name="Google Shape;5574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75" name="Google Shape;5575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76" name="Google Shape;5576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77" name="Google Shape;5577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78" name="Google Shape;5578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79" name="Google Shape;5579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80" name="Google Shape;5580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81" name="Google Shape;5581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82" name="Google Shape;5582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83" name="Google Shape;5583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84" name="Google Shape;5584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85" name="Google Shape;5585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86" name="Google Shape;5586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87" name="Google Shape;5587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8" name="Google Shape;5588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89" name="Google Shape;5589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90" name="Google Shape;5590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91" name="Google Shape;5591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92" name="Google Shape;5592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93" name="Google Shape;5593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94" name="Google Shape;5594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95" name="Google Shape;5595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6" name="Google Shape;5596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97" name="Google Shape;5597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8" name="Google Shape;5598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9" name="Google Shape;5599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0" name="Google Shape;5600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1" name="Google Shape;5601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2" name="Google Shape;5602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3" name="Google Shape;5603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04" name="Google Shape;5604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5" name="Google Shape;5605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6" name="Google Shape;5606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7" name="Google Shape;5607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8" name="Google Shape;5608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9" name="Google Shape;5609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0" name="Google Shape;5610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11" name="Google Shape;5611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5612" name="Google Shape;5612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5613" name="Google Shape;5613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4" name="Google Shape;5614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5" name="Google Shape;5615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6" name="Google Shape;5616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7" name="Google Shape;5617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18" name="Google Shape;5618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9" name="Google Shape;5619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0" name="Google Shape;5620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1" name="Google Shape;5621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2" name="Google Shape;5622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3" name="Google Shape;5623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4" name="Google Shape;5624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25" name="Google Shape;5625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6" name="Google Shape;5626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7" name="Google Shape;5627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8" name="Google Shape;5628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9" name="Google Shape;5629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0" name="Google Shape;5630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1" name="Google Shape;5631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32" name="Google Shape;5632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5633" name="Google Shape;5633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5634" name="Google Shape;5634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6" name="Google Shape;5636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7" name="Google Shape;5637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8" name="Google Shape;5638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40" name="Google Shape;5640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41" name="Google Shape;5641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43" name="Google Shape;5643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44" name="Google Shape;5644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45" name="Google Shape;5645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6" name="Google Shape;5646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47" name="Google Shape;5647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48" name="Google Shape;5648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52" name="Google Shape;5652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3" name="Google Shape;5653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54" name="Google Shape;5654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5" name="Google Shape;5655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8" name="Google Shape;5658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59" name="Google Shape;5659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0" name="Google Shape;5660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61" name="Google Shape;5661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62" name="Google Shape;5662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65" name="Google Shape;5665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5666" name="Google Shape;5666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7" name="Google Shape;5667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68" name="Google Shape;5668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69" name="Google Shape;5669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2" name="Google Shape;5672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73" name="Google Shape;5673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4" name="Google Shape;5674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6" name="Google Shape;5676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7" name="Google Shape;5677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80" name="Google Shape;5680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1" name="Google Shape;5681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82" name="Google Shape;5682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83" name="Google Shape;5683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4" name="Google Shape;5684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85" name="Google Shape;5685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86" name="Google Shape;5686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687" name="Google Shape;5687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8" name="Google Shape;5688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90" name="Google Shape;5690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91" name="Google Shape;5691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92" name="Google Shape;5692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93" name="Google Shape;5693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96" name="Google Shape;5696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97" name="Google Shape;5697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98" name="Google Shape;5698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99" name="Google Shape;5699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00" name="Google Shape;5700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701" name="Google Shape;5701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702" name="Google Shape;5702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4" name="Google Shape;5704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5" name="Google Shape;5705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7" name="Google Shape;5707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8" name="Google Shape;5708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9" name="Google Shape;5709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11" name="Google Shape;5711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2" name="Google Shape;5712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4" name="Google Shape;5714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15" name="Google Shape;5715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8" name="Google Shape;5718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9" name="Google Shape;5719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1" name="Google Shape;5721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5722" name="Google Shape;5722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3" name="Google Shape;5723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5" name="Google Shape;5725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6" name="Google Shape;5726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5728" name="Google Shape;5728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9" name="Google Shape;5729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30" name="Google Shape;5730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 YTD gross written premium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 in new business production</a:t>
            </a:r>
            <a:endParaRPr/>
          </a:p>
        </p:txBody>
      </p:sp>
      <p:sp>
        <p:nvSpPr>
          <p:cNvPr id="5734" name="Google Shape;5734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5" name="Google Shape;5735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36" name="Google Shape;5736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740" name="Google Shape;5740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1" name="Google Shape;5741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43" name="Google Shape;5743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$16,492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47" name="Shape 5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8" name="Google Shape;5748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9" name="Google Shape;5749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Forward Insurance Group Llc</a:t>
            </a:r>
            <a:endParaRPr/>
          </a:p>
        </p:txBody>
      </p:sp>
      <p:sp>
        <p:nvSpPr>
          <p:cNvPr id="5750" name="Google Shape;5750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New Alexandria</a:t>
            </a:r>
            <a:endParaRPr/>
          </a:p>
        </p:txBody>
      </p:sp>
      <p:sp>
        <p:nvSpPr>
          <p:cNvPr id="5751" name="Google Shape;5751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52" name="Google Shape;5752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53" name="Google Shape;5753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54" name="Google Shape;5754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55" name="Google Shape;5755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56" name="Google Shape;5756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$102,489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57" name="Google Shape;5757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$88,648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58" name="Google Shape;5758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59" name="Google Shape;5759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60" name="Google Shape;5760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61" name="Google Shape;5761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62" name="Google Shape;5762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$68,845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63" name="Google Shape;5763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64" name="Google Shape;5764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5" name="Google Shape;5765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66" name="Google Shape;5766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67" name="Google Shape;5767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68" name="Google Shape;5768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69" name="Google Shape;5769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70" name="Google Shape;5770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71" name="Google Shape;5771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72" name="Google Shape;5772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3" name="Google Shape;5773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74" name="Google Shape;5774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$3,916</a:t>
            </a:r>
            <a:endParaRPr/>
          </a:p>
        </p:txBody>
      </p:sp>
      <p:sp>
        <p:nvSpPr>
          <p:cNvPr id="5775" name="Google Shape;5775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6" name="Google Shape;5776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7" name="Google Shape;5777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$3,916</a:t>
            </a:r>
            <a:endParaRPr/>
          </a:p>
        </p:txBody>
      </p:sp>
      <p:sp>
        <p:nvSpPr>
          <p:cNvPr id="5778" name="Google Shape;5778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9" name="Google Shape;5779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0" name="Google Shape;5780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81" name="Google Shape;5781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2" name="Google Shape;5782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3" name="Google Shape;5783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4" name="Google Shape;5784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5" name="Google Shape;5785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6" name="Google Shape;5786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7" name="Google Shape;5787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88" name="Google Shape;5788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9" name="Google Shape;5789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0" name="Google Shape;5790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1" name="Google Shape;5791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2" name="Google Shape;5792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$-1,094</a:t>
            </a:r>
            <a:endParaRPr/>
          </a:p>
        </p:txBody>
      </p:sp>
      <p:sp>
        <p:nvSpPr>
          <p:cNvPr id="5793" name="Google Shape;5793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4" name="Google Shape;5794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95" name="Google Shape;5795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$2,643</a:t>
            </a:r>
            <a:endParaRPr/>
          </a:p>
        </p:txBody>
      </p:sp>
      <p:sp>
        <p:nvSpPr>
          <p:cNvPr id="5796" name="Google Shape;5796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7" name="Google Shape;5797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8" name="Google Shape;5798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$2,643</a:t>
            </a:r>
            <a:endParaRPr/>
          </a:p>
        </p:txBody>
      </p:sp>
      <p:sp>
        <p:nvSpPr>
          <p:cNvPr id="5799" name="Google Shape;5799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0" name="Google Shape;5800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1" name="Google Shape;5801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02" name="Google Shape;5802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3" name="Google Shape;5803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4" name="Google Shape;5804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5" name="Google Shape;5805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6" name="Google Shape;5806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7" name="Google Shape;5807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8" name="Google Shape;5808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09" name="Google Shape;5809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</p:txBody>
      </p:sp>
      <p:sp>
        <p:nvSpPr>
          <p:cNvPr id="5810" name="Google Shape;5810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1" name="Google Shape;5811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2" name="Google Shape;5812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</p:txBody>
      </p:sp>
      <p:sp>
        <p:nvSpPr>
          <p:cNvPr id="5813" name="Google Shape;5813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$-1,094</a:t>
            </a:r>
            <a:endParaRPr/>
          </a:p>
        </p:txBody>
      </p:sp>
      <p:sp>
        <p:nvSpPr>
          <p:cNvPr id="5814" name="Google Shape;5814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5" name="Google Shape;5815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16" name="Google Shape;5816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17" name="Google Shape;5817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18" name="Google Shape;5818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19" name="Google Shape;5819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20" name="Google Shape;5820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21" name="Google Shape;5821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22" name="Google Shape;5822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3" name="Google Shape;5823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24" name="Google Shape;5824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25" name="Google Shape;5825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26" name="Google Shape;5826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27" name="Google Shape;5827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28" name="Google Shape;5828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29" name="Google Shape;5829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0" name="Google Shape;5830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31" name="Google Shape;5831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32" name="Google Shape;5832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36" name="Google Shape;5836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7" name="Google Shape;5837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38" name="Google Shape;5838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39" name="Google Shape;5839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42" name="Google Shape;5842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43" name="Google Shape;5843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4" name="Google Shape;5844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45" name="Google Shape;5845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46" name="Google Shape;5846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49" name="Google Shape;5849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850" name="Google Shape;5850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1" name="Google Shape;5851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3" name="Google Shape;5853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6" name="Google Shape;5856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57" name="Google Shape;5857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8" name="Google Shape;5858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860" name="Google Shape;5860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61" name="Google Shape;5861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63" name="Google Shape;5863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5864" name="Google Shape;5864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5" name="Google Shape;5865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67" name="Google Shape;5867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68" name="Google Shape;5868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70" name="Google Shape;5870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71" name="Google Shape;5871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72" name="Google Shape;5872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73" name="Google Shape;5873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74" name="Google Shape;5874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75" name="Google Shape;5875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76" name="Google Shape;5876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77" name="Google Shape;5877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78" name="Google Shape;5878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79" name="Google Shape;5879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80" name="Google Shape;5880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81" name="Google Shape;5881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82" name="Google Shape;5882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83" name="Google Shape;5883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84" name="Google Shape;5884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86" name="Google Shape;5886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87" name="Google Shape;5887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88" name="Google Shape;5888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89" name="Google Shape;5889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93" name="Google Shape;5893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4" name="Google Shape;5894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895" name="Google Shape;5895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6" name="Google Shape;5896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898" name="Google Shape;5898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0" name="Google Shape;5900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901" name="Google Shape;5901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2" name="Google Shape;5902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3" name="Google Shape;5903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5905" name="Google Shape;5905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6" name="Google Shape;5906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07" name="Google Shape;5907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08" name="Google Shape;5908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 YTD gross written premium</a:t>
            </a:r>
            <a:endParaRPr/>
          </a:p>
        </p:txBody>
      </p:sp>
      <p:sp>
        <p:nvSpPr>
          <p:cNvPr id="5909" name="Google Shape;5909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10" name="Google Shape;5910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 hit ratio - above average conversion</a:t>
            </a:r>
            <a:endParaRPr/>
          </a:p>
        </p:txBody>
      </p:sp>
      <p:sp>
        <p:nvSpPr>
          <p:cNvPr id="5911" name="Google Shape;5911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2" name="Google Shape;5912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9 to 4 MoM</a:t>
            </a:r>
            <a:endParaRPr/>
          </a:p>
        </p:txBody>
      </p:sp>
      <p:sp>
        <p:nvSpPr>
          <p:cNvPr id="5915" name="Google Shape;5915;p3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917" name="Google Shape;5917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8" name="Google Shape;5918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921" name="Google Shape;5921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22" name="Google Shape;5922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26" name="Shape 5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7" name="Google Shape;5927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8" name="Google Shape;5928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Integrated Insurance Solutions Inc</a:t>
            </a:r>
            <a:endParaRPr/>
          </a:p>
        </p:txBody>
      </p:sp>
      <p:sp>
        <p:nvSpPr>
          <p:cNvPr id="5929" name="Google Shape;5929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Ashburn</a:t>
            </a:r>
            <a:endParaRPr/>
          </a:p>
        </p:txBody>
      </p:sp>
      <p:sp>
        <p:nvSpPr>
          <p:cNvPr id="5930" name="Google Shape;5930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31" name="Google Shape;5931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32" name="Google Shape;5932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33" name="Google Shape;5933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34" name="Google Shape;5934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35" name="Google Shape;5935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$132,485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36" name="Google Shape;5936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$68,256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37" name="Google Shape;5937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38" name="Google Shape;5938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39" name="Google Shape;5939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40" name="Google Shape;5940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41" name="Google Shape;5941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42" name="Google Shape;5942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43" name="Google Shape;5943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4" name="Google Shape;5944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45" name="Google Shape;5945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46" name="Google Shape;5946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47" name="Google Shape;5947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48" name="Google Shape;5948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49" name="Google Shape;5949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50" name="Google Shape;5950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51" name="Google Shape;5951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2" name="Google Shape;5952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53" name="Google Shape;5953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</a:t>
            </a:r>
            <a:endParaRPr/>
          </a:p>
        </p:txBody>
      </p:sp>
      <p:sp>
        <p:nvSpPr>
          <p:cNvPr id="5954" name="Google Shape;5954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</a:t>
            </a:r>
            <a:endParaRPr/>
          </a:p>
        </p:txBody>
      </p:sp>
      <p:sp>
        <p:nvSpPr>
          <p:cNvPr id="5955" name="Google Shape;5955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6" name="Google Shape;5956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</a:t>
            </a:r>
            <a:endParaRPr/>
          </a:p>
        </p:txBody>
      </p:sp>
      <p:sp>
        <p:nvSpPr>
          <p:cNvPr id="5957" name="Google Shape;5957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8" name="Google Shape;5958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9" name="Google Shape;5959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60" name="Google Shape;5960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1" name="Google Shape;5961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2" name="Google Shape;5962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3" name="Google Shape;5963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4" name="Google Shape;5964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5" name="Google Shape;5965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6" name="Google Shape;5966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67" name="Google Shape;5967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8" name="Google Shape;5968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9" name="Google Shape;5969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0" name="Google Shape;5970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1" name="Google Shape;5971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2" name="Google Shape;5972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3" name="Google Shape;5973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74" name="Google Shape;5974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5" name="Google Shape;5975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6" name="Google Shape;5976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7" name="Google Shape;5977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8" name="Google Shape;5978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9" name="Google Shape;5979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0" name="Google Shape;5980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81" name="Google Shape;5981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2" name="Google Shape;5982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3" name="Google Shape;5983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4" name="Google Shape;5984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5" name="Google Shape;5985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6" name="Google Shape;5986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7" name="Google Shape;5987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88" name="Google Shape;5988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</a:t>
            </a:r>
            <a:endParaRPr/>
          </a:p>
        </p:txBody>
      </p:sp>
      <p:sp>
        <p:nvSpPr>
          <p:cNvPr id="5989" name="Google Shape;5989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</a:t>
            </a:r>
            <a:endParaRPr/>
          </a:p>
        </p:txBody>
      </p:sp>
      <p:sp>
        <p:nvSpPr>
          <p:cNvPr id="5990" name="Google Shape;5990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1" name="Google Shape;5991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3" name="Google Shape;5993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4" name="Google Shape;5994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96" name="Google Shape;5996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97" name="Google Shape;5997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98" name="Google Shape;5998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01" name="Google Shape;6001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2" name="Google Shape;6002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03" name="Google Shape;6003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04" name="Google Shape;6004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5" name="Google Shape;6005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06" name="Google Shape;6006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6008" name="Google Shape;6008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9" name="Google Shape;6009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10" name="Google Shape;6010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11" name="Google Shape;6011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15" name="Google Shape;6015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6" name="Google Shape;6016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17" name="Google Shape;6017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18" name="Google Shape;6018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9" name="Google Shape;6019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22" name="Google Shape;6022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3" name="Google Shape;6023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24" name="Google Shape;6024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25" name="Google Shape;6025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26" name="Google Shape;6026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29" name="Google Shape;6029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0" name="Google Shape;6030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31" name="Google Shape;6031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2" name="Google Shape;6032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3" name="Google Shape;6033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5" name="Google Shape;6035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36" name="Google Shape;6036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7" name="Google Shape;6037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039" name="Google Shape;6039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0" name="Google Shape;6040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041" name="Google Shape;6041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2" name="Google Shape;6042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6043" name="Google Shape;6043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4" name="Google Shape;6044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45" name="Google Shape;6045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46" name="Google Shape;6046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47" name="Google Shape;6047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48" name="Google Shape;6048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49" name="Google Shape;6049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50" name="Google Shape;6050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51" name="Google Shape;6051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52" name="Google Shape;6052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53" name="Google Shape;6053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54" name="Google Shape;6054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57" name="Google Shape;6057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58" name="Google Shape;6058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59" name="Google Shape;6059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60" name="Google Shape;6060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61" name="Google Shape;6061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63" name="Google Shape;6063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65" name="Google Shape;6065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66" name="Google Shape;6066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67" name="Google Shape;6067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68" name="Google Shape;6068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$602</a:t>
            </a:r>
            <a:endParaRPr/>
          </a:p>
        </p:txBody>
      </p:sp>
      <p:sp>
        <p:nvSpPr>
          <p:cNvPr id="6073" name="Google Shape;6073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074" name="Google Shape;6074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075" name="Google Shape;6075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$-3,408</a:t>
            </a:r>
            <a:endParaRPr/>
          </a:p>
        </p:txBody>
      </p:sp>
      <p:sp>
        <p:nvSpPr>
          <p:cNvPr id="6077" name="Google Shape;6077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6079" name="Google Shape;6079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0" name="Google Shape;6080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6081" name="Google Shape;6081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2" name="Google Shape;6082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084" name="Google Shape;6084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5" name="Google Shape;6085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86" name="Google Shape;6086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87" name="Google Shape;6087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 YTD gross written premium</a:t>
            </a:r>
            <a:endParaRPr/>
          </a:p>
        </p:txBody>
      </p:sp>
      <p:sp>
        <p:nvSpPr>
          <p:cNvPr id="6088" name="Google Shape;6088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89" name="Google Shape;6089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 in new business production</a:t>
            </a:r>
            <a:endParaRPr/>
          </a:p>
        </p:txBody>
      </p:sp>
      <p:sp>
        <p:nvSpPr>
          <p:cNvPr id="6090" name="Google Shape;6090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1" name="Google Shape;6091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094" name="Google Shape;6094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95" name="Google Shape;6095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096" name="Google Shape;6096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7" name="Google Shape;6097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$6,166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03" name="Shape 6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4" name="Google Shape;6104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5" name="Google Shape;6105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6106" name="Google Shape;6106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Manassas</a:t>
            </a:r>
            <a:endParaRPr/>
          </a:p>
        </p:txBody>
      </p:sp>
      <p:sp>
        <p:nvSpPr>
          <p:cNvPr id="6107" name="Google Shape;6107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08" name="Google Shape;6108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09" name="Google Shape;6109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10" name="Google Shape;6110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11" name="Google Shape;6111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12" name="Google Shape;6112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$7,889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13" name="Google Shape;6113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$13,920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14" name="Google Shape;6114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15" name="Google Shape;6115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16" name="Google Shape;6116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17" name="Google Shape;6117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18" name="Google Shape;6118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19" name="Google Shape;6119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20" name="Google Shape;6120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1" name="Google Shape;6121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22" name="Google Shape;6122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23" name="Google Shape;6123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24" name="Google Shape;6124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25" name="Google Shape;6125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26" name="Google Shape;6126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27" name="Google Shape;6127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28" name="Google Shape;6128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9" name="Google Shape;6129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30" name="Google Shape;6130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$2,289</a:t>
            </a:r>
            <a:endParaRPr/>
          </a:p>
        </p:txBody>
      </p:sp>
      <p:sp>
        <p:nvSpPr>
          <p:cNvPr id="6131" name="Google Shape;6131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$2,289</a:t>
            </a:r>
            <a:endParaRPr/>
          </a:p>
        </p:txBody>
      </p:sp>
      <p:sp>
        <p:nvSpPr>
          <p:cNvPr id="6132" name="Google Shape;6132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3" name="Google Shape;6133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4" name="Google Shape;6134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5" name="Google Shape;6135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6" name="Google Shape;6136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37" name="Google Shape;6137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$3,742</a:t>
            </a:r>
            <a:endParaRPr/>
          </a:p>
        </p:txBody>
      </p:sp>
      <p:sp>
        <p:nvSpPr>
          <p:cNvPr id="6138" name="Google Shape;6138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$3,742</a:t>
            </a:r>
            <a:endParaRPr/>
          </a:p>
        </p:txBody>
      </p:sp>
      <p:sp>
        <p:nvSpPr>
          <p:cNvPr id="6139" name="Google Shape;6139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0" name="Google Shape;6140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1" name="Google Shape;6141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2" name="Google Shape;6142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3" name="Google Shape;6143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44" name="Google Shape;6144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5" name="Google Shape;6145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6" name="Google Shape;6146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7" name="Google Shape;6147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8" name="Google Shape;6148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$-2,335</a:t>
            </a:r>
            <a:endParaRPr/>
          </a:p>
        </p:txBody>
      </p:sp>
      <p:sp>
        <p:nvSpPr>
          <p:cNvPr id="6149" name="Google Shape;6149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0" name="Google Shape;6150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51" name="Google Shape;6151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2" name="Google Shape;6152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3" name="Google Shape;6153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4" name="Google Shape;6154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5" name="Google Shape;6155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6" name="Google Shape;6156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7" name="Google Shape;6157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58" name="Google Shape;6158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9" name="Google Shape;6159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0" name="Google Shape;6160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1" name="Google Shape;6161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2" name="Google Shape;6162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3" name="Google Shape;6163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4" name="Google Shape;6164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65" name="Google Shape;6165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</a:t>
            </a:r>
            <a:endParaRPr/>
          </a:p>
        </p:txBody>
      </p:sp>
      <p:sp>
        <p:nvSpPr>
          <p:cNvPr id="6166" name="Google Shape;6166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</a:t>
            </a:r>
            <a:endParaRPr/>
          </a:p>
        </p:txBody>
      </p:sp>
      <p:sp>
        <p:nvSpPr>
          <p:cNvPr id="6167" name="Google Shape;6167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8" name="Google Shape;6168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9" name="Google Shape;6169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$-2,335</a:t>
            </a:r>
            <a:endParaRPr/>
          </a:p>
        </p:txBody>
      </p:sp>
      <p:sp>
        <p:nvSpPr>
          <p:cNvPr id="6170" name="Google Shape;6170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1" name="Google Shape;6171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73" name="Google Shape;6173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74" name="Google Shape;6174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76" name="Google Shape;6176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77" name="Google Shape;6177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78" name="Google Shape;6178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9" name="Google Shape;6179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80" name="Google Shape;6180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181" name="Google Shape;6181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84" name="Google Shape;6184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6185" name="Google Shape;6185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6" name="Google Shape;6186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87" name="Google Shape;6187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188" name="Google Shape;6188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92" name="Google Shape;6192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3" name="Google Shape;6193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94" name="Google Shape;6194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195" name="Google Shape;6195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99" name="Google Shape;6199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0" name="Google Shape;6200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01" name="Google Shape;6201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02" name="Google Shape;6202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06" name="Google Shape;6206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7" name="Google Shape;6207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09" name="Google Shape;6209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0" name="Google Shape;6210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2" name="Google Shape;6212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13" name="Google Shape;6213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4" name="Google Shape;6214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216" name="Google Shape;6216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17" name="Google Shape;6217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218" name="Google Shape;6218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19" name="Google Shape;6219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6220" name="Google Shape;6220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1" name="Google Shape;6221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23" name="Google Shape;6223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24" name="Google Shape;6224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25" name="Google Shape;6225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26" name="Google Shape;6226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27" name="Google Shape;6227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28" name="Google Shape;6228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29" name="Google Shape;6229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30" name="Google Shape;6230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31" name="Google Shape;6231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34" name="Google Shape;6234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35" name="Google Shape;6235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37" name="Google Shape;6237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238" name="Google Shape;6238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9" name="Google Shape;6239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240" name="Google Shape;6240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242" name="Google Shape;6242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43" name="Google Shape;6243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44" name="Google Shape;6244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45" name="Google Shape;6245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46" name="Google Shape;6246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49" name="Google Shape;6249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0" name="Google Shape;6250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251" name="Google Shape;6251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2" name="Google Shape;6252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253" name="Google Shape;6253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4" name="Google Shape;6254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6" name="Google Shape;6256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7" name="Google Shape;6257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8" name="Google Shape;6258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9" name="Google Shape;6259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0" name="Google Shape;6260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261" name="Google Shape;6261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2" name="Google Shape;6262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63" name="Google Shape;6263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64" name="Google Shape;6264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 YTD gross written premium</a:t>
            </a:r>
            <a:endParaRPr/>
          </a:p>
        </p:txBody>
      </p:sp>
      <p:sp>
        <p:nvSpPr>
          <p:cNvPr id="6265" name="Google Shape;6265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66" name="Google Shape;6266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 in new business production</a:t>
            </a:r>
            <a:endParaRPr/>
          </a:p>
        </p:txBody>
      </p:sp>
      <p:sp>
        <p:nvSpPr>
          <p:cNvPr id="6267" name="Google Shape;6267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8" name="Google Shape;6268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1 MoM</a:t>
            </a:r>
            <a:endParaRPr/>
          </a:p>
        </p:txBody>
      </p:sp>
      <p:sp>
        <p:nvSpPr>
          <p:cNvPr id="6273" name="Google Shape;6273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4" name="Google Shape;6274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$6,032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78" name="Google Shape;6278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$2,335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82" name="Shape 6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3" name="Google Shape;6283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4" name="Google Shape;6284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6285" name="Google Shape;6285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CT  |  City: Hebron</a:t>
            </a:r>
            <a:endParaRPr/>
          </a:p>
        </p:txBody>
      </p:sp>
      <p:sp>
        <p:nvSpPr>
          <p:cNvPr id="6286" name="Google Shape;6286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87" name="Google Shape;6287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88" name="Google Shape;6288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89" name="Google Shape;6289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90" name="Google Shape;6290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91" name="Google Shape;6291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$32,382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92" name="Google Shape;6292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93" name="Google Shape;6293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294" name="Google Shape;6294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95" name="Google Shape;6295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96" name="Google Shape;6296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97" name="Google Shape;6297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298" name="Google Shape;6298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299" name="Google Shape;6299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0" name="Google Shape;6300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301" name="Google Shape;6301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02" name="Google Shape;6302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303" name="Google Shape;6303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04" name="Google Shape;6304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05" name="Google Shape;6305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06" name="Google Shape;6306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07" name="Google Shape;6307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8" name="Google Shape;6308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09" name="Google Shape;6309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$-996</a:t>
            </a:r>
            <a:endParaRPr/>
          </a:p>
        </p:txBody>
      </p:sp>
      <p:sp>
        <p:nvSpPr>
          <p:cNvPr id="6310" name="Google Shape;6310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1" name="Google Shape;6311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2" name="Google Shape;6312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$-996</a:t>
            </a:r>
            <a:endParaRPr/>
          </a:p>
        </p:txBody>
      </p:sp>
      <p:sp>
        <p:nvSpPr>
          <p:cNvPr id="6313" name="Google Shape;6313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4" name="Google Shape;6314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5" name="Google Shape;6315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16" name="Google Shape;6316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7" name="Google Shape;6317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8" name="Google Shape;6318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9" name="Google Shape;6319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0" name="Google Shape;6320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1" name="Google Shape;6321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2" name="Google Shape;6322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23" name="Google Shape;6323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$2,882</a:t>
            </a:r>
            <a:endParaRPr/>
          </a:p>
        </p:txBody>
      </p:sp>
      <p:sp>
        <p:nvSpPr>
          <p:cNvPr id="6324" name="Google Shape;6324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5" name="Google Shape;6325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326" name="Google Shape;6326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$2,332</a:t>
            </a:r>
            <a:endParaRPr/>
          </a:p>
        </p:txBody>
      </p:sp>
      <p:sp>
        <p:nvSpPr>
          <p:cNvPr id="6327" name="Google Shape;6327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8" name="Google Shape;6328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9" name="Google Shape;6329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30" name="Google Shape;6330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$2,061</a:t>
            </a:r>
            <a:endParaRPr/>
          </a:p>
        </p:txBody>
      </p:sp>
      <p:sp>
        <p:nvSpPr>
          <p:cNvPr id="6331" name="Google Shape;6331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2" name="Google Shape;6332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$2,061</a:t>
            </a:r>
            <a:endParaRPr/>
          </a:p>
        </p:txBody>
      </p:sp>
      <p:sp>
        <p:nvSpPr>
          <p:cNvPr id="6333" name="Google Shape;6333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4" name="Google Shape;6334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5" name="Google Shape;6335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6" name="Google Shape;6336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37" name="Google Shape;6337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8" name="Google Shape;6338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9" name="Google Shape;6339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0" name="Google Shape;6340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1" name="Google Shape;6341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2" name="Google Shape;6342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3" name="Google Shape;6343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44" name="Google Shape;6344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$3,947</a:t>
            </a:r>
            <a:endParaRPr/>
          </a:p>
        </p:txBody>
      </p:sp>
      <p:sp>
        <p:nvSpPr>
          <p:cNvPr id="6345" name="Google Shape;6345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6" name="Google Shape;6346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$2,611</a:t>
            </a:r>
            <a:endParaRPr/>
          </a:p>
        </p:txBody>
      </p:sp>
      <p:sp>
        <p:nvSpPr>
          <p:cNvPr id="6347" name="Google Shape;6347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$1,336</a:t>
            </a:r>
            <a:endParaRPr/>
          </a:p>
        </p:txBody>
      </p:sp>
      <p:sp>
        <p:nvSpPr>
          <p:cNvPr id="6348" name="Google Shape;6348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9" name="Google Shape;6349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0" name="Google Shape;6350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51" name="Google Shape;6351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52" name="Google Shape;6352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53" name="Google Shape;6353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54" name="Google Shape;6354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55" name="Google Shape;6355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56" name="Google Shape;6356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57" name="Google Shape;6357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8" name="Google Shape;6358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59" name="Google Shape;6359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60" name="Google Shape;6360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1" name="Google Shape;6361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62" name="Google Shape;6362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63" name="Google Shape;6363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364" name="Google Shape;6364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5" name="Google Shape;6365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66" name="Google Shape;6366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67" name="Google Shape;6367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8" name="Google Shape;6368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69" name="Google Shape;6369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70" name="Google Shape;6370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371" name="Google Shape;6371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2" name="Google Shape;6372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73" name="Google Shape;6373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74" name="Google Shape;6374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5" name="Google Shape;6375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76" name="Google Shape;6376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77" name="Google Shape;6377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6378" name="Google Shape;6378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9" name="Google Shape;6379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80" name="Google Shape;6380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381" name="Google Shape;6381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2" name="Google Shape;6382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383" name="Google Shape;6383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4" name="Google Shape;6384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85" name="Google Shape;6385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6" name="Google Shape;6386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87" name="Google Shape;6387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8" name="Google Shape;6388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9" name="Google Shape;6389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90" name="Google Shape;6390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91" name="Google Shape;6391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392" name="Google Shape;6392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3" name="Google Shape;6393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94" name="Google Shape;6394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395" name="Google Shape;6395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6" name="Google Shape;6396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397" name="Google Shape;6397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98" name="Google Shape;6398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6399" name="Google Shape;6399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0" name="Google Shape;6400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401" name="Google Shape;6401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02" name="Google Shape;6402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03" name="Google Shape;6403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04" name="Google Shape;6404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05" name="Google Shape;6405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06" name="Google Shape;6406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07" name="Google Shape;6407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08" name="Google Shape;6408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09" name="Google Shape;6409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10" name="Google Shape;6410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11" name="Google Shape;6411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12" name="Google Shape;6412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14" name="Google Shape;6414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15" name="Google Shape;6415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16" name="Google Shape;6416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17" name="Google Shape;6417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419" name="Google Shape;6419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20" name="Google Shape;6420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422" name="Google Shape;6422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423" name="Google Shape;6423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24" name="Google Shape;6424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426" name="Google Shape;6426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6427" name="Google Shape;6427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9" name="Google Shape;6429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$-996</a:t>
            </a:r>
            <a:endParaRPr/>
          </a:p>
        </p:txBody>
      </p:sp>
      <p:sp>
        <p:nvSpPr>
          <p:cNvPr id="6430" name="Google Shape;6430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</a:t>
            </a:r>
            <a:endParaRPr/>
          </a:p>
        </p:txBody>
      </p:sp>
      <p:sp>
        <p:nvSpPr>
          <p:cNvPr id="6431" name="Google Shape;6431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6433" name="Google Shape;6433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434" name="Google Shape;6434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436" name="Google Shape;6436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7" name="Google Shape;6437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8" name="Google Shape;6438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440" name="Google Shape;6440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1" name="Google Shape;6441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43" name="Google Shape;6443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$3,947 YTD gross written premium</a:t>
            </a:r>
            <a:endParaRPr/>
          </a:p>
        </p:txBody>
      </p:sp>
      <p:sp>
        <p:nvSpPr>
          <p:cNvPr id="6444" name="Google Shape;6444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$2,611 in renewals - strong retention</a:t>
            </a:r>
            <a:endParaRPr/>
          </a:p>
        </p:txBody>
      </p:sp>
      <p:sp>
        <p:nvSpPr>
          <p:cNvPr id="6446" name="Google Shape;6446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7" name="Google Shape;6447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450" name="Google Shape;6450;p4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51" name="Google Shape;6451;p4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10 to 3 MoM</a:t>
            </a:r>
            <a:endParaRPr/>
          </a:p>
        </p:txBody>
      </p:sp>
      <p:sp>
        <p:nvSpPr>
          <p:cNvPr id="6452" name="Google Shape;6452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3" name="Google Shape;6453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55" name="Google Shape;6455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59" name="Shape 6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0" name="Google Shape;6460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1" name="Google Shape;6461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 G I Brokerage Inc</a:t>
            </a:r>
            <a:endParaRPr/>
          </a:p>
        </p:txBody>
      </p:sp>
      <p:sp>
        <p:nvSpPr>
          <p:cNvPr id="6462" name="Google Shape;6462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Brooklyn</a:t>
            </a:r>
            <a:endParaRPr/>
          </a:p>
        </p:txBody>
      </p:sp>
      <p:sp>
        <p:nvSpPr>
          <p:cNvPr id="6463" name="Google Shape;6463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64" name="Google Shape;6464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65" name="Google Shape;6465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66" name="Google Shape;6466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67" name="Google Shape;6467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68" name="Google Shape;6468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$39,829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69" name="Google Shape;6469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70" name="Google Shape;6470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71" name="Google Shape;6471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72" name="Google Shape;6472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73" name="Google Shape;6473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74" name="Google Shape;6474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75" name="Google Shape;6475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$27,802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76" name="Google Shape;6476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7" name="Google Shape;6477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78" name="Google Shape;6478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79" name="Google Shape;6479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80" name="Google Shape;6480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81" name="Google Shape;6481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82" name="Google Shape;6482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83" name="Google Shape;6483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84" name="Google Shape;6484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5" name="Google Shape;6485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86" name="Google Shape;6486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7" name="Google Shape;6487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8" name="Google Shape;6488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9" name="Google Shape;6489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0" name="Google Shape;6490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1" name="Google Shape;6491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2" name="Google Shape;6492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93" name="Google Shape;6493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4" name="Google Shape;6494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5" name="Google Shape;6495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6" name="Google Shape;6496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7" name="Google Shape;6497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8" name="Google Shape;6498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9" name="Google Shape;6499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00" name="Google Shape;6500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6501" name="Google Shape;6501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2" name="Google Shape;6502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3" name="Google Shape;6503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6504" name="Google Shape;6504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5" name="Google Shape;6505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6" name="Google Shape;6506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07" name="Google Shape;6507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8" name="Google Shape;6508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9" name="Google Shape;6509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0" name="Google Shape;6510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1" name="Google Shape;6511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2" name="Google Shape;6512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3" name="Google Shape;6513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14" name="Google Shape;6514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515" name="Google Shape;6515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6" name="Google Shape;6516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517" name="Google Shape;6517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8" name="Google Shape;6518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9" name="Google Shape;6519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0" name="Google Shape;6520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21" name="Google Shape;6521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</a:t>
            </a:r>
            <a:endParaRPr/>
          </a:p>
        </p:txBody>
      </p:sp>
      <p:sp>
        <p:nvSpPr>
          <p:cNvPr id="6522" name="Google Shape;6522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3" name="Google Shape;6523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524" name="Google Shape;6524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6525" name="Google Shape;6525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6" name="Google Shape;6526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7" name="Google Shape;6527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28" name="Google Shape;6528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29" name="Google Shape;6529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30" name="Google Shape;6530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31" name="Google Shape;6531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32" name="Google Shape;6532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33" name="Google Shape;6533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34" name="Google Shape;6534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5" name="Google Shape;6535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36" name="Google Shape;6536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37" name="Google Shape;6537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38" name="Google Shape;6538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39" name="Google Shape;6539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0" name="Google Shape;6540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41" name="Google Shape;6541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2" name="Google Shape;6542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43" name="Google Shape;6543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44" name="Google Shape;6544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5" name="Google Shape;6545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46" name="Google Shape;6546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47" name="Google Shape;6547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548" name="Google Shape;6548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9" name="Google Shape;6549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50" name="Google Shape;6550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51" name="Google Shape;6551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2" name="Google Shape;6552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53" name="Google Shape;6553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54" name="Google Shape;6554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555" name="Google Shape;6555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6" name="Google Shape;6556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57" name="Google Shape;6557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8" name="Google Shape;6558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9" name="Google Shape;6559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0" name="Google Shape;6560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1" name="Google Shape;6561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62" name="Google Shape;6562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3" name="Google Shape;6563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64" name="Google Shape;6564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65" name="Google Shape;6565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6" name="Google Shape;6566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67" name="Google Shape;6567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8" name="Google Shape;6568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69" name="Google Shape;6569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0" name="Google Shape;6570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71" name="Google Shape;6571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72" name="Google Shape;6572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3" name="Google Shape;6573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74" name="Google Shape;6574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75" name="Google Shape;6575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576" name="Google Shape;6576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7" name="Google Shape;6577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578" name="Google Shape;6578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79" name="Google Shape;6579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80" name="Google Shape;6580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81" name="Google Shape;6581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82" name="Google Shape;6582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83" name="Google Shape;6583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84" name="Google Shape;6584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585" name="Google Shape;6585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586" name="Google Shape;6586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587" name="Google Shape;6587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588" name="Google Shape;6588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589" name="Google Shape;6589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590" name="Google Shape;6590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591" name="Google Shape;6591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92" name="Google Shape;6592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3" name="Google Shape;6593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4" name="Google Shape;6594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5" name="Google Shape;6595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6" name="Google Shape;6596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8" name="Google Shape;6598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9" name="Google Shape;6599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0" name="Google Shape;6600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01" name="Google Shape;6601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02" name="Google Shape;6602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03" name="Google Shape;6603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05" name="Google Shape;6605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6" name="Google Shape;6606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7" name="Google Shape;6607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8" name="Google Shape;6608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9" name="Google Shape;6609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0" name="Google Shape;6610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2" name="Google Shape;6612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3" name="Google Shape;6613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4" name="Google Shape;6614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6" name="Google Shape;6616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</a:t>
            </a:r>
            <a:endParaRPr/>
          </a:p>
        </p:txBody>
      </p:sp>
      <p:sp>
        <p:nvSpPr>
          <p:cNvPr id="6617" name="Google Shape;6617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8" name="Google Shape;6618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19" name="Google Shape;6619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20" name="Google Shape;6620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 YTD gross written premium</a:t>
            </a:r>
            <a:endParaRPr/>
          </a:p>
        </p:txBody>
      </p:sp>
      <p:sp>
        <p:nvSpPr>
          <p:cNvPr id="6621" name="Google Shape;6621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22" name="Google Shape;6622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in renewals - strong retention</a:t>
            </a:r>
            <a:endParaRPr/>
          </a:p>
        </p:txBody>
      </p:sp>
      <p:sp>
        <p:nvSpPr>
          <p:cNvPr id="6623" name="Google Shape;6623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4" name="Google Shape;6624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26" name="Google Shape;6626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627" name="Google Shape;6627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8" name="Google Shape;6628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34" name="Shape 6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5" name="Google Shape;6635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6" name="Google Shape;6636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Crotty Insurance Agency, Inc.</a:t>
            </a:r>
            <a:endParaRPr/>
          </a:p>
        </p:txBody>
      </p:sp>
      <p:sp>
        <p:nvSpPr>
          <p:cNvPr id="6637" name="Google Shape;6637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N/A  |  City: N/A</a:t>
            </a:r>
            <a:endParaRPr/>
          </a:p>
        </p:txBody>
      </p:sp>
      <p:sp>
        <p:nvSpPr>
          <p:cNvPr id="6638" name="Google Shape;6638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39" name="Google Shape;6639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40" name="Google Shape;6640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41" name="Google Shape;6641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42" name="Google Shape;6642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43" name="Google Shape;6643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44" name="Google Shape;6644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45" name="Google Shape;6645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46" name="Google Shape;6646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47" name="Google Shape;6647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48" name="Google Shape;6648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49" name="Google Shape;6649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50" name="Google Shape;6650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51" name="Google Shape;6651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2" name="Google Shape;6652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53" name="Google Shape;6653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54" name="Google Shape;6654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55" name="Google Shape;6655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56" name="Google Shape;6656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57" name="Google Shape;6657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58" name="Google Shape;6658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59" name="Google Shape;6659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0" name="Google Shape;6660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61" name="Google Shape;6661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2" name="Google Shape;6662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3" name="Google Shape;6663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4" name="Google Shape;6664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5" name="Google Shape;6665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6" name="Google Shape;6666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7" name="Google Shape;6667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68" name="Google Shape;6668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9" name="Google Shape;6669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0" name="Google Shape;6670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1" name="Google Shape;6671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2" name="Google Shape;6672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3" name="Google Shape;6673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4" name="Google Shape;6674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75" name="Google Shape;6675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6" name="Google Shape;6676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7" name="Google Shape;6677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8" name="Google Shape;6678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9" name="Google Shape;6679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0" name="Google Shape;6680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1" name="Google Shape;6681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82" name="Google Shape;6682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3" name="Google Shape;6683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4" name="Google Shape;6684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5" name="Google Shape;6685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6" name="Google Shape;6686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7" name="Google Shape;6687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8" name="Google Shape;6688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89" name="Google Shape;6689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0" name="Google Shape;6690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1" name="Google Shape;6691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2" name="Google Shape;6692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3" name="Google Shape;6693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4" name="Google Shape;6694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5" name="Google Shape;6695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96" name="Google Shape;6696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7" name="Google Shape;6697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8" name="Google Shape;6698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9" name="Google Shape;6699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0" name="Google Shape;6700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1" name="Google Shape;6701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2" name="Google Shape;6702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03" name="Google Shape;6703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04" name="Google Shape;6704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05" name="Google Shape;6705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06" name="Google Shape;6706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07" name="Google Shape;6707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08" name="Google Shape;6708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09" name="Google Shape;6709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0" name="Google Shape;6710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11" name="Google Shape;6711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2" name="Google Shape;6712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3" name="Google Shape;6713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4" name="Google Shape;6714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5" name="Google Shape;6715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16" name="Google Shape;6716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7" name="Google Shape;6717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18" name="Google Shape;6718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9" name="Google Shape;6719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0" name="Google Shape;6720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1" name="Google Shape;6721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2" name="Google Shape;6722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23" name="Google Shape;6723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4" name="Google Shape;6724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25" name="Google Shape;6725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6" name="Google Shape;6726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7" name="Google Shape;6727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8" name="Google Shape;6728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9" name="Google Shape;6729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30" name="Google Shape;6730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1" name="Google Shape;6731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32" name="Google Shape;6732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33" name="Google Shape;6733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34" name="Google Shape;6734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35" name="Google Shape;6735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36" name="Google Shape;6736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37" name="Google Shape;6737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8" name="Google Shape;6738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39" name="Google Shape;6739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0" name="Google Shape;6740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1" name="Google Shape;6741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2" name="Google Shape;6742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3" name="Google Shape;6743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44" name="Google Shape;6744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5" name="Google Shape;6745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46" name="Google Shape;6746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7" name="Google Shape;6747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8" name="Google Shape;6748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9" name="Google Shape;6749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0" name="Google Shape;6750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51" name="Google Shape;6751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2" name="Google Shape;6752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753" name="Google Shape;6753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54" name="Google Shape;6754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55" name="Google Shape;6755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56" name="Google Shape;6756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57" name="Google Shape;6757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58" name="Google Shape;6758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59" name="Google Shape;6759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60" name="Google Shape;6760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61" name="Google Shape;6761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62" name="Google Shape;6762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63" name="Google Shape;6763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64" name="Google Shape;6764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765" name="Google Shape;6765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766" name="Google Shape;6766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67" name="Google Shape;6767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8" name="Google Shape;6768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9" name="Google Shape;6769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0" name="Google Shape;6770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1" name="Google Shape;6771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2" name="Google Shape;6772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3" name="Google Shape;6773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4" name="Google Shape;6774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5" name="Google Shape;6775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7" name="Google Shape;6777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8" name="Google Shape;6778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9" name="Google Shape;6779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80" name="Google Shape;6780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1" name="Google Shape;6781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2" name="Google Shape;6782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4" name="Google Shape;6784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5" name="Google Shape;6785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6" name="Google Shape;6786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7" name="Google Shape;6787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8" name="Google Shape;6788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9" name="Google Shape;6789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1" name="Google Shape;6791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2" name="Google Shape;6792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3" name="Google Shape;6793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95" name="Google Shape;6795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6796" name="Google Shape;6796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7" name="Google Shape;6797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798" name="Google Shape;6798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99" name="Google Shape;6799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6800" name="Google Shape;6800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1" name="Google Shape;6801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02" name="Google Shape;6802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03" name="Google Shape;6803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05" name="Google Shape;6805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09" name="Shape 6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0" name="Google Shape;6810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1" name="Google Shape;6811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Insurance Group Inc</a:t>
            </a:r>
            <a:endParaRPr/>
          </a:p>
        </p:txBody>
      </p:sp>
      <p:sp>
        <p:nvSpPr>
          <p:cNvPr id="6812" name="Google Shape;6812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Bristol</a:t>
            </a:r>
            <a:endParaRPr/>
          </a:p>
        </p:txBody>
      </p:sp>
      <p:sp>
        <p:nvSpPr>
          <p:cNvPr id="6813" name="Google Shape;6813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14" name="Google Shape;6814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15" name="Google Shape;6815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16" name="Google Shape;6816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17" name="Google Shape;6817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18" name="Google Shape;6818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19" name="Google Shape;6819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20" name="Google Shape;6820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21" name="Google Shape;6821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22" name="Google Shape;6822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23" name="Google Shape;6823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24" name="Google Shape;6824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25" name="Google Shape;6825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26" name="Google Shape;6826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7" name="Google Shape;6827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28" name="Google Shape;6828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29" name="Google Shape;6829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30" name="Google Shape;6830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31" name="Google Shape;6831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32" name="Google Shape;6832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33" name="Google Shape;6833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34" name="Google Shape;6834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5" name="Google Shape;6835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36" name="Google Shape;6836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7" name="Google Shape;6837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8" name="Google Shape;6838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9" name="Google Shape;6839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0" name="Google Shape;6840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1" name="Google Shape;6841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2" name="Google Shape;6842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43" name="Google Shape;6843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4" name="Google Shape;6844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5" name="Google Shape;6845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6" name="Google Shape;6846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7" name="Google Shape;6847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8" name="Google Shape;6848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9" name="Google Shape;6849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50" name="Google Shape;6850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1" name="Google Shape;6851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2" name="Google Shape;6852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3" name="Google Shape;6853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4" name="Google Shape;6854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5" name="Google Shape;6855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6" name="Google Shape;6856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57" name="Google Shape;6857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8" name="Google Shape;6858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9" name="Google Shape;6859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0" name="Google Shape;6860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1" name="Google Shape;6861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2" name="Google Shape;6862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3" name="Google Shape;6863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64" name="Google Shape;6864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5" name="Google Shape;6865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6" name="Google Shape;6866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7" name="Google Shape;6867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8" name="Google Shape;6868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9" name="Google Shape;6869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0" name="Google Shape;6870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71" name="Google Shape;6871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2" name="Google Shape;6872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3" name="Google Shape;6873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4" name="Google Shape;6874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5" name="Google Shape;6875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6" name="Google Shape;6876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7" name="Google Shape;6877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78" name="Google Shape;6878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79" name="Google Shape;6879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80" name="Google Shape;6880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881" name="Google Shape;6881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882" name="Google Shape;6882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83" name="Google Shape;6883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84" name="Google Shape;6884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5" name="Google Shape;6885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86" name="Google Shape;6886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87" name="Google Shape;6887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88" name="Google Shape;6888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89" name="Google Shape;6889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0" name="Google Shape;6890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91" name="Google Shape;6891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2" name="Google Shape;6892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93" name="Google Shape;6893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94" name="Google Shape;6894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5" name="Google Shape;6895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96" name="Google Shape;6896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7" name="Google Shape;6897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98" name="Google Shape;6898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9" name="Google Shape;6899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00" name="Google Shape;6900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01" name="Google Shape;6901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2" name="Google Shape;6902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03" name="Google Shape;6903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4" name="Google Shape;6904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05" name="Google Shape;6905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6" name="Google Shape;6906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07" name="Google Shape;6907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908" name="Google Shape;6908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9" name="Google Shape;6909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910" name="Google Shape;6910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1" name="Google Shape;6911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12" name="Google Shape;6912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3" name="Google Shape;6913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14" name="Google Shape;6914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915" name="Google Shape;6915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16" name="Google Shape;6916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917" name="Google Shape;6917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8" name="Google Shape;6918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19" name="Google Shape;6919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0" name="Google Shape;6920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21" name="Google Shape;6921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922" name="Google Shape;6922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23" name="Google Shape;6923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924" name="Google Shape;6924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5" name="Google Shape;6925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26" name="Google Shape;6926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7" name="Google Shape;6927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29" name="Google Shape;6929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30" name="Google Shape;6930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31" name="Google Shape;6931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32" name="Google Shape;6932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33" name="Google Shape;6933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34" name="Google Shape;6934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35" name="Google Shape;6935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36" name="Google Shape;6936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37" name="Google Shape;6937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38" name="Google Shape;6938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39" name="Google Shape;6939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40" name="Google Shape;6940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41" name="Google Shape;6941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42" name="Google Shape;6942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3" name="Google Shape;6943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944" name="Google Shape;6944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5" name="Google Shape;6945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7" name="Google Shape;6947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48" name="Google Shape;6948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950" name="Google Shape;6950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51" name="Google Shape;6951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952" name="Google Shape;6952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953" name="Google Shape;6953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7" name="Google Shape;6957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8" name="Google Shape;6958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9" name="Google Shape;6959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0" name="Google Shape;6960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4" name="Google Shape;6964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5" name="Google Shape;6965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6" name="Google Shape;6966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7" name="Google Shape;6967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8" name="Google Shape;6968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submissions - highly active agency</a:t>
            </a:r>
            <a:endParaRPr/>
          </a:p>
        </p:txBody>
      </p:sp>
      <p:sp>
        <p:nvSpPr>
          <p:cNvPr id="6971" name="Google Shape;6971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2" name="Google Shape;6972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quotes generated - active in pipeline</a:t>
            </a:r>
            <a:endParaRPr/>
          </a:p>
        </p:txBody>
      </p:sp>
      <p:sp>
        <p:nvSpPr>
          <p:cNvPr id="6973" name="Google Shape;6973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4" name="Google Shape;6974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29 submissions</a:t>
            </a:r>
            <a:endParaRPr/>
          </a:p>
        </p:txBody>
      </p:sp>
      <p:sp>
        <p:nvSpPr>
          <p:cNvPr id="6977" name="Google Shape;6977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78" name="Google Shape;6978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submissions with zero binds - zero conversion</a:t>
            </a:r>
            <a:endParaRPr/>
          </a:p>
        </p:txBody>
      </p:sp>
      <p:sp>
        <p:nvSpPr>
          <p:cNvPr id="6979" name="Google Shape;6979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0" name="Google Shape;6980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981" name="Google Shape;6981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982" name="Google Shape;6982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88" name="Shape 6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9" name="Google Shape;6989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0" name="Google Shape;6990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 Miranda Agency Inc</a:t>
            </a:r>
            <a:endParaRPr/>
          </a:p>
        </p:txBody>
      </p:sp>
      <p:sp>
        <p:nvSpPr>
          <p:cNvPr id="6991" name="Google Shape;6991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New Rochelle</a:t>
            </a:r>
            <a:endParaRPr/>
          </a:p>
        </p:txBody>
      </p:sp>
      <p:sp>
        <p:nvSpPr>
          <p:cNvPr id="6992" name="Google Shape;6992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993" name="Google Shape;6993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94" name="Google Shape;6994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95" name="Google Shape;6995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96" name="Google Shape;6996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97" name="Google Shape;6997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998" name="Google Shape;6998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999" name="Google Shape;6999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00" name="Google Shape;7000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01" name="Google Shape;7001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02" name="Google Shape;7002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03" name="Google Shape;7003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04" name="Google Shape;7004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05" name="Google Shape;7005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6" name="Google Shape;7006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07" name="Google Shape;7007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08" name="Google Shape;7008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09" name="Google Shape;7009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10" name="Google Shape;7010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11" name="Google Shape;7011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12" name="Google Shape;7012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13" name="Google Shape;7013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4" name="Google Shape;7014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15" name="Google Shape;7015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6" name="Google Shape;7016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7" name="Google Shape;7017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8" name="Google Shape;7018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9" name="Google Shape;7019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0" name="Google Shape;7020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1" name="Google Shape;7021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22" name="Google Shape;7022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3" name="Google Shape;7023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4" name="Google Shape;7024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5" name="Google Shape;7025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6" name="Google Shape;7026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7" name="Google Shape;7027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8" name="Google Shape;7028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29" name="Google Shape;7029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0" name="Google Shape;7030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1" name="Google Shape;7031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2" name="Google Shape;7032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3" name="Google Shape;7033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4" name="Google Shape;7034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5" name="Google Shape;7035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36" name="Google Shape;7036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7" name="Google Shape;7037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8" name="Google Shape;7038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9" name="Google Shape;7039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0" name="Google Shape;7040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1" name="Google Shape;7041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2" name="Google Shape;7042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43" name="Google Shape;7043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4" name="Google Shape;7044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5" name="Google Shape;7045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6" name="Google Shape;7046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7" name="Google Shape;7047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8" name="Google Shape;7048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9" name="Google Shape;7049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50" name="Google Shape;7050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1" name="Google Shape;7051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2" name="Google Shape;7052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3" name="Google Shape;7053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4" name="Google Shape;7054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5" name="Google Shape;7055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6" name="Google Shape;7056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057" name="Google Shape;7057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58" name="Google Shape;7058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059" name="Google Shape;7059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060" name="Google Shape;7060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061" name="Google Shape;7061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62" name="Google Shape;7062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63" name="Google Shape;7063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4" name="Google Shape;7064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65" name="Google Shape;7065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6" name="Google Shape;7066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7" name="Google Shape;7067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8" name="Google Shape;7068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9" name="Google Shape;7069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70" name="Google Shape;7070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1" name="Google Shape;7071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72" name="Google Shape;7072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73" name="Google Shape;7073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4" name="Google Shape;7074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75" name="Google Shape;7075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6" name="Google Shape;7076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77" name="Google Shape;7077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8" name="Google Shape;7078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79" name="Google Shape;7079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80" name="Google Shape;7080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1" name="Google Shape;7081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82" name="Google Shape;7082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3" name="Google Shape;7083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84" name="Google Shape;7084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5" name="Google Shape;7085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86" name="Google Shape;7086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87" name="Google Shape;7087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8" name="Google Shape;7088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89" name="Google Shape;7089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0" name="Google Shape;7090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91" name="Google Shape;7091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2" name="Google Shape;7092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93" name="Google Shape;7093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4" name="Google Shape;7094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5" name="Google Shape;7095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6" name="Google Shape;7096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7" name="Google Shape;7097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98" name="Google Shape;7098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9" name="Google Shape;7099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00" name="Google Shape;7100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01" name="Google Shape;7101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2" name="Google Shape;7102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03" name="Google Shape;7103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4" name="Google Shape;7104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05" name="Google Shape;7105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6" name="Google Shape;7106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07" name="Google Shape;7107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08" name="Google Shape;7108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09" name="Google Shape;7109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10" name="Google Shape;7110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11" name="Google Shape;7111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12" name="Google Shape;7112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13" name="Google Shape;7113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14" name="Google Shape;7114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15" name="Google Shape;7115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16" name="Google Shape;7116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17" name="Google Shape;7117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18" name="Google Shape;7118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19" name="Google Shape;7119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20" name="Google Shape;7120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21" name="Google Shape;7121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22" name="Google Shape;7122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3" name="Google Shape;7123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4" name="Google Shape;7124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26" name="Google Shape;7126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27" name="Google Shape;7127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8" name="Google Shape;7128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9" name="Google Shape;7129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30" name="Google Shape;7130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1" name="Google Shape;7131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34" name="Google Shape;7134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5" name="Google Shape;7135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6" name="Google Shape;7136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7" name="Google Shape;7137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8" name="Google Shape;7138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1" name="Google Shape;7141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2" name="Google Shape;7142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3" name="Google Shape;7143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4" name="Google Shape;7144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5" name="Google Shape;7145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6" name="Google Shape;7146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7" name="Google Shape;7147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48" name="Google Shape;7148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49" name="Google Shape;7149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7150" name="Google Shape;7150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1" name="Google Shape;7151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152" name="Google Shape;7152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53" name="Google Shape;7153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55" name="Google Shape;7155;p4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7156" name="Google Shape;7156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7" name="Google Shape;7157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158" name="Google Shape;7158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159" name="Google Shape;7159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63" name="Shape 7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4" name="Google Shape;7164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5" name="Google Shape;7165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Fdi Management Group, Inc.</a:t>
            </a:r>
            <a:endParaRPr/>
          </a:p>
        </p:txBody>
      </p:sp>
      <p:sp>
        <p:nvSpPr>
          <p:cNvPr id="7166" name="Google Shape;7166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Mechanicsburg</a:t>
            </a:r>
            <a:endParaRPr/>
          </a:p>
        </p:txBody>
      </p:sp>
      <p:sp>
        <p:nvSpPr>
          <p:cNvPr id="7167" name="Google Shape;7167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168" name="Google Shape;7168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69" name="Google Shape;7169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70" name="Google Shape;7170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71" name="Google Shape;7171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72" name="Google Shape;7172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$111,729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173" name="Google Shape;7173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$48,146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174" name="Google Shape;7174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175" name="Google Shape;7175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76" name="Google Shape;7176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77" name="Google Shape;7177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78" name="Google Shape;7178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179" name="Google Shape;7179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180" name="Google Shape;7180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1" name="Google Shape;7181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182" name="Google Shape;7182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83" name="Google Shape;7183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184" name="Google Shape;7184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85" name="Google Shape;7185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86" name="Google Shape;7186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87" name="Google Shape;7187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88" name="Google Shape;7188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9" name="Google Shape;7189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90" name="Google Shape;7190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1" name="Google Shape;7191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2" name="Google Shape;7192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3" name="Google Shape;7193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4" name="Google Shape;7194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5" name="Google Shape;7195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6" name="Google Shape;7196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97" name="Google Shape;7197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8" name="Google Shape;7198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9" name="Google Shape;7199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0" name="Google Shape;7200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1" name="Google Shape;7201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2" name="Google Shape;7202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3" name="Google Shape;7203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04" name="Google Shape;7204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5" name="Google Shape;7205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6" name="Google Shape;7206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7" name="Google Shape;7207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8" name="Google Shape;7208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9" name="Google Shape;7209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0" name="Google Shape;7210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11" name="Google Shape;7211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2" name="Google Shape;7212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3" name="Google Shape;7213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4" name="Google Shape;7214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5" name="Google Shape;7215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6" name="Google Shape;7216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7" name="Google Shape;7217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18" name="Google Shape;7218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9" name="Google Shape;7219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0" name="Google Shape;7220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1" name="Google Shape;7221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2" name="Google Shape;7222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3" name="Google Shape;7223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4" name="Google Shape;7224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25" name="Google Shape;7225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6" name="Google Shape;7226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7" name="Google Shape;7227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8" name="Google Shape;7228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9" name="Google Shape;7229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0" name="Google Shape;7230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1" name="Google Shape;7231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32" name="Google Shape;7232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33" name="Google Shape;7233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34" name="Google Shape;7234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35" name="Google Shape;7235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36" name="Google Shape;7236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37" name="Google Shape;7237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38" name="Google Shape;7238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9" name="Google Shape;7239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40" name="Google Shape;7240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41" name="Google Shape;7241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42" name="Google Shape;7242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43" name="Google Shape;7243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44" name="Google Shape;7244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45" name="Google Shape;7245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6" name="Google Shape;7246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47" name="Google Shape;7247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248" name="Google Shape;7248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49" name="Google Shape;7249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50" name="Google Shape;7250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1" name="Google Shape;7251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52" name="Google Shape;7252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3" name="Google Shape;7253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54" name="Google Shape;7254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55" name="Google Shape;7255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56" name="Google Shape;7256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57" name="Google Shape;7257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8" name="Google Shape;7258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59" name="Google Shape;7259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0" name="Google Shape;7260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61" name="Google Shape;7261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262" name="Google Shape;7262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63" name="Google Shape;7263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64" name="Google Shape;7264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5" name="Google Shape;7265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66" name="Google Shape;7266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7" name="Google Shape;7267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68" name="Google Shape;7268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69" name="Google Shape;7269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70" name="Google Shape;7270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71" name="Google Shape;7271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2" name="Google Shape;7272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73" name="Google Shape;7273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4" name="Google Shape;7274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75" name="Google Shape;7275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276" name="Google Shape;7276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277" name="Google Shape;7277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278" name="Google Shape;7278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9" name="Google Shape;7279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80" name="Google Shape;7280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1" name="Google Shape;7281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282" name="Google Shape;7282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283" name="Google Shape;7283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284" name="Google Shape;7284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285" name="Google Shape;7285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286" name="Google Shape;7286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287" name="Google Shape;7287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288" name="Google Shape;7288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289" name="Google Shape;7289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290" name="Google Shape;7290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291" name="Google Shape;7291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292" name="Google Shape;7292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293" name="Google Shape;7293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294" name="Google Shape;7294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295" name="Google Shape;7295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96" name="Google Shape;7296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297" name="Google Shape;7297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300" name="Google Shape;7300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01" name="Google Shape;7301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02" name="Google Shape;7302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303" name="Google Shape;7303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304" name="Google Shape;7304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305" name="Google Shape;7305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306" name="Google Shape;7306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7307" name="Google Shape;7307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308" name="Google Shape;7308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09" name="Google Shape;7309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7310" name="Google Shape;7310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1" name="Google Shape;7311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2" name="Google Shape;7312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314" name="Google Shape;7314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5" name="Google Shape;7315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7316" name="Google Shape;7316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7" name="Google Shape;7317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8" name="Google Shape;7318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1" name="Google Shape;7321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2" name="Google Shape;7322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23" name="Google Shape;7323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24" name="Google Shape;7324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 submissions - highly active agency</a:t>
            </a:r>
            <a:endParaRPr/>
          </a:p>
        </p:txBody>
      </p:sp>
      <p:sp>
        <p:nvSpPr>
          <p:cNvPr id="7325" name="Google Shape;7325;p4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26" name="Google Shape;7326;p4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quotes generated - active in pipeline</a:t>
            </a:r>
            <a:endParaRPr/>
          </a:p>
        </p:txBody>
      </p:sp>
      <p:sp>
        <p:nvSpPr>
          <p:cNvPr id="7327" name="Google Shape;7327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8" name="Google Shape;7328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29" name="Google Shape;7329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30" name="Google Shape;7330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33 submissions</a:t>
            </a:r>
            <a:endParaRPr/>
          </a:p>
        </p:txBody>
      </p:sp>
      <p:sp>
        <p:nvSpPr>
          <p:cNvPr id="7331" name="Google Shape;7331;p4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32" name="Google Shape;7332;p4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 submissions with zero binds - zero conversion</a:t>
            </a:r>
            <a:endParaRPr/>
          </a:p>
        </p:txBody>
      </p:sp>
      <p:sp>
        <p:nvSpPr>
          <p:cNvPr id="7333" name="Google Shape;7333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4" name="Google Shape;7334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33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42" name="Shape 7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3" name="Google Shape;7343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4" name="Google Shape;7344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Gesla Insurance Agency Inc</a:t>
            </a:r>
            <a:endParaRPr/>
          </a:p>
        </p:txBody>
      </p:sp>
      <p:sp>
        <p:nvSpPr>
          <p:cNvPr id="7345" name="Google Shape;7345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Farmingville</a:t>
            </a:r>
            <a:endParaRPr/>
          </a:p>
        </p:txBody>
      </p:sp>
      <p:sp>
        <p:nvSpPr>
          <p:cNvPr id="7346" name="Google Shape;7346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47" name="Google Shape;7347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48" name="Google Shape;7348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49" name="Google Shape;7349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50" name="Google Shape;7350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51" name="Google Shape;7351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52" name="Google Shape;7352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53" name="Google Shape;7353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54" name="Google Shape;7354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55" name="Google Shape;7355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56" name="Google Shape;7356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57" name="Google Shape;7357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358" name="Google Shape;7358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359" name="Google Shape;7359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0" name="Google Shape;7360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361" name="Google Shape;7361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62" name="Google Shape;7362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363" name="Google Shape;7363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64" name="Google Shape;7364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65" name="Google Shape;7365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66" name="Google Shape;7366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67" name="Google Shape;7367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8" name="Google Shape;7368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69" name="Google Shape;7369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0" name="Google Shape;7370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1" name="Google Shape;7371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2" name="Google Shape;7372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3" name="Google Shape;7373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4" name="Google Shape;7374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5" name="Google Shape;7375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76" name="Google Shape;7376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7" name="Google Shape;7377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8" name="Google Shape;7378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9" name="Google Shape;7379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0" name="Google Shape;7380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1" name="Google Shape;7381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2" name="Google Shape;7382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83" name="Google Shape;7383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4" name="Google Shape;7384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5" name="Google Shape;7385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6" name="Google Shape;7386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7" name="Google Shape;7387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8" name="Google Shape;7388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9" name="Google Shape;7389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90" name="Google Shape;7390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1" name="Google Shape;7391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2" name="Google Shape;7392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3" name="Google Shape;7393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4" name="Google Shape;7394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5" name="Google Shape;7395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6" name="Google Shape;7396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97" name="Google Shape;7397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8" name="Google Shape;7398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9" name="Google Shape;7399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0" name="Google Shape;7400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1" name="Google Shape;7401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2" name="Google Shape;7402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3" name="Google Shape;7403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04" name="Google Shape;7404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5" name="Google Shape;7405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6" name="Google Shape;7406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7" name="Google Shape;7407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8" name="Google Shape;7408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9" name="Google Shape;7409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0" name="Google Shape;7410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11" name="Google Shape;7411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12" name="Google Shape;7412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13" name="Google Shape;7413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14" name="Google Shape;7414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15" name="Google Shape;7415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16" name="Google Shape;7416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17" name="Google Shape;7417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8" name="Google Shape;7418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19" name="Google Shape;7419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20" name="Google Shape;7420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21" name="Google Shape;7421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2" name="Google Shape;7422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3" name="Google Shape;7423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24" name="Google Shape;7424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5" name="Google Shape;7425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26" name="Google Shape;7426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27" name="Google Shape;7427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8" name="Google Shape;7428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29" name="Google Shape;7429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0" name="Google Shape;7430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31" name="Google Shape;7431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2" name="Google Shape;7432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33" name="Google Shape;7433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34" name="Google Shape;7434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35" name="Google Shape;7435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36" name="Google Shape;7436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7" name="Google Shape;7437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38" name="Google Shape;7438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9" name="Google Shape;7439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40" name="Google Shape;7440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1" name="Google Shape;7441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2" name="Google Shape;7442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3" name="Google Shape;7443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4" name="Google Shape;7444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45" name="Google Shape;7445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6" name="Google Shape;7446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47" name="Google Shape;7447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48" name="Google Shape;7448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9" name="Google Shape;7449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50" name="Google Shape;7450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1" name="Google Shape;7451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52" name="Google Shape;7452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3" name="Google Shape;7453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54" name="Google Shape;7454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455" name="Google Shape;7455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56" name="Google Shape;7456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457" name="Google Shape;7457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8" name="Google Shape;7458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59" name="Google Shape;7459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0" name="Google Shape;7460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461" name="Google Shape;7461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462" name="Google Shape;7462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463" name="Google Shape;7463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464" name="Google Shape;7464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465" name="Google Shape;7465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466" name="Google Shape;7466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467" name="Google Shape;7467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468" name="Google Shape;7468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469" name="Google Shape;7469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470" name="Google Shape;7470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471" name="Google Shape;7471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472" name="Google Shape;7472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473" name="Google Shape;7473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474" name="Google Shape;7474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76" name="Google Shape;7476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77" name="Google Shape;7477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8" name="Google Shape;7478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79" name="Google Shape;7479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480" name="Google Shape;7480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81" name="Google Shape;7481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83" name="Google Shape;7483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84" name="Google Shape;7484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85" name="Google Shape;7485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486" name="Google Shape;7486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487" name="Google Shape;7487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0" name="Google Shape;7490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7491" name="Google Shape;7491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2" name="Google Shape;7492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3" name="Google Shape;7493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4" name="Google Shape;7494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7" name="Google Shape;7497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8" name="Google Shape;7498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7499" name="Google Shape;7499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0" name="Google Shape;7500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1" name="Google Shape;7501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quotes generated - active in pipeline</a:t>
            </a:r>
            <a:endParaRPr/>
          </a:p>
        </p:txBody>
      </p:sp>
      <p:sp>
        <p:nvSpPr>
          <p:cNvPr id="7504" name="Google Shape;7504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5" name="Google Shape;7505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07" name="Google Shape;7507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10 submissions</a:t>
            </a:r>
            <a:endParaRPr/>
          </a:p>
        </p:txBody>
      </p:sp>
      <p:sp>
        <p:nvSpPr>
          <p:cNvPr id="7508" name="Google Shape;7508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09" name="Google Shape;7509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submissions with zero binds - zero conversion</a:t>
            </a:r>
            <a:endParaRPr/>
          </a:p>
        </p:txBody>
      </p:sp>
      <p:sp>
        <p:nvSpPr>
          <p:cNvPr id="7510" name="Google Shape;7510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1" name="Google Shape;7511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514" name="Google Shape;7514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515" name="Google Shape;7515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19" name="Shape 7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0" name="Google Shape;7520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1" name="Google Shape;7521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7522" name="Google Shape;7522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Feasterville</a:t>
            </a:r>
            <a:endParaRPr/>
          </a:p>
        </p:txBody>
      </p:sp>
      <p:sp>
        <p:nvSpPr>
          <p:cNvPr id="7523" name="Google Shape;7523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24" name="Google Shape;7524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25" name="Google Shape;7525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26" name="Google Shape;7526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27" name="Google Shape;7527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28" name="Google Shape;7528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29" name="Google Shape;7529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30" name="Google Shape;7530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31" name="Google Shape;7531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32" name="Google Shape;7532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33" name="Google Shape;7533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34" name="Google Shape;7534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35" name="Google Shape;7535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36" name="Google Shape;7536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7" name="Google Shape;7537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38" name="Google Shape;7538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39" name="Google Shape;7539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40" name="Google Shape;7540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41" name="Google Shape;7541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42" name="Google Shape;7542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43" name="Google Shape;7543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44" name="Google Shape;7544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5" name="Google Shape;7545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46" name="Google Shape;7546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7" name="Google Shape;7547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8" name="Google Shape;7548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9" name="Google Shape;7549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0" name="Google Shape;7550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1" name="Google Shape;7551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2" name="Google Shape;7552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53" name="Google Shape;7553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4" name="Google Shape;7554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5" name="Google Shape;7555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6" name="Google Shape;7556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7" name="Google Shape;7557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8" name="Google Shape;7558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9" name="Google Shape;7559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60" name="Google Shape;7560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1" name="Google Shape;7561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2" name="Google Shape;7562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3" name="Google Shape;7563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4" name="Google Shape;7564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5" name="Google Shape;7565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6" name="Google Shape;7566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67" name="Google Shape;7567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8" name="Google Shape;7568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9" name="Google Shape;7569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0" name="Google Shape;7570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1" name="Google Shape;7571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2" name="Google Shape;7572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3" name="Google Shape;7573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74" name="Google Shape;7574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5" name="Google Shape;7575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6" name="Google Shape;7576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7" name="Google Shape;7577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8" name="Google Shape;7578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9" name="Google Shape;7579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0" name="Google Shape;7580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81" name="Google Shape;7581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2" name="Google Shape;7582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3" name="Google Shape;7583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4" name="Google Shape;7584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5" name="Google Shape;7585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6" name="Google Shape;7586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7" name="Google Shape;7587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588" name="Google Shape;7588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89" name="Google Shape;7589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90" name="Google Shape;7590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591" name="Google Shape;7591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592" name="Google Shape;7592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93" name="Google Shape;7593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94" name="Google Shape;7594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5" name="Google Shape;7595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96" name="Google Shape;7596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597" name="Google Shape;7597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598" name="Google Shape;7598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599" name="Google Shape;7599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0" name="Google Shape;7600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01" name="Google Shape;7601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2" name="Google Shape;7602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03" name="Google Shape;7603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604" name="Google Shape;7604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05" name="Google Shape;7605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06" name="Google Shape;7606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7" name="Google Shape;7607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08" name="Google Shape;7608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9" name="Google Shape;7609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10" name="Google Shape;7610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611" name="Google Shape;7611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12" name="Google Shape;7612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613" name="Google Shape;7613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4" name="Google Shape;7614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15" name="Google Shape;7615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6" name="Google Shape;7616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17" name="Google Shape;7617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18" name="Google Shape;7618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19" name="Google Shape;7619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620" name="Google Shape;7620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1" name="Google Shape;7621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2" name="Google Shape;7622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3" name="Google Shape;7623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24" name="Google Shape;7624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625" name="Google Shape;7625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6" name="Google Shape;7626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627" name="Google Shape;7627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8" name="Google Shape;7628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9" name="Google Shape;7629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0" name="Google Shape;7630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31" name="Google Shape;7631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7632" name="Google Shape;7632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633" name="Google Shape;7633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7634" name="Google Shape;7634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35" name="Google Shape;7635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36" name="Google Shape;7636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7" name="Google Shape;7637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38" name="Google Shape;7638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39" name="Google Shape;7639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40" name="Google Shape;7640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41" name="Google Shape;7641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42" name="Google Shape;7642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43" name="Google Shape;7643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44" name="Google Shape;7644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45" name="Google Shape;7645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46" name="Google Shape;7646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47" name="Google Shape;7647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48" name="Google Shape;7648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49" name="Google Shape;7649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50" name="Google Shape;7650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51" name="Google Shape;7651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52" name="Google Shape;7652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53" name="Google Shape;7653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654" name="Google Shape;7654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656" name="Google Shape;7656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57" name="Google Shape;7657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658" name="Google Shape;7658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59" name="Google Shape;7659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60" name="Google Shape;7660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661" name="Google Shape;7661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662" name="Google Shape;7662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7663" name="Google Shape;7663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7664" name="Google Shape;7664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65" name="Google Shape;7665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6" name="Google Shape;7666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7" name="Google Shape;7667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8" name="Google Shape;7668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0" name="Google Shape;7670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2" name="Google Shape;7672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3" name="Google Shape;7673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7674" name="Google Shape;7674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5" name="Google Shape;7675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7676" name="Google Shape;7676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7" name="Google Shape;7677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8" name="Google Shape;7678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679" name="Google Shape;7679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80" name="Google Shape;7680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 submissions - highly active agency</a:t>
            </a:r>
            <a:endParaRPr/>
          </a:p>
        </p:txBody>
      </p:sp>
      <p:sp>
        <p:nvSpPr>
          <p:cNvPr id="7681" name="Google Shape;7681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82" name="Google Shape;7682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 quotes generated - active in pipeline</a:t>
            </a:r>
            <a:endParaRPr/>
          </a:p>
        </p:txBody>
      </p:sp>
      <p:sp>
        <p:nvSpPr>
          <p:cNvPr id="7683" name="Google Shape;7683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4" name="Google Shape;7684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685" name="Google Shape;7685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86" name="Google Shape;7686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84 submissions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 submissions with zero binds - zero conversion</a:t>
            </a:r>
            <a:endParaRPr/>
          </a:p>
        </p:txBody>
      </p:sp>
      <p:sp>
        <p:nvSpPr>
          <p:cNvPr id="7689" name="Google Shape;7689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0" name="Google Shape;7690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691" name="Google Shape;7691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692" name="Google Shape;7692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84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693" name="Google Shape;7693;p4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694" name="Google Shape;7694;p4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98" name="Shape 7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9" name="Google Shape;7699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0" name="Google Shape;7700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S Braddock Agency</a:t>
            </a:r>
            <a:endParaRPr/>
          </a:p>
        </p:txBody>
      </p:sp>
      <p:sp>
        <p:nvSpPr>
          <p:cNvPr id="7701" name="Google Shape;7701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Medford</a:t>
            </a:r>
            <a:endParaRPr/>
          </a:p>
        </p:txBody>
      </p:sp>
      <p:sp>
        <p:nvSpPr>
          <p:cNvPr id="7702" name="Google Shape;7702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703" name="Google Shape;7703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04" name="Google Shape;7704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05" name="Google Shape;7705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06" name="Google Shape;7706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07" name="Google Shape;7707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708" name="Google Shape;7708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709" name="Google Shape;7709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710" name="Google Shape;7710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11" name="Google Shape;7711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12" name="Google Shape;7712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13" name="Google Shape;7713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714" name="Google Shape;7714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715" name="Google Shape;7715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6" name="Google Shape;7716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717" name="Google Shape;7717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18" name="Google Shape;7718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719" name="Google Shape;7719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20" name="Google Shape;7720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21" name="Google Shape;7721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22" name="Google Shape;7722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23" name="Google Shape;7723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4" name="Google Shape;7724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25" name="Google Shape;7725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6" name="Google Shape;7726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7" name="Google Shape;7727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8" name="Google Shape;7728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9" name="Google Shape;7729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0" name="Google Shape;7730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1" name="Google Shape;7731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32" name="Google Shape;7732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3" name="Google Shape;7733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4" name="Google Shape;7734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5" name="Google Shape;7735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6" name="Google Shape;7736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7" name="Google Shape;7737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8" name="Google Shape;7738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39" name="Google Shape;7739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0" name="Google Shape;7740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1" name="Google Shape;7741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2" name="Google Shape;7742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3" name="Google Shape;7743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4" name="Google Shape;7744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5" name="Google Shape;7745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46" name="Google Shape;7746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7" name="Google Shape;7747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8" name="Google Shape;7748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9" name="Google Shape;7749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0" name="Google Shape;7750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1" name="Google Shape;7751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2" name="Google Shape;7752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53" name="Google Shape;7753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4" name="Google Shape;7754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5" name="Google Shape;7755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6" name="Google Shape;7756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7" name="Google Shape;7757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8" name="Google Shape;7758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9" name="Google Shape;7759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60" name="Google Shape;7760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1" name="Google Shape;7761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2" name="Google Shape;7762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3" name="Google Shape;7763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4" name="Google Shape;7764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5" name="Google Shape;7765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6" name="Google Shape;7766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67" name="Google Shape;7767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68" name="Google Shape;7768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69" name="Google Shape;7769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70" name="Google Shape;7770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71" name="Google Shape;7771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72" name="Google Shape;7772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73" name="Google Shape;7773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4" name="Google Shape;7774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75" name="Google Shape;7775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6" name="Google Shape;7776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7" name="Google Shape;7777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8" name="Google Shape;7778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9" name="Google Shape;7779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80" name="Google Shape;7780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1" name="Google Shape;7781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82" name="Google Shape;7782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3" name="Google Shape;7783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4" name="Google Shape;7784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5" name="Google Shape;7785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6" name="Google Shape;7786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87" name="Google Shape;7787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8" name="Google Shape;7788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89" name="Google Shape;7789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90" name="Google Shape;7790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91" name="Google Shape;7791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92" name="Google Shape;7792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3" name="Google Shape;7793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94" name="Google Shape;7794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5" name="Google Shape;7795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96" name="Google Shape;7796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7" name="Google Shape;7797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8" name="Google Shape;7798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9" name="Google Shape;7799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0" name="Google Shape;7800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1" name="Google Shape;7801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2" name="Google Shape;7802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03" name="Google Shape;7803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4" name="Google Shape;7804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5" name="Google Shape;7805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6" name="Google Shape;7806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7" name="Google Shape;7807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8" name="Google Shape;7808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9" name="Google Shape;7809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10" name="Google Shape;7810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11" name="Google Shape;7811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12" name="Google Shape;7812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13" name="Google Shape;7813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14" name="Google Shape;7814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15" name="Google Shape;7815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6" name="Google Shape;7816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817" name="Google Shape;7817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818" name="Google Shape;7818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819" name="Google Shape;7819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820" name="Google Shape;7820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821" name="Google Shape;7821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822" name="Google Shape;7822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823" name="Google Shape;7823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824" name="Google Shape;7824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825" name="Google Shape;7825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826" name="Google Shape;7826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827" name="Google Shape;7827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828" name="Google Shape;7828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829" name="Google Shape;7829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30" name="Google Shape;7830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31" name="Google Shape;7831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32" name="Google Shape;7832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3" name="Google Shape;7833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34" name="Google Shape;7834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5" name="Google Shape;7835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36" name="Google Shape;7836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37" name="Google Shape;7837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38" name="Google Shape;7838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9" name="Google Shape;7839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40" name="Google Shape;7840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1" name="Google Shape;7841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842" name="Google Shape;7842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43" name="Google Shape;7843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44" name="Google Shape;7844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5" name="Google Shape;7845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6" name="Google Shape;7846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7847" name="Google Shape;7847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8" name="Google Shape;7848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9" name="Google Shape;7849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0" name="Google Shape;7850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1" name="Google Shape;7851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2" name="Google Shape;7852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7853" name="Google Shape;7853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4" name="Google Shape;7854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7855" name="Google Shape;7855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6" name="Google Shape;7856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7" name="Google Shape;7857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858" name="Google Shape;7858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59" name="Google Shape;7859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7860" name="Google Shape;7860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1" name="Google Shape;7861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862" name="Google Shape;7862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63" name="Google Shape;7863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7864" name="Google Shape;7864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5" name="Google Shape;7865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66" name="Google Shape;7866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67" name="Google Shape;7867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868" name="Google Shape;7868;p5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869" name="Google Shape;7869;p5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73" name="Shape 7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4" name="Google Shape;7874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5" name="Google Shape;7875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Maximus Insurance Agency Inc</a:t>
            </a:r>
            <a:endParaRPr/>
          </a:p>
        </p:txBody>
      </p:sp>
      <p:sp>
        <p:nvSpPr>
          <p:cNvPr id="7876" name="Google Shape;7876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Massapequa</a:t>
            </a:r>
            <a:endParaRPr/>
          </a:p>
        </p:txBody>
      </p:sp>
      <p:sp>
        <p:nvSpPr>
          <p:cNvPr id="7877" name="Google Shape;7877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878" name="Google Shape;7878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79" name="Google Shape;7879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80" name="Google Shape;7880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81" name="Google Shape;7881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82" name="Google Shape;7882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883" name="Google Shape;7883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884" name="Google Shape;7884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885" name="Google Shape;7885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86" name="Google Shape;7886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87" name="Google Shape;7887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88" name="Google Shape;7888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889" name="Google Shape;7889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890" name="Google Shape;7890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1" name="Google Shape;7891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892" name="Google Shape;7892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93" name="Google Shape;7893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894" name="Google Shape;7894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95" name="Google Shape;7895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96" name="Google Shape;7896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97" name="Google Shape;7897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98" name="Google Shape;7898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9" name="Google Shape;7899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00" name="Google Shape;7900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1" name="Google Shape;7901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2" name="Google Shape;7902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3" name="Google Shape;7903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4" name="Google Shape;7904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5" name="Google Shape;7905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6" name="Google Shape;7906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07" name="Google Shape;7907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8" name="Google Shape;7908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9" name="Google Shape;7909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0" name="Google Shape;7910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1" name="Google Shape;7911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2" name="Google Shape;7912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3" name="Google Shape;7913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14" name="Google Shape;7914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5" name="Google Shape;7915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6" name="Google Shape;7916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7" name="Google Shape;7917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8" name="Google Shape;7918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9" name="Google Shape;7919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0" name="Google Shape;7920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21" name="Google Shape;7921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2" name="Google Shape;7922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3" name="Google Shape;7923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4" name="Google Shape;7924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5" name="Google Shape;7925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6" name="Google Shape;7926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7" name="Google Shape;7927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28" name="Google Shape;7928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9" name="Google Shape;7929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0" name="Google Shape;7930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1" name="Google Shape;7931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2" name="Google Shape;7932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3" name="Google Shape;7933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4" name="Google Shape;7934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35" name="Google Shape;7935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6" name="Google Shape;7936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7" name="Google Shape;7937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8" name="Google Shape;7938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9" name="Google Shape;7939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0" name="Google Shape;7940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1" name="Google Shape;7941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942" name="Google Shape;7942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43" name="Google Shape;7943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944" name="Google Shape;7944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945" name="Google Shape;7945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946" name="Google Shape;7946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47" name="Google Shape;7947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48" name="Google Shape;7948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9" name="Google Shape;7949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50" name="Google Shape;7950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51" name="Google Shape;7951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2" name="Google Shape;7952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53" name="Google Shape;7953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4" name="Google Shape;7954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55" name="Google Shape;7955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6" name="Google Shape;7956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57" name="Google Shape;7957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8" name="Google Shape;7958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9" name="Google Shape;7959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0" name="Google Shape;7960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1" name="Google Shape;7961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62" name="Google Shape;7962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3" name="Google Shape;7963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64" name="Google Shape;7964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65" name="Google Shape;7965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6" name="Google Shape;7966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67" name="Google Shape;7967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8" name="Google Shape;7968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69" name="Google Shape;7969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0" name="Google Shape;7970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71" name="Google Shape;7971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2" name="Google Shape;7972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3" name="Google Shape;7973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4" name="Google Shape;7974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5" name="Google Shape;7975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76" name="Google Shape;7976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7" name="Google Shape;7977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78" name="Google Shape;7978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9" name="Google Shape;7979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0" name="Google Shape;7980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81" name="Google Shape;7981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2" name="Google Shape;7982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83" name="Google Shape;7983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4" name="Google Shape;7984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85" name="Google Shape;7985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86" name="Google Shape;7986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87" name="Google Shape;7987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88" name="Google Shape;7988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9" name="Google Shape;7989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90" name="Google Shape;7990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1" name="Google Shape;7991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992" name="Google Shape;7992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993" name="Google Shape;7993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994" name="Google Shape;7994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995" name="Google Shape;7995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996" name="Google Shape;7996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997" name="Google Shape;7997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998" name="Google Shape;7998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999" name="Google Shape;7999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000" name="Google Shape;8000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001" name="Google Shape;8001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002" name="Google Shape;8002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003" name="Google Shape;8003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004" name="Google Shape;8004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005" name="Google Shape;8005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06" name="Google Shape;8006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07" name="Google Shape;8007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08" name="Google Shape;8008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09" name="Google Shape;8009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0" name="Google Shape;8010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11" name="Google Shape;8011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12" name="Google Shape;8012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13" name="Google Shape;8013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14" name="Google Shape;8014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15" name="Google Shape;8015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16" name="Google Shape;8016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017" name="Google Shape;8017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18" name="Google Shape;8018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19" name="Google Shape;8019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0" name="Google Shape;8020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1" name="Google Shape;8021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8022" name="Google Shape;8022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3" name="Google Shape;8023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4" name="Google Shape;8024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5" name="Google Shape;8025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6" name="Google Shape;8026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7" name="Google Shape;8027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8" name="Google Shape;8028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9" name="Google Shape;8029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8030" name="Google Shape;8030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31" name="Google Shape;8031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2" name="Google Shape;8032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33" name="Google Shape;8033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34" name="Google Shape;8034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8035" name="Google Shape;8035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6" name="Google Shape;8036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37" name="Google Shape;8037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38" name="Google Shape;8038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8039" name="Google Shape;8039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0" name="Google Shape;8040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041" name="Google Shape;8041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042" name="Google Shape;8042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46" name="Shape 8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7" name="Google Shape;8047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8" name="Google Shape;8048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Onyx Insurance Solutions Llc</a:t>
            </a:r>
            <a:endParaRPr/>
          </a:p>
        </p:txBody>
      </p:sp>
      <p:sp>
        <p:nvSpPr>
          <p:cNvPr id="8049" name="Google Shape;8049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North Bergen</a:t>
            </a:r>
            <a:endParaRPr/>
          </a:p>
        </p:txBody>
      </p:sp>
      <p:sp>
        <p:nvSpPr>
          <p:cNvPr id="8050" name="Google Shape;8050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051" name="Google Shape;8051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52" name="Google Shape;8052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53" name="Google Shape;8053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54" name="Google Shape;8054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55" name="Google Shape;8055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056" name="Google Shape;8056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057" name="Google Shape;8057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058" name="Google Shape;8058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59" name="Google Shape;8059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60" name="Google Shape;8060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61" name="Google Shape;8061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062" name="Google Shape;8062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063" name="Google Shape;8063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4" name="Google Shape;8064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065" name="Google Shape;8065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66" name="Google Shape;8066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067" name="Google Shape;8067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68" name="Google Shape;8068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69" name="Google Shape;8069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70" name="Google Shape;8070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71" name="Google Shape;8071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2" name="Google Shape;8072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73" name="Google Shape;8073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4" name="Google Shape;8074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5" name="Google Shape;8075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6" name="Google Shape;8076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7" name="Google Shape;8077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8" name="Google Shape;8078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9" name="Google Shape;8079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80" name="Google Shape;8080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1" name="Google Shape;8081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2" name="Google Shape;8082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3" name="Google Shape;8083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4" name="Google Shape;8084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5" name="Google Shape;8085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6" name="Google Shape;8086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87" name="Google Shape;8087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8" name="Google Shape;8088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9" name="Google Shape;8089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0" name="Google Shape;8090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1" name="Google Shape;8091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2" name="Google Shape;8092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3" name="Google Shape;8093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94" name="Google Shape;8094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5" name="Google Shape;8095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6" name="Google Shape;8096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7" name="Google Shape;8097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8" name="Google Shape;8098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9" name="Google Shape;8099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0" name="Google Shape;8100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01" name="Google Shape;8101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2" name="Google Shape;8102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3" name="Google Shape;8103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4" name="Google Shape;8104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5" name="Google Shape;8105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6" name="Google Shape;8106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7" name="Google Shape;8107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08" name="Google Shape;8108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9" name="Google Shape;8109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0" name="Google Shape;8110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1" name="Google Shape;8111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2" name="Google Shape;8112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3" name="Google Shape;8113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4" name="Google Shape;8114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15" name="Google Shape;8115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16" name="Google Shape;8116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17" name="Google Shape;8117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18" name="Google Shape;8118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19" name="Google Shape;8119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20" name="Google Shape;8120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21" name="Google Shape;8121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2" name="Google Shape;8122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23" name="Google Shape;8123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24" name="Google Shape;8124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5" name="Google Shape;8125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26" name="Google Shape;8126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7" name="Google Shape;8127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28" name="Google Shape;8128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9" name="Google Shape;8129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30" name="Google Shape;8130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1" name="Google Shape;8131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2" name="Google Shape;8132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3" name="Google Shape;8133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4" name="Google Shape;8134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35" name="Google Shape;8135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6" name="Google Shape;8136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37" name="Google Shape;8137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8" name="Google Shape;8138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9" name="Google Shape;8139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0" name="Google Shape;8140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1" name="Google Shape;8141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42" name="Google Shape;8142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3" name="Google Shape;8143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44" name="Google Shape;8144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5" name="Google Shape;8145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6" name="Google Shape;8146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7" name="Google Shape;8147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8" name="Google Shape;8148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49" name="Google Shape;8149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0" name="Google Shape;8150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51" name="Google Shape;8151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2" name="Google Shape;8152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3" name="Google Shape;8153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4" name="Google Shape;8154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5" name="Google Shape;8155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56" name="Google Shape;8156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7" name="Google Shape;8157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58" name="Google Shape;8158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59" name="Google Shape;8159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0" name="Google Shape;8160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61" name="Google Shape;8161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2" name="Google Shape;8162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63" name="Google Shape;8163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4" name="Google Shape;8164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165" name="Google Shape;8165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166" name="Google Shape;8166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167" name="Google Shape;8167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168" name="Google Shape;8168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169" name="Google Shape;8169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170" name="Google Shape;8170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171" name="Google Shape;8171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172" name="Google Shape;8172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173" name="Google Shape;8173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174" name="Google Shape;8174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175" name="Google Shape;8175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176" name="Google Shape;8176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177" name="Google Shape;8177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178" name="Google Shape;8178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79" name="Google Shape;8179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80" name="Google Shape;8180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81" name="Google Shape;8181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82" name="Google Shape;8182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3" name="Google Shape;8183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4" name="Google Shape;8184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5" name="Google Shape;8185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86" name="Google Shape;8186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7" name="Google Shape;8187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88" name="Google Shape;8188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9" name="Google Shape;8189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190" name="Google Shape;8190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91" name="Google Shape;8191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192" name="Google Shape;8192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3" name="Google Shape;8193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4" name="Google Shape;8194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5" name="Google Shape;8195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6" name="Google Shape;8196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7" name="Google Shape;8197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8" name="Google Shape;8198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8199" name="Google Shape;8199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0" name="Google Shape;8200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1" name="Google Shape;8201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2" name="Google Shape;8202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8203" name="Google Shape;8203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4" name="Google Shape;8204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5" name="Google Shape;8205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06" name="Google Shape;8206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07" name="Google Shape;8207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208" name="Google Shape;8208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9" name="Google Shape;8209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10" name="Google Shape;8210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11" name="Google Shape;8211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8212" name="Google Shape;8212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3" name="Google Shape;8213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14" name="Google Shape;8214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15" name="Google Shape;8215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216" name="Google Shape;8216;p5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217" name="Google Shape;8217;p5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21" name="Shape 8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2" name="Google Shape;8222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3" name="Google Shape;8223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Penn Summit Insurance Agency LLC</a:t>
            </a:r>
            <a:endParaRPr/>
          </a:p>
        </p:txBody>
      </p:sp>
      <p:sp>
        <p:nvSpPr>
          <p:cNvPr id="8224" name="Google Shape;8224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Chalk Hill</a:t>
            </a:r>
            <a:endParaRPr/>
          </a:p>
        </p:txBody>
      </p:sp>
      <p:sp>
        <p:nvSpPr>
          <p:cNvPr id="8225" name="Google Shape;8225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26" name="Google Shape;8226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27" name="Google Shape;8227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28" name="Google Shape;8228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29" name="Google Shape;8229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30" name="Google Shape;8230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31" name="Google Shape;8231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32" name="Google Shape;8232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33" name="Google Shape;8233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34" name="Google Shape;8234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35" name="Google Shape;8235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36" name="Google Shape;8236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37" name="Google Shape;8237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238" name="Google Shape;8238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9" name="Google Shape;8239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240" name="Google Shape;8240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41" name="Google Shape;8241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242" name="Google Shape;8242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43" name="Google Shape;8243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44" name="Google Shape;8244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45" name="Google Shape;8245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46" name="Google Shape;8246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7" name="Google Shape;8247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48" name="Google Shape;8248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49" name="Google Shape;8249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0" name="Google Shape;8250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1" name="Google Shape;8251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2" name="Google Shape;8252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3" name="Google Shape;8253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4" name="Google Shape;8254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55" name="Google Shape;8255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6" name="Google Shape;8256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7" name="Google Shape;8257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8" name="Google Shape;8258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9" name="Google Shape;8259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0" name="Google Shape;8260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1" name="Google Shape;8261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62" name="Google Shape;8262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3" name="Google Shape;8263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4" name="Google Shape;8264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5" name="Google Shape;8265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6" name="Google Shape;8266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7" name="Google Shape;8267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8" name="Google Shape;8268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69" name="Google Shape;8269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0" name="Google Shape;8270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1" name="Google Shape;8271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2" name="Google Shape;8272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3" name="Google Shape;8273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4" name="Google Shape;8274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5" name="Google Shape;8275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76" name="Google Shape;8276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7" name="Google Shape;8277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8" name="Google Shape;8278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9" name="Google Shape;8279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0" name="Google Shape;8280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1" name="Google Shape;8281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2" name="Google Shape;8282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83" name="Google Shape;8283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4" name="Google Shape;8284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5" name="Google Shape;8285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6" name="Google Shape;8286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7" name="Google Shape;8287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8" name="Google Shape;8288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9" name="Google Shape;8289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290" name="Google Shape;8290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91" name="Google Shape;8291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92" name="Google Shape;8292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293" name="Google Shape;8293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294" name="Google Shape;8294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95" name="Google Shape;8295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96" name="Google Shape;8296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7" name="Google Shape;8297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98" name="Google Shape;8298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99" name="Google Shape;8299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0" name="Google Shape;8300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01" name="Google Shape;8301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2" name="Google Shape;8302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03" name="Google Shape;8303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4" name="Google Shape;8304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05" name="Google Shape;8305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06" name="Google Shape;8306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7" name="Google Shape;8307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08" name="Google Shape;8308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9" name="Google Shape;8309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10" name="Google Shape;8310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1" name="Google Shape;8311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12" name="Google Shape;8312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13" name="Google Shape;8313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14" name="Google Shape;8314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15" name="Google Shape;8315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16" name="Google Shape;8316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17" name="Google Shape;8317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8" name="Google Shape;8318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19" name="Google Shape;8319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0" name="Google Shape;8320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1" name="Google Shape;8321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2" name="Google Shape;8322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3" name="Google Shape;8323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24" name="Google Shape;8324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5" name="Google Shape;8325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26" name="Google Shape;8326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7" name="Google Shape;8327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8" name="Google Shape;8328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9" name="Google Shape;8329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0" name="Google Shape;8330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31" name="Google Shape;8331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2" name="Google Shape;8332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33" name="Google Shape;8333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34" name="Google Shape;8334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5" name="Google Shape;8335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36" name="Google Shape;8336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7" name="Google Shape;8337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38" name="Google Shape;8338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9" name="Google Shape;8339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340" name="Google Shape;8340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341" name="Google Shape;8341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342" name="Google Shape;8342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343" name="Google Shape;8343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344" name="Google Shape;8344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345" name="Google Shape;8345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346" name="Google Shape;8346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347" name="Google Shape;8347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348" name="Google Shape;8348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349" name="Google Shape;8349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350" name="Google Shape;8350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351" name="Google Shape;8351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352" name="Google Shape;8352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353" name="Google Shape;8353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54" name="Google Shape;8354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55" name="Google Shape;8355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56" name="Google Shape;8356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57" name="Google Shape;8357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58" name="Google Shape;8358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59" name="Google Shape;8359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60" name="Google Shape;8360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1" name="Google Shape;8361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2" name="Google Shape;8362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3" name="Google Shape;8363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4" name="Google Shape;8364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365" name="Google Shape;8365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66" name="Google Shape;8366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367" name="Google Shape;8367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8368" name="Google Shape;8368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69" name="Google Shape;8369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$-458</a:t>
            </a:r>
            <a:endParaRPr/>
          </a:p>
        </p:txBody>
      </p:sp>
      <p:sp>
        <p:nvSpPr>
          <p:cNvPr id="8370" name="Google Shape;8370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1" name="Google Shape;8371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2" name="Google Shape;8372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3" name="Google Shape;8373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4" name="Google Shape;8374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5" name="Google Shape;8375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6" name="Google Shape;8376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7" name="Google Shape;8377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8378" name="Google Shape;8378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9" name="Google Shape;8379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0" name="Google Shape;8380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381" name="Google Shape;8381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382" name="Google Shape;8382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8383" name="Google Shape;8383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4" name="Google Shape;8384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385" name="Google Shape;8385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386" name="Google Shape;8386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8387" name="Google Shape;8387;p5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388" name="Google Shape;8388;p5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8389" name="Google Shape;8389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0" name="Google Shape;8390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391" name="Google Shape;8391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392" name="Google Shape;8392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96" name="Shape 8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" name="Google Shape;8397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8" name="Google Shape;8398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Rose Insurance Llc</a:t>
            </a:r>
            <a:endParaRPr/>
          </a:p>
        </p:txBody>
      </p:sp>
      <p:sp>
        <p:nvSpPr>
          <p:cNvPr id="8399" name="Google Shape;8399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Lancaster</a:t>
            </a:r>
            <a:endParaRPr/>
          </a:p>
        </p:txBody>
      </p:sp>
      <p:sp>
        <p:nvSpPr>
          <p:cNvPr id="8400" name="Google Shape;8400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01" name="Google Shape;8401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02" name="Google Shape;8402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03" name="Google Shape;8403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04" name="Google Shape;8404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05" name="Google Shape;8405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06" name="Google Shape;8406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07" name="Google Shape;8407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08" name="Google Shape;8408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09" name="Google Shape;8409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10" name="Google Shape;8410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11" name="Google Shape;8411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12" name="Google Shape;8412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13" name="Google Shape;8413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4" name="Google Shape;8414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15" name="Google Shape;8415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16" name="Google Shape;8416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17" name="Google Shape;8417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18" name="Google Shape;8418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19" name="Google Shape;8419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20" name="Google Shape;8420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21" name="Google Shape;8421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2" name="Google Shape;8422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23" name="Google Shape;8423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4" name="Google Shape;8424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5" name="Google Shape;8425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6" name="Google Shape;8426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7" name="Google Shape;8427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28" name="Google Shape;8428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9" name="Google Shape;8429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30" name="Google Shape;8430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1" name="Google Shape;8431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2" name="Google Shape;8432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3" name="Google Shape;8433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4" name="Google Shape;8434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5" name="Google Shape;8435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6" name="Google Shape;8436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37" name="Google Shape;8437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8" name="Google Shape;8438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9" name="Google Shape;8439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0" name="Google Shape;8440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1" name="Google Shape;8441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2" name="Google Shape;8442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3" name="Google Shape;8443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44" name="Google Shape;8444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5" name="Google Shape;8445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6" name="Google Shape;8446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7" name="Google Shape;8447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8" name="Google Shape;8448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9" name="Google Shape;8449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0" name="Google Shape;8450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51" name="Google Shape;8451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2" name="Google Shape;8452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3" name="Google Shape;8453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4" name="Google Shape;8454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5" name="Google Shape;8455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6" name="Google Shape;8456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7" name="Google Shape;8457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458" name="Google Shape;8458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9" name="Google Shape;8459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0" name="Google Shape;8460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1" name="Google Shape;8461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2" name="Google Shape;8462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3" name="Google Shape;8463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4" name="Google Shape;8464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465" name="Google Shape;8465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66" name="Google Shape;8466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467" name="Google Shape;8467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468" name="Google Shape;8468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469" name="Google Shape;8469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70" name="Google Shape;8470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71" name="Google Shape;8471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2" name="Google Shape;8472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73" name="Google Shape;8473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474" name="Google Shape;8474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75" name="Google Shape;8475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476" name="Google Shape;8476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77" name="Google Shape;8477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78" name="Google Shape;8478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9" name="Google Shape;8479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80" name="Google Shape;8480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481" name="Google Shape;8481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82" name="Google Shape;8482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483" name="Google Shape;8483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84" name="Google Shape;8484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85" name="Google Shape;8485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6" name="Google Shape;8486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87" name="Google Shape;8487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488" name="Google Shape;8488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89" name="Google Shape;8489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490" name="Google Shape;8490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91" name="Google Shape;8491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92" name="Google Shape;8492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3" name="Google Shape;8493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94" name="Google Shape;8494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495" name="Google Shape;8495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96" name="Google Shape;8496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497" name="Google Shape;8497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98" name="Google Shape;8498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99" name="Google Shape;8499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0" name="Google Shape;8500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01" name="Google Shape;8501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02" name="Google Shape;8502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03" name="Google Shape;8503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04" name="Google Shape;8504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05" name="Google Shape;8505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06" name="Google Shape;8506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7" name="Google Shape;8507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08" name="Google Shape;8508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8509" name="Google Shape;8509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10" name="Google Shape;8510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511" name="Google Shape;8511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2" name="Google Shape;8512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13" name="Google Shape;8513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4" name="Google Shape;8514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515" name="Google Shape;8515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16" name="Google Shape;8516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17" name="Google Shape;8517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18" name="Google Shape;8518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19" name="Google Shape;8519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20" name="Google Shape;8520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21" name="Google Shape;8521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22" name="Google Shape;8522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23" name="Google Shape;8523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24" name="Google Shape;8524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25" name="Google Shape;8525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26" name="Google Shape;8526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527" name="Google Shape;8527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528" name="Google Shape;8528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29" name="Google Shape;8529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530" name="Google Shape;8530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531" name="Google Shape;8531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532" name="Google Shape;8532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33" name="Google Shape;8533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534" name="Google Shape;8534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535" name="Google Shape;8535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536" name="Google Shape;8536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537" name="Google Shape;8537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538" name="Google Shape;8538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39" name="Google Shape;8539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8540" name="Google Shape;8540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8541" name="Google Shape;8541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542" name="Google Shape;8542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43" name="Google Shape;8543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44" name="Google Shape;8544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45" name="Google Shape;8545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46" name="Google Shape;8546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47" name="Google Shape;8547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48" name="Google Shape;8548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</a:t>
            </a:r>
            <a:endParaRPr/>
          </a:p>
        </p:txBody>
      </p:sp>
      <p:sp>
        <p:nvSpPr>
          <p:cNvPr id="8549" name="Google Shape;8549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0" name="Google Shape;8550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1" name="Google Shape;8551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2" name="Google Shape;8552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</a:t>
            </a:r>
            <a:endParaRPr/>
          </a:p>
        </p:txBody>
      </p:sp>
      <p:sp>
        <p:nvSpPr>
          <p:cNvPr id="8553" name="Google Shape;8553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4" name="Google Shape;8554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5" name="Google Shape;8555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556" name="Google Shape;8556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57" name="Google Shape;8557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submissions - highly active agency</a:t>
            </a:r>
            <a:endParaRPr/>
          </a:p>
        </p:txBody>
      </p:sp>
      <p:sp>
        <p:nvSpPr>
          <p:cNvPr id="8558" name="Google Shape;8558;p5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59" name="Google Shape;8559;p5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quotes generated - active in pipeline</a:t>
            </a:r>
            <a:endParaRPr/>
          </a:p>
        </p:txBody>
      </p:sp>
      <p:sp>
        <p:nvSpPr>
          <p:cNvPr id="8560" name="Google Shape;8560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1" name="Google Shape;8561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562" name="Google Shape;8562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63" name="Google Shape;8563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39 submissions</a:t>
            </a:r>
            <a:endParaRPr/>
          </a:p>
        </p:txBody>
      </p:sp>
      <p:sp>
        <p:nvSpPr>
          <p:cNvPr id="8564" name="Google Shape;8564;p5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65" name="Google Shape;8565;p5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submissions with zero binds - zero conversion</a:t>
            </a:r>
            <a:endParaRPr/>
          </a:p>
        </p:txBody>
      </p:sp>
      <p:sp>
        <p:nvSpPr>
          <p:cNvPr id="8566" name="Google Shape;8566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7" name="Google Shape;8567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568" name="Google Shape;8568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569" name="Google Shape;8569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570" name="Google Shape;8570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571" name="Google Shape;8571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75" name="Shape 8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6" name="Google Shape;8576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7" name="Google Shape;8577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Redden-wood &amp; Associates, Inc.</a:t>
            </a:r>
            <a:endParaRPr/>
          </a:p>
        </p:txBody>
      </p:sp>
      <p:sp>
        <p:nvSpPr>
          <p:cNvPr id="8578" name="Google Shape;8578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WV  |  City: Mount Hope</a:t>
            </a:r>
            <a:endParaRPr/>
          </a:p>
        </p:txBody>
      </p:sp>
      <p:sp>
        <p:nvSpPr>
          <p:cNvPr id="8579" name="Google Shape;8579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580" name="Google Shape;8580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581" name="Google Shape;8581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582" name="Google Shape;8582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583" name="Google Shape;8583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584" name="Google Shape;8584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585" name="Google Shape;8585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586" name="Google Shape;8586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587" name="Google Shape;8587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88" name="Google Shape;8588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89" name="Google Shape;8589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90" name="Google Shape;8590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591" name="Google Shape;8591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592" name="Google Shape;8592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3" name="Google Shape;8593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594" name="Google Shape;8594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595" name="Google Shape;8595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596" name="Google Shape;8596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597" name="Google Shape;8597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598" name="Google Shape;8598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599" name="Google Shape;8599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00" name="Google Shape;8600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1" name="Google Shape;8601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02" name="Google Shape;8602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3" name="Google Shape;8603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4" name="Google Shape;8604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5" name="Google Shape;8605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6" name="Google Shape;8606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7" name="Google Shape;8607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8" name="Google Shape;8608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09" name="Google Shape;8609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0" name="Google Shape;8610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1" name="Google Shape;8611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2" name="Google Shape;8612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3" name="Google Shape;8613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4" name="Google Shape;8614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5" name="Google Shape;8615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16" name="Google Shape;8616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7" name="Google Shape;8617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8" name="Google Shape;8618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9" name="Google Shape;8619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0" name="Google Shape;8620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1" name="Google Shape;8621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2" name="Google Shape;8622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23" name="Google Shape;8623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4" name="Google Shape;8624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5" name="Google Shape;8625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6" name="Google Shape;8626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7" name="Google Shape;8627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8" name="Google Shape;8628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9" name="Google Shape;8629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30" name="Google Shape;8630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1" name="Google Shape;8631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2" name="Google Shape;8632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3" name="Google Shape;8633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4" name="Google Shape;8634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5" name="Google Shape;8635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6" name="Google Shape;8636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37" name="Google Shape;8637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8" name="Google Shape;8638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9" name="Google Shape;8639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0" name="Google Shape;8640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1" name="Google Shape;8641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2" name="Google Shape;8642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3" name="Google Shape;8643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644" name="Google Shape;8644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45" name="Google Shape;8645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646" name="Google Shape;8646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647" name="Google Shape;8647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648" name="Google Shape;8648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49" name="Google Shape;8649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50" name="Google Shape;8650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1" name="Google Shape;8651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52" name="Google Shape;8652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53" name="Google Shape;8653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54" name="Google Shape;8654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55" name="Google Shape;8655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56" name="Google Shape;8656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57" name="Google Shape;8657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8" name="Google Shape;8658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59" name="Google Shape;8659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60" name="Google Shape;8660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1" name="Google Shape;8661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62" name="Google Shape;8662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3" name="Google Shape;8663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64" name="Google Shape;8664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5" name="Google Shape;8665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66" name="Google Shape;8666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7" name="Google Shape;8667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8" name="Google Shape;8668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9" name="Google Shape;8669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0" name="Google Shape;8670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71" name="Google Shape;8671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2" name="Google Shape;8672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73" name="Google Shape;8673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4" name="Google Shape;8674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5" name="Google Shape;8675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6" name="Google Shape;8676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7" name="Google Shape;8677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78" name="Google Shape;8678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9" name="Google Shape;8679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80" name="Google Shape;8680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1" name="Google Shape;8681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2" name="Google Shape;8682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3" name="Google Shape;8683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4" name="Google Shape;8684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85" name="Google Shape;8685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6" name="Google Shape;8686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87" name="Google Shape;8687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88" name="Google Shape;8688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9" name="Google Shape;8689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90" name="Google Shape;8690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1" name="Google Shape;8691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92" name="Google Shape;8692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3" name="Google Shape;8693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694" name="Google Shape;8694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695" name="Google Shape;8695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696" name="Google Shape;8696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697" name="Google Shape;8697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698" name="Google Shape;8698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699" name="Google Shape;8699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00" name="Google Shape;8700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01" name="Google Shape;8701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02" name="Google Shape;8702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03" name="Google Shape;8703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04" name="Google Shape;8704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05" name="Google Shape;8705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706" name="Google Shape;8706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707" name="Google Shape;8707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08" name="Google Shape;8708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709" name="Google Shape;8709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10" name="Google Shape;8710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711" name="Google Shape;8711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12" name="Google Shape;8712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8713" name="Google Shape;8713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4" name="Google Shape;8714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8715" name="Google Shape;8715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6" name="Google Shape;8716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8717" name="Google Shape;8717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8" name="Google Shape;8718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8719" name="Google Shape;8719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720" name="Google Shape;8720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21" name="Google Shape;8721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2" name="Google Shape;8722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3" name="Google Shape;8723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4" name="Google Shape;8724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5" name="Google Shape;8725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6" name="Google Shape;8726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7" name="Google Shape;8727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8" name="Google Shape;8728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9" name="Google Shape;8729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0" name="Google Shape;8730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1" name="Google Shape;8731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2" name="Google Shape;8732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3" name="Google Shape;8733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4" name="Google Shape;8734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735" name="Google Shape;8735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36" name="Google Shape;8736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8737" name="Google Shape;8737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8" name="Google Shape;8738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739" name="Google Shape;8739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40" name="Google Shape;8740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8741" name="Google Shape;8741;p5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42" name="Google Shape;8742;p5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8743" name="Google Shape;8743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4" name="Google Shape;8744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745" name="Google Shape;8745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746" name="Google Shape;8746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50" name="Shape 8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1" name="Google Shape;8751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2" name="Google Shape;8752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Seubert &amp; Associates Inc</a:t>
            </a:r>
            <a:endParaRPr/>
          </a:p>
        </p:txBody>
      </p:sp>
      <p:sp>
        <p:nvSpPr>
          <p:cNvPr id="8753" name="Google Shape;8753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Pittsburgh</a:t>
            </a:r>
            <a:endParaRPr/>
          </a:p>
        </p:txBody>
      </p:sp>
      <p:sp>
        <p:nvSpPr>
          <p:cNvPr id="8754" name="Google Shape;8754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755" name="Google Shape;8755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56" name="Google Shape;8756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57" name="Google Shape;8757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58" name="Google Shape;8758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59" name="Google Shape;8759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760" name="Google Shape;8760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761" name="Google Shape;8761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762" name="Google Shape;8762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63" name="Google Shape;8763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64" name="Google Shape;8764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65" name="Google Shape;8765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766" name="Google Shape;8766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767" name="Google Shape;8767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8" name="Google Shape;8768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769" name="Google Shape;8769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70" name="Google Shape;8770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771" name="Google Shape;8771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72" name="Google Shape;8772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73" name="Google Shape;8773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74" name="Google Shape;8774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75" name="Google Shape;8775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6" name="Google Shape;8776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77" name="Google Shape;8777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8" name="Google Shape;8778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79" name="Google Shape;8779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0" name="Google Shape;8780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1" name="Google Shape;8781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2" name="Google Shape;8782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3" name="Google Shape;8783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84" name="Google Shape;8784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5" name="Google Shape;8785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6" name="Google Shape;8786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7" name="Google Shape;8787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8" name="Google Shape;8788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9" name="Google Shape;8789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0" name="Google Shape;8790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91" name="Google Shape;8791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2" name="Google Shape;8792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3" name="Google Shape;8793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4" name="Google Shape;8794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5" name="Google Shape;8795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6" name="Google Shape;8796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7" name="Google Shape;8797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98" name="Google Shape;8798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9" name="Google Shape;8799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0" name="Google Shape;8800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1" name="Google Shape;8801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2" name="Google Shape;8802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3" name="Google Shape;8803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4" name="Google Shape;8804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05" name="Google Shape;8805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6" name="Google Shape;8806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7" name="Google Shape;8807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8" name="Google Shape;8808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9" name="Google Shape;8809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0" name="Google Shape;8810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1" name="Google Shape;8811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12" name="Google Shape;8812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3" name="Google Shape;8813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4" name="Google Shape;8814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5" name="Google Shape;8815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6" name="Google Shape;8816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7" name="Google Shape;8817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8" name="Google Shape;8818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819" name="Google Shape;8819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20" name="Google Shape;8820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821" name="Google Shape;8821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822" name="Google Shape;8822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823" name="Google Shape;8823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24" name="Google Shape;8824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25" name="Google Shape;8825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6" name="Google Shape;8826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27" name="Google Shape;8827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28" name="Google Shape;8828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29" name="Google Shape;8829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0" name="Google Shape;8830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1" name="Google Shape;8831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32" name="Google Shape;8832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3" name="Google Shape;8833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34" name="Google Shape;8834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835" name="Google Shape;8835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836" name="Google Shape;8836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37" name="Google Shape;8837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8" name="Google Shape;8838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39" name="Google Shape;8839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0" name="Google Shape;8840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41" name="Google Shape;8841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842" name="Google Shape;8842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43" name="Google Shape;8843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44" name="Google Shape;8844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5" name="Google Shape;8845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46" name="Google Shape;8846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7" name="Google Shape;8847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48" name="Google Shape;8848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49" name="Google Shape;8849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50" name="Google Shape;8850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1" name="Google Shape;8851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2" name="Google Shape;8852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53" name="Google Shape;8853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4" name="Google Shape;8854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55" name="Google Shape;8855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56" name="Google Shape;8856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57" name="Google Shape;8857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58" name="Google Shape;8858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9" name="Google Shape;8859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60" name="Google Shape;8860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1" name="Google Shape;8861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62" name="Google Shape;8862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863" name="Google Shape;8863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864" name="Google Shape;8864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865" name="Google Shape;8865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66" name="Google Shape;8866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67" name="Google Shape;8867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8" name="Google Shape;8868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869" name="Google Shape;8869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870" name="Google Shape;8870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871" name="Google Shape;8871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872" name="Google Shape;8872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873" name="Google Shape;8873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874" name="Google Shape;8874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875" name="Google Shape;8875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876" name="Google Shape;8876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877" name="Google Shape;8877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878" name="Google Shape;8878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879" name="Google Shape;8879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880" name="Google Shape;8880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881" name="Google Shape;8881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882" name="Google Shape;8882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83" name="Google Shape;8883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84" name="Google Shape;8884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85" name="Google Shape;8885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86" name="Google Shape;8886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887" name="Google Shape;8887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88" name="Google Shape;8888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889" name="Google Shape;8889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0" name="Google Shape;8890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1" name="Google Shape;8891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2" name="Google Shape;8892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93" name="Google Shape;8893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4" name="Google Shape;8894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895" name="Google Shape;8895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896" name="Google Shape;8896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7" name="Google Shape;8897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8" name="Google Shape;8898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9" name="Google Shape;8899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0" name="Google Shape;8900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1" name="Google Shape;8901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2" name="Google Shape;8902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3" name="Google Shape;8903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4" name="Google Shape;8904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5" name="Google Shape;8905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6" name="Google Shape;8906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7" name="Google Shape;8907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8" name="Google Shape;8908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9" name="Google Shape;8909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910" name="Google Shape;8910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11" name="Google Shape;8911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8912" name="Google Shape;8912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3" name="Google Shape;8913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914" name="Google Shape;8914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15" name="Google Shape;8915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8916" name="Google Shape;8916;p5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17" name="Google Shape;8917;p5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8918" name="Google Shape;8918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9" name="Google Shape;8919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920" name="Google Shape;8920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921" name="Google Shape;8921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922" name="Google Shape;8922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923" name="Google Shape;8923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27" name="Shape 8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8" name="Google Shape;8928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9" name="Google Shape;8929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New Rochelle Agencies Corp</a:t>
            </a:r>
            <a:endParaRPr/>
          </a:p>
        </p:txBody>
      </p:sp>
      <p:sp>
        <p:nvSpPr>
          <p:cNvPr id="8930" name="Google Shape;8930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New York  |  City: Larchmont</a:t>
            </a:r>
            <a:endParaRPr/>
          </a:p>
        </p:txBody>
      </p:sp>
      <p:sp>
        <p:nvSpPr>
          <p:cNvPr id="8931" name="Google Shape;8931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932" name="Google Shape;8932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33" name="Google Shape;8933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34" name="Google Shape;8934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35" name="Google Shape;8935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36" name="Google Shape;8936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937" name="Google Shape;8937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938" name="Google Shape;8938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939" name="Google Shape;8939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40" name="Google Shape;8940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41" name="Google Shape;8941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42" name="Google Shape;8942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943" name="Google Shape;8943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944" name="Google Shape;8944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5" name="Google Shape;8945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946" name="Google Shape;8946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47" name="Google Shape;8947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948" name="Google Shape;8948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49" name="Google Shape;8949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50" name="Google Shape;8950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51" name="Google Shape;8951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52" name="Google Shape;8952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3" name="Google Shape;8953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54" name="Google Shape;8954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5" name="Google Shape;8955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6" name="Google Shape;8956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7" name="Google Shape;8957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8" name="Google Shape;8958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59" name="Google Shape;8959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0" name="Google Shape;8960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61" name="Google Shape;8961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2" name="Google Shape;8962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3" name="Google Shape;8963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4" name="Google Shape;8964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5" name="Google Shape;8965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6" name="Google Shape;8966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7" name="Google Shape;8967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68" name="Google Shape;8968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9" name="Google Shape;8969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0" name="Google Shape;8970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1" name="Google Shape;8971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2" name="Google Shape;8972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3" name="Google Shape;8973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4" name="Google Shape;8974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75" name="Google Shape;8975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6" name="Google Shape;8976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7" name="Google Shape;8977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8" name="Google Shape;8978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9" name="Google Shape;8979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0" name="Google Shape;8980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1" name="Google Shape;8981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82" name="Google Shape;8982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3" name="Google Shape;8983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4" name="Google Shape;8984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5" name="Google Shape;8985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6" name="Google Shape;8986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7" name="Google Shape;8987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8" name="Google Shape;8988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89" name="Google Shape;8989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0" name="Google Shape;8990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1" name="Google Shape;8991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2" name="Google Shape;8992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3" name="Google Shape;8993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4" name="Google Shape;8994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5" name="Google Shape;8995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996" name="Google Shape;8996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97" name="Google Shape;8997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998" name="Google Shape;8998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999" name="Google Shape;8999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000" name="Google Shape;9000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01" name="Google Shape;9001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02" name="Google Shape;9002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3" name="Google Shape;9003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04" name="Google Shape;9004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05" name="Google Shape;9005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06" name="Google Shape;9006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07" name="Google Shape;9007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08" name="Google Shape;9008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09" name="Google Shape;9009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0" name="Google Shape;9010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11" name="Google Shape;9011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2" name="Google Shape;9012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3" name="Google Shape;9013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4" name="Google Shape;9014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5" name="Google Shape;9015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16" name="Google Shape;9016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7" name="Google Shape;9017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18" name="Google Shape;9018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19" name="Google Shape;9019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0" name="Google Shape;9020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21" name="Google Shape;9021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2" name="Google Shape;9022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23" name="Google Shape;9023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4" name="Google Shape;9024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25" name="Google Shape;9025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6" name="Google Shape;9026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7" name="Google Shape;9027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8" name="Google Shape;9028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9" name="Google Shape;9029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30" name="Google Shape;9030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1" name="Google Shape;9031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32" name="Google Shape;9032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3" name="Google Shape;9033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4" name="Google Shape;9034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5" name="Google Shape;9035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6" name="Google Shape;9036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37" name="Google Shape;9037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8" name="Google Shape;9038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39" name="Google Shape;9039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40" name="Google Shape;9040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1" name="Google Shape;9041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42" name="Google Shape;9042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3" name="Google Shape;9043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44" name="Google Shape;9044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5" name="Google Shape;9045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046" name="Google Shape;9046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047" name="Google Shape;9047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048" name="Google Shape;9048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049" name="Google Shape;9049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050" name="Google Shape;9050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051" name="Google Shape;9051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052" name="Google Shape;9052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053" name="Google Shape;9053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054" name="Google Shape;9054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055" name="Google Shape;9055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056" name="Google Shape;9056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057" name="Google Shape;9057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058" name="Google Shape;9058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059" name="Google Shape;9059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60" name="Google Shape;9060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1" name="Google Shape;9061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2" name="Google Shape;9062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3" name="Google Shape;9063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4" name="Google Shape;9064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5" name="Google Shape;9065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66" name="Google Shape;9066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7" name="Google Shape;9067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8" name="Google Shape;9068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9" name="Google Shape;9069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0" name="Google Shape;9070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1" name="Google Shape;9071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72" name="Google Shape;9072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073" name="Google Shape;9073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4" name="Google Shape;9074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5" name="Google Shape;9075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6" name="Google Shape;9076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7" name="Google Shape;9077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8" name="Google Shape;9078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9" name="Google Shape;9079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0" name="Google Shape;9080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1" name="Google Shape;9081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2" name="Google Shape;9082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3" name="Google Shape;9083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4" name="Google Shape;9084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5" name="Google Shape;9085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6" name="Google Shape;9086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087" name="Google Shape;9087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088" name="Google Shape;9088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9089" name="Google Shape;9089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0" name="Google Shape;9090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091" name="Google Shape;9091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092" name="Google Shape;9092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9093" name="Google Shape;9093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4" name="Google Shape;9094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095" name="Google Shape;9095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096" name="Google Shape;9096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00" name="Shape 9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1" name="Google Shape;9101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2" name="Google Shape;9102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Insurance Placement Services Inc</a:t>
            </a:r>
            <a:endParaRPr/>
          </a:p>
        </p:txBody>
      </p:sp>
      <p:sp>
        <p:nvSpPr>
          <p:cNvPr id="9103" name="Google Shape;9103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N/A</a:t>
            </a:r>
            <a:endParaRPr/>
          </a:p>
        </p:txBody>
      </p:sp>
      <p:sp>
        <p:nvSpPr>
          <p:cNvPr id="9104" name="Google Shape;9104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105" name="Google Shape;9105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06" name="Google Shape;9106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07" name="Google Shape;9107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08" name="Google Shape;9108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09" name="Google Shape;9109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110" name="Google Shape;9110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111" name="Google Shape;9111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112" name="Google Shape;9112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13" name="Google Shape;9113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14" name="Google Shape;9114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15" name="Google Shape;9115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116" name="Google Shape;9116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117" name="Google Shape;9117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8" name="Google Shape;9118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119" name="Google Shape;9119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20" name="Google Shape;9120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121" name="Google Shape;9121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22" name="Google Shape;9122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23" name="Google Shape;9123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24" name="Google Shape;9124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25" name="Google Shape;9125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6" name="Google Shape;9126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27" name="Google Shape;9127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8" name="Google Shape;9128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9" name="Google Shape;9129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0" name="Google Shape;9130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1" name="Google Shape;9131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2" name="Google Shape;9132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3" name="Google Shape;9133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34" name="Google Shape;9134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5" name="Google Shape;9135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6" name="Google Shape;9136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7" name="Google Shape;9137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8" name="Google Shape;9138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9" name="Google Shape;9139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0" name="Google Shape;9140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41" name="Google Shape;9141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2" name="Google Shape;9142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3" name="Google Shape;9143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4" name="Google Shape;9144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5" name="Google Shape;9145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6" name="Google Shape;9146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7" name="Google Shape;9147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48" name="Google Shape;9148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9" name="Google Shape;9149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0" name="Google Shape;9150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1" name="Google Shape;9151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2" name="Google Shape;9152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3" name="Google Shape;9153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4" name="Google Shape;9154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55" name="Google Shape;9155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6" name="Google Shape;9156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7" name="Google Shape;9157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8" name="Google Shape;9158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9" name="Google Shape;9159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0" name="Google Shape;9160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1" name="Google Shape;9161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62" name="Google Shape;9162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3" name="Google Shape;9163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4" name="Google Shape;9164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5" name="Google Shape;9165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6" name="Google Shape;9166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7" name="Google Shape;9167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8" name="Google Shape;9168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169" name="Google Shape;9169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70" name="Google Shape;9170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71" name="Google Shape;9171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172" name="Google Shape;9172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173" name="Google Shape;9173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74" name="Google Shape;9174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75" name="Google Shape;9175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6" name="Google Shape;9176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77" name="Google Shape;9177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78" name="Google Shape;9178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79" name="Google Shape;9179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80" name="Google Shape;9180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1" name="Google Shape;9181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82" name="Google Shape;9182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3" name="Google Shape;9183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84" name="Google Shape;9184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85" name="Google Shape;9185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6" name="Google Shape;9186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87" name="Google Shape;9187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8" name="Google Shape;9188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89" name="Google Shape;9189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0" name="Google Shape;9190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91" name="Google Shape;9191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92" name="Google Shape;9192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93" name="Google Shape;9193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194" name="Google Shape;9194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5" name="Google Shape;9195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96" name="Google Shape;9196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7" name="Google Shape;9197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98" name="Google Shape;9198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99" name="Google Shape;9199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0" name="Google Shape;9200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01" name="Google Shape;9201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2" name="Google Shape;9202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03" name="Google Shape;9203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4" name="Google Shape;9204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05" name="Google Shape;9205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06" name="Google Shape;9206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7" name="Google Shape;9207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08" name="Google Shape;9208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9" name="Google Shape;9209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10" name="Google Shape;9210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1" name="Google Shape;9211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12" name="Google Shape;9212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213" name="Google Shape;9213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14" name="Google Shape;9214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215" name="Google Shape;9215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6" name="Google Shape;9216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17" name="Google Shape;9217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8" name="Google Shape;9218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219" name="Google Shape;9219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20" name="Google Shape;9220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221" name="Google Shape;9221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222" name="Google Shape;9222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223" name="Google Shape;9223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224" name="Google Shape;9224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225" name="Google Shape;9225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226" name="Google Shape;9226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227" name="Google Shape;9227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228" name="Google Shape;9228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229" name="Google Shape;9229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230" name="Google Shape;9230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231" name="Google Shape;9231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232" name="Google Shape;9232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33" name="Google Shape;9233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234" name="Google Shape;9234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5" name="Google Shape;9235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6" name="Google Shape;9236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37" name="Google Shape;9237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8" name="Google Shape;9238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39" name="Google Shape;9239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240" name="Google Shape;9240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41" name="Google Shape;9241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2" name="Google Shape;9242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43" name="Google Shape;9243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244" name="Google Shape;9244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245" name="Google Shape;9245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246" name="Google Shape;9246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47" name="Google Shape;9247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48" name="Google Shape;9248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49" name="Google Shape;9249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0" name="Google Shape;9250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1" name="Google Shape;9251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2" name="Google Shape;9252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9253" name="Google Shape;9253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4" name="Google Shape;9254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5" name="Google Shape;9255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6" name="Google Shape;9256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9257" name="Google Shape;9257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8" name="Google Shape;9258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9" name="Google Shape;9259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260" name="Google Shape;9260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61" name="Google Shape;9261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9262" name="Google Shape;9262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3" name="Google Shape;9263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264" name="Google Shape;9264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65" name="Google Shape;9265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10 submissions</a:t>
            </a:r>
            <a:endParaRPr/>
          </a:p>
        </p:txBody>
      </p:sp>
      <p:sp>
        <p:nvSpPr>
          <p:cNvPr id="9266" name="Google Shape;9266;p5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67" name="Google Shape;9267;p5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submissions with zero binds - zero conversion</a:t>
            </a:r>
            <a:endParaRPr/>
          </a:p>
        </p:txBody>
      </p:sp>
      <p:sp>
        <p:nvSpPr>
          <p:cNvPr id="9268" name="Google Shape;9268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9" name="Google Shape;9269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270" name="Google Shape;9270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271" name="Google Shape;9271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9272" name="Google Shape;9272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273" name="Google Shape;9273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77" name="Shape 9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8" name="Google Shape;9278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9" name="Google Shape;9279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True Insurance Llc</a:t>
            </a:r>
            <a:endParaRPr/>
          </a:p>
        </p:txBody>
      </p:sp>
      <p:sp>
        <p:nvSpPr>
          <p:cNvPr id="9280" name="Google Shape;9280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Allentown</a:t>
            </a:r>
            <a:endParaRPr/>
          </a:p>
        </p:txBody>
      </p:sp>
      <p:sp>
        <p:nvSpPr>
          <p:cNvPr id="9281" name="Google Shape;9281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282" name="Google Shape;9282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83" name="Google Shape;9283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284" name="Google Shape;9284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285" name="Google Shape;9285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286" name="Google Shape;9286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287" name="Google Shape;9287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$35,216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288" name="Google Shape;9288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289" name="Google Shape;9289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90" name="Google Shape;9290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291" name="Google Shape;9291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292" name="Google Shape;9292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293" name="Google Shape;9293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294" name="Google Shape;9294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5" name="Google Shape;9295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296" name="Google Shape;9296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97" name="Google Shape;9297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298" name="Google Shape;9298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99" name="Google Shape;9299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00" name="Google Shape;9300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01" name="Google Shape;9301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02" name="Google Shape;9302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3" name="Google Shape;9303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04" name="Google Shape;9304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5" name="Google Shape;9305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6" name="Google Shape;9306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7" name="Google Shape;9307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8" name="Google Shape;9308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9" name="Google Shape;9309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0" name="Google Shape;9310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11" name="Google Shape;9311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2" name="Google Shape;9312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3" name="Google Shape;9313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4" name="Google Shape;9314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5" name="Google Shape;9315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6" name="Google Shape;9316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7" name="Google Shape;9317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18" name="Google Shape;9318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9" name="Google Shape;9319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0" name="Google Shape;9320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1" name="Google Shape;9321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2" name="Google Shape;9322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3" name="Google Shape;9323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4" name="Google Shape;9324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25" name="Google Shape;9325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6" name="Google Shape;9326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7" name="Google Shape;9327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8" name="Google Shape;9328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9" name="Google Shape;9329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0" name="Google Shape;9330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1" name="Google Shape;9331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32" name="Google Shape;9332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3" name="Google Shape;9333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4" name="Google Shape;9334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5" name="Google Shape;9335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6" name="Google Shape;9336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7" name="Google Shape;9337;p5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8" name="Google Shape;9338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39" name="Google Shape;9339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0" name="Google Shape;9340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1" name="Google Shape;9341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2" name="Google Shape;9342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3" name="Google Shape;9343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4" name="Google Shape;9344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5" name="Google Shape;9345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346" name="Google Shape;9346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47" name="Google Shape;9347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348" name="Google Shape;9348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349" name="Google Shape;9349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350" name="Google Shape;9350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51" name="Google Shape;9351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52" name="Google Shape;9352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3" name="Google Shape;9353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54" name="Google Shape;9354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55" name="Google Shape;9355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56" name="Google Shape;9356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57" name="Google Shape;9357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58" name="Google Shape;9358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59" name="Google Shape;9359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0" name="Google Shape;9360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61" name="Google Shape;9361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362" name="Google Shape;9362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63" name="Google Shape;9363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364" name="Google Shape;9364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65" name="Google Shape;9365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66" name="Google Shape;9366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7" name="Google Shape;9367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68" name="Google Shape;9368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69" name="Google Shape;9369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0" name="Google Shape;9370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1" name="Google Shape;9371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2" name="Google Shape;9372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73" name="Google Shape;9373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4" name="Google Shape;9374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75" name="Google Shape;9375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6" name="Google Shape;9376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7" name="Google Shape;9377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8" name="Google Shape;9378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9" name="Google Shape;9379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80" name="Google Shape;9380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1" name="Google Shape;9381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82" name="Google Shape;9382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3" name="Google Shape;9383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4" name="Google Shape;9384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5" name="Google Shape;9385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6" name="Google Shape;9386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87" name="Google Shape;9387;p5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8" name="Google Shape;9388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89" name="Google Shape;9389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390" name="Google Shape;9390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91" name="Google Shape;9391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392" name="Google Shape;9392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93" name="Google Shape;9393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94" name="Google Shape;9394;p5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5" name="Google Shape;9395;p5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396" name="Google Shape;9396;p5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397" name="Google Shape;9397;p5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398" name="Google Shape;9398;p5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399" name="Google Shape;9399;p5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400" name="Google Shape;9400;p5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401" name="Google Shape;9401;p5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402" name="Google Shape;9402;p5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403" name="Google Shape;9403;p5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404" name="Google Shape;9404;p5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405" name="Google Shape;9405;p5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406" name="Google Shape;9406;p5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407" name="Google Shape;9407;p5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408" name="Google Shape;9408;p5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409" name="Google Shape;9409;p5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10" name="Google Shape;9410;p5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411" name="Google Shape;9411;p5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12" name="Google Shape;9412;p5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13" name="Google Shape;9413;p5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414" name="Google Shape;9414;p5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415" name="Google Shape;9415;p5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16" name="Google Shape;9416;p5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417" name="Google Shape;9417;p5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18" name="Google Shape;9418;p5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419" name="Google Shape;9419;p5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0" name="Google Shape;9420;p5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421" name="Google Shape;9421;p5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422" name="Google Shape;9422;p5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423" name="Google Shape;9423;p5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24" name="Google Shape;9424;p5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25" name="Google Shape;9425;p5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26" name="Google Shape;9426;p5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27" name="Google Shape;9427;p5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28" name="Google Shape;9428;p5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29" name="Google Shape;9429;p5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9430" name="Google Shape;9430;p5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1" name="Google Shape;9431;p5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2" name="Google Shape;9432;p5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3" name="Google Shape;9433;p5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9434" name="Google Shape;9434;p5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5" name="Google Shape;9435;p5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6" name="Google Shape;9436;p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437" name="Google Shape;9437;p5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38" name="Google Shape;9438;p5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9439" name="Google Shape;9439;p5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0" name="Google Shape;9440;p5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441" name="Google Shape;9441;p5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42" name="Google Shape;9442;p5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8 submissions</a:t>
            </a:r>
            <a:endParaRPr/>
          </a:p>
        </p:txBody>
      </p:sp>
      <p:sp>
        <p:nvSpPr>
          <p:cNvPr id="9443" name="Google Shape;9443;p5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44" name="Google Shape;9444;p5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submissions with zero binds - zero conversion</a:t>
            </a:r>
            <a:endParaRPr/>
          </a:p>
        </p:txBody>
      </p:sp>
      <p:sp>
        <p:nvSpPr>
          <p:cNvPr id="9445" name="Google Shape;9445;p5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6" name="Google Shape;9446;p5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447" name="Google Shape;9447;p5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448" name="Google Shape;9448;p5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52" name="Shape 9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3" name="Google Shape;9453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4" name="Google Shape;9454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Jyp Ins Agency LLC</a:t>
            </a:r>
            <a:endParaRPr/>
          </a:p>
        </p:txBody>
      </p:sp>
      <p:sp>
        <p:nvSpPr>
          <p:cNvPr id="9455" name="Google Shape;9455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N/A</a:t>
            </a:r>
            <a:endParaRPr/>
          </a:p>
        </p:txBody>
      </p:sp>
      <p:sp>
        <p:nvSpPr>
          <p:cNvPr id="9456" name="Google Shape;9456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457" name="Google Shape;9457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58" name="Google Shape;9458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59" name="Google Shape;9459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60" name="Google Shape;9460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61" name="Google Shape;9461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462" name="Google Shape;9462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463" name="Google Shape;9463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464" name="Google Shape;9464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65" name="Google Shape;9465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66" name="Google Shape;9466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67" name="Google Shape;9467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468" name="Google Shape;9468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469" name="Google Shape;9469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0" name="Google Shape;9470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471" name="Google Shape;9471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72" name="Google Shape;9472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473" name="Google Shape;9473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74" name="Google Shape;9474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75" name="Google Shape;9475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76" name="Google Shape;9476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77" name="Google Shape;9477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8" name="Google Shape;9478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79" name="Google Shape;9479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0" name="Google Shape;9480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1" name="Google Shape;9481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2" name="Google Shape;9482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3" name="Google Shape;9483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4" name="Google Shape;9484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5" name="Google Shape;9485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86" name="Google Shape;9486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7" name="Google Shape;9487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8" name="Google Shape;9488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9" name="Google Shape;9489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0" name="Google Shape;9490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1" name="Google Shape;9491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2" name="Google Shape;9492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493" name="Google Shape;9493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494" name="Google Shape;9494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5" name="Google Shape;9495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6" name="Google Shape;9496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497" name="Google Shape;9497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8" name="Google Shape;9498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9" name="Google Shape;9499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00" name="Google Shape;9500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1" name="Google Shape;9501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2" name="Google Shape;9502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3" name="Google Shape;9503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4" name="Google Shape;9504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5" name="Google Shape;9505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6" name="Google Shape;9506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07" name="Google Shape;9507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8" name="Google Shape;9508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9" name="Google Shape;9509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0" name="Google Shape;9510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1" name="Google Shape;9511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2" name="Google Shape;9512;p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3" name="Google Shape;9513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14" name="Google Shape;9514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515" name="Google Shape;9515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6" name="Google Shape;9516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7" name="Google Shape;9517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518" name="Google Shape;9518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9" name="Google Shape;9519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0" name="Google Shape;9520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521" name="Google Shape;9521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22" name="Google Shape;9522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523" name="Google Shape;9523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524" name="Google Shape;9524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525" name="Google Shape;9525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26" name="Google Shape;9526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27" name="Google Shape;9527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8" name="Google Shape;9528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29" name="Google Shape;9529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30" name="Google Shape;9530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1" name="Google Shape;9531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32" name="Google Shape;9532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3" name="Google Shape;9533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34" name="Google Shape;9534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5" name="Google Shape;9535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36" name="Google Shape;9536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37" name="Google Shape;9537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8" name="Google Shape;9538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39" name="Google Shape;9539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40" name="Google Shape;9540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41" name="Google Shape;9541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2" name="Google Shape;9542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43" name="Google Shape;9543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544" name="Google Shape;9544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45" name="Google Shape;9545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546" name="Google Shape;9546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47" name="Google Shape;9547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9548" name="Google Shape;9548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9" name="Google Shape;9549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50" name="Google Shape;9550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51" name="Google Shape;9551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2" name="Google Shape;9552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53" name="Google Shape;9553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4" name="Google Shape;9554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55" name="Google Shape;9555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6" name="Google Shape;9556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57" name="Google Shape;9557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8" name="Google Shape;9558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9" name="Google Shape;9559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60" name="Google Shape;9560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61" name="Google Shape;9561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62" name="Google Shape;9562;p6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3" name="Google Shape;9563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64" name="Google Shape;9564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565" name="Google Shape;9565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66" name="Google Shape;9566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567" name="Google Shape;9567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68" name="Google Shape;9568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9569" name="Google Shape;9569;p6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0" name="Google Shape;9570;p6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571" name="Google Shape;9571;p6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572" name="Google Shape;9572;p6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573" name="Google Shape;9573;p6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574" name="Google Shape;9574;p6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575" name="Google Shape;9575;p6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576" name="Google Shape;9576;p6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577" name="Google Shape;9577;p6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578" name="Google Shape;9578;p6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579" name="Google Shape;9579;p6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580" name="Google Shape;9580;p6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581" name="Google Shape;9581;p6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582" name="Google Shape;9582;p6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583" name="Google Shape;9583;p6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584" name="Google Shape;9584;p6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585" name="Google Shape;9585;p6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586" name="Google Shape;9586;p6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87" name="Google Shape;9587;p6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88" name="Google Shape;9588;p6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89" name="Google Shape;9589;p6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90" name="Google Shape;9590;p6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591" name="Google Shape;9591;p6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92" name="Google Shape;9592;p6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93" name="Google Shape;9593;p6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94" name="Google Shape;9594;p6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5" name="Google Shape;9595;p6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596" name="Google Shape;9596;p6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597" name="Google Shape;9597;p6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598" name="Google Shape;9598;p6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99" name="Google Shape;9599;p6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00" name="Google Shape;9600;p6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01" name="Google Shape;9601;p6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02" name="Google Shape;9602;p6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03" name="Google Shape;9603;p6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604" name="Google Shape;9604;p6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9605" name="Google Shape;9605;p6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06" name="Google Shape;9606;p6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9607" name="Google Shape;9607;p6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08" name="Google Shape;9608;p6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9609" name="Google Shape;9609;p6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610" name="Google Shape;9610;p6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1" name="Google Shape;9611;p6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612" name="Google Shape;9612;p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13" name="Google Shape;9613;p6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 hit ratio - above average conversion</a:t>
            </a:r>
            <a:endParaRPr/>
          </a:p>
        </p:txBody>
      </p:sp>
      <p:sp>
        <p:nvSpPr>
          <p:cNvPr id="9614" name="Google Shape;9614;p6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15" name="Google Shape;9615;p6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9616" name="Google Shape;9616;p6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7" name="Google Shape;9617;p6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618" name="Google Shape;9618;p6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19" name="Google Shape;9619;p6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($-9) - cancellations exceed production</a:t>
            </a:r>
            <a:endParaRPr/>
          </a:p>
        </p:txBody>
      </p:sp>
      <p:sp>
        <p:nvSpPr>
          <p:cNvPr id="9620" name="Google Shape;9620;p6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21" name="Google Shape;9621;p6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7 to 2 MoM</a:t>
            </a:r>
            <a:endParaRPr/>
          </a:p>
        </p:txBody>
      </p:sp>
      <p:sp>
        <p:nvSpPr>
          <p:cNvPr id="9622" name="Google Shape;9622;p6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3" name="Google Shape;9623;p6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624" name="Google Shape;9624;p6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625" name="Google Shape;9625;p6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626" name="Google Shape;9626;p6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627" name="Google Shape;9627;p6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31" name="Shape 9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2" name="Google Shape;9632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3" name="Google Shape;9633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9634" name="Google Shape;9634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Oakland Gardens</a:t>
            </a:r>
            <a:endParaRPr/>
          </a:p>
        </p:txBody>
      </p:sp>
      <p:sp>
        <p:nvSpPr>
          <p:cNvPr id="9635" name="Google Shape;9635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636" name="Google Shape;9636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37" name="Google Shape;9637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38" name="Google Shape;9638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39" name="Google Shape;9639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40" name="Google Shape;9640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641" name="Google Shape;9641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$27,865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642" name="Google Shape;9642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643" name="Google Shape;9643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44" name="Google Shape;9644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45" name="Google Shape;9645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46" name="Google Shape;9646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647" name="Google Shape;9647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648" name="Google Shape;9648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9" name="Google Shape;9649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650" name="Google Shape;9650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51" name="Google Shape;9651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652" name="Google Shape;9652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53" name="Google Shape;9653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54" name="Google Shape;9654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55" name="Google Shape;9655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56" name="Google Shape;9656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7" name="Google Shape;9657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58" name="Google Shape;9658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9" name="Google Shape;9659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0" name="Google Shape;9660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1" name="Google Shape;9661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2" name="Google Shape;9662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3" name="Google Shape;9663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4" name="Google Shape;9664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65" name="Google Shape;9665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6" name="Google Shape;9666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7" name="Google Shape;9667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8" name="Google Shape;9668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9" name="Google Shape;9669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0" name="Google Shape;9670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1" name="Google Shape;9671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672" name="Google Shape;9672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$-909</a:t>
            </a:r>
            <a:endParaRPr/>
          </a:p>
        </p:txBody>
      </p:sp>
      <p:sp>
        <p:nvSpPr>
          <p:cNvPr id="9673" name="Google Shape;9673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4" name="Google Shape;9674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5" name="Google Shape;9675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$-909</a:t>
            </a:r>
            <a:endParaRPr/>
          </a:p>
        </p:txBody>
      </p:sp>
      <p:sp>
        <p:nvSpPr>
          <p:cNvPr id="9676" name="Google Shape;9676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7" name="Google Shape;9677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8" name="Google Shape;9678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679" name="Google Shape;9679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0" name="Google Shape;9680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1" name="Google Shape;9681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2" name="Google Shape;9682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3" name="Google Shape;9683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4" name="Google Shape;9684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5" name="Google Shape;9685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86" name="Google Shape;9686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</a:t>
            </a:r>
            <a:endParaRPr/>
          </a:p>
        </p:txBody>
      </p:sp>
      <p:sp>
        <p:nvSpPr>
          <p:cNvPr id="9687" name="Google Shape;9687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8" name="Google Shape;9688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9" name="Google Shape;9689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</a:t>
            </a:r>
            <a:endParaRPr/>
          </a:p>
        </p:txBody>
      </p:sp>
      <p:sp>
        <p:nvSpPr>
          <p:cNvPr id="9690" name="Google Shape;9690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1" name="Google Shape;9691;p6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2" name="Google Shape;9692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693" name="Google Shape;9693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$-680</a:t>
            </a:r>
            <a:endParaRPr/>
          </a:p>
        </p:txBody>
      </p:sp>
      <p:sp>
        <p:nvSpPr>
          <p:cNvPr id="9694" name="Google Shape;9694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5" name="Google Shape;9695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6" name="Google Shape;9696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$-680</a:t>
            </a:r>
            <a:endParaRPr/>
          </a:p>
        </p:txBody>
      </p:sp>
      <p:sp>
        <p:nvSpPr>
          <p:cNvPr id="9697" name="Google Shape;9697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8" name="Google Shape;9698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9" name="Google Shape;9699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700" name="Google Shape;9700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01" name="Google Shape;9701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702" name="Google Shape;9702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703" name="Google Shape;9703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704" name="Google Shape;9704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05" name="Google Shape;9705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06" name="Google Shape;9706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7" name="Google Shape;9707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08" name="Google Shape;9708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709" name="Google Shape;9709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0" name="Google Shape;9710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711" name="Google Shape;9711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12" name="Google Shape;9712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9713" name="Google Shape;9713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4" name="Google Shape;9714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15" name="Google Shape;9715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716" name="Google Shape;9716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17" name="Google Shape;9717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718" name="Google Shape;9718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9" name="Google Shape;9719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0" name="Google Shape;9720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1" name="Google Shape;9721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22" name="Google Shape;9722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23" name="Google Shape;9723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4" name="Google Shape;9724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25" name="Google Shape;9725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6" name="Google Shape;9726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7" name="Google Shape;9727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8" name="Google Shape;9728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29" name="Google Shape;9729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30" name="Google Shape;9730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1" name="Google Shape;9731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32" name="Google Shape;9732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33" name="Google Shape;9733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734" name="Google Shape;9734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5" name="Google Shape;9735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36" name="Google Shape;9736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37" name="Google Shape;9737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8" name="Google Shape;9738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39" name="Google Shape;9739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0" name="Google Shape;9740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41" name="Google Shape;9741;p6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2" name="Google Shape;9742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43" name="Google Shape;9743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9744" name="Google Shape;9744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45" name="Google Shape;9745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9746" name="Google Shape;9746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7" name="Google Shape;9747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48" name="Google Shape;9748;p6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9" name="Google Shape;9749;p6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750" name="Google Shape;9750;p6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751" name="Google Shape;9751;p6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752" name="Google Shape;9752;p6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753" name="Google Shape;9753;p6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754" name="Google Shape;9754;p6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755" name="Google Shape;9755;p6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756" name="Google Shape;9756;p6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757" name="Google Shape;9757;p6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758" name="Google Shape;9758;p6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759" name="Google Shape;9759;p6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760" name="Google Shape;9760;p6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761" name="Google Shape;9761;p6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762" name="Google Shape;9762;p6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763" name="Google Shape;9763;p6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64" name="Google Shape;9764;p6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765" name="Google Shape;9765;p6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766" name="Google Shape;9766;p6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767" name="Google Shape;9767;p6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768" name="Google Shape;9768;p6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69" name="Google Shape;9769;p6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70" name="Google Shape;9770;p6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771" name="Google Shape;9771;p6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72" name="Google Shape;9772;p6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73" name="Google Shape;9773;p6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74" name="Google Shape;9774;p6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9775" name="Google Shape;9775;p6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776" name="Google Shape;9776;p6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777" name="Google Shape;9777;p6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8" name="Google Shape;9778;p6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9" name="Google Shape;9779;p6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0" name="Google Shape;9780;p6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1" name="Google Shape;9781;p6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2" name="Google Shape;9782;p6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$-909</a:t>
            </a:r>
            <a:endParaRPr/>
          </a:p>
        </p:txBody>
      </p:sp>
      <p:sp>
        <p:nvSpPr>
          <p:cNvPr id="9783" name="Google Shape;9783;p6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</a:t>
            </a:r>
            <a:endParaRPr/>
          </a:p>
        </p:txBody>
      </p:sp>
      <p:sp>
        <p:nvSpPr>
          <p:cNvPr id="9784" name="Google Shape;9784;p6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5" name="Google Shape;9785;p6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9786" name="Google Shape;9786;p6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</a:t>
            </a:r>
            <a:endParaRPr/>
          </a:p>
        </p:txBody>
      </p:sp>
      <p:sp>
        <p:nvSpPr>
          <p:cNvPr id="9787" name="Google Shape;9787;p6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9788" name="Google Shape;9788;p6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$-680</a:t>
            </a:r>
            <a:endParaRPr/>
          </a:p>
        </p:txBody>
      </p:sp>
      <p:sp>
        <p:nvSpPr>
          <p:cNvPr id="9789" name="Google Shape;9789;p6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0" name="Google Shape;9790;p6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791" name="Google Shape;9791;p6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792" name="Google Shape;9792;p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 submissions - highly active agency</a:t>
            </a:r>
            <a:endParaRPr/>
          </a:p>
        </p:txBody>
      </p:sp>
      <p:sp>
        <p:nvSpPr>
          <p:cNvPr id="9793" name="Google Shape;9793;p6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794" name="Google Shape;9794;p6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 quotes generated - active in pipeline</a:t>
            </a:r>
            <a:endParaRPr/>
          </a:p>
        </p:txBody>
      </p:sp>
      <p:sp>
        <p:nvSpPr>
          <p:cNvPr id="9795" name="Google Shape;9795;p6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6" name="Google Shape;9796;p6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797" name="Google Shape;9797;p6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798" name="Google Shape;9798;p6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($-680) - cancellations exceed production</a:t>
            </a:r>
            <a:endParaRPr/>
          </a:p>
        </p:txBody>
      </p:sp>
      <p:sp>
        <p:nvSpPr>
          <p:cNvPr id="9799" name="Google Shape;9799;p6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800" name="Google Shape;9800;p6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 submissions with zero binds - zero conversion</a:t>
            </a:r>
            <a:endParaRPr/>
          </a:p>
        </p:txBody>
      </p:sp>
      <p:sp>
        <p:nvSpPr>
          <p:cNvPr id="9801" name="Google Shape;9801;p6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2" name="Google Shape;9802;p6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803" name="Google Shape;9803;p6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804" name="Google Shape;9804;p6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9805" name="Google Shape;9805;p6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806" name="Google Shape;9806;p6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10" name="Shape 9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1" name="Google Shape;9811;p6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2" name="Google Shape;9812;p6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Insurance Connections</a:t>
            </a:r>
            <a:endParaRPr/>
          </a:p>
        </p:txBody>
      </p:sp>
      <p:sp>
        <p:nvSpPr>
          <p:cNvPr id="9813" name="Google Shape;9813;p6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Deptford</a:t>
            </a:r>
            <a:endParaRPr/>
          </a:p>
        </p:txBody>
      </p:sp>
      <p:sp>
        <p:nvSpPr>
          <p:cNvPr id="9814" name="Google Shape;9814;p6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815" name="Google Shape;9815;p6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16" name="Google Shape;9816;p6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17" name="Google Shape;9817;p6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18" name="Google Shape;9818;p6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19" name="Google Shape;9819;p6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820" name="Google Shape;9820;p6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$55,032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821" name="Google Shape;9821;p6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822" name="Google Shape;9822;p6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23" name="Google Shape;9823;p6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24" name="Google Shape;9824;p6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25" name="Google Shape;9825;p6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826" name="Google Shape;9826;p6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827" name="Google Shape;9827;p6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8" name="Google Shape;9828;p6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829" name="Google Shape;9829;p6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30" name="Google Shape;9830;p6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831" name="Google Shape;9831;p6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32" name="Google Shape;9832;p6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33" name="Google Shape;9833;p6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34" name="Google Shape;9834;p6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35" name="Google Shape;9835;p6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6" name="Google Shape;9836;p6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37" name="Google Shape;9837;p6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8" name="Google Shape;9838;p6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9" name="Google Shape;9839;p6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0" name="Google Shape;9840;p6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1" name="Google Shape;9841;p6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2" name="Google Shape;9842;p6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3" name="Google Shape;9843;p6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44" name="Google Shape;9844;p6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9845" name="Google Shape;9845;p6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6" name="Google Shape;9846;p6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7" name="Google Shape;9847;p6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9848" name="Google Shape;9848;p6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9" name="Google Shape;9849;p6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0" name="Google Shape;9850;p6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851" name="Google Shape;9851;p6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2" name="Google Shape;9852;p6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3" name="Google Shape;9853;p6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4" name="Google Shape;9854;p6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5" name="Google Shape;9855;p6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6" name="Google Shape;9856;p6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7" name="Google Shape;9857;p6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858" name="Google Shape;9858;p6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9" name="Google Shape;9859;p6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0" name="Google Shape;9860;p6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1" name="Google Shape;9861;p6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2" name="Google Shape;9862;p6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3" name="Google Shape;9863;p6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4" name="Google Shape;9864;p6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865" name="Google Shape;9865;p6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6" name="Google Shape;9866;p6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7" name="Google Shape;9867;p6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8" name="Google Shape;9868;p6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9" name="Google Shape;9869;p6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0" name="Google Shape;9870;p6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1" name="Google Shape;9871;p6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872" name="Google Shape;9872;p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9873" name="Google Shape;9873;p6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4" name="Google Shape;9874;p6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5" name="Google Shape;9875;p6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9876" name="Google Shape;9876;p6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7" name="Google Shape;9877;p6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8" name="Google Shape;9878;p6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879" name="Google Shape;9879;p6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80" name="Google Shape;9880;p6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881" name="Google Shape;9881;p6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882" name="Google Shape;9882;p6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883" name="Google Shape;9883;p6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84" name="Google Shape;9884;p6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85" name="Google Shape;9885;p6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6" name="Google Shape;9886;p6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87" name="Google Shape;9887;p6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88" name="Google Shape;9888;p6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89" name="Google Shape;9889;p6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90" name="Google Shape;9890;p6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91" name="Google Shape;9891;p6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92" name="Google Shape;9892;p6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3" name="Google Shape;9893;p6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94" name="Google Shape;9894;p6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895" name="Google Shape;9895;p6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96" name="Google Shape;9896;p6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97" name="Google Shape;9897;p6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98" name="Google Shape;9898;p6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899" name="Google Shape;9899;p6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0" name="Google Shape;9900;p6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01" name="Google Shape;9901;p6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02" name="Google Shape;9902;p6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03" name="Google Shape;9903;p6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04" name="Google Shape;9904;p6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05" name="Google Shape;9905;p6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06" name="Google Shape;9906;p6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7" name="Google Shape;9907;p6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08" name="Google Shape;9908;p6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09" name="Google Shape;9909;p6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0" name="Google Shape;9910;p6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11" name="Google Shape;9911;p6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2" name="Google Shape;9912;p6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13" name="Google Shape;9913;p6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4" name="Google Shape;9914;p6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15" name="Google Shape;9915;p6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16" name="Google Shape;9916;p6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7" name="Google Shape;9917;p6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18" name="Google Shape;9918;p6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9" name="Google Shape;9919;p6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20" name="Google Shape;9920;p6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1" name="Google Shape;9921;p6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22" name="Google Shape;9922;p6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923" name="Google Shape;9923;p6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24" name="Google Shape;9924;p6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925" name="Google Shape;9925;p6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26" name="Google Shape;9926;p6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9927" name="Google Shape;9927;p6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8" name="Google Shape;9928;p6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929" name="Google Shape;9929;p6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930" name="Google Shape;9930;p6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931" name="Google Shape;9931;p6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932" name="Google Shape;9932;p6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933" name="Google Shape;9933;p6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934" name="Google Shape;9934;p6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935" name="Google Shape;9935;p6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936" name="Google Shape;9936;p6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937" name="Google Shape;9937;p6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938" name="Google Shape;9938;p6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939" name="Google Shape;9939;p6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940" name="Google Shape;9940;p6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941" name="Google Shape;9941;p6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942" name="Google Shape;9942;p6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943" name="Google Shape;9943;p6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944" name="Google Shape;9944;p6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45" name="Google Shape;9945;p6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46" name="Google Shape;9946;p6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947" name="Google Shape;9947;p6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48" name="Google Shape;9948;p6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49" name="Google Shape;9949;p6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50" name="Google Shape;9950;p6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51" name="Google Shape;9951;p6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52" name="Google Shape;9952;p6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53" name="Google Shape;9953;p6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954" name="Google Shape;9954;p6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955" name="Google Shape;9955;p6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956" name="Google Shape;9956;p6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9957" name="Google Shape;9957;p6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58" name="Google Shape;9958;p6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9959" name="Google Shape;9959;p6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9960" name="Google Shape;9960;p6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61" name="Google Shape;9961;p6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62" name="Google Shape;9962;p6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63" name="Google Shape;9963;p6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64" name="Google Shape;9964;p6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$411</a:t>
            </a:r>
            <a:endParaRPr/>
          </a:p>
        </p:txBody>
      </p:sp>
      <p:sp>
        <p:nvSpPr>
          <p:cNvPr id="9965" name="Google Shape;9965;p6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66" name="Google Shape;9966;p6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9967" name="Google Shape;9967;p6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9968" name="Google Shape;9968;p6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9" name="Google Shape;9969;p6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970" name="Google Shape;9970;p6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71" name="Google Shape;9971;p6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 hit ratio - above average conversion</a:t>
            </a:r>
            <a:endParaRPr/>
          </a:p>
        </p:txBody>
      </p:sp>
      <p:sp>
        <p:nvSpPr>
          <p:cNvPr id="9972" name="Google Shape;9972;p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73" name="Google Shape;9973;p6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bind(s) - converting submissions to business</a:t>
            </a:r>
            <a:endParaRPr/>
          </a:p>
        </p:txBody>
      </p:sp>
      <p:sp>
        <p:nvSpPr>
          <p:cNvPr id="9974" name="Google Shape;9974;p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5" name="Google Shape;9975;p6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976" name="Google Shape;9976;p6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977" name="Google Shape;9977;p6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($-2,142) - cancellations exceed production</a:t>
            </a:r>
            <a:endParaRPr/>
          </a:p>
        </p:txBody>
      </p:sp>
      <p:sp>
        <p:nvSpPr>
          <p:cNvPr id="9978" name="Google Shape;9978;p6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9" name="Google Shape;9979;p6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980" name="Google Shape;9980;p6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981" name="Google Shape;9981;p6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982" name="Google Shape;9982;p6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983" name="Google Shape;9983;p6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