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07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8B5CF6"/>
                </a:solidFill>
                <a:latin typeface="Segoe UI"/>
              </a:defRPr>
            </a:pPr>
            <a:r>
              <a:t>COVER WHALE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Cameron Brader - Agency Portfolio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4B5FD"/>
                </a:solidFill>
                <a:latin typeface="Segoe UI"/>
              </a:defRPr>
            </a:pPr>
            <a:r>
              <a:t>Jan–May 2026  |  Generated May 25, 2026  |  50 Agencies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Cameron Brader - Portfolio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50 Total Agencies  |  49 Active  |  1 Inactive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Agencies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08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(YTD)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57016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$2,249,173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66944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$1,684,442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76872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$374,431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0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$190,301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396728" y="868680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DC2626"/>
                </a:solidFill>
                <a:latin typeface="Segoe UI"/>
              </a:defRPr>
            </a:pPr>
            <a:r>
              <a:t>$-439,990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Submissions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08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Binds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57016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66944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6872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Binds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0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2116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Subs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396728" y="1389888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Binds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716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$3,874,286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08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$4,153,174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557016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$4,649,143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Annual Goal (40%)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66944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59669"/>
                </a:solidFill>
                <a:latin typeface="Segoe UI"/>
              </a:defRPr>
            </a:pPr>
            <a:r>
              <a:t>48%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76872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$446,985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686800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$1,601,885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Non-Fleet Bound Prem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396728" y="1911095"/>
            <a:ext cx="1627632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46.0%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Retention Rate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TOP AGENCIES BY YTD GWP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 $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Renewals $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$453,747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$341,058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$112,504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$364,510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$340,817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$232,246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$140,223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526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$223,662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$41,738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$120,063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$121,009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$93,076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$93,076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Celiane Boston Financial &amp; Insuranc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$76,033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$62,337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$48,270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$39,085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$46,128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$45,035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20.9%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MONTHLY SUMMARY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HR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$888,857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$157,607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$652,422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$413,481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$596,746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$263,948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$841,797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$493,369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556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$540,785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$356,038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386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$2,249,173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$1,684,442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2348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8229600" y="4773168"/>
            <a:ext cx="3749039" cy="292608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8321040" y="479145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DC2626"/>
                </a:solidFill>
                <a:latin typeface="Segoe UI"/>
              </a:defRPr>
            </a:pPr>
            <a:r>
              <a:t>INACTIVE AGENCIES (1)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8321040" y="5120640"/>
            <a:ext cx="3474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Trinity Ins Services Llc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OKR Scoreboard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BDA OKRs  |  Q2 measure (paced where applicable)  |  Matches BD Rep Scoreboard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059669"/>
                </a:solidFill>
                <a:latin typeface="Segoe UI"/>
              </a:defRPr>
            </a:pPr>
            <a:r>
              <a:t>97.9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6B7280"/>
                </a:solidFill>
                <a:latin typeface="Segoe UI"/>
              </a:defRPr>
            </a:pPr>
            <a:r>
              <a:t>COMPOSITE SCORE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6B7280"/>
                </a:solidFill>
                <a:latin typeface="Segoe UI"/>
              </a:defRPr>
            </a:pPr>
            <a:r>
              <a:t>Green ≥ 70  |  Amber 45-69  |  Red &lt; 45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96012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96012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Subs YoY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≥+50%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+63%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65176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651760"/>
            <a:ext cx="91440" cy="16002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27432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99923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Activity Compliance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336499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Goal ≥ 100% (50/wk)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D97706"/>
                </a:solidFill>
                <a:latin typeface="Segoe UI"/>
              </a:defRPr>
            </a:pPr>
            <a:r>
              <a:t>94%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343400"/>
            <a:ext cx="8138160" cy="16002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5760" y="4343400"/>
            <a:ext cx="91440" cy="16002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434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B7280"/>
                </a:solidFill>
                <a:latin typeface="Segoe UI"/>
              </a:defRPr>
            </a:pPr>
            <a:r>
              <a:t>OKR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69087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11827"/>
                </a:solidFill>
                <a:latin typeface="Segoe UI"/>
              </a:defRPr>
            </a:pPr>
            <a:r>
              <a:t>Portfolio Active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0566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49 of 50 agencies  |  Goal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4526280"/>
            <a:ext cx="2103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800" b="1">
                <a:solidFill>
                  <a:srgbClr val="059669"/>
                </a:solidFill>
                <a:latin typeface="Segoe UI"/>
              </a:defRPr>
            </a:pPr>
            <a:r>
              <a:t>98%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OKR 1: Q2 paced subs YoY — current Q2-YTD subs ÷ days-elapsed × 91 vs prior full Q2 (Apr–Jun 2025)  |  OKR 2: Q2 avg weekly calls + meetings vs 50/wk goal (outbound calls + meetings only, matches scoreboard)  |  OKR 3: % of HubSpot book with ≥1 submission in 2026  |  BDAs not scored on OKR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BD Activity  — 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 |  Calls + Meetings  |  Weekly goal: 50 activities  |  Colored arrow = month-over-month trend vs prior complete month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878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Calls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31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Meetings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B7280"/>
                </a:solidFill>
                <a:latin typeface="Segoe UI"/>
              </a:defRPr>
            </a:pPr>
            <a:r>
              <a:t>909 →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45.5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/ Week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97706"/>
                </a:solidFill>
                <a:latin typeface="Segoe UI"/>
              </a:defRPr>
            </a:pPr>
            <a:r>
              <a:t>91%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 (50/wk)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1–11  (Jan–Mar)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1/5–1/11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1/12–1/18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1/19–1/25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1/26–2/1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2/2–2/8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134%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2/9–2/15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104%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2/16–2/22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2/23–3/1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3/2–3/8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108%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3/9–3/15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99" name="Rectangle 98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3/16–3/22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54%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WEEKS 12–21  (Mar–May)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Week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Calls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Meetings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% Goal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Status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3/23–3/29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36%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3/30–4/5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4/6–4/12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62%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4/13–4/19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116%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4/20–4/26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76%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4/27–5/3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56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114%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5/4–5/10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106%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✓ Met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5/11–5/17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96%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5/18–5/24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86%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97706"/>
                </a:solidFill>
                <a:latin typeface="Segoe UI"/>
              </a:defRPr>
            </a:pPr>
            <a:r>
              <a:t>~ Near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5/25–5/25*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✗ Miss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HubSpot CRM  |  Calls + meetings only (emails excluded)  |  * = current/partial week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Segoe UI"/>
              </a:defRPr>
            </a:pPr>
            <a:r>
              <a:t>Submission Growth  — 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Jan–May 2026 vs 2025  |  Green = growth  |  Red = decline  |  Hit ratio = binds / submissions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8252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Submissions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162 ▼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Binds</a:t>
            </a:r>
          </a:p>
        </p:txBody>
      </p:sp>
      <p:sp>
        <p:nvSpPr>
          <p:cNvPr id="7" name="Rectangle 6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2.0% ▲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8" name="Rectangle 7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059669"/>
                </a:solidFill>
                <a:latin typeface="Segoe UI"/>
              </a:defRPr>
            </a:pPr>
            <a:r>
              <a:t>+275.3%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Subs YOY vs 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DC2626"/>
                </a:solidFill>
                <a:latin typeface="Segoe UI"/>
              </a:defRPr>
            </a:pPr>
            <a:r>
              <a:t>-6.9%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 YOY vs 2025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MONTHLY BREAKDOWN  —  2026 vs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Subs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2026 Binds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2025 Subs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 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+470%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2,300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+654%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2,540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1.8%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533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+377%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536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6.3%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491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+9%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431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-13%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8,252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2,199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+275%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AGENCIES BY SUBMISSION VOLUME  —  YTD Ranked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YTD Subs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YOY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-342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+288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+116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+26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Celiane Boston Financial &amp; Insurance, 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+55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-59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+60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-8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+48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+21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+27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+39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11827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20.9%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+43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Monthly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50 Total Agencies  |  Jan–May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New Biz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Cancel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Quotes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$888,857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$157,607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$-63,069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484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351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$652,422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$413,481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$-183,739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462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306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$596,746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$263,948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$41,383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$-91,138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558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389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5.2%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$841,797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$493,369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$186,013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$-6,570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556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394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$540,785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$356,038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$130,428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DC2626"/>
                </a:solidFill>
                <a:latin typeface="Segoe UI"/>
              </a:defRPr>
            </a:pPr>
            <a:r>
              <a:t>$-95,474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386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278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1B1B"/>
                </a:solidFill>
                <a:latin typeface="Segoe UI"/>
              </a:defRPr>
            </a:pPr>
            <a:r>
              <a:t>4.9%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YTD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$3,520,607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$1,684,442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$374,431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$-439,990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2,446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1,718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146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6D28D9"/>
                </a:solidFill>
                <a:latin typeface="Segoe UI"/>
              </a:defRPr>
            </a:pPr>
            <a:r>
              <a:t>6.0%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Green = up vs prior month  |  Red = down vs prior month or negative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DSG In My Portfolio — Cameron Brader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Dirt, Sand &amp; Gravel program performance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DSG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BOUND ACCOUNTS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$58,633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GROSS WRITTEN PREM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DC2626"/>
                </a:solidFill>
                <a:latin typeface="Segoe UI"/>
              </a:defRPr>
            </a:pPr>
            <a:r>
              <a:t>1.5%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 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DSG ACTIVITY BY AGENCY (top 8 by submissions)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Declined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Pinnacle Insurance Solutions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Celiane Boston Financial &amp; Insurance,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Gantt Insurance Agency, Inc.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States with DSG bound business in this book: PA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Fleet In My Portfolio — Cameron Brader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Fleet business (4+ power units) across this bda's agencies  |  2026 YTD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261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SUBMISSIONS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$2,112,630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GWP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188720"/>
            <a:ext cx="260604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UNITS / SUB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BY AGENCY (top 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$228,422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9.7%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$247,954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$145,448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Pinnacle Insurance Solutions LLC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$63,149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FLEET SIZE MIX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4-5 units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144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(55%)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6-10 units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(33%)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11-25 units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(11%)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26-50 units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(1%)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51+ units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B7280"/>
                </a:solidFill>
                <a:latin typeface="Segoe UI"/>
              </a:defRPr>
            </a:pPr>
            <a:r>
              <a:t>(0%)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280"/>
                </a:solidFill>
                <a:latin typeface="Segoe UI"/>
              </a:defRPr>
            </a:pPr>
            <a:r>
              <a:t>Bind rate on fleet: 8.0%  ·  Declined: 83  ·  Source: cw_rep.transportation_submissions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Agency Producers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Individual agents ranked by YTD submissions  |  Agent = broker_contact on submission  |  Trend = MoM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2348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Subs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YTD Binds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56048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Portfolio Hit Ratio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42631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109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Active Agents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729215" y="841248"/>
            <a:ext cx="2249424" cy="566928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6D28D9"/>
                </a:solidFill>
                <a:latin typeface="Segoe UI"/>
              </a:defRPr>
            </a:pPr>
            <a:r>
              <a:t>43%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5 Agent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TOP AGENTS BY SUBMISSIONS  —  Ranked 1–18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James DeSantis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Transportation Risk Management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263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7.6%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Celiane Boston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Celiane Boston Financial &amp; Ins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Roman Ben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Holly Fawber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Northern Insurance Specialists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53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1.9%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Michael Zabala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Bolormaa C Ganbileg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Henry Cifuentes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Aaron Rickabaugh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Transportation Risk Management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Nikitas Kasiotis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ALAIN SOLANO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20.9%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William Dominguez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Lakeisha Mclawhorn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Rudy Suarez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7.5%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Donald N Mcculloh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CONTINUED  —  Ranked 19–36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Agent Name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Hit %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1">
                <a:solidFill>
                  <a:srgbClr val="6B7280"/>
                </a:solidFill>
                <a:latin typeface="Segoe UI"/>
              </a:defRPr>
            </a:pPr>
            <a:r>
              <a:t>MoM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Benjamin Brown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Brittany Smith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Timathee Asshur Ryazanov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Durham Insurance Group Inc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Gurbhinder Brar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Square Brokerage Inc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Deven Kumm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Gary McCarthy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3.4%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Laramie Smith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Fdi Management Group, Inc.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Cade Erwin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4.5%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197" name="Rectangle 196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TextBox 197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Randy Nestor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200" name="TextBox 19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Yervand Ter-Ghahramanyan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David Armenakian</a:t>
            </a:r>
          </a:p>
        </p:txBody>
      </p:sp>
      <p:sp>
        <p:nvSpPr>
          <p:cNvPr id="212" name="TextBox 211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Anyelo Gonzalez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1" name="TextBox 220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23" name="Rectangle 222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TextBox 223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Maria Del Carmen Rodrigu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The Forward Insurance Group Ll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Darrell Rawlinson</a:t>
            </a:r>
          </a:p>
        </p:txBody>
      </p:sp>
      <p:sp>
        <p:nvSpPr>
          <p:cNvPr id="231" name="TextBox 230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232" name="TextBox 231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34" name="TextBox 233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235" name="TextBox 234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Enver Berker Hazar</a:t>
            </a:r>
          </a:p>
        </p:txBody>
      </p:sp>
      <p:sp>
        <p:nvSpPr>
          <p:cNvPr id="238" name="TextBox 237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240" name="TextBox 23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41" name="TextBox 240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059669"/>
                </a:solidFill>
                <a:latin typeface="Segoe UI"/>
              </a:defRPr>
            </a:pPr>
            <a:r>
              <a:t>▲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Milena Belorusets</a:t>
            </a:r>
          </a:p>
        </p:txBody>
      </p:sp>
      <p:sp>
        <p:nvSpPr>
          <p:cNvPr id="244" name="TextBox 243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245" name="TextBox 244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46" name="TextBox 245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47" name="TextBox 246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DC2626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248" name="TextBox 247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49" name="Rectangle 248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TextBox 24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Stephen Mullary</a:t>
            </a:r>
          </a:p>
        </p:txBody>
      </p:sp>
      <p:sp>
        <p:nvSpPr>
          <p:cNvPr id="251" name="TextBox 250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Commercial Insurance Connectio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253" name="TextBox 252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54" name="TextBox 253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05966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255" name="TextBox 254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B7280"/>
                </a:solidFill>
                <a:latin typeface="Segoe UI"/>
              </a:defRPr>
            </a:pPr>
            <a:r>
              <a:t>→</a:t>
            </a:r>
          </a:p>
        </p:txBody>
      </p:sp>
      <p:sp>
        <p:nvSpPr>
          <p:cNvPr id="256" name="TextBox 255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111827"/>
                </a:solidFill>
                <a:latin typeface="Segoe UI"/>
              </a:defRPr>
            </a:pPr>
            <a:r>
              <a:t>Avra Aubin</a:t>
            </a:r>
          </a:p>
        </p:txBody>
      </p:sp>
      <p:sp>
        <p:nvSpPr>
          <p:cNvPr id="257" name="TextBox 256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6B7280"/>
                </a:solidFill>
                <a:latin typeface="Segoe UI"/>
              </a:defRPr>
            </a:pPr>
            <a:r>
              <a:t>Business Owners Liability Team</a:t>
            </a:r>
          </a:p>
        </p:txBody>
      </p:sp>
      <p:sp>
        <p:nvSpPr>
          <p:cNvPr id="258" name="TextBox 257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259" name="TextBox 258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260" name="TextBox 25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0">
                <a:solidFill>
                  <a:srgbClr val="6B7280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261" name="TextBox 260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50" b="1">
                <a:solidFill>
                  <a:srgbClr val="DC2626"/>
                </a:solidFill>
                <a:latin typeface="Segoe UI"/>
              </a:defRPr>
            </a:pPr>
            <a:r>
              <a:t>▼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6B7280"/>
                </a:solidFill>
                <a:latin typeface="Segoe UI"/>
              </a:defRPr>
            </a:pPr>
            <a:r>
              <a:t>Source: Metabase  |  Agent = broker_contact_user_id on submission record  |  Hit ratio = binds / subs  |  MoM = month-over-month  |  2 subs had no agent mapped (broker_contact_user_id not set)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Top Performers vs Underperformers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Jan–May 2026  |  Standouts and agencies needing attention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EXCEEDING — Top 5</a:t>
            </a:r>
          </a:p>
        </p:txBody>
      </p:sp>
      <p:sp>
        <p:nvSpPr>
          <p:cNvPr id="7" name="Rectangle 6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— Bottom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$364,510  |  Subs 311  |  Binds 20  |  HR 6.4%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6.4% (portfolio avg: 4.1%)  |  $364,510 YTD GWP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$453,747  |  Subs 208  |  Binds 8  |  HR 3.8%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$453,747 YTD GWP  |  8 binds in Q1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$232,246  |  Subs 526  |  Binds 7  |  HR 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$232,246 YTD GWP  |  7 binds in Q1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Gesla Insurance Agency Inc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12  |  Binds 0  |  HR 0.0%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Submission volume up 500% MoM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$46,128  |  Subs 43  |  Binds 9  |  HR 20.9%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065F46"/>
                </a:solidFill>
                <a:latin typeface="Segoe UI"/>
              </a:defRPr>
            </a:pPr>
            <a:r>
              <a:t>Hit ratio 20.9% (portfolio avg: 4.1%)  |  9 binds in Q1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88  |  Binds 0  |  HR 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88 submissions with 0 binds - zero conversion  |  58 quotes generated but 0 converted to binds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$23,279  |  Subs 43  |  Binds 2  |  HR 4.7%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Cancellations are 963% of new business ($26,230 vs $2,722)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$21,797  |  Subs 44  |  Binds 0  |  HR 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44 submissions with 0 binds - zero conversion  |  Submissions dropped 62% MoM (16 -&gt; 6)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39  |  Binds 0  |  HR 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39 submissions with 0 binds - zero conversion  |  Submissions dropped 62% MoM (8 -&gt; 3)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111827"/>
                </a:solidFill>
                <a:latin typeface="Segoe UI"/>
              </a:defRPr>
            </a:pPr>
            <a:r>
              <a:t>Square Brokerage Inc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D28D9"/>
                </a:solidFill>
                <a:latin typeface="Segoe UI"/>
              </a:defRPr>
            </a:pPr>
            <a:r>
              <a:t>GWP $0  |  Subs 31  |  Binds 0  |  HR 0.0%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91B1B"/>
                </a:solidFill>
                <a:latin typeface="Segoe UI"/>
              </a:defRPr>
            </a:pPr>
            <a:r>
              <a:t>31 submissions with 0 binds - zero conversion  |  Submissions dropped 82% MoM (17 -&gt; 3)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Newly Appointed in My Portfolio — Cameron Brader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Agencies assigned to this BDA for onboarding in 2026  |  Production metrics since assignment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YTD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APPOINTED Q2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15d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SUB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14d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AVG TIME TO 1ST BIND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000" b="1">
                <a:solidFill>
                  <a:srgbClr val="6D28D9"/>
                </a:solidFill>
                <a:latin typeface="Segoe UI"/>
              </a:defRPr>
            </a:pPr>
            <a:r>
              <a:t>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SUBS POST-APPT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111827"/>
                </a:solidFill>
                <a:latin typeface="Segoe UI"/>
              </a:defRPr>
            </a:pPr>
            <a:r>
              <a:t>Activation: 3/3 appointed agencies have submitted (100%)  •  1/3 have bound (33%)  •  Total bound: 9  •  Total GWP: $37,512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APPOINTED AGENCIES (newest first)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Appointed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Sub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 to 1st Bind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Crotty Insurance Agency, Inc.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2026-03-31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27d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2026-03-24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$37,512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The New Rochelle Agencies Corp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2026-03-11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Source: HubSpot company records where onboarding_success_agent = Cameron Brader and createdate is within 2026 (= newly assigned to this BDA for onboarding). Metrics are subs/binds/GWP on each agency since their assignment date. BDAs not scored on OKR 4 — informational only.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Strategic Assessment &amp; Priorities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Portfolio  |  Jan–May 2026  |  Strengths, gaps, and ranked action items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Top 3 (World Insurance Associate, Transportation Risk Manag, Bond Insurance Brokerage ) drive $1,050,503 (47%) of portfolio YTD GWP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Strong hit ratios: M G I Brokerage Inc (40.0%), Michael Pigott Agenc (33.3%), Jabbarco Insurance G (20.9%)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28 agencies converting submissions to bound business in Jan–May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2,348 total submissions across 49 active agencies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91B1B"/>
                </a:solidFill>
                <a:latin typeface="Segoe UI"/>
              </a:defRPr>
            </a:pPr>
            <a:r>
              <a:t>NEEDS ATTENTION - Areas for Improvement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 agencies with zero Jan–May 2026 activity: Trinity Ins Services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 agencies submitting but 0 binds (370 subs): Gia Group Llc (88), Argos Insurance Grou (44)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Low hit ratios need coaching: Bond Insurance Broke (1.3%), Z&amp;H Brokerage Inc (2.0%), My Va Insurance Llc (2.2%)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59" y="2304288"/>
            <a:ext cx="18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23042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Overall portfolio hit ratio 4.1% — below 5-8% target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TOP STRATEGIC PRIORITIES — Ranked by Estimated Impact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Close Quote-to-Bind Gap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17 agencies have 250 quotes but 0 binds: Gia Group Llc (58q), Argos Insurance Group, Ll (32q), Red Rose Insurance Llc (29q). Follow up on pricing, coverage, response time gaps.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Lift Portfolio Hit Ratio to 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Current: 4.1% (97 binds / 2,348 subs). Need 20 more binds. Focus on submission quality and appetite education.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Develop High-Volume Growth Candidates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7 agencies with 30+ subs and some binds but &lt;5% HR: Bond Insurance Broke (526s/7b), World Insurance Asso (208s/8b), Northern Insurance S (63s/2b). Small HR improvements on large volume = significant premium lift.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Improve Low Hit Ratio Agencies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3 agencies with 20+ subs but &lt;3% HR: Bond Insurance Broke (1.3%), Z&amp;H Brokerage Inc (2.0%), My Va Insurance Llc (2.2%). Conduct submission quality training to lift conversion 2-3 points.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11827"/>
                </a:solidFill>
                <a:latin typeface="Segoe UI"/>
              </a:defRPr>
            </a:pPr>
            <a:r>
              <a:t>Convert Zero-Bind Agencies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4B5563"/>
                </a:solidFill>
                <a:latin typeface="Segoe UI"/>
              </a:defRPr>
            </a:pPr>
            <a:r>
              <a:t>10 agencies with 329 submissions but 0 binds. Top: Gia Group Llc (88), Argos Insurance Group, Ll (44), Red Rose Insurance Llc (39). Even 5% conversion = ~$246,750 new premium.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Recently Bound Submissions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Last 25 Bound Submissions  |  97 Total Bound in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#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 (Account)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Premium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Bind Date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269820493233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OLIMJON NOMAZOV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$4,497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22,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258460674396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ASP TRANSPORT LLC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$23,550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263354668212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SURTEX LOGISTICS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$9,652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21,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265926486466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BUROQ LLC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$21,270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264570908915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SMART DELIVERY AND COURIER SERVI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Gene Shvedov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$23,344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19, 2026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253445080668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Y &amp; J EXPRESS LLC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Deven Kumm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$12,076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251723976240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5150 LOGISTICS LLC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Zachary Wagner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$19,239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264957027787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AF EXPRESS TRANSPORTATION INC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Angela Kauzlarich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$155,203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18, 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262924661783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3D TRIPLE D LOGISTICS LLC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$3,185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15, 2026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265900046429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RB TRUCKING AND LOGISTICS LLC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Randy Nestor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$45,528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260964878942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gyng logistics llc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Craig Erwin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$3,186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14, 2026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266802150889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BROSKEE TRANSPORT LLC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Edwin Ramos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266557195862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ASY TRUCKING LLC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Cade Erwin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$43,631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08, 2026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264497790274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WILD TURKEY TRUCKING LLC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Enver Berker Hazar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$17,124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07, 2026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263461522795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HALIM DESIGN LLC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$8,217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06, 2026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267195806734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MONDFRUIT GROUP CORP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Lakeisha Mclawhorn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$21,216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May 01, 2026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263337182051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Celiane Boston Financial &amp; Insuran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AUGUSTA TRANSPORT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Celiane Boston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30,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266027929393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HIGHLINE AUTO TRANSPORT LLC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Jeffery Scafuro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$40,831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265127943011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SOA MOTIONS LLC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John Milelli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$24,695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261153401288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AGRON TRANSPORT LLC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Holly Bedisky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29, 2026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266532830088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KENAMS LLC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William Dominguez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$36,979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251752181717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EXPRESS CARRIER CORP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Frank Ribeiro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$28,434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28, 2026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263399061819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TOLIBJON KLICHEV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$3,058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25, 2026</a:t>
            </a:r>
          </a:p>
        </p:txBody>
      </p:sp>
      <p:sp>
        <p:nvSpPr>
          <p:cNvPr id="185" name="Rectangle 184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TextBox 185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269899045609</a:t>
            </a:r>
          </a:p>
        </p:txBody>
      </p:sp>
      <p:sp>
        <p:nvSpPr>
          <p:cNvPr id="188" name="TextBox 187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PARVIZ TOSHEV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$2,944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24, 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6B7280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263609980665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FAKHRI TOKHIROV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Akbarjon Djabbarov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$3,093</a:t>
            </a:r>
          </a:p>
        </p:txBody>
      </p:sp>
      <p:sp>
        <p:nvSpPr>
          <p:cNvPr id="199" name="TextBox 198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Apr 23, 2026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Total (Last 25 Submissions)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$603,272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Renewal Watch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Active in-force policies expiring through Aug 23,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$282,089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TOTAL 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59E0B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EXPIRE ≤30 DAYS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31-60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61-90 DAYS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POLICIES EXPIRING (sorted by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Exp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Coverage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251697655578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RN TRANSPORT SERVICE INC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10d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$13,052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250942353301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LJP BOX TRUCK LLC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18d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$23,912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255235012023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CROSSWAY GROUP LLC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23d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The Forward Insurance Group Ll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259847234487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 &amp; VENTURA TRUCKING LLC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26d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$48,926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253494692346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SB TRANSPORTATION INC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2026-06-24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30d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$1,980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VA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254008084121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EAST DA WEST LLC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36d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255036814038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DIXON SOLUTIONS LLC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2026-06-30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36d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$24,271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256291836103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393 ROADWAYS LLC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46d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$45,393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255142717595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CYNTHIA VILLANUEVA ROSALES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2026-07-20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59E0B"/>
                </a:solidFill>
                <a:latin typeface="Segoe UI"/>
              </a:defRPr>
            </a:pPr>
            <a:r>
              <a:t>56d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$8,184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TX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254237412721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SILVER LINING TRANSPORTATION INC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66d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FL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257995886345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WOODIES INTERNATIONAL LLC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67d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AL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$23,364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GA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258788926265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ONE TOP NOTCH INC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67d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MTC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$1,012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253434829309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11827"/>
                </a:solidFill>
                <a:latin typeface="Segoe UI"/>
              </a:defRPr>
            </a:pPr>
            <a:r>
              <a:t>INTERPORT GLOBAL LOGISTICS USA INC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2026-07-31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111827"/>
                </a:solidFill>
                <a:latin typeface="Segoe UI"/>
              </a:defRPr>
            </a:pPr>
            <a:r>
              <a:t>67d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TGL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NJ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13 of 20 upcoming renewals  |  Source: dw_reader.policy_premium  |  Active in-force only  |  Sorted by expiration date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FFFF"/>
                </a:solidFill>
                <a:latin typeface="Segoe UI"/>
              </a:defRPr>
            </a:pPr>
            <a:r>
              <a:t>Pending Cancellations — Save List — Next 90 Days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C4B5FD"/>
                </a:solidFill>
                <a:latin typeface="Segoe UI"/>
              </a:defRPr>
            </a:pPr>
            <a:r>
              <a:t>Cameron Brader  |  Policies with cancellation_date on or before Aug 23, 2026  |  Sorted by urgency — call these agencies first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POLICIES PENDING CANCEL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PREMIUM AT RISK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2064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5966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DAYS (URGENT)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79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≤30 DAY PREMIUM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75520" y="960120"/>
            <a:ext cx="2286000" cy="86868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6D28D9"/>
                </a:solidFill>
                <a:latin typeface="Segoe UI"/>
              </a:defRPr>
            </a:pPr>
            <a:r>
              <a:t>—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TOP REASON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FFFFFF"/>
                </a:solidFill>
                <a:latin typeface="Segoe UI"/>
              </a:defRPr>
            </a:pPr>
            <a:r>
              <a:t>PENDING CANCELS (sorted by cancel date — earliest first)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Days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Cancel 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Sub #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Insured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Agency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LOB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6B7280"/>
                </a:solidFill>
                <a:latin typeface="Segoe UI"/>
              </a:defRPr>
            </a:pPr>
            <a:r>
              <a:t>GWP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B7280"/>
                </a:solidFill>
                <a:latin typeface="Segoe UI"/>
              </a:defRPr>
            </a:pPr>
            <a:r>
              <a:t>Reason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6576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059669"/>
                </a:solidFill>
                <a:latin typeface="Segoe UI"/>
              </a:defRPr>
            </a:pPr>
            <a:r>
              <a:t>No pending cancellations in the next 90 days for this book. 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6B7280"/>
                </a:solidFill>
                <a:latin typeface="Segoe UI"/>
              </a:defRPr>
            </a:pPr>
            <a:r>
              <a:t>Showing 0 of 0 pending cancels  |  Source: dw_reader.policy_premium  |  Non-payment = green (most savable), Insured-requested = red, Days ≤14 = red  |  Action: contact agency, confirm reinstatement plan, escalate non-payment cases for billing fix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World Insurance Associates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Blackwood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$453,747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$341,058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$112,504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$-206,433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$347,667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$543,375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$97,982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$145,983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$29,618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$159,295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$159,295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$-159,111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$33,592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$35,011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$-1,419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$-13,395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$68,459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$54,413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$13,172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$874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$162,783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$62,722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$99,332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$729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$-33,927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$453,747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$341,058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$112,504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$184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$-206,433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$159K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$68K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$163K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$454K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$453,747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$341,058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61% of new business ($206,433)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$341,058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$206,433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Risk Management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Kearny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$364,510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$340,817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$23,692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$232,093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$581,020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131%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$439,905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$4,218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$121,720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$119,353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$69,884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$48,457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$21,427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$104,790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$104,892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$63,897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$63,897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$364,510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$340,817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$23,692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$-47,167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8.2%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2.9%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292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$122K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$365K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$364,510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$340,817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$340,817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Bond Insurance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NY  |  City: New York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$232,246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$140,223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$21,269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$70,754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$-68,684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$1,015,457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$685,009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$189,935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$103,317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$82,529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$20,788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$-36,989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$-6,764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$36,655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$15,386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$-14,145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$74,756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$57,145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$17,612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$-2,111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$17,055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$17,055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$-8,675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$232,246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$140,223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$21,269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$70,754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$-68,684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6.4%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96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868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$463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$91K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$258K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$75K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$563K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$232,246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$140,223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1.3% hit ratio on 526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49% of new business ($68,684)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(526 subs, only 7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$140,223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Brown's Ins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MANASSAS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$41,738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$164,909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$17,016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$155,203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$39,913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$212,460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$21,252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$26,300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$-8,335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$-9,284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$223,662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$41,738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$164,909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$17,016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10.5%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15.4%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$-8,335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$223,662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$41,738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104%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19 to 3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$41,738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Strong $164,909 renewal book. Use this as proof of value: "Your retention shows we're delivering - let's find more accounts like these in your pipeline."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AGS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Sayreville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$120,063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$121,009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$5,871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$-6,818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$9,675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$122,848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1034%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$72,724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$54,717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$72,724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$72,724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$8,457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$21,722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$-13,265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$3,220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$28,738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$23,344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$5,394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$120,063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$121,009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$5,871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$-6,818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$73K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$120K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$120,063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$121,009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$121,009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Erwin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Hershey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$46,817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$58,633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$58,633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$46,817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$46,817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$105,450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$105K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$105,450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$105,450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Pinnacle Insurance Solutions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Roseland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$44,014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$47,562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$44,014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$49,062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$49,062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$93,076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$-26,118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$93,076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$93,076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$93,076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Celiane Boston Financial &amp;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MD  |  City: Owings Mills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$-30,794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$53,530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$97,512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120%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$73,428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$3,951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$46,674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$-3,388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$-653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$26,754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$-26,754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$77,378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$-30,794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$47K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$77,378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$77,378 in new business. Ask: "What types of accounts are you seeing the most success with?" Use this to identify more of their book that fits our appetite.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$30,794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Usa Insurance Brokers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Illinois  |  City: Springfield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$76,033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$60,689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$15,345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$125,422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$89,176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$78,426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$60,139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$-3,741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$-4,291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$19,636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$19,636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$76,033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$60,689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$15,345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$106K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$-3,741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$112K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$76,033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$60,689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Acknowledge their $60,689 in new business. Ask: "What types of accounts are you seeing the most success with?" Use this to identify more of their book that fits our appetite.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Grbm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NY  |  City: Brewster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$62,337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$23,933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$21,509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$16,895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$-17,975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$147,805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$158,225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$45,117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$-16,895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$-1,080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$62,337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$23,933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$21,509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$16,895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$-17,975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12.5%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5.8%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$52K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$62,337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$23,933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75% of new business ($17,975)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23 to 9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$23,933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$17,975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Mcculloh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MD  |  City: Bethesda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$48,270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$39,085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$231,042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$110,656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$52,232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$13,125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$25,960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$25,960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$48,270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$39,085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$9,185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$-9,185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16.7%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$169K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$48,270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$39,085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$39,085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Jabbarco Insurance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Fesasterville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$46,128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$45,035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$1,093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$46,128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20.9%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$8,217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$29,295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$30,871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$30,871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$15,257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$14,164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$1,093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$46,128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$45,035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$1,093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22.2%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20.9%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$46,128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$45,035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51%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36 to 8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$45,035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Northern Insurance Specialists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Lititz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$43,959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$14,242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$19,564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$10,153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$258,552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$122,124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$33,256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$43,959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$14,242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$19,564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$10,153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$76K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$399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$10K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$43,959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$14,242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$14,242 in new business. Ask what made those deals work and how you can help replicate that success with similar accounts in their pipeline.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Oakwood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3  |  Region: Northeast  |  State: NJ  |  City: Califon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$43,548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$44,479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$88,683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$128,537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$67,579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$19,559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$19,559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$24,920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$24,920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$43,548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$44,479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11.8%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7.7%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$-931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$43,548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$44,479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$44,479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Lux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MA  |  City: East Longmeadow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$42,551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$37,729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$4,822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$20,966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$63,517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169%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$68,799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$42,551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$37,729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$4,822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$42,551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$37,729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$37,729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My Va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Sterling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$78,793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$110,296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$31,503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2.2%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$31,503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$31,503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2.2% hit ratio on 46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9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(46 subs, only 1 binds). Ask: "What are the top 2 reasons your clients go elsewhere?" Use answers to tailor appetite and pricing discussions.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$31,503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Rein Connected Insurance Agency,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MA  |  City: Boston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$27,572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$24,037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$3,535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$44,700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$31,806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51%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$27,572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$24,037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$3,535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$27,572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$24,037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85%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$24,037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Business Owners Liability Team, LLC dba Bolt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Austin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$44,831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$62,554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49%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$25,888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$26,113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$26,113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$26,113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$26,113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SOLANO CONSULTANTS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Allentown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$2,722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$20,557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$-26,230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$114,719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$100,291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$23,814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$18,237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$18,237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$-17,865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$2,320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$-8,365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$23,279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$2,722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$20,557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$-26,230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$15K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$23,279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$2,722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Cancellations at 963% of new business ($26,230)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87%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$2,722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$26,230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Hazar Financial Services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MD  |  City: Kensington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$23,105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$-3,974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$79,240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$72,279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$17,124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$-1,248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$5,656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$-2,726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$17,449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$23,179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$23,105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$-3,974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$-6,523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$74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$37K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$23,179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$23,105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$23,105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Argos Insurance Group,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Middlesex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$22,329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$-532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$21,605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$22,329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$-724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$21,797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$22,329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$-532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$192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$21,797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$22,329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44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99% month-over-month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44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$22,329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Statechoice Insurance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CT  |  City: West Hartford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$106,401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$36,669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$16,607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$69K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$16,607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$16,607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submissions with zero binds - zero conversion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Michael Pigott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Bensalem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$16,492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$16,492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$16,492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$16,492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Z&amp;H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Oakland Gardens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$8,221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$9,037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$-816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$36,735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$36,766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19%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$8,562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$9,130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$9,037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$93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$8,221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$9,037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$-816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4.8%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5.3%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$-909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$-35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$9K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$8,221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$9,037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Low 2.0% hit ratio on 49 subs - needs coaching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Walk through recent lost quotes (49 subs, only 1 binds). Ask: "What are the top 2 reasons your clients go elsewhere?" Use answers to tailor appetite and pricing discussions.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Forward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New Alexandria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$102,489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$88,648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$68,845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$3,916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$3,916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$2,643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$2,643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$6,559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$-1,094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5.6%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$6,559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5.6% hit ratio - above average conversion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Integrated Insurance Solutions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Ashburn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$6,162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$6,166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$132,485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$68,256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$5,941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$6,166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$6,162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$6,166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66.7%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$602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$-3,408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$12K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$70K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$6,162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$6,166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significant concerns identified this quarter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Continue monitoring performance metrics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$6,166 in new business. Ask what made those deals work and how you can help replicate that success with similar accounts in their pipeline.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Mogul Insurance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VA  |  City: Manassas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$7,889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$13,920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059669"/>
                </a:solidFill>
                <a:latin typeface="Segoe UI"/>
              </a:defRPr>
            </a:pPr>
            <a:r>
              <a:t>64%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$7,565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$2,289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$3,742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$3,742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$6,032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$-2,335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23.1%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6.5%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$6,032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$6,032 in new business production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8 to 1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Celebrate the $6,032 in new business. Ask what made those deals work and how you can help replicate that success with similar accounts in their pipeline.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Address the $2,335 in cancellations. Ask: "Are we losing these to price, service, or coverage?" Proactive retention discussions can protect the book and strengthen the relationship.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Ccs Insurance,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CT  |  City: Hebron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$3,947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$2,611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$1,336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$32,382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$18,338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10%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$14,137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$2,882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$2,332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$2,061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$3,947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$2,611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$1,336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33.3%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11.1%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25.0%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6.7%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$-996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$227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$650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05966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$3,947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$2,611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Written premium dropped 100% month-over-month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10 to 4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Volume dropped significantly last month. Lead with curiosity, not concern: "I noticed things slowed down - anything going on I can help with?" Identify if it's seasonal, competitive, or operational.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 G I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Brooklyn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$352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$39,829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$40,730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2%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$27,802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$352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$902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$902 YTD gross written premium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$550 in renewals - strong retention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new business - all premium from renewals/endorsements only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Momentum is building - premium grew MoM. Keep the energy going: "Things are moving in the right direction. What do you need from me to keep this pace up?"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Crotty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N/A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Durham Insurance Group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Bristol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$4,240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31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Em Miranda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New Rochelle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$15,498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6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Fdi Management Group,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Mechanicsburg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$111,729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$48,146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28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$27K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$23K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$64K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37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37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37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Gantt Insurance Agency,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East  |  State: VA  |  City: Farmville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23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23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23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23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10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Gesla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Farmingville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$32,123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$19,337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12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12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Gia Group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Feasterville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$22,432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72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88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$22K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58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88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88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88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58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 S Braddock Agency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Medford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$37,782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$19K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$38K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Maximus Insurance Agency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NY  |  City: Massapequa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$35,510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$10,937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Onyx Insurance Solutions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North Bergen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$1,699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$949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2 submissions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Penn Summit Insurance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Chalk Hill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$26,155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$-458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$26K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3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Red Rose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Lancaster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$32,003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$31,121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$882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$882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29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39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39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39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29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Redden-wood &amp; Associates, Inc.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WV  |  City: Mount Hope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$43,004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48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51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5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Seubert &amp; Associates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Pittsburgh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8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14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14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Square Brokerage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N/A  |  Region: Northeast  |  State: N/A  |  City: Hicksville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27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17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31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submissions - highly active agency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27 quotes generated - active in pipeline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31 submissions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31 submissions with zero binds - zero conversion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31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27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The New Rochelle Agencies Corp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East  |  State: New York  |  City: Larchmont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4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 quotes but 0 binds - follow up on pricing/coverage gaps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4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Transportation Insurance Placement Services Inc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$16,578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18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$17K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10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10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Review their 10 quoted-not-bound submissions together. Ask which quotes were close and what competitors offered - identifies specific pricing or appetite gaps to escalate internally.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6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True Insurance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PA  |  City: Allentown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$59,125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$35,216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9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$24K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 quotes generated - active in pipeline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No written premium despite 9 submissions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 submissions with zero binds - zero conversion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Pull up their 7 recent quotes and review together. Ask: "Which of these were closest to binding?" Offer to re-quote or adjust terms on the most promising ones.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Jyp Ins Agency LLC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N/A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$24,653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$-15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-0%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$3,972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14.3%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9.1%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6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11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$20K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$4K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$25K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$-9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9.1%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($-9) - cancellations exceed production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Submission volume dropped from 7 to 2 MoM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Segoe UI"/>
              </a:defRPr>
            </a:pPr>
            <a:r>
              <a:t>Commercial Insurance Connections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4B5FD"/>
                </a:solidFill>
                <a:latin typeface="Segoe UI"/>
              </a:defRPr>
            </a:pPr>
            <a:r>
              <a:t>Tier: Tier 4  |  Region: Northeast  |  State: NJ  |  City: Deptford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YTD GWP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59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55480" y="914400"/>
            <a:ext cx="2212848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$60,371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2025 Full Year GWP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27631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$55,032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Rolling 12M GWP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118103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DC2626"/>
                </a:solidFill>
                <a:latin typeface="Segoe UI"/>
              </a:defRPr>
            </a:pPr>
            <a:r>
              <a:t>-3%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% to Goal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08576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99048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19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9992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Fleet Bound Prem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570464" y="1463040"/>
            <a:ext cx="1417320" cy="502920"/>
          </a:xfrm>
          <a:prstGeom prst="round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6D28D9"/>
                </a:solidFill>
                <a:latin typeface="Segoe UI"/>
              </a:defRPr>
            </a:pPr>
            <a:r>
              <a:t>$6,121</a:t>
            </a:r>
          </a:p>
          <a:p>
            <a:pPr algn="ctr">
              <a:defRPr sz="800">
                <a:solidFill>
                  <a:srgbClr val="6B7280"/>
                </a:solidFill>
                <a:latin typeface="Segoe UI"/>
              </a:defRPr>
            </a:pPr>
            <a:r>
              <a:t>NF Bound Prem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PRODUCTION BY MONTH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Written Premium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New Business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Renewals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Endorsements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Cancellations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6D28D9"/>
                </a:solidFill>
                <a:latin typeface="Segoe UI"/>
              </a:defRPr>
            </a:pPr>
            <a:r>
              <a:t>SUBMISSIONS &amp; PIPELINE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6B7280"/>
                </a:solidFill>
                <a:latin typeface="Segoe UI"/>
              </a:defRPr>
            </a:pPr>
            <a:r>
              <a:t>Month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Subs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Fleet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Non-Fleet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Binds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800" b="1">
                <a:solidFill>
                  <a:srgbClr val="6B7280"/>
                </a:solidFill>
                <a:latin typeface="Segoe UI"/>
              </a:defRPr>
            </a:pPr>
            <a:r>
              <a:t>Hit Ratio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January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February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059669"/>
                </a:solidFill>
                <a:latin typeface="Segoe UI"/>
              </a:defRPr>
            </a:pPr>
            <a:r>
              <a:t>50.0%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March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April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111827"/>
                </a:solidFill>
                <a:latin typeface="Segoe UI"/>
              </a:defRPr>
            </a:pPr>
            <a:r>
              <a:t>May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111827"/>
                </a:solidFill>
                <a:latin typeface="Segoe UI"/>
              </a:defRPr>
            </a:pPr>
            <a:r>
              <a:t>0.0%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Q1 TOTAL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15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1">
                <a:solidFill>
                  <a:srgbClr val="6D28D9"/>
                </a:solidFill>
                <a:latin typeface="Segoe UI"/>
              </a:defRPr>
            </a:pPr>
            <a:r>
              <a:t>13.3%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6D28D9"/>
                </a:solidFill>
                <a:latin typeface="Segoe UI"/>
              </a:defRPr>
            </a:pPr>
            <a:r>
              <a:t>YOY COMPARISON — Jan–May 2025 vs Jan–May 2026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1">
                <a:solidFill>
                  <a:srgbClr val="6B7280"/>
                </a:solidFill>
                <a:latin typeface="Segoe UI"/>
              </a:defRPr>
            </a:pPr>
          </a:p>
        </p:txBody>
      </p:sp>
      <p:sp>
        <p:nvSpPr>
          <p:cNvPr id="121" name="TextBox 1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 '26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'25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Feb '26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Mar '26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'25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Apr '26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'25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May '26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'25 Tot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1">
                <a:solidFill>
                  <a:srgbClr val="6B7280"/>
                </a:solidFill>
                <a:latin typeface="Segoe UI"/>
              </a:defRPr>
            </a:pPr>
            <a:r>
              <a:t>Jan–Ma '26 Tot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Submissions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7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20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16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11827"/>
                </a:solidFill>
                <a:latin typeface="Segoe UI"/>
              </a:defRPr>
            </a:pPr>
            <a:r>
              <a:t>Bound Premium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$750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$2K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111827"/>
                </a:solidFill>
                <a:latin typeface="Segoe UI"/>
              </a:defRPr>
            </a:pPr>
            <a:r>
              <a:t>$411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DC2626"/>
                </a:solidFill>
                <a:latin typeface="Segoe UI"/>
              </a:defRPr>
            </a:pPr>
            <a:r>
              <a:t>$0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$3K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6D28D9"/>
                </a:solidFill>
                <a:latin typeface="Segoe UI"/>
              </a:defRPr>
            </a:pPr>
            <a:r>
              <a:t>$-2,142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65F46"/>
                </a:solidFill>
                <a:latin typeface="Segoe UI"/>
              </a:defRPr>
            </a:pPr>
            <a:r>
              <a:t>STRENGTHS - What's Working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13.3% hit ratio - above average conversion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59669"/>
                </a:solidFill>
                <a:latin typeface="Segoe UI"/>
              </a:defRPr>
            </a:pPr>
            <a:r>
              <a:t>+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2 bind(s) - converting submissions to business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91B1B"/>
                </a:solidFill>
                <a:latin typeface="Segoe UI"/>
              </a:defRPr>
            </a:pPr>
            <a:r>
              <a:t>NEEDS ATTENTION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F4444"/>
                </a:solidFill>
                <a:latin typeface="Segoe UI"/>
              </a:defRPr>
            </a:pPr>
            <a:r>
              <a:t>!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Negative written premium ($-2,142) - cancellations exceed production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STRATEGIC SALES TIPS - Conversation Starters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1.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Open with a value-add: share a recent market update or new appetite expansion relevant to their book. Position yourself as a resource, not just a follow-up call.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92400E"/>
                </a:solidFill>
                <a:latin typeface="Segoe UI"/>
              </a:defRPr>
            </a:pPr>
            <a:r>
              <a:t>2.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111827"/>
                </a:solidFill>
                <a:latin typeface="Segoe UI"/>
              </a:defRPr>
            </a:pPr>
            <a:r>
              <a:t>Ask: "What's the biggest challenge in your trucking book right now?" Use their answer to tailor your next outreach with specific solutions.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