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5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56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61.xml"/>
  <Override ContentType="application/vnd.openxmlformats-officedocument.presentationml.notesSlide+xml" PartName="/ppt/notesSlides/notesSlide57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58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62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63.xml"/>
  <Override ContentType="application/vnd.openxmlformats-officedocument.presentationml.notesSlide+xml" PartName="/ppt/notesSlides/notesSlide5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60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64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60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6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64.xml"/>
  <Override ContentType="application/vnd.openxmlformats-officedocument.presentationml.slide+xml" PartName="/ppt/slides/slide8.xml"/>
  <Override ContentType="application/vnd.openxmlformats-officedocument.presentationml.slide+xml" PartName="/ppt/slides/slide55.xml"/>
  <Override ContentType="application/vnd.openxmlformats-officedocument.presentationml.slide+xml" PartName="/ppt/slides/slide29.xml"/>
  <Override ContentType="application/vnd.openxmlformats-officedocument.presentationml.slide+xml" PartName="/ppt/slides/slide59.xml"/>
  <Override ContentType="application/vnd.openxmlformats-officedocument.presentationml.slide+xml" PartName="/ppt/slides/slide32.xml"/>
  <Override ContentType="application/vnd.openxmlformats-officedocument.presentationml.slide+xml" PartName="/ppt/slides/slide62.xml"/>
  <Override ContentType="application/vnd.openxmlformats-officedocument.presentationml.slide+xml" PartName="/ppt/slides/slide1.xml"/>
  <Override ContentType="application/vnd.openxmlformats-officedocument.presentationml.slide+xml" PartName="/ppt/slides/slide58.xml"/>
  <Override ContentType="application/vnd.openxmlformats-officedocument.presentationml.slide+xml" PartName="/ppt/slides/slide63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61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5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</p:sldIdLst>
  <p:sldSz cy="6858000" cx="12191675"/>
  <p:notesSz cx="6858000" cy="9144000"/>
  <p:embeddedFontLst>
    <p:embeddedFont>
      <p:font typeface="Quattrocento Sans"/>
      <p:regular r:id="rId70"/>
      <p:bold r:id="rId71"/>
      <p:italic r:id="rId72"/>
      <p:boldItalic r:id="rId7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74" roundtripDataSignature="AMtx7mi0TOFuTSAqm8ndV7bQ8yoELs4x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73" Type="http://schemas.openxmlformats.org/officeDocument/2006/relationships/font" Target="fonts/QuattrocentoSans-boldItalic.fntdata"/><Relationship Id="rId72" Type="http://schemas.openxmlformats.org/officeDocument/2006/relationships/font" Target="fonts/QuattrocentoSans-italic.fntdata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74" Type="http://customschemas.google.com/relationships/presentationmetadata" Target="metadata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71" Type="http://schemas.openxmlformats.org/officeDocument/2006/relationships/font" Target="fonts/QuattrocentoSans-bold.fntdata"/><Relationship Id="rId70" Type="http://schemas.openxmlformats.org/officeDocument/2006/relationships/font" Target="fonts/QuattrocentoSans-regular.fntdata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62" Type="http://schemas.openxmlformats.org/officeDocument/2006/relationships/slide" Target="slides/slide57.xml"/><Relationship Id="rId61" Type="http://schemas.openxmlformats.org/officeDocument/2006/relationships/slide" Target="slides/slide56.xml"/><Relationship Id="rId20" Type="http://schemas.openxmlformats.org/officeDocument/2006/relationships/slide" Target="slides/slide15.xml"/><Relationship Id="rId64" Type="http://schemas.openxmlformats.org/officeDocument/2006/relationships/slide" Target="slides/slide59.xml"/><Relationship Id="rId63" Type="http://schemas.openxmlformats.org/officeDocument/2006/relationships/slide" Target="slides/slide58.xml"/><Relationship Id="rId22" Type="http://schemas.openxmlformats.org/officeDocument/2006/relationships/slide" Target="slides/slide17.xml"/><Relationship Id="rId66" Type="http://schemas.openxmlformats.org/officeDocument/2006/relationships/slide" Target="slides/slide61.xml"/><Relationship Id="rId21" Type="http://schemas.openxmlformats.org/officeDocument/2006/relationships/slide" Target="slides/slide16.xml"/><Relationship Id="rId65" Type="http://schemas.openxmlformats.org/officeDocument/2006/relationships/slide" Target="slides/slide60.xml"/><Relationship Id="rId24" Type="http://schemas.openxmlformats.org/officeDocument/2006/relationships/slide" Target="slides/slide19.xml"/><Relationship Id="rId68" Type="http://schemas.openxmlformats.org/officeDocument/2006/relationships/slide" Target="slides/slide63.xml"/><Relationship Id="rId23" Type="http://schemas.openxmlformats.org/officeDocument/2006/relationships/slide" Target="slides/slide18.xml"/><Relationship Id="rId67" Type="http://schemas.openxmlformats.org/officeDocument/2006/relationships/slide" Target="slides/slide62.xml"/><Relationship Id="rId60" Type="http://schemas.openxmlformats.org/officeDocument/2006/relationships/slide" Target="slides/slide55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69" Type="http://schemas.openxmlformats.org/officeDocument/2006/relationships/slide" Target="slides/slide64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4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Google Shape;68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6" name="Google Shape;686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9" name="Shape 7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0" name="Google Shape;770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1" name="Google Shape;771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0" name="Shape 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Google Shape;841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2" name="Google Shape;842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9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1" name="Google Shape;921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4" name="Shape 1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Google Shape;1185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6" name="Google Shape;1186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35" name="Shape 1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6" name="Google Shape;123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7" name="Google Shape;123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3" name="Google Shape;1283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5" name="Shape 1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6" name="Google Shape;1326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7" name="Google Shape;1327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Google Shape;1531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2" name="Google Shape;1532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4" name="Shape 1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5" name="Google Shape;1665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6" name="Google Shape;1666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7" name="Shape 1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8" name="Google Shape;1708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9" name="Google Shape;1709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6" name="Shape 1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7" name="Google Shape;1907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8" name="Google Shape;1908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3" name="Shape 2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4" name="Google Shape;2104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5" name="Google Shape;2105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2" name="Shape 2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3" name="Google Shape;2303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4" name="Google Shape;2304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9" name="Shape 2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0" name="Google Shape;2500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1" name="Google Shape;2501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8" name="Shape 2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9" name="Google Shape;2699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0" name="Google Shape;2700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5" name="Shape 2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6" name="Google Shape;2896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7" name="Google Shape;2897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94" name="Shape 30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5" name="Google Shape;3095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6" name="Google Shape;3096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93" name="Shape 3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4" name="Google Shape;3294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5" name="Google Shape;3295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0" name="Shape 3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1" name="Google Shape;3491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2" name="Google Shape;3492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9" name="Shape 3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0" name="Google Shape;3690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1" name="Google Shape;3691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8" name="Shape 3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9" name="Google Shape;3889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0" name="Google Shape;3890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7" name="Shape 4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8" name="Google Shape;4088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9" name="Google Shape;4089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6" name="Shape 4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7" name="Google Shape;4287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8" name="Google Shape;4288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3" name="Shape 44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4" name="Google Shape;4484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85" name="Google Shape;4485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80" name="Shape 46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1" name="Google Shape;4681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2" name="Google Shape;4682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79" name="Shape 4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0" name="Google Shape;4880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1" name="Google Shape;4881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78" name="Shape 50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9" name="Google Shape;5079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0" name="Google Shape;5080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75" name="Shape 5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6" name="Google Shape;5276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7" name="Google Shape;5277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74" name="Shape 5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5" name="Google Shape;5475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6" name="Google Shape;5476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3" name="Shape 5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4" name="Google Shape;5674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5" name="Google Shape;5675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2" name="Shape 5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3" name="Google Shape;5873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4" name="Google Shape;5874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1" name="Shape 6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2" name="Google Shape;6072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73" name="Google Shape;6073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8" name="Shape 6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9" name="Google Shape;6269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0" name="Google Shape;6270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63" name="Shape 6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4" name="Google Shape;6464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5" name="Google Shape;6465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60" name="Shape 6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1" name="Google Shape;6661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2" name="Google Shape;6662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7" name="Shape 68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8" name="Google Shape;6858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9" name="Google Shape;6859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54" name="Shape 70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5" name="Google Shape;7055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6" name="Google Shape;7056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51" name="Shape 7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2" name="Google Shape;7252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53" name="Google Shape;7253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46" name="Shape 7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7" name="Google Shape;7447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8" name="Google Shape;7448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41" name="Shape 7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2" name="Google Shape;7642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43" name="Google Shape;7643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40" name="Shape 78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1" name="Google Shape;7841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42" name="Google Shape;7842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5" name="Shape 8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6" name="Google Shape;8036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37" name="Google Shape;8037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34" name="Shape 8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5" name="Google Shape;8235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36" name="Google Shape;8236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33" name="Shape 8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4" name="Google Shape;8434;p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35" name="Google Shape;8435;p5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30" name="Shape 8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1" name="Google Shape;8631;p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32" name="Google Shape;8632;p5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29" name="Shape 88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0" name="Google Shape;8830;p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31" name="Google Shape;8831;p5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24" name="Shape 90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5" name="Google Shape;9025;p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26" name="Google Shape;9026;p5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7" name="Shape 9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Google Shape;9218;p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19" name="Google Shape;9219;p5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12" name="Shape 9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3" name="Google Shape;9413;p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14" name="Google Shape;9414;p5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07" name="Shape 9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8" name="Google Shape;9608;p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09" name="Google Shape;9609;p5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06" name="Shape 9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07" name="Google Shape;9807;p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08" name="Google Shape;9808;p5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01" name="Shape 10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2" name="Google Shape;10002;p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03" name="Google Shape;10003;p5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98" name="Shape 10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99" name="Google Shape;10199;p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00" name="Google Shape;10200;p5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97" name="Shape 10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8" name="Google Shape;10398;p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99" name="Google Shape;10399;p6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2" name="Shape 10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3" name="Google Shape;10593;p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94" name="Google Shape;10594;p6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89" name="Shape 10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0" name="Google Shape;10790;p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91" name="Google Shape;10791;p6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86" name="Shape 109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7" name="Google Shape;10987;p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88" name="Google Shape;10988;p6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85" name="Shape 1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6" name="Google Shape;11186;p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87" name="Google Shape;11187;p6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6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6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6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6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6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6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6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6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6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6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6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6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6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7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7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7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7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7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7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7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7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7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7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7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7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7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7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7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7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7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7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7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7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Generated June 01, 2026  |  50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50 Total Agencies  |  49 Active  |  1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$2,297,479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$1,717,974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$374,431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$205,074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$-490,950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$3,874,286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$3,791,309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$4,649,143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$329,008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$1,633,631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$472,177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$341,058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$112,504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$375,395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$340,817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321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$234,614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$140,223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$21,269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536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425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Brown's Ins Agency Inc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$206,063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$41,738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$164,909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$120,751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$121,009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$5,871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$95,321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$95,321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Insuranc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Insurance Brokers Llc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$76,033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$60,689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$65,951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$66,881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$62,337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$50,422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$49,329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19.6%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$888,857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$157,607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484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$652,422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$413,481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462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$596,746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$263,948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558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$815,197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$493,369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556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$596,266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$385,276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465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267" name="Google Shape;267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</a:t>
            </a:r>
            <a:endParaRPr/>
          </a:p>
        </p:txBody>
      </p:sp>
      <p:sp>
        <p:nvSpPr>
          <p:cNvPr id="268" name="Google Shape;268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$4,294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3" name="Google Shape;273;p2"/>
          <p:cNvSpPr/>
          <p:nvPr/>
        </p:nvSpPr>
        <p:spPr>
          <a:xfrm>
            <a:off x="8275320" y="4581144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2"/>
          <p:cNvSpPr txBox="1"/>
          <p:nvPr/>
        </p:nvSpPr>
        <p:spPr>
          <a:xfrm>
            <a:off x="8275320" y="461772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75" name="Google Shape;275;p2"/>
          <p:cNvSpPr txBox="1"/>
          <p:nvPr/>
        </p:nvSpPr>
        <p:spPr>
          <a:xfrm>
            <a:off x="8732520" y="461772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$2,297,479</a:t>
            </a:r>
            <a:endParaRPr/>
          </a:p>
        </p:txBody>
      </p:sp>
      <p:sp>
        <p:nvSpPr>
          <p:cNvPr id="276" name="Google Shape;276;p2"/>
          <p:cNvSpPr txBox="1"/>
          <p:nvPr/>
        </p:nvSpPr>
        <p:spPr>
          <a:xfrm>
            <a:off x="9509760" y="461772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$1,717,974</a:t>
            </a:r>
            <a:endParaRPr/>
          </a:p>
        </p:txBody>
      </p:sp>
      <p:sp>
        <p:nvSpPr>
          <p:cNvPr id="277" name="Google Shape;277;p2"/>
          <p:cNvSpPr txBox="1"/>
          <p:nvPr/>
        </p:nvSpPr>
        <p:spPr>
          <a:xfrm>
            <a:off x="10241280" y="461772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2427</a:t>
            </a:r>
            <a:endParaRPr/>
          </a:p>
        </p:txBody>
      </p:sp>
      <p:sp>
        <p:nvSpPr>
          <p:cNvPr id="278" name="Google Shape;278;p2"/>
          <p:cNvSpPr txBox="1"/>
          <p:nvPr/>
        </p:nvSpPr>
        <p:spPr>
          <a:xfrm>
            <a:off x="10744200" y="461772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279" name="Google Shape;279;p2"/>
          <p:cNvSpPr txBox="1"/>
          <p:nvPr/>
        </p:nvSpPr>
        <p:spPr>
          <a:xfrm>
            <a:off x="11201400" y="461772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</p:txBody>
      </p:sp>
      <p:sp>
        <p:nvSpPr>
          <p:cNvPr id="280" name="Google Shape;280;p2"/>
          <p:cNvSpPr/>
          <p:nvPr/>
        </p:nvSpPr>
        <p:spPr>
          <a:xfrm>
            <a:off x="8229600" y="5029200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"/>
          <p:cNvSpPr txBox="1"/>
          <p:nvPr/>
        </p:nvSpPr>
        <p:spPr>
          <a:xfrm>
            <a:off x="8321040" y="50474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INACTIVE AGENCIES (1)</a:t>
            </a:r>
            <a:endParaRPr/>
          </a:p>
        </p:txBody>
      </p:sp>
      <p:sp>
        <p:nvSpPr>
          <p:cNvPr id="282" name="Google Shape;282;p2"/>
          <p:cNvSpPr txBox="1"/>
          <p:nvPr/>
        </p:nvSpPr>
        <p:spPr>
          <a:xfrm>
            <a:off x="8321040" y="5376672"/>
            <a:ext cx="3474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Trinity Ins Services Llc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Cameron Brader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BDA OKRs  |  Q2 measure (paced where applicable)  |  Matches BD Rep Scoreboard numbers</a:t>
            </a:r>
            <a:endParaRPr/>
          </a:p>
        </p:txBody>
      </p:sp>
      <p:sp>
        <p:nvSpPr>
          <p:cNvPr id="290" name="Google Shape;290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69.4</a:t>
            </a:r>
            <a:endParaRPr/>
          </a:p>
        </p:txBody>
      </p:sp>
      <p:sp>
        <p:nvSpPr>
          <p:cNvPr id="292" name="Google Shape;292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93" name="Google Shape;293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94" name="Google Shape;294;p3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3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97" name="Google Shape;297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98" name="Google Shape;298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≥+50%</a:t>
            </a:r>
            <a:endParaRPr/>
          </a:p>
        </p:txBody>
      </p:sp>
      <p:sp>
        <p:nvSpPr>
          <p:cNvPr id="299" name="Google Shape;299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+6%</a:t>
            </a:r>
            <a:endParaRPr/>
          </a:p>
        </p:txBody>
      </p:sp>
      <p:sp>
        <p:nvSpPr>
          <p:cNvPr id="300" name="Google Shape;300;p3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3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3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303" name="Google Shape;303;p3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304" name="Google Shape;304;p3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(50/wk)</a:t>
            </a:r>
            <a:endParaRPr/>
          </a:p>
        </p:txBody>
      </p:sp>
      <p:sp>
        <p:nvSpPr>
          <p:cNvPr id="305" name="Google Shape;305;p3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96%</a:t>
            </a:r>
            <a:endParaRPr/>
          </a:p>
        </p:txBody>
      </p:sp>
      <p:sp>
        <p:nvSpPr>
          <p:cNvPr id="306" name="Google Shape;306;p3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3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3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9" name="Google Shape;309;p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10" name="Google Shape;310;p3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 of 50 agencies  |  Goal 75%</a:t>
            </a:r>
            <a:endParaRPr/>
          </a:p>
        </p:txBody>
      </p:sp>
      <p:sp>
        <p:nvSpPr>
          <p:cNvPr id="311" name="Google Shape;311;p3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98%</a:t>
            </a:r>
            <a:endParaRPr/>
          </a:p>
        </p:txBody>
      </p:sp>
      <p:sp>
        <p:nvSpPr>
          <p:cNvPr id="312" name="Google Shape;312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Cameron Brader</a:t>
            </a:r>
            <a:endParaRPr/>
          </a:p>
        </p:txBody>
      </p:sp>
      <p:sp>
        <p:nvSpPr>
          <p:cNvPr id="319" name="Google Shape;319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Calls + Meetings  |  Weekly goal: 50 activities  |  Colored arrow = month-over-month trend vs prior complete month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935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21" name="Google Shape;321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22" name="Google Shape;322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966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23" name="Google Shape;323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46.0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24" name="Google Shape;324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(50/wk)</a:t>
            </a:r>
            <a:endParaRPr/>
          </a:p>
        </p:txBody>
      </p:sp>
      <p:sp>
        <p:nvSpPr>
          <p:cNvPr id="325" name="Google Shape;325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1–11  (Jan–Mar)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30" name="Google Shape;330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31" name="Google Shape;331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32" name="Google Shape;332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33" name="Google Shape;333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9" name="Google Shape;339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340" name="Google Shape;340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116%</a:t>
            </a:r>
            <a:endParaRPr/>
          </a:p>
        </p:txBody>
      </p:sp>
      <p:sp>
        <p:nvSpPr>
          <p:cNvPr id="341" name="Google Shape;341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42" name="Google Shape;342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7" name="Google Shape;347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348" name="Google Shape;348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78%</a:t>
            </a:r>
            <a:endParaRPr/>
          </a:p>
        </p:txBody>
      </p:sp>
      <p:sp>
        <p:nvSpPr>
          <p:cNvPr id="349" name="Google Shape;349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350" name="Google Shape;350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5" name="Google Shape;355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356" name="Google Shape;356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120%</a:t>
            </a:r>
            <a:endParaRPr/>
          </a:p>
        </p:txBody>
      </p:sp>
      <p:sp>
        <p:nvSpPr>
          <p:cNvPr id="357" name="Google Shape;357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58" name="Google Shape;358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3" name="Google Shape;363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364" name="Google Shape;364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102%</a:t>
            </a:r>
            <a:endParaRPr/>
          </a:p>
        </p:txBody>
      </p:sp>
      <p:sp>
        <p:nvSpPr>
          <p:cNvPr id="365" name="Google Shape;365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66" name="Google Shape;366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71" name="Google Shape;371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372" name="Google Shape;372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134%</a:t>
            </a:r>
            <a:endParaRPr/>
          </a:p>
        </p:txBody>
      </p:sp>
      <p:sp>
        <p:nvSpPr>
          <p:cNvPr id="373" name="Google Shape;373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74" name="Google Shape;374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79" name="Google Shape;379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380" name="Google Shape;380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104%</a:t>
            </a:r>
            <a:endParaRPr/>
          </a:p>
        </p:txBody>
      </p:sp>
      <p:sp>
        <p:nvSpPr>
          <p:cNvPr id="381" name="Google Shape;381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82" name="Google Shape;382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87" name="Google Shape;387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388" name="Google Shape;388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80%</a:t>
            </a:r>
            <a:endParaRPr/>
          </a:p>
        </p:txBody>
      </p:sp>
      <p:sp>
        <p:nvSpPr>
          <p:cNvPr id="389" name="Google Shape;389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390" name="Google Shape;390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95" name="Google Shape;395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96" name="Google Shape;396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62%</a:t>
            </a:r>
            <a:endParaRPr/>
          </a:p>
        </p:txBody>
      </p:sp>
      <p:sp>
        <p:nvSpPr>
          <p:cNvPr id="397" name="Google Shape;397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98" name="Google Shape;398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3" name="Google Shape;403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04" name="Google Shape;404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405" name="Google Shape;405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06" name="Google Shape;406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1" name="Google Shape;411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12" name="Google Shape;412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54%</a:t>
            </a:r>
            <a:endParaRPr/>
          </a:p>
        </p:txBody>
      </p:sp>
      <p:sp>
        <p:nvSpPr>
          <p:cNvPr id="413" name="Google Shape;413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4" name="Google Shape;414;p4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4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4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" name="Google Shape;419;p4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420" name="Google Shape;420;p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54%</a:t>
            </a:r>
            <a:endParaRPr/>
          </a:p>
        </p:txBody>
      </p:sp>
      <p:sp>
        <p:nvSpPr>
          <p:cNvPr id="421" name="Google Shape;421;p4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22" name="Google Shape;422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12–22  (Mar–Jun)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27" name="Google Shape;427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28" name="Google Shape;428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29" name="Google Shape;429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30" name="Google Shape;430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6" name="Google Shape;436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37" name="Google Shape;437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36%</a:t>
            </a:r>
            <a:endParaRPr/>
          </a:p>
        </p:txBody>
      </p:sp>
      <p:sp>
        <p:nvSpPr>
          <p:cNvPr id="438" name="Google Shape;438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9" name="Google Shape;439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4" name="Google Shape;444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45" name="Google Shape;445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114%</a:t>
            </a:r>
            <a:endParaRPr/>
          </a:p>
        </p:txBody>
      </p:sp>
      <p:sp>
        <p:nvSpPr>
          <p:cNvPr id="446" name="Google Shape;446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47" name="Google Shape;447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2" name="Google Shape;452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53" name="Google Shape;453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62%</a:t>
            </a:r>
            <a:endParaRPr/>
          </a:p>
        </p:txBody>
      </p:sp>
      <p:sp>
        <p:nvSpPr>
          <p:cNvPr id="454" name="Google Shape;454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5" name="Google Shape;455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60" name="Google Shape;460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61" name="Google Shape;461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116%</a:t>
            </a:r>
            <a:endParaRPr/>
          </a:p>
        </p:txBody>
      </p:sp>
      <p:sp>
        <p:nvSpPr>
          <p:cNvPr id="462" name="Google Shape;462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63" name="Google Shape;463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8" name="Google Shape;468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69" name="Google Shape;469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76%</a:t>
            </a:r>
            <a:endParaRPr/>
          </a:p>
        </p:txBody>
      </p:sp>
      <p:sp>
        <p:nvSpPr>
          <p:cNvPr id="470" name="Google Shape;470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71" name="Google Shape;471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6" name="Google Shape;476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77" name="Google Shape;477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114%</a:t>
            </a:r>
            <a:endParaRPr/>
          </a:p>
        </p:txBody>
      </p:sp>
      <p:sp>
        <p:nvSpPr>
          <p:cNvPr id="478" name="Google Shape;478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9" name="Google Shape;479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4" name="Google Shape;484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85" name="Google Shape;485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106%</a:t>
            </a:r>
            <a:endParaRPr/>
          </a:p>
        </p:txBody>
      </p:sp>
      <p:sp>
        <p:nvSpPr>
          <p:cNvPr id="486" name="Google Shape;486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87" name="Google Shape;487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2" name="Google Shape;492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93" name="Google Shape;493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96%</a:t>
            </a:r>
            <a:endParaRPr/>
          </a:p>
        </p:txBody>
      </p:sp>
      <p:sp>
        <p:nvSpPr>
          <p:cNvPr id="494" name="Google Shape;494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95" name="Google Shape;495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5/18–5/24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0" name="Google Shape;500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501" name="Google Shape;501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86%</a:t>
            </a:r>
            <a:endParaRPr/>
          </a:p>
        </p:txBody>
      </p:sp>
      <p:sp>
        <p:nvSpPr>
          <p:cNvPr id="502" name="Google Shape;502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503" name="Google Shape;503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5/25–5/31</a:t>
            </a:r>
            <a:endParaRPr/>
          </a:p>
        </p:txBody>
      </p:sp>
      <p:sp>
        <p:nvSpPr>
          <p:cNvPr id="506" name="Google Shape;506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507" name="Google Shape;507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" name="Google Shape;508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509" name="Google Shape;509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114%</a:t>
            </a:r>
            <a:endParaRPr/>
          </a:p>
        </p:txBody>
      </p:sp>
      <p:sp>
        <p:nvSpPr>
          <p:cNvPr id="510" name="Google Shape;510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511" name="Google Shape;511;p4"/>
          <p:cNvSpPr/>
          <p:nvPr/>
        </p:nvSpPr>
        <p:spPr>
          <a:xfrm>
            <a:off x="6199632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4"/>
          <p:cNvSpPr/>
          <p:nvPr/>
        </p:nvSpPr>
        <p:spPr>
          <a:xfrm>
            <a:off x="6199632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4"/>
          <p:cNvSpPr txBox="1"/>
          <p:nvPr/>
        </p:nvSpPr>
        <p:spPr>
          <a:xfrm>
            <a:off x="6309360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6/1–6/1*</a:t>
            </a:r>
            <a:endParaRPr/>
          </a:p>
        </p:txBody>
      </p:sp>
      <p:sp>
        <p:nvSpPr>
          <p:cNvPr id="514" name="Google Shape;514;p4"/>
          <p:cNvSpPr txBox="1"/>
          <p:nvPr/>
        </p:nvSpPr>
        <p:spPr>
          <a:xfrm>
            <a:off x="7955280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5" name="Google Shape;515;p4"/>
          <p:cNvSpPr txBox="1"/>
          <p:nvPr/>
        </p:nvSpPr>
        <p:spPr>
          <a:xfrm>
            <a:off x="8686800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6" name="Google Shape;516;p4"/>
          <p:cNvSpPr txBox="1"/>
          <p:nvPr/>
        </p:nvSpPr>
        <p:spPr>
          <a:xfrm>
            <a:off x="9555480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" name="Google Shape;517;p4"/>
          <p:cNvSpPr txBox="1"/>
          <p:nvPr/>
        </p:nvSpPr>
        <p:spPr>
          <a:xfrm>
            <a:off x="10287000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518" name="Google Shape;518;p4"/>
          <p:cNvSpPr txBox="1"/>
          <p:nvPr/>
        </p:nvSpPr>
        <p:spPr>
          <a:xfrm>
            <a:off x="11064240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19" name="Google Shape;519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3" name="Shape 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Google Shape;524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Cameron Brader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vs 2025  |  Green = growth  |  Red = decline  |  Hit ratio = binds / submissions</a:t>
            </a:r>
            <a:endParaRPr/>
          </a:p>
        </p:txBody>
      </p:sp>
      <p:sp>
        <p:nvSpPr>
          <p:cNvPr id="527" name="Google Shape;527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2427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28" name="Google Shape;528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29" name="Google Shape;529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0" name="Google Shape;530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31" name="Google Shape;531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32" name="Google Shape;532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40" name="Google Shape;540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43" name="Google Shape;543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463</a:t>
            </a:r>
            <a:endParaRPr/>
          </a:p>
        </p:txBody>
      </p:sp>
      <p:sp>
        <p:nvSpPr>
          <p:cNvPr id="544" name="Google Shape;544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546" name="Google Shape;546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439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+5%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440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305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+44%</a:t>
            </a:r>
            <a:endParaRPr/>
          </a:p>
        </p:txBody>
      </p:sp>
      <p:sp>
        <p:nvSpPr>
          <p:cNvPr id="554" name="Google Shape;554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56" name="Google Shape;556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533</a:t>
            </a:r>
            <a:endParaRPr/>
          </a:p>
        </p:txBody>
      </p:sp>
      <p:sp>
        <p:nvSpPr>
          <p:cNvPr id="557" name="Google Shape;557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533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+0%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536</a:t>
            </a:r>
            <a:endParaRPr/>
          </a:p>
        </p:txBody>
      </p:sp>
      <p:sp>
        <p:nvSpPr>
          <p:cNvPr id="563" name="Google Shape;563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564" name="Google Shape;564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6.3%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491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+9%</a:t>
            </a:r>
            <a:endParaRPr/>
          </a:p>
        </p:txBody>
      </p:sp>
      <p:sp>
        <p:nvSpPr>
          <p:cNvPr id="567" name="Google Shape;567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454</a:t>
            </a:r>
            <a:endParaRPr/>
          </a:p>
        </p:txBody>
      </p:sp>
      <p:sp>
        <p:nvSpPr>
          <p:cNvPr id="570" name="Google Shape;570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571" name="Google Shape;571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431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+5%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246888" y="378104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813816" y="378104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1819656" y="378104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" name="Google Shape;577;p5"/>
          <p:cNvSpPr txBox="1"/>
          <p:nvPr/>
        </p:nvSpPr>
        <p:spPr>
          <a:xfrm>
            <a:off x="2734056" y="378104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8" name="Google Shape;578;p5"/>
          <p:cNvSpPr txBox="1"/>
          <p:nvPr/>
        </p:nvSpPr>
        <p:spPr>
          <a:xfrm>
            <a:off x="3355848" y="378104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451</a:t>
            </a:r>
            <a:endParaRPr/>
          </a:p>
        </p:txBody>
      </p:sp>
      <p:sp>
        <p:nvSpPr>
          <p:cNvPr id="579" name="Google Shape;579;p5"/>
          <p:cNvSpPr txBox="1"/>
          <p:nvPr/>
        </p:nvSpPr>
        <p:spPr>
          <a:xfrm>
            <a:off x="4270248" y="378104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-100%</a:t>
            </a:r>
            <a:endParaRPr/>
          </a:p>
        </p:txBody>
      </p:sp>
      <p:sp>
        <p:nvSpPr>
          <p:cNvPr id="580" name="Google Shape;580;p5"/>
          <p:cNvSpPr/>
          <p:nvPr/>
        </p:nvSpPr>
        <p:spPr>
          <a:xfrm>
            <a:off x="182880" y="4032504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5"/>
          <p:cNvSpPr txBox="1"/>
          <p:nvPr/>
        </p:nvSpPr>
        <p:spPr>
          <a:xfrm>
            <a:off x="246888" y="4078224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813816" y="407822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2,427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819656" y="407822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2734056" y="4078224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3355848" y="407822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2,650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4270248" y="407822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-8%</a:t>
            </a:r>
            <a:endParaRPr/>
          </a:p>
        </p:txBody>
      </p:sp>
      <p:sp>
        <p:nvSpPr>
          <p:cNvPr id="587" name="Google Shape;587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89" name="Google Shape;589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90" name="Google Shape;590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94" name="Google Shape;594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536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600" name="Google Shape;600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-498</a:t>
            </a:r>
            <a:endParaRPr/>
          </a:p>
        </p:txBody>
      </p:sp>
      <p:sp>
        <p:nvSpPr>
          <p:cNvPr id="601" name="Google Shape;601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321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+296</a:t>
            </a:r>
            <a:endParaRPr/>
          </a:p>
        </p:txBody>
      </p:sp>
      <p:sp>
        <p:nvSpPr>
          <p:cNvPr id="606" name="Google Shape;606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611" name="Google Shape;611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+101</a:t>
            </a:r>
            <a:endParaRPr/>
          </a:p>
        </p:txBody>
      </p:sp>
      <p:sp>
        <p:nvSpPr>
          <p:cNvPr id="612" name="Google Shape;612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+9</a:t>
            </a:r>
            <a:endParaRPr/>
          </a:p>
        </p:txBody>
      </p:sp>
      <p:sp>
        <p:nvSpPr>
          <p:cNvPr id="617" name="Google Shape;617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622" name="Google Shape;622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+51</a:t>
            </a:r>
            <a:endParaRPr/>
          </a:p>
        </p:txBody>
      </p:sp>
      <p:sp>
        <p:nvSpPr>
          <p:cNvPr id="623" name="Google Shape;623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Insurance, 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+55</a:t>
            </a:r>
            <a:endParaRPr/>
          </a:p>
        </p:txBody>
      </p:sp>
      <p:sp>
        <p:nvSpPr>
          <p:cNvPr id="628" name="Google Shape;628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633" name="Google Shape;633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-28</a:t>
            </a:r>
            <a:endParaRPr/>
          </a:p>
        </p:txBody>
      </p:sp>
      <p:sp>
        <p:nvSpPr>
          <p:cNvPr id="634" name="Google Shape;634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Northern Insurance Specialists LLC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-64</a:t>
            </a:r>
            <a:endParaRPr/>
          </a:p>
        </p:txBody>
      </p:sp>
      <p:sp>
        <p:nvSpPr>
          <p:cNvPr id="639" name="Google Shape;639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644" name="Google Shape;644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+63</a:t>
            </a:r>
            <a:endParaRPr/>
          </a:p>
        </p:txBody>
      </p:sp>
      <p:sp>
        <p:nvSpPr>
          <p:cNvPr id="645" name="Google Shape;645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Lux Insurance Llc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+36</a:t>
            </a:r>
            <a:endParaRPr/>
          </a:p>
        </p:txBody>
      </p:sp>
      <p:sp>
        <p:nvSpPr>
          <p:cNvPr id="650" name="Google Shape;650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19.6%</a:t>
            </a:r>
            <a:endParaRPr/>
          </a:p>
        </p:txBody>
      </p:sp>
      <p:sp>
        <p:nvSpPr>
          <p:cNvPr id="655" name="Google Shape;655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+51</a:t>
            </a:r>
            <a:endParaRPr/>
          </a:p>
        </p:txBody>
      </p:sp>
      <p:sp>
        <p:nvSpPr>
          <p:cNvPr id="656" name="Google Shape;656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59" name="Google Shape;659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660" name="Google Shape;660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+18</a:t>
            </a:r>
            <a:endParaRPr/>
          </a:p>
        </p:txBody>
      </p:sp>
      <p:sp>
        <p:nvSpPr>
          <p:cNvPr id="661" name="Google Shape;661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" name="Google Shape;662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663" name="Google Shape;663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64" name="Google Shape;664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65" name="Google Shape;665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666" name="Google Shape;666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-14</a:t>
            </a:r>
            <a:endParaRPr/>
          </a:p>
        </p:txBody>
      </p:sp>
      <p:sp>
        <p:nvSpPr>
          <p:cNvPr id="667" name="Google Shape;667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Mogul Insurance Group Llc</a:t>
            </a:r>
            <a:endParaRPr/>
          </a:p>
        </p:txBody>
      </p:sp>
      <p:sp>
        <p:nvSpPr>
          <p:cNvPr id="668" name="Google Shape;668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669" name="Google Shape;669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0" name="Google Shape;670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8.5%</a:t>
            </a:r>
            <a:endParaRPr/>
          </a:p>
        </p:txBody>
      </p:sp>
      <p:sp>
        <p:nvSpPr>
          <p:cNvPr id="671" name="Google Shape;671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+42</a:t>
            </a:r>
            <a:endParaRPr/>
          </a:p>
        </p:txBody>
      </p:sp>
      <p:sp>
        <p:nvSpPr>
          <p:cNvPr id="672" name="Google Shape;672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My Va Insurance Llc</a:t>
            </a:r>
            <a:endParaRPr/>
          </a:p>
        </p:txBody>
      </p:sp>
      <p:sp>
        <p:nvSpPr>
          <p:cNvPr id="674" name="Google Shape;674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75" name="Google Shape;675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6" name="Google Shape;676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677" name="Google Shape;677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+20</a:t>
            </a:r>
            <a:endParaRPr/>
          </a:p>
        </p:txBody>
      </p:sp>
      <p:sp>
        <p:nvSpPr>
          <p:cNvPr id="678" name="Google Shape;678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Argos Insurance Group, Llc</a:t>
            </a:r>
            <a:endParaRPr/>
          </a:p>
        </p:txBody>
      </p:sp>
      <p:sp>
        <p:nvSpPr>
          <p:cNvPr id="679" name="Google Shape;679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680" name="Google Shape;680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1" name="Google Shape;681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2" name="Google Shape;682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+36</a:t>
            </a:r>
            <a:endParaRPr/>
          </a:p>
        </p:txBody>
      </p:sp>
      <p:sp>
        <p:nvSpPr>
          <p:cNvPr id="683" name="Google Shape;683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 |  50 Total Agencies  |  Jan–Jun 2026</a:t>
            </a:r>
            <a:endParaRPr/>
          </a:p>
        </p:txBody>
      </p:sp>
      <p:sp>
        <p:nvSpPr>
          <p:cNvPr id="691" name="Google Shape;691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93" name="Google Shape;693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94" name="Google Shape;694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$888,857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$157,607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$-63,069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484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351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710" name="Google Shape;710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12" name="Google Shape;712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$652,422</a:t>
            </a:r>
            <a:endParaRPr/>
          </a:p>
        </p:txBody>
      </p:sp>
      <p:sp>
        <p:nvSpPr>
          <p:cNvPr id="713" name="Google Shape;713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$413,481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$-183,739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462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306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$596,746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$263,948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$41,383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$-91,138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558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389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5.2%</a:t>
            </a:r>
            <a:endParaRPr/>
          </a:p>
        </p:txBody>
      </p:sp>
      <p:sp>
        <p:nvSpPr>
          <p:cNvPr id="729" name="Google Shape;729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1" name="Google Shape;731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$815,197</a:t>
            </a:r>
            <a:endParaRPr/>
          </a:p>
        </p:txBody>
      </p:sp>
      <p:sp>
        <p:nvSpPr>
          <p:cNvPr id="732" name="Google Shape;732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$493,369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$186,013</a:t>
            </a:r>
            <a:endParaRPr/>
          </a:p>
        </p:txBody>
      </p:sp>
      <p:sp>
        <p:nvSpPr>
          <p:cNvPr id="734" name="Google Shape;734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$-6,570</a:t>
            </a:r>
            <a:endParaRPr/>
          </a:p>
        </p:txBody>
      </p:sp>
      <p:sp>
        <p:nvSpPr>
          <p:cNvPr id="735" name="Google Shape;735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556</a:t>
            </a:r>
            <a:endParaRPr/>
          </a:p>
        </p:txBody>
      </p:sp>
      <p:sp>
        <p:nvSpPr>
          <p:cNvPr id="736" name="Google Shape;736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394</a:t>
            </a:r>
            <a:endParaRPr/>
          </a:p>
        </p:txBody>
      </p:sp>
      <p:sp>
        <p:nvSpPr>
          <p:cNvPr id="737" name="Google Shape;737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738" name="Google Shape;738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739" name="Google Shape;739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0" name="Google Shape;740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$596,266</a:t>
            </a:r>
            <a:endParaRPr/>
          </a:p>
        </p:txBody>
      </p:sp>
      <p:sp>
        <p:nvSpPr>
          <p:cNvPr id="741" name="Google Shape;741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$385,276</a:t>
            </a:r>
            <a:endParaRPr/>
          </a:p>
        </p:txBody>
      </p:sp>
      <p:sp>
        <p:nvSpPr>
          <p:cNvPr id="742" name="Google Shape;742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$130,428</a:t>
            </a:r>
            <a:endParaRPr/>
          </a:p>
        </p:txBody>
      </p:sp>
      <p:sp>
        <p:nvSpPr>
          <p:cNvPr id="743" name="Google Shape;743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$-107,847</a:t>
            </a:r>
            <a:endParaRPr/>
          </a:p>
        </p:txBody>
      </p:sp>
      <p:sp>
        <p:nvSpPr>
          <p:cNvPr id="744" name="Google Shape;744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465</a:t>
            </a:r>
            <a:endParaRPr/>
          </a:p>
        </p:txBody>
      </p:sp>
      <p:sp>
        <p:nvSpPr>
          <p:cNvPr id="745" name="Google Shape;745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341</a:t>
            </a:r>
            <a:endParaRPr/>
          </a:p>
        </p:txBody>
      </p:sp>
      <p:sp>
        <p:nvSpPr>
          <p:cNvPr id="746" name="Google Shape;746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47" name="Google Shape;747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748" name="Google Shape;748;p6"/>
          <p:cNvSpPr/>
          <p:nvPr/>
        </p:nvSpPr>
        <p:spPr>
          <a:xfrm>
            <a:off x="365760" y="3090671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6"/>
          <p:cNvSpPr txBox="1"/>
          <p:nvPr/>
        </p:nvSpPr>
        <p:spPr>
          <a:xfrm>
            <a:off x="457200" y="3145535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50" name="Google Shape;750;p6"/>
          <p:cNvSpPr txBox="1"/>
          <p:nvPr/>
        </p:nvSpPr>
        <p:spPr>
          <a:xfrm>
            <a:off x="1920240" y="3145535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" name="Google Shape;751;p6"/>
          <p:cNvSpPr txBox="1"/>
          <p:nvPr/>
        </p:nvSpPr>
        <p:spPr>
          <a:xfrm>
            <a:off x="3337560" y="3145535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$4,294</a:t>
            </a:r>
            <a:endParaRPr/>
          </a:p>
        </p:txBody>
      </p:sp>
      <p:sp>
        <p:nvSpPr>
          <p:cNvPr id="752" name="Google Shape;752;p6"/>
          <p:cNvSpPr txBox="1"/>
          <p:nvPr/>
        </p:nvSpPr>
        <p:spPr>
          <a:xfrm>
            <a:off x="4663440" y="3145535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" name="Google Shape;753;p6"/>
          <p:cNvSpPr txBox="1"/>
          <p:nvPr/>
        </p:nvSpPr>
        <p:spPr>
          <a:xfrm>
            <a:off x="5897879" y="3145535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$-38,588</a:t>
            </a:r>
            <a:endParaRPr/>
          </a:p>
        </p:txBody>
      </p:sp>
      <p:sp>
        <p:nvSpPr>
          <p:cNvPr id="754" name="Google Shape;754;p6"/>
          <p:cNvSpPr txBox="1"/>
          <p:nvPr/>
        </p:nvSpPr>
        <p:spPr>
          <a:xfrm>
            <a:off x="7086599" y="3145535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5" name="Google Shape;755;p6"/>
          <p:cNvSpPr txBox="1"/>
          <p:nvPr/>
        </p:nvSpPr>
        <p:spPr>
          <a:xfrm>
            <a:off x="8000999" y="3145535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6" name="Google Shape;756;p6"/>
          <p:cNvSpPr txBox="1"/>
          <p:nvPr/>
        </p:nvSpPr>
        <p:spPr>
          <a:xfrm>
            <a:off x="8915399" y="3145535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7" name="Google Shape;757;p6"/>
          <p:cNvSpPr txBox="1"/>
          <p:nvPr/>
        </p:nvSpPr>
        <p:spPr>
          <a:xfrm>
            <a:off x="9829799" y="3145535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8" name="Google Shape;758;p6"/>
          <p:cNvSpPr/>
          <p:nvPr/>
        </p:nvSpPr>
        <p:spPr>
          <a:xfrm>
            <a:off x="365760" y="3419855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" name="Google Shape;759;p6"/>
          <p:cNvSpPr txBox="1"/>
          <p:nvPr/>
        </p:nvSpPr>
        <p:spPr>
          <a:xfrm>
            <a:off x="457200" y="3493007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60" name="Google Shape;760;p6"/>
          <p:cNvSpPr txBox="1"/>
          <p:nvPr/>
        </p:nvSpPr>
        <p:spPr>
          <a:xfrm>
            <a:off x="1920240" y="3493007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$3,549,489</a:t>
            </a:r>
            <a:endParaRPr/>
          </a:p>
        </p:txBody>
      </p:sp>
      <p:sp>
        <p:nvSpPr>
          <p:cNvPr id="761" name="Google Shape;761;p6"/>
          <p:cNvSpPr txBox="1"/>
          <p:nvPr/>
        </p:nvSpPr>
        <p:spPr>
          <a:xfrm>
            <a:off x="3337560" y="3493007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$1,717,974</a:t>
            </a:r>
            <a:endParaRPr/>
          </a:p>
        </p:txBody>
      </p:sp>
      <p:sp>
        <p:nvSpPr>
          <p:cNvPr id="762" name="Google Shape;762;p6"/>
          <p:cNvSpPr txBox="1"/>
          <p:nvPr/>
        </p:nvSpPr>
        <p:spPr>
          <a:xfrm>
            <a:off x="4663440" y="3493007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$374,431</a:t>
            </a:r>
            <a:endParaRPr/>
          </a:p>
        </p:txBody>
      </p:sp>
      <p:sp>
        <p:nvSpPr>
          <p:cNvPr id="763" name="Google Shape;763;p6"/>
          <p:cNvSpPr txBox="1"/>
          <p:nvPr/>
        </p:nvSpPr>
        <p:spPr>
          <a:xfrm>
            <a:off x="5897879" y="3493007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$-490,950</a:t>
            </a:r>
            <a:endParaRPr/>
          </a:p>
        </p:txBody>
      </p:sp>
      <p:sp>
        <p:nvSpPr>
          <p:cNvPr id="764" name="Google Shape;764;p6"/>
          <p:cNvSpPr txBox="1"/>
          <p:nvPr/>
        </p:nvSpPr>
        <p:spPr>
          <a:xfrm>
            <a:off x="7086599" y="3493007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2,526</a:t>
            </a:r>
            <a:endParaRPr/>
          </a:p>
        </p:txBody>
      </p:sp>
      <p:sp>
        <p:nvSpPr>
          <p:cNvPr id="765" name="Google Shape;765;p6"/>
          <p:cNvSpPr txBox="1"/>
          <p:nvPr/>
        </p:nvSpPr>
        <p:spPr>
          <a:xfrm>
            <a:off x="8000999" y="3493007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1,782</a:t>
            </a:r>
            <a:endParaRPr/>
          </a:p>
        </p:txBody>
      </p:sp>
      <p:sp>
        <p:nvSpPr>
          <p:cNvPr id="766" name="Google Shape;766;p6"/>
          <p:cNvSpPr txBox="1"/>
          <p:nvPr/>
        </p:nvSpPr>
        <p:spPr>
          <a:xfrm>
            <a:off x="8915399" y="3493007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</a:t>
            </a:r>
            <a:endParaRPr/>
          </a:p>
        </p:txBody>
      </p:sp>
      <p:sp>
        <p:nvSpPr>
          <p:cNvPr id="767" name="Google Shape;767;p6"/>
          <p:cNvSpPr txBox="1"/>
          <p:nvPr/>
        </p:nvSpPr>
        <p:spPr>
          <a:xfrm>
            <a:off x="9829799" y="3493007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6.0%</a:t>
            </a:r>
            <a:endParaRPr/>
          </a:p>
        </p:txBody>
      </p:sp>
      <p:sp>
        <p:nvSpPr>
          <p:cNvPr id="768" name="Google Shape;768;p6"/>
          <p:cNvSpPr txBox="1"/>
          <p:nvPr/>
        </p:nvSpPr>
        <p:spPr>
          <a:xfrm>
            <a:off x="365760" y="3941063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72" name="Shape 7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Google Shape;773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Cameron Brader</a:t>
            </a:r>
            <a:endParaRPr/>
          </a:p>
        </p:txBody>
      </p:sp>
      <p:sp>
        <p:nvSpPr>
          <p:cNvPr id="774" name="Google Shape;774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bda's agencies  |  2026 YTD</a:t>
            </a:r>
            <a:endParaRPr/>
          </a:p>
        </p:txBody>
      </p:sp>
      <p:sp>
        <p:nvSpPr>
          <p:cNvPr id="775" name="Google Shape;775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76" name="Google Shape;776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77" name="Google Shape;777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$58,633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78" name="Google Shape;778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79" name="Google Shape;779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0" name="Google Shape;780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86" name="Google Shape;786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87" name="Google Shape;787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" name="Google Shape;788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9" name="Google Shape;799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0" name="Google Shape;800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1" name="Google Shape;801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Mcculloh Insurance Group LLC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5" name="Google Shape;805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06" name="Google Shape;806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07" name="Google Shape;807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Insurance, LLC</a:t>
            </a:r>
            <a:endParaRPr/>
          </a:p>
        </p:txBody>
      </p:sp>
      <p:sp>
        <p:nvSpPr>
          <p:cNvPr id="808" name="Google Shape;808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09" name="Google Shape;809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0" name="Google Shape;810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1" name="Google Shape;811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2" name="Google Shape;812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13" name="Google Shape;813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" name="Google Shape;814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Gantt Insurance Agency, Inc.</a:t>
            </a:r>
            <a:endParaRPr/>
          </a:p>
        </p:txBody>
      </p:sp>
      <p:sp>
        <p:nvSpPr>
          <p:cNvPr id="815" name="Google Shape;815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16" name="Google Shape;816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7" name="Google Shape;817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8" name="Google Shape;818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9" name="Google Shape;819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20" name="Google Shape;820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821" name="Google Shape;821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22" name="Google Shape;822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23" name="Google Shape;823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24" name="Google Shape;824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25" name="Google Shape;825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26" name="Google Shape;826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828" name="Google Shape;828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29" name="Google Shape;829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0" name="Google Shape;830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1" name="Google Shape;831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2" name="Google Shape;832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33" name="Google Shape;833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 LLC</a:t>
            </a:r>
            <a:endParaRPr/>
          </a:p>
        </p:txBody>
      </p:sp>
      <p:sp>
        <p:nvSpPr>
          <p:cNvPr id="834" name="Google Shape;834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35" name="Google Shape;835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6" name="Google Shape;836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7" name="Google Shape;837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8" name="Google Shape;838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39" name="Google Shape;839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PA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3" name="Shape 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Google Shape;844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Cameron Brader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bda's agencies  |  2026 YTD</a:t>
            </a:r>
            <a:endParaRPr/>
          </a:p>
        </p:txBody>
      </p:sp>
      <p:sp>
        <p:nvSpPr>
          <p:cNvPr id="846" name="Google Shape;846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47" name="Google Shape;847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48" name="Google Shape;848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$2,193,870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49" name="Google Shape;849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50" name="Google Shape;850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" name="Google Shape;851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52" name="Google Shape;852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53" name="Google Shape;853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57" name="Google Shape;857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8" name="Google Shape;858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$228,422</a:t>
            </a:r>
            <a:endParaRPr/>
          </a:p>
        </p:txBody>
      </p:sp>
      <p:sp>
        <p:nvSpPr>
          <p:cNvPr id="863" name="Google Shape;863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864" name="Google Shape;864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9.4%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$247,954</a:t>
            </a:r>
            <a:endParaRPr/>
          </a:p>
        </p:txBody>
      </p:sp>
      <p:sp>
        <p:nvSpPr>
          <p:cNvPr id="868" name="Google Shape;868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$81,240</a:t>
            </a:r>
            <a:endParaRPr/>
          </a:p>
        </p:txBody>
      </p:sp>
      <p:sp>
        <p:nvSpPr>
          <p:cNvPr id="874" name="Google Shape;874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Lux Insurance LLC</a:t>
            </a:r>
            <a:endParaRPr/>
          </a:p>
        </p:txBody>
      </p:sp>
      <p:sp>
        <p:nvSpPr>
          <p:cNvPr id="875" name="Google Shape;875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79" name="Google Shape;879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0" name="Google Shape;880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84" name="Google Shape;884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885" name="Google Shape;885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Brown'S Ins Agency Inc</a:t>
            </a:r>
            <a:endParaRPr/>
          </a:p>
        </p:txBody>
      </p:sp>
      <p:sp>
        <p:nvSpPr>
          <p:cNvPr id="886" name="Google Shape;886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87" name="Google Shape;887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88" name="Google Shape;888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46.7%</a:t>
            </a:r>
            <a:endParaRPr/>
          </a:p>
        </p:txBody>
      </p:sp>
      <p:sp>
        <p:nvSpPr>
          <p:cNvPr id="889" name="Google Shape;889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$1,159,893</a:t>
            </a:r>
            <a:endParaRPr/>
          </a:p>
        </p:txBody>
      </p:sp>
      <p:sp>
        <p:nvSpPr>
          <p:cNvPr id="890" name="Google Shape;890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" name="Google Shape;891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892" name="Google Shape;892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93" name="Google Shape;893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4" name="Google Shape;894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895" name="Google Shape;895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$145,448</a:t>
            </a:r>
            <a:endParaRPr/>
          </a:p>
        </p:txBody>
      </p:sp>
      <p:sp>
        <p:nvSpPr>
          <p:cNvPr id="896" name="Google Shape;896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 LLC</a:t>
            </a:r>
            <a:endParaRPr/>
          </a:p>
        </p:txBody>
      </p:sp>
      <p:sp>
        <p:nvSpPr>
          <p:cNvPr id="897" name="Google Shape;897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98" name="Google Shape;898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9" name="Google Shape;899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900" name="Google Shape;900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$44,014</a:t>
            </a:r>
            <a:endParaRPr/>
          </a:p>
        </p:txBody>
      </p:sp>
      <p:sp>
        <p:nvSpPr>
          <p:cNvPr id="901" name="Google Shape;901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" name="Google Shape;902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903" name="Google Shape;903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904" name="Google Shape;904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149</a:t>
            </a:r>
            <a:endParaRPr/>
          </a:p>
        </p:txBody>
      </p:sp>
      <p:sp>
        <p:nvSpPr>
          <p:cNvPr id="905" name="Google Shape;905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(55%)</a:t>
            </a:r>
            <a:endParaRPr/>
          </a:p>
        </p:txBody>
      </p:sp>
      <p:sp>
        <p:nvSpPr>
          <p:cNvPr id="906" name="Google Shape;906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907" name="Google Shape;907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908" name="Google Shape;908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(33%)</a:t>
            </a:r>
            <a:endParaRPr/>
          </a:p>
        </p:txBody>
      </p:sp>
      <p:sp>
        <p:nvSpPr>
          <p:cNvPr id="909" name="Google Shape;909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910" name="Google Shape;910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911" name="Google Shape;911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(11%)</a:t>
            </a:r>
            <a:endParaRPr/>
          </a:p>
        </p:txBody>
      </p:sp>
      <p:sp>
        <p:nvSpPr>
          <p:cNvPr id="912" name="Google Shape;912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913" name="Google Shape;913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4" name="Google Shape;914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(1%)</a:t>
            </a:r>
            <a:endParaRPr/>
          </a:p>
        </p:txBody>
      </p:sp>
      <p:sp>
        <p:nvSpPr>
          <p:cNvPr id="915" name="Google Shape;915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916" name="Google Shape;916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7" name="Google Shape;917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918" name="Google Shape;918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8.1%  ·  Declined: 85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2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" name="Google Shape;924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Cameron Brader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Individual agents ranked by YTD submissions  |  Agent = broker_contact on submission  |  Trend = MoM</a:t>
            </a:r>
            <a:endParaRPr/>
          </a:p>
        </p:txBody>
      </p:sp>
      <p:sp>
        <p:nvSpPr>
          <p:cNvPr id="926" name="Google Shape;926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927" name="Google Shape;927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928" name="Google Shape;928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929" name="Google Shape;929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930" name="Google Shape;930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931" name="Google Shape;931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" name="Google Shape;932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39" name="Google Shape;939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" name="Google Shape;941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James DeSantis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533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Frank Ribeiro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273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952" name="Google Shape;952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53" name="Google Shape;953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" name="Google Shape;954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 Shvedov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965" name="Google Shape;965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66" name="Google Shape;966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" name="Google Shape;967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Roman Ben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Holly Fawber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Northern Insurance Specialists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978" name="Google Shape;978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979" name="Google Shape;979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" name="Google Shape;980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19.6%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Milelli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991" name="Google Shape;991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92" name="Google Shape;992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" name="Google Shape;993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Zabala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Bolormaa C Ganbileg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Mogul Insurance Group Llc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8.5%</a:t>
            </a:r>
            <a:endParaRPr/>
          </a:p>
        </p:txBody>
      </p:sp>
      <p:sp>
        <p:nvSpPr>
          <p:cNvPr id="1004" name="Google Shape;1004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05" name="Google Shape;1005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" name="Google Shape;1006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Henry Cifuentes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My Va Insurance Llc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Aaron Rickabaugh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7" name="Google Shape;1017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18" name="Google Shape;1018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" name="Google Shape;1019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Nikitas Kasiotis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Argos Insurance Group, Llc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ALAIN SOLANO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SOLANO CONSULTANTS LLC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030" name="Google Shape;1030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31" name="Google Shape;1031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" name="Google Shape;1032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William Dominguez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Lux Insurance Llc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38" name="Google Shape;1038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Lakeisha Mclawhorn</a:t>
            </a:r>
            <a:endParaRPr/>
          </a:p>
        </p:txBody>
      </p:sp>
      <p:sp>
        <p:nvSpPr>
          <p:cNvPr id="1039" name="Google Shape;1039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040" name="Google Shape;1040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4" name="Google Shape;1044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" name="Google Shape;1045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Rudy Suarez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Donald N Mcculloh</a:t>
            </a:r>
            <a:endParaRPr/>
          </a:p>
        </p:txBody>
      </p:sp>
      <p:sp>
        <p:nvSpPr>
          <p:cNvPr id="1052" name="Google Shape;1052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Mcculloh Insurance Group LLC</a:t>
            </a:r>
            <a:endParaRPr/>
          </a:p>
        </p:txBody>
      </p:sp>
      <p:sp>
        <p:nvSpPr>
          <p:cNvPr id="1053" name="Google Shape;1053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57" name="Google Shape;1057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" name="Google Shape;1058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65" name="Google Shape;1065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" name="Google Shape;1067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Benjamin Brown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Rose Insurance Llc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Gurbhinder Brar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Square Brokerage Inc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8" name="Google Shape;1078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9" name="Google Shape;1079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0" name="Google Shape;1080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Timathee Asshur Ryazanov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Durham Insurance Group Inc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Deven Kumm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Ccs Insurance, Llc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091" name="Google Shape;1091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2" name="Google Shape;1092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3" name="Google Shape;1093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Brittany Smith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Gary McCarthy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1104" name="Google Shape;1104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05" name="Google Shape;1105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" name="Google Shape;1106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Cade Erwin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Laramie Smith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Fdi Management Group, Inc.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7" name="Google Shape;1117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18" name="Google Shape;1118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" name="Google Shape;1119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Yervand Ter-Ghahramanyan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9.5%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Nestor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Insurance Brokers Llc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1130" name="Google Shape;1130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1" name="Google Shape;1131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2" name="Google Shape;1132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Darrell Rawlinson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Anyelo Gonzalez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3" name="Google Shape;1143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44" name="Google Shape;1144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5" name="Google Shape;1145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Maria Del Carmen Rodrigu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Forward Insurance Group Ll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49" name="Google Shape;1149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1150" name="Google Shape;1150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51" name="Google Shape;1151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Armenakian</a:t>
            </a:r>
            <a:endParaRPr/>
          </a:p>
        </p:txBody>
      </p:sp>
      <p:sp>
        <p:nvSpPr>
          <p:cNvPr id="1152" name="Google Shape;1152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153" name="Google Shape;1153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154" name="Google Shape;1154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55" name="Google Shape;1155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56" name="Google Shape;1156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57" name="Google Shape;1157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8" name="Google Shape;1158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Enver Berker Hazar</a:t>
            </a:r>
            <a:endParaRPr/>
          </a:p>
        </p:txBody>
      </p:sp>
      <p:sp>
        <p:nvSpPr>
          <p:cNvPr id="1159" name="Google Shape;1159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Hazar Financial Services LLC</a:t>
            </a:r>
            <a:endParaRPr/>
          </a:p>
        </p:txBody>
      </p:sp>
      <p:sp>
        <p:nvSpPr>
          <p:cNvPr id="1160" name="Google Shape;1160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161" name="Google Shape;1161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62" name="Google Shape;1162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63" name="Google Shape;1163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64" name="Google Shape;1164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Milena Belorusets</a:t>
            </a:r>
            <a:endParaRPr/>
          </a:p>
        </p:txBody>
      </p:sp>
      <p:sp>
        <p:nvSpPr>
          <p:cNvPr id="1165" name="Google Shape;1165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1166" name="Google Shape;1166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167" name="Google Shape;1167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68" name="Google Shape;1168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69" name="Google Shape;1169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70" name="Google Shape;1170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1" name="Google Shape;1171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Stephen Mullary</a:t>
            </a:r>
            <a:endParaRPr/>
          </a:p>
        </p:txBody>
      </p:sp>
      <p:sp>
        <p:nvSpPr>
          <p:cNvPr id="1172" name="Google Shape;1172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Insurance Connectio</a:t>
            </a:r>
            <a:endParaRPr/>
          </a:p>
        </p:txBody>
      </p:sp>
      <p:sp>
        <p:nvSpPr>
          <p:cNvPr id="1173" name="Google Shape;1173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174" name="Google Shape;1174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75" name="Google Shape;1175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176" name="Google Shape;1176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77" name="Google Shape;1177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Avra Aubin</a:t>
            </a:r>
            <a:endParaRPr/>
          </a:p>
        </p:txBody>
      </p:sp>
      <p:sp>
        <p:nvSpPr>
          <p:cNvPr id="1178" name="Google Shape;1178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Owners Liability Team</a:t>
            </a:r>
            <a:endParaRPr/>
          </a:p>
        </p:txBody>
      </p:sp>
      <p:sp>
        <p:nvSpPr>
          <p:cNvPr id="1179" name="Google Shape;1179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180" name="Google Shape;1180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81" name="Google Shape;1181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1182" name="Google Shape;1182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83" name="Google Shape;1183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3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87" name="Shape 1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Google Shape;1188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9" name="Google Shape;1189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Jan–Jun 2026  |  Standouts and agencies needing attention</a:t>
            </a:r>
            <a:endParaRPr/>
          </a:p>
        </p:txBody>
      </p:sp>
      <p:sp>
        <p:nvSpPr>
          <p:cNvPr id="1191" name="Google Shape;1191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2" name="Google Shape;1192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93" name="Google Shape;1193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4" name="Google Shape;1194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95" name="Google Shape;1195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96" name="Google Shape;1196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$375,395  |  Subs 321  |  Binds 22  |  HR 6.9%</a:t>
            </a:r>
            <a:endParaRPr/>
          </a:p>
        </p:txBody>
      </p:sp>
      <p:sp>
        <p:nvSpPr>
          <p:cNvPr id="1198" name="Google Shape;1198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6.9% (portfolio avg: 4.1%)  |  $375,395 YTD GWP</a:t>
            </a:r>
            <a:endParaRPr/>
          </a:p>
        </p:txBody>
      </p:sp>
      <p:sp>
        <p:nvSpPr>
          <p:cNvPr id="1199" name="Google Shape;1199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00" name="Google Shape;1200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201" name="Google Shape;1201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$472,177  |  Subs 215  |  Binds 9  |  HR 4.2%</a:t>
            </a:r>
            <a:endParaRPr/>
          </a:p>
        </p:txBody>
      </p:sp>
      <p:sp>
        <p:nvSpPr>
          <p:cNvPr id="1202" name="Google Shape;1202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4.2% (portfolio avg: 4.1%)  |  $472,177 YTD GWP</a:t>
            </a:r>
            <a:endParaRPr/>
          </a:p>
        </p:txBody>
      </p:sp>
      <p:sp>
        <p:nvSpPr>
          <p:cNvPr id="1203" name="Google Shape;1203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04" name="Google Shape;1204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205" name="Google Shape;1205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$234,614  |  Subs 536  |  Binds 8  |  HR 1.5%</a:t>
            </a:r>
            <a:endParaRPr/>
          </a:p>
        </p:txBody>
      </p:sp>
      <p:sp>
        <p:nvSpPr>
          <p:cNvPr id="1206" name="Google Shape;1206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$234,614 YTD GWP  |  8 binds in Q1</a:t>
            </a:r>
            <a:endParaRPr/>
          </a:p>
        </p:txBody>
      </p:sp>
      <p:sp>
        <p:nvSpPr>
          <p:cNvPr id="1207" name="Google Shape;1207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08" name="Google Shape;1208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209" name="Google Shape;1209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$50,422  |  Subs 51  |  Binds 10  |  HR 19.6%</a:t>
            </a:r>
            <a:endParaRPr/>
          </a:p>
        </p:txBody>
      </p:sp>
      <p:sp>
        <p:nvSpPr>
          <p:cNvPr id="1210" name="Google Shape;1210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19.6% (portfolio avg: 4.1%)  |  10 binds in Q1</a:t>
            </a:r>
            <a:endParaRPr/>
          </a:p>
        </p:txBody>
      </p:sp>
      <p:sp>
        <p:nvSpPr>
          <p:cNvPr id="1211" name="Google Shape;1211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12" name="Google Shape;1212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Gesla Insurance Agency Inc</a:t>
            </a:r>
            <a:endParaRPr/>
          </a:p>
        </p:txBody>
      </p:sp>
      <p:sp>
        <p:nvSpPr>
          <p:cNvPr id="1213" name="Google Shape;1213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12  |  Binds 0  |  HR 0.0%</a:t>
            </a:r>
            <a:endParaRPr/>
          </a:p>
        </p:txBody>
      </p:sp>
      <p:sp>
        <p:nvSpPr>
          <p:cNvPr id="1214" name="Google Shape;1214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up 500% MoM</a:t>
            </a:r>
            <a:endParaRPr/>
          </a:p>
        </p:txBody>
      </p:sp>
      <p:sp>
        <p:nvSpPr>
          <p:cNvPr id="1215" name="Google Shape;1215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16" name="Google Shape;1216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1217" name="Google Shape;1217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89  |  Binds 0  |  HR 0.0%</a:t>
            </a:r>
            <a:endParaRPr/>
          </a:p>
        </p:txBody>
      </p:sp>
      <p:sp>
        <p:nvSpPr>
          <p:cNvPr id="1218" name="Google Shape;1218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 submissions with 0 binds - zero conversion  |  60 quotes generated but 0 converted to binds</a:t>
            </a:r>
            <a:endParaRPr/>
          </a:p>
        </p:txBody>
      </p:sp>
      <p:sp>
        <p:nvSpPr>
          <p:cNvPr id="1219" name="Google Shape;1219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220" name="Google Shape;1220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SOLANO CONSULTANTS LLC</a:t>
            </a:r>
            <a:endParaRPr/>
          </a:p>
        </p:txBody>
      </p:sp>
      <p:sp>
        <p:nvSpPr>
          <p:cNvPr id="1221" name="Google Shape;1221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$23,279  |  Subs 43  |  Binds 1  |  HR 2.3%</a:t>
            </a:r>
            <a:endParaRPr/>
          </a:p>
        </p:txBody>
      </p:sp>
      <p:sp>
        <p:nvSpPr>
          <p:cNvPr id="1222" name="Google Shape;1222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2.3% on 43 subs  |  Cancellations are 1418% of new business ($38,603 vs $2,722)</a:t>
            </a:r>
            <a:endParaRPr/>
          </a:p>
        </p:txBody>
      </p:sp>
      <p:sp>
        <p:nvSpPr>
          <p:cNvPr id="1223" name="Google Shape;1223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224" name="Google Shape;1224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Argos Insurance Group, Llc</a:t>
            </a:r>
            <a:endParaRPr/>
          </a:p>
        </p:txBody>
      </p:sp>
      <p:sp>
        <p:nvSpPr>
          <p:cNvPr id="1225" name="Google Shape;1225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$21,797  |  Subs 45  |  Binds 0  |  HR 0.0%</a:t>
            </a:r>
            <a:endParaRPr/>
          </a:p>
        </p:txBody>
      </p:sp>
      <p:sp>
        <p:nvSpPr>
          <p:cNvPr id="1226" name="Google Shape;1226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 submissions with 0 binds - zero conversion  |  Submissions dropped 56% MoM (16 -&gt; 7)</a:t>
            </a:r>
            <a:endParaRPr/>
          </a:p>
        </p:txBody>
      </p:sp>
      <p:sp>
        <p:nvSpPr>
          <p:cNvPr id="1227" name="Google Shape;1227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28" name="Google Shape;1228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Rose Insurance Llc</a:t>
            </a:r>
            <a:endParaRPr/>
          </a:p>
        </p:txBody>
      </p:sp>
      <p:sp>
        <p:nvSpPr>
          <p:cNvPr id="1229" name="Google Shape;1229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39  |  Binds 0  |  HR 0.0%</a:t>
            </a:r>
            <a:endParaRPr/>
          </a:p>
        </p:txBody>
      </p:sp>
      <p:sp>
        <p:nvSpPr>
          <p:cNvPr id="1230" name="Google Shape;1230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 submissions with 0 binds - zero conversion  |  Submissions dropped 62% MoM (8 -&gt; 3)</a:t>
            </a:r>
            <a:endParaRPr/>
          </a:p>
        </p:txBody>
      </p:sp>
      <p:sp>
        <p:nvSpPr>
          <p:cNvPr id="1231" name="Google Shape;1231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32" name="Google Shape;1232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Fdi Management Group, Inc.</a:t>
            </a:r>
            <a:endParaRPr/>
          </a:p>
        </p:txBody>
      </p:sp>
      <p:sp>
        <p:nvSpPr>
          <p:cNvPr id="1233" name="Google Shape;1233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$0  |  Subs 40  |  Binds 0  |  HR 0.0%</a:t>
            </a:r>
            <a:endParaRPr/>
          </a:p>
        </p:txBody>
      </p:sp>
      <p:sp>
        <p:nvSpPr>
          <p:cNvPr id="1234" name="Google Shape;1234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with 0 binds - zero conversion  |  25 quotes generated but 0 converted to binds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38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0" name="Google Shape;1240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Newly Appointed in My Portfolio — Cameron Brader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assigned to this BDA for onboarding in 2026  |  Production metrics since assignment date</a:t>
            </a:r>
            <a:endParaRPr/>
          </a:p>
        </p:txBody>
      </p:sp>
      <p:sp>
        <p:nvSpPr>
          <p:cNvPr id="1242" name="Google Shape;1242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43" name="Google Shape;1243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Q2</a:t>
            </a:r>
            <a:endParaRPr/>
          </a:p>
        </p:txBody>
      </p:sp>
      <p:sp>
        <p:nvSpPr>
          <p:cNvPr id="1244" name="Google Shape;1244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45" name="Google Shape;1245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14d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46" name="Google Shape;1246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3/3 appointed agencies have submitted (100%)  •  1/3 have bound (33%)  •  Total bound: 10  •  Total GWP: $41,481</a:t>
            </a:r>
            <a:endParaRPr/>
          </a:p>
        </p:txBody>
      </p:sp>
      <p:sp>
        <p:nvSpPr>
          <p:cNvPr id="1248" name="Google Shape;1248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9" name="Google Shape;1249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51" name="Google Shape;1251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52" name="Google Shape;1252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53" name="Google Shape;1253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54" name="Google Shape;1254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55" name="Google Shape;1255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56" name="Google Shape;1256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57" name="Google Shape;1257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8" name="Google Shape;1258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Crotty Insurance Agency, Inc.</a:t>
            </a:r>
            <a:endParaRPr/>
          </a:p>
        </p:txBody>
      </p:sp>
      <p:sp>
        <p:nvSpPr>
          <p:cNvPr id="1259" name="Google Shape;1259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2026-03-31</a:t>
            </a:r>
            <a:endParaRPr/>
          </a:p>
        </p:txBody>
      </p:sp>
      <p:sp>
        <p:nvSpPr>
          <p:cNvPr id="1260" name="Google Shape;1260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261" name="Google Shape;1261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27d</a:t>
            </a:r>
            <a:endParaRPr/>
          </a:p>
        </p:txBody>
      </p:sp>
      <p:sp>
        <p:nvSpPr>
          <p:cNvPr id="1262" name="Google Shape;1262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3" name="Google Shape;1263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4" name="Google Shape;1264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5" name="Google Shape;1265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266" name="Google Shape;1266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2026-03-24</a:t>
            </a:r>
            <a:endParaRPr/>
          </a:p>
        </p:txBody>
      </p:sp>
      <p:sp>
        <p:nvSpPr>
          <p:cNvPr id="1267" name="Google Shape;1267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1268" name="Google Shape;1268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13d</a:t>
            </a:r>
            <a:endParaRPr/>
          </a:p>
        </p:txBody>
      </p:sp>
      <p:sp>
        <p:nvSpPr>
          <p:cNvPr id="1269" name="Google Shape;1269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270" name="Google Shape;1270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14d</a:t>
            </a:r>
            <a:endParaRPr/>
          </a:p>
        </p:txBody>
      </p:sp>
      <p:sp>
        <p:nvSpPr>
          <p:cNvPr id="1271" name="Google Shape;1271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$41,481</a:t>
            </a:r>
            <a:endParaRPr/>
          </a:p>
        </p:txBody>
      </p:sp>
      <p:sp>
        <p:nvSpPr>
          <p:cNvPr id="1272" name="Google Shape;1272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3" name="Google Shape;1273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New Rochelle Agencies Corp</a:t>
            </a:r>
            <a:endParaRPr/>
          </a:p>
        </p:txBody>
      </p:sp>
      <p:sp>
        <p:nvSpPr>
          <p:cNvPr id="1274" name="Google Shape;1274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2026-03-11</a:t>
            </a:r>
            <a:endParaRPr/>
          </a:p>
        </p:txBody>
      </p:sp>
      <p:sp>
        <p:nvSpPr>
          <p:cNvPr id="1275" name="Google Shape;1275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276" name="Google Shape;1276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6d</a:t>
            </a:r>
            <a:endParaRPr/>
          </a:p>
        </p:txBody>
      </p:sp>
      <p:sp>
        <p:nvSpPr>
          <p:cNvPr id="1277" name="Google Shape;1277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78" name="Google Shape;1278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79" name="Google Shape;1279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80" name="Google Shape;1280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84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6" name="Google Shape;1286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87" name="Google Shape;1287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Portfolio  |  Jan–Jun 2026  |  Strengths, gaps, and ranked action items</a:t>
            </a:r>
            <a:endParaRPr/>
          </a:p>
        </p:txBody>
      </p:sp>
      <p:sp>
        <p:nvSpPr>
          <p:cNvPr id="1288" name="Google Shape;1288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9" name="Google Shape;1289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90" name="Google Shape;1290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91" name="Google Shape;1291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(World Insurance Associate, Transportation Risk Manag, Bond Insurance Brokerage ) drive $1,082,187 (47%) of portfolio YTD GWP</a:t>
            </a:r>
            <a:endParaRPr/>
          </a:p>
        </p:txBody>
      </p:sp>
      <p:sp>
        <p:nvSpPr>
          <p:cNvPr id="1292" name="Google Shape;1292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93" name="Google Shape;1293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M G I Brokerage Inc (40.0%), Michael Pigott Agenc (33.3%), Jabbarco Insurance G (19.6%)</a:t>
            </a:r>
            <a:endParaRPr/>
          </a:p>
        </p:txBody>
      </p:sp>
      <p:sp>
        <p:nvSpPr>
          <p:cNvPr id="1294" name="Google Shape;1294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95" name="Google Shape;1295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 agencies converting submissions to bound business in Jan–Jun 2026</a:t>
            </a:r>
            <a:endParaRPr/>
          </a:p>
        </p:txBody>
      </p:sp>
      <p:sp>
        <p:nvSpPr>
          <p:cNvPr id="1296" name="Google Shape;1296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97" name="Google Shape;1297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2,427 total submissions across 49 active agencies</a:t>
            </a:r>
            <a:endParaRPr/>
          </a:p>
        </p:txBody>
      </p:sp>
      <p:sp>
        <p:nvSpPr>
          <p:cNvPr id="1298" name="Google Shape;1298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9" name="Google Shape;1299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300" name="Google Shape;1300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301" name="Google Shape;1301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agencies with zero Jan–Jun 2026 activity: Trinity Ins Services</a:t>
            </a:r>
            <a:endParaRPr/>
          </a:p>
        </p:txBody>
      </p:sp>
      <p:sp>
        <p:nvSpPr>
          <p:cNvPr id="1302" name="Google Shape;1302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303" name="Google Shape;1303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 agencies submitting but 0 binds (410 subs): Gia Group Llc (89), Argos Insurance Grou (45)</a:t>
            </a:r>
            <a:endParaRPr/>
          </a:p>
        </p:txBody>
      </p:sp>
      <p:sp>
        <p:nvSpPr>
          <p:cNvPr id="1304" name="Google Shape;1304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305" name="Google Shape;1305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Bond Insurance Broke (1.5%), Z&amp;H Brokerage Inc (2.0%), My Va Insurance Llc (2.2%)</a:t>
            </a:r>
            <a:endParaRPr/>
          </a:p>
        </p:txBody>
      </p:sp>
      <p:sp>
        <p:nvSpPr>
          <p:cNvPr id="1306" name="Google Shape;1306;p1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307" name="Google Shape;1307;p12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4.1% — below 5-8% target</a:t>
            </a:r>
            <a:endParaRPr/>
          </a:p>
        </p:txBody>
      </p:sp>
      <p:sp>
        <p:nvSpPr>
          <p:cNvPr id="1308" name="Google Shape;1308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9" name="Google Shape;1309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310" name="Google Shape;1310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311" name="Google Shape;1311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Close Quote-to-Bind Gap</a:t>
            </a:r>
            <a:endParaRPr/>
          </a:p>
        </p:txBody>
      </p:sp>
      <p:sp>
        <p:nvSpPr>
          <p:cNvPr id="1312" name="Google Shape;1312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 agencies have 278 quotes but 0 binds: Gia Group Llc (60q), Argos Insurance Group, Ll (32q), Square Brokerage Inc (30q). Follow up on pricing, coverage, response time gaps.</a:t>
            </a:r>
            <a:endParaRPr/>
          </a:p>
        </p:txBody>
      </p:sp>
      <p:sp>
        <p:nvSpPr>
          <p:cNvPr id="1313" name="Google Shape;1313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314" name="Google Shape;1314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315" name="Google Shape;1315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agencies with 30+ subs and some binds but &lt;5% HR: Bond Insurance Broke (536s/8b), World Insurance Asso (215s/9b), AGS Insurance Group  (82s/4b). Small HR improvements on large volume = significant premium lift.</a:t>
            </a:r>
            <a:endParaRPr/>
          </a:p>
        </p:txBody>
      </p:sp>
      <p:sp>
        <p:nvSpPr>
          <p:cNvPr id="1316" name="Google Shape;1316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17" name="Google Shape;1317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Lift Portfolio Hit Ratio to 5%</a:t>
            </a:r>
            <a:endParaRPr/>
          </a:p>
        </p:txBody>
      </p:sp>
      <p:sp>
        <p:nvSpPr>
          <p:cNvPr id="1318" name="Google Shape;1318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Current: 4.1% (99 binds / 2,427 subs). Need 22 more binds. Focus on submission quality and appetite education.</a:t>
            </a:r>
            <a:endParaRPr/>
          </a:p>
        </p:txBody>
      </p:sp>
      <p:sp>
        <p:nvSpPr>
          <p:cNvPr id="1319" name="Google Shape;1319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320" name="Google Shape;1320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321" name="Google Shape;1321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agencies with 20+ subs but &lt;3% HR: Bond Insurance Broke (1.5%), Z&amp;H Brokerage Inc (2.0%), My Va Insurance Llc (2.2%). Conduct submission quality training to lift conversion 2-3 points.</a:t>
            </a:r>
            <a:endParaRPr/>
          </a:p>
        </p:txBody>
      </p:sp>
      <p:sp>
        <p:nvSpPr>
          <p:cNvPr id="1322" name="Google Shape;1322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323" name="Google Shape;1323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Convert Zero-Bind Agencies</a:t>
            </a:r>
            <a:endParaRPr/>
          </a:p>
        </p:txBody>
      </p:sp>
      <p:sp>
        <p:nvSpPr>
          <p:cNvPr id="1324" name="Google Shape;1324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agencies with 378 submissions but 0 binds. Top: Gia Group Llc (89), Argos Insurance Group, Ll (45), Fdi Management Group, Inc (40). Even 5% conversion = ~$283,500 new premium.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28" name="Shape 1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9" name="Google Shape;1329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0" name="Google Shape;1330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 |  Last 25 Bound Submissions  |  99 Total Bound in Portfolio</a:t>
            </a:r>
            <a:endParaRPr/>
          </a:p>
        </p:txBody>
      </p:sp>
      <p:sp>
        <p:nvSpPr>
          <p:cNvPr id="1332" name="Google Shape;1332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33" name="Google Shape;1333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34" name="Google Shape;1334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39" name="Google Shape;1339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0" name="Google Shape;1340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263032336761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BEKJON INC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$3,969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30, 2026</a:t>
            </a:r>
            <a:endParaRPr/>
          </a:p>
        </p:txBody>
      </p:sp>
      <p:sp>
        <p:nvSpPr>
          <p:cNvPr id="1347" name="Google Shape;1347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8" name="Google Shape;1348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49" name="Google Shape;1349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263165794573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EDISH LLC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Milelli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$22,403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29, 2026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263354668212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SURTEX LOGISTICS LLC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 Shvedov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$10,370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29, 2026</a:t>
            </a:r>
            <a:endParaRPr/>
          </a:p>
        </p:txBody>
      </p:sp>
      <p:sp>
        <p:nvSpPr>
          <p:cNvPr id="1362" name="Google Shape;1362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3" name="Google Shape;1363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64" name="Google Shape;1364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252085530802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SPEEDWAY TRANS CARGO LLC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Frank Ribeiro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$81,240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28, 2026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263011913966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FAST TRACK EXPRESS TRANSPORT LLC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James DeSantis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$56,778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77" name="Google Shape;1377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8" name="Google Shape;1378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79" name="Google Shape;1379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263040496627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TS TRANSPORTATION LLC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Edwin Ramos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$2,245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269820493233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OLIMJON NOMAZOV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$4,497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392" name="Google Shape;1392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3" name="Google Shape;1393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94" name="Google Shape;1394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258460674396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ASP TRANSPORT LLC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Milelli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$23,550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21, 2026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265926486466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BUROQ LLC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Frank Ribeiro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$21,270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407" name="Google Shape;1407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8" name="Google Shape;1408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409" name="Google Shape;1409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264570908915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SMART DELIVERY AND COURIER SERVI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Gene Shvedov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$23,344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19, 2026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253445080668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Ccs Insurance, Llc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 &amp; J EXPRESS LLC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Deven Kumm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$12,076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22" name="Google Shape;1422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3" name="Google Shape;1423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424" name="Google Shape;1424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251723976240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Northern Insurance Specialists LLC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5150 LOGISTICS LLC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Zachary Wagner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$19,239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18, 2026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262924661783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 TRIPLE D LOGISTICS LLC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Frank Ribeiro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$3,185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15, 2026</a:t>
            </a:r>
            <a:endParaRPr/>
          </a:p>
        </p:txBody>
      </p:sp>
      <p:sp>
        <p:nvSpPr>
          <p:cNvPr id="1437" name="Google Shape;1437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8" name="Google Shape;1438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39" name="Google Shape;1439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265900046429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Insurance Brokers Llc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RB TRUCKING AND LOGISTICS LLC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Randy Nestor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$45,528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260964878942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gyng logistics llc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Craig Erwin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$3,186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14, 2026</a:t>
            </a:r>
            <a:endParaRPr/>
          </a:p>
        </p:txBody>
      </p:sp>
      <p:sp>
        <p:nvSpPr>
          <p:cNvPr id="1452" name="Google Shape;1452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3" name="Google Shape;1453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54" name="Google Shape;1454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268596316565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Mogul Insurance Group Llc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Uudrog Corp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Bolormaa C Ganbileg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$4,266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266802150889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BROSKEE TRANSPORT LLC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Edwin Ramos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$24,618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67" name="Google Shape;1467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8" name="Google Shape;1468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69" name="Google Shape;1469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266557195862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ASY TRUCKING LLC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Cade Erwin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$43,631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08, 2026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263461522795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HALIM DESIGN LLC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Akbarjon Djabbarov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$8,217</a:t>
            </a:r>
            <a:endParaRPr/>
          </a:p>
        </p:txBody>
      </p:sp>
      <p:sp>
        <p:nvSpPr>
          <p:cNvPr id="1481" name="Google Shape;1481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06, 2026</a:t>
            </a:r>
            <a:endParaRPr/>
          </a:p>
        </p:txBody>
      </p:sp>
      <p:sp>
        <p:nvSpPr>
          <p:cNvPr id="1482" name="Google Shape;1482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3" name="Google Shape;1483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84" name="Google Shape;1484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267195806734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MONDFRUIT GROUP CORP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Lakeisha Mclawhorn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$21,216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01, 2026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266027929393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HIGHLINE AUTO TRANSPORT LLC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Jeffery Scafuro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$41,560</a:t>
            </a:r>
            <a:endParaRPr/>
          </a:p>
        </p:txBody>
      </p:sp>
      <p:sp>
        <p:nvSpPr>
          <p:cNvPr id="1496" name="Google Shape;1496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30, 2026</a:t>
            </a:r>
            <a:endParaRPr/>
          </a:p>
        </p:txBody>
      </p:sp>
      <p:sp>
        <p:nvSpPr>
          <p:cNvPr id="1497" name="Google Shape;1497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8" name="Google Shape;1498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99" name="Google Shape;1499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263337182051</a:t>
            </a:r>
            <a:endParaRPr/>
          </a:p>
        </p:txBody>
      </p:sp>
      <p:sp>
        <p:nvSpPr>
          <p:cNvPr id="1500" name="Google Shape;1500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</a:t>
            </a:r>
            <a:endParaRPr/>
          </a:p>
        </p:txBody>
      </p:sp>
      <p:sp>
        <p:nvSpPr>
          <p:cNvPr id="1501" name="Google Shape;1501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AUGUSTA TRANSPORT</a:t>
            </a:r>
            <a:endParaRPr/>
          </a:p>
        </p:txBody>
      </p:sp>
      <p:sp>
        <p:nvSpPr>
          <p:cNvPr id="1502" name="Google Shape;1502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</a:t>
            </a:r>
            <a:endParaRPr/>
          </a:p>
        </p:txBody>
      </p:sp>
      <p:sp>
        <p:nvSpPr>
          <p:cNvPr id="1503" name="Google Shape;1503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</p:txBody>
      </p:sp>
      <p:sp>
        <p:nvSpPr>
          <p:cNvPr id="1504" name="Google Shape;1504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30, 2026</a:t>
            </a:r>
            <a:endParaRPr/>
          </a:p>
        </p:txBody>
      </p:sp>
      <p:sp>
        <p:nvSpPr>
          <p:cNvPr id="1505" name="Google Shape;1505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506" name="Google Shape;1506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265127943011</a:t>
            </a:r>
            <a:endParaRPr/>
          </a:p>
        </p:txBody>
      </p:sp>
      <p:sp>
        <p:nvSpPr>
          <p:cNvPr id="1507" name="Google Shape;1507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1508" name="Google Shape;1508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SOA MOTIONS LLC</a:t>
            </a:r>
            <a:endParaRPr/>
          </a:p>
        </p:txBody>
      </p:sp>
      <p:sp>
        <p:nvSpPr>
          <p:cNvPr id="1509" name="Google Shape;1509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Milelli</a:t>
            </a:r>
            <a:endParaRPr/>
          </a:p>
        </p:txBody>
      </p:sp>
      <p:sp>
        <p:nvSpPr>
          <p:cNvPr id="1510" name="Google Shape;1510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$24,695</a:t>
            </a:r>
            <a:endParaRPr/>
          </a:p>
        </p:txBody>
      </p:sp>
      <p:sp>
        <p:nvSpPr>
          <p:cNvPr id="1511" name="Google Shape;1511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29, 2026</a:t>
            </a:r>
            <a:endParaRPr/>
          </a:p>
        </p:txBody>
      </p:sp>
      <p:sp>
        <p:nvSpPr>
          <p:cNvPr id="1512" name="Google Shape;1512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3" name="Google Shape;1513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514" name="Google Shape;1514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261153401288</a:t>
            </a:r>
            <a:endParaRPr/>
          </a:p>
        </p:txBody>
      </p:sp>
      <p:sp>
        <p:nvSpPr>
          <p:cNvPr id="1515" name="Google Shape;1515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Brown's Ins Agency Inc</a:t>
            </a:r>
            <a:endParaRPr/>
          </a:p>
        </p:txBody>
      </p:sp>
      <p:sp>
        <p:nvSpPr>
          <p:cNvPr id="1516" name="Google Shape;1516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AGRON TRANSPORT LLC</a:t>
            </a:r>
            <a:endParaRPr/>
          </a:p>
        </p:txBody>
      </p:sp>
      <p:sp>
        <p:nvSpPr>
          <p:cNvPr id="1517" name="Google Shape;1517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Holly Bedisky</a:t>
            </a:r>
            <a:endParaRPr/>
          </a:p>
        </p:txBody>
      </p:sp>
      <p:sp>
        <p:nvSpPr>
          <p:cNvPr id="1518" name="Google Shape;1518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1519" name="Google Shape;1519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29, 2026</a:t>
            </a:r>
            <a:endParaRPr/>
          </a:p>
        </p:txBody>
      </p:sp>
      <p:sp>
        <p:nvSpPr>
          <p:cNvPr id="1520" name="Google Shape;1520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521" name="Google Shape;1521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266532830088</a:t>
            </a:r>
            <a:endParaRPr/>
          </a:p>
        </p:txBody>
      </p:sp>
      <p:sp>
        <p:nvSpPr>
          <p:cNvPr id="1522" name="Google Shape;1522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Lux Insurance Llc</a:t>
            </a:r>
            <a:endParaRPr/>
          </a:p>
        </p:txBody>
      </p:sp>
      <p:sp>
        <p:nvSpPr>
          <p:cNvPr id="1523" name="Google Shape;1523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KENAMS LLC</a:t>
            </a:r>
            <a:endParaRPr/>
          </a:p>
        </p:txBody>
      </p:sp>
      <p:sp>
        <p:nvSpPr>
          <p:cNvPr id="1524" name="Google Shape;1524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William Dominguez</a:t>
            </a:r>
            <a:endParaRPr/>
          </a:p>
        </p:txBody>
      </p:sp>
      <p:sp>
        <p:nvSpPr>
          <p:cNvPr id="1525" name="Google Shape;1525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$36,979</a:t>
            </a:r>
            <a:endParaRPr/>
          </a:p>
        </p:txBody>
      </p:sp>
      <p:sp>
        <p:nvSpPr>
          <p:cNvPr id="1526" name="Google Shape;1526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28, 2026</a:t>
            </a:r>
            <a:endParaRPr/>
          </a:p>
        </p:txBody>
      </p:sp>
      <p:sp>
        <p:nvSpPr>
          <p:cNvPr id="1527" name="Google Shape;1527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8" name="Google Shape;1528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529" name="Google Shape;1529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$565,764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33" name="Shape 1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Google Shape;1534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5" name="Google Shape;1535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 |  Active in-force policies expiring through Aug 30, 2026</a:t>
            </a:r>
            <a:endParaRPr/>
          </a:p>
        </p:txBody>
      </p:sp>
      <p:sp>
        <p:nvSpPr>
          <p:cNvPr id="1537" name="Google Shape;1537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38" name="Google Shape;1538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$128,027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39" name="Google Shape;1539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40" name="Google Shape;1540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41" name="Google Shape;1541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42" name="Google Shape;1542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3" name="Google Shape;1543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52" name="Google Shape;1552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3" name="Google Shape;1553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251697655578</a:t>
            </a:r>
            <a:endParaRPr/>
          </a:p>
        </p:txBody>
      </p:sp>
      <p:sp>
        <p:nvSpPr>
          <p:cNvPr id="1555" name="Google Shape;1555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RN TRANSPORT SERVICE INC</a:t>
            </a:r>
            <a:endParaRPr/>
          </a:p>
        </p:txBody>
      </p:sp>
      <p:sp>
        <p:nvSpPr>
          <p:cNvPr id="1556" name="Google Shape;1556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2026-06-04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$3,977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MD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250942353301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LJP BOX TRUCK LLC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2026-06-12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11d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$911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569" name="Google Shape;1569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0" name="Google Shape;1570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255235012023</a:t>
            </a:r>
            <a:endParaRPr/>
          </a:p>
        </p:txBody>
      </p:sp>
      <p:sp>
        <p:nvSpPr>
          <p:cNvPr id="1572" name="Google Shape;1572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CROSSWAY GROUP LLC</a:t>
            </a:r>
            <a:endParaRPr/>
          </a:p>
        </p:txBody>
      </p:sp>
      <p:sp>
        <p:nvSpPr>
          <p:cNvPr id="1573" name="Google Shape;1573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2026-06-17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16d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Forward Insurance Group Ll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259847234487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 &amp; VENTURA TRUCKING LLC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2026-06-20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19d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$48,926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586" name="Google Shape;1586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7" name="Google Shape;1587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My Va Insurance Llc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253494692346</a:t>
            </a:r>
            <a:endParaRPr/>
          </a:p>
        </p:txBody>
      </p:sp>
      <p:sp>
        <p:nvSpPr>
          <p:cNvPr id="1589" name="Google Shape;1589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SB TRANSPORTATION INC</a:t>
            </a:r>
            <a:endParaRPr/>
          </a:p>
        </p:txBody>
      </p:sp>
      <p:sp>
        <p:nvSpPr>
          <p:cNvPr id="1590" name="Google Shape;1590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2026-06-24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23d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$1,980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255036814038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DIXON SOLUTIONS LLC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2026-06-30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29d</a:t>
            </a:r>
            <a:endParaRPr/>
          </a:p>
        </p:txBody>
      </p:sp>
      <p:sp>
        <p:nvSpPr>
          <p:cNvPr id="1600" name="Google Shape;1600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IL</a:t>
            </a:r>
            <a:endParaRPr/>
          </a:p>
        </p:txBody>
      </p:sp>
      <p:sp>
        <p:nvSpPr>
          <p:cNvPr id="1603" name="Google Shape;1603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4" name="Google Shape;1604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605" name="Google Shape;1605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254008084121</a:t>
            </a:r>
            <a:endParaRPr/>
          </a:p>
        </p:txBody>
      </p:sp>
      <p:sp>
        <p:nvSpPr>
          <p:cNvPr id="1606" name="Google Shape;1606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EAST DA WEST LLC</a:t>
            </a:r>
            <a:endParaRPr/>
          </a:p>
        </p:txBody>
      </p:sp>
      <p:sp>
        <p:nvSpPr>
          <p:cNvPr id="1607" name="Google Shape;1607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2026-06-30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29d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610" name="Google Shape;1610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$1,822</a:t>
            </a:r>
            <a:endParaRPr/>
          </a:p>
        </p:txBody>
      </p:sp>
      <p:sp>
        <p:nvSpPr>
          <p:cNvPr id="1611" name="Google Shape;1611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12" name="Google Shape;1612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1613" name="Google Shape;1613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256291836103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393 ROADWAYS LLC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2026-07-10</a:t>
            </a:r>
            <a:endParaRPr/>
          </a:p>
        </p:txBody>
      </p:sp>
      <p:sp>
        <p:nvSpPr>
          <p:cNvPr id="1616" name="Google Shape;1616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39d</a:t>
            </a:r>
            <a:endParaRPr/>
          </a:p>
        </p:txBody>
      </p:sp>
      <p:sp>
        <p:nvSpPr>
          <p:cNvPr id="1617" name="Google Shape;1617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18" name="Google Shape;1618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$809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620" name="Google Shape;1620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1" name="Google Shape;1621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622" name="Google Shape;1622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255142717595</a:t>
            </a:r>
            <a:endParaRPr/>
          </a:p>
        </p:txBody>
      </p:sp>
      <p:sp>
        <p:nvSpPr>
          <p:cNvPr id="1623" name="Google Shape;1623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CYNTHIA VILLANUEVA ROSALES</a:t>
            </a:r>
            <a:endParaRPr/>
          </a:p>
        </p:txBody>
      </p:sp>
      <p:sp>
        <p:nvSpPr>
          <p:cNvPr id="1624" name="Google Shape;1624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2026-07-20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49d</a:t>
            </a:r>
            <a:endParaRPr/>
          </a:p>
        </p:txBody>
      </p:sp>
      <p:sp>
        <p:nvSpPr>
          <p:cNvPr id="1626" name="Google Shape;1626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27" name="Google Shape;1627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$8,184</a:t>
            </a:r>
            <a:endParaRPr/>
          </a:p>
        </p:txBody>
      </p:sp>
      <p:sp>
        <p:nvSpPr>
          <p:cNvPr id="1628" name="Google Shape;1628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29" name="Google Shape;1629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Ccs Insurance, Llc</a:t>
            </a:r>
            <a:endParaRPr/>
          </a:p>
        </p:txBody>
      </p:sp>
      <p:sp>
        <p:nvSpPr>
          <p:cNvPr id="1630" name="Google Shape;1630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254237412721</a:t>
            </a:r>
            <a:endParaRPr/>
          </a:p>
        </p:txBody>
      </p:sp>
      <p:sp>
        <p:nvSpPr>
          <p:cNvPr id="1631" name="Google Shape;1631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SILVER LINING TRANSPORTATION INC</a:t>
            </a:r>
            <a:endParaRPr/>
          </a:p>
        </p:txBody>
      </p:sp>
      <p:sp>
        <p:nvSpPr>
          <p:cNvPr id="1632" name="Google Shape;1632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2026-07-30</a:t>
            </a:r>
            <a:endParaRPr/>
          </a:p>
        </p:txBody>
      </p:sp>
      <p:sp>
        <p:nvSpPr>
          <p:cNvPr id="1633" name="Google Shape;1633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59d</a:t>
            </a:r>
            <a:endParaRPr/>
          </a:p>
        </p:txBody>
      </p:sp>
      <p:sp>
        <p:nvSpPr>
          <p:cNvPr id="1634" name="Google Shape;1634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35" name="Google Shape;1635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636" name="Google Shape;1636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37" name="Google Shape;1637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8" name="Google Shape;1638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639" name="Google Shape;1639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257995886345</a:t>
            </a:r>
            <a:endParaRPr/>
          </a:p>
        </p:txBody>
      </p:sp>
      <p:sp>
        <p:nvSpPr>
          <p:cNvPr id="1640" name="Google Shape;1640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WOODIES INTERNATIONAL LLC</a:t>
            </a:r>
            <a:endParaRPr/>
          </a:p>
        </p:txBody>
      </p:sp>
      <p:sp>
        <p:nvSpPr>
          <p:cNvPr id="1641" name="Google Shape;1641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2026-07-31</a:t>
            </a:r>
            <a:endParaRPr/>
          </a:p>
        </p:txBody>
      </p:sp>
      <p:sp>
        <p:nvSpPr>
          <p:cNvPr id="1642" name="Google Shape;1642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60d</a:t>
            </a:r>
            <a:endParaRPr/>
          </a:p>
        </p:txBody>
      </p:sp>
      <p:sp>
        <p:nvSpPr>
          <p:cNvPr id="1643" name="Google Shape;1643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44" name="Google Shape;1644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$827</a:t>
            </a:r>
            <a:endParaRPr/>
          </a:p>
        </p:txBody>
      </p:sp>
      <p:sp>
        <p:nvSpPr>
          <p:cNvPr id="1645" name="Google Shape;1645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646" name="Google Shape;1646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1647" name="Google Shape;1647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258788926265</a:t>
            </a:r>
            <a:endParaRPr/>
          </a:p>
        </p:txBody>
      </p:sp>
      <p:sp>
        <p:nvSpPr>
          <p:cNvPr id="1648" name="Google Shape;1648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ONE TOP NOTCH INC</a:t>
            </a:r>
            <a:endParaRPr/>
          </a:p>
        </p:txBody>
      </p:sp>
      <p:sp>
        <p:nvSpPr>
          <p:cNvPr id="1649" name="Google Shape;1649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2026-07-31</a:t>
            </a:r>
            <a:endParaRPr/>
          </a:p>
        </p:txBody>
      </p:sp>
      <p:sp>
        <p:nvSpPr>
          <p:cNvPr id="1650" name="Google Shape;1650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60d</a:t>
            </a:r>
            <a:endParaRPr/>
          </a:p>
        </p:txBody>
      </p:sp>
      <p:sp>
        <p:nvSpPr>
          <p:cNvPr id="1651" name="Google Shape;1651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52" name="Google Shape;1652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$10,430</a:t>
            </a:r>
            <a:endParaRPr/>
          </a:p>
        </p:txBody>
      </p:sp>
      <p:sp>
        <p:nvSpPr>
          <p:cNvPr id="1653" name="Google Shape;1653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654" name="Google Shape;1654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5" name="Google Shape;1655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656" name="Google Shape;1656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253434829309</a:t>
            </a:r>
            <a:endParaRPr/>
          </a:p>
        </p:txBody>
      </p:sp>
      <p:sp>
        <p:nvSpPr>
          <p:cNvPr id="1657" name="Google Shape;1657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INTERPORT GLOBAL LOGISTICS USA INC</a:t>
            </a:r>
            <a:endParaRPr/>
          </a:p>
        </p:txBody>
      </p:sp>
      <p:sp>
        <p:nvSpPr>
          <p:cNvPr id="1658" name="Google Shape;1658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2026-07-31</a:t>
            </a:r>
            <a:endParaRPr/>
          </a:p>
        </p:txBody>
      </p:sp>
      <p:sp>
        <p:nvSpPr>
          <p:cNvPr id="1659" name="Google Shape;1659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60d</a:t>
            </a:r>
            <a:endParaRPr/>
          </a:p>
        </p:txBody>
      </p:sp>
      <p:sp>
        <p:nvSpPr>
          <p:cNvPr id="1660" name="Google Shape;1660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661" name="Google Shape;1661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1662" name="Google Shape;1662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663" name="Google Shape;1663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21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7" name="Shape 1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8" name="Google Shape;1668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9" name="Google Shape;1669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70" name="Google Shape;1670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Cameron Brader  |  Policies with cancellation_date on or before Aug 30, 2026  |  Sorted by urgency — call these agencies first</a:t>
            </a:r>
            <a:endParaRPr/>
          </a:p>
        </p:txBody>
      </p:sp>
      <p:sp>
        <p:nvSpPr>
          <p:cNvPr id="1671" name="Google Shape;1671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72" name="Google Shape;1672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73" name="Google Shape;1673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74" name="Google Shape;1674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59E0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75" name="Google Shape;1675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Does Not Meet Uw G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76" name="Google Shape;1676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7" name="Google Shape;1677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78" name="Google Shape;1678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79" name="Google Shape;1679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80" name="Google Shape;1680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81" name="Google Shape;1681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82" name="Google Shape;1682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83" name="Google Shape;1683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84" name="Google Shape;1684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85" name="Google Shape;1685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86" name="Google Shape;1686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87" name="Google Shape;1687;p15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8" name="Google Shape;1688;p15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89" name="Google Shape;1689;p15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2026-06-01</a:t>
            </a:r>
            <a:endParaRPr/>
          </a:p>
        </p:txBody>
      </p:sp>
      <p:sp>
        <p:nvSpPr>
          <p:cNvPr id="1690" name="Google Shape;1690;p15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267470173993</a:t>
            </a:r>
            <a:endParaRPr/>
          </a:p>
        </p:txBody>
      </p:sp>
      <p:sp>
        <p:nvSpPr>
          <p:cNvPr id="1691" name="Google Shape;1691;p15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VD1 TRUCKING LLC</a:t>
            </a:r>
            <a:endParaRPr/>
          </a:p>
        </p:txBody>
      </p:sp>
      <p:sp>
        <p:nvSpPr>
          <p:cNvPr id="1692" name="Google Shape;1692;p1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</a:t>
            </a:r>
            <a:endParaRPr/>
          </a:p>
        </p:txBody>
      </p:sp>
      <p:sp>
        <p:nvSpPr>
          <p:cNvPr id="1693" name="Google Shape;1693;p15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94" name="Google Shape;1694;p15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695" name="Google Shape;1695;p15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$5,359</a:t>
            </a:r>
            <a:endParaRPr/>
          </a:p>
        </p:txBody>
      </p:sp>
      <p:sp>
        <p:nvSpPr>
          <p:cNvPr id="1696" name="Google Shape;1696;p15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Does Not Meet Uw Guidelines</a:t>
            </a:r>
            <a:endParaRPr/>
          </a:p>
        </p:txBody>
      </p:sp>
      <p:sp>
        <p:nvSpPr>
          <p:cNvPr id="1697" name="Google Shape;1697;p15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98" name="Google Shape;1698;p15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2026-06-01</a:t>
            </a:r>
            <a:endParaRPr/>
          </a:p>
        </p:txBody>
      </p:sp>
      <p:sp>
        <p:nvSpPr>
          <p:cNvPr id="1699" name="Google Shape;1699;p15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267470173993</a:t>
            </a:r>
            <a:endParaRPr/>
          </a:p>
        </p:txBody>
      </p:sp>
      <p:sp>
        <p:nvSpPr>
          <p:cNvPr id="1700" name="Google Shape;1700;p15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VD1 TRUCKING LLC</a:t>
            </a:r>
            <a:endParaRPr/>
          </a:p>
        </p:txBody>
      </p:sp>
      <p:sp>
        <p:nvSpPr>
          <p:cNvPr id="1701" name="Google Shape;1701;p15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</a:t>
            </a:r>
            <a:endParaRPr/>
          </a:p>
        </p:txBody>
      </p:sp>
      <p:sp>
        <p:nvSpPr>
          <p:cNvPr id="1702" name="Google Shape;1702;p1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703" name="Google Shape;1703;p15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704" name="Google Shape;1704;p15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</a:t>
            </a:r>
            <a:endParaRPr/>
          </a:p>
        </p:txBody>
      </p:sp>
      <p:sp>
        <p:nvSpPr>
          <p:cNvPr id="1705" name="Google Shape;1705;p15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Does Not Meet Uw Guidelines</a:t>
            </a:r>
            <a:endParaRPr/>
          </a:p>
        </p:txBody>
      </p:sp>
      <p:sp>
        <p:nvSpPr>
          <p:cNvPr id="1706" name="Google Shape;1706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2 of 2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10" name="Shape 1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1" name="Google Shape;1711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2" name="Google Shape;1712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World Insurance Associates LLC</a:t>
            </a:r>
            <a:endParaRPr/>
          </a:p>
        </p:txBody>
      </p:sp>
      <p:sp>
        <p:nvSpPr>
          <p:cNvPr id="1713" name="Google Shape;1713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NJ  |  City: Blackwood</a:t>
            </a:r>
            <a:endParaRPr/>
          </a:p>
        </p:txBody>
      </p:sp>
      <p:sp>
        <p:nvSpPr>
          <p:cNvPr id="1714" name="Google Shape;1714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$472,177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715" name="Google Shape;1715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$341,058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716" name="Google Shape;1716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$112,504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717" name="Google Shape;1717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718" name="Google Shape;1718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$-206,433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719" name="Google Shape;1719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$347,667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720" name="Google Shape;1720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$562,751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721" name="Google Shape;1721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722" name="Google Shape;1722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723" name="Google Shape;1723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24" name="Google Shape;1724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25" name="Google Shape;1725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$97,982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726" name="Google Shape;1726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$163,397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727" name="Google Shape;1727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8" name="Google Shape;1728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729" name="Google Shape;1729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30" name="Google Shape;1730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731" name="Google Shape;1731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732" name="Google Shape;1732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733" name="Google Shape;1733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734" name="Google Shape;1734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735" name="Google Shape;1735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6" name="Google Shape;1736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37" name="Google Shape;1737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$29,618</a:t>
            </a:r>
            <a:endParaRPr/>
          </a:p>
        </p:txBody>
      </p:sp>
      <p:sp>
        <p:nvSpPr>
          <p:cNvPr id="1738" name="Google Shape;1738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$29,618</a:t>
            </a:r>
            <a:endParaRPr/>
          </a:p>
        </p:txBody>
      </p:sp>
      <p:sp>
        <p:nvSpPr>
          <p:cNvPr id="1739" name="Google Shape;1739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40" name="Google Shape;1740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41" name="Google Shape;1741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42" name="Google Shape;1742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3" name="Google Shape;1743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744" name="Google Shape;1744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$159,295</a:t>
            </a:r>
            <a:endParaRPr/>
          </a:p>
        </p:txBody>
      </p:sp>
      <p:sp>
        <p:nvSpPr>
          <p:cNvPr id="1745" name="Google Shape;1745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$159,295</a:t>
            </a:r>
            <a:endParaRPr/>
          </a:p>
        </p:txBody>
      </p:sp>
      <p:sp>
        <p:nvSpPr>
          <p:cNvPr id="1746" name="Google Shape;1746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47" name="Google Shape;1747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48" name="Google Shape;1748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$-159,111</a:t>
            </a:r>
            <a:endParaRPr/>
          </a:p>
        </p:txBody>
      </p:sp>
      <p:sp>
        <p:nvSpPr>
          <p:cNvPr id="1749" name="Google Shape;1749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0" name="Google Shape;1750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751" name="Google Shape;1751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$33,592</a:t>
            </a:r>
            <a:endParaRPr/>
          </a:p>
        </p:txBody>
      </p:sp>
      <p:sp>
        <p:nvSpPr>
          <p:cNvPr id="1752" name="Google Shape;1752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$35,011</a:t>
            </a:r>
            <a:endParaRPr/>
          </a:p>
        </p:txBody>
      </p:sp>
      <p:sp>
        <p:nvSpPr>
          <p:cNvPr id="1753" name="Google Shape;1753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54" name="Google Shape;1754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$-1,419</a:t>
            </a:r>
            <a:endParaRPr/>
          </a:p>
        </p:txBody>
      </p:sp>
      <p:sp>
        <p:nvSpPr>
          <p:cNvPr id="1755" name="Google Shape;1755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$-13,395</a:t>
            </a:r>
            <a:endParaRPr/>
          </a:p>
        </p:txBody>
      </p:sp>
      <p:sp>
        <p:nvSpPr>
          <p:cNvPr id="1756" name="Google Shape;1756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7" name="Google Shape;1757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758" name="Google Shape;1758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$68,459</a:t>
            </a:r>
            <a:endParaRPr/>
          </a:p>
        </p:txBody>
      </p:sp>
      <p:sp>
        <p:nvSpPr>
          <p:cNvPr id="1759" name="Google Shape;1759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$54,413</a:t>
            </a:r>
            <a:endParaRPr/>
          </a:p>
        </p:txBody>
      </p:sp>
      <p:sp>
        <p:nvSpPr>
          <p:cNvPr id="1760" name="Google Shape;1760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$13,172</a:t>
            </a:r>
            <a:endParaRPr/>
          </a:p>
        </p:txBody>
      </p:sp>
      <p:sp>
        <p:nvSpPr>
          <p:cNvPr id="1761" name="Google Shape;1761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$874</a:t>
            </a:r>
            <a:endParaRPr/>
          </a:p>
        </p:txBody>
      </p:sp>
      <p:sp>
        <p:nvSpPr>
          <p:cNvPr id="1762" name="Google Shape;1762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63" name="Google Shape;1763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4" name="Google Shape;1764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765" name="Google Shape;1765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$181,214</a:t>
            </a:r>
            <a:endParaRPr/>
          </a:p>
        </p:txBody>
      </p:sp>
      <p:sp>
        <p:nvSpPr>
          <p:cNvPr id="1766" name="Google Shape;1766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$62,722</a:t>
            </a:r>
            <a:endParaRPr/>
          </a:p>
        </p:txBody>
      </p:sp>
      <p:sp>
        <p:nvSpPr>
          <p:cNvPr id="1767" name="Google Shape;1767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$99,332</a:t>
            </a:r>
            <a:endParaRPr/>
          </a:p>
        </p:txBody>
      </p:sp>
      <p:sp>
        <p:nvSpPr>
          <p:cNvPr id="1768" name="Google Shape;1768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$19,160</a:t>
            </a:r>
            <a:endParaRPr/>
          </a:p>
        </p:txBody>
      </p:sp>
      <p:sp>
        <p:nvSpPr>
          <p:cNvPr id="1769" name="Google Shape;1769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$-33,927</a:t>
            </a:r>
            <a:endParaRPr/>
          </a:p>
        </p:txBody>
      </p:sp>
      <p:sp>
        <p:nvSpPr>
          <p:cNvPr id="1770" name="Google Shape;1770;p16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1" name="Google Shape;1771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772" name="Google Shape;1772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3" name="Google Shape;1773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4" name="Google Shape;1774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5" name="Google Shape;1775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6" name="Google Shape;1776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77" name="Google Shape;1777;p16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8" name="Google Shape;1778;p16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779" name="Google Shape;1779;p16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$472,177</a:t>
            </a:r>
            <a:endParaRPr/>
          </a:p>
        </p:txBody>
      </p:sp>
      <p:sp>
        <p:nvSpPr>
          <p:cNvPr id="1780" name="Google Shape;1780;p16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$341,058</a:t>
            </a:r>
            <a:endParaRPr/>
          </a:p>
        </p:txBody>
      </p:sp>
      <p:sp>
        <p:nvSpPr>
          <p:cNvPr id="1781" name="Google Shape;1781;p16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$112,504</a:t>
            </a:r>
            <a:endParaRPr/>
          </a:p>
        </p:txBody>
      </p:sp>
      <p:sp>
        <p:nvSpPr>
          <p:cNvPr id="1782" name="Google Shape;1782;p16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$18,615</a:t>
            </a:r>
            <a:endParaRPr/>
          </a:p>
        </p:txBody>
      </p:sp>
      <p:sp>
        <p:nvSpPr>
          <p:cNvPr id="1783" name="Google Shape;1783;p16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$-206,433</a:t>
            </a:r>
            <a:endParaRPr/>
          </a:p>
        </p:txBody>
      </p:sp>
      <p:sp>
        <p:nvSpPr>
          <p:cNvPr id="1784" name="Google Shape;1784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5" name="Google Shape;1785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786" name="Google Shape;1786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787" name="Google Shape;1787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788" name="Google Shape;1788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789" name="Google Shape;1789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790" name="Google Shape;1790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791" name="Google Shape;1791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792" name="Google Shape;1792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3" name="Google Shape;1793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794" name="Google Shape;1794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795" name="Google Shape;1795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796" name="Google Shape;1796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797" name="Google Shape;1797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798" name="Google Shape;1798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799" name="Google Shape;1799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0" name="Google Shape;1800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01" name="Google Shape;1801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802" name="Google Shape;1802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803" name="Google Shape;1803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804" name="Google Shape;1804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05" name="Google Shape;1805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1806" name="Google Shape;1806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7" name="Google Shape;1807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08" name="Google Shape;1808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809" name="Google Shape;1809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810" name="Google Shape;1810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1811" name="Google Shape;1811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12" name="Google Shape;1812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1813" name="Google Shape;1813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4" name="Google Shape;1814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15" name="Google Shape;1815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816" name="Google Shape;1816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817" name="Google Shape;1817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1818" name="Google Shape;1818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819" name="Google Shape;1819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13.9%</a:t>
            </a:r>
            <a:endParaRPr/>
          </a:p>
        </p:txBody>
      </p:sp>
      <p:sp>
        <p:nvSpPr>
          <p:cNvPr id="1820" name="Google Shape;1820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1" name="Google Shape;1821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22" name="Google Shape;1822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1823" name="Google Shape;1823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824" name="Google Shape;1824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825" name="Google Shape;1825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826" name="Google Shape;1826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</p:txBody>
      </p:sp>
      <p:sp>
        <p:nvSpPr>
          <p:cNvPr id="1827" name="Google Shape;1827;p16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8" name="Google Shape;1828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829" name="Google Shape;1829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30" name="Google Shape;1830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831" name="Google Shape;1831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32" name="Google Shape;1832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833" name="Google Shape;1833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834" name="Google Shape;1834;p16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5" name="Google Shape;1835;p16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36" name="Google Shape;1836;p1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215</a:t>
            </a:r>
            <a:endParaRPr/>
          </a:p>
        </p:txBody>
      </p:sp>
      <p:sp>
        <p:nvSpPr>
          <p:cNvPr id="1837" name="Google Shape;1837;p16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1838" name="Google Shape;1838;p16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</a:t>
            </a:r>
            <a:endParaRPr/>
          </a:p>
        </p:txBody>
      </p:sp>
      <p:sp>
        <p:nvSpPr>
          <p:cNvPr id="1839" name="Google Shape;1839;p16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840" name="Google Shape;1840;p16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1841" name="Google Shape;1841;p16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2" name="Google Shape;1842;p16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843" name="Google Shape;1843;p16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844" name="Google Shape;1844;p16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845" name="Google Shape;1845;p16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846" name="Google Shape;1846;p1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847" name="Google Shape;1847;p16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848" name="Google Shape;1848;p16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849" name="Google Shape;1849;p16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850" name="Google Shape;1850;p16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851" name="Google Shape;1851;p16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852" name="Google Shape;1852;p16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853" name="Google Shape;1853;p16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854" name="Google Shape;1854;p16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1855" name="Google Shape;1855;p16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1856" name="Google Shape;1856;p1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1857" name="Google Shape;1857;p16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1858" name="Google Shape;1858;p16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59" name="Google Shape;1859;p16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860" name="Google Shape;1860;p16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1861" name="Google Shape;1861;p16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862" name="Google Shape;1862;p16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863" name="Google Shape;1863;p16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864" name="Google Shape;1864;p16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1865" name="Google Shape;1865;p16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866" name="Google Shape;1866;p1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867" name="Google Shape;1867;p16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868" name="Google Shape;1868;p16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1869" name="Google Shape;1869;p16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870" name="Google Shape;1870;p16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871" name="Google Shape;1871;p16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114</a:t>
            </a:r>
            <a:endParaRPr/>
          </a:p>
        </p:txBody>
      </p:sp>
      <p:sp>
        <p:nvSpPr>
          <p:cNvPr id="1872" name="Google Shape;1872;p16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222</a:t>
            </a:r>
            <a:endParaRPr/>
          </a:p>
        </p:txBody>
      </p:sp>
      <p:sp>
        <p:nvSpPr>
          <p:cNvPr id="1873" name="Google Shape;1873;p16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874" name="Google Shape;1874;p16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1875" name="Google Shape;1875;p16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1876" name="Google Shape;1876;p1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77" name="Google Shape;1877;p16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$159K</a:t>
            </a:r>
            <a:endParaRPr/>
          </a:p>
        </p:txBody>
      </p:sp>
      <p:sp>
        <p:nvSpPr>
          <p:cNvPr id="1878" name="Google Shape;1878;p16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1879" name="Google Shape;1879;p16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1880" name="Google Shape;1880;p16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1881" name="Google Shape;1881;p16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$68K</a:t>
            </a:r>
            <a:endParaRPr/>
          </a:p>
        </p:txBody>
      </p:sp>
      <p:sp>
        <p:nvSpPr>
          <p:cNvPr id="1882" name="Google Shape;1882;p16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$133K</a:t>
            </a:r>
            <a:endParaRPr/>
          </a:p>
        </p:txBody>
      </p:sp>
      <p:sp>
        <p:nvSpPr>
          <p:cNvPr id="1883" name="Google Shape;1883;p16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$181K</a:t>
            </a:r>
            <a:endParaRPr/>
          </a:p>
        </p:txBody>
      </p:sp>
      <p:sp>
        <p:nvSpPr>
          <p:cNvPr id="1884" name="Google Shape;1884;p16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$-946</a:t>
            </a:r>
            <a:endParaRPr/>
          </a:p>
        </p:txBody>
      </p:sp>
      <p:sp>
        <p:nvSpPr>
          <p:cNvPr id="1885" name="Google Shape;1885;p16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886" name="Google Shape;1886;p1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$257K</a:t>
            </a:r>
            <a:endParaRPr/>
          </a:p>
        </p:txBody>
      </p:sp>
      <p:sp>
        <p:nvSpPr>
          <p:cNvPr id="1887" name="Google Shape;1887;p16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$472K</a:t>
            </a:r>
            <a:endParaRPr/>
          </a:p>
        </p:txBody>
      </p:sp>
      <p:sp>
        <p:nvSpPr>
          <p:cNvPr id="1888" name="Google Shape;1888;p16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9" name="Google Shape;1889;p16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890" name="Google Shape;1890;p16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91" name="Google Shape;1891;p16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$472,177 YTD gross written premium</a:t>
            </a:r>
            <a:endParaRPr/>
          </a:p>
        </p:txBody>
      </p:sp>
      <p:sp>
        <p:nvSpPr>
          <p:cNvPr id="1892" name="Google Shape;1892;p16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893" name="Google Shape;1893;p16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$341,058 in new business production</a:t>
            </a:r>
            <a:endParaRPr/>
          </a:p>
        </p:txBody>
      </p:sp>
      <p:sp>
        <p:nvSpPr>
          <p:cNvPr id="1894" name="Google Shape;1894;p16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5" name="Google Shape;1895;p16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896" name="Google Shape;1896;p1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97" name="Google Shape;1897;p16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61% of new business ($206,433)</a:t>
            </a:r>
            <a:endParaRPr/>
          </a:p>
        </p:txBody>
      </p:sp>
      <p:sp>
        <p:nvSpPr>
          <p:cNvPr id="1898" name="Google Shape;1898;p1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899" name="Google Shape;1899;p16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54 to 1 MoM</a:t>
            </a:r>
            <a:endParaRPr/>
          </a:p>
        </p:txBody>
      </p:sp>
      <p:sp>
        <p:nvSpPr>
          <p:cNvPr id="1900" name="Google Shape;1900;p1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1" name="Google Shape;1901;p16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902" name="Google Shape;1902;p16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903" name="Google Shape;1903;p16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$341,058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904" name="Google Shape;1904;p16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905" name="Google Shape;1905;p16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$206,433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09" name="Shape 1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0" name="Google Shape;1910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1" name="Google Shape;1911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Risk Management Llc</a:t>
            </a:r>
            <a:endParaRPr/>
          </a:p>
        </p:txBody>
      </p:sp>
      <p:sp>
        <p:nvSpPr>
          <p:cNvPr id="1912" name="Google Shape;1912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NJ  |  City: Kearny</a:t>
            </a:r>
            <a:endParaRPr/>
          </a:p>
        </p:txBody>
      </p:sp>
      <p:sp>
        <p:nvSpPr>
          <p:cNvPr id="1913" name="Google Shape;1913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$375,395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914" name="Google Shape;1914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$340,817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15" name="Google Shape;1915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16" name="Google Shape;1916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17" name="Google Shape;1917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$-47,167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18" name="Google Shape;1918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919" name="Google Shape;1919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$591,905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920" name="Google Shape;1920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921" name="Google Shape;1921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22" name="Google Shape;1922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23" name="Google Shape;1923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24" name="Google Shape;1924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925" name="Google Shape;1925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$456,550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926" name="Google Shape;1926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7" name="Google Shape;1927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928" name="Google Shape;1928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29" name="Google Shape;1929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930" name="Google Shape;1930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31" name="Google Shape;1931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32" name="Google Shape;1932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33" name="Google Shape;1933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34" name="Google Shape;1934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5" name="Google Shape;1935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36" name="Google Shape;1936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$4,218</a:t>
            </a:r>
            <a:endParaRPr/>
          </a:p>
        </p:txBody>
      </p:sp>
      <p:sp>
        <p:nvSpPr>
          <p:cNvPr id="1937" name="Google Shape;1937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$4,218</a:t>
            </a:r>
            <a:endParaRPr/>
          </a:p>
        </p:txBody>
      </p:sp>
      <p:sp>
        <p:nvSpPr>
          <p:cNvPr id="1938" name="Google Shape;1938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39" name="Google Shape;1939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40" name="Google Shape;1940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41" name="Google Shape;1941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2" name="Google Shape;1942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943" name="Google Shape;1943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$121,720</a:t>
            </a:r>
            <a:endParaRPr/>
          </a:p>
        </p:txBody>
      </p:sp>
      <p:sp>
        <p:nvSpPr>
          <p:cNvPr id="1944" name="Google Shape;1944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$119,353</a:t>
            </a:r>
            <a:endParaRPr/>
          </a:p>
        </p:txBody>
      </p:sp>
      <p:sp>
        <p:nvSpPr>
          <p:cNvPr id="1945" name="Google Shape;1945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46" name="Google Shape;1946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$2,367</a:t>
            </a:r>
            <a:endParaRPr/>
          </a:p>
        </p:txBody>
      </p:sp>
      <p:sp>
        <p:nvSpPr>
          <p:cNvPr id="1947" name="Google Shape;1947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48" name="Google Shape;1948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9" name="Google Shape;1949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950" name="Google Shape;1950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$69,884</a:t>
            </a:r>
            <a:endParaRPr/>
          </a:p>
        </p:txBody>
      </p:sp>
      <p:sp>
        <p:nvSpPr>
          <p:cNvPr id="1951" name="Google Shape;1951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$48,457</a:t>
            </a:r>
            <a:endParaRPr/>
          </a:p>
        </p:txBody>
      </p:sp>
      <p:sp>
        <p:nvSpPr>
          <p:cNvPr id="1952" name="Google Shape;1952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53" name="Google Shape;1953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$21,427</a:t>
            </a:r>
            <a:endParaRPr/>
          </a:p>
        </p:txBody>
      </p:sp>
      <p:sp>
        <p:nvSpPr>
          <p:cNvPr id="1954" name="Google Shape;1954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$-47,167</a:t>
            </a:r>
            <a:endParaRPr/>
          </a:p>
        </p:txBody>
      </p:sp>
      <p:sp>
        <p:nvSpPr>
          <p:cNvPr id="1955" name="Google Shape;1955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6" name="Google Shape;1956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957" name="Google Shape;1957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$104,790</a:t>
            </a:r>
            <a:endParaRPr/>
          </a:p>
        </p:txBody>
      </p:sp>
      <p:sp>
        <p:nvSpPr>
          <p:cNvPr id="1958" name="Google Shape;1958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$104,892</a:t>
            </a:r>
            <a:endParaRPr/>
          </a:p>
        </p:txBody>
      </p:sp>
      <p:sp>
        <p:nvSpPr>
          <p:cNvPr id="1959" name="Google Shape;1959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60" name="Google Shape;1960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$-102</a:t>
            </a:r>
            <a:endParaRPr/>
          </a:p>
        </p:txBody>
      </p:sp>
      <p:sp>
        <p:nvSpPr>
          <p:cNvPr id="1961" name="Google Shape;1961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62" name="Google Shape;1962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3" name="Google Shape;1963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64" name="Google Shape;1964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$74,783</a:t>
            </a:r>
            <a:endParaRPr/>
          </a:p>
        </p:txBody>
      </p:sp>
      <p:sp>
        <p:nvSpPr>
          <p:cNvPr id="1965" name="Google Shape;1965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$63,897</a:t>
            </a:r>
            <a:endParaRPr/>
          </a:p>
        </p:txBody>
      </p:sp>
      <p:sp>
        <p:nvSpPr>
          <p:cNvPr id="1966" name="Google Shape;1966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67" name="Google Shape;1967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$10,886</a:t>
            </a:r>
            <a:endParaRPr/>
          </a:p>
        </p:txBody>
      </p:sp>
      <p:sp>
        <p:nvSpPr>
          <p:cNvPr id="1968" name="Google Shape;1968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69" name="Google Shape;1969;p17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0" name="Google Shape;1970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971" name="Google Shape;1971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72" name="Google Shape;1972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73" name="Google Shape;1973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74" name="Google Shape;1974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75" name="Google Shape;1975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76" name="Google Shape;1976;p1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7" name="Google Shape;1977;p17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78" name="Google Shape;1978;p17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$375,395</a:t>
            </a:r>
            <a:endParaRPr/>
          </a:p>
        </p:txBody>
      </p:sp>
      <p:sp>
        <p:nvSpPr>
          <p:cNvPr id="1979" name="Google Shape;1979;p17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$340,817</a:t>
            </a:r>
            <a:endParaRPr/>
          </a:p>
        </p:txBody>
      </p:sp>
      <p:sp>
        <p:nvSpPr>
          <p:cNvPr id="1980" name="Google Shape;1980;p17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$34,578</a:t>
            </a:r>
            <a:endParaRPr/>
          </a:p>
        </p:txBody>
      </p:sp>
      <p:sp>
        <p:nvSpPr>
          <p:cNvPr id="1982" name="Google Shape;1982;p17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$-47,167</a:t>
            </a:r>
            <a:endParaRPr/>
          </a:p>
        </p:txBody>
      </p:sp>
      <p:sp>
        <p:nvSpPr>
          <p:cNvPr id="1983" name="Google Shape;1983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4" name="Google Shape;1984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985" name="Google Shape;1985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86" name="Google Shape;1986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987" name="Google Shape;1987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988" name="Google Shape;1988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989" name="Google Shape;1989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90" name="Google Shape;1990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91" name="Google Shape;1991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2" name="Google Shape;1992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993" name="Google Shape;1993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1994" name="Google Shape;1994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95" name="Google Shape;1995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1996" name="Google Shape;1996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997" name="Google Shape;1997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1998" name="Google Shape;1998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9" name="Google Shape;1999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00" name="Google Shape;2000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001" name="Google Shape;2001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003" name="Google Shape;2003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004" name="Google Shape;2004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8.2%</a:t>
            </a:r>
            <a:endParaRPr/>
          </a:p>
        </p:txBody>
      </p:sp>
      <p:sp>
        <p:nvSpPr>
          <p:cNvPr id="2005" name="Google Shape;2005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6" name="Google Shape;2006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07" name="Google Shape;2007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2008" name="Google Shape;2008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09" name="Google Shape;2009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2010" name="Google Shape;2010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11" name="Google Shape;2011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2012" name="Google Shape;2012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Google Shape;2013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14" name="Google Shape;2014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2015" name="Google Shape;2015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16" name="Google Shape;2016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2017" name="Google Shape;2017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018" name="Google Shape;2018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2019" name="Google Shape;2019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0" name="Google Shape;2020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21" name="Google Shape;2021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022" name="Google Shape;2022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023" name="Google Shape;2023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024" name="Google Shape;2024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25" name="Google Shape;2025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2026" name="Google Shape;2026;p1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7" name="Google Shape;2027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028" name="Google Shape;2028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29" name="Google Shape;2029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30" name="Google Shape;2030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31" name="Google Shape;2031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32" name="Google Shape;2032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033" name="Google Shape;2033;p17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4" name="Google Shape;2034;p17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35" name="Google Shape;2035;p17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321</a:t>
            </a:r>
            <a:endParaRPr/>
          </a:p>
        </p:txBody>
      </p:sp>
      <p:sp>
        <p:nvSpPr>
          <p:cNvPr id="2036" name="Google Shape;2036;p1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037" name="Google Shape;2037;p17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300</a:t>
            </a:r>
            <a:endParaRPr/>
          </a:p>
        </p:txBody>
      </p:sp>
      <p:sp>
        <p:nvSpPr>
          <p:cNvPr id="2038" name="Google Shape;2038;p17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039" name="Google Shape;2039;p17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2040" name="Google Shape;2040;p17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1" name="Google Shape;2041;p17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042" name="Google Shape;2042;p17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43" name="Google Shape;2043;p17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044" name="Google Shape;2044;p17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045" name="Google Shape;2045;p17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046" name="Google Shape;2046;p1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047" name="Google Shape;2047;p17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048" name="Google Shape;2048;p17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049" name="Google Shape;2049;p17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050" name="Google Shape;2050;p17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051" name="Google Shape;2051;p17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052" name="Google Shape;2052;p17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053" name="Google Shape;2053;p17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054" name="Google Shape;2054;p17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055" name="Google Shape;2055;p17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056" name="Google Shape;2056;p1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057" name="Google Shape;2057;p17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058" name="Google Shape;2058;p17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59" name="Google Shape;2059;p17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2060" name="Google Shape;2060;p17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61" name="Google Shape;2061;p17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062" name="Google Shape;2062;p17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063" name="Google Shape;2063;p17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2064" name="Google Shape;2064;p17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65" name="Google Shape;2065;p17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90</a:t>
            </a:r>
            <a:endParaRPr/>
          </a:p>
        </p:txBody>
      </p:sp>
      <p:sp>
        <p:nvSpPr>
          <p:cNvPr id="2066" name="Google Shape;2066;p1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067" name="Google Shape;2067;p17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068" name="Google Shape;2068;p17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069" name="Google Shape;2069;p17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070" name="Google Shape;2070;p17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071" name="Google Shape;2071;p17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333</a:t>
            </a:r>
            <a:endParaRPr/>
          </a:p>
        </p:txBody>
      </p:sp>
      <p:sp>
        <p:nvSpPr>
          <p:cNvPr id="2072" name="Google Shape;2072;p17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073" name="Google Shape;2073;p17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4" name="Google Shape;2074;p17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2075" name="Google Shape;2075;p17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6" name="Google Shape;2076;p1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$122K</a:t>
            </a:r>
            <a:endParaRPr/>
          </a:p>
        </p:txBody>
      </p:sp>
      <p:sp>
        <p:nvSpPr>
          <p:cNvPr id="2077" name="Google Shape;2077;p17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078" name="Google Shape;2078;p17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2079" name="Google Shape;2079;p17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0" name="Google Shape;2080;p17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081" name="Google Shape;2081;p17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2" name="Google Shape;2082;p17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2083" name="Google Shape;2083;p17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4" name="Google Shape;2084;p17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85" name="Google Shape;2085;p17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2086" name="Google Shape;2086;p1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$375K</a:t>
            </a:r>
            <a:endParaRPr/>
          </a:p>
        </p:txBody>
      </p:sp>
      <p:sp>
        <p:nvSpPr>
          <p:cNvPr id="2087" name="Google Shape;2087;p17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8" name="Google Shape;2088;p17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089" name="Google Shape;2089;p17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90" name="Google Shape;2090;p17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$375,395 YTD gross written premium</a:t>
            </a:r>
            <a:endParaRPr/>
          </a:p>
        </p:txBody>
      </p:sp>
      <p:sp>
        <p:nvSpPr>
          <p:cNvPr id="2091" name="Google Shape;2091;p17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092" name="Google Shape;2092;p17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$340,817 in new business production</a:t>
            </a:r>
            <a:endParaRPr/>
          </a:p>
        </p:txBody>
      </p:sp>
      <p:sp>
        <p:nvSpPr>
          <p:cNvPr id="2093" name="Google Shape;2093;p17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4" name="Google Shape;2094;p17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095" name="Google Shape;2095;p17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96" name="Google Shape;2096;p1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097" name="Google Shape;2097;p17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098" name="Google Shape;2098;p1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099" name="Google Shape;2099;p17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0" name="Google Shape;2100;p1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01" name="Google Shape;2101;p17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02" name="Google Shape;2102;p17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$340,817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6" name="Shape 2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7" name="Google Shape;2107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8" name="Google Shape;2108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Bond Insurance Brokerage Inc</a:t>
            </a:r>
            <a:endParaRPr/>
          </a:p>
        </p:txBody>
      </p:sp>
      <p:sp>
        <p:nvSpPr>
          <p:cNvPr id="2109" name="Google Shape;2109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NY  |  City: New York</a:t>
            </a:r>
            <a:endParaRPr/>
          </a:p>
        </p:txBody>
      </p:sp>
      <p:sp>
        <p:nvSpPr>
          <p:cNvPr id="2110" name="Google Shape;2110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$234,614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111" name="Google Shape;2111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12" name="Google Shape;2112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13" name="Google Shape;2113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$73,122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14" name="Google Shape;2114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$-68,684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15" name="Google Shape;2115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$1,015,457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116" name="Google Shape;2116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$635,351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117" name="Google Shape;2117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118" name="Google Shape;2118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19" name="Google Shape;2119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20" name="Google Shape;2120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21" name="Google Shape;2121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122" name="Google Shape;2122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$246,713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123" name="Google Shape;2123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4" name="Google Shape;2124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125" name="Google Shape;2125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26" name="Google Shape;2126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127" name="Google Shape;2127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28" name="Google Shape;2128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29" name="Google Shape;2129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30" name="Google Shape;2130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31" name="Google Shape;2131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2" name="Google Shape;2132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33" name="Google Shape;2133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$103,317</a:t>
            </a:r>
            <a:endParaRPr/>
          </a:p>
        </p:txBody>
      </p:sp>
      <p:sp>
        <p:nvSpPr>
          <p:cNvPr id="2134" name="Google Shape;2134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$82,529</a:t>
            </a:r>
            <a:endParaRPr/>
          </a:p>
        </p:txBody>
      </p:sp>
      <p:sp>
        <p:nvSpPr>
          <p:cNvPr id="2135" name="Google Shape;2135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36" name="Google Shape;2136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$20,788</a:t>
            </a:r>
            <a:endParaRPr/>
          </a:p>
        </p:txBody>
      </p:sp>
      <p:sp>
        <p:nvSpPr>
          <p:cNvPr id="2137" name="Google Shape;2137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$-36,989</a:t>
            </a:r>
            <a:endParaRPr/>
          </a:p>
        </p:txBody>
      </p:sp>
      <p:sp>
        <p:nvSpPr>
          <p:cNvPr id="2138" name="Google Shape;2138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9" name="Google Shape;2139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40" name="Google Shape;2140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$463</a:t>
            </a:r>
            <a:endParaRPr/>
          </a:p>
        </p:txBody>
      </p:sp>
      <p:sp>
        <p:nvSpPr>
          <p:cNvPr id="2141" name="Google Shape;2141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2142" name="Google Shape;2142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43" name="Google Shape;2143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</a:t>
            </a:r>
            <a:endParaRPr/>
          </a:p>
        </p:txBody>
      </p:sp>
      <p:sp>
        <p:nvSpPr>
          <p:cNvPr id="2144" name="Google Shape;2144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$-6,764</a:t>
            </a:r>
            <a:endParaRPr/>
          </a:p>
        </p:txBody>
      </p:sp>
      <p:sp>
        <p:nvSpPr>
          <p:cNvPr id="2145" name="Google Shape;2145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6" name="Google Shape;2146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47" name="Google Shape;2147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$36,655</a:t>
            </a:r>
            <a:endParaRPr/>
          </a:p>
        </p:txBody>
      </p:sp>
      <p:sp>
        <p:nvSpPr>
          <p:cNvPr id="2148" name="Google Shape;2148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49" name="Google Shape;2149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$21,269</a:t>
            </a:r>
            <a:endParaRPr/>
          </a:p>
        </p:txBody>
      </p:sp>
      <p:sp>
        <p:nvSpPr>
          <p:cNvPr id="2150" name="Google Shape;2150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$15,386</a:t>
            </a:r>
            <a:endParaRPr/>
          </a:p>
        </p:txBody>
      </p:sp>
      <p:sp>
        <p:nvSpPr>
          <p:cNvPr id="2151" name="Google Shape;2151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$-14,145</a:t>
            </a:r>
            <a:endParaRPr/>
          </a:p>
        </p:txBody>
      </p:sp>
      <p:sp>
        <p:nvSpPr>
          <p:cNvPr id="2152" name="Google Shape;2152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3" name="Google Shape;2153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154" name="Google Shape;2154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$74,756</a:t>
            </a:r>
            <a:endParaRPr/>
          </a:p>
        </p:txBody>
      </p:sp>
      <p:sp>
        <p:nvSpPr>
          <p:cNvPr id="2155" name="Google Shape;2155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$57,145</a:t>
            </a:r>
            <a:endParaRPr/>
          </a:p>
        </p:txBody>
      </p:sp>
      <p:sp>
        <p:nvSpPr>
          <p:cNvPr id="2156" name="Google Shape;2156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57" name="Google Shape;2157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$17,612</a:t>
            </a:r>
            <a:endParaRPr/>
          </a:p>
        </p:txBody>
      </p:sp>
      <p:sp>
        <p:nvSpPr>
          <p:cNvPr id="2158" name="Google Shape;2158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$-2,111</a:t>
            </a:r>
            <a:endParaRPr/>
          </a:p>
        </p:txBody>
      </p:sp>
      <p:sp>
        <p:nvSpPr>
          <p:cNvPr id="2159" name="Google Shape;2159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0" name="Google Shape;2160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161" name="Google Shape;2161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$19,423</a:t>
            </a:r>
            <a:endParaRPr/>
          </a:p>
        </p:txBody>
      </p:sp>
      <p:sp>
        <p:nvSpPr>
          <p:cNvPr id="2162" name="Google Shape;2162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63" name="Google Shape;2163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64" name="Google Shape;2164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$19,423</a:t>
            </a:r>
            <a:endParaRPr/>
          </a:p>
        </p:txBody>
      </p:sp>
      <p:sp>
        <p:nvSpPr>
          <p:cNvPr id="2165" name="Google Shape;2165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$-8,675</a:t>
            </a:r>
            <a:endParaRPr/>
          </a:p>
        </p:txBody>
      </p:sp>
      <p:sp>
        <p:nvSpPr>
          <p:cNvPr id="2166" name="Google Shape;2166;p18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7" name="Google Shape;2167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168" name="Google Shape;2168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69" name="Google Shape;2169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70" name="Google Shape;2170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71" name="Google Shape;2171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72" name="Google Shape;2172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73" name="Google Shape;2173;p18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4" name="Google Shape;2174;p1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175" name="Google Shape;2175;p18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$234,614</a:t>
            </a:r>
            <a:endParaRPr/>
          </a:p>
        </p:txBody>
      </p:sp>
      <p:sp>
        <p:nvSpPr>
          <p:cNvPr id="2176" name="Google Shape;2176;p18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$140,223</a:t>
            </a:r>
            <a:endParaRPr/>
          </a:p>
        </p:txBody>
      </p:sp>
      <p:sp>
        <p:nvSpPr>
          <p:cNvPr id="2177" name="Google Shape;2177;p18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$21,269</a:t>
            </a:r>
            <a:endParaRPr/>
          </a:p>
        </p:txBody>
      </p:sp>
      <p:sp>
        <p:nvSpPr>
          <p:cNvPr id="2178" name="Google Shape;2178;p18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$73,122</a:t>
            </a:r>
            <a:endParaRPr/>
          </a:p>
        </p:txBody>
      </p:sp>
      <p:sp>
        <p:nvSpPr>
          <p:cNvPr id="2179" name="Google Shape;2179;p18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$-68,684</a:t>
            </a:r>
            <a:endParaRPr/>
          </a:p>
        </p:txBody>
      </p:sp>
      <p:sp>
        <p:nvSpPr>
          <p:cNvPr id="2180" name="Google Shape;2180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1" name="Google Shape;2181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182" name="Google Shape;2182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83" name="Google Shape;2183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184" name="Google Shape;2184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185" name="Google Shape;2185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186" name="Google Shape;2186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87" name="Google Shape;2187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88" name="Google Shape;2188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9" name="Google Shape;2189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90" name="Google Shape;2190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182</a:t>
            </a:r>
            <a:endParaRPr/>
          </a:p>
        </p:txBody>
      </p:sp>
      <p:sp>
        <p:nvSpPr>
          <p:cNvPr id="2191" name="Google Shape;2191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192" name="Google Shape;2192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174</a:t>
            </a:r>
            <a:endParaRPr/>
          </a:p>
        </p:txBody>
      </p:sp>
      <p:sp>
        <p:nvSpPr>
          <p:cNvPr id="2193" name="Google Shape;2193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194" name="Google Shape;2194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2195" name="Google Shape;2195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6" name="Google Shape;2196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97" name="Google Shape;2197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198" name="Google Shape;2198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199" name="Google Shape;2199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2200" name="Google Shape;2200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201" name="Google Shape;2201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2202" name="Google Shape;2202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3" name="Google Shape;2203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04" name="Google Shape;2204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147</a:t>
            </a:r>
            <a:endParaRPr/>
          </a:p>
        </p:txBody>
      </p:sp>
      <p:sp>
        <p:nvSpPr>
          <p:cNvPr id="2205" name="Google Shape;2205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06" name="Google Shape;2206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</a:t>
            </a:r>
            <a:endParaRPr/>
          </a:p>
        </p:txBody>
      </p:sp>
      <p:sp>
        <p:nvSpPr>
          <p:cNvPr id="2207" name="Google Shape;2207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208" name="Google Shape;2208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2.7%</a:t>
            </a:r>
            <a:endParaRPr/>
          </a:p>
        </p:txBody>
      </p:sp>
      <p:sp>
        <p:nvSpPr>
          <p:cNvPr id="2209" name="Google Shape;2209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0" name="Google Shape;2210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11" name="Google Shape;2211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2212" name="Google Shape;2212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213" name="Google Shape;2213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2214" name="Google Shape;2214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215" name="Google Shape;2215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2216" name="Google Shape;2216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7" name="Google Shape;2217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18" name="Google Shape;2218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219" name="Google Shape;2219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20" name="Google Shape;2220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2221" name="Google Shape;2221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222" name="Google Shape;2222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2223" name="Google Shape;2223;p18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4" name="Google Shape;2224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225" name="Google Shape;2225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26" name="Google Shape;2226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27" name="Google Shape;2227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28" name="Google Shape;2228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29" name="Google Shape;2229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230" name="Google Shape;2230;p18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1" name="Google Shape;2231;p18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32" name="Google Shape;2232;p18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536</a:t>
            </a:r>
            <a:endParaRPr/>
          </a:p>
        </p:txBody>
      </p:sp>
      <p:sp>
        <p:nvSpPr>
          <p:cNvPr id="2233" name="Google Shape;2233;p18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234" name="Google Shape;2234;p1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507</a:t>
            </a:r>
            <a:endParaRPr/>
          </a:p>
        </p:txBody>
      </p:sp>
      <p:sp>
        <p:nvSpPr>
          <p:cNvPr id="2235" name="Google Shape;2235;p18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236" name="Google Shape;2236;p18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2237" name="Google Shape;2237;p18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8" name="Google Shape;2238;p18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239" name="Google Shape;2239;p18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40" name="Google Shape;2240;p18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241" name="Google Shape;2241;p18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242" name="Google Shape;2242;p18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243" name="Google Shape;2243;p18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244" name="Google Shape;2244;p1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245" name="Google Shape;2245;p18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246" name="Google Shape;2246;p18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247" name="Google Shape;2247;p18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248" name="Google Shape;2248;p18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249" name="Google Shape;2249;p18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250" name="Google Shape;2250;p18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251" name="Google Shape;2251;p18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252" name="Google Shape;2252;p18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253" name="Google Shape;2253;p18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254" name="Google Shape;2254;p1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55" name="Google Shape;2255;p18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2256" name="Google Shape;2256;p18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182</a:t>
            </a:r>
            <a:endParaRPr/>
          </a:p>
        </p:txBody>
      </p:sp>
      <p:sp>
        <p:nvSpPr>
          <p:cNvPr id="2257" name="Google Shape;2257;p18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2258" name="Google Shape;2258;p18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2259" name="Google Shape;2259;p18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274</a:t>
            </a:r>
            <a:endParaRPr/>
          </a:p>
        </p:txBody>
      </p:sp>
      <p:sp>
        <p:nvSpPr>
          <p:cNvPr id="2260" name="Google Shape;2260;p18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147</a:t>
            </a:r>
            <a:endParaRPr/>
          </a:p>
        </p:txBody>
      </p:sp>
      <p:sp>
        <p:nvSpPr>
          <p:cNvPr id="2261" name="Google Shape;2261;p18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227</a:t>
            </a:r>
            <a:endParaRPr/>
          </a:p>
        </p:txBody>
      </p:sp>
      <p:sp>
        <p:nvSpPr>
          <p:cNvPr id="2262" name="Google Shape;2262;p18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2263" name="Google Shape;2263;p18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182</a:t>
            </a:r>
            <a:endParaRPr/>
          </a:p>
        </p:txBody>
      </p:sp>
      <p:sp>
        <p:nvSpPr>
          <p:cNvPr id="2264" name="Google Shape;2264;p1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2265" name="Google Shape;2265;p18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2266" name="Google Shape;2266;p18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67" name="Google Shape;2267;p18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1034</a:t>
            </a:r>
            <a:endParaRPr/>
          </a:p>
        </p:txBody>
      </p:sp>
      <p:sp>
        <p:nvSpPr>
          <p:cNvPr id="2268" name="Google Shape;2268;p18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561</a:t>
            </a:r>
            <a:endParaRPr/>
          </a:p>
        </p:txBody>
      </p:sp>
      <p:sp>
        <p:nvSpPr>
          <p:cNvPr id="2269" name="Google Shape;2269;p18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270" name="Google Shape;2270;p18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2271" name="Google Shape;2271;p18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$103K</a:t>
            </a:r>
            <a:endParaRPr/>
          </a:p>
        </p:txBody>
      </p:sp>
      <p:sp>
        <p:nvSpPr>
          <p:cNvPr id="2272" name="Google Shape;2272;p18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2273" name="Google Shape;2273;p18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$463</a:t>
            </a:r>
            <a:endParaRPr/>
          </a:p>
        </p:txBody>
      </p:sp>
      <p:sp>
        <p:nvSpPr>
          <p:cNvPr id="2274" name="Google Shape;2274;p1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2275" name="Google Shape;2275;p18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2276" name="Google Shape;2276;p18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$258K</a:t>
            </a:r>
            <a:endParaRPr/>
          </a:p>
        </p:txBody>
      </p:sp>
      <p:sp>
        <p:nvSpPr>
          <p:cNvPr id="2277" name="Google Shape;2277;p18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2278" name="Google Shape;2278;p18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$120K</a:t>
            </a:r>
            <a:endParaRPr/>
          </a:p>
        </p:txBody>
      </p:sp>
      <p:sp>
        <p:nvSpPr>
          <p:cNvPr id="2279" name="Google Shape;2279;p18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2280" name="Google Shape;2280;p18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2281" name="Google Shape;2281;p18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82" name="Google Shape;2282;p18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$615K</a:t>
            </a:r>
            <a:endParaRPr/>
          </a:p>
        </p:txBody>
      </p:sp>
      <p:sp>
        <p:nvSpPr>
          <p:cNvPr id="2283" name="Google Shape;2283;p18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$235K</a:t>
            </a:r>
            <a:endParaRPr/>
          </a:p>
        </p:txBody>
      </p:sp>
      <p:sp>
        <p:nvSpPr>
          <p:cNvPr id="2284" name="Google Shape;2284;p1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5" name="Google Shape;2285;p18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286" name="Google Shape;2286;p18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87" name="Google Shape;2287;p18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$234,614 YTD gross written premium</a:t>
            </a:r>
            <a:endParaRPr/>
          </a:p>
        </p:txBody>
      </p:sp>
      <p:sp>
        <p:nvSpPr>
          <p:cNvPr id="2288" name="Google Shape;2288;p18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289" name="Google Shape;2289;p18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$140,223 in new business production</a:t>
            </a:r>
            <a:endParaRPr/>
          </a:p>
        </p:txBody>
      </p:sp>
      <p:sp>
        <p:nvSpPr>
          <p:cNvPr id="2290" name="Google Shape;2290;p18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1" name="Google Shape;2291;p18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292" name="Google Shape;2292;p18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293" name="Google Shape;2293;p18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1.5% hit ratio on 536 subs - needs coaching</a:t>
            </a:r>
            <a:endParaRPr/>
          </a:p>
        </p:txBody>
      </p:sp>
      <p:sp>
        <p:nvSpPr>
          <p:cNvPr id="2294" name="Google Shape;2294;p1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295" name="Google Shape;2295;p18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49% of new business ($68,684)</a:t>
            </a:r>
            <a:endParaRPr/>
          </a:p>
        </p:txBody>
      </p:sp>
      <p:sp>
        <p:nvSpPr>
          <p:cNvPr id="2296" name="Google Shape;2296;p1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7" name="Google Shape;2297;p18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298" name="Google Shape;2298;p1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299" name="Google Shape;2299;p18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(536 subs, only 8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300" name="Google Shape;2300;p18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301" name="Google Shape;2301;p18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$140,223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05" name="Shape 2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6" name="Google Shape;2306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7" name="Google Shape;2307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Brown's Ins Agency Inc</a:t>
            </a:r>
            <a:endParaRPr/>
          </a:p>
        </p:txBody>
      </p:sp>
      <p:sp>
        <p:nvSpPr>
          <p:cNvPr id="2308" name="Google Shape;2308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MANASSAS</a:t>
            </a:r>
            <a:endParaRPr/>
          </a:p>
        </p:txBody>
      </p:sp>
      <p:sp>
        <p:nvSpPr>
          <p:cNvPr id="2309" name="Google Shape;2309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$206,063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10" name="Google Shape;2310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$41,738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11" name="Google Shape;2311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$164,909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12" name="Google Shape;2312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13" name="Google Shape;2313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14" name="Google Shape;2314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15" name="Google Shape;2315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$206,063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16" name="Google Shape;2316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17" name="Google Shape;2317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18" name="Google Shape;2318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19" name="Google Shape;2319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20" name="Google Shape;2320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21" name="Google Shape;2321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$39,913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22" name="Google Shape;2322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3" name="Google Shape;2323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24" name="Google Shape;2324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25" name="Google Shape;2325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26" name="Google Shape;2326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27" name="Google Shape;2327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28" name="Google Shape;2328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29" name="Google Shape;2329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30" name="Google Shape;2330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1" name="Google Shape;2331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32" name="Google Shape;2332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3" name="Google Shape;2333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4" name="Google Shape;2334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5" name="Google Shape;2335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6" name="Google Shape;2336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37" name="Google Shape;2337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8" name="Google Shape;2338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39" name="Google Shape;2339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$19,537</a:t>
            </a:r>
            <a:endParaRPr/>
          </a:p>
        </p:txBody>
      </p:sp>
      <p:sp>
        <p:nvSpPr>
          <p:cNvPr id="2340" name="Google Shape;2340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$19,537</a:t>
            </a:r>
            <a:endParaRPr/>
          </a:p>
        </p:txBody>
      </p:sp>
      <p:sp>
        <p:nvSpPr>
          <p:cNvPr id="2341" name="Google Shape;2341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2" name="Google Shape;2342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3" name="Google Shape;2343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4" name="Google Shape;2344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5" name="Google Shape;2345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46" name="Google Shape;2346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7" name="Google Shape;2347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8" name="Google Shape;2348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49" name="Google Shape;2349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50" name="Google Shape;2350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51" name="Google Shape;2351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2" name="Google Shape;2352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53" name="Google Shape;2353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$212,460</a:t>
            </a:r>
            <a:endParaRPr/>
          </a:p>
        </p:txBody>
      </p:sp>
      <p:sp>
        <p:nvSpPr>
          <p:cNvPr id="2354" name="Google Shape;2354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$21,252</a:t>
            </a:r>
            <a:endParaRPr/>
          </a:p>
        </p:txBody>
      </p:sp>
      <p:sp>
        <p:nvSpPr>
          <p:cNvPr id="2355" name="Google Shape;2355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$164,909</a:t>
            </a:r>
            <a:endParaRPr/>
          </a:p>
        </p:txBody>
      </p:sp>
      <p:sp>
        <p:nvSpPr>
          <p:cNvPr id="2356" name="Google Shape;2356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$26,300</a:t>
            </a:r>
            <a:endParaRPr/>
          </a:p>
        </p:txBody>
      </p:sp>
      <p:sp>
        <p:nvSpPr>
          <p:cNvPr id="2357" name="Google Shape;2357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58" name="Google Shape;2358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9" name="Google Shape;2359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60" name="Google Shape;2360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$-8,335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2362" name="Google Shape;2362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3" name="Google Shape;2363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$-9,284</a:t>
            </a:r>
            <a:endParaRPr/>
          </a:p>
        </p:txBody>
      </p:sp>
      <p:sp>
        <p:nvSpPr>
          <p:cNvPr id="2364" name="Google Shape;2364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5" name="Google Shape;2365;p19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6" name="Google Shape;2366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367" name="Google Shape;2367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$-17,599</a:t>
            </a:r>
            <a:endParaRPr/>
          </a:p>
        </p:txBody>
      </p:sp>
      <p:sp>
        <p:nvSpPr>
          <p:cNvPr id="2368" name="Google Shape;2368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69" name="Google Shape;2369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0" name="Google Shape;2370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$-17,599</a:t>
            </a:r>
            <a:endParaRPr/>
          </a:p>
        </p:txBody>
      </p:sp>
      <p:sp>
        <p:nvSpPr>
          <p:cNvPr id="2371" name="Google Shape;2371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2" name="Google Shape;2372;p19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3" name="Google Shape;2373;p19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74" name="Google Shape;2374;p1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$206,063</a:t>
            </a:r>
            <a:endParaRPr/>
          </a:p>
        </p:txBody>
      </p:sp>
      <p:sp>
        <p:nvSpPr>
          <p:cNvPr id="2375" name="Google Shape;2375;p19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$41,738</a:t>
            </a:r>
            <a:endParaRPr/>
          </a:p>
        </p:txBody>
      </p:sp>
      <p:sp>
        <p:nvSpPr>
          <p:cNvPr id="2376" name="Google Shape;2376;p19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$164,909</a:t>
            </a:r>
            <a:endParaRPr/>
          </a:p>
        </p:txBody>
      </p:sp>
      <p:sp>
        <p:nvSpPr>
          <p:cNvPr id="2377" name="Google Shape;2377;p19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$-583</a:t>
            </a:r>
            <a:endParaRPr/>
          </a:p>
        </p:txBody>
      </p:sp>
      <p:sp>
        <p:nvSpPr>
          <p:cNvPr id="2378" name="Google Shape;2378;p19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79" name="Google Shape;2379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0" name="Google Shape;2380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381" name="Google Shape;2381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82" name="Google Shape;2382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83" name="Google Shape;2383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384" name="Google Shape;2384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385" name="Google Shape;2385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86" name="Google Shape;2386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87" name="Google Shape;2387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8" name="Google Shape;2388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89" name="Google Shape;2389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90" name="Google Shape;2390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91" name="Google Shape;2391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392" name="Google Shape;2392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393" name="Google Shape;2393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2394" name="Google Shape;2394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5" name="Google Shape;2395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96" name="Google Shape;2396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397" name="Google Shape;2397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98" name="Google Shape;2398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399" name="Google Shape;2399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00" name="Google Shape;2400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2401" name="Google Shape;2401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2" name="Google Shape;2402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03" name="Google Shape;2403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04" name="Google Shape;2404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05" name="Google Shape;2405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06" name="Google Shape;2406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07" name="Google Shape;2407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08" name="Google Shape;2408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9" name="Google Shape;2409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10" name="Google Shape;2410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411" name="Google Shape;2411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12" name="Google Shape;2412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413" name="Google Shape;2413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14" name="Google Shape;2414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2415" name="Google Shape;2415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6" name="Google Shape;2416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17" name="Google Shape;2417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18" name="Google Shape;2418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19" name="Google Shape;2419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20" name="Google Shape;2420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21" name="Google Shape;2421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22" name="Google Shape;2422;p19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3" name="Google Shape;2423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424" name="Google Shape;2424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25" name="Google Shape;2425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26" name="Google Shape;2426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27" name="Google Shape;2427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28" name="Google Shape;2428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429" name="Google Shape;2429;p19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0" name="Google Shape;2430;p19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31" name="Google Shape;2431;p19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2432" name="Google Shape;2432;p19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33" name="Google Shape;2433;p19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434" name="Google Shape;2434;p1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35" name="Google Shape;2435;p19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11.5%</a:t>
            </a:r>
            <a:endParaRPr/>
          </a:p>
        </p:txBody>
      </p:sp>
      <p:sp>
        <p:nvSpPr>
          <p:cNvPr id="2436" name="Google Shape;2436;p19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7" name="Google Shape;2437;p19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438" name="Google Shape;2438;p19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39" name="Google Shape;2439;p19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40" name="Google Shape;2440;p19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41" name="Google Shape;2441;p19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42" name="Google Shape;2442;p19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43" name="Google Shape;2443;p19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444" name="Google Shape;2444;p1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445" name="Google Shape;2445;p19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446" name="Google Shape;2446;p19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447" name="Google Shape;2447;p19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448" name="Google Shape;2448;p19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449" name="Google Shape;2449;p19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450" name="Google Shape;2450;p19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451" name="Google Shape;2451;p19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452" name="Google Shape;2452;p19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453" name="Google Shape;2453;p19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54" name="Google Shape;2454;p1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55" name="Google Shape;2455;p19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56" name="Google Shape;2456;p19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57" name="Google Shape;2457;p19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458" name="Google Shape;2458;p19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459" name="Google Shape;2459;p19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460" name="Google Shape;2460;p19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61" name="Google Shape;2461;p19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462" name="Google Shape;2462;p19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63" name="Google Shape;2463;p19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464" name="Google Shape;2464;p1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465" name="Google Shape;2465;p19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466" name="Google Shape;2466;p19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467" name="Google Shape;2467;p19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468" name="Google Shape;2468;p19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469" name="Google Shape;2469;p19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0" name="Google Shape;2470;p19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1" name="Google Shape;2471;p19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2" name="Google Shape;2472;p19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2473" name="Google Shape;2473;p19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4" name="Google Shape;2474;p1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5" name="Google Shape;2475;p19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6" name="Google Shape;2476;p19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$212K</a:t>
            </a:r>
            <a:endParaRPr/>
          </a:p>
        </p:txBody>
      </p:sp>
      <p:sp>
        <p:nvSpPr>
          <p:cNvPr id="2477" name="Google Shape;2477;p19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78" name="Google Shape;2478;p19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$-8,335</a:t>
            </a:r>
            <a:endParaRPr/>
          </a:p>
        </p:txBody>
      </p:sp>
      <p:sp>
        <p:nvSpPr>
          <p:cNvPr id="2479" name="Google Shape;2479;p19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0" name="Google Shape;2480;p19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$-17,599</a:t>
            </a:r>
            <a:endParaRPr/>
          </a:p>
        </p:txBody>
      </p:sp>
      <p:sp>
        <p:nvSpPr>
          <p:cNvPr id="2481" name="Google Shape;2481;p19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482" name="Google Shape;2482;p19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$206K</a:t>
            </a:r>
            <a:endParaRPr/>
          </a:p>
        </p:txBody>
      </p:sp>
      <p:sp>
        <p:nvSpPr>
          <p:cNvPr id="2483" name="Google Shape;2483;p19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4" name="Google Shape;2484;p1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485" name="Google Shape;2485;p19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86" name="Google Shape;2486;p19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$206,063 YTD gross written premium</a:t>
            </a:r>
            <a:endParaRPr/>
          </a:p>
        </p:txBody>
      </p:sp>
      <p:sp>
        <p:nvSpPr>
          <p:cNvPr id="2487" name="Google Shape;2487;p19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88" name="Google Shape;2488;p19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$41,738 in new business production</a:t>
            </a:r>
            <a:endParaRPr/>
          </a:p>
        </p:txBody>
      </p:sp>
      <p:sp>
        <p:nvSpPr>
          <p:cNvPr id="2489" name="Google Shape;2489;p19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0" name="Google Shape;2490;p19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491" name="Google Shape;2491;p19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492" name="Google Shape;2492;p19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19 to 3 MoM</a:t>
            </a:r>
            <a:endParaRPr/>
          </a:p>
        </p:txBody>
      </p:sp>
      <p:sp>
        <p:nvSpPr>
          <p:cNvPr id="2493" name="Google Shape;2493;p19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4" name="Google Shape;2494;p1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495" name="Google Shape;2495;p19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496" name="Google Shape;2496;p1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$41,738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2497" name="Google Shape;2497;p19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498" name="Google Shape;2498;p19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$164,909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02" name="Shape 2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3" name="Google Shape;2503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4" name="Google Shape;2504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AGS Insurance Group LLC</a:t>
            </a:r>
            <a:endParaRPr/>
          </a:p>
        </p:txBody>
      </p:sp>
      <p:sp>
        <p:nvSpPr>
          <p:cNvPr id="2505" name="Google Shape;2505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NJ  |  City: Sayreville</a:t>
            </a:r>
            <a:endParaRPr/>
          </a:p>
        </p:txBody>
      </p:sp>
      <p:sp>
        <p:nvSpPr>
          <p:cNvPr id="2506" name="Google Shape;2506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$120,751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07" name="Google Shape;2507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08" name="Google Shape;2508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09" name="Google Shape;2509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$-6,129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10" name="Google Shape;2510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11" name="Google Shape;2511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$9,675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12" name="Google Shape;2512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$123,537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13" name="Google Shape;2513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14" name="Google Shape;2514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15" name="Google Shape;2515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16" name="Google Shape;2516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17" name="Google Shape;2517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$72,724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18" name="Google Shape;2518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$55,436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19" name="Google Shape;2519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0" name="Google Shape;2520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21" name="Google Shape;2521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22" name="Google Shape;2522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23" name="Google Shape;2523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24" name="Google Shape;2524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25" name="Google Shape;2525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26" name="Google Shape;2526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27" name="Google Shape;2527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8" name="Google Shape;2528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29" name="Google Shape;2529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30" name="Google Shape;2530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31" name="Google Shape;2531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32" name="Google Shape;2532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33" name="Google Shape;2533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34" name="Google Shape;2534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5" name="Google Shape;2535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36" name="Google Shape;2536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$72,724</a:t>
            </a:r>
            <a:endParaRPr/>
          </a:p>
        </p:txBody>
      </p:sp>
      <p:sp>
        <p:nvSpPr>
          <p:cNvPr id="2537" name="Google Shape;2537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$72,724</a:t>
            </a:r>
            <a:endParaRPr/>
          </a:p>
        </p:txBody>
      </p:sp>
      <p:sp>
        <p:nvSpPr>
          <p:cNvPr id="2538" name="Google Shape;2538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39" name="Google Shape;2539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0" name="Google Shape;2540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1" name="Google Shape;2541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2" name="Google Shape;2542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43" name="Google Shape;2543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$8,457</a:t>
            </a:r>
            <a:endParaRPr/>
          </a:p>
        </p:txBody>
      </p:sp>
      <p:sp>
        <p:nvSpPr>
          <p:cNvPr id="2544" name="Google Shape;2544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$21,722</a:t>
            </a:r>
            <a:endParaRPr/>
          </a:p>
        </p:txBody>
      </p:sp>
      <p:sp>
        <p:nvSpPr>
          <p:cNvPr id="2545" name="Google Shape;2545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6" name="Google Shape;2546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$-13,265</a:t>
            </a:r>
            <a:endParaRPr/>
          </a:p>
        </p:txBody>
      </p:sp>
      <p:sp>
        <p:nvSpPr>
          <p:cNvPr id="2547" name="Google Shape;2547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8" name="Google Shape;2548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9" name="Google Shape;2549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50" name="Google Shape;2550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$10,144</a:t>
            </a:r>
            <a:endParaRPr/>
          </a:p>
        </p:txBody>
      </p:sp>
      <p:sp>
        <p:nvSpPr>
          <p:cNvPr id="2551" name="Google Shape;2551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$3,220</a:t>
            </a:r>
            <a:endParaRPr/>
          </a:p>
        </p:txBody>
      </p:sp>
      <p:sp>
        <p:nvSpPr>
          <p:cNvPr id="2552" name="Google Shape;2552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$5,871</a:t>
            </a:r>
            <a:endParaRPr/>
          </a:p>
        </p:txBody>
      </p:sp>
      <p:sp>
        <p:nvSpPr>
          <p:cNvPr id="2553" name="Google Shape;2553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$1,053</a:t>
            </a:r>
            <a:endParaRPr/>
          </a:p>
        </p:txBody>
      </p:sp>
      <p:sp>
        <p:nvSpPr>
          <p:cNvPr id="2554" name="Google Shape;2554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5" name="Google Shape;2555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6" name="Google Shape;2556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57" name="Google Shape;2557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$29,427</a:t>
            </a:r>
            <a:endParaRPr/>
          </a:p>
        </p:txBody>
      </p:sp>
      <p:sp>
        <p:nvSpPr>
          <p:cNvPr id="2558" name="Google Shape;2558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$23,344</a:t>
            </a:r>
            <a:endParaRPr/>
          </a:p>
        </p:txBody>
      </p:sp>
      <p:sp>
        <p:nvSpPr>
          <p:cNvPr id="2559" name="Google Shape;2559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0" name="Google Shape;2560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$6,083</a:t>
            </a:r>
            <a:endParaRPr/>
          </a:p>
        </p:txBody>
      </p:sp>
      <p:sp>
        <p:nvSpPr>
          <p:cNvPr id="2561" name="Google Shape;2561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2" name="Google Shape;2562;p2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3" name="Google Shape;2563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564" name="Google Shape;2564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5" name="Google Shape;2565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6" name="Google Shape;2566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7" name="Google Shape;2567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8" name="Google Shape;2568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9" name="Google Shape;2569;p20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0" name="Google Shape;2570;p20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71" name="Google Shape;2571;p20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$120,751</a:t>
            </a:r>
            <a:endParaRPr/>
          </a:p>
        </p:txBody>
      </p:sp>
      <p:sp>
        <p:nvSpPr>
          <p:cNvPr id="2572" name="Google Shape;2572;p2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$121,009</a:t>
            </a:r>
            <a:endParaRPr/>
          </a:p>
        </p:txBody>
      </p:sp>
      <p:sp>
        <p:nvSpPr>
          <p:cNvPr id="2573" name="Google Shape;2573;p20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$5,871</a:t>
            </a:r>
            <a:endParaRPr/>
          </a:p>
        </p:txBody>
      </p:sp>
      <p:sp>
        <p:nvSpPr>
          <p:cNvPr id="2574" name="Google Shape;2574;p20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$-6,129</a:t>
            </a:r>
            <a:endParaRPr/>
          </a:p>
        </p:txBody>
      </p:sp>
      <p:sp>
        <p:nvSpPr>
          <p:cNvPr id="2575" name="Google Shape;2575;p20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6" name="Google Shape;2576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7" name="Google Shape;2577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578" name="Google Shape;2578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79" name="Google Shape;2579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580" name="Google Shape;2580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581" name="Google Shape;2581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582" name="Google Shape;2582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83" name="Google Shape;2583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84" name="Google Shape;2584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5" name="Google Shape;2585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86" name="Google Shape;2586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587" name="Google Shape;2587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88" name="Google Shape;2588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89" name="Google Shape;2589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590" name="Google Shape;2590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2591" name="Google Shape;2591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2" name="Google Shape;2592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93" name="Google Shape;2593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594" name="Google Shape;2594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595" name="Google Shape;2595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596" name="Google Shape;2596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597" name="Google Shape;2597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2598" name="Google Shape;2598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9" name="Google Shape;2599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00" name="Google Shape;2600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601" name="Google Shape;2601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02" name="Google Shape;2602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603" name="Google Shape;2603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04" name="Google Shape;2604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2605" name="Google Shape;2605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6" name="Google Shape;2606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07" name="Google Shape;2607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08" name="Google Shape;2608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609" name="Google Shape;2609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610" name="Google Shape;2610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611" name="Google Shape;2611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2612" name="Google Shape;2612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3" name="Google Shape;2613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14" name="Google Shape;2614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15" name="Google Shape;2615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16" name="Google Shape;2616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617" name="Google Shape;2617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18" name="Google Shape;2618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2619" name="Google Shape;2619;p20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0" name="Google Shape;2620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621" name="Google Shape;2621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22" name="Google Shape;2622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23" name="Google Shape;2623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24" name="Google Shape;2624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25" name="Google Shape;2625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626" name="Google Shape;2626;p20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7" name="Google Shape;2627;p20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28" name="Google Shape;2628;p20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629" name="Google Shape;2629;p20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30" name="Google Shape;2630;p20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2631" name="Google Shape;2631;p20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32" name="Google Shape;2632;p2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2633" name="Google Shape;2633;p20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4" name="Google Shape;2634;p20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635" name="Google Shape;2635;p20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36" name="Google Shape;2636;p20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37" name="Google Shape;2637;p20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38" name="Google Shape;2638;p20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39" name="Google Shape;2639;p20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40" name="Google Shape;2640;p20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41" name="Google Shape;2641;p20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42" name="Google Shape;2642;p2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43" name="Google Shape;2643;p20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44" name="Google Shape;2644;p20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45" name="Google Shape;2645;p20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46" name="Google Shape;2646;p20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647" name="Google Shape;2647;p20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648" name="Google Shape;2648;p20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649" name="Google Shape;2649;p20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650" name="Google Shape;2650;p20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51" name="Google Shape;2651;p20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652" name="Google Shape;2652;p2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653" name="Google Shape;2653;p20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654" name="Google Shape;2654;p20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2655" name="Google Shape;2655;p20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56" name="Google Shape;2656;p20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2657" name="Google Shape;2657;p20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658" name="Google Shape;2658;p20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59" name="Google Shape;2659;p20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60" name="Google Shape;2660;p20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661" name="Google Shape;2661;p20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662" name="Google Shape;2662;p2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63" name="Google Shape;2663;p20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664" name="Google Shape;2664;p20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2665" name="Google Shape;2665;p20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66" name="Google Shape;2666;p20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7" name="Google Shape;2667;p20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8" name="Google Shape;2668;p20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9" name="Google Shape;2669;p20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2670" name="Google Shape;2670;p20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71" name="Google Shape;2671;p20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2672" name="Google Shape;2672;p2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2673" name="Google Shape;2673;p20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2674" name="Google Shape;2674;p20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75" name="Google Shape;2675;p20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2676" name="Google Shape;2676;p20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77" name="Google Shape;2677;p20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78" name="Google Shape;2678;p20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2679" name="Google Shape;2679;p20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2680" name="Google Shape;2680;p20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1" name="Google Shape;2681;p20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682" name="Google Shape;2682;p2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83" name="Google Shape;2683;p20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$120,751 YTD gross written premium</a:t>
            </a:r>
            <a:endParaRPr/>
          </a:p>
        </p:txBody>
      </p:sp>
      <p:sp>
        <p:nvSpPr>
          <p:cNvPr id="2684" name="Google Shape;2684;p20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85" name="Google Shape;2685;p20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$121,009 in new business production</a:t>
            </a:r>
            <a:endParaRPr/>
          </a:p>
        </p:txBody>
      </p:sp>
      <p:sp>
        <p:nvSpPr>
          <p:cNvPr id="2686" name="Google Shape;2686;p20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7" name="Google Shape;2687;p20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688" name="Google Shape;2688;p20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689" name="Google Shape;2689;p20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690" name="Google Shape;2690;p20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691" name="Google Shape;2691;p20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692" name="Google Shape;2692;p2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3" name="Google Shape;2693;p20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694" name="Google Shape;2694;p2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695" name="Google Shape;2695;p20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$121,009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696" name="Google Shape;2696;p2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697" name="Google Shape;2697;p20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01" name="Shape 2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2" name="Google Shape;2702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3" name="Google Shape;2703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Erwin Agency Llc</a:t>
            </a:r>
            <a:endParaRPr/>
          </a:p>
        </p:txBody>
      </p:sp>
      <p:sp>
        <p:nvSpPr>
          <p:cNvPr id="2704" name="Google Shape;2704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Hershey</a:t>
            </a:r>
            <a:endParaRPr/>
          </a:p>
        </p:txBody>
      </p:sp>
      <p:sp>
        <p:nvSpPr>
          <p:cNvPr id="2705" name="Google Shape;2705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706" name="Google Shape;2706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07" name="Google Shape;2707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08" name="Google Shape;2708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09" name="Google Shape;2709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10" name="Google Shape;2710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11" name="Google Shape;2711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12" name="Google Shape;2712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13" name="Google Shape;2713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14" name="Google Shape;2714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15" name="Google Shape;2715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16" name="Google Shape;2716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17" name="Google Shape;2717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18" name="Google Shape;2718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9" name="Google Shape;2719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20" name="Google Shape;2720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21" name="Google Shape;2721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22" name="Google Shape;2722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23" name="Google Shape;2723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24" name="Google Shape;2724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25" name="Google Shape;2725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26" name="Google Shape;2726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7" name="Google Shape;2727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28" name="Google Shape;2728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9" name="Google Shape;2729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0" name="Google Shape;2730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1" name="Google Shape;2731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2" name="Google Shape;2732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3" name="Google Shape;2733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4" name="Google Shape;2734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35" name="Google Shape;2735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6" name="Google Shape;2736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7" name="Google Shape;2737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8" name="Google Shape;2738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9" name="Google Shape;2739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0" name="Google Shape;2740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1" name="Google Shape;2741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42" name="Google Shape;2742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3" name="Google Shape;2743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4" name="Google Shape;2744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5" name="Google Shape;2745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6" name="Google Shape;2746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7" name="Google Shape;2747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8" name="Google Shape;2748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49" name="Google Shape;2749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$58,633</a:t>
            </a:r>
            <a:endParaRPr/>
          </a:p>
        </p:txBody>
      </p:sp>
      <p:sp>
        <p:nvSpPr>
          <p:cNvPr id="2750" name="Google Shape;2750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$58,633</a:t>
            </a:r>
            <a:endParaRPr/>
          </a:p>
        </p:txBody>
      </p:sp>
      <p:sp>
        <p:nvSpPr>
          <p:cNvPr id="2751" name="Google Shape;2751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2" name="Google Shape;2752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3" name="Google Shape;2753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4" name="Google Shape;2754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5" name="Google Shape;2755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56" name="Google Shape;2756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$46,817</a:t>
            </a:r>
            <a:endParaRPr/>
          </a:p>
        </p:txBody>
      </p:sp>
      <p:sp>
        <p:nvSpPr>
          <p:cNvPr id="2757" name="Google Shape;2757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$46,817</a:t>
            </a:r>
            <a:endParaRPr/>
          </a:p>
        </p:txBody>
      </p:sp>
      <p:sp>
        <p:nvSpPr>
          <p:cNvPr id="2758" name="Google Shape;2758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59" name="Google Shape;2759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0" name="Google Shape;2760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1" name="Google Shape;2761;p21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2" name="Google Shape;2762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763" name="Google Shape;2763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4" name="Google Shape;2764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5" name="Google Shape;2765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6" name="Google Shape;2766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7" name="Google Shape;2767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68" name="Google Shape;2768;p21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9" name="Google Shape;2769;p21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70" name="Google Shape;2770;p21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</p:txBody>
      </p:sp>
      <p:sp>
        <p:nvSpPr>
          <p:cNvPr id="2771" name="Google Shape;2771;p21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</a:t>
            </a:r>
            <a:endParaRPr/>
          </a:p>
        </p:txBody>
      </p:sp>
      <p:sp>
        <p:nvSpPr>
          <p:cNvPr id="2772" name="Google Shape;2772;p2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3" name="Google Shape;2773;p21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4" name="Google Shape;2774;p21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75" name="Google Shape;2775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6" name="Google Shape;2776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77" name="Google Shape;2777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78" name="Google Shape;2778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79" name="Google Shape;2779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80" name="Google Shape;2780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81" name="Google Shape;2781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82" name="Google Shape;2782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83" name="Google Shape;2783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4" name="Google Shape;2784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85" name="Google Shape;2785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6" name="Google Shape;2786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7" name="Google Shape;2787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8" name="Google Shape;2788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89" name="Google Shape;2789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90" name="Google Shape;2790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1" name="Google Shape;2791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92" name="Google Shape;2792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3" name="Google Shape;2793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4" name="Google Shape;2794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5" name="Google Shape;2795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796" name="Google Shape;2796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797" name="Google Shape;2797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8" name="Google Shape;2798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99" name="Google Shape;2799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800" name="Google Shape;2800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01" name="Google Shape;2801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802" name="Google Shape;2802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03" name="Google Shape;2803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804" name="Google Shape;2804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5" name="Google Shape;2805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806" name="Google Shape;2806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807" name="Google Shape;2807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808" name="Google Shape;2808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2809" name="Google Shape;2809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10" name="Google Shape;2810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811" name="Google Shape;2811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2" name="Google Shape;2812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813" name="Google Shape;2813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814" name="Google Shape;2814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15" name="Google Shape;2815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816" name="Google Shape;2816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17" name="Google Shape;2817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2818" name="Google Shape;2818;p21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9" name="Google Shape;2819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820" name="Google Shape;2820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21" name="Google Shape;2821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22" name="Google Shape;2822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23" name="Google Shape;2823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24" name="Google Shape;2824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825" name="Google Shape;2825;p21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6" name="Google Shape;2826;p21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27" name="Google Shape;2827;p21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828" name="Google Shape;2828;p21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829" name="Google Shape;2829;p21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830" name="Google Shape;2830;p21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831" name="Google Shape;2831;p21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5.9%</a:t>
            </a:r>
            <a:endParaRPr/>
          </a:p>
        </p:txBody>
      </p:sp>
      <p:sp>
        <p:nvSpPr>
          <p:cNvPr id="2832" name="Google Shape;2832;p2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3" name="Google Shape;2833;p21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2834" name="Google Shape;2834;p21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35" name="Google Shape;2835;p21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36" name="Google Shape;2836;p21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37" name="Google Shape;2837;p21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38" name="Google Shape;2838;p21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39" name="Google Shape;2839;p21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40" name="Google Shape;2840;p21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41" name="Google Shape;2841;p21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42" name="Google Shape;2842;p2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43" name="Google Shape;2843;p21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44" name="Google Shape;2844;p21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45" name="Google Shape;2845;p21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2846" name="Google Shape;2846;p21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2847" name="Google Shape;2847;p21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2848" name="Google Shape;2848;p21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2849" name="Google Shape;2849;p21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50" name="Google Shape;2850;p21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1" name="Google Shape;2851;p21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2" name="Google Shape;2852;p2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3" name="Google Shape;2853;p21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4" name="Google Shape;2854;p21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5" name="Google Shape;2855;p21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856" name="Google Shape;2856;p21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7" name="Google Shape;2857;p21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858" name="Google Shape;2858;p21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59" name="Google Shape;2859;p21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860" name="Google Shape;2860;p21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61" name="Google Shape;2861;p21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62" name="Google Shape;2862;p2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863" name="Google Shape;2863;p21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864" name="Google Shape;2864;p21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65" name="Google Shape;2865;p21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66" name="Google Shape;2866;p21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67" name="Google Shape;2867;p21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68" name="Google Shape;2868;p21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69" name="Google Shape;2869;p21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0" name="Google Shape;2870;p21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1" name="Google Shape;2871;p21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2" name="Google Shape;2872;p2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2873" name="Google Shape;2873;p21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4" name="Google Shape;2874;p21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2875" name="Google Shape;2875;p21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6" name="Google Shape;2876;p21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7" name="Google Shape;2877;p21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78" name="Google Shape;2878;p21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879" name="Google Shape;2879;p21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0" name="Google Shape;2880;p21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81" name="Google Shape;2881;p21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82" name="Google Shape;2882;p2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 YTD gross written premium</a:t>
            </a:r>
            <a:endParaRPr/>
          </a:p>
        </p:txBody>
      </p:sp>
      <p:sp>
        <p:nvSpPr>
          <p:cNvPr id="2883" name="Google Shape;2883;p21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84" name="Google Shape;2884;p21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$105,450 in new business production</a:t>
            </a:r>
            <a:endParaRPr/>
          </a:p>
        </p:txBody>
      </p:sp>
      <p:sp>
        <p:nvSpPr>
          <p:cNvPr id="2885" name="Google Shape;2885;p21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6" name="Google Shape;2886;p21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87" name="Google Shape;2887;p21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88" name="Google Shape;2888;p21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2889" name="Google Shape;2889;p21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90" name="Google Shape;2890;p21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2891" name="Google Shape;2891;p21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2" name="Google Shape;2892;p2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93" name="Google Shape;2893;p21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94" name="Google Shape;2894;p2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$105,450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98" name="Shape 28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9" name="Google Shape;2899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0" name="Google Shape;2900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Pinnacle Insurance Solutions</a:t>
            </a:r>
            <a:endParaRPr/>
          </a:p>
        </p:txBody>
      </p:sp>
      <p:sp>
        <p:nvSpPr>
          <p:cNvPr id="2901" name="Google Shape;2901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Roseland</a:t>
            </a:r>
            <a:endParaRPr/>
          </a:p>
        </p:txBody>
      </p:sp>
      <p:sp>
        <p:nvSpPr>
          <p:cNvPr id="2902" name="Google Shape;2902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$95,321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903" name="Google Shape;2903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$95,321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04" name="Google Shape;2904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05" name="Google Shape;2905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06" name="Google Shape;2906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$-64,706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07" name="Google Shape;2907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908" name="Google Shape;2908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$95,321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909" name="Google Shape;2909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910" name="Google Shape;2910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911" name="Google Shape;2911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12" name="Google Shape;2912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13" name="Google Shape;2913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914" name="Google Shape;2914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$49,807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915" name="Google Shape;2915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6" name="Google Shape;2916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917" name="Google Shape;2917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18" name="Google Shape;2918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919" name="Google Shape;2919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920" name="Google Shape;2920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921" name="Google Shape;2921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922" name="Google Shape;2922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923" name="Google Shape;2923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4" name="Google Shape;2924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25" name="Google Shape;2925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6" name="Google Shape;2926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7" name="Google Shape;2927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8" name="Google Shape;2928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9" name="Google Shape;2929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0" name="Google Shape;2930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1" name="Google Shape;2931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32" name="Google Shape;2932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3" name="Google Shape;2933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4" name="Google Shape;2934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5" name="Google Shape;2935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6" name="Google Shape;2936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7" name="Google Shape;2937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8" name="Google Shape;2938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39" name="Google Shape;2939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0" name="Google Shape;2940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1" name="Google Shape;2941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2" name="Google Shape;2942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3" name="Google Shape;2943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4" name="Google Shape;2944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5" name="Google Shape;2945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46" name="Google Shape;2946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$44,014</a:t>
            </a:r>
            <a:endParaRPr/>
          </a:p>
        </p:txBody>
      </p:sp>
      <p:sp>
        <p:nvSpPr>
          <p:cNvPr id="2947" name="Google Shape;2947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$44,014</a:t>
            </a:r>
            <a:endParaRPr/>
          </a:p>
        </p:txBody>
      </p:sp>
      <p:sp>
        <p:nvSpPr>
          <p:cNvPr id="2948" name="Google Shape;2948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49" name="Google Shape;2949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0" name="Google Shape;2950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1" name="Google Shape;2951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2" name="Google Shape;2952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53" name="Google Shape;2953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$51,307</a:t>
            </a:r>
            <a:endParaRPr/>
          </a:p>
        </p:txBody>
      </p:sp>
      <p:sp>
        <p:nvSpPr>
          <p:cNvPr id="2954" name="Google Shape;2954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$51,307</a:t>
            </a:r>
            <a:endParaRPr/>
          </a:p>
        </p:txBody>
      </p:sp>
      <p:sp>
        <p:nvSpPr>
          <p:cNvPr id="2955" name="Google Shape;2955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6" name="Google Shape;2956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57" name="Google Shape;2957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$-26,118</a:t>
            </a:r>
            <a:endParaRPr/>
          </a:p>
        </p:txBody>
      </p:sp>
      <p:sp>
        <p:nvSpPr>
          <p:cNvPr id="2958" name="Google Shape;2958;p22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9" name="Google Shape;2959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2960" name="Google Shape;2960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1" name="Google Shape;2961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2" name="Google Shape;2962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3" name="Google Shape;2963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64" name="Google Shape;2964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$-38,588</a:t>
            </a:r>
            <a:endParaRPr/>
          </a:p>
        </p:txBody>
      </p:sp>
      <p:sp>
        <p:nvSpPr>
          <p:cNvPr id="2965" name="Google Shape;2965;p22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6" name="Google Shape;2966;p22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67" name="Google Shape;2967;p22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$95,321</a:t>
            </a:r>
            <a:endParaRPr/>
          </a:p>
        </p:txBody>
      </p:sp>
      <p:sp>
        <p:nvSpPr>
          <p:cNvPr id="2968" name="Google Shape;2968;p22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$95,321</a:t>
            </a:r>
            <a:endParaRPr/>
          </a:p>
        </p:txBody>
      </p:sp>
      <p:sp>
        <p:nvSpPr>
          <p:cNvPr id="2969" name="Google Shape;2969;p22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0" name="Google Shape;2970;p2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71" name="Google Shape;2971;p22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$-64,706</a:t>
            </a:r>
            <a:endParaRPr/>
          </a:p>
        </p:txBody>
      </p:sp>
      <p:sp>
        <p:nvSpPr>
          <p:cNvPr id="2972" name="Google Shape;2972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3" name="Google Shape;2973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74" name="Google Shape;2974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75" name="Google Shape;2975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76" name="Google Shape;2976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77" name="Google Shape;2977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78" name="Google Shape;2978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79" name="Google Shape;2979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80" name="Google Shape;2980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1" name="Google Shape;2981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82" name="Google Shape;2982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83" name="Google Shape;2983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84" name="Google Shape;2984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85" name="Google Shape;2985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86" name="Google Shape;2986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87" name="Google Shape;2987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8" name="Google Shape;2988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89" name="Google Shape;2989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990" name="Google Shape;2990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91" name="Google Shape;2991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992" name="Google Shape;2992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93" name="Google Shape;2993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2994" name="Google Shape;2994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5" name="Google Shape;2995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96" name="Google Shape;2996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997" name="Google Shape;2997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98" name="Google Shape;2998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999" name="Google Shape;2999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0" name="Google Shape;3000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01" name="Google Shape;3001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2" name="Google Shape;3002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03" name="Google Shape;3003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004" name="Google Shape;3004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05" name="Google Shape;3005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06" name="Google Shape;3006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007" name="Google Shape;3007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5.6%</a:t>
            </a:r>
            <a:endParaRPr/>
          </a:p>
        </p:txBody>
      </p:sp>
      <p:sp>
        <p:nvSpPr>
          <p:cNvPr id="3008" name="Google Shape;3008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9" name="Google Shape;3009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010" name="Google Shape;3010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011" name="Google Shape;3011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012" name="Google Shape;3012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013" name="Google Shape;3013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014" name="Google Shape;3014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9.5%</a:t>
            </a:r>
            <a:endParaRPr/>
          </a:p>
        </p:txBody>
      </p:sp>
      <p:sp>
        <p:nvSpPr>
          <p:cNvPr id="3015" name="Google Shape;3015;p22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6" name="Google Shape;3016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017" name="Google Shape;3017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8" name="Google Shape;3018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9" name="Google Shape;3019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0" name="Google Shape;3020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21" name="Google Shape;3021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022" name="Google Shape;3022;p22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3" name="Google Shape;3023;p22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024" name="Google Shape;3024;p22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3025" name="Google Shape;3025;p22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26" name="Google Shape;3026;p22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3027" name="Google Shape;3027;p22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028" name="Google Shape;3028;p22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3029" name="Google Shape;3029;p22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0" name="Google Shape;3030;p2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031" name="Google Shape;3031;p22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032" name="Google Shape;3032;p22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033" name="Google Shape;3033;p22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034" name="Google Shape;3034;p22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035" name="Google Shape;3035;p22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036" name="Google Shape;3036;p22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037" name="Google Shape;3037;p22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038" name="Google Shape;3038;p22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039" name="Google Shape;3039;p22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040" name="Google Shape;3040;p2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041" name="Google Shape;3041;p22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042" name="Google Shape;3042;p22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043" name="Google Shape;3043;p22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044" name="Google Shape;3044;p22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045" name="Google Shape;3045;p22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046" name="Google Shape;3046;p22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47" name="Google Shape;3047;p22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48" name="Google Shape;3048;p22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49" name="Google Shape;3049;p22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50" name="Google Shape;3050;p2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051" name="Google Shape;3051;p22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52" name="Google Shape;3052;p22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053" name="Google Shape;3053;p22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54" name="Google Shape;3054;p22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055" name="Google Shape;3055;p22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56" name="Google Shape;3056;p22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057" name="Google Shape;3057;p22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58" name="Google Shape;3058;p22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59" name="Google Shape;3059;p22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60" name="Google Shape;3060;p2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3061" name="Google Shape;3061;p22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62" name="Google Shape;3062;p22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3" name="Google Shape;3063;p22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4" name="Google Shape;3064;p22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5" name="Google Shape;3065;p22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6" name="Google Shape;3066;p22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7" name="Google Shape;3067;p22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8" name="Google Shape;3068;p22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69" name="Google Shape;3069;p22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3070" name="Google Shape;3070;p2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1" name="Google Shape;3071;p22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3072" name="Google Shape;3072;p22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3" name="Google Shape;3073;p22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4" name="Google Shape;3074;p22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75" name="Google Shape;3075;p22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3076" name="Google Shape;3076;p22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7" name="Google Shape;3077;p22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78" name="Google Shape;3078;p22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79" name="Google Shape;3079;p22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$95,321 YTD gross written premium</a:t>
            </a:r>
            <a:endParaRPr/>
          </a:p>
        </p:txBody>
      </p:sp>
      <p:sp>
        <p:nvSpPr>
          <p:cNvPr id="3080" name="Google Shape;3080;p2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81" name="Google Shape;3081;p22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$95,321 in new business production</a:t>
            </a:r>
            <a:endParaRPr/>
          </a:p>
        </p:txBody>
      </p:sp>
      <p:sp>
        <p:nvSpPr>
          <p:cNvPr id="3082" name="Google Shape;3082;p2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3" name="Google Shape;3083;p22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84" name="Google Shape;3084;p22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85" name="Google Shape;3085;p22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68% of new business ($64,706)</a:t>
            </a:r>
            <a:endParaRPr/>
          </a:p>
        </p:txBody>
      </p:sp>
      <p:sp>
        <p:nvSpPr>
          <p:cNvPr id="3086" name="Google Shape;3086;p22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87" name="Google Shape;3087;p22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3088" name="Google Shape;3088;p22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9" name="Google Shape;3089;p22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90" name="Google Shape;3090;p2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91" name="Google Shape;3091;p22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$95,321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092" name="Google Shape;3092;p2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093" name="Google Shape;3093;p22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$64,706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7" name="Shape 30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8" name="Google Shape;3098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9" name="Google Shape;3099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Celiane Boston Financial &amp; Insurance, Llc</a:t>
            </a:r>
            <a:endParaRPr/>
          </a:p>
        </p:txBody>
      </p:sp>
      <p:sp>
        <p:nvSpPr>
          <p:cNvPr id="3100" name="Google Shape;3100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MD  |  City: Owings Mills</a:t>
            </a:r>
            <a:endParaRPr/>
          </a:p>
        </p:txBody>
      </p:sp>
      <p:sp>
        <p:nvSpPr>
          <p:cNvPr id="3101" name="Google Shape;3101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102" name="Google Shape;3102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03" name="Google Shape;3103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04" name="Google Shape;3104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05" name="Google Shape;3105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$-30,794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06" name="Google Shape;3106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$53,530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107" name="Google Shape;3107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$97,512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108" name="Google Shape;3108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109" name="Google Shape;3109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10" name="Google Shape;3110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11" name="Google Shape;3111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12" name="Google Shape;3112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113" name="Google Shape;3113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$41,683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114" name="Google Shape;3114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5" name="Google Shape;3115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116" name="Google Shape;3116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17" name="Google Shape;3117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118" name="Google Shape;3118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119" name="Google Shape;3119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120" name="Google Shape;3120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121" name="Google Shape;3121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122" name="Google Shape;3122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3" name="Google Shape;3123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24" name="Google Shape;3124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$3,951</a:t>
            </a:r>
            <a:endParaRPr/>
          </a:p>
        </p:txBody>
      </p:sp>
      <p:sp>
        <p:nvSpPr>
          <p:cNvPr id="3125" name="Google Shape;3125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$3,951</a:t>
            </a:r>
            <a:endParaRPr/>
          </a:p>
        </p:txBody>
      </p:sp>
      <p:sp>
        <p:nvSpPr>
          <p:cNvPr id="3126" name="Google Shape;3126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7" name="Google Shape;3127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8" name="Google Shape;3128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29" name="Google Shape;3129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0" name="Google Shape;3130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31" name="Google Shape;3131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2" name="Google Shape;3132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3" name="Google Shape;3133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4" name="Google Shape;3134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5" name="Google Shape;3135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36" name="Google Shape;3136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7" name="Google Shape;3137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38" name="Google Shape;3138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$46,674</a:t>
            </a:r>
            <a:endParaRPr/>
          </a:p>
        </p:txBody>
      </p:sp>
      <p:sp>
        <p:nvSpPr>
          <p:cNvPr id="3139" name="Google Shape;3139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$46,674</a:t>
            </a:r>
            <a:endParaRPr/>
          </a:p>
        </p:txBody>
      </p:sp>
      <p:sp>
        <p:nvSpPr>
          <p:cNvPr id="3140" name="Google Shape;3140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1" name="Google Shape;3141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2" name="Google Shape;3142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$-3,388</a:t>
            </a:r>
            <a:endParaRPr/>
          </a:p>
        </p:txBody>
      </p:sp>
      <p:sp>
        <p:nvSpPr>
          <p:cNvPr id="3143" name="Google Shape;3143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4" name="Google Shape;3144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45" name="Google Shape;3145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6" name="Google Shape;3146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7" name="Google Shape;3147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8" name="Google Shape;3148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49" name="Google Shape;3149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$-653</a:t>
            </a:r>
            <a:endParaRPr/>
          </a:p>
        </p:txBody>
      </p:sp>
      <p:sp>
        <p:nvSpPr>
          <p:cNvPr id="3150" name="Google Shape;3150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1" name="Google Shape;3151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52" name="Google Shape;3152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</p:txBody>
      </p:sp>
      <p:sp>
        <p:nvSpPr>
          <p:cNvPr id="3153" name="Google Shape;3153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</p:txBody>
      </p:sp>
      <p:sp>
        <p:nvSpPr>
          <p:cNvPr id="3154" name="Google Shape;3154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5" name="Google Shape;3155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56" name="Google Shape;3156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$-26,754</a:t>
            </a:r>
            <a:endParaRPr/>
          </a:p>
        </p:txBody>
      </p:sp>
      <p:sp>
        <p:nvSpPr>
          <p:cNvPr id="3157" name="Google Shape;3157;p23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8" name="Google Shape;3158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159" name="Google Shape;3159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0" name="Google Shape;3160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1" name="Google Shape;3161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2" name="Google Shape;3162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3" name="Google Shape;3163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4" name="Google Shape;3164;p23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5" name="Google Shape;3165;p23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66" name="Google Shape;3166;p23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</p:txBody>
      </p:sp>
      <p:sp>
        <p:nvSpPr>
          <p:cNvPr id="3167" name="Google Shape;3167;p23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</a:t>
            </a:r>
            <a:endParaRPr/>
          </a:p>
        </p:txBody>
      </p:sp>
      <p:sp>
        <p:nvSpPr>
          <p:cNvPr id="3168" name="Google Shape;3168;p23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69" name="Google Shape;3169;p23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70" name="Google Shape;3170;p2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$-30,794</a:t>
            </a:r>
            <a:endParaRPr/>
          </a:p>
        </p:txBody>
      </p:sp>
      <p:sp>
        <p:nvSpPr>
          <p:cNvPr id="3171" name="Google Shape;3171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2" name="Google Shape;3172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73" name="Google Shape;3173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74" name="Google Shape;3174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75" name="Google Shape;3175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76" name="Google Shape;3176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77" name="Google Shape;3177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78" name="Google Shape;3178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79" name="Google Shape;3179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0" name="Google Shape;3180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81" name="Google Shape;3181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82" name="Google Shape;3182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83" name="Google Shape;3183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84" name="Google Shape;3184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85" name="Google Shape;3185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3186" name="Google Shape;3186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7" name="Google Shape;3187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88" name="Google Shape;3188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189" name="Google Shape;3189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90" name="Google Shape;3190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191" name="Google Shape;3191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92" name="Google Shape;3192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193" name="Google Shape;3193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4" name="Google Shape;3194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95" name="Google Shape;3195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196" name="Google Shape;3196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97" name="Google Shape;3197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198" name="Google Shape;3198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99" name="Google Shape;3199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3200" name="Google Shape;3200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1" name="Google Shape;3201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02" name="Google Shape;3202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203" name="Google Shape;3203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04" name="Google Shape;3204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205" name="Google Shape;3205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206" name="Google Shape;3206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3207" name="Google Shape;3207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8" name="Google Shape;3208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09" name="Google Shape;3209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210" name="Google Shape;3210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1" name="Google Shape;3211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212" name="Google Shape;3212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3" name="Google Shape;3213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214" name="Google Shape;3214;p23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5" name="Google Shape;3215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216" name="Google Shape;3216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7" name="Google Shape;3217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8" name="Google Shape;3218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19" name="Google Shape;3219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20" name="Google Shape;3220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221" name="Google Shape;3221;p23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2" name="Google Shape;3222;p23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23" name="Google Shape;3223;p23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3224" name="Google Shape;3224;p23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225" name="Google Shape;3225;p23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3226" name="Google Shape;3226;p23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227" name="Google Shape;3227;p23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3228" name="Google Shape;3228;p23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9" name="Google Shape;3229;p23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230" name="Google Shape;3230;p2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231" name="Google Shape;3231;p23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232" name="Google Shape;3232;p23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233" name="Google Shape;3233;p23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234" name="Google Shape;3234;p23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235" name="Google Shape;3235;p23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236" name="Google Shape;3236;p23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237" name="Google Shape;3237;p23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238" name="Google Shape;3238;p23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239" name="Google Shape;3239;p23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240" name="Google Shape;3240;p2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241" name="Google Shape;3241;p23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242" name="Google Shape;3242;p23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243" name="Google Shape;3243;p23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244" name="Google Shape;3244;p23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245" name="Google Shape;3245;p23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46" name="Google Shape;3246;p23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247" name="Google Shape;3247;p23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248" name="Google Shape;3248;p23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249" name="Google Shape;3249;p23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250" name="Google Shape;3250;p2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251" name="Google Shape;3251;p23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3252" name="Google Shape;3252;p23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253" name="Google Shape;3253;p23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254" name="Google Shape;3254;p23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255" name="Google Shape;3255;p23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256" name="Google Shape;3256;p23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257" name="Google Shape;3257;p23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258" name="Google Shape;3258;p23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259" name="Google Shape;3259;p23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3260" name="Google Shape;3260;p2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261" name="Google Shape;3261;p23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2" name="Google Shape;3262;p23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263" name="Google Shape;3263;p23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4" name="Google Shape;3264;p23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5" name="Google Shape;3265;p23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6" name="Google Shape;3266;p23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3267" name="Google Shape;3267;p23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8" name="Google Shape;3268;p23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9" name="Google Shape;3269;p23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3270" name="Google Shape;3270;p2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271" name="Google Shape;3271;p23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2" name="Google Shape;3272;p23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3" name="Google Shape;3273;p23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3274" name="Google Shape;3274;p23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$77K</a:t>
            </a:r>
            <a:endParaRPr/>
          </a:p>
        </p:txBody>
      </p:sp>
      <p:sp>
        <p:nvSpPr>
          <p:cNvPr id="3275" name="Google Shape;3275;p23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6" name="Google Shape;3276;p23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77" name="Google Shape;3277;p23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78" name="Google Shape;3278;p23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 YTD gross written premium</a:t>
            </a:r>
            <a:endParaRPr/>
          </a:p>
        </p:txBody>
      </p:sp>
      <p:sp>
        <p:nvSpPr>
          <p:cNvPr id="3279" name="Google Shape;3279;p23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80" name="Google Shape;3280;p2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$77,378 in new business production</a:t>
            </a:r>
            <a:endParaRPr/>
          </a:p>
        </p:txBody>
      </p:sp>
      <p:sp>
        <p:nvSpPr>
          <p:cNvPr id="3281" name="Google Shape;3281;p23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2" name="Google Shape;3282;p2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83" name="Google Shape;3283;p23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84" name="Google Shape;3284;p23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285" name="Google Shape;3285;p23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86" name="Google Shape;3286;p23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287" name="Google Shape;3287;p23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8" name="Google Shape;3288;p23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89" name="Google Shape;3289;p23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90" name="Google Shape;3290;p2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$77,378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291" name="Google Shape;3291;p23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92" name="Google Shape;3292;p2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$30,794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96" name="Shape 3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7" name="Google Shape;3297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8" name="Google Shape;3298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Insurance Brokers Llc</a:t>
            </a:r>
            <a:endParaRPr/>
          </a:p>
        </p:txBody>
      </p:sp>
      <p:sp>
        <p:nvSpPr>
          <p:cNvPr id="3299" name="Google Shape;3299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Illinois  |  City: Springfield</a:t>
            </a:r>
            <a:endParaRPr/>
          </a:p>
        </p:txBody>
      </p:sp>
      <p:sp>
        <p:nvSpPr>
          <p:cNvPr id="3300" name="Google Shape;3300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$76,033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301" name="Google Shape;3301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302" name="Google Shape;3302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303" name="Google Shape;3303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304" name="Google Shape;3304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305" name="Google Shape;3305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$125,422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306" name="Google Shape;3306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$76,910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307" name="Google Shape;3307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308" name="Google Shape;3308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09" name="Google Shape;3309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10" name="Google Shape;3310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11" name="Google Shape;3311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312" name="Google Shape;3312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$78,426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313" name="Google Shape;3313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4" name="Google Shape;3314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315" name="Google Shape;3315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16" name="Google Shape;3316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317" name="Google Shape;3317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318" name="Google Shape;3318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319" name="Google Shape;3319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320" name="Google Shape;3320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321" name="Google Shape;3321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2" name="Google Shape;3322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23" name="Google Shape;3323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4" name="Google Shape;3324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5" name="Google Shape;3325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6" name="Google Shape;3326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7" name="Google Shape;3327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28" name="Google Shape;3328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9" name="Google Shape;3329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30" name="Google Shape;3330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1" name="Google Shape;3331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2" name="Google Shape;3332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3" name="Google Shape;3333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4" name="Google Shape;3334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35" name="Google Shape;3335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6" name="Google Shape;3336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37" name="Google Shape;3337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$60,139</a:t>
            </a:r>
            <a:endParaRPr/>
          </a:p>
        </p:txBody>
      </p:sp>
      <p:sp>
        <p:nvSpPr>
          <p:cNvPr id="3338" name="Google Shape;3338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$60,139</a:t>
            </a:r>
            <a:endParaRPr/>
          </a:p>
        </p:txBody>
      </p:sp>
      <p:sp>
        <p:nvSpPr>
          <p:cNvPr id="3339" name="Google Shape;3339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0" name="Google Shape;3340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1" name="Google Shape;3341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2" name="Google Shape;3342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3" name="Google Shape;3343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44" name="Google Shape;3344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$-3,741</a:t>
            </a:r>
            <a:endParaRPr/>
          </a:p>
        </p:txBody>
      </p:sp>
      <p:sp>
        <p:nvSpPr>
          <p:cNvPr id="3345" name="Google Shape;3345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3346" name="Google Shape;3346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7" name="Google Shape;3347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$-4,291</a:t>
            </a:r>
            <a:endParaRPr/>
          </a:p>
        </p:txBody>
      </p:sp>
      <p:sp>
        <p:nvSpPr>
          <p:cNvPr id="3348" name="Google Shape;3348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49" name="Google Shape;3349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0" name="Google Shape;3350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51" name="Google Shape;3351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$19,636</a:t>
            </a:r>
            <a:endParaRPr/>
          </a:p>
        </p:txBody>
      </p:sp>
      <p:sp>
        <p:nvSpPr>
          <p:cNvPr id="3352" name="Google Shape;3352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3" name="Google Shape;3353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4" name="Google Shape;3354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$19,636</a:t>
            </a:r>
            <a:endParaRPr/>
          </a:p>
        </p:txBody>
      </p:sp>
      <p:sp>
        <p:nvSpPr>
          <p:cNvPr id="3355" name="Google Shape;3355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6" name="Google Shape;3356;p24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7" name="Google Shape;3357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358" name="Google Shape;3358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59" name="Google Shape;3359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0" name="Google Shape;3360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1" name="Google Shape;3361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2" name="Google Shape;3362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3" name="Google Shape;3363;p24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4" name="Google Shape;3364;p24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65" name="Google Shape;3365;p24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$76,033</a:t>
            </a:r>
            <a:endParaRPr/>
          </a:p>
        </p:txBody>
      </p:sp>
      <p:sp>
        <p:nvSpPr>
          <p:cNvPr id="3366" name="Google Shape;3366;p24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$60,689</a:t>
            </a:r>
            <a:endParaRPr/>
          </a:p>
        </p:txBody>
      </p:sp>
      <p:sp>
        <p:nvSpPr>
          <p:cNvPr id="3367" name="Google Shape;3367;p24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68" name="Google Shape;3368;p24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$15,345</a:t>
            </a:r>
            <a:endParaRPr/>
          </a:p>
        </p:txBody>
      </p:sp>
      <p:sp>
        <p:nvSpPr>
          <p:cNvPr id="3369" name="Google Shape;3369;p24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0" name="Google Shape;3370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1" name="Google Shape;3371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372" name="Google Shape;3372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373" name="Google Shape;3373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374" name="Google Shape;3374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375" name="Google Shape;3375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76" name="Google Shape;3376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77" name="Google Shape;3377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78" name="Google Shape;3378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9" name="Google Shape;3379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80" name="Google Shape;3380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81" name="Google Shape;3381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82" name="Google Shape;3382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83" name="Google Shape;3383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84" name="Google Shape;3384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385" name="Google Shape;3385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6" name="Google Shape;3386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87" name="Google Shape;3387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88" name="Google Shape;3388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89" name="Google Shape;3389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90" name="Google Shape;3390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91" name="Google Shape;3391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392" name="Google Shape;3392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3" name="Google Shape;3393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94" name="Google Shape;3394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395" name="Google Shape;3395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96" name="Google Shape;3396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397" name="Google Shape;3397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98" name="Google Shape;3398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3399" name="Google Shape;3399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0" name="Google Shape;3400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01" name="Google Shape;3401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02" name="Google Shape;3402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03" name="Google Shape;3403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04" name="Google Shape;3404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05" name="Google Shape;3405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3406" name="Google Shape;3406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7" name="Google Shape;3407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08" name="Google Shape;3408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09" name="Google Shape;3409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0" name="Google Shape;3410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11" name="Google Shape;3411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12" name="Google Shape;3412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3413" name="Google Shape;3413;p24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4" name="Google Shape;3414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415" name="Google Shape;3415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6" name="Google Shape;3416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7" name="Google Shape;3417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8" name="Google Shape;3418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19" name="Google Shape;3419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420" name="Google Shape;3420;p2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1" name="Google Shape;3421;p24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22" name="Google Shape;3422;p24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423" name="Google Shape;3423;p24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24" name="Google Shape;3424;p24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425" name="Google Shape;3425;p24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426" name="Google Shape;3426;p24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3427" name="Google Shape;3427;p24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8" name="Google Shape;3428;p24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429" name="Google Shape;3429;p24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430" name="Google Shape;3430;p2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431" name="Google Shape;3431;p24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432" name="Google Shape;3432;p24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433" name="Google Shape;3433;p24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434" name="Google Shape;3434;p24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435" name="Google Shape;3435;p24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436" name="Google Shape;3436;p24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437" name="Google Shape;3437;p24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438" name="Google Shape;3438;p24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439" name="Google Shape;3439;p24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440" name="Google Shape;3440;p2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441" name="Google Shape;3441;p24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442" name="Google Shape;3442;p24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443" name="Google Shape;3443;p24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444" name="Google Shape;3444;p24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45" name="Google Shape;3445;p24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446" name="Google Shape;3446;p24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47" name="Google Shape;3447;p24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448" name="Google Shape;3448;p24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449" name="Google Shape;3449;p24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450" name="Google Shape;3450;p2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451" name="Google Shape;3451;p24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52" name="Google Shape;3452;p24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53" name="Google Shape;3453;p24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454" name="Google Shape;3454;p24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55" name="Google Shape;3455;p24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456" name="Google Shape;3456;p24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57" name="Google Shape;3457;p24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3458" name="Google Shape;3458;p24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459" name="Google Shape;3459;p24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460" name="Google Shape;3460;p2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3461" name="Google Shape;3461;p24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2" name="Google Shape;3462;p24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$106K</a:t>
            </a:r>
            <a:endParaRPr/>
          </a:p>
        </p:txBody>
      </p:sp>
      <p:sp>
        <p:nvSpPr>
          <p:cNvPr id="3463" name="Google Shape;3463;p24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4" name="Google Shape;3464;p24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5" name="Google Shape;3465;p24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$60K</a:t>
            </a:r>
            <a:endParaRPr/>
          </a:p>
        </p:txBody>
      </p:sp>
      <p:sp>
        <p:nvSpPr>
          <p:cNvPr id="3466" name="Google Shape;3466;p24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7" name="Google Shape;3467;p24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$-3,741</a:t>
            </a:r>
            <a:endParaRPr/>
          </a:p>
        </p:txBody>
      </p:sp>
      <p:sp>
        <p:nvSpPr>
          <p:cNvPr id="3468" name="Google Shape;3468;p24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3469" name="Google Shape;3469;p24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3470" name="Google Shape;3470;p2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3471" name="Google Shape;3471;p24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2" name="Google Shape;3472;p24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$125K</a:t>
            </a:r>
            <a:endParaRPr/>
          </a:p>
        </p:txBody>
      </p:sp>
      <p:sp>
        <p:nvSpPr>
          <p:cNvPr id="3473" name="Google Shape;3473;p24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$76K</a:t>
            </a:r>
            <a:endParaRPr/>
          </a:p>
        </p:txBody>
      </p:sp>
      <p:sp>
        <p:nvSpPr>
          <p:cNvPr id="3474" name="Google Shape;3474;p24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5" name="Google Shape;3475;p24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476" name="Google Shape;3476;p24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77" name="Google Shape;3477;p24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$76,033 YTD gross written premium</a:t>
            </a:r>
            <a:endParaRPr/>
          </a:p>
        </p:txBody>
      </p:sp>
      <p:sp>
        <p:nvSpPr>
          <p:cNvPr id="3478" name="Google Shape;3478;p24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479" name="Google Shape;3479;p24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$60,689 in new business production</a:t>
            </a:r>
            <a:endParaRPr/>
          </a:p>
        </p:txBody>
      </p:sp>
      <p:sp>
        <p:nvSpPr>
          <p:cNvPr id="3480" name="Google Shape;3480;p2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1" name="Google Shape;3481;p24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482" name="Google Shape;3482;p2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83" name="Google Shape;3483;p24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484" name="Google Shape;3484;p24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485" name="Google Shape;3485;p24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486" name="Google Shape;3486;p24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7" name="Google Shape;3487;p24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488" name="Google Shape;3488;p24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489" name="Google Shape;3489;p24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$60,689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93" name="Shape 3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4" name="Google Shape;3494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5" name="Google Shape;3495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Oakwood Insurance Agency LLC</a:t>
            </a:r>
            <a:endParaRPr/>
          </a:p>
        </p:txBody>
      </p:sp>
      <p:sp>
        <p:nvSpPr>
          <p:cNvPr id="3496" name="Google Shape;3496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NJ  |  City: Califon</a:t>
            </a:r>
            <a:endParaRPr/>
          </a:p>
        </p:txBody>
      </p:sp>
      <p:sp>
        <p:nvSpPr>
          <p:cNvPr id="3497" name="Google Shape;3497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$65,951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98" name="Google Shape;3498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$66,881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99" name="Google Shape;3499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00" name="Google Shape;3500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01" name="Google Shape;3501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02" name="Google Shape;3502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$88,683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503" name="Google Shape;3503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$150,938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504" name="Google Shape;3504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505" name="Google Shape;3505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06" name="Google Shape;3506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07" name="Google Shape;3507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08" name="Google Shape;3508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509" name="Google Shape;3509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$89,981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510" name="Google Shape;3510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1" name="Google Shape;3511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512" name="Google Shape;3512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13" name="Google Shape;3513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514" name="Google Shape;3514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15" name="Google Shape;3515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16" name="Google Shape;3516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17" name="Google Shape;3517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18" name="Google Shape;3518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9" name="Google Shape;3519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20" name="Google Shape;3520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1" name="Google Shape;3521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2" name="Google Shape;3522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3" name="Google Shape;3523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4" name="Google Shape;3524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5" name="Google Shape;3525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6" name="Google Shape;3526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27" name="Google Shape;3527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8" name="Google Shape;3528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29" name="Google Shape;3529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0" name="Google Shape;3530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1" name="Google Shape;3531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2" name="Google Shape;3532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3" name="Google Shape;3533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34" name="Google Shape;3534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</p:txBody>
      </p:sp>
      <p:sp>
        <p:nvSpPr>
          <p:cNvPr id="3535" name="Google Shape;3535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6" name="Google Shape;3536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7" name="Google Shape;3537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</p:txBody>
      </p:sp>
      <p:sp>
        <p:nvSpPr>
          <p:cNvPr id="3538" name="Google Shape;3538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39" name="Google Shape;3539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0" name="Google Shape;3540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41" name="Google Shape;3541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$19,559</a:t>
            </a:r>
            <a:endParaRPr/>
          </a:p>
        </p:txBody>
      </p:sp>
      <p:sp>
        <p:nvSpPr>
          <p:cNvPr id="3542" name="Google Shape;3542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$19,559</a:t>
            </a:r>
            <a:endParaRPr/>
          </a:p>
        </p:txBody>
      </p:sp>
      <p:sp>
        <p:nvSpPr>
          <p:cNvPr id="3543" name="Google Shape;3543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4" name="Google Shape;3544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5" name="Google Shape;3545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46" name="Google Shape;3546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7" name="Google Shape;3547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48" name="Google Shape;3548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$47,323</a:t>
            </a:r>
            <a:endParaRPr/>
          </a:p>
        </p:txBody>
      </p:sp>
      <p:sp>
        <p:nvSpPr>
          <p:cNvPr id="3549" name="Google Shape;3549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$47,323</a:t>
            </a:r>
            <a:endParaRPr/>
          </a:p>
        </p:txBody>
      </p:sp>
      <p:sp>
        <p:nvSpPr>
          <p:cNvPr id="3550" name="Google Shape;3550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1" name="Google Shape;3551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2" name="Google Shape;3552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3" name="Google Shape;3553;p25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4" name="Google Shape;3554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555" name="Google Shape;3555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6" name="Google Shape;3556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7" name="Google Shape;3557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8" name="Google Shape;3558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9" name="Google Shape;3559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60" name="Google Shape;3560;p25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1" name="Google Shape;3561;p25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62" name="Google Shape;3562;p25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$65,951</a:t>
            </a:r>
            <a:endParaRPr/>
          </a:p>
        </p:txBody>
      </p:sp>
      <p:sp>
        <p:nvSpPr>
          <p:cNvPr id="3563" name="Google Shape;3563;p25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$66,881</a:t>
            </a:r>
            <a:endParaRPr/>
          </a:p>
        </p:txBody>
      </p:sp>
      <p:sp>
        <p:nvSpPr>
          <p:cNvPr id="3564" name="Google Shape;3564;p25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65" name="Google Shape;3565;p25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</p:txBody>
      </p:sp>
      <p:sp>
        <p:nvSpPr>
          <p:cNvPr id="3566" name="Google Shape;3566;p25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67" name="Google Shape;3567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8" name="Google Shape;3568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569" name="Google Shape;3569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570" name="Google Shape;3570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571" name="Google Shape;3571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572" name="Google Shape;3572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573" name="Google Shape;3573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74" name="Google Shape;3574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75" name="Google Shape;3575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6" name="Google Shape;3576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577" name="Google Shape;3577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578" name="Google Shape;3578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79" name="Google Shape;3579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80" name="Google Shape;3580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1" name="Google Shape;3581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82" name="Google Shape;3582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3" name="Google Shape;3583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584" name="Google Shape;3584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85" name="Google Shape;3585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86" name="Google Shape;3586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87" name="Google Shape;3587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88" name="Google Shape;3588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89" name="Google Shape;3589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0" name="Google Shape;3590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591" name="Google Shape;3591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592" name="Google Shape;3592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593" name="Google Shape;3593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94" name="Google Shape;3594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95" name="Google Shape;3595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3596" name="Google Shape;3596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7" name="Google Shape;3597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98" name="Google Shape;3598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599" name="Google Shape;3599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00" name="Google Shape;3600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601" name="Google Shape;3601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02" name="Google Shape;3602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3603" name="Google Shape;3603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4" name="Google Shape;3604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05" name="Google Shape;3605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606" name="Google Shape;3606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07" name="Google Shape;3607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608" name="Google Shape;3608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09" name="Google Shape;3609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3610" name="Google Shape;3610;p25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1" name="Google Shape;3611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612" name="Google Shape;3612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13" name="Google Shape;3613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14" name="Google Shape;3614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15" name="Google Shape;3615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16" name="Google Shape;3616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617" name="Google Shape;3617;p25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8" name="Google Shape;3618;p2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19" name="Google Shape;3619;p25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3620" name="Google Shape;3620;p25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621" name="Google Shape;3621;p25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3622" name="Google Shape;3622;p25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23" name="Google Shape;3623;p25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8.0%</a:t>
            </a:r>
            <a:endParaRPr/>
          </a:p>
        </p:txBody>
      </p:sp>
      <p:sp>
        <p:nvSpPr>
          <p:cNvPr id="3624" name="Google Shape;3624;p25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5" name="Google Shape;3625;p25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626" name="Google Shape;3626;p25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627" name="Google Shape;3627;p25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628" name="Google Shape;3628;p2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629" name="Google Shape;3629;p25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630" name="Google Shape;3630;p25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631" name="Google Shape;3631;p25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632" name="Google Shape;3632;p25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633" name="Google Shape;3633;p25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634" name="Google Shape;3634;p25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635" name="Google Shape;3635;p25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636" name="Google Shape;3636;p25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637" name="Google Shape;3637;p25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638" name="Google Shape;3638;p2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639" name="Google Shape;3639;p25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640" name="Google Shape;3640;p25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641" name="Google Shape;3641;p25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642" name="Google Shape;3642;p25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643" name="Google Shape;3643;p25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644" name="Google Shape;3644;p25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45" name="Google Shape;3645;p25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46" name="Google Shape;3646;p25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47" name="Google Shape;3647;p25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48" name="Google Shape;3648;p2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49" name="Google Shape;3649;p25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650" name="Google Shape;3650;p25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651" name="Google Shape;3651;p25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652" name="Google Shape;3652;p25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653" name="Google Shape;3653;p25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54" name="Google Shape;3654;p25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655" name="Google Shape;3655;p25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3656" name="Google Shape;3656;p25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657" name="Google Shape;3657;p25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8" name="Google Shape;3658;p2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59" name="Google Shape;3659;p25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0" name="Google Shape;3660;p25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1" name="Google Shape;3661;p25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3662" name="Google Shape;3662;p25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$-931</a:t>
            </a:r>
            <a:endParaRPr/>
          </a:p>
        </p:txBody>
      </p:sp>
      <p:sp>
        <p:nvSpPr>
          <p:cNvPr id="3663" name="Google Shape;3663;p25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4" name="Google Shape;3664;p25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3665" name="Google Shape;3665;p25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$315</a:t>
            </a:r>
            <a:endParaRPr/>
          </a:p>
        </p:txBody>
      </p:sp>
      <p:sp>
        <p:nvSpPr>
          <p:cNvPr id="3666" name="Google Shape;3666;p25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3667" name="Google Shape;3667;p25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</a:t>
            </a:r>
            <a:endParaRPr/>
          </a:p>
        </p:txBody>
      </p:sp>
      <p:sp>
        <p:nvSpPr>
          <p:cNvPr id="3668" name="Google Shape;3668;p2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69" name="Google Shape;3669;p25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3670" name="Google Shape;3670;p25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$66K</a:t>
            </a:r>
            <a:endParaRPr/>
          </a:p>
        </p:txBody>
      </p:sp>
      <p:sp>
        <p:nvSpPr>
          <p:cNvPr id="3671" name="Google Shape;3671;p25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2" name="Google Shape;3672;p25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673" name="Google Shape;3673;p25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74" name="Google Shape;3674;p25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$65,951 YTD gross written premium</a:t>
            </a:r>
            <a:endParaRPr/>
          </a:p>
        </p:txBody>
      </p:sp>
      <p:sp>
        <p:nvSpPr>
          <p:cNvPr id="3675" name="Google Shape;3675;p25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676" name="Google Shape;3676;p25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$66,881 in new business production</a:t>
            </a:r>
            <a:endParaRPr/>
          </a:p>
        </p:txBody>
      </p:sp>
      <p:sp>
        <p:nvSpPr>
          <p:cNvPr id="3677" name="Google Shape;3677;p25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8" name="Google Shape;3678;p2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679" name="Google Shape;3679;p25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80" name="Google Shape;3680;p2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681" name="Google Shape;3681;p25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682" name="Google Shape;3682;p25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683" name="Google Shape;3683;p25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4" name="Google Shape;3684;p25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685" name="Google Shape;3685;p25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686" name="Google Shape;3686;p25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$66,881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687" name="Google Shape;3687;p25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688" name="Google Shape;3688;p2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92" name="Shape 3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3" name="Google Shape;3693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4" name="Google Shape;3694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Grbm Inc</a:t>
            </a:r>
            <a:endParaRPr/>
          </a:p>
        </p:txBody>
      </p:sp>
      <p:sp>
        <p:nvSpPr>
          <p:cNvPr id="3695" name="Google Shape;3695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Northeast  |  State: NY  |  City: Brewster</a:t>
            </a:r>
            <a:endParaRPr/>
          </a:p>
        </p:txBody>
      </p:sp>
      <p:sp>
        <p:nvSpPr>
          <p:cNvPr id="3696" name="Google Shape;3696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$62,337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697" name="Google Shape;3697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98" name="Google Shape;3698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99" name="Google Shape;3699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00" name="Google Shape;3700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$-17,975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01" name="Google Shape;3701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$147,805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702" name="Google Shape;3702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$121,562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703" name="Google Shape;3703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704" name="Google Shape;3704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05" name="Google Shape;3705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06" name="Google Shape;3706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07" name="Google Shape;3707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708" name="Google Shape;3708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$22,609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709" name="Google Shape;3709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0" name="Google Shape;3710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711" name="Google Shape;3711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12" name="Google Shape;3712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713" name="Google Shape;3713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14" name="Google Shape;3714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15" name="Google Shape;3715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16" name="Google Shape;3716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17" name="Google Shape;3717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8" name="Google Shape;3718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19" name="Google Shape;3719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$16,895</a:t>
            </a:r>
            <a:endParaRPr/>
          </a:p>
        </p:txBody>
      </p:sp>
      <p:sp>
        <p:nvSpPr>
          <p:cNvPr id="3720" name="Google Shape;3720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1" name="Google Shape;3721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2" name="Google Shape;3722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$16,895</a:t>
            </a:r>
            <a:endParaRPr/>
          </a:p>
        </p:txBody>
      </p:sp>
      <p:sp>
        <p:nvSpPr>
          <p:cNvPr id="3723" name="Google Shape;3723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$-16,895</a:t>
            </a:r>
            <a:endParaRPr/>
          </a:p>
        </p:txBody>
      </p:sp>
      <p:sp>
        <p:nvSpPr>
          <p:cNvPr id="3724" name="Google Shape;3724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5" name="Google Shape;3725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26" name="Google Shape;3726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7" name="Google Shape;3727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8" name="Google Shape;3728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29" name="Google Shape;3729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0" name="Google Shape;3730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1" name="Google Shape;3731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2" name="Google Shape;3732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33" name="Google Shape;3733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4" name="Google Shape;3734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5" name="Google Shape;3735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6" name="Google Shape;3736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7" name="Google Shape;3737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38" name="Google Shape;3738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9" name="Google Shape;3739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40" name="Google Shape;3740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</p:txBody>
      </p:sp>
      <p:sp>
        <p:nvSpPr>
          <p:cNvPr id="3741" name="Google Shape;3741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</p:txBody>
      </p:sp>
      <p:sp>
        <p:nvSpPr>
          <p:cNvPr id="3742" name="Google Shape;3742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43" name="Google Shape;3743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44" name="Google Shape;3744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$-1,080</a:t>
            </a:r>
            <a:endParaRPr/>
          </a:p>
        </p:txBody>
      </p:sp>
      <p:sp>
        <p:nvSpPr>
          <p:cNvPr id="3745" name="Google Shape;3745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6" name="Google Shape;3746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747" name="Google Shape;3747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</p:txBody>
      </p:sp>
      <p:sp>
        <p:nvSpPr>
          <p:cNvPr id="3748" name="Google Shape;3748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49" name="Google Shape;3749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</p:txBody>
      </p:sp>
      <p:sp>
        <p:nvSpPr>
          <p:cNvPr id="3750" name="Google Shape;3750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1" name="Google Shape;3751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2" name="Google Shape;3752;p26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3" name="Google Shape;3753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754" name="Google Shape;3754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5" name="Google Shape;3755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6" name="Google Shape;3756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7" name="Google Shape;3757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8" name="Google Shape;3758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59" name="Google Shape;3759;p26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0" name="Google Shape;3760;p26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761" name="Google Shape;3761;p26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$62,337</a:t>
            </a:r>
            <a:endParaRPr/>
          </a:p>
        </p:txBody>
      </p:sp>
      <p:sp>
        <p:nvSpPr>
          <p:cNvPr id="3762" name="Google Shape;3762;p26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</a:t>
            </a:r>
            <a:endParaRPr/>
          </a:p>
        </p:txBody>
      </p:sp>
      <p:sp>
        <p:nvSpPr>
          <p:cNvPr id="3763" name="Google Shape;3763;p26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$21,509</a:t>
            </a:r>
            <a:endParaRPr/>
          </a:p>
        </p:txBody>
      </p:sp>
      <p:sp>
        <p:nvSpPr>
          <p:cNvPr id="3764" name="Google Shape;3764;p26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$16,895</a:t>
            </a:r>
            <a:endParaRPr/>
          </a:p>
        </p:txBody>
      </p:sp>
      <p:sp>
        <p:nvSpPr>
          <p:cNvPr id="3765" name="Google Shape;3765;p26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$-17,975</a:t>
            </a:r>
            <a:endParaRPr/>
          </a:p>
        </p:txBody>
      </p:sp>
      <p:sp>
        <p:nvSpPr>
          <p:cNvPr id="3766" name="Google Shape;3766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7" name="Google Shape;3767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768" name="Google Shape;3768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69" name="Google Shape;3769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770" name="Google Shape;3770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771" name="Google Shape;3771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772" name="Google Shape;3772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73" name="Google Shape;3773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74" name="Google Shape;3774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5" name="Google Shape;3775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76" name="Google Shape;3776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777" name="Google Shape;3777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78" name="Google Shape;3778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779" name="Google Shape;3779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80" name="Google Shape;3780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81" name="Google Shape;3781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2" name="Google Shape;3782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83" name="Google Shape;3783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784" name="Google Shape;3784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85" name="Google Shape;3785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786" name="Google Shape;3786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87" name="Google Shape;3787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3788" name="Google Shape;3788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9" name="Google Shape;3789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90" name="Google Shape;3790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791" name="Google Shape;3791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792" name="Google Shape;3792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793" name="Google Shape;3793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94" name="Google Shape;3794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795" name="Google Shape;3795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6" name="Google Shape;3796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797" name="Google Shape;3797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798" name="Google Shape;3798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799" name="Google Shape;3799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3800" name="Google Shape;3800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01" name="Google Shape;3801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13.0%</a:t>
            </a:r>
            <a:endParaRPr/>
          </a:p>
        </p:txBody>
      </p:sp>
      <p:sp>
        <p:nvSpPr>
          <p:cNvPr id="3802" name="Google Shape;3802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3" name="Google Shape;3803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04" name="Google Shape;3804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805" name="Google Shape;3805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06" name="Google Shape;3806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807" name="Google Shape;3807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08" name="Google Shape;3808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09" name="Google Shape;3809;p26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0" name="Google Shape;3810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811" name="Google Shape;3811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12" name="Google Shape;3812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13" name="Google Shape;3813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14" name="Google Shape;3814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15" name="Google Shape;3815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816" name="Google Shape;3816;p26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7" name="Google Shape;3817;p26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18" name="Google Shape;3818;p2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3819" name="Google Shape;3819;p26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20" name="Google Shape;3820;p26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3821" name="Google Shape;3821;p26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22" name="Google Shape;3822;p26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3823" name="Google Shape;3823;p26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4" name="Google Shape;3824;p26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3825" name="Google Shape;3825;p26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826" name="Google Shape;3826;p26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827" name="Google Shape;3827;p26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828" name="Google Shape;3828;p2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829" name="Google Shape;3829;p26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830" name="Google Shape;3830;p26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831" name="Google Shape;3831;p26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832" name="Google Shape;3832;p26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833" name="Google Shape;3833;p26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834" name="Google Shape;3834;p26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835" name="Google Shape;3835;p26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836" name="Google Shape;3836;p26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3837" name="Google Shape;3837;p26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3838" name="Google Shape;3838;p2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3839" name="Google Shape;3839;p26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3840" name="Google Shape;3840;p26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41" name="Google Shape;3841;p26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842" name="Google Shape;3842;p26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843" name="Google Shape;3843;p26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844" name="Google Shape;3844;p26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845" name="Google Shape;3845;p26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846" name="Google Shape;3846;p26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847" name="Google Shape;3847;p26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848" name="Google Shape;3848;p2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849" name="Google Shape;3849;p26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850" name="Google Shape;3850;p26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851" name="Google Shape;3851;p26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852" name="Google Shape;3852;p26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853" name="Google Shape;3853;p26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</a:t>
            </a:r>
            <a:endParaRPr/>
          </a:p>
        </p:txBody>
      </p:sp>
      <p:sp>
        <p:nvSpPr>
          <p:cNvPr id="3854" name="Google Shape;3854;p26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3855" name="Google Shape;3855;p26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856" name="Google Shape;3856;p26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57" name="Google Shape;3857;p26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858" name="Google Shape;3858;p2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3859" name="Google Shape;3859;p26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0" name="Google Shape;3860;p26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3861" name="Google Shape;3861;p26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2" name="Google Shape;3862;p26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3" name="Google Shape;3863;p26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864" name="Google Shape;3864;p26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3865" name="Google Shape;3865;p26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3866" name="Google Shape;3866;p26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3867" name="Google Shape;3867;p26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68" name="Google Shape;3868;p2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$89K</a:t>
            </a:r>
            <a:endParaRPr/>
          </a:p>
        </p:txBody>
      </p:sp>
      <p:sp>
        <p:nvSpPr>
          <p:cNvPr id="3869" name="Google Shape;3869;p26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3870" name="Google Shape;3870;p26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1" name="Google Shape;3871;p26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872" name="Google Shape;3872;p26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73" name="Google Shape;3873;p26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$62,337 YTD gross written premium</a:t>
            </a:r>
            <a:endParaRPr/>
          </a:p>
        </p:txBody>
      </p:sp>
      <p:sp>
        <p:nvSpPr>
          <p:cNvPr id="3874" name="Google Shape;3874;p26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875" name="Google Shape;3875;p26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$23,933 in new business production</a:t>
            </a:r>
            <a:endParaRPr/>
          </a:p>
        </p:txBody>
      </p:sp>
      <p:sp>
        <p:nvSpPr>
          <p:cNvPr id="3876" name="Google Shape;3876;p26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7" name="Google Shape;3877;p26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878" name="Google Shape;3878;p2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79" name="Google Shape;3879;p26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75% of new business ($17,975)</a:t>
            </a:r>
            <a:endParaRPr/>
          </a:p>
        </p:txBody>
      </p:sp>
      <p:sp>
        <p:nvSpPr>
          <p:cNvPr id="3880" name="Google Shape;3880;p2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881" name="Google Shape;3881;p26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23 to 9 MoM</a:t>
            </a:r>
            <a:endParaRPr/>
          </a:p>
        </p:txBody>
      </p:sp>
      <p:sp>
        <p:nvSpPr>
          <p:cNvPr id="3882" name="Google Shape;3882;p2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3" name="Google Shape;3883;p26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884" name="Google Shape;3884;p26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885" name="Google Shape;3885;p26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$23,933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886" name="Google Shape;3886;p26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887" name="Google Shape;3887;p26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$17,975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91" name="Shape 3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2" name="Google Shape;3892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3" name="Google Shape;3893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Jabbarco Insurance Group, Inc.</a:t>
            </a:r>
            <a:endParaRPr/>
          </a:p>
        </p:txBody>
      </p:sp>
      <p:sp>
        <p:nvSpPr>
          <p:cNvPr id="3894" name="Google Shape;3894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N/A  |  City: Fesasterville</a:t>
            </a:r>
            <a:endParaRPr/>
          </a:p>
        </p:txBody>
      </p:sp>
      <p:sp>
        <p:nvSpPr>
          <p:cNvPr id="3895" name="Google Shape;3895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$50,422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896" name="Google Shape;3896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$49,329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897" name="Google Shape;3897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898" name="Google Shape;3898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899" name="Google Shape;3899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00" name="Google Shape;3900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01" name="Google Shape;3901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$50,422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02" name="Google Shape;3902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03" name="Google Shape;3903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04" name="Google Shape;3904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05" name="Google Shape;3905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06" name="Google Shape;3906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907" name="Google Shape;3907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$33,264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908" name="Google Shape;3908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9" name="Google Shape;3909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910" name="Google Shape;3910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11" name="Google Shape;3911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912" name="Google Shape;3912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13" name="Google Shape;3913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14" name="Google Shape;3914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15" name="Google Shape;3915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16" name="Google Shape;3916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7" name="Google Shape;3917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18" name="Google Shape;3918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19" name="Google Shape;3919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0" name="Google Shape;3920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1" name="Google Shape;3921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2" name="Google Shape;3922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3" name="Google Shape;3923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4" name="Google Shape;3924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25" name="Google Shape;3925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6" name="Google Shape;3926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7" name="Google Shape;3927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8" name="Google Shape;3928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29" name="Google Shape;3929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0" name="Google Shape;3930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1" name="Google Shape;3931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32" name="Google Shape;3932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3" name="Google Shape;3933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4" name="Google Shape;3934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5" name="Google Shape;3935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6" name="Google Shape;3936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37" name="Google Shape;3937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8" name="Google Shape;3938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39" name="Google Shape;3939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$30,871</a:t>
            </a:r>
            <a:endParaRPr/>
          </a:p>
        </p:txBody>
      </p:sp>
      <p:sp>
        <p:nvSpPr>
          <p:cNvPr id="3940" name="Google Shape;3940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$30,871</a:t>
            </a:r>
            <a:endParaRPr/>
          </a:p>
        </p:txBody>
      </p:sp>
      <p:sp>
        <p:nvSpPr>
          <p:cNvPr id="3941" name="Google Shape;3941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2" name="Google Shape;3942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3" name="Google Shape;3943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4" name="Google Shape;3944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5" name="Google Shape;3945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46" name="Google Shape;3946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$15,257</a:t>
            </a:r>
            <a:endParaRPr/>
          </a:p>
        </p:txBody>
      </p:sp>
      <p:sp>
        <p:nvSpPr>
          <p:cNvPr id="3947" name="Google Shape;3947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$14,164</a:t>
            </a:r>
            <a:endParaRPr/>
          </a:p>
        </p:txBody>
      </p:sp>
      <p:sp>
        <p:nvSpPr>
          <p:cNvPr id="3948" name="Google Shape;3948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49" name="Google Shape;3949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$1,093</a:t>
            </a:r>
            <a:endParaRPr/>
          </a:p>
        </p:txBody>
      </p:sp>
      <p:sp>
        <p:nvSpPr>
          <p:cNvPr id="3950" name="Google Shape;3950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1" name="Google Shape;3951;p27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2" name="Google Shape;3952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3953" name="Google Shape;3953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$4,294</a:t>
            </a:r>
            <a:endParaRPr/>
          </a:p>
        </p:txBody>
      </p:sp>
      <p:sp>
        <p:nvSpPr>
          <p:cNvPr id="3954" name="Google Shape;3954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$4,294</a:t>
            </a:r>
            <a:endParaRPr/>
          </a:p>
        </p:txBody>
      </p:sp>
      <p:sp>
        <p:nvSpPr>
          <p:cNvPr id="3955" name="Google Shape;3955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6" name="Google Shape;3956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7" name="Google Shape;3957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58" name="Google Shape;3958;p2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9" name="Google Shape;3959;p27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60" name="Google Shape;3960;p27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$50,422</a:t>
            </a:r>
            <a:endParaRPr/>
          </a:p>
        </p:txBody>
      </p:sp>
      <p:sp>
        <p:nvSpPr>
          <p:cNvPr id="3961" name="Google Shape;3961;p27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$49,329</a:t>
            </a:r>
            <a:endParaRPr/>
          </a:p>
        </p:txBody>
      </p:sp>
      <p:sp>
        <p:nvSpPr>
          <p:cNvPr id="3962" name="Google Shape;3962;p27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3" name="Google Shape;3963;p27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$1,093</a:t>
            </a:r>
            <a:endParaRPr/>
          </a:p>
        </p:txBody>
      </p:sp>
      <p:sp>
        <p:nvSpPr>
          <p:cNvPr id="3964" name="Google Shape;3964;p27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5" name="Google Shape;3965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6" name="Google Shape;3966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967" name="Google Shape;3967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68" name="Google Shape;3968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969" name="Google Shape;3969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970" name="Google Shape;3970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971" name="Google Shape;3971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72" name="Google Shape;3972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73" name="Google Shape;3973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4" name="Google Shape;3974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75" name="Google Shape;3975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76" name="Google Shape;3976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77" name="Google Shape;3977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78" name="Google Shape;3978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79" name="Google Shape;3979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80" name="Google Shape;3980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1" name="Google Shape;3981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82" name="Google Shape;3982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3" name="Google Shape;3983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4" name="Google Shape;3984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5" name="Google Shape;3985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86" name="Google Shape;3986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87" name="Google Shape;3987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8" name="Google Shape;3988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89" name="Google Shape;3989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0" name="Google Shape;3990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1" name="Google Shape;3991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2" name="Google Shape;3992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993" name="Google Shape;3993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994" name="Google Shape;3994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5" name="Google Shape;3995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96" name="Google Shape;3996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3997" name="Google Shape;3997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998" name="Google Shape;3998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3999" name="Google Shape;3999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000" name="Google Shape;4000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4001" name="Google Shape;4001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2" name="Google Shape;4002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03" name="Google Shape;4003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004" name="Google Shape;4004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05" name="Google Shape;4005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006" name="Google Shape;4006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07" name="Google Shape;4007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18.8%</a:t>
            </a:r>
            <a:endParaRPr/>
          </a:p>
        </p:txBody>
      </p:sp>
      <p:sp>
        <p:nvSpPr>
          <p:cNvPr id="4008" name="Google Shape;4008;p2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9" name="Google Shape;4009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010" name="Google Shape;4010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1" name="Google Shape;4011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2" name="Google Shape;4012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3" name="Google Shape;4013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14" name="Google Shape;4014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015" name="Google Shape;4015;p27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6" name="Google Shape;4016;p27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17" name="Google Shape;4017;p27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018" name="Google Shape;4018;p2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19" name="Google Shape;4019;p27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020" name="Google Shape;4020;p27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021" name="Google Shape;4021;p27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19.6%</a:t>
            </a:r>
            <a:endParaRPr/>
          </a:p>
        </p:txBody>
      </p:sp>
      <p:sp>
        <p:nvSpPr>
          <p:cNvPr id="4022" name="Google Shape;4022;p27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3" name="Google Shape;4023;p27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024" name="Google Shape;4024;p27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25" name="Google Shape;4025;p27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026" name="Google Shape;4026;p27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027" name="Google Shape;4027;p27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028" name="Google Shape;4028;p2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029" name="Google Shape;4029;p27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030" name="Google Shape;4030;p27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031" name="Google Shape;4031;p27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032" name="Google Shape;4032;p27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033" name="Google Shape;4033;p27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034" name="Google Shape;4034;p27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035" name="Google Shape;4035;p27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036" name="Google Shape;4036;p27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037" name="Google Shape;4037;p27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038" name="Google Shape;4038;p2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039" name="Google Shape;4039;p27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40" name="Google Shape;4040;p27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1" name="Google Shape;4041;p27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2" name="Google Shape;4042;p27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3" name="Google Shape;4043;p27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4" name="Google Shape;4044;p27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5" name="Google Shape;4045;p27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6" name="Google Shape;4046;p27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7" name="Google Shape;4047;p27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048" name="Google Shape;4048;p2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49" name="Google Shape;4049;p27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050" name="Google Shape;4050;p27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1" name="Google Shape;4051;p27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2" name="Google Shape;4052;p27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053" name="Google Shape;4053;p27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4054" name="Google Shape;4054;p27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055" name="Google Shape;4055;p27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6" name="Google Shape;4056;p27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7" name="Google Shape;4057;p27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8" name="Google Shape;4058;p2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59" name="Google Shape;4059;p27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0" name="Google Shape;4060;p27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1" name="Google Shape;4061;p27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2" name="Google Shape;4062;p27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4063" name="Google Shape;4063;p27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4" name="Google Shape;4064;p27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4065" name="Google Shape;4065;p27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6" name="Google Shape;4066;p27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4067" name="Google Shape;4067;p27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68" name="Google Shape;4068;p2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4069" name="Google Shape;4069;p27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0" name="Google Shape;4070;p27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071" name="Google Shape;4071;p27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72" name="Google Shape;4072;p27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$50,422 YTD gross written premium</a:t>
            </a:r>
            <a:endParaRPr/>
          </a:p>
        </p:txBody>
      </p:sp>
      <p:sp>
        <p:nvSpPr>
          <p:cNvPr id="4073" name="Google Shape;4073;p27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74" name="Google Shape;4074;p27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$49,329 in new business production</a:t>
            </a:r>
            <a:endParaRPr/>
          </a:p>
        </p:txBody>
      </p:sp>
      <p:sp>
        <p:nvSpPr>
          <p:cNvPr id="4075" name="Google Shape;4075;p27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6" name="Google Shape;4076;p27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077" name="Google Shape;4077;p27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78" name="Google Shape;4078;p2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72% month-over-month</a:t>
            </a:r>
            <a:endParaRPr/>
          </a:p>
        </p:txBody>
      </p:sp>
      <p:sp>
        <p:nvSpPr>
          <p:cNvPr id="4079" name="Google Shape;4079;p27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080" name="Google Shape;4080;p2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36 to 16 MoM</a:t>
            </a:r>
            <a:endParaRPr/>
          </a:p>
        </p:txBody>
      </p:sp>
      <p:sp>
        <p:nvSpPr>
          <p:cNvPr id="4081" name="Google Shape;4081;p27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2" name="Google Shape;4082;p2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083" name="Google Shape;4083;p27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084" name="Google Shape;4084;p27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$49,329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085" name="Google Shape;4085;p27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086" name="Google Shape;4086;p27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90" name="Shape 4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1" name="Google Shape;4091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2" name="Google Shape;4092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Mcculloh Insurance Group LLC</a:t>
            </a:r>
            <a:endParaRPr/>
          </a:p>
        </p:txBody>
      </p:sp>
      <p:sp>
        <p:nvSpPr>
          <p:cNvPr id="4093" name="Google Shape;4093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MD  |  City: Bethesda</a:t>
            </a:r>
            <a:endParaRPr/>
          </a:p>
        </p:txBody>
      </p:sp>
      <p:sp>
        <p:nvSpPr>
          <p:cNvPr id="4094" name="Google Shape;4094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$48,270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095" name="Google Shape;4095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$39,085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096" name="Google Shape;4096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097" name="Google Shape;4097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098" name="Google Shape;4098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$-9,185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099" name="Google Shape;4099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$231,042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00" name="Google Shape;4100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$91,150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01" name="Google Shape;4101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02" name="Google Shape;4102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03" name="Google Shape;4103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04" name="Google Shape;4104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05" name="Google Shape;4105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06" name="Google Shape;4106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$52,232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07" name="Google Shape;4107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8" name="Google Shape;4108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09" name="Google Shape;4109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10" name="Google Shape;4110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11" name="Google Shape;4111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12" name="Google Shape;4112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13" name="Google Shape;4113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14" name="Google Shape;4114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15" name="Google Shape;4115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6" name="Google Shape;4116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17" name="Google Shape;4117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$9,185</a:t>
            </a:r>
            <a:endParaRPr/>
          </a:p>
        </p:txBody>
      </p:sp>
      <p:sp>
        <p:nvSpPr>
          <p:cNvPr id="4118" name="Google Shape;4118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19" name="Google Shape;4119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0" name="Google Shape;4120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$9,185</a:t>
            </a:r>
            <a:endParaRPr/>
          </a:p>
        </p:txBody>
      </p:sp>
      <p:sp>
        <p:nvSpPr>
          <p:cNvPr id="4121" name="Google Shape;4121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$-9,185</a:t>
            </a:r>
            <a:endParaRPr/>
          </a:p>
        </p:txBody>
      </p:sp>
      <p:sp>
        <p:nvSpPr>
          <p:cNvPr id="4122" name="Google Shape;4122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3" name="Google Shape;4123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24" name="Google Shape;4124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5" name="Google Shape;4125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6" name="Google Shape;4126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7" name="Google Shape;4127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8" name="Google Shape;4128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29" name="Google Shape;4129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0" name="Google Shape;4130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31" name="Google Shape;4131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$13,125</a:t>
            </a:r>
            <a:endParaRPr/>
          </a:p>
        </p:txBody>
      </p:sp>
      <p:sp>
        <p:nvSpPr>
          <p:cNvPr id="4132" name="Google Shape;4132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$13,125</a:t>
            </a:r>
            <a:endParaRPr/>
          </a:p>
        </p:txBody>
      </p:sp>
      <p:sp>
        <p:nvSpPr>
          <p:cNvPr id="4133" name="Google Shape;4133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4" name="Google Shape;4134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5" name="Google Shape;4135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6" name="Google Shape;4136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7" name="Google Shape;4137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38" name="Google Shape;4138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39" name="Google Shape;4139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0" name="Google Shape;4140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1" name="Google Shape;4141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2" name="Google Shape;4142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3" name="Google Shape;4143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4" name="Google Shape;4144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45" name="Google Shape;4145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$25,960</a:t>
            </a:r>
            <a:endParaRPr/>
          </a:p>
        </p:txBody>
      </p:sp>
      <p:sp>
        <p:nvSpPr>
          <p:cNvPr id="4146" name="Google Shape;4146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$25,960</a:t>
            </a:r>
            <a:endParaRPr/>
          </a:p>
        </p:txBody>
      </p:sp>
      <p:sp>
        <p:nvSpPr>
          <p:cNvPr id="4147" name="Google Shape;4147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8" name="Google Shape;4148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9" name="Google Shape;4149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0" name="Google Shape;4150;p28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1" name="Google Shape;4151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152" name="Google Shape;4152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3" name="Google Shape;4153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4" name="Google Shape;4154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5" name="Google Shape;4155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6" name="Google Shape;4156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7" name="Google Shape;4157;p28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8" name="Google Shape;4158;p2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59" name="Google Shape;4159;p28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$48,270</a:t>
            </a:r>
            <a:endParaRPr/>
          </a:p>
        </p:txBody>
      </p:sp>
      <p:sp>
        <p:nvSpPr>
          <p:cNvPr id="4160" name="Google Shape;4160;p28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$39,085</a:t>
            </a:r>
            <a:endParaRPr/>
          </a:p>
        </p:txBody>
      </p:sp>
      <p:sp>
        <p:nvSpPr>
          <p:cNvPr id="4161" name="Google Shape;4161;p28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2" name="Google Shape;4162;p28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$9,185</a:t>
            </a:r>
            <a:endParaRPr/>
          </a:p>
        </p:txBody>
      </p:sp>
      <p:sp>
        <p:nvSpPr>
          <p:cNvPr id="4163" name="Google Shape;4163;p28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$-9,185</a:t>
            </a:r>
            <a:endParaRPr/>
          </a:p>
        </p:txBody>
      </p:sp>
      <p:sp>
        <p:nvSpPr>
          <p:cNvPr id="4164" name="Google Shape;4164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5" name="Google Shape;4165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166" name="Google Shape;4166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67" name="Google Shape;4167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168" name="Google Shape;4168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169" name="Google Shape;4169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170" name="Google Shape;4170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71" name="Google Shape;4171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72" name="Google Shape;4172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3" name="Google Shape;4173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74" name="Google Shape;4174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175" name="Google Shape;4175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76" name="Google Shape;4176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177" name="Google Shape;4177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78" name="Google Shape;4178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179" name="Google Shape;4179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0" name="Google Shape;4180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81" name="Google Shape;4181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182" name="Google Shape;4182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83" name="Google Shape;4183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184" name="Google Shape;4184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85" name="Google Shape;4185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4186" name="Google Shape;4186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7" name="Google Shape;4187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88" name="Google Shape;4188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189" name="Google Shape;4189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0" name="Google Shape;4190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191" name="Google Shape;4191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2" name="Google Shape;4192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4193" name="Google Shape;4193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4" name="Google Shape;4194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95" name="Google Shape;4195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196" name="Google Shape;4196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7" name="Google Shape;4197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198" name="Google Shape;4198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199" name="Google Shape;4199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4200" name="Google Shape;4200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1" name="Google Shape;4201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02" name="Google Shape;4202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03" name="Google Shape;4203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4" name="Google Shape;4204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05" name="Google Shape;4205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6" name="Google Shape;4206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07" name="Google Shape;4207;p28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8" name="Google Shape;4208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209" name="Google Shape;4209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0" name="Google Shape;4210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1" name="Google Shape;4211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2" name="Google Shape;4212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3" name="Google Shape;4213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14" name="Google Shape;4214;p28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5" name="Google Shape;4215;p28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16" name="Google Shape;4216;p28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217" name="Google Shape;4217;p28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8" name="Google Shape;4218;p2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219" name="Google Shape;4219;p28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20" name="Google Shape;4220;p28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4221" name="Google Shape;4221;p28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2" name="Google Shape;4222;p28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223" name="Google Shape;4223;p28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24" name="Google Shape;4224;p28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25" name="Google Shape;4225;p28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26" name="Google Shape;4226;p28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27" name="Google Shape;4227;p28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28" name="Google Shape;4228;p2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229" name="Google Shape;4229;p28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230" name="Google Shape;4230;p28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231" name="Google Shape;4231;p28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232" name="Google Shape;4232;p28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233" name="Google Shape;4233;p28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234" name="Google Shape;4234;p28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235" name="Google Shape;4235;p28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236" name="Google Shape;4236;p28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237" name="Google Shape;4237;p28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238" name="Google Shape;4238;p2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39" name="Google Shape;4239;p28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40" name="Google Shape;4240;p28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241" name="Google Shape;4241;p28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242" name="Google Shape;4242;p28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43" name="Google Shape;4243;p28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44" name="Google Shape;4244;p28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245" name="Google Shape;4245;p28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246" name="Google Shape;4246;p28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47" name="Google Shape;4247;p28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48" name="Google Shape;4248;p2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49" name="Google Shape;4249;p28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250" name="Google Shape;4250;p28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51" name="Google Shape;4251;p28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4252" name="Google Shape;4252;p28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4253" name="Google Shape;4253;p28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254" name="Google Shape;4254;p28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4255" name="Google Shape;4255;p28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4256" name="Google Shape;4256;p28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4257" name="Google Shape;4257;p28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58" name="Google Shape;4258;p2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4259" name="Google Shape;4259;p28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4260" name="Google Shape;4260;p28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4261" name="Google Shape;4261;p28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2" name="Google Shape;4262;p28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3" name="Google Shape;4263;p28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4264" name="Google Shape;4264;p28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4265" name="Google Shape;4265;p28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6" name="Google Shape;4266;p28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$188K</a:t>
            </a:r>
            <a:endParaRPr/>
          </a:p>
        </p:txBody>
      </p:sp>
      <p:sp>
        <p:nvSpPr>
          <p:cNvPr id="4267" name="Google Shape;4267;p28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4268" name="Google Shape;4268;p2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9" name="Google Shape;4269;p28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270" name="Google Shape;4270;p28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71" name="Google Shape;4271;p28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$48,270 YTD gross written premium</a:t>
            </a:r>
            <a:endParaRPr/>
          </a:p>
        </p:txBody>
      </p:sp>
      <p:sp>
        <p:nvSpPr>
          <p:cNvPr id="4272" name="Google Shape;4272;p28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73" name="Google Shape;4273;p28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$39,085 in new business production</a:t>
            </a:r>
            <a:endParaRPr/>
          </a:p>
        </p:txBody>
      </p:sp>
      <p:sp>
        <p:nvSpPr>
          <p:cNvPr id="4274" name="Google Shape;4274;p28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5" name="Google Shape;4275;p28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276" name="Google Shape;4276;p28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77" name="Google Shape;4277;p28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4278" name="Google Shape;4278;p2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79" name="Google Shape;4279;p28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4280" name="Google Shape;4280;p2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1" name="Google Shape;4281;p28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282" name="Google Shape;4282;p2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283" name="Google Shape;4283;p28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$39,085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284" name="Google Shape;4284;p28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285" name="Google Shape;4285;p28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89" name="Shape 4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0" name="Google Shape;4290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1" name="Google Shape;4291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Northern Insurance Specialists LLC</a:t>
            </a:r>
            <a:endParaRPr/>
          </a:p>
        </p:txBody>
      </p:sp>
      <p:sp>
        <p:nvSpPr>
          <p:cNvPr id="4292" name="Google Shape;4292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Lititz</a:t>
            </a:r>
            <a:endParaRPr/>
          </a:p>
        </p:txBody>
      </p:sp>
      <p:sp>
        <p:nvSpPr>
          <p:cNvPr id="4293" name="Google Shape;4293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$43,959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294" name="Google Shape;4294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95" name="Google Shape;4295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96" name="Google Shape;4296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97" name="Google Shape;4297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98" name="Google Shape;4298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$258,552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299" name="Google Shape;4299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$114,960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00" name="Google Shape;4300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01" name="Google Shape;4301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02" name="Google Shape;4302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03" name="Google Shape;4303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04" name="Google Shape;4304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05" name="Google Shape;4305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$33,256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06" name="Google Shape;4306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7" name="Google Shape;4307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08" name="Google Shape;4308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09" name="Google Shape;4309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10" name="Google Shape;4310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11" name="Google Shape;4311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12" name="Google Shape;4312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13" name="Google Shape;4313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14" name="Google Shape;4314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5" name="Google Shape;4315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16" name="Google Shape;4316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7" name="Google Shape;4317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8" name="Google Shape;4318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9" name="Google Shape;4319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0" name="Google Shape;4320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1" name="Google Shape;4321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2" name="Google Shape;4322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23" name="Google Shape;4323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</a:t>
            </a:r>
            <a:endParaRPr/>
          </a:p>
        </p:txBody>
      </p:sp>
      <p:sp>
        <p:nvSpPr>
          <p:cNvPr id="4324" name="Google Shape;4324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</a:t>
            </a:r>
            <a:endParaRPr/>
          </a:p>
        </p:txBody>
      </p:sp>
      <p:sp>
        <p:nvSpPr>
          <p:cNvPr id="4325" name="Google Shape;4325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6" name="Google Shape;4326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7" name="Google Shape;4327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8" name="Google Shape;4328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9" name="Google Shape;4329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30" name="Google Shape;4330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$19,564</a:t>
            </a:r>
            <a:endParaRPr/>
          </a:p>
        </p:txBody>
      </p:sp>
      <p:sp>
        <p:nvSpPr>
          <p:cNvPr id="4331" name="Google Shape;4331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2" name="Google Shape;4332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$19,564</a:t>
            </a:r>
            <a:endParaRPr/>
          </a:p>
        </p:txBody>
      </p:sp>
      <p:sp>
        <p:nvSpPr>
          <p:cNvPr id="4333" name="Google Shape;4333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4" name="Google Shape;4334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5" name="Google Shape;4335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6" name="Google Shape;4336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37" name="Google Shape;4337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$10,153</a:t>
            </a:r>
            <a:endParaRPr/>
          </a:p>
        </p:txBody>
      </p:sp>
      <p:sp>
        <p:nvSpPr>
          <p:cNvPr id="4338" name="Google Shape;4338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9" name="Google Shape;4339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0" name="Google Shape;4340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$10,153</a:t>
            </a:r>
            <a:endParaRPr/>
          </a:p>
        </p:txBody>
      </p:sp>
      <p:sp>
        <p:nvSpPr>
          <p:cNvPr id="4341" name="Google Shape;4341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2" name="Google Shape;4342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3" name="Google Shape;4343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44" name="Google Shape;4344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5" name="Google Shape;4345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6" name="Google Shape;4346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7" name="Google Shape;4347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8" name="Google Shape;4348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9" name="Google Shape;4349;p29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0" name="Google Shape;4350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351" name="Google Shape;4351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2" name="Google Shape;4352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3" name="Google Shape;4353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4" name="Google Shape;4354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5" name="Google Shape;4355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6" name="Google Shape;4356;p29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7" name="Google Shape;4357;p29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58" name="Google Shape;4358;p2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$43,959</a:t>
            </a:r>
            <a:endParaRPr/>
          </a:p>
        </p:txBody>
      </p:sp>
      <p:sp>
        <p:nvSpPr>
          <p:cNvPr id="4359" name="Google Shape;4359;p29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</a:t>
            </a:r>
            <a:endParaRPr/>
          </a:p>
        </p:txBody>
      </p:sp>
      <p:sp>
        <p:nvSpPr>
          <p:cNvPr id="4360" name="Google Shape;4360;p29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$19,564</a:t>
            </a:r>
            <a:endParaRPr/>
          </a:p>
        </p:txBody>
      </p:sp>
      <p:sp>
        <p:nvSpPr>
          <p:cNvPr id="4361" name="Google Shape;4361;p29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$10,153</a:t>
            </a:r>
            <a:endParaRPr/>
          </a:p>
        </p:txBody>
      </p:sp>
      <p:sp>
        <p:nvSpPr>
          <p:cNvPr id="4362" name="Google Shape;4362;p29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63" name="Google Shape;4363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4" name="Google Shape;4364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365" name="Google Shape;4365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66" name="Google Shape;4366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367" name="Google Shape;4367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368" name="Google Shape;4368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369" name="Google Shape;4369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70" name="Google Shape;4370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71" name="Google Shape;4371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2" name="Google Shape;4372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73" name="Google Shape;4373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374" name="Google Shape;4374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75" name="Google Shape;4375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376" name="Google Shape;4376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77" name="Google Shape;4377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4378" name="Google Shape;4378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9" name="Google Shape;4379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80" name="Google Shape;4380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381" name="Google Shape;4381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382" name="Google Shape;4382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383" name="Google Shape;4383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84" name="Google Shape;4384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85" name="Google Shape;4385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6" name="Google Shape;4386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87" name="Google Shape;4387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388" name="Google Shape;4388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89" name="Google Shape;4389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390" name="Google Shape;4390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1" name="Google Shape;4391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392" name="Google Shape;4392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3" name="Google Shape;4393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94" name="Google Shape;4394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95" name="Google Shape;4395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396" name="Google Shape;4396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97" name="Google Shape;4397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98" name="Google Shape;4398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4399" name="Google Shape;4399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0" name="Google Shape;4400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401" name="Google Shape;4401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02" name="Google Shape;4402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3" name="Google Shape;4403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04" name="Google Shape;4404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05" name="Google Shape;4405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4406" name="Google Shape;4406;p29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7" name="Google Shape;4407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408" name="Google Shape;4408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09" name="Google Shape;4409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0" name="Google Shape;4410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1" name="Google Shape;4411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12" name="Google Shape;4412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413" name="Google Shape;4413;p29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4" name="Google Shape;4414;p29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15" name="Google Shape;4415;p29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4416" name="Google Shape;4416;p29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417" name="Google Shape;4417;p29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4418" name="Google Shape;4418;p2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19" name="Google Shape;4419;p29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4420" name="Google Shape;4420;p29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1" name="Google Shape;4421;p29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422" name="Google Shape;4422;p29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23" name="Google Shape;4423;p29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24" name="Google Shape;4424;p29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25" name="Google Shape;4425;p29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26" name="Google Shape;4426;p29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27" name="Google Shape;4427;p29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28" name="Google Shape;4428;p2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29" name="Google Shape;4429;p29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30" name="Google Shape;4430;p29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31" name="Google Shape;4431;p29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32" name="Google Shape;4432;p29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33" name="Google Shape;4433;p29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434" name="Google Shape;4434;p29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435" name="Google Shape;4435;p29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436" name="Google Shape;4436;p29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437" name="Google Shape;4437;p29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38" name="Google Shape;4438;p2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4439" name="Google Shape;4439;p29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440" name="Google Shape;4440;p29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441" name="Google Shape;4441;p29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442" name="Google Shape;4442;p29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443" name="Google Shape;4443;p29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444" name="Google Shape;4444;p29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445" name="Google Shape;4445;p29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46" name="Google Shape;4446;p29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447" name="Google Shape;4447;p29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448" name="Google Shape;4448;p2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449" name="Google Shape;4449;p29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450" name="Google Shape;4450;p29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4451" name="Google Shape;4451;p29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4452" name="Google Shape;4452;p29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53" name="Google Shape;4453;p29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4454" name="Google Shape;4454;p29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55" name="Google Shape;4455;p29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4456" name="Google Shape;4456;p29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4457" name="Google Shape;4457;p29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$76K</a:t>
            </a:r>
            <a:endParaRPr/>
          </a:p>
        </p:txBody>
      </p:sp>
      <p:sp>
        <p:nvSpPr>
          <p:cNvPr id="4458" name="Google Shape;4458;p2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4459" name="Google Shape;4459;p29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$399</a:t>
            </a:r>
            <a:endParaRPr/>
          </a:p>
        </p:txBody>
      </p:sp>
      <p:sp>
        <p:nvSpPr>
          <p:cNvPr id="4460" name="Google Shape;4460;p29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4461" name="Google Shape;4461;p29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4462" name="Google Shape;4462;p29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3" name="Google Shape;4463;p29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4464" name="Google Shape;4464;p29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65" name="Google Shape;4465;p29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$188K</a:t>
            </a:r>
            <a:endParaRPr/>
          </a:p>
        </p:txBody>
      </p:sp>
      <p:sp>
        <p:nvSpPr>
          <p:cNvPr id="4466" name="Google Shape;4466;p29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4467" name="Google Shape;4467;p29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8" name="Google Shape;4468;p2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69" name="Google Shape;4469;p29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70" name="Google Shape;4470;p29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$43,959 YTD gross written premium</a:t>
            </a:r>
            <a:endParaRPr/>
          </a:p>
        </p:txBody>
      </p:sp>
      <p:sp>
        <p:nvSpPr>
          <p:cNvPr id="4471" name="Google Shape;4471;p29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72" name="Google Shape;4472;p29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$14,242 in new business production</a:t>
            </a:r>
            <a:endParaRPr/>
          </a:p>
        </p:txBody>
      </p:sp>
      <p:sp>
        <p:nvSpPr>
          <p:cNvPr id="4473" name="Google Shape;4473;p29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4" name="Google Shape;4474;p29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475" name="Google Shape;4475;p29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76" name="Google Shape;4476;p29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4477" name="Google Shape;4477;p29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8" name="Google Shape;4478;p2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479" name="Google Shape;4479;p29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480" name="Google Shape;4480;p2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$14,242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481" name="Google Shape;4481;p29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482" name="Google Shape;4482;p29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86" name="Shape 4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7" name="Google Shape;4487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8" name="Google Shape;4488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Lux Insurance Llc</a:t>
            </a:r>
            <a:endParaRPr/>
          </a:p>
        </p:txBody>
      </p:sp>
      <p:sp>
        <p:nvSpPr>
          <p:cNvPr id="4489" name="Google Shape;4489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MA  |  City: East Longmeadow</a:t>
            </a:r>
            <a:endParaRPr/>
          </a:p>
        </p:txBody>
      </p:sp>
      <p:sp>
        <p:nvSpPr>
          <p:cNvPr id="4490" name="Google Shape;4490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$42,551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491" name="Google Shape;4491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92" name="Google Shape;4492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93" name="Google Shape;4493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94" name="Google Shape;4494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95" name="Google Shape;4495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$20,966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496" name="Google Shape;4496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$63,517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497" name="Google Shape;4497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498" name="Google Shape;4498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99" name="Google Shape;4499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00" name="Google Shape;4500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01" name="Google Shape;4501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502" name="Google Shape;4502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$68,799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503" name="Google Shape;4503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4" name="Google Shape;4504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505" name="Google Shape;4505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06" name="Google Shape;4506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507" name="Google Shape;4507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508" name="Google Shape;4508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509" name="Google Shape;4509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510" name="Google Shape;4510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511" name="Google Shape;4511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2" name="Google Shape;4512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13" name="Google Shape;4513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4" name="Google Shape;4514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5" name="Google Shape;4515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6" name="Google Shape;4516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7" name="Google Shape;4517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8" name="Google Shape;4518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9" name="Google Shape;4519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20" name="Google Shape;4520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1" name="Google Shape;4521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2" name="Google Shape;4522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3" name="Google Shape;4523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4" name="Google Shape;4524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5" name="Google Shape;4525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6" name="Google Shape;4526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27" name="Google Shape;4527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$4,822</a:t>
            </a:r>
            <a:endParaRPr/>
          </a:p>
        </p:txBody>
      </p:sp>
      <p:sp>
        <p:nvSpPr>
          <p:cNvPr id="4528" name="Google Shape;4528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9" name="Google Shape;4529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0" name="Google Shape;4530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$4,822</a:t>
            </a:r>
            <a:endParaRPr/>
          </a:p>
        </p:txBody>
      </p:sp>
      <p:sp>
        <p:nvSpPr>
          <p:cNvPr id="4531" name="Google Shape;4531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2" name="Google Shape;4532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3" name="Google Shape;4533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34" name="Google Shape;4534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</a:t>
            </a:r>
            <a:endParaRPr/>
          </a:p>
        </p:txBody>
      </p:sp>
      <p:sp>
        <p:nvSpPr>
          <p:cNvPr id="4535" name="Google Shape;4535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</a:t>
            </a:r>
            <a:endParaRPr/>
          </a:p>
        </p:txBody>
      </p:sp>
      <p:sp>
        <p:nvSpPr>
          <p:cNvPr id="4536" name="Google Shape;4536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7" name="Google Shape;4537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8" name="Google Shape;4538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39" name="Google Shape;4539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0" name="Google Shape;4540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41" name="Google Shape;4541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2" name="Google Shape;4542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3" name="Google Shape;4543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4" name="Google Shape;4544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5" name="Google Shape;4545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6" name="Google Shape;4546;p3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7" name="Google Shape;4547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548" name="Google Shape;4548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49" name="Google Shape;4549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0" name="Google Shape;4550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1" name="Google Shape;4551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2" name="Google Shape;4552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3" name="Google Shape;4553;p30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4" name="Google Shape;4554;p30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55" name="Google Shape;4555;p30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$42,551</a:t>
            </a:r>
            <a:endParaRPr/>
          </a:p>
        </p:txBody>
      </p:sp>
      <p:sp>
        <p:nvSpPr>
          <p:cNvPr id="4556" name="Google Shape;4556;p3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</a:t>
            </a:r>
            <a:endParaRPr/>
          </a:p>
        </p:txBody>
      </p:sp>
      <p:sp>
        <p:nvSpPr>
          <p:cNvPr id="4557" name="Google Shape;4557;p30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58" name="Google Shape;4558;p30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$4,822</a:t>
            </a:r>
            <a:endParaRPr/>
          </a:p>
        </p:txBody>
      </p:sp>
      <p:sp>
        <p:nvSpPr>
          <p:cNvPr id="4559" name="Google Shape;4559;p30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60" name="Google Shape;4560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1" name="Google Shape;4561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62" name="Google Shape;4562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63" name="Google Shape;4563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64" name="Google Shape;4564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65" name="Google Shape;4565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66" name="Google Shape;4566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67" name="Google Shape;4567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68" name="Google Shape;4568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9" name="Google Shape;4569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70" name="Google Shape;4570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71" name="Google Shape;4571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2" name="Google Shape;4572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73" name="Google Shape;4573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74" name="Google Shape;4574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4575" name="Google Shape;4575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6" name="Google Shape;4576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77" name="Google Shape;4577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8" name="Google Shape;4578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79" name="Google Shape;4579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0" name="Google Shape;4580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1" name="Google Shape;4581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82" name="Google Shape;4582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3" name="Google Shape;4583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84" name="Google Shape;4584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585" name="Google Shape;4585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86" name="Google Shape;4586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587" name="Google Shape;4587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588" name="Google Shape;4588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589" name="Google Shape;4589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0" name="Google Shape;4590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91" name="Google Shape;4591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592" name="Google Shape;4592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593" name="Google Shape;4593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594" name="Google Shape;4594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595" name="Google Shape;4595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4596" name="Google Shape;4596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7" name="Google Shape;4597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98" name="Google Shape;4598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599" name="Google Shape;4599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600" name="Google Shape;4600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601" name="Google Shape;4601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02" name="Google Shape;4602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4603" name="Google Shape;4603;p30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4" name="Google Shape;4604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605" name="Google Shape;4605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6" name="Google Shape;4606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7" name="Google Shape;4607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8" name="Google Shape;4608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09" name="Google Shape;4609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610" name="Google Shape;4610;p30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1" name="Google Shape;4611;p30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612" name="Google Shape;4612;p30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613" name="Google Shape;4613;p30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614" name="Google Shape;4614;p30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615" name="Google Shape;4615;p30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616" name="Google Shape;4616;p3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4617" name="Google Shape;4617;p30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8" name="Google Shape;4618;p30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619" name="Google Shape;4619;p30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620" name="Google Shape;4620;p30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621" name="Google Shape;4621;p30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622" name="Google Shape;4622;p30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623" name="Google Shape;4623;p30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624" name="Google Shape;4624;p30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625" name="Google Shape;4625;p30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626" name="Google Shape;4626;p3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627" name="Google Shape;4627;p30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628" name="Google Shape;4628;p30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629" name="Google Shape;4629;p30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630" name="Google Shape;4630;p30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631" name="Google Shape;4631;p30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632" name="Google Shape;4632;p30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633" name="Google Shape;4633;p30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634" name="Google Shape;4634;p30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35" name="Google Shape;4635;p30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36" name="Google Shape;4636;p3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637" name="Google Shape;4637;p30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38" name="Google Shape;4638;p30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39" name="Google Shape;4639;p30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40" name="Google Shape;4640;p30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641" name="Google Shape;4641;p30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42" name="Google Shape;4642;p30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643" name="Google Shape;4643;p30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44" name="Google Shape;4644;p30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645" name="Google Shape;4645;p30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646" name="Google Shape;4646;p3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647" name="Google Shape;4647;p30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648" name="Google Shape;4648;p30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649" name="Google Shape;4649;p30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50" name="Google Shape;4650;p30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1" name="Google Shape;4651;p30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2" name="Google Shape;4652;p30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3" name="Google Shape;4653;p30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4" name="Google Shape;4654;p30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5" name="Google Shape;4655;p30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4656" name="Google Shape;4656;p3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7" name="Google Shape;4657;p30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4658" name="Google Shape;4658;p30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59" name="Google Shape;4659;p30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0" name="Google Shape;4660;p30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1" name="Google Shape;4661;p30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2" name="Google Shape;4662;p30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63" name="Google Shape;4663;p30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4664" name="Google Shape;4664;p30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5" name="Google Shape;4665;p30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66" name="Google Shape;4666;p3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67" name="Google Shape;4667;p30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$42,551 YTD gross written premium</a:t>
            </a:r>
            <a:endParaRPr/>
          </a:p>
        </p:txBody>
      </p:sp>
      <p:sp>
        <p:nvSpPr>
          <p:cNvPr id="4668" name="Google Shape;4668;p30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69" name="Google Shape;4669;p30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$37,729 in new business production</a:t>
            </a:r>
            <a:endParaRPr/>
          </a:p>
        </p:txBody>
      </p:sp>
      <p:sp>
        <p:nvSpPr>
          <p:cNvPr id="4670" name="Google Shape;4670;p30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1" name="Google Shape;4671;p30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72" name="Google Shape;4672;p30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73" name="Google Shape;4673;p30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4674" name="Google Shape;4674;p3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5" name="Google Shape;4675;p30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76" name="Google Shape;4676;p3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77" name="Google Shape;4677;p30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$37,729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678" name="Google Shape;4678;p3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679" name="Google Shape;4679;p30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83" name="Shape 4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4" name="Google Shape;4684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5" name="Google Shape;4685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My Va Insurance Llc</a:t>
            </a:r>
            <a:endParaRPr/>
          </a:p>
        </p:txBody>
      </p:sp>
      <p:sp>
        <p:nvSpPr>
          <p:cNvPr id="4686" name="Google Shape;4686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Sterling</a:t>
            </a:r>
            <a:endParaRPr/>
          </a:p>
        </p:txBody>
      </p:sp>
      <p:sp>
        <p:nvSpPr>
          <p:cNvPr id="4687" name="Google Shape;4687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88" name="Google Shape;4688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89" name="Google Shape;4689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90" name="Google Shape;4690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91" name="Google Shape;4691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92" name="Google Shape;4692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$78,793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93" name="Google Shape;4693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$38,104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694" name="Google Shape;4694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695" name="Google Shape;4695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96" name="Google Shape;4696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97" name="Google Shape;4697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98" name="Google Shape;4698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699" name="Google Shape;4699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700" name="Google Shape;4700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1" name="Google Shape;4701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702" name="Google Shape;4702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03" name="Google Shape;4703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704" name="Google Shape;4704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705" name="Google Shape;4705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706" name="Google Shape;4706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707" name="Google Shape;4707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708" name="Google Shape;4708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9" name="Google Shape;4709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10" name="Google Shape;4710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1" name="Google Shape;4711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2" name="Google Shape;4712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3" name="Google Shape;4713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4" name="Google Shape;4714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5" name="Google Shape;4715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6" name="Google Shape;4716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17" name="Google Shape;4717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8" name="Google Shape;4718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19" name="Google Shape;4719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0" name="Google Shape;4720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1" name="Google Shape;4721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2" name="Google Shape;4722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3" name="Google Shape;4723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24" name="Google Shape;4724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5" name="Google Shape;4725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6" name="Google Shape;4726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7" name="Google Shape;4727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8" name="Google Shape;4728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29" name="Google Shape;4729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0" name="Google Shape;4730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31" name="Google Shape;4731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</p:txBody>
      </p:sp>
      <p:sp>
        <p:nvSpPr>
          <p:cNvPr id="4732" name="Google Shape;4732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</p:txBody>
      </p:sp>
      <p:sp>
        <p:nvSpPr>
          <p:cNvPr id="4733" name="Google Shape;4733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4" name="Google Shape;4734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5" name="Google Shape;4735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6" name="Google Shape;4736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7" name="Google Shape;4737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38" name="Google Shape;4738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39" name="Google Shape;4739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0" name="Google Shape;4740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1" name="Google Shape;4741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2" name="Google Shape;4742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3" name="Google Shape;4743;p31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4" name="Google Shape;4744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745" name="Google Shape;4745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6" name="Google Shape;4746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7" name="Google Shape;4747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8" name="Google Shape;4748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49" name="Google Shape;4749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0" name="Google Shape;4750;p31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1" name="Google Shape;4751;p31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52" name="Google Shape;4752;p31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</p:txBody>
      </p:sp>
      <p:sp>
        <p:nvSpPr>
          <p:cNvPr id="4753" name="Google Shape;4753;p31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</a:t>
            </a:r>
            <a:endParaRPr/>
          </a:p>
        </p:txBody>
      </p:sp>
      <p:sp>
        <p:nvSpPr>
          <p:cNvPr id="4754" name="Google Shape;4754;p3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5" name="Google Shape;4755;p31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6" name="Google Shape;4756;p31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57" name="Google Shape;4757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8" name="Google Shape;4758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59" name="Google Shape;4759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60" name="Google Shape;4760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61" name="Google Shape;4761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62" name="Google Shape;4762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63" name="Google Shape;4763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64" name="Google Shape;4764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65" name="Google Shape;4765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6" name="Google Shape;4766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67" name="Google Shape;4767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768" name="Google Shape;4768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769" name="Google Shape;4769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70" name="Google Shape;4770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1" name="Google Shape;4771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72" name="Google Shape;4772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3" name="Google Shape;4773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74" name="Google Shape;4774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775" name="Google Shape;4775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6" name="Google Shape;4776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777" name="Google Shape;4777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78" name="Google Shape;4778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79" name="Google Shape;4779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0" name="Google Shape;4780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81" name="Google Shape;4781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82" name="Google Shape;4782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83" name="Google Shape;4783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84" name="Google Shape;4784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85" name="Google Shape;4785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4786" name="Google Shape;4786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7" name="Google Shape;4787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88" name="Google Shape;4788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89" name="Google Shape;4789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0" name="Google Shape;4790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91" name="Google Shape;4791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2" name="Google Shape;4792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793" name="Google Shape;4793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4" name="Google Shape;4794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95" name="Google Shape;4795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96" name="Google Shape;4796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7" name="Google Shape;4797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98" name="Google Shape;4798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99" name="Google Shape;4799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00" name="Google Shape;4800;p31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1" name="Google Shape;4801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802" name="Google Shape;4802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3" name="Google Shape;4803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4" name="Google Shape;4804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5" name="Google Shape;4805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6" name="Google Shape;4806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807" name="Google Shape;4807;p31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8" name="Google Shape;4808;p31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09" name="Google Shape;4809;p31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810" name="Google Shape;4810;p31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11" name="Google Shape;4811;p31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812" name="Google Shape;4812;p31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13" name="Google Shape;4813;p31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4814" name="Google Shape;4814;p3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5" name="Google Shape;4815;p31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4816" name="Google Shape;4816;p31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817" name="Google Shape;4817;p31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818" name="Google Shape;4818;p31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819" name="Google Shape;4819;p31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820" name="Google Shape;4820;p31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821" name="Google Shape;4821;p31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822" name="Google Shape;4822;p31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823" name="Google Shape;4823;p31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824" name="Google Shape;4824;p3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825" name="Google Shape;4825;p31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826" name="Google Shape;4826;p31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827" name="Google Shape;4827;p31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4828" name="Google Shape;4828;p31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4829" name="Google Shape;4829;p31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4830" name="Google Shape;4830;p31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4831" name="Google Shape;4831;p31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32" name="Google Shape;4832;p31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33" name="Google Shape;4833;p31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834" name="Google Shape;4834;p3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835" name="Google Shape;4835;p31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836" name="Google Shape;4836;p31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37" name="Google Shape;4837;p31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38" name="Google Shape;4838;p31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839" name="Google Shape;4839;p31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840" name="Google Shape;4840;p31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841" name="Google Shape;4841;p31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42" name="Google Shape;4842;p31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843" name="Google Shape;4843;p31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44" name="Google Shape;4844;p3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845" name="Google Shape;4845;p31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846" name="Google Shape;4846;p31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847" name="Google Shape;4847;p31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8" name="Google Shape;4848;p31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49" name="Google Shape;4849;p31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0" name="Google Shape;4850;p31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1" name="Google Shape;4851;p31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2" name="Google Shape;4852;p31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3" name="Google Shape;4853;p31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4" name="Google Shape;4854;p3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4855" name="Google Shape;4855;p31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6" name="Google Shape;4856;p31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7" name="Google Shape;4857;p31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$72K</a:t>
            </a:r>
            <a:endParaRPr/>
          </a:p>
        </p:txBody>
      </p:sp>
      <p:sp>
        <p:nvSpPr>
          <p:cNvPr id="4858" name="Google Shape;4858;p31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9" name="Google Shape;4859;p31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$72K</a:t>
            </a:r>
            <a:endParaRPr/>
          </a:p>
        </p:txBody>
      </p:sp>
      <p:sp>
        <p:nvSpPr>
          <p:cNvPr id="4860" name="Google Shape;4860;p31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4861" name="Google Shape;4861;p31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2" name="Google Shape;4862;p31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63" name="Google Shape;4863;p31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64" name="Google Shape;4864;p3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 YTD gross written premium</a:t>
            </a:r>
            <a:endParaRPr/>
          </a:p>
        </p:txBody>
      </p:sp>
      <p:sp>
        <p:nvSpPr>
          <p:cNvPr id="4865" name="Google Shape;4865;p31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66" name="Google Shape;4866;p31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$31,503 in new business production</a:t>
            </a:r>
            <a:endParaRPr/>
          </a:p>
        </p:txBody>
      </p:sp>
      <p:sp>
        <p:nvSpPr>
          <p:cNvPr id="4867" name="Google Shape;4867;p31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8" name="Google Shape;4868;p31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69" name="Google Shape;4869;p31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70" name="Google Shape;4870;p31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2.2% hit ratio on 46 subs - needs coaching</a:t>
            </a:r>
            <a:endParaRPr/>
          </a:p>
        </p:txBody>
      </p:sp>
      <p:sp>
        <p:nvSpPr>
          <p:cNvPr id="4871" name="Google Shape;4871;p31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72" name="Google Shape;4872;p31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9 to 2 MoM</a:t>
            </a:r>
            <a:endParaRPr/>
          </a:p>
        </p:txBody>
      </p:sp>
      <p:sp>
        <p:nvSpPr>
          <p:cNvPr id="4873" name="Google Shape;4873;p31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4" name="Google Shape;4874;p3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75" name="Google Shape;4875;p31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76" name="Google Shape;4876;p3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(46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877" name="Google Shape;4877;p31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878" name="Google Shape;4878;p3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$31,503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82" name="Shape 4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3" name="Google Shape;4883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4" name="Google Shape;4884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Rein Connected Insurance Agency, Llc</a:t>
            </a:r>
            <a:endParaRPr/>
          </a:p>
        </p:txBody>
      </p:sp>
      <p:sp>
        <p:nvSpPr>
          <p:cNvPr id="4885" name="Google Shape;4885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MA  |  City: Boston</a:t>
            </a:r>
            <a:endParaRPr/>
          </a:p>
        </p:txBody>
      </p:sp>
      <p:sp>
        <p:nvSpPr>
          <p:cNvPr id="4886" name="Google Shape;4886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87" name="Google Shape;4887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88" name="Google Shape;4888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89" name="Google Shape;4889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$3,535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90" name="Google Shape;4890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91" name="Google Shape;4891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$44,700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92" name="Google Shape;4892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93" name="Google Shape;4893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94" name="Google Shape;4894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95" name="Google Shape;4895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96" name="Google Shape;4896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97" name="Google Shape;4897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98" name="Google Shape;4898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99" name="Google Shape;4899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0" name="Google Shape;4900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901" name="Google Shape;4901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02" name="Google Shape;4902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903" name="Google Shape;4903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904" name="Google Shape;4904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905" name="Google Shape;4905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906" name="Google Shape;4906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907" name="Google Shape;4907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8" name="Google Shape;4908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09" name="Google Shape;4909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0" name="Google Shape;4910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1" name="Google Shape;4911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2" name="Google Shape;4912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3" name="Google Shape;4913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4" name="Google Shape;4914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5" name="Google Shape;4915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16" name="Google Shape;4916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</a:t>
            </a:r>
            <a:endParaRPr/>
          </a:p>
        </p:txBody>
      </p:sp>
      <p:sp>
        <p:nvSpPr>
          <p:cNvPr id="4917" name="Google Shape;4917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</a:t>
            </a:r>
            <a:endParaRPr/>
          </a:p>
        </p:txBody>
      </p:sp>
      <p:sp>
        <p:nvSpPr>
          <p:cNvPr id="4918" name="Google Shape;4918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19" name="Google Shape;4919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0" name="Google Shape;4920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1" name="Google Shape;4921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2" name="Google Shape;4922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23" name="Google Shape;4923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$3,535</a:t>
            </a:r>
            <a:endParaRPr/>
          </a:p>
        </p:txBody>
      </p:sp>
      <p:sp>
        <p:nvSpPr>
          <p:cNvPr id="4924" name="Google Shape;4924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5" name="Google Shape;4925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6" name="Google Shape;4926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$3,535</a:t>
            </a:r>
            <a:endParaRPr/>
          </a:p>
        </p:txBody>
      </p:sp>
      <p:sp>
        <p:nvSpPr>
          <p:cNvPr id="4927" name="Google Shape;4927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28" name="Google Shape;4928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9" name="Google Shape;4929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30" name="Google Shape;4930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1" name="Google Shape;4931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2" name="Google Shape;4932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3" name="Google Shape;4933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4" name="Google Shape;4934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5" name="Google Shape;4935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6" name="Google Shape;4936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37" name="Google Shape;4937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8" name="Google Shape;4938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39" name="Google Shape;4939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0" name="Google Shape;4940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1" name="Google Shape;4941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2" name="Google Shape;4942;p32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3" name="Google Shape;4943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4944" name="Google Shape;4944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5" name="Google Shape;4945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6" name="Google Shape;4946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7" name="Google Shape;4947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8" name="Google Shape;4948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49" name="Google Shape;4949;p32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0" name="Google Shape;4950;p32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51" name="Google Shape;4951;p32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$27,572</a:t>
            </a:r>
            <a:endParaRPr/>
          </a:p>
        </p:txBody>
      </p:sp>
      <p:sp>
        <p:nvSpPr>
          <p:cNvPr id="4952" name="Google Shape;4952;p32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</a:t>
            </a:r>
            <a:endParaRPr/>
          </a:p>
        </p:txBody>
      </p:sp>
      <p:sp>
        <p:nvSpPr>
          <p:cNvPr id="4953" name="Google Shape;4953;p32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4" name="Google Shape;4954;p3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$3,535</a:t>
            </a:r>
            <a:endParaRPr/>
          </a:p>
        </p:txBody>
      </p:sp>
      <p:sp>
        <p:nvSpPr>
          <p:cNvPr id="4955" name="Google Shape;4955;p32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56" name="Google Shape;4956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7" name="Google Shape;4957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958" name="Google Shape;4958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959" name="Google Shape;4959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960" name="Google Shape;4960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961" name="Google Shape;4961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962" name="Google Shape;4962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963" name="Google Shape;4963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964" name="Google Shape;4964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5" name="Google Shape;4965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966" name="Google Shape;4966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67" name="Google Shape;4967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68" name="Google Shape;4968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69" name="Google Shape;4969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70" name="Google Shape;4970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4971" name="Google Shape;4971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2" name="Google Shape;4972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73" name="Google Shape;4973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74" name="Google Shape;4974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5" name="Google Shape;4975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976" name="Google Shape;4976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7" name="Google Shape;4977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78" name="Google Shape;4978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9" name="Google Shape;4979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80" name="Google Shape;4980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81" name="Google Shape;4981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2" name="Google Shape;4982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83" name="Google Shape;4983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4" name="Google Shape;4984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85" name="Google Shape;4985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6" name="Google Shape;4986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87" name="Google Shape;4987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88" name="Google Shape;4988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89" name="Google Shape;4989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90" name="Google Shape;4990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1" name="Google Shape;4991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92" name="Google Shape;4992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3" name="Google Shape;4993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94" name="Google Shape;4994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5" name="Google Shape;4995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6" name="Google Shape;4996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7" name="Google Shape;4997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98" name="Google Shape;4998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99" name="Google Shape;4999;p32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0" name="Google Shape;5000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001" name="Google Shape;5001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2" name="Google Shape;5002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3" name="Google Shape;5003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4" name="Google Shape;5004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05" name="Google Shape;5005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06" name="Google Shape;5006;p32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7" name="Google Shape;5007;p32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08" name="Google Shape;5008;p32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009" name="Google Shape;5009;p32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10" name="Google Shape;5010;p32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011" name="Google Shape;5011;p32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12" name="Google Shape;5012;p32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13" name="Google Shape;5013;p32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4" name="Google Shape;5014;p3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015" name="Google Shape;5015;p32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016" name="Google Shape;5016;p32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017" name="Google Shape;5017;p32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018" name="Google Shape;5018;p32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019" name="Google Shape;5019;p32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020" name="Google Shape;5020;p32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021" name="Google Shape;5021;p32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022" name="Google Shape;5022;p32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023" name="Google Shape;5023;p32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024" name="Google Shape;5024;p3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025" name="Google Shape;5025;p32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026" name="Google Shape;5026;p32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027" name="Google Shape;5027;p32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028" name="Google Shape;5028;p32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029" name="Google Shape;5029;p32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030" name="Google Shape;5030;p32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31" name="Google Shape;5031;p32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032" name="Google Shape;5032;p32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33" name="Google Shape;5033;p32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034" name="Google Shape;5034;p3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035" name="Google Shape;5035;p32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036" name="Google Shape;5036;p32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37" name="Google Shape;5037;p32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038" name="Google Shape;5038;p32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039" name="Google Shape;5039;p32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040" name="Google Shape;5040;p32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41" name="Google Shape;5041;p32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042" name="Google Shape;5042;p32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43" name="Google Shape;5043;p32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77</a:t>
            </a:r>
            <a:endParaRPr/>
          </a:p>
        </p:txBody>
      </p:sp>
      <p:sp>
        <p:nvSpPr>
          <p:cNvPr id="5044" name="Google Shape;5044;p3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045" name="Google Shape;5045;p32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046" name="Google Shape;5046;p32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7" name="Google Shape;5047;p32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8" name="Google Shape;5048;p32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049" name="Google Shape;5049;p32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5050" name="Google Shape;5050;p32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051" name="Google Shape;5051;p32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052" name="Google Shape;5052;p32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3" name="Google Shape;5053;p32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4" name="Google Shape;5054;p3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5" name="Google Shape;5055;p32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6" name="Google Shape;5056;p32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7" name="Google Shape;5057;p32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8" name="Google Shape;5058;p32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5059" name="Google Shape;5059;p32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5060" name="Google Shape;5060;p32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1" name="Google Shape;5061;p32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062" name="Google Shape;5062;p32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63" name="Google Shape;5063;p32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$27,572 YTD gross written premium</a:t>
            </a:r>
            <a:endParaRPr/>
          </a:p>
        </p:txBody>
      </p:sp>
      <p:sp>
        <p:nvSpPr>
          <p:cNvPr id="5064" name="Google Shape;5064;p3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065" name="Google Shape;5065;p32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$24,037 in new business production</a:t>
            </a:r>
            <a:endParaRPr/>
          </a:p>
        </p:txBody>
      </p:sp>
      <p:sp>
        <p:nvSpPr>
          <p:cNvPr id="5066" name="Google Shape;5066;p3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7" name="Google Shape;5067;p32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068" name="Google Shape;5068;p32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69" name="Google Shape;5069;p32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submissions with zero binds - zero conversion</a:t>
            </a:r>
            <a:endParaRPr/>
          </a:p>
        </p:txBody>
      </p:sp>
      <p:sp>
        <p:nvSpPr>
          <p:cNvPr id="5070" name="Google Shape;5070;p32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071" name="Google Shape;5071;p32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85% month-over-month</a:t>
            </a:r>
            <a:endParaRPr/>
          </a:p>
        </p:txBody>
      </p:sp>
      <p:sp>
        <p:nvSpPr>
          <p:cNvPr id="5072" name="Google Shape;5072;p32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3" name="Google Shape;5073;p32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074" name="Google Shape;5074;p3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075" name="Google Shape;5075;p32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$24,037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076" name="Google Shape;5076;p3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077" name="Google Shape;5077;p32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7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81" name="Shape 50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2" name="Google Shape;5082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3" name="Google Shape;5083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Business Owners Liability Team, LLC dba Bolt Agency</a:t>
            </a:r>
            <a:endParaRPr/>
          </a:p>
        </p:txBody>
      </p:sp>
      <p:sp>
        <p:nvSpPr>
          <p:cNvPr id="5084" name="Google Shape;5084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Austin</a:t>
            </a:r>
            <a:endParaRPr/>
          </a:p>
        </p:txBody>
      </p:sp>
      <p:sp>
        <p:nvSpPr>
          <p:cNvPr id="5085" name="Google Shape;5085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86" name="Google Shape;5086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87" name="Google Shape;5087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88" name="Google Shape;5088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89" name="Google Shape;5089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90" name="Google Shape;5090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$44,831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91" name="Google Shape;5091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$51,552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92" name="Google Shape;5092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93" name="Google Shape;5093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94" name="Google Shape;5094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95" name="Google Shape;5095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96" name="Google Shape;5096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97" name="Google Shape;5097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$25,888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98" name="Google Shape;5098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9" name="Google Shape;5099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100" name="Google Shape;5100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01" name="Google Shape;5101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102" name="Google Shape;5102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03" name="Google Shape;5103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04" name="Google Shape;5104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05" name="Google Shape;5105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06" name="Google Shape;5106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7" name="Google Shape;5107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08" name="Google Shape;5108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</p:txBody>
      </p:sp>
      <p:sp>
        <p:nvSpPr>
          <p:cNvPr id="5109" name="Google Shape;5109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</p:txBody>
      </p:sp>
      <p:sp>
        <p:nvSpPr>
          <p:cNvPr id="5110" name="Google Shape;5110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1" name="Google Shape;5111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2" name="Google Shape;5112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3" name="Google Shape;5113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4" name="Google Shape;5114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15" name="Google Shape;5115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6" name="Google Shape;5116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7" name="Google Shape;5117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8" name="Google Shape;5118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19" name="Google Shape;5119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0" name="Google Shape;5120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1" name="Google Shape;5121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22" name="Google Shape;5122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3" name="Google Shape;5123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4" name="Google Shape;5124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5" name="Google Shape;5125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6" name="Google Shape;5126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27" name="Google Shape;5127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8" name="Google Shape;5128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29" name="Google Shape;5129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0" name="Google Shape;5130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1" name="Google Shape;5131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2" name="Google Shape;5132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3" name="Google Shape;5133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4" name="Google Shape;5134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5" name="Google Shape;5135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36" name="Google Shape;5136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7" name="Google Shape;5137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8" name="Google Shape;5138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39" name="Google Shape;5139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0" name="Google Shape;5140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1" name="Google Shape;5141;p33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2" name="Google Shape;5142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143" name="Google Shape;5143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4" name="Google Shape;5144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5" name="Google Shape;5145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6" name="Google Shape;5146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7" name="Google Shape;5147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48" name="Google Shape;5148;p33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9" name="Google Shape;5149;p33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50" name="Google Shape;5150;p33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</p:txBody>
      </p:sp>
      <p:sp>
        <p:nvSpPr>
          <p:cNvPr id="5151" name="Google Shape;5151;p33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</a:t>
            </a:r>
            <a:endParaRPr/>
          </a:p>
        </p:txBody>
      </p:sp>
      <p:sp>
        <p:nvSpPr>
          <p:cNvPr id="5152" name="Google Shape;5152;p33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3" name="Google Shape;5153;p33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4" name="Google Shape;5154;p3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5" name="Google Shape;5155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6" name="Google Shape;5156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157" name="Google Shape;5157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58" name="Google Shape;5158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159" name="Google Shape;5159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160" name="Google Shape;5160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161" name="Google Shape;5161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62" name="Google Shape;5162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63" name="Google Shape;5163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4" name="Google Shape;5164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165" name="Google Shape;5165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66" name="Google Shape;5166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67" name="Google Shape;5167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168" name="Google Shape;5168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69" name="Google Shape;5169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170" name="Google Shape;5170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1" name="Google Shape;5171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172" name="Google Shape;5172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73" name="Google Shape;5173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4" name="Google Shape;5174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75" name="Google Shape;5175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76" name="Google Shape;5176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77" name="Google Shape;5177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8" name="Google Shape;5178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179" name="Google Shape;5179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180" name="Google Shape;5180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1" name="Google Shape;5181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182" name="Google Shape;5182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3" name="Google Shape;5183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84" name="Google Shape;5184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5" name="Google Shape;5185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186" name="Google Shape;5186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87" name="Google Shape;5187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88" name="Google Shape;5188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89" name="Google Shape;5189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0" name="Google Shape;5190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91" name="Google Shape;5191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2" name="Google Shape;5192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93" name="Google Shape;5193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94" name="Google Shape;5194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195" name="Google Shape;5195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96" name="Google Shape;5196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97" name="Google Shape;5197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98" name="Google Shape;5198;p33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9" name="Google Shape;5199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200" name="Google Shape;5200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01" name="Google Shape;5201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02" name="Google Shape;5202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03" name="Google Shape;5203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04" name="Google Shape;5204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05" name="Google Shape;5205;p33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6" name="Google Shape;5206;p33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07" name="Google Shape;5207;p33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208" name="Google Shape;5208;p33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09" name="Google Shape;5209;p33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210" name="Google Shape;5210;p33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11" name="Google Shape;5211;p33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5212" name="Google Shape;5212;p33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3" name="Google Shape;5213;p33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214" name="Google Shape;5214;p3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15" name="Google Shape;5215;p33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216" name="Google Shape;5216;p33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217" name="Google Shape;5217;p33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218" name="Google Shape;5218;p33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219" name="Google Shape;5219;p33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220" name="Google Shape;5220;p33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221" name="Google Shape;5221;p33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222" name="Google Shape;5222;p33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223" name="Google Shape;5223;p33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224" name="Google Shape;5224;p3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225" name="Google Shape;5225;p33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226" name="Google Shape;5226;p33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227" name="Google Shape;5227;p33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228" name="Google Shape;5228;p33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229" name="Google Shape;5229;p33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30" name="Google Shape;5230;p33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231" name="Google Shape;5231;p33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232" name="Google Shape;5232;p33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233" name="Google Shape;5233;p33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34" name="Google Shape;5234;p3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235" name="Google Shape;5235;p33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236" name="Google Shape;5236;p33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37" name="Google Shape;5237;p33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38" name="Google Shape;5238;p33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239" name="Google Shape;5239;p33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40" name="Google Shape;5240;p33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241" name="Google Shape;5241;p33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42" name="Google Shape;5242;p33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5243" name="Google Shape;5243;p33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244" name="Google Shape;5244;p3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245" name="Google Shape;5245;p33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6" name="Google Shape;5246;p33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5247" name="Google Shape;5247;p33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8" name="Google Shape;5248;p33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49" name="Google Shape;5249;p33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0" name="Google Shape;5250;p33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1" name="Google Shape;5251;p33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252" name="Google Shape;5252;p33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3" name="Google Shape;5253;p33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254" name="Google Shape;5254;p3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5" name="Google Shape;5255;p33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5256" name="Google Shape;5256;p33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57" name="Google Shape;5257;p33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5258" name="Google Shape;5258;p33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5259" name="Google Shape;5259;p33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0" name="Google Shape;5260;p33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261" name="Google Shape;5261;p33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62" name="Google Shape;5262;p33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 YTD gross written premium</a:t>
            </a:r>
            <a:endParaRPr/>
          </a:p>
        </p:txBody>
      </p:sp>
      <p:sp>
        <p:nvSpPr>
          <p:cNvPr id="5263" name="Google Shape;5263;p33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264" name="Google Shape;5264;p3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$26,113 in new business production</a:t>
            </a:r>
            <a:endParaRPr/>
          </a:p>
        </p:txBody>
      </p:sp>
      <p:sp>
        <p:nvSpPr>
          <p:cNvPr id="5265" name="Google Shape;5265;p33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6" name="Google Shape;5266;p3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267" name="Google Shape;5267;p33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68" name="Google Shape;5268;p33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5269" name="Google Shape;5269;p33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270" name="Google Shape;5270;p33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5271" name="Google Shape;5271;p33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2" name="Google Shape;5272;p33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273" name="Google Shape;5273;p33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274" name="Google Shape;5274;p3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$26,113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78" name="Shape 5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9" name="Google Shape;5279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0" name="Google Shape;5280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SOLANO CONSULTANTS LLC</a:t>
            </a:r>
            <a:endParaRPr/>
          </a:p>
        </p:txBody>
      </p:sp>
      <p:sp>
        <p:nvSpPr>
          <p:cNvPr id="5281" name="Google Shape;5281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Allentown</a:t>
            </a:r>
            <a:endParaRPr/>
          </a:p>
        </p:txBody>
      </p:sp>
      <p:sp>
        <p:nvSpPr>
          <p:cNvPr id="5282" name="Google Shape;5282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283" name="Google Shape;5283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84" name="Google Shape;5284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85" name="Google Shape;5285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86" name="Google Shape;5286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$-38,603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87" name="Google Shape;5287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$114,719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288" name="Google Shape;5288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$100,291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289" name="Google Shape;5289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290" name="Google Shape;5290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291" name="Google Shape;5291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92" name="Google Shape;5292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93" name="Google Shape;5293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294" name="Google Shape;5294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295" name="Google Shape;5295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6" name="Google Shape;5296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297" name="Google Shape;5297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98" name="Google Shape;5298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299" name="Google Shape;5299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00" name="Google Shape;5300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01" name="Google Shape;5301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02" name="Google Shape;5302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03" name="Google Shape;5303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4" name="Google Shape;5304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05" name="Google Shape;5305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</a:t>
            </a:r>
            <a:endParaRPr/>
          </a:p>
        </p:txBody>
      </p:sp>
      <p:sp>
        <p:nvSpPr>
          <p:cNvPr id="5306" name="Google Shape;5306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</a:t>
            </a:r>
            <a:endParaRPr/>
          </a:p>
        </p:txBody>
      </p:sp>
      <p:sp>
        <p:nvSpPr>
          <p:cNvPr id="5307" name="Google Shape;5307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8" name="Google Shape;5308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09" name="Google Shape;5309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0" name="Google Shape;5310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1" name="Google Shape;5311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12" name="Google Shape;5312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$18,237</a:t>
            </a:r>
            <a:endParaRPr/>
          </a:p>
        </p:txBody>
      </p:sp>
      <p:sp>
        <p:nvSpPr>
          <p:cNvPr id="5313" name="Google Shape;5313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4" name="Google Shape;5314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15" name="Google Shape;5315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$18,237</a:t>
            </a:r>
            <a:endParaRPr/>
          </a:p>
        </p:txBody>
      </p:sp>
      <p:sp>
        <p:nvSpPr>
          <p:cNvPr id="5316" name="Google Shape;5316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$-17,865</a:t>
            </a:r>
            <a:endParaRPr/>
          </a:p>
        </p:txBody>
      </p:sp>
      <p:sp>
        <p:nvSpPr>
          <p:cNvPr id="5317" name="Google Shape;5317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8" name="Google Shape;5318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19" name="Google Shape;5319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$2,320</a:t>
            </a:r>
            <a:endParaRPr/>
          </a:p>
        </p:txBody>
      </p:sp>
      <p:sp>
        <p:nvSpPr>
          <p:cNvPr id="5320" name="Google Shape;5320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1" name="Google Shape;5321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2" name="Google Shape;5322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$2,320</a:t>
            </a:r>
            <a:endParaRPr/>
          </a:p>
        </p:txBody>
      </p:sp>
      <p:sp>
        <p:nvSpPr>
          <p:cNvPr id="5323" name="Google Shape;5323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$-8,365</a:t>
            </a:r>
            <a:endParaRPr/>
          </a:p>
        </p:txBody>
      </p:sp>
      <p:sp>
        <p:nvSpPr>
          <p:cNvPr id="5324" name="Google Shape;5324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5" name="Google Shape;5325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26" name="Google Shape;5326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7" name="Google Shape;5327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8" name="Google Shape;5328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9" name="Google Shape;5329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0" name="Google Shape;5330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1" name="Google Shape;5331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2" name="Google Shape;5332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33" name="Google Shape;5333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4" name="Google Shape;5334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5" name="Google Shape;5335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6" name="Google Shape;5336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7" name="Google Shape;5337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$-12,373</a:t>
            </a:r>
            <a:endParaRPr/>
          </a:p>
        </p:txBody>
      </p:sp>
      <p:sp>
        <p:nvSpPr>
          <p:cNvPr id="5338" name="Google Shape;5338;p34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9" name="Google Shape;5339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340" name="Google Shape;5340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1" name="Google Shape;5341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2" name="Google Shape;5342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3" name="Google Shape;5343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4" name="Google Shape;5344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45" name="Google Shape;5345;p34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6" name="Google Shape;5346;p34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347" name="Google Shape;5347;p34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$23,279</a:t>
            </a:r>
            <a:endParaRPr/>
          </a:p>
        </p:txBody>
      </p:sp>
      <p:sp>
        <p:nvSpPr>
          <p:cNvPr id="5348" name="Google Shape;5348;p34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</a:t>
            </a:r>
            <a:endParaRPr/>
          </a:p>
        </p:txBody>
      </p:sp>
      <p:sp>
        <p:nvSpPr>
          <p:cNvPr id="5349" name="Google Shape;5349;p34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50" name="Google Shape;5350;p34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$20,557</a:t>
            </a:r>
            <a:endParaRPr/>
          </a:p>
        </p:txBody>
      </p:sp>
      <p:sp>
        <p:nvSpPr>
          <p:cNvPr id="5351" name="Google Shape;5351;p34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$-38,603</a:t>
            </a:r>
            <a:endParaRPr/>
          </a:p>
        </p:txBody>
      </p:sp>
      <p:sp>
        <p:nvSpPr>
          <p:cNvPr id="5352" name="Google Shape;5352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3" name="Google Shape;5353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354" name="Google Shape;5354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55" name="Google Shape;5355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356" name="Google Shape;5356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357" name="Google Shape;5357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358" name="Google Shape;5358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59" name="Google Shape;5359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60" name="Google Shape;5360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1" name="Google Shape;5361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62" name="Google Shape;5362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63" name="Google Shape;5363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64" name="Google Shape;5364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65" name="Google Shape;5365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66" name="Google Shape;5366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5367" name="Google Shape;5367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8" name="Google Shape;5368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69" name="Google Shape;5369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370" name="Google Shape;5370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71" name="Google Shape;5371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372" name="Google Shape;5372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73" name="Google Shape;5373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5374" name="Google Shape;5374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5" name="Google Shape;5375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76" name="Google Shape;5376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377" name="Google Shape;5377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78" name="Google Shape;5378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79" name="Google Shape;5379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380" name="Google Shape;5380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381" name="Google Shape;5381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2" name="Google Shape;5382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383" name="Google Shape;5383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384" name="Google Shape;5384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5" name="Google Shape;5385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386" name="Google Shape;5386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87" name="Google Shape;5387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88" name="Google Shape;5388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9" name="Google Shape;5389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390" name="Google Shape;5390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91" name="Google Shape;5391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92" name="Google Shape;5392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393" name="Google Shape;5393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94" name="Google Shape;5394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395" name="Google Shape;5395;p34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6" name="Google Shape;5396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397" name="Google Shape;5397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98" name="Google Shape;5398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399" name="Google Shape;5399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00" name="Google Shape;5400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01" name="Google Shape;5401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02" name="Google Shape;5402;p3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3" name="Google Shape;5403;p34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04" name="Google Shape;5404;p34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5405" name="Google Shape;5405;p34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06" name="Google Shape;5406;p34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5407" name="Google Shape;5407;p34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08" name="Google Shape;5408;p34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5409" name="Google Shape;5409;p34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0" name="Google Shape;5410;p34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411" name="Google Shape;5411;p34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412" name="Google Shape;5412;p3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413" name="Google Shape;5413;p34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414" name="Google Shape;5414;p34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415" name="Google Shape;5415;p34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416" name="Google Shape;5416;p34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417" name="Google Shape;5417;p34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418" name="Google Shape;5418;p34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419" name="Google Shape;5419;p34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420" name="Google Shape;5420;p34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421" name="Google Shape;5421;p34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422" name="Google Shape;5422;p3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423" name="Google Shape;5423;p34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424" name="Google Shape;5424;p34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425" name="Google Shape;5425;p34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426" name="Google Shape;5426;p34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27" name="Google Shape;5427;p34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428" name="Google Shape;5428;p34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429" name="Google Shape;5429;p34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430" name="Google Shape;5430;p34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431" name="Google Shape;5431;p34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432" name="Google Shape;5432;p3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433" name="Google Shape;5433;p34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434" name="Google Shape;5434;p34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435" name="Google Shape;5435;p34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436" name="Google Shape;5436;p34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437" name="Google Shape;5437;p34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438" name="Google Shape;5438;p34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9" name="Google Shape;5439;p34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5440" name="Google Shape;5440;p34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5441" name="Google Shape;5441;p34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442" name="Google Shape;5442;p3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443" name="Google Shape;5443;p34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444" name="Google Shape;5444;p34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$-48</a:t>
            </a:r>
            <a:endParaRPr/>
          </a:p>
        </p:txBody>
      </p:sp>
      <p:sp>
        <p:nvSpPr>
          <p:cNvPr id="5445" name="Google Shape;5445;p34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5446" name="Google Shape;5446;p34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447" name="Google Shape;5447;p34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5448" name="Google Shape;5448;p34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49" name="Google Shape;5449;p34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0" name="Google Shape;5450;p34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1" name="Google Shape;5451;p34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2" name="Google Shape;5452;p3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3" name="Google Shape;5453;p34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54" name="Google Shape;5454;p34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5455" name="Google Shape;5455;p34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456" name="Google Shape;5456;p34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7" name="Google Shape;5457;p34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458" name="Google Shape;5458;p34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59" name="Google Shape;5459;p34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$23,279 YTD gross written premium</a:t>
            </a:r>
            <a:endParaRPr/>
          </a:p>
        </p:txBody>
      </p:sp>
      <p:sp>
        <p:nvSpPr>
          <p:cNvPr id="5460" name="Google Shape;5460;p34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461" name="Google Shape;5461;p34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$2,722 in new business production</a:t>
            </a:r>
            <a:endParaRPr/>
          </a:p>
        </p:txBody>
      </p:sp>
      <p:sp>
        <p:nvSpPr>
          <p:cNvPr id="5462" name="Google Shape;5462;p3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3" name="Google Shape;5463;p34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464" name="Google Shape;5464;p3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65" name="Google Shape;5465;p34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2.3% hit ratio on 43 subs - needs coaching</a:t>
            </a:r>
            <a:endParaRPr/>
          </a:p>
        </p:txBody>
      </p:sp>
      <p:sp>
        <p:nvSpPr>
          <p:cNvPr id="5466" name="Google Shape;5466;p34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467" name="Google Shape;5467;p34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1418% of new business ($38,603)</a:t>
            </a:r>
            <a:endParaRPr/>
          </a:p>
        </p:txBody>
      </p:sp>
      <p:sp>
        <p:nvSpPr>
          <p:cNvPr id="5468" name="Google Shape;5468;p34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9" name="Google Shape;5469;p34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470" name="Google Shape;5470;p34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471" name="Google Shape;5471;p34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(43 subs, only 1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5472" name="Google Shape;5472;p3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473" name="Google Shape;5473;p34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$2,722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77" name="Shape 5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8" name="Google Shape;5478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9" name="Google Shape;5479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Hazar Financial Services LLC</a:t>
            </a:r>
            <a:endParaRPr/>
          </a:p>
        </p:txBody>
      </p:sp>
      <p:sp>
        <p:nvSpPr>
          <p:cNvPr id="5480" name="Google Shape;5480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MD  |  City: Kensington</a:t>
            </a:r>
            <a:endParaRPr/>
          </a:p>
        </p:txBody>
      </p:sp>
      <p:sp>
        <p:nvSpPr>
          <p:cNvPr id="5481" name="Google Shape;5481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482" name="Google Shape;5482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83" name="Google Shape;5483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484" name="Google Shape;5484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485" name="Google Shape;5485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$-3,974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486" name="Google Shape;5486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487" name="Google Shape;5487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$74,788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488" name="Google Shape;5488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489" name="Google Shape;5489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90" name="Google Shape;5490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91" name="Google Shape;5491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92" name="Google Shape;5492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493" name="Google Shape;5493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494" name="Google Shape;5494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5" name="Google Shape;5495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496" name="Google Shape;5496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97" name="Google Shape;5497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498" name="Google Shape;5498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499" name="Google Shape;5499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00" name="Google Shape;5500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01" name="Google Shape;5501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02" name="Google Shape;5502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3" name="Google Shape;5503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04" name="Google Shape;5504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</p:txBody>
      </p:sp>
      <p:sp>
        <p:nvSpPr>
          <p:cNvPr id="5505" name="Google Shape;5505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6" name="Google Shape;5506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7" name="Google Shape;5507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</p:txBody>
      </p:sp>
      <p:sp>
        <p:nvSpPr>
          <p:cNvPr id="5508" name="Google Shape;5508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9" name="Google Shape;5509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0" name="Google Shape;5510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11" name="Google Shape;5511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2" name="Google Shape;5512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3" name="Google Shape;5513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4" name="Google Shape;5514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5" name="Google Shape;5515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6" name="Google Shape;5516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7" name="Google Shape;5517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18" name="Google Shape;5518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9" name="Google Shape;5519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0" name="Google Shape;5520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1" name="Google Shape;5521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2" name="Google Shape;5522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$-1,248</a:t>
            </a:r>
            <a:endParaRPr/>
          </a:p>
        </p:txBody>
      </p:sp>
      <p:sp>
        <p:nvSpPr>
          <p:cNvPr id="5523" name="Google Shape;5523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4" name="Google Shape;5524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25" name="Google Shape;5525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$5,656</a:t>
            </a:r>
            <a:endParaRPr/>
          </a:p>
        </p:txBody>
      </p:sp>
      <p:sp>
        <p:nvSpPr>
          <p:cNvPr id="5526" name="Google Shape;5526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$5,656</a:t>
            </a:r>
            <a:endParaRPr/>
          </a:p>
        </p:txBody>
      </p:sp>
      <p:sp>
        <p:nvSpPr>
          <p:cNvPr id="5527" name="Google Shape;5527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8" name="Google Shape;5528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29" name="Google Shape;5529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$-2,726</a:t>
            </a:r>
            <a:endParaRPr/>
          </a:p>
        </p:txBody>
      </p:sp>
      <p:sp>
        <p:nvSpPr>
          <p:cNvPr id="5530" name="Google Shape;5530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1" name="Google Shape;5531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32" name="Google Shape;5532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$17,449</a:t>
            </a:r>
            <a:endParaRPr/>
          </a:p>
        </p:txBody>
      </p:sp>
      <p:sp>
        <p:nvSpPr>
          <p:cNvPr id="5533" name="Google Shape;5533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$17,449</a:t>
            </a:r>
            <a:endParaRPr/>
          </a:p>
        </p:txBody>
      </p:sp>
      <p:sp>
        <p:nvSpPr>
          <p:cNvPr id="5534" name="Google Shape;5534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5" name="Google Shape;5535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6" name="Google Shape;5536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37" name="Google Shape;5537;p35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8" name="Google Shape;5538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539" name="Google Shape;5539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0" name="Google Shape;5540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1" name="Google Shape;5541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2" name="Google Shape;5542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3" name="Google Shape;5543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4" name="Google Shape;5544;p35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45" name="Google Shape;5545;p35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46" name="Google Shape;5546;p35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$23,179</a:t>
            </a:r>
            <a:endParaRPr/>
          </a:p>
        </p:txBody>
      </p:sp>
      <p:sp>
        <p:nvSpPr>
          <p:cNvPr id="5547" name="Google Shape;5547;p35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$23,105</a:t>
            </a:r>
            <a:endParaRPr/>
          </a:p>
        </p:txBody>
      </p:sp>
      <p:sp>
        <p:nvSpPr>
          <p:cNvPr id="5548" name="Google Shape;5548;p35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49" name="Google Shape;5549;p35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</p:txBody>
      </p:sp>
      <p:sp>
        <p:nvSpPr>
          <p:cNvPr id="5550" name="Google Shape;5550;p35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$-3,974</a:t>
            </a:r>
            <a:endParaRPr/>
          </a:p>
        </p:txBody>
      </p:sp>
      <p:sp>
        <p:nvSpPr>
          <p:cNvPr id="5551" name="Google Shape;5551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2" name="Google Shape;5552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553" name="Google Shape;5553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54" name="Google Shape;5554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555" name="Google Shape;5555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556" name="Google Shape;5556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557" name="Google Shape;5557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58" name="Google Shape;5558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59" name="Google Shape;5559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0" name="Google Shape;5560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61" name="Google Shape;5561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62" name="Google Shape;5562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63" name="Google Shape;5563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64" name="Google Shape;5564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65" name="Google Shape;5565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66" name="Google Shape;5566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7" name="Google Shape;5567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68" name="Google Shape;5568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69" name="Google Shape;5569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0" name="Google Shape;5570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571" name="Google Shape;5571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2" name="Google Shape;5572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73" name="Google Shape;5573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4" name="Google Shape;5574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75" name="Google Shape;5575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76" name="Google Shape;5576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7" name="Google Shape;5577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578" name="Google Shape;5578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79" name="Google Shape;5579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80" name="Google Shape;5580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1" name="Google Shape;5581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82" name="Google Shape;5582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583" name="Google Shape;5583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84" name="Google Shape;5584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585" name="Google Shape;5585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86" name="Google Shape;5586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87" name="Google Shape;5587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8" name="Google Shape;5588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89" name="Google Shape;5589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590" name="Google Shape;5590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91" name="Google Shape;5591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592" name="Google Shape;5592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93" name="Google Shape;5593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594" name="Google Shape;5594;p35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5" name="Google Shape;5595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596" name="Google Shape;5596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97" name="Google Shape;5597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98" name="Google Shape;5598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599" name="Google Shape;5599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0" name="Google Shape;5600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01" name="Google Shape;5601;p35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2" name="Google Shape;5602;p3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03" name="Google Shape;5603;p35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604" name="Google Shape;5604;p35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5" name="Google Shape;5605;p35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606" name="Google Shape;5606;p35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07" name="Google Shape;5607;p35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608" name="Google Shape;5608;p35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9" name="Google Shape;5609;p35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610" name="Google Shape;5610;p35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611" name="Google Shape;5611;p35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612" name="Google Shape;5612;p3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613" name="Google Shape;5613;p35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614" name="Google Shape;5614;p35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615" name="Google Shape;5615;p35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616" name="Google Shape;5616;p35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617" name="Google Shape;5617;p35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618" name="Google Shape;5618;p35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619" name="Google Shape;5619;p35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620" name="Google Shape;5620;p35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621" name="Google Shape;5621;p35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622" name="Google Shape;5622;p3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623" name="Google Shape;5623;p35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624" name="Google Shape;5624;p35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625" name="Google Shape;5625;p35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26" name="Google Shape;5626;p35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27" name="Google Shape;5627;p35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628" name="Google Shape;5628;p35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29" name="Google Shape;5629;p35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30" name="Google Shape;5630;p35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31" name="Google Shape;5631;p35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32" name="Google Shape;5632;p3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33" name="Google Shape;5633;p35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634" name="Google Shape;5634;p35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35" name="Google Shape;5635;p35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636" name="Google Shape;5636;p35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37" name="Google Shape;5637;p35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638" name="Google Shape;5638;p35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639" name="Google Shape;5639;p35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640" name="Google Shape;5640;p35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641" name="Google Shape;5641;p35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$-6,523</a:t>
            </a:r>
            <a:endParaRPr/>
          </a:p>
        </p:txBody>
      </p:sp>
      <p:sp>
        <p:nvSpPr>
          <p:cNvPr id="5642" name="Google Shape;5642;p3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</p:txBody>
      </p:sp>
      <p:sp>
        <p:nvSpPr>
          <p:cNvPr id="5643" name="Google Shape;5643;p35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4" name="Google Shape;5644;p35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5" name="Google Shape;5645;p35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6" name="Google Shape;5646;p35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7" name="Google Shape;5647;p35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48" name="Google Shape;5648;p35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649" name="Google Shape;5649;p35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5650" name="Google Shape;5650;p35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5651" name="Google Shape;5651;p35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$-2,509</a:t>
            </a:r>
            <a:endParaRPr/>
          </a:p>
        </p:txBody>
      </p:sp>
      <p:sp>
        <p:nvSpPr>
          <p:cNvPr id="5652" name="Google Shape;5652;p3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653" name="Google Shape;5653;p35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5654" name="Google Shape;5654;p35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5655" name="Google Shape;5655;p35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6" name="Google Shape;5656;p35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657" name="Google Shape;5657;p35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58" name="Google Shape;5658;p35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$23,179 YTD gross written premium</a:t>
            </a:r>
            <a:endParaRPr/>
          </a:p>
        </p:txBody>
      </p:sp>
      <p:sp>
        <p:nvSpPr>
          <p:cNvPr id="5659" name="Google Shape;5659;p35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60" name="Google Shape;5660;p35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$23,105 in new business production</a:t>
            </a:r>
            <a:endParaRPr/>
          </a:p>
        </p:txBody>
      </p:sp>
      <p:sp>
        <p:nvSpPr>
          <p:cNvPr id="5661" name="Google Shape;5661;p35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2" name="Google Shape;5662;p3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663" name="Google Shape;5663;p35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64" name="Google Shape;5664;p3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submissions with zero binds - zero conversion</a:t>
            </a:r>
            <a:endParaRPr/>
          </a:p>
        </p:txBody>
      </p:sp>
      <p:sp>
        <p:nvSpPr>
          <p:cNvPr id="5665" name="Google Shape;5665;p35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666" name="Google Shape;5666;p35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 quotes but 0 binds - follow up on pricing/coverage gaps</a:t>
            </a:r>
            <a:endParaRPr/>
          </a:p>
        </p:txBody>
      </p:sp>
      <p:sp>
        <p:nvSpPr>
          <p:cNvPr id="5667" name="Google Shape;5667;p35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8" name="Google Shape;5668;p35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669" name="Google Shape;5669;p35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670" name="Google Shape;5670;p35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671" name="Google Shape;5671;p35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672" name="Google Shape;5672;p3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$23,105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76" name="Shape 5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7" name="Google Shape;5677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8" name="Google Shape;5678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Argos Insurance Group, Llc</a:t>
            </a:r>
            <a:endParaRPr/>
          </a:p>
        </p:txBody>
      </p:sp>
      <p:sp>
        <p:nvSpPr>
          <p:cNvPr id="5679" name="Google Shape;5679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Middlesex</a:t>
            </a:r>
            <a:endParaRPr/>
          </a:p>
        </p:txBody>
      </p:sp>
      <p:sp>
        <p:nvSpPr>
          <p:cNvPr id="5680" name="Google Shape;5680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681" name="Google Shape;5681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82" name="Google Shape;5682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83" name="Google Shape;5683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684" name="Google Shape;5684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685" name="Google Shape;5685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686" name="Google Shape;5686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687" name="Google Shape;5687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688" name="Google Shape;5688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89" name="Google Shape;5689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90" name="Google Shape;5690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91" name="Google Shape;5691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692" name="Google Shape;5692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693" name="Google Shape;5693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4" name="Google Shape;5694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695" name="Google Shape;5695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96" name="Google Shape;5696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697" name="Google Shape;5697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698" name="Google Shape;5698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699" name="Google Shape;5699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00" name="Google Shape;5700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01" name="Google Shape;5701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2" name="Google Shape;5702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03" name="Google Shape;5703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04" name="Google Shape;5704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05" name="Google Shape;5705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06" name="Google Shape;5706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07" name="Google Shape;5707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08" name="Google Shape;5708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9" name="Google Shape;5709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10" name="Google Shape;5710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1" name="Google Shape;5711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2" name="Google Shape;5712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3" name="Google Shape;5713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4" name="Google Shape;5714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15" name="Google Shape;5715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6" name="Google Shape;5716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17" name="Google Shape;5717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$21,605</a:t>
            </a:r>
            <a:endParaRPr/>
          </a:p>
        </p:txBody>
      </p:sp>
      <p:sp>
        <p:nvSpPr>
          <p:cNvPr id="5718" name="Google Shape;5718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$22,329</a:t>
            </a:r>
            <a:endParaRPr/>
          </a:p>
        </p:txBody>
      </p:sp>
      <p:sp>
        <p:nvSpPr>
          <p:cNvPr id="5719" name="Google Shape;5719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0" name="Google Shape;5720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$-724</a:t>
            </a:r>
            <a:endParaRPr/>
          </a:p>
        </p:txBody>
      </p:sp>
      <p:sp>
        <p:nvSpPr>
          <p:cNvPr id="5721" name="Google Shape;5721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2" name="Google Shape;5722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3" name="Google Shape;5723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24" name="Google Shape;5724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</a:t>
            </a:r>
            <a:endParaRPr/>
          </a:p>
        </p:txBody>
      </p:sp>
      <p:sp>
        <p:nvSpPr>
          <p:cNvPr id="5725" name="Google Shape;5725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6" name="Google Shape;5726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7" name="Google Shape;5727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</a:t>
            </a:r>
            <a:endParaRPr/>
          </a:p>
        </p:txBody>
      </p:sp>
      <p:sp>
        <p:nvSpPr>
          <p:cNvPr id="5728" name="Google Shape;5728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29" name="Google Shape;5729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0" name="Google Shape;5730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31" name="Google Shape;5731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2" name="Google Shape;5732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3" name="Google Shape;5733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4" name="Google Shape;5734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5" name="Google Shape;5735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6" name="Google Shape;5736;p36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7" name="Google Shape;5737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738" name="Google Shape;5738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39" name="Google Shape;5739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0" name="Google Shape;5740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1" name="Google Shape;5741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2" name="Google Shape;5742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3" name="Google Shape;5743;p36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4" name="Google Shape;5744;p36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45" name="Google Shape;5745;p36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$21,797</a:t>
            </a:r>
            <a:endParaRPr/>
          </a:p>
        </p:txBody>
      </p:sp>
      <p:sp>
        <p:nvSpPr>
          <p:cNvPr id="5746" name="Google Shape;5746;p36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$22,329</a:t>
            </a:r>
            <a:endParaRPr/>
          </a:p>
        </p:txBody>
      </p:sp>
      <p:sp>
        <p:nvSpPr>
          <p:cNvPr id="5747" name="Google Shape;5747;p36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8" name="Google Shape;5748;p36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$-532</a:t>
            </a:r>
            <a:endParaRPr/>
          </a:p>
        </p:txBody>
      </p:sp>
      <p:sp>
        <p:nvSpPr>
          <p:cNvPr id="5749" name="Google Shape;5749;p36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0" name="Google Shape;5750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1" name="Google Shape;5751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752" name="Google Shape;5752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53" name="Google Shape;5753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754" name="Google Shape;5754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755" name="Google Shape;5755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756" name="Google Shape;5756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57" name="Google Shape;5757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58" name="Google Shape;5758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9" name="Google Shape;5759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60" name="Google Shape;5760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61" name="Google Shape;5761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62" name="Google Shape;5762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63" name="Google Shape;5763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64" name="Google Shape;5764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65" name="Google Shape;5765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6" name="Google Shape;5766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67" name="Google Shape;5767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768" name="Google Shape;5768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69" name="Google Shape;5769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770" name="Google Shape;5770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71" name="Google Shape;5771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772" name="Google Shape;5772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3" name="Google Shape;5773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74" name="Google Shape;5774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775" name="Google Shape;5775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76" name="Google Shape;5776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777" name="Google Shape;5777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78" name="Google Shape;5778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5779" name="Google Shape;5779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0" name="Google Shape;5780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81" name="Google Shape;5781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782" name="Google Shape;5782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3" name="Google Shape;5783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784" name="Google Shape;5784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85" name="Google Shape;5785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86" name="Google Shape;5786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7" name="Google Shape;5787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88" name="Google Shape;5788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89" name="Google Shape;5789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0" name="Google Shape;5790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791" name="Google Shape;5791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2" name="Google Shape;5792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793" name="Google Shape;5793;p36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4" name="Google Shape;5794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795" name="Google Shape;5795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6" name="Google Shape;5796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7" name="Google Shape;5797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8" name="Google Shape;5798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799" name="Google Shape;5799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00" name="Google Shape;5800;p36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1" name="Google Shape;5801;p36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02" name="Google Shape;5802;p3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5803" name="Google Shape;5803;p36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04" name="Google Shape;5804;p36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5805" name="Google Shape;5805;p36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06" name="Google Shape;5806;p36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07" name="Google Shape;5807;p36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8" name="Google Shape;5808;p36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5809" name="Google Shape;5809;p36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10" name="Google Shape;5810;p36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811" name="Google Shape;5811;p36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812" name="Google Shape;5812;p3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813" name="Google Shape;5813;p36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814" name="Google Shape;5814;p36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815" name="Google Shape;5815;p36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816" name="Google Shape;5816;p36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817" name="Google Shape;5817;p36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818" name="Google Shape;5818;p36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819" name="Google Shape;5819;p36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820" name="Google Shape;5820;p36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5821" name="Google Shape;5821;p36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5822" name="Google Shape;5822;p3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5823" name="Google Shape;5823;p36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5824" name="Google Shape;5824;p36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25" name="Google Shape;5825;p36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26" name="Google Shape;5826;p36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27" name="Google Shape;5827;p36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28" name="Google Shape;5828;p36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829" name="Google Shape;5829;p36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30" name="Google Shape;5830;p36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831" name="Google Shape;5831;p36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2" name="Google Shape;5832;p3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833" name="Google Shape;5833;p36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4" name="Google Shape;5834;p36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835" name="Google Shape;5835;p36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36" name="Google Shape;5836;p36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37" name="Google Shape;5837;p36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5838" name="Google Shape;5838;p36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5839" name="Google Shape;5839;p36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840" name="Google Shape;5840;p36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1" name="Google Shape;5841;p36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2" name="Google Shape;5842;p3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3" name="Google Shape;5843;p36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4" name="Google Shape;5844;p36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5" name="Google Shape;5845;p36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846" name="Google Shape;5846;p36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7" name="Google Shape;5847;p36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$192</a:t>
            </a:r>
            <a:endParaRPr/>
          </a:p>
        </p:txBody>
      </p:sp>
      <p:sp>
        <p:nvSpPr>
          <p:cNvPr id="5848" name="Google Shape;5848;p36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49" name="Google Shape;5849;p36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0" name="Google Shape;5850;p36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1" name="Google Shape;5851;p36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2" name="Google Shape;5852;p3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53" name="Google Shape;5853;p36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5854" name="Google Shape;5854;p36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5" name="Google Shape;5855;p36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856" name="Google Shape;5856;p36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857" name="Google Shape;5857;p36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$21,797 YTD gross written premium</a:t>
            </a:r>
            <a:endParaRPr/>
          </a:p>
        </p:txBody>
      </p:sp>
      <p:sp>
        <p:nvSpPr>
          <p:cNvPr id="5858" name="Google Shape;5858;p36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859" name="Google Shape;5859;p36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$22,329 in new business production</a:t>
            </a:r>
            <a:endParaRPr/>
          </a:p>
        </p:txBody>
      </p:sp>
      <p:sp>
        <p:nvSpPr>
          <p:cNvPr id="5860" name="Google Shape;5860;p36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1" name="Google Shape;5861;p36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862" name="Google Shape;5862;p3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63" name="Google Shape;5863;p36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 submissions with zero binds - zero conversion</a:t>
            </a:r>
            <a:endParaRPr/>
          </a:p>
        </p:txBody>
      </p:sp>
      <p:sp>
        <p:nvSpPr>
          <p:cNvPr id="5864" name="Google Shape;5864;p3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65" name="Google Shape;5865;p36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99% month-over-month</a:t>
            </a:r>
            <a:endParaRPr/>
          </a:p>
        </p:txBody>
      </p:sp>
      <p:sp>
        <p:nvSpPr>
          <p:cNvPr id="5866" name="Google Shape;5866;p3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67" name="Google Shape;5867;p36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868" name="Google Shape;5868;p36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869" name="Google Shape;5869;p36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45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5870" name="Google Shape;5870;p36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871" name="Google Shape;5871;p36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$22,329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75" name="Shape 5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6" name="Google Shape;5876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7" name="Google Shape;5877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Statechoice Insurance</a:t>
            </a:r>
            <a:endParaRPr/>
          </a:p>
        </p:txBody>
      </p:sp>
      <p:sp>
        <p:nvSpPr>
          <p:cNvPr id="5878" name="Google Shape;5878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CT  |  City: West Hartford</a:t>
            </a:r>
            <a:endParaRPr/>
          </a:p>
        </p:txBody>
      </p:sp>
      <p:sp>
        <p:nvSpPr>
          <p:cNvPr id="5879" name="Google Shape;5879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880" name="Google Shape;5880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81" name="Google Shape;5881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82" name="Google Shape;5882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83" name="Google Shape;5883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884" name="Google Shape;5884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$106,401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885" name="Google Shape;5885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$36,669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886" name="Google Shape;5886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887" name="Google Shape;5887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88" name="Google Shape;5888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889" name="Google Shape;5889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890" name="Google Shape;5890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891" name="Google Shape;5891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892" name="Google Shape;5892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3" name="Google Shape;5893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894" name="Google Shape;5894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895" name="Google Shape;5895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896" name="Google Shape;5896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97" name="Google Shape;5897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98" name="Google Shape;5898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899" name="Google Shape;5899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00" name="Google Shape;5900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1" name="Google Shape;5901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02" name="Google Shape;5902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5903" name="Google Shape;5903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4" name="Google Shape;5904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5905" name="Google Shape;5905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6" name="Google Shape;5906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07" name="Google Shape;5907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8" name="Google Shape;5908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09" name="Google Shape;5909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0" name="Google Shape;5910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1" name="Google Shape;5911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2" name="Google Shape;5912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3" name="Google Shape;5913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4" name="Google Shape;5914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5" name="Google Shape;5915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16" name="Google Shape;5916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7" name="Google Shape;5917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8" name="Google Shape;5918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19" name="Google Shape;5919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0" name="Google Shape;5920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1" name="Google Shape;5921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2" name="Google Shape;5922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23" name="Google Shape;5923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4" name="Google Shape;5924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5" name="Google Shape;5925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6" name="Google Shape;5926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7" name="Google Shape;5927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8" name="Google Shape;5928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9" name="Google Shape;5929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30" name="Google Shape;5930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1" name="Google Shape;5931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2" name="Google Shape;5932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3" name="Google Shape;5933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4" name="Google Shape;5934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5" name="Google Shape;5935;p37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6" name="Google Shape;5936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937" name="Google Shape;5937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8" name="Google Shape;5938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9" name="Google Shape;5939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0" name="Google Shape;5940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1" name="Google Shape;5941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2" name="Google Shape;5942;p3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3" name="Google Shape;5943;p37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44" name="Google Shape;5944;p37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5945" name="Google Shape;5945;p37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6" name="Google Shape;5946;p37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</a:t>
            </a:r>
            <a:endParaRPr/>
          </a:p>
        </p:txBody>
      </p:sp>
      <p:sp>
        <p:nvSpPr>
          <p:cNvPr id="5947" name="Google Shape;5947;p37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8" name="Google Shape;5948;p37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9" name="Google Shape;5949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0" name="Google Shape;5950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951" name="Google Shape;5951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52" name="Google Shape;5952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953" name="Google Shape;5953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954" name="Google Shape;5954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955" name="Google Shape;5955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56" name="Google Shape;5956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57" name="Google Shape;5957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8" name="Google Shape;5958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59" name="Google Shape;5959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60" name="Google Shape;5960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1" name="Google Shape;5961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62" name="Google Shape;5962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3" name="Google Shape;5963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64" name="Google Shape;5964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5" name="Google Shape;5965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66" name="Google Shape;5966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67" name="Google Shape;5967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68" name="Google Shape;5968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69" name="Google Shape;5969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0" name="Google Shape;5970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71" name="Google Shape;5971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2" name="Google Shape;5972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73" name="Google Shape;5973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74" name="Google Shape;5974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5" name="Google Shape;5975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76" name="Google Shape;5976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77" name="Google Shape;5977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78" name="Google Shape;5978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9" name="Google Shape;5979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80" name="Google Shape;5980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81" name="Google Shape;5981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2" name="Google Shape;5982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83" name="Google Shape;5983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4" name="Google Shape;5984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85" name="Google Shape;5985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6" name="Google Shape;5986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87" name="Google Shape;5987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88" name="Google Shape;5988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9" name="Google Shape;5989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90" name="Google Shape;5990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1" name="Google Shape;5991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92" name="Google Shape;5992;p3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3" name="Google Shape;5993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5994" name="Google Shape;5994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5" name="Google Shape;5995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6" name="Google Shape;5996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7" name="Google Shape;5997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98" name="Google Shape;5998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99" name="Google Shape;5999;p37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0" name="Google Shape;6000;p37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01" name="Google Shape;6001;p37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002" name="Google Shape;6002;p3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3" name="Google Shape;6003;p37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004" name="Google Shape;6004;p37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05" name="Google Shape;6005;p37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006" name="Google Shape;6006;p37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7" name="Google Shape;6007;p37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008" name="Google Shape;6008;p37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09" name="Google Shape;6009;p37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010" name="Google Shape;6010;p37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011" name="Google Shape;6011;p37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012" name="Google Shape;6012;p3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013" name="Google Shape;6013;p37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014" name="Google Shape;6014;p37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015" name="Google Shape;6015;p37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16" name="Google Shape;6016;p37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17" name="Google Shape;6017;p37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018" name="Google Shape;6018;p37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019" name="Google Shape;6019;p37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020" name="Google Shape;6020;p37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021" name="Google Shape;6021;p37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022" name="Google Shape;6022;p3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023" name="Google Shape;6023;p37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24" name="Google Shape;6024;p37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25" name="Google Shape;6025;p37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26" name="Google Shape;6026;p37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027" name="Google Shape;6027;p37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28" name="Google Shape;6028;p37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29" name="Google Shape;6029;p37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30" name="Google Shape;6030;p37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031" name="Google Shape;6031;p37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032" name="Google Shape;6032;p3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033" name="Google Shape;6033;p37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34" name="Google Shape;6034;p37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5" name="Google Shape;6035;p37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036" name="Google Shape;6036;p37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6037" name="Google Shape;6037;p37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038" name="Google Shape;6038;p37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039" name="Google Shape;6039;p37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6040" name="Google Shape;6040;p37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6041" name="Google Shape;6041;p37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2" name="Google Shape;6042;p3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3" name="Google Shape;6043;p37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6044" name="Google Shape;6044;p37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5" name="Google Shape;6045;p37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6" name="Google Shape;6046;p37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7" name="Google Shape;6047;p37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8" name="Google Shape;6048;p37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9" name="Google Shape;6049;p37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0" name="Google Shape;6050;p37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51" name="Google Shape;6051;p37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6052" name="Google Shape;6052;p3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6053" name="Google Shape;6053;p37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4" name="Google Shape;6054;p37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055" name="Google Shape;6055;p37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56" name="Google Shape;6056;p37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 YTD gross written premium</a:t>
            </a:r>
            <a:endParaRPr/>
          </a:p>
        </p:txBody>
      </p:sp>
      <p:sp>
        <p:nvSpPr>
          <p:cNvPr id="6057" name="Google Shape;6057;p37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58" name="Google Shape;6058;p37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$16,607 in renewals - strong retention</a:t>
            </a:r>
            <a:endParaRPr/>
          </a:p>
        </p:txBody>
      </p:sp>
      <p:sp>
        <p:nvSpPr>
          <p:cNvPr id="6059" name="Google Shape;6059;p37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0" name="Google Shape;6060;p37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061" name="Google Shape;6061;p37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62" name="Google Shape;6062;p3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submissions with zero binds - zero conversion</a:t>
            </a:r>
            <a:endParaRPr/>
          </a:p>
        </p:txBody>
      </p:sp>
      <p:sp>
        <p:nvSpPr>
          <p:cNvPr id="6063" name="Google Shape;6063;p37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64" name="Google Shape;6064;p3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065" name="Google Shape;6065;p37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6" name="Google Shape;6066;p3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067" name="Google Shape;6067;p37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068" name="Google Shape;6068;p37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069" name="Google Shape;6069;p37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070" name="Google Shape;6070;p37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74" name="Shape 60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5" name="Google Shape;6075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6" name="Google Shape;6076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Pigott Agency Llc</a:t>
            </a:r>
            <a:endParaRPr/>
          </a:p>
        </p:txBody>
      </p:sp>
      <p:sp>
        <p:nvSpPr>
          <p:cNvPr id="6077" name="Google Shape;6077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Bensalem</a:t>
            </a:r>
            <a:endParaRPr/>
          </a:p>
        </p:txBody>
      </p:sp>
      <p:sp>
        <p:nvSpPr>
          <p:cNvPr id="6078" name="Google Shape;6078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079" name="Google Shape;6079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80" name="Google Shape;6080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81" name="Google Shape;6081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82" name="Google Shape;6082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83" name="Google Shape;6083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084" name="Google Shape;6084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085" name="Google Shape;6085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086" name="Google Shape;6086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87" name="Google Shape;6087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88" name="Google Shape;6088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89" name="Google Shape;6089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090" name="Google Shape;6090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091" name="Google Shape;6091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2" name="Google Shape;6092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093" name="Google Shape;6093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94" name="Google Shape;6094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095" name="Google Shape;6095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96" name="Google Shape;6096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97" name="Google Shape;6097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98" name="Google Shape;6098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99" name="Google Shape;6099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0" name="Google Shape;6100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01" name="Google Shape;6101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2" name="Google Shape;6102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3" name="Google Shape;6103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4" name="Google Shape;6104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5" name="Google Shape;6105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6" name="Google Shape;6106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7" name="Google Shape;6107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08" name="Google Shape;6108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9" name="Google Shape;6109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0" name="Google Shape;6110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1" name="Google Shape;6111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2" name="Google Shape;6112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3" name="Google Shape;6113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4" name="Google Shape;6114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15" name="Google Shape;6115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</p:txBody>
      </p:sp>
      <p:sp>
        <p:nvSpPr>
          <p:cNvPr id="6116" name="Google Shape;6116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</p:txBody>
      </p:sp>
      <p:sp>
        <p:nvSpPr>
          <p:cNvPr id="6117" name="Google Shape;6117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8" name="Google Shape;6118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9" name="Google Shape;6119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0" name="Google Shape;6120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1" name="Google Shape;6121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22" name="Google Shape;6122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3" name="Google Shape;6123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4" name="Google Shape;6124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5" name="Google Shape;6125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6" name="Google Shape;6126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7" name="Google Shape;6127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8" name="Google Shape;6128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29" name="Google Shape;6129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0" name="Google Shape;6130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1" name="Google Shape;6131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2" name="Google Shape;6132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3" name="Google Shape;6133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4" name="Google Shape;6134;p38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5" name="Google Shape;6135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136" name="Google Shape;6136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7" name="Google Shape;6137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8" name="Google Shape;6138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9" name="Google Shape;6139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0" name="Google Shape;6140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1" name="Google Shape;6141;p38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2" name="Google Shape;6142;p3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43" name="Google Shape;6143;p38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</p:txBody>
      </p:sp>
      <p:sp>
        <p:nvSpPr>
          <p:cNvPr id="6144" name="Google Shape;6144;p38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</a:t>
            </a:r>
            <a:endParaRPr/>
          </a:p>
        </p:txBody>
      </p:sp>
      <p:sp>
        <p:nvSpPr>
          <p:cNvPr id="6145" name="Google Shape;6145;p38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6" name="Google Shape;6146;p38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7" name="Google Shape;6147;p38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48" name="Google Shape;6148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9" name="Google Shape;6149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150" name="Google Shape;6150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51" name="Google Shape;6151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152" name="Google Shape;6152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153" name="Google Shape;6153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154" name="Google Shape;6154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55" name="Google Shape;6155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56" name="Google Shape;6156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7" name="Google Shape;6157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58" name="Google Shape;6158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59" name="Google Shape;6159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0" name="Google Shape;6160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61" name="Google Shape;6161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2" name="Google Shape;6162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63" name="Google Shape;6163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4" name="Google Shape;6164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65" name="Google Shape;6165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6" name="Google Shape;6166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7" name="Google Shape;6167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8" name="Google Shape;6168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69" name="Google Shape;6169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70" name="Google Shape;6170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1" name="Google Shape;6171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72" name="Google Shape;6172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73" name="Google Shape;6173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74" name="Google Shape;6174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75" name="Google Shape;6175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76" name="Google Shape;6176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100.0%</a:t>
            </a:r>
            <a:endParaRPr/>
          </a:p>
        </p:txBody>
      </p:sp>
      <p:sp>
        <p:nvSpPr>
          <p:cNvPr id="6177" name="Google Shape;6177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8" name="Google Shape;6178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79" name="Google Shape;6179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80" name="Google Shape;6180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1" name="Google Shape;6181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82" name="Google Shape;6182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3" name="Google Shape;6183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84" name="Google Shape;6184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5" name="Google Shape;6185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86" name="Google Shape;6186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7" name="Google Shape;6187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8" name="Google Shape;6188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89" name="Google Shape;6189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0" name="Google Shape;6190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91" name="Google Shape;6191;p38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2" name="Google Shape;6192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193" name="Google Shape;6193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4" name="Google Shape;6194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5" name="Google Shape;6195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6" name="Google Shape;6196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97" name="Google Shape;6197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98" name="Google Shape;6198;p38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9" name="Google Shape;6199;p38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200" name="Google Shape;6200;p38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01" name="Google Shape;6201;p38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02" name="Google Shape;6202;p3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03" name="Google Shape;6203;p38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04" name="Google Shape;6204;p38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6205" name="Google Shape;6205;p38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6" name="Google Shape;6206;p38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207" name="Google Shape;6207;p38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208" name="Google Shape;6208;p38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209" name="Google Shape;6209;p38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210" name="Google Shape;6210;p38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211" name="Google Shape;6211;p38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212" name="Google Shape;6212;p3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213" name="Google Shape;6213;p38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214" name="Google Shape;6214;p38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215" name="Google Shape;6215;p38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216" name="Google Shape;6216;p38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217" name="Google Shape;6217;p38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218" name="Google Shape;6218;p38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219" name="Google Shape;6219;p38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220" name="Google Shape;6220;p38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221" name="Google Shape;6221;p38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222" name="Google Shape;6222;p3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23" name="Google Shape;6223;p38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4" name="Google Shape;6224;p38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25" name="Google Shape;6225;p38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6" name="Google Shape;6226;p38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7" name="Google Shape;6227;p38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28" name="Google Shape;6228;p38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29" name="Google Shape;6229;p38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0" name="Google Shape;6230;p38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231" name="Google Shape;6231;p38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2" name="Google Shape;6232;p3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3" name="Google Shape;6233;p38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4" name="Google Shape;6234;p38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5" name="Google Shape;6235;p38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236" name="Google Shape;6236;p38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237" name="Google Shape;6237;p38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238" name="Google Shape;6238;p38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39" name="Google Shape;6239;p38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0" name="Google Shape;6240;p38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1" name="Google Shape;6241;p38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2" name="Google Shape;6242;p3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3" name="Google Shape;6243;p38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6244" name="Google Shape;6244;p38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5" name="Google Shape;6245;p38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6" name="Google Shape;6246;p38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7" name="Google Shape;6247;p38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8" name="Google Shape;6248;p38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49" name="Google Shape;6249;p38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0" name="Google Shape;6250;p38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51" name="Google Shape;6251;p38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6252" name="Google Shape;6252;p3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3" name="Google Shape;6253;p38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254" name="Google Shape;6254;p38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55" name="Google Shape;6255;p38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 YTD gross written premium</a:t>
            </a:r>
            <a:endParaRPr/>
          </a:p>
        </p:txBody>
      </p:sp>
      <p:sp>
        <p:nvSpPr>
          <p:cNvPr id="6256" name="Google Shape;6256;p38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57" name="Google Shape;6257;p38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$16,492 in new business production</a:t>
            </a:r>
            <a:endParaRPr/>
          </a:p>
        </p:txBody>
      </p:sp>
      <p:sp>
        <p:nvSpPr>
          <p:cNvPr id="6258" name="Google Shape;6258;p38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9" name="Google Shape;6259;p38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260" name="Google Shape;6260;p38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61" name="Google Shape;6261;p38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6262" name="Google Shape;6262;p3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63" name="Google Shape;6263;p38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6264" name="Google Shape;6264;p3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5" name="Google Shape;6265;p38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266" name="Google Shape;6266;p3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267" name="Google Shape;6267;p38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$16,492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71" name="Shape 6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2" name="Google Shape;6272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3" name="Google Shape;6273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Mogul Insurance Group Llc</a:t>
            </a:r>
            <a:endParaRPr/>
          </a:p>
        </p:txBody>
      </p:sp>
      <p:sp>
        <p:nvSpPr>
          <p:cNvPr id="6274" name="Google Shape;6274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Manassas</a:t>
            </a:r>
            <a:endParaRPr/>
          </a:p>
        </p:txBody>
      </p:sp>
      <p:sp>
        <p:nvSpPr>
          <p:cNvPr id="6275" name="Google Shape;6275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$10,622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276" name="Google Shape;6276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$10,622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77" name="Google Shape;6277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78" name="Google Shape;6278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79" name="Google Shape;6279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80" name="Google Shape;6280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$7,889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281" name="Google Shape;6281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$18,511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282" name="Google Shape;6282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283" name="Google Shape;6283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84" name="Google Shape;6284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85" name="Google Shape;6285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86" name="Google Shape;6286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287" name="Google Shape;6287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288" name="Google Shape;6288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9" name="Google Shape;6289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290" name="Google Shape;6290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91" name="Google Shape;6291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292" name="Google Shape;6292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93" name="Google Shape;6293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94" name="Google Shape;6294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95" name="Google Shape;6295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96" name="Google Shape;6296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7" name="Google Shape;6297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298" name="Google Shape;6298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$2,289</a:t>
            </a:r>
            <a:endParaRPr/>
          </a:p>
        </p:txBody>
      </p:sp>
      <p:sp>
        <p:nvSpPr>
          <p:cNvPr id="6299" name="Google Shape;6299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$2,289</a:t>
            </a:r>
            <a:endParaRPr/>
          </a:p>
        </p:txBody>
      </p:sp>
      <p:sp>
        <p:nvSpPr>
          <p:cNvPr id="6300" name="Google Shape;6300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1" name="Google Shape;6301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2" name="Google Shape;6302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3" name="Google Shape;6303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4" name="Google Shape;6304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05" name="Google Shape;6305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$3,742</a:t>
            </a:r>
            <a:endParaRPr/>
          </a:p>
        </p:txBody>
      </p:sp>
      <p:sp>
        <p:nvSpPr>
          <p:cNvPr id="6306" name="Google Shape;6306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$3,742</a:t>
            </a:r>
            <a:endParaRPr/>
          </a:p>
        </p:txBody>
      </p:sp>
      <p:sp>
        <p:nvSpPr>
          <p:cNvPr id="6307" name="Google Shape;6307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8" name="Google Shape;6308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9" name="Google Shape;6309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0" name="Google Shape;6310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1" name="Google Shape;6311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12" name="Google Shape;6312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3" name="Google Shape;6313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4" name="Google Shape;6314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5" name="Google Shape;6315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6" name="Google Shape;6316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$-2,335</a:t>
            </a:r>
            <a:endParaRPr/>
          </a:p>
        </p:txBody>
      </p:sp>
      <p:sp>
        <p:nvSpPr>
          <p:cNvPr id="6317" name="Google Shape;6317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8" name="Google Shape;6318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19" name="Google Shape;6319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0" name="Google Shape;6320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1" name="Google Shape;6321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2" name="Google Shape;6322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3" name="Google Shape;6323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4" name="Google Shape;6324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5" name="Google Shape;6325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26" name="Google Shape;6326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$4,590</a:t>
            </a:r>
            <a:endParaRPr/>
          </a:p>
        </p:txBody>
      </p:sp>
      <p:sp>
        <p:nvSpPr>
          <p:cNvPr id="6327" name="Google Shape;6327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$4,590</a:t>
            </a:r>
            <a:endParaRPr/>
          </a:p>
        </p:txBody>
      </p:sp>
      <p:sp>
        <p:nvSpPr>
          <p:cNvPr id="6328" name="Google Shape;6328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29" name="Google Shape;6329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0" name="Google Shape;6330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1" name="Google Shape;6331;p39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2" name="Google Shape;6332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333" name="Google Shape;6333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4" name="Google Shape;6334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5" name="Google Shape;6335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6" name="Google Shape;6336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7" name="Google Shape;6337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38" name="Google Shape;6338;p39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9" name="Google Shape;6339;p39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40" name="Google Shape;6340;p3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$10,622</a:t>
            </a:r>
            <a:endParaRPr/>
          </a:p>
        </p:txBody>
      </p:sp>
      <p:sp>
        <p:nvSpPr>
          <p:cNvPr id="6341" name="Google Shape;6341;p39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$10,622</a:t>
            </a:r>
            <a:endParaRPr/>
          </a:p>
        </p:txBody>
      </p:sp>
      <p:sp>
        <p:nvSpPr>
          <p:cNvPr id="6342" name="Google Shape;6342;p39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3" name="Google Shape;6343;p39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44" name="Google Shape;6344;p39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$-2,335</a:t>
            </a:r>
            <a:endParaRPr/>
          </a:p>
        </p:txBody>
      </p:sp>
      <p:sp>
        <p:nvSpPr>
          <p:cNvPr id="6345" name="Google Shape;6345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6" name="Google Shape;6346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347" name="Google Shape;6347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48" name="Google Shape;6348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349" name="Google Shape;6349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350" name="Google Shape;6350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351" name="Google Shape;6351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52" name="Google Shape;6352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53" name="Google Shape;6353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4" name="Google Shape;6354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55" name="Google Shape;6355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356" name="Google Shape;6356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57" name="Google Shape;6357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358" name="Google Shape;6358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59" name="Google Shape;6359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23.1%</a:t>
            </a:r>
            <a:endParaRPr/>
          </a:p>
        </p:txBody>
      </p:sp>
      <p:sp>
        <p:nvSpPr>
          <p:cNvPr id="6360" name="Google Shape;6360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1" name="Google Shape;6361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62" name="Google Shape;6362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363" name="Google Shape;6363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4" name="Google Shape;6364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365" name="Google Shape;6365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66" name="Google Shape;6366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67" name="Google Shape;6367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8" name="Google Shape;6368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69" name="Google Shape;6369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370" name="Google Shape;6370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71" name="Google Shape;6371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72" name="Google Shape;6372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73" name="Google Shape;6373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74" name="Google Shape;6374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5" name="Google Shape;6375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76" name="Google Shape;6376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377" name="Google Shape;6377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78" name="Google Shape;6378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379" name="Google Shape;6379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0" name="Google Shape;6380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81" name="Google Shape;6381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2" name="Google Shape;6382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83" name="Google Shape;6383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84" name="Google Shape;6384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85" name="Google Shape;6385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86" name="Google Shape;6386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87" name="Google Shape;6387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388" name="Google Shape;6388;p39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89" name="Google Shape;6389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390" name="Google Shape;6390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1" name="Google Shape;6391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2" name="Google Shape;6392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3" name="Google Shape;6393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94" name="Google Shape;6394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95" name="Google Shape;6395;p39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96" name="Google Shape;6396;p39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97" name="Google Shape;6397;p39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6398" name="Google Shape;6398;p39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99" name="Google Shape;6399;p39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6400" name="Google Shape;6400;p3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401" name="Google Shape;6401;p39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8.5%</a:t>
            </a:r>
            <a:endParaRPr/>
          </a:p>
        </p:txBody>
      </p:sp>
      <p:sp>
        <p:nvSpPr>
          <p:cNvPr id="6402" name="Google Shape;6402;p39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3" name="Google Shape;6403;p39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404" name="Google Shape;6404;p39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405" name="Google Shape;6405;p39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406" name="Google Shape;6406;p39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407" name="Google Shape;6407;p39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408" name="Google Shape;6408;p39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409" name="Google Shape;6409;p39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410" name="Google Shape;6410;p3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411" name="Google Shape;6411;p39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412" name="Google Shape;6412;p39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413" name="Google Shape;6413;p39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414" name="Google Shape;6414;p39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415" name="Google Shape;6415;p39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416" name="Google Shape;6416;p39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417" name="Google Shape;6417;p39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418" name="Google Shape;6418;p39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419" name="Google Shape;6419;p39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20" name="Google Shape;6420;p3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21" name="Google Shape;6421;p39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422" name="Google Shape;6422;p39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23" name="Google Shape;6423;p39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424" name="Google Shape;6424;p39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25" name="Google Shape;6425;p39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426" name="Google Shape;6426;p39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27" name="Google Shape;6427;p39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428" name="Google Shape;6428;p39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29" name="Google Shape;6429;p39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430" name="Google Shape;6430;p3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31" name="Google Shape;6431;p39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432" name="Google Shape;6432;p39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433" name="Google Shape;6433;p39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6434" name="Google Shape;6434;p39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435" name="Google Shape;6435;p39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6" name="Google Shape;6436;p39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6437" name="Google Shape;6437;p39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38" name="Google Shape;6438;p39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439" name="Google Shape;6439;p39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0" name="Google Shape;6440;p3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1" name="Google Shape;6441;p39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2" name="Google Shape;6442;p39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3" name="Google Shape;6443;p39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4" name="Google Shape;6444;p39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6445" name="Google Shape;6445;p39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6" name="Google Shape;6446;p39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7" name="Google Shape;6447;p39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48" name="Google Shape;6448;p39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6449" name="Google Shape;6449;p39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0" name="Google Shape;6450;p3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451" name="Google Shape;6451;p39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52" name="Google Shape;6452;p39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$10,622 YTD gross written premium</a:t>
            </a:r>
            <a:endParaRPr/>
          </a:p>
        </p:txBody>
      </p:sp>
      <p:sp>
        <p:nvSpPr>
          <p:cNvPr id="6453" name="Google Shape;6453;p39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54" name="Google Shape;6454;p39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$10,622 in new business production</a:t>
            </a:r>
            <a:endParaRPr/>
          </a:p>
        </p:txBody>
      </p:sp>
      <p:sp>
        <p:nvSpPr>
          <p:cNvPr id="6455" name="Google Shape;6455;p39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6" name="Google Shape;6456;p39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457" name="Google Shape;6457;p39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58" name="Google Shape;6458;p39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8 to 2 MoM</a:t>
            </a:r>
            <a:endParaRPr/>
          </a:p>
        </p:txBody>
      </p:sp>
      <p:sp>
        <p:nvSpPr>
          <p:cNvPr id="6459" name="Google Shape;6459;p39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0" name="Google Shape;6460;p3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461" name="Google Shape;6461;p39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462" name="Google Shape;6462;p3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$10,622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66" name="Shape 6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7" name="Google Shape;6467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8" name="Google Shape;6468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Z&amp;H Brokerage Inc</a:t>
            </a:r>
            <a:endParaRPr/>
          </a:p>
        </p:txBody>
      </p:sp>
      <p:sp>
        <p:nvSpPr>
          <p:cNvPr id="6469" name="Google Shape;6469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Oakland Gardens</a:t>
            </a:r>
            <a:endParaRPr/>
          </a:p>
        </p:txBody>
      </p:sp>
      <p:sp>
        <p:nvSpPr>
          <p:cNvPr id="6470" name="Google Shape;6470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471" name="Google Shape;6471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72" name="Google Shape;6472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$9,037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73" name="Google Shape;6473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74" name="Google Shape;6474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75" name="Google Shape;6475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$36,735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476" name="Google Shape;6476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477" name="Google Shape;6477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478" name="Google Shape;6478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79" name="Google Shape;6479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80" name="Google Shape;6480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81" name="Google Shape;6481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482" name="Google Shape;6482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$8,562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483" name="Google Shape;6483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4" name="Google Shape;6484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485" name="Google Shape;6485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86" name="Google Shape;6486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487" name="Google Shape;6487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88" name="Google Shape;6488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89" name="Google Shape;6489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90" name="Google Shape;6490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91" name="Google Shape;6491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2" name="Google Shape;6492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93" name="Google Shape;6493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4" name="Google Shape;6494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5" name="Google Shape;6495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6" name="Google Shape;6496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7" name="Google Shape;6497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8" name="Google Shape;6498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9" name="Google Shape;6499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00" name="Google Shape;6500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1" name="Google Shape;6501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2" name="Google Shape;6502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3" name="Google Shape;6503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4" name="Google Shape;6504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5" name="Google Shape;6505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6" name="Google Shape;6506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07" name="Google Shape;6507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$-909</a:t>
            </a:r>
            <a:endParaRPr/>
          </a:p>
        </p:txBody>
      </p:sp>
      <p:sp>
        <p:nvSpPr>
          <p:cNvPr id="6508" name="Google Shape;6508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09" name="Google Shape;6509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0" name="Google Shape;6510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$-909</a:t>
            </a:r>
            <a:endParaRPr/>
          </a:p>
        </p:txBody>
      </p:sp>
      <p:sp>
        <p:nvSpPr>
          <p:cNvPr id="6511" name="Google Shape;6511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2" name="Google Shape;6512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3" name="Google Shape;6513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14" name="Google Shape;6514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5" name="Google Shape;6515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6" name="Google Shape;6516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7" name="Google Shape;6517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8" name="Google Shape;6518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19" name="Google Shape;6519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0" name="Google Shape;6520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21" name="Google Shape;6521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$9,130</a:t>
            </a:r>
            <a:endParaRPr/>
          </a:p>
        </p:txBody>
      </p:sp>
      <p:sp>
        <p:nvSpPr>
          <p:cNvPr id="6522" name="Google Shape;6522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3" name="Google Shape;6523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$9,037</a:t>
            </a:r>
            <a:endParaRPr/>
          </a:p>
        </p:txBody>
      </p:sp>
      <p:sp>
        <p:nvSpPr>
          <p:cNvPr id="6524" name="Google Shape;6524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</a:t>
            </a:r>
            <a:endParaRPr/>
          </a:p>
        </p:txBody>
      </p:sp>
      <p:sp>
        <p:nvSpPr>
          <p:cNvPr id="6525" name="Google Shape;6525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6" name="Google Shape;6526;p4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7" name="Google Shape;6527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528" name="Google Shape;6528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29" name="Google Shape;6529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0" name="Google Shape;6530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1" name="Google Shape;6531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2" name="Google Shape;6532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3" name="Google Shape;6533;p40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4" name="Google Shape;6534;p40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35" name="Google Shape;6535;p40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$8,221</a:t>
            </a:r>
            <a:endParaRPr/>
          </a:p>
        </p:txBody>
      </p:sp>
      <p:sp>
        <p:nvSpPr>
          <p:cNvPr id="6536" name="Google Shape;6536;p4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37" name="Google Shape;6537;p40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$9,037</a:t>
            </a:r>
            <a:endParaRPr/>
          </a:p>
        </p:txBody>
      </p:sp>
      <p:sp>
        <p:nvSpPr>
          <p:cNvPr id="6538" name="Google Shape;6538;p40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$-816</a:t>
            </a:r>
            <a:endParaRPr/>
          </a:p>
        </p:txBody>
      </p:sp>
      <p:sp>
        <p:nvSpPr>
          <p:cNvPr id="6539" name="Google Shape;6539;p40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40" name="Google Shape;6540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1" name="Google Shape;6541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542" name="Google Shape;6542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543" name="Google Shape;6543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544" name="Google Shape;6544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545" name="Google Shape;6545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546" name="Google Shape;6546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547" name="Google Shape;6547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48" name="Google Shape;6548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9" name="Google Shape;6549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50" name="Google Shape;6550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551" name="Google Shape;6551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52" name="Google Shape;6552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553" name="Google Shape;6553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54" name="Google Shape;6554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6555" name="Google Shape;6555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6" name="Google Shape;6556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57" name="Google Shape;6557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558" name="Google Shape;6558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59" name="Google Shape;6559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560" name="Google Shape;6560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61" name="Google Shape;6561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6562" name="Google Shape;6562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3" name="Google Shape;6563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64" name="Google Shape;6564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65" name="Google Shape;6565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6" name="Google Shape;6566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67" name="Google Shape;6567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68" name="Google Shape;6568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69" name="Google Shape;6569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0" name="Google Shape;6570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71" name="Google Shape;6571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72" name="Google Shape;6572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73" name="Google Shape;6573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74" name="Google Shape;6574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75" name="Google Shape;6575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6576" name="Google Shape;6576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7" name="Google Shape;6577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78" name="Google Shape;6578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79" name="Google Shape;6579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0" name="Google Shape;6580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81" name="Google Shape;6581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2" name="Google Shape;6582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83" name="Google Shape;6583;p40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4" name="Google Shape;6584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585" name="Google Shape;6585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6" name="Google Shape;6586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7" name="Google Shape;6587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8" name="Google Shape;6588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89" name="Google Shape;6589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90" name="Google Shape;6590;p40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1" name="Google Shape;6591;p40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92" name="Google Shape;6592;p40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593" name="Google Shape;6593;p40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94" name="Google Shape;6594;p40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6595" name="Google Shape;6595;p40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96" name="Google Shape;6596;p4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6597" name="Google Shape;6597;p40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8" name="Google Shape;6598;p40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599" name="Google Shape;6599;p40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600" name="Google Shape;6600;p40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601" name="Google Shape;6601;p40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602" name="Google Shape;6602;p40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603" name="Google Shape;6603;p40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604" name="Google Shape;6604;p40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605" name="Google Shape;6605;p40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606" name="Google Shape;6606;p4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607" name="Google Shape;6607;p40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608" name="Google Shape;6608;p40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609" name="Google Shape;6609;p40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610" name="Google Shape;6610;p40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611" name="Google Shape;6611;p40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612" name="Google Shape;6612;p40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613" name="Google Shape;6613;p40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614" name="Google Shape;6614;p40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15" name="Google Shape;6615;p40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616" name="Google Shape;6616;p4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617" name="Google Shape;6617;p40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18" name="Google Shape;6618;p40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619" name="Google Shape;6619;p40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620" name="Google Shape;6620;p40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21" name="Google Shape;6621;p40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622" name="Google Shape;6622;p40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23" name="Google Shape;6623;p40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24" name="Google Shape;6624;p40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625" name="Google Shape;6625;p40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626" name="Google Shape;6626;p4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27" name="Google Shape;6627;p40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6628" name="Google Shape;6628;p40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6629" name="Google Shape;6629;p40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630" name="Google Shape;6630;p40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1" name="Google Shape;6631;p40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2" name="Google Shape;6632;p40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3" name="Google Shape;6633;p40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4" name="Google Shape;6634;p40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5" name="Google Shape;6635;p40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$-909</a:t>
            </a:r>
            <a:endParaRPr/>
          </a:p>
        </p:txBody>
      </p:sp>
      <p:sp>
        <p:nvSpPr>
          <p:cNvPr id="6636" name="Google Shape;6636;p4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</a:t>
            </a:r>
            <a:endParaRPr/>
          </a:p>
        </p:txBody>
      </p:sp>
      <p:sp>
        <p:nvSpPr>
          <p:cNvPr id="6637" name="Google Shape;6637;p40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8" name="Google Shape;6638;p40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6639" name="Google Shape;6639;p40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6640" name="Google Shape;6640;p40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6641" name="Google Shape;6641;p40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2" name="Google Shape;6642;p40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$37K</a:t>
            </a:r>
            <a:endParaRPr/>
          </a:p>
        </p:txBody>
      </p:sp>
      <p:sp>
        <p:nvSpPr>
          <p:cNvPr id="6643" name="Google Shape;6643;p40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6644" name="Google Shape;6644;p40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5" name="Google Shape;6645;p40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646" name="Google Shape;6646;p4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47" name="Google Shape;6647;p40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$8,221 YTD gross written premium</a:t>
            </a:r>
            <a:endParaRPr/>
          </a:p>
        </p:txBody>
      </p:sp>
      <p:sp>
        <p:nvSpPr>
          <p:cNvPr id="6648" name="Google Shape;6648;p40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649" name="Google Shape;6649;p40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$9,037 in renewals - strong retention</a:t>
            </a:r>
            <a:endParaRPr/>
          </a:p>
        </p:txBody>
      </p:sp>
      <p:sp>
        <p:nvSpPr>
          <p:cNvPr id="6650" name="Google Shape;6650;p40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1" name="Google Shape;6651;p40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652" name="Google Shape;6652;p40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53" name="Google Shape;6653;p40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2.0% hit ratio on 49 subs - needs coaching</a:t>
            </a:r>
            <a:endParaRPr/>
          </a:p>
        </p:txBody>
      </p:sp>
      <p:sp>
        <p:nvSpPr>
          <p:cNvPr id="6654" name="Google Shape;6654;p40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655" name="Google Shape;6655;p40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656" name="Google Shape;6656;p4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7" name="Google Shape;6657;p40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658" name="Google Shape;6658;p4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659" name="Google Shape;6659;p40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(49 subs, only 1 binds). Ask: "What are the top 2 reasons your clients go elsewhere?" Use answers to tailor appetite and pricing discussions.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63" name="Shape 6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4" name="Google Shape;6664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5" name="Google Shape;6665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Forward Insurance Group Llc</a:t>
            </a:r>
            <a:endParaRPr/>
          </a:p>
        </p:txBody>
      </p:sp>
      <p:sp>
        <p:nvSpPr>
          <p:cNvPr id="6666" name="Google Shape;6666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New Alexandria</a:t>
            </a:r>
            <a:endParaRPr/>
          </a:p>
        </p:txBody>
      </p:sp>
      <p:sp>
        <p:nvSpPr>
          <p:cNvPr id="6667" name="Google Shape;6667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668" name="Google Shape;6668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69" name="Google Shape;6669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70" name="Google Shape;6670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71" name="Google Shape;6671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72" name="Google Shape;6672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$102,489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673" name="Google Shape;6673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$29,997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674" name="Google Shape;6674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675" name="Google Shape;6675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76" name="Google Shape;6676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77" name="Google Shape;6677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78" name="Google Shape;6678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$68,845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679" name="Google Shape;6679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680" name="Google Shape;6680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1" name="Google Shape;6681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682" name="Google Shape;6682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83" name="Google Shape;6683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684" name="Google Shape;6684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85" name="Google Shape;6685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86" name="Google Shape;6686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87" name="Google Shape;6687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88" name="Google Shape;6688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9" name="Google Shape;6689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90" name="Google Shape;6690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$3,916</a:t>
            </a:r>
            <a:endParaRPr/>
          </a:p>
        </p:txBody>
      </p:sp>
      <p:sp>
        <p:nvSpPr>
          <p:cNvPr id="6691" name="Google Shape;6691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2" name="Google Shape;6692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3" name="Google Shape;6693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$3,916</a:t>
            </a:r>
            <a:endParaRPr/>
          </a:p>
        </p:txBody>
      </p:sp>
      <p:sp>
        <p:nvSpPr>
          <p:cNvPr id="6694" name="Google Shape;6694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5" name="Google Shape;6695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6" name="Google Shape;6696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97" name="Google Shape;6697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8" name="Google Shape;6698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99" name="Google Shape;6699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0" name="Google Shape;6700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1" name="Google Shape;6701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2" name="Google Shape;6702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3" name="Google Shape;6703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04" name="Google Shape;6704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5" name="Google Shape;6705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6" name="Google Shape;6706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7" name="Google Shape;6707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08" name="Google Shape;6708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$-1,094</a:t>
            </a:r>
            <a:endParaRPr/>
          </a:p>
        </p:txBody>
      </p:sp>
      <p:sp>
        <p:nvSpPr>
          <p:cNvPr id="6709" name="Google Shape;6709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0" name="Google Shape;6710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11" name="Google Shape;6711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$2,643</a:t>
            </a:r>
            <a:endParaRPr/>
          </a:p>
        </p:txBody>
      </p:sp>
      <p:sp>
        <p:nvSpPr>
          <p:cNvPr id="6712" name="Google Shape;6712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3" name="Google Shape;6713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4" name="Google Shape;6714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$2,643</a:t>
            </a:r>
            <a:endParaRPr/>
          </a:p>
        </p:txBody>
      </p:sp>
      <p:sp>
        <p:nvSpPr>
          <p:cNvPr id="6715" name="Google Shape;6715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6" name="Google Shape;6716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7" name="Google Shape;6717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18" name="Google Shape;6718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19" name="Google Shape;6719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0" name="Google Shape;6720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1" name="Google Shape;6721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2" name="Google Shape;6722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3" name="Google Shape;6723;p41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4" name="Google Shape;6724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725" name="Google Shape;6725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6" name="Google Shape;6726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7" name="Google Shape;6727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8" name="Google Shape;6728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29" name="Google Shape;6729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0" name="Google Shape;6730;p41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1" name="Google Shape;6731;p41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32" name="Google Shape;6732;p41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</a:t>
            </a:r>
            <a:endParaRPr/>
          </a:p>
        </p:txBody>
      </p:sp>
      <p:sp>
        <p:nvSpPr>
          <p:cNvPr id="6733" name="Google Shape;6733;p41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4" name="Google Shape;6734;p4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35" name="Google Shape;6735;p41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</a:t>
            </a:r>
            <a:endParaRPr/>
          </a:p>
        </p:txBody>
      </p:sp>
      <p:sp>
        <p:nvSpPr>
          <p:cNvPr id="6736" name="Google Shape;6736;p41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$-1,094</a:t>
            </a:r>
            <a:endParaRPr/>
          </a:p>
        </p:txBody>
      </p:sp>
      <p:sp>
        <p:nvSpPr>
          <p:cNvPr id="6737" name="Google Shape;6737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8" name="Google Shape;6738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739" name="Google Shape;6739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40" name="Google Shape;6740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741" name="Google Shape;6741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742" name="Google Shape;6742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743" name="Google Shape;6743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44" name="Google Shape;6744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45" name="Google Shape;6745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46" name="Google Shape;6746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747" name="Google Shape;6747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48" name="Google Shape;6748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49" name="Google Shape;6749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50" name="Google Shape;6750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1" name="Google Shape;6751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52" name="Google Shape;6752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3" name="Google Shape;6753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754" name="Google Shape;6754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55" name="Google Shape;6755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56" name="Google Shape;6756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57" name="Google Shape;6757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58" name="Google Shape;6758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59" name="Google Shape;6759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0" name="Google Shape;6760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761" name="Google Shape;6761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762" name="Google Shape;6762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63" name="Google Shape;6763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64" name="Google Shape;6764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65" name="Google Shape;6765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66" name="Google Shape;6766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7" name="Google Shape;6767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68" name="Google Shape;6768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769" name="Google Shape;6769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70" name="Google Shape;6770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71" name="Google Shape;6771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72" name="Google Shape;6772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6773" name="Google Shape;6773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4" name="Google Shape;6774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75" name="Google Shape;6775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76" name="Google Shape;6776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77" name="Google Shape;6777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78" name="Google Shape;6778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79" name="Google Shape;6779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80" name="Google Shape;6780;p41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1" name="Google Shape;6781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782" name="Google Shape;6782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3" name="Google Shape;6783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4" name="Google Shape;6784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5" name="Google Shape;6785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86" name="Google Shape;6786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87" name="Google Shape;6787;p41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8" name="Google Shape;6788;p41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89" name="Google Shape;6789;p41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790" name="Google Shape;6790;p41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91" name="Google Shape;6791;p41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792" name="Google Shape;6792;p41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93" name="Google Shape;6793;p41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6794" name="Google Shape;6794;p4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5" name="Google Shape;6795;p41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796" name="Google Shape;6796;p41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797" name="Google Shape;6797;p41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798" name="Google Shape;6798;p41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799" name="Google Shape;6799;p41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800" name="Google Shape;6800;p41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801" name="Google Shape;6801;p41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802" name="Google Shape;6802;p41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803" name="Google Shape;6803;p41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804" name="Google Shape;6804;p4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805" name="Google Shape;6805;p41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806" name="Google Shape;6806;p41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807" name="Google Shape;6807;p41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6808" name="Google Shape;6808;p41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6809" name="Google Shape;6809;p41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6810" name="Google Shape;6810;p41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6811" name="Google Shape;6811;p41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12" name="Google Shape;6812;p41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13" name="Google Shape;6813;p41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814" name="Google Shape;6814;p4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15" name="Google Shape;6815;p41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816" name="Google Shape;6816;p41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17" name="Google Shape;6817;p41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818" name="Google Shape;6818;p41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19" name="Google Shape;6819;p41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820" name="Google Shape;6820;p41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821" name="Google Shape;6821;p41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822" name="Google Shape;6822;p41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823" name="Google Shape;6823;p41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24" name="Google Shape;6824;p4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6825" name="Google Shape;6825;p41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826" name="Google Shape;6826;p41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827" name="Google Shape;6827;p41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8" name="Google Shape;6828;p41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829" name="Google Shape;6829;p41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0" name="Google Shape;6830;p41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1" name="Google Shape;6831;p41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6832" name="Google Shape;6832;p41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3" name="Google Shape;6833;p41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4" name="Google Shape;6834;p4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835" name="Google Shape;6835;p41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6" name="Google Shape;6836;p41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7" name="Google Shape;6837;p41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6838" name="Google Shape;6838;p41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9" name="Google Shape;6839;p41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6840" name="Google Shape;6840;p41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6841" name="Google Shape;6841;p41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2" name="Google Shape;6842;p41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843" name="Google Shape;6843;p41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844" name="Google Shape;6844;p4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$6,559 YTD gross written premium</a:t>
            </a:r>
            <a:endParaRPr/>
          </a:p>
        </p:txBody>
      </p:sp>
      <p:sp>
        <p:nvSpPr>
          <p:cNvPr id="6845" name="Google Shape;6845;p41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846" name="Google Shape;6846;p41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 hit ratio - above average conversion</a:t>
            </a:r>
            <a:endParaRPr/>
          </a:p>
        </p:txBody>
      </p:sp>
      <p:sp>
        <p:nvSpPr>
          <p:cNvPr id="6847" name="Google Shape;6847;p41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8" name="Google Shape;6848;p41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849" name="Google Shape;6849;p41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850" name="Google Shape;6850;p41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851" name="Google Shape;6851;p41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2" name="Google Shape;6852;p4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853" name="Google Shape;6853;p41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854" name="Google Shape;6854;p4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855" name="Google Shape;6855;p41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856" name="Google Shape;6856;p4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860" name="Shape 6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" name="Google Shape;6861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2" name="Google Shape;6862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Integrated Insurance Solutions Inc</a:t>
            </a:r>
            <a:endParaRPr/>
          </a:p>
        </p:txBody>
      </p:sp>
      <p:sp>
        <p:nvSpPr>
          <p:cNvPr id="6863" name="Google Shape;6863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VA  |  City: Ashburn</a:t>
            </a:r>
            <a:endParaRPr/>
          </a:p>
        </p:txBody>
      </p:sp>
      <p:sp>
        <p:nvSpPr>
          <p:cNvPr id="6864" name="Google Shape;6864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865" name="Google Shape;6865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66" name="Google Shape;6866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67" name="Google Shape;6867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68" name="Google Shape;6868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69" name="Google Shape;6869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$132,485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870" name="Google Shape;6870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$5,568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871" name="Google Shape;6871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872" name="Google Shape;6872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873" name="Google Shape;6873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74" name="Google Shape;6874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75" name="Google Shape;6875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876" name="Google Shape;6876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77" name="Google Shape;6877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8" name="Google Shape;6878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79" name="Google Shape;6879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80" name="Google Shape;6880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81" name="Google Shape;6881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82" name="Google Shape;6882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83" name="Google Shape;6883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84" name="Google Shape;6884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85" name="Google Shape;6885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6" name="Google Shape;6886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87" name="Google Shape;6887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$6,162</a:t>
            </a:r>
            <a:endParaRPr/>
          </a:p>
        </p:txBody>
      </p:sp>
      <p:sp>
        <p:nvSpPr>
          <p:cNvPr id="6888" name="Google Shape;6888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$6,166</a:t>
            </a:r>
            <a:endParaRPr/>
          </a:p>
        </p:txBody>
      </p:sp>
      <p:sp>
        <p:nvSpPr>
          <p:cNvPr id="6889" name="Google Shape;6889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0" name="Google Shape;6890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</a:t>
            </a:r>
            <a:endParaRPr/>
          </a:p>
        </p:txBody>
      </p:sp>
      <p:sp>
        <p:nvSpPr>
          <p:cNvPr id="6891" name="Google Shape;6891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2" name="Google Shape;6892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3" name="Google Shape;6893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94" name="Google Shape;6894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5" name="Google Shape;6895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6" name="Google Shape;6896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7" name="Google Shape;6897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8" name="Google Shape;6898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99" name="Google Shape;6899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0" name="Google Shape;6900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01" name="Google Shape;6901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2" name="Google Shape;6902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3" name="Google Shape;6903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4" name="Google Shape;6904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5" name="Google Shape;6905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6" name="Google Shape;6906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7" name="Google Shape;6907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08" name="Google Shape;6908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09" name="Google Shape;6909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0" name="Google Shape;6910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1" name="Google Shape;6911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2" name="Google Shape;6912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3" name="Google Shape;6913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4" name="Google Shape;6914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15" name="Google Shape;6915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6" name="Google Shape;6916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7" name="Google Shape;6917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8" name="Google Shape;6918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19" name="Google Shape;6919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0" name="Google Shape;6920;p42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1" name="Google Shape;6921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922" name="Google Shape;6922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3" name="Google Shape;6923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4" name="Google Shape;6924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5" name="Google Shape;6925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6" name="Google Shape;6926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27" name="Google Shape;6927;p42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8" name="Google Shape;6928;p42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29" name="Google Shape;6929;p42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$6,162</a:t>
            </a:r>
            <a:endParaRPr/>
          </a:p>
        </p:txBody>
      </p:sp>
      <p:sp>
        <p:nvSpPr>
          <p:cNvPr id="6930" name="Google Shape;6930;p42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$6,166</a:t>
            </a:r>
            <a:endParaRPr/>
          </a:p>
        </p:txBody>
      </p:sp>
      <p:sp>
        <p:nvSpPr>
          <p:cNvPr id="6931" name="Google Shape;6931;p42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32" name="Google Shape;6932;p4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</a:t>
            </a:r>
            <a:endParaRPr/>
          </a:p>
        </p:txBody>
      </p:sp>
      <p:sp>
        <p:nvSpPr>
          <p:cNvPr id="6933" name="Google Shape;6933;p42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34" name="Google Shape;6934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5" name="Google Shape;6935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936" name="Google Shape;6936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937" name="Google Shape;6937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938" name="Google Shape;6938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939" name="Google Shape;6939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940" name="Google Shape;6940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941" name="Google Shape;6941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942" name="Google Shape;6942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3" name="Google Shape;6943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944" name="Google Shape;6944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45" name="Google Shape;6945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46" name="Google Shape;6946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47" name="Google Shape;6947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48" name="Google Shape;6948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6949" name="Google Shape;6949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0" name="Google Shape;6950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51" name="Google Shape;6951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52" name="Google Shape;6952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3" name="Google Shape;6953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54" name="Google Shape;6954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55" name="Google Shape;6955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56" name="Google Shape;6956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7" name="Google Shape;6957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958" name="Google Shape;6958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59" name="Google Shape;6959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0" name="Google Shape;6960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61" name="Google Shape;6961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2" name="Google Shape;6962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63" name="Google Shape;6963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4" name="Google Shape;6964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965" name="Google Shape;6965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66" name="Google Shape;6966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67" name="Google Shape;6967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968" name="Google Shape;6968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69" name="Google Shape;6969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70" name="Google Shape;6970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1" name="Google Shape;6971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972" name="Google Shape;6972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73" name="Google Shape;6973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4" name="Google Shape;6974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75" name="Google Shape;6975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76" name="Google Shape;6976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77" name="Google Shape;6977;p42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8" name="Google Shape;6978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6979" name="Google Shape;6979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80" name="Google Shape;6980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81" name="Google Shape;6981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82" name="Google Shape;6982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983" name="Google Shape;6983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984" name="Google Shape;6984;p42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5" name="Google Shape;6985;p42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986" name="Google Shape;6986;p42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987" name="Google Shape;6987;p42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88" name="Google Shape;6988;p42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989" name="Google Shape;6989;p42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990" name="Google Shape;6990;p42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6991" name="Google Shape;6991;p42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2" name="Google Shape;6992;p4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6993" name="Google Shape;6993;p42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94" name="Google Shape;6994;p42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95" name="Google Shape;6995;p42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96" name="Google Shape;6996;p42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997" name="Google Shape;6997;p42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998" name="Google Shape;6998;p42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999" name="Google Shape;6999;p42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000" name="Google Shape;7000;p42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001" name="Google Shape;7001;p42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002" name="Google Shape;7002;p4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003" name="Google Shape;7003;p42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004" name="Google Shape;7004;p42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7005" name="Google Shape;7005;p42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7006" name="Google Shape;7006;p42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7007" name="Google Shape;7007;p42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7008" name="Google Shape;7008;p42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09" name="Google Shape;7009;p42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010" name="Google Shape;7010;p42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11" name="Google Shape;7011;p42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012" name="Google Shape;7012;p4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13" name="Google Shape;7013;p42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014" name="Google Shape;7014;p42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15" name="Google Shape;7015;p42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16" name="Google Shape;7016;p42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17" name="Google Shape;7017;p42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018" name="Google Shape;7018;p42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19" name="Google Shape;7019;p42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020" name="Google Shape;7020;p42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21" name="Google Shape;7021;p42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022" name="Google Shape;7022;p4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023" name="Google Shape;7023;p42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024" name="Google Shape;7024;p42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$602</a:t>
            </a:r>
            <a:endParaRPr/>
          </a:p>
        </p:txBody>
      </p:sp>
      <p:sp>
        <p:nvSpPr>
          <p:cNvPr id="7025" name="Google Shape;7025;p42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7026" name="Google Shape;7026;p42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7027" name="Google Shape;7027;p42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8" name="Google Shape;7028;p42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$-3,408</a:t>
            </a:r>
            <a:endParaRPr/>
          </a:p>
        </p:txBody>
      </p:sp>
      <p:sp>
        <p:nvSpPr>
          <p:cNvPr id="7029" name="Google Shape;7029;p42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0" name="Google Shape;7030;p42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7031" name="Google Shape;7031;p42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2" name="Google Shape;7032;p4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7033" name="Google Shape;7033;p42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4" name="Google Shape;7034;p42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7035" name="Google Shape;7035;p42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36" name="Google Shape;7036;p42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$133K</a:t>
            </a:r>
            <a:endParaRPr/>
          </a:p>
        </p:txBody>
      </p:sp>
      <p:sp>
        <p:nvSpPr>
          <p:cNvPr id="7037" name="Google Shape;7037;p42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7038" name="Google Shape;7038;p42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9" name="Google Shape;7039;p42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040" name="Google Shape;7040;p42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041" name="Google Shape;7041;p42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$6,162 YTD gross written premium</a:t>
            </a:r>
            <a:endParaRPr/>
          </a:p>
        </p:txBody>
      </p:sp>
      <p:sp>
        <p:nvSpPr>
          <p:cNvPr id="7042" name="Google Shape;7042;p42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043" name="Google Shape;7043;p42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$6,166 in new business production</a:t>
            </a:r>
            <a:endParaRPr/>
          </a:p>
        </p:txBody>
      </p:sp>
      <p:sp>
        <p:nvSpPr>
          <p:cNvPr id="7044" name="Google Shape;7044;p4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5" name="Google Shape;7045;p42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046" name="Google Shape;7046;p42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047" name="Google Shape;7047;p42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7048" name="Google Shape;7048;p42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049" name="Google Shape;7049;p42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7050" name="Google Shape;7050;p42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1" name="Google Shape;7051;p42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052" name="Google Shape;7052;p4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053" name="Google Shape;7053;p42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$6,166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057" name="Shape 70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58" name="Google Shape;7058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9" name="Google Shape;7059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Ccs Insurance, Llc</a:t>
            </a:r>
            <a:endParaRPr/>
          </a:p>
        </p:txBody>
      </p:sp>
      <p:sp>
        <p:nvSpPr>
          <p:cNvPr id="7060" name="Google Shape;7060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CT  |  City: Hebron</a:t>
            </a:r>
            <a:endParaRPr/>
          </a:p>
        </p:txBody>
      </p:sp>
      <p:sp>
        <p:nvSpPr>
          <p:cNvPr id="7061" name="Google Shape;7061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062" name="Google Shape;7062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63" name="Google Shape;7063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64" name="Google Shape;7064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65" name="Google Shape;7065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66" name="Google Shape;7066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$32,382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067" name="Google Shape;7067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$17,768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068" name="Google Shape;7068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069" name="Google Shape;7069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70" name="Google Shape;7070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71" name="Google Shape;7071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72" name="Google Shape;7072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073" name="Google Shape;7073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$14,137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074" name="Google Shape;7074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5" name="Google Shape;7075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076" name="Google Shape;7076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77" name="Google Shape;7077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078" name="Google Shape;7078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079" name="Google Shape;7079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080" name="Google Shape;7080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081" name="Google Shape;7081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082" name="Google Shape;7082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83" name="Google Shape;7083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84" name="Google Shape;7084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$-996</a:t>
            </a:r>
            <a:endParaRPr/>
          </a:p>
        </p:txBody>
      </p:sp>
      <p:sp>
        <p:nvSpPr>
          <p:cNvPr id="7085" name="Google Shape;7085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6" name="Google Shape;7086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7" name="Google Shape;7087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$-996</a:t>
            </a:r>
            <a:endParaRPr/>
          </a:p>
        </p:txBody>
      </p:sp>
      <p:sp>
        <p:nvSpPr>
          <p:cNvPr id="7088" name="Google Shape;7088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89" name="Google Shape;7089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0" name="Google Shape;7090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91" name="Google Shape;7091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2" name="Google Shape;7092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3" name="Google Shape;7093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4" name="Google Shape;7094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5" name="Google Shape;7095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96" name="Google Shape;7096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7" name="Google Shape;7097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98" name="Google Shape;7098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$2,882</a:t>
            </a:r>
            <a:endParaRPr/>
          </a:p>
        </p:txBody>
      </p:sp>
      <p:sp>
        <p:nvSpPr>
          <p:cNvPr id="7099" name="Google Shape;7099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0" name="Google Shape;7100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101" name="Google Shape;7101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$2,332</a:t>
            </a:r>
            <a:endParaRPr/>
          </a:p>
        </p:txBody>
      </p:sp>
      <p:sp>
        <p:nvSpPr>
          <p:cNvPr id="7102" name="Google Shape;7102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3" name="Google Shape;7103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04" name="Google Shape;7104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05" name="Google Shape;7105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$2,061</a:t>
            </a:r>
            <a:endParaRPr/>
          </a:p>
        </p:txBody>
      </p:sp>
      <p:sp>
        <p:nvSpPr>
          <p:cNvPr id="7106" name="Google Shape;7106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7" name="Google Shape;7107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$2,061</a:t>
            </a:r>
            <a:endParaRPr/>
          </a:p>
        </p:txBody>
      </p:sp>
      <p:sp>
        <p:nvSpPr>
          <p:cNvPr id="7108" name="Google Shape;7108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9" name="Google Shape;7109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0" name="Google Shape;7110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1" name="Google Shape;7111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12" name="Google Shape;7112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3" name="Google Shape;7113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4" name="Google Shape;7114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5" name="Google Shape;7115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6" name="Google Shape;7116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7" name="Google Shape;7117;p43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8" name="Google Shape;7118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119" name="Google Shape;7119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20" name="Google Shape;7120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21" name="Google Shape;7121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22" name="Google Shape;7122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23" name="Google Shape;7123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24" name="Google Shape;7124;p43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5" name="Google Shape;7125;p43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26" name="Google Shape;7126;p43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$3,947</a:t>
            </a:r>
            <a:endParaRPr/>
          </a:p>
        </p:txBody>
      </p:sp>
      <p:sp>
        <p:nvSpPr>
          <p:cNvPr id="7127" name="Google Shape;7127;p43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28" name="Google Shape;7128;p43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$2,611</a:t>
            </a:r>
            <a:endParaRPr/>
          </a:p>
        </p:txBody>
      </p:sp>
      <p:sp>
        <p:nvSpPr>
          <p:cNvPr id="7129" name="Google Shape;7129;p43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$1,336</a:t>
            </a:r>
            <a:endParaRPr/>
          </a:p>
        </p:txBody>
      </p:sp>
      <p:sp>
        <p:nvSpPr>
          <p:cNvPr id="7130" name="Google Shape;7130;p4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31" name="Google Shape;7131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2" name="Google Shape;7132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133" name="Google Shape;7133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134" name="Google Shape;7134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135" name="Google Shape;7135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136" name="Google Shape;7136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137" name="Google Shape;7137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38" name="Google Shape;7138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39" name="Google Shape;7139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0" name="Google Shape;7140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41" name="Google Shape;7141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142" name="Google Shape;7142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43" name="Google Shape;7143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144" name="Google Shape;7144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45" name="Google Shape;7145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7146" name="Google Shape;7146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7" name="Google Shape;7147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148" name="Google Shape;7148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149" name="Google Shape;7149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50" name="Google Shape;7150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151" name="Google Shape;7151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52" name="Google Shape;7152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7153" name="Google Shape;7153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4" name="Google Shape;7154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155" name="Google Shape;7155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156" name="Google Shape;7156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57" name="Google Shape;7157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158" name="Google Shape;7158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59" name="Google Shape;7159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7160" name="Google Shape;7160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1" name="Google Shape;7161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62" name="Google Shape;7162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163" name="Google Shape;7163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64" name="Google Shape;7164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165" name="Google Shape;7165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66" name="Google Shape;7166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67" name="Google Shape;7167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8" name="Google Shape;7168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69" name="Google Shape;7169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170" name="Google Shape;7170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71" name="Google Shape;7171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172" name="Google Shape;7172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173" name="Google Shape;7173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7174" name="Google Shape;7174;p43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5" name="Google Shape;7175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176" name="Google Shape;7176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77" name="Google Shape;7177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78" name="Google Shape;7178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79" name="Google Shape;7179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80" name="Google Shape;7180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181" name="Google Shape;7181;p43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2" name="Google Shape;7182;p43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183" name="Google Shape;7183;p43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184" name="Google Shape;7184;p43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185" name="Google Shape;7185;p43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186" name="Google Shape;7186;p43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187" name="Google Shape;7187;p43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7188" name="Google Shape;7188;p43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9" name="Google Shape;7189;p43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7190" name="Google Shape;7190;p4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191" name="Google Shape;7191;p43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192" name="Google Shape;7192;p43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193" name="Google Shape;7193;p43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194" name="Google Shape;7194;p43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195" name="Google Shape;7195;p43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196" name="Google Shape;7196;p43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197" name="Google Shape;7197;p43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198" name="Google Shape;7198;p43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199" name="Google Shape;7199;p43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200" name="Google Shape;7200;p4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201" name="Google Shape;7201;p43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7202" name="Google Shape;7202;p43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7203" name="Google Shape;7203;p43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7204" name="Google Shape;7204;p43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7205" name="Google Shape;7205;p43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206" name="Google Shape;7206;p43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207" name="Google Shape;7207;p43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208" name="Google Shape;7208;p43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209" name="Google Shape;7209;p43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210" name="Google Shape;7210;p4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211" name="Google Shape;7211;p43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212" name="Google Shape;7212;p43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213" name="Google Shape;7213;p43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214" name="Google Shape;7214;p43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215" name="Google Shape;7215;p43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216" name="Google Shape;7216;p43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217" name="Google Shape;7217;p43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18" name="Google Shape;7218;p43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219" name="Google Shape;7219;p43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220" name="Google Shape;7220;p4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221" name="Google Shape;7221;p43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2" name="Google Shape;7222;p43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$-996</a:t>
            </a:r>
            <a:endParaRPr/>
          </a:p>
        </p:txBody>
      </p:sp>
      <p:sp>
        <p:nvSpPr>
          <p:cNvPr id="7223" name="Google Shape;7223;p43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</a:t>
            </a:r>
            <a:endParaRPr/>
          </a:p>
        </p:txBody>
      </p:sp>
      <p:sp>
        <p:nvSpPr>
          <p:cNvPr id="7224" name="Google Shape;7224;p43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25" name="Google Shape;7225;p43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$650</a:t>
            </a:r>
            <a:endParaRPr/>
          </a:p>
        </p:txBody>
      </p:sp>
      <p:sp>
        <p:nvSpPr>
          <p:cNvPr id="7226" name="Google Shape;7226;p43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7227" name="Google Shape;7227;p43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7228" name="Google Shape;7228;p43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7229" name="Google Shape;7229;p43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0" name="Google Shape;7230;p4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1" name="Google Shape;7231;p43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$570</a:t>
            </a:r>
            <a:endParaRPr/>
          </a:p>
        </p:txBody>
      </p:sp>
      <p:sp>
        <p:nvSpPr>
          <p:cNvPr id="7232" name="Google Shape;7232;p43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33" name="Google Shape;7233;p43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7234" name="Google Shape;7234;p43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7235" name="Google Shape;7235;p43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6" name="Google Shape;7236;p43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237" name="Google Shape;7237;p43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238" name="Google Shape;7238;p43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$3,947 YTD gross written premium</a:t>
            </a:r>
            <a:endParaRPr/>
          </a:p>
        </p:txBody>
      </p:sp>
      <p:sp>
        <p:nvSpPr>
          <p:cNvPr id="7239" name="Google Shape;7239;p43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240" name="Google Shape;7240;p4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$2,611 in renewals - strong retention</a:t>
            </a:r>
            <a:endParaRPr/>
          </a:p>
        </p:txBody>
      </p:sp>
      <p:sp>
        <p:nvSpPr>
          <p:cNvPr id="7241" name="Google Shape;7241;p43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2" name="Google Shape;7242;p4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243" name="Google Shape;7243;p43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244" name="Google Shape;7244;p43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7245" name="Google Shape;7245;p43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246" name="Google Shape;7246;p43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7247" name="Google Shape;7247;p43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8" name="Google Shape;7248;p43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249" name="Google Shape;7249;p43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250" name="Google Shape;7250;p4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254" name="Shape 7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55" name="Google Shape;7255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6" name="Google Shape;7256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 G I Brokerage Inc</a:t>
            </a:r>
            <a:endParaRPr/>
          </a:p>
        </p:txBody>
      </p:sp>
      <p:sp>
        <p:nvSpPr>
          <p:cNvPr id="7257" name="Google Shape;7257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Brooklyn</a:t>
            </a:r>
            <a:endParaRPr/>
          </a:p>
        </p:txBody>
      </p:sp>
      <p:sp>
        <p:nvSpPr>
          <p:cNvPr id="7258" name="Google Shape;7258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259" name="Google Shape;7259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60" name="Google Shape;7260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61" name="Google Shape;7261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62" name="Google Shape;7262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63" name="Google Shape;7263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$39,829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264" name="Google Shape;7264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$40,730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265" name="Google Shape;7265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266" name="Google Shape;7266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267" name="Google Shape;7267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68" name="Google Shape;7268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69" name="Google Shape;7269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270" name="Google Shape;7270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$27,802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271" name="Google Shape;7271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2" name="Google Shape;7272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273" name="Google Shape;7273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74" name="Google Shape;7274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275" name="Google Shape;7275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276" name="Google Shape;7276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277" name="Google Shape;7277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278" name="Google Shape;7278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279" name="Google Shape;7279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0" name="Google Shape;7280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81" name="Google Shape;7281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2" name="Google Shape;7282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3" name="Google Shape;7283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4" name="Google Shape;7284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5" name="Google Shape;7285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6" name="Google Shape;7286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7" name="Google Shape;7287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88" name="Google Shape;7288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9" name="Google Shape;7289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0" name="Google Shape;7290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1" name="Google Shape;7291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2" name="Google Shape;7292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3" name="Google Shape;7293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4" name="Google Shape;7294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95" name="Google Shape;7295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</p:txBody>
      </p:sp>
      <p:sp>
        <p:nvSpPr>
          <p:cNvPr id="7296" name="Google Shape;7296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7" name="Google Shape;7297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8" name="Google Shape;7298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</p:txBody>
      </p:sp>
      <p:sp>
        <p:nvSpPr>
          <p:cNvPr id="7299" name="Google Shape;7299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00" name="Google Shape;7300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1" name="Google Shape;7301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02" name="Google Shape;7302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03" name="Google Shape;7303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04" name="Google Shape;7304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05" name="Google Shape;7305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06" name="Google Shape;7306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07" name="Google Shape;7307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8" name="Google Shape;7308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09" name="Google Shape;7309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310" name="Google Shape;7310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1" name="Google Shape;7311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312" name="Google Shape;7312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3" name="Google Shape;7313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4" name="Google Shape;7314;p44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5" name="Google Shape;7315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316" name="Google Shape;7316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7" name="Google Shape;7317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8" name="Google Shape;7318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19" name="Google Shape;7319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0" name="Google Shape;7320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1" name="Google Shape;7321;p44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2" name="Google Shape;7322;p44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323" name="Google Shape;7323;p44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</a:t>
            </a:r>
            <a:endParaRPr/>
          </a:p>
        </p:txBody>
      </p:sp>
      <p:sp>
        <p:nvSpPr>
          <p:cNvPr id="7324" name="Google Shape;7324;p44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5" name="Google Shape;7325;p44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326" name="Google Shape;7326;p44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</p:txBody>
      </p:sp>
      <p:sp>
        <p:nvSpPr>
          <p:cNvPr id="7327" name="Google Shape;7327;p44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28" name="Google Shape;7328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9" name="Google Shape;7329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330" name="Google Shape;7330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331" name="Google Shape;7331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332" name="Google Shape;7332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333" name="Google Shape;7333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334" name="Google Shape;7334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35" name="Google Shape;7335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36" name="Google Shape;7336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7" name="Google Shape;7337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38" name="Google Shape;7338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39" name="Google Shape;7339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40" name="Google Shape;7340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41" name="Google Shape;7341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42" name="Google Shape;7342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43" name="Google Shape;7343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4" name="Google Shape;7344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345" name="Google Shape;7345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46" name="Google Shape;7346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47" name="Google Shape;7347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48" name="Google Shape;7348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49" name="Google Shape;7349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7350" name="Google Shape;7350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1" name="Google Shape;7351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352" name="Google Shape;7352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53" name="Google Shape;7353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54" name="Google Shape;7354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55" name="Google Shape;7355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56" name="Google Shape;7356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7357" name="Google Shape;7357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8" name="Google Shape;7358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59" name="Google Shape;7359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60" name="Google Shape;7360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61" name="Google Shape;7361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62" name="Google Shape;7362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63" name="Google Shape;7363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64" name="Google Shape;7364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5" name="Google Shape;7365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66" name="Google Shape;7366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67" name="Google Shape;7367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68" name="Google Shape;7368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69" name="Google Shape;7369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70" name="Google Shape;7370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71" name="Google Shape;7371;p44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2" name="Google Shape;7372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373" name="Google Shape;7373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74" name="Google Shape;7374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75" name="Google Shape;7375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76" name="Google Shape;7376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77" name="Google Shape;7377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378" name="Google Shape;7378;p4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9" name="Google Shape;7379;p44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380" name="Google Shape;7380;p44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381" name="Google Shape;7381;p44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82" name="Google Shape;7382;p44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383" name="Google Shape;7383;p44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384" name="Google Shape;7384;p44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7385" name="Google Shape;7385;p44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6" name="Google Shape;7386;p44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7387" name="Google Shape;7387;p44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388" name="Google Shape;7388;p4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389" name="Google Shape;7389;p44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390" name="Google Shape;7390;p44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391" name="Google Shape;7391;p44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392" name="Google Shape;7392;p44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393" name="Google Shape;7393;p44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394" name="Google Shape;7394;p44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395" name="Google Shape;7395;p44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396" name="Google Shape;7396;p44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397" name="Google Shape;7397;p44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398" name="Google Shape;7398;p4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7399" name="Google Shape;7399;p44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7400" name="Google Shape;7400;p44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7401" name="Google Shape;7401;p44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7402" name="Google Shape;7402;p44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03" name="Google Shape;7403;p44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04" name="Google Shape;7404;p44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05" name="Google Shape;7405;p44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06" name="Google Shape;7406;p44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07" name="Google Shape;7407;p44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08" name="Google Shape;7408;p4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09" name="Google Shape;7409;p44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10" name="Google Shape;7410;p44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11" name="Google Shape;7411;p44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12" name="Google Shape;7412;p44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13" name="Google Shape;7413;p44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14" name="Google Shape;7414;p44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15" name="Google Shape;7415;p44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416" name="Google Shape;7416;p44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417" name="Google Shape;7417;p44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418" name="Google Shape;7418;p4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19" name="Google Shape;7419;p44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0" name="Google Shape;7420;p44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1" name="Google Shape;7421;p44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2" name="Google Shape;7422;p44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3" name="Google Shape;7423;p44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$352</a:t>
            </a:r>
            <a:endParaRPr/>
          </a:p>
        </p:txBody>
      </p:sp>
      <p:sp>
        <p:nvSpPr>
          <p:cNvPr id="7424" name="Google Shape;7424;p44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5" name="Google Shape;7425;p44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6" name="Google Shape;7426;p44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7" name="Google Shape;7427;p44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7428" name="Google Shape;7428;p4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29" name="Google Shape;7429;p44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0" name="Google Shape;7430;p44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31" name="Google Shape;7431;p44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</a:t>
            </a:r>
            <a:endParaRPr/>
          </a:p>
        </p:txBody>
      </p:sp>
      <p:sp>
        <p:nvSpPr>
          <p:cNvPr id="7432" name="Google Shape;7432;p44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3" name="Google Shape;7433;p44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434" name="Google Shape;7434;p44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435" name="Google Shape;7435;p44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$902 YTD gross written premium</a:t>
            </a:r>
            <a:endParaRPr/>
          </a:p>
        </p:txBody>
      </p:sp>
      <p:sp>
        <p:nvSpPr>
          <p:cNvPr id="7436" name="Google Shape;7436;p44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437" name="Google Shape;7437;p44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 in renewals - strong retention</a:t>
            </a:r>
            <a:endParaRPr/>
          </a:p>
        </p:txBody>
      </p:sp>
      <p:sp>
        <p:nvSpPr>
          <p:cNvPr id="7438" name="Google Shape;7438;p4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9" name="Google Shape;7439;p44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440" name="Google Shape;7440;p4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441" name="Google Shape;7441;p44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7442" name="Google Shape;7442;p44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3" name="Google Shape;7443;p44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444" name="Google Shape;7444;p44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445" name="Google Shape;7445;p44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49" name="Shape 7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0" name="Google Shape;7450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1" name="Google Shape;7451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Crotty Insurance Agency, Inc.</a:t>
            </a:r>
            <a:endParaRPr/>
          </a:p>
        </p:txBody>
      </p:sp>
      <p:sp>
        <p:nvSpPr>
          <p:cNvPr id="7452" name="Google Shape;7452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N/A  |  City: N/A</a:t>
            </a:r>
            <a:endParaRPr/>
          </a:p>
        </p:txBody>
      </p:sp>
      <p:sp>
        <p:nvSpPr>
          <p:cNvPr id="7453" name="Google Shape;7453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454" name="Google Shape;7454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455" name="Google Shape;7455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456" name="Google Shape;7456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457" name="Google Shape;7457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458" name="Google Shape;7458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459" name="Google Shape;7459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460" name="Google Shape;7460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461" name="Google Shape;7461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62" name="Google Shape;7462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463" name="Google Shape;7463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464" name="Google Shape;7464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465" name="Google Shape;7465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466" name="Google Shape;7466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7" name="Google Shape;7467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468" name="Google Shape;7468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469" name="Google Shape;7469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470" name="Google Shape;7470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471" name="Google Shape;7471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472" name="Google Shape;7472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473" name="Google Shape;7473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474" name="Google Shape;7474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5" name="Google Shape;7475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476" name="Google Shape;7476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77" name="Google Shape;7477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78" name="Google Shape;7478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79" name="Google Shape;7479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0" name="Google Shape;7480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1" name="Google Shape;7481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2" name="Google Shape;7482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83" name="Google Shape;7483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4" name="Google Shape;7484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5" name="Google Shape;7485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6" name="Google Shape;7486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7" name="Google Shape;7487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88" name="Google Shape;7488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9" name="Google Shape;7489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90" name="Google Shape;7490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1" name="Google Shape;7491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2" name="Google Shape;7492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3" name="Google Shape;7493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4" name="Google Shape;7494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5" name="Google Shape;7495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6" name="Google Shape;7496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97" name="Google Shape;7497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8" name="Google Shape;7498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99" name="Google Shape;7499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0" name="Google Shape;7500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1" name="Google Shape;7501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2" name="Google Shape;7502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3" name="Google Shape;7503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04" name="Google Shape;7504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5" name="Google Shape;7505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6" name="Google Shape;7506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7" name="Google Shape;7507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8" name="Google Shape;7508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09" name="Google Shape;7509;p45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0" name="Google Shape;7510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511" name="Google Shape;7511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2" name="Google Shape;7512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3" name="Google Shape;7513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4" name="Google Shape;7514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5" name="Google Shape;7515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6" name="Google Shape;7516;p45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7" name="Google Shape;7517;p45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518" name="Google Shape;7518;p45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19" name="Google Shape;7519;p45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0" name="Google Shape;7520;p45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1" name="Google Shape;7521;p45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2" name="Google Shape;7522;p45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3" name="Google Shape;7523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4" name="Google Shape;7524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525" name="Google Shape;7525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26" name="Google Shape;7526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27" name="Google Shape;7527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528" name="Google Shape;7528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529" name="Google Shape;7529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30" name="Google Shape;7530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31" name="Google Shape;7531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2" name="Google Shape;7532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33" name="Google Shape;7533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34" name="Google Shape;7534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35" name="Google Shape;7535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36" name="Google Shape;7536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37" name="Google Shape;7537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38" name="Google Shape;7538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9" name="Google Shape;7539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40" name="Google Shape;7540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41" name="Google Shape;7541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42" name="Google Shape;7542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43" name="Google Shape;7543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44" name="Google Shape;7544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45" name="Google Shape;7545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6" name="Google Shape;7546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547" name="Google Shape;7547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48" name="Google Shape;7548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49" name="Google Shape;7549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50" name="Google Shape;7550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51" name="Google Shape;7551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52" name="Google Shape;7552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3" name="Google Shape;7553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54" name="Google Shape;7554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55" name="Google Shape;7555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56" name="Google Shape;7556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57" name="Google Shape;7557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58" name="Google Shape;7558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59" name="Google Shape;7559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0" name="Google Shape;7560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61" name="Google Shape;7561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62" name="Google Shape;7562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63" name="Google Shape;7563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64" name="Google Shape;7564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65" name="Google Shape;7565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66" name="Google Shape;7566;p45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7" name="Google Shape;7567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568" name="Google Shape;7568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69" name="Google Shape;7569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70" name="Google Shape;7570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71" name="Google Shape;7571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72" name="Google Shape;7572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73" name="Google Shape;7573;p45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4" name="Google Shape;7574;p4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575" name="Google Shape;7575;p45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76" name="Google Shape;7576;p45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77" name="Google Shape;7577;p45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78" name="Google Shape;7578;p45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79" name="Google Shape;7579;p45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80" name="Google Shape;7580;p45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1" name="Google Shape;7581;p45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7582" name="Google Shape;7582;p45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583" name="Google Shape;7583;p45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584" name="Google Shape;7584;p4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585" name="Google Shape;7585;p45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586" name="Google Shape;7586;p45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587" name="Google Shape;7587;p45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588" name="Google Shape;7588;p45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589" name="Google Shape;7589;p45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590" name="Google Shape;7590;p45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591" name="Google Shape;7591;p45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592" name="Google Shape;7592;p45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593" name="Google Shape;7593;p45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7594" name="Google Shape;7594;p4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7595" name="Google Shape;7595;p45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7596" name="Google Shape;7596;p45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7597" name="Google Shape;7597;p45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98" name="Google Shape;7598;p45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99" name="Google Shape;7599;p45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0" name="Google Shape;7600;p45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1" name="Google Shape;7601;p45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2" name="Google Shape;7602;p45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3" name="Google Shape;7603;p45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4" name="Google Shape;7604;p4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5" name="Google Shape;7605;p45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06" name="Google Shape;7606;p45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7" name="Google Shape;7607;p45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08" name="Google Shape;7608;p45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9" name="Google Shape;7609;p45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0" name="Google Shape;7610;p45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11" name="Google Shape;7611;p45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12" name="Google Shape;7612;p45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613" name="Google Shape;7613;p45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4" name="Google Shape;7614;p4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5" name="Google Shape;7615;p45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6" name="Google Shape;7616;p45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7" name="Google Shape;7617;p45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8" name="Google Shape;7618;p45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19" name="Google Shape;7619;p45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0" name="Google Shape;7620;p45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1" name="Google Shape;7621;p45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2" name="Google Shape;7622;p45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3" name="Google Shape;7623;p45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4" name="Google Shape;7624;p4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5" name="Google Shape;7625;p45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6" name="Google Shape;7626;p45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27" name="Google Shape;7627;p45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8" name="Google Shape;7628;p45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629" name="Google Shape;7629;p45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630" name="Google Shape;7630;p45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7631" name="Google Shape;7631;p45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2" name="Google Shape;7632;p4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633" name="Google Shape;7633;p45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34" name="Google Shape;7634;p4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 submissions</a:t>
            </a:r>
            <a:endParaRPr/>
          </a:p>
        </p:txBody>
      </p:sp>
      <p:sp>
        <p:nvSpPr>
          <p:cNvPr id="7635" name="Google Shape;7635;p45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6" name="Google Shape;7636;p45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637" name="Google Shape;7637;p45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638" name="Google Shape;7638;p45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7639" name="Google Shape;7639;p45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640" name="Google Shape;7640;p45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44" name="Shape 7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5" name="Google Shape;7645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6" name="Google Shape;7646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Durham Insurance Group Inc</a:t>
            </a:r>
            <a:endParaRPr/>
          </a:p>
        </p:txBody>
      </p:sp>
      <p:sp>
        <p:nvSpPr>
          <p:cNvPr id="7647" name="Google Shape;7647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Bristol</a:t>
            </a:r>
            <a:endParaRPr/>
          </a:p>
        </p:txBody>
      </p:sp>
      <p:sp>
        <p:nvSpPr>
          <p:cNvPr id="7648" name="Google Shape;7648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649" name="Google Shape;7649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650" name="Google Shape;7650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651" name="Google Shape;7651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652" name="Google Shape;7652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653" name="Google Shape;7653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654" name="Google Shape;7654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655" name="Google Shape;7655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656" name="Google Shape;7656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57" name="Google Shape;7657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658" name="Google Shape;7658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659" name="Google Shape;7659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660" name="Google Shape;7660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661" name="Google Shape;7661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2" name="Google Shape;7662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663" name="Google Shape;7663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664" name="Google Shape;7664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665" name="Google Shape;7665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666" name="Google Shape;7666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667" name="Google Shape;7667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668" name="Google Shape;7668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669" name="Google Shape;7669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0" name="Google Shape;7670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671" name="Google Shape;7671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2" name="Google Shape;7672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3" name="Google Shape;7673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4" name="Google Shape;7674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5" name="Google Shape;7675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6" name="Google Shape;7676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7" name="Google Shape;7677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678" name="Google Shape;7678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79" name="Google Shape;7679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80" name="Google Shape;7680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81" name="Google Shape;7681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82" name="Google Shape;7682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83" name="Google Shape;7683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4" name="Google Shape;7684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685" name="Google Shape;7685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86" name="Google Shape;7686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87" name="Google Shape;7687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88" name="Google Shape;7688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89" name="Google Shape;7689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0" name="Google Shape;7690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1" name="Google Shape;7691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692" name="Google Shape;7692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3" name="Google Shape;7693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4" name="Google Shape;7694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5" name="Google Shape;7695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6" name="Google Shape;7696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7" name="Google Shape;7697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8" name="Google Shape;7698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699" name="Google Shape;7699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0" name="Google Shape;7700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1" name="Google Shape;7701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2" name="Google Shape;7702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3" name="Google Shape;7703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4" name="Google Shape;7704;p46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5" name="Google Shape;7705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706" name="Google Shape;7706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7" name="Google Shape;7707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8" name="Google Shape;7708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9" name="Google Shape;7709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0" name="Google Shape;7710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1" name="Google Shape;7711;p46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2" name="Google Shape;7712;p46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713" name="Google Shape;7713;p46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4" name="Google Shape;7714;p46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5" name="Google Shape;7715;p46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6" name="Google Shape;7716;p46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7" name="Google Shape;7717;p46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8" name="Google Shape;7718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9" name="Google Shape;7719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720" name="Google Shape;7720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21" name="Google Shape;7721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722" name="Google Shape;7722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723" name="Google Shape;7723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724" name="Google Shape;7724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25" name="Google Shape;7725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26" name="Google Shape;7726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7" name="Google Shape;7727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28" name="Google Shape;7728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29" name="Google Shape;7729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30" name="Google Shape;7730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31" name="Google Shape;7731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32" name="Google Shape;7732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33" name="Google Shape;7733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4" name="Google Shape;7734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35" name="Google Shape;7735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36" name="Google Shape;7736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37" name="Google Shape;7737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38" name="Google Shape;7738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39" name="Google Shape;7739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40" name="Google Shape;7740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1" name="Google Shape;7741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42" name="Google Shape;7742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43" name="Google Shape;7743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44" name="Google Shape;7744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45" name="Google Shape;7745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46" name="Google Shape;7746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47" name="Google Shape;7747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8" name="Google Shape;7748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49" name="Google Shape;7749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50" name="Google Shape;7750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51" name="Google Shape;7751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52" name="Google Shape;7752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53" name="Google Shape;7753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54" name="Google Shape;7754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5" name="Google Shape;7755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56" name="Google Shape;7756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757" name="Google Shape;7757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58" name="Google Shape;7758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759" name="Google Shape;7759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60" name="Google Shape;7760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61" name="Google Shape;7761;p46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2" name="Google Shape;7762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763" name="Google Shape;7763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64" name="Google Shape;7764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65" name="Google Shape;7765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66" name="Google Shape;7766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67" name="Google Shape;7767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68" name="Google Shape;7768;p46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9" name="Google Shape;7769;p46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770" name="Google Shape;7770;p4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7771" name="Google Shape;7771;p46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72" name="Google Shape;7772;p46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773" name="Google Shape;7773;p46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4" name="Google Shape;7774;p46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75" name="Google Shape;7775;p46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6" name="Google Shape;7776;p46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7777" name="Google Shape;7777;p46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778" name="Google Shape;7778;p46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779" name="Google Shape;7779;p46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780" name="Google Shape;7780;p4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781" name="Google Shape;7781;p46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782" name="Google Shape;7782;p46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783" name="Google Shape;7783;p46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784" name="Google Shape;7784;p46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785" name="Google Shape;7785;p46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786" name="Google Shape;7786;p46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787" name="Google Shape;7787;p46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788" name="Google Shape;7788;p46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7789" name="Google Shape;7789;p46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7790" name="Google Shape;7790;p4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7791" name="Google Shape;7791;p46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7792" name="Google Shape;7792;p46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793" name="Google Shape;7793;p46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94" name="Google Shape;7794;p46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795" name="Google Shape;7795;p46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96" name="Google Shape;7796;p46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97" name="Google Shape;7797;p46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98" name="Google Shape;7798;p46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99" name="Google Shape;7799;p46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800" name="Google Shape;7800;p4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801" name="Google Shape;7801;p46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02" name="Google Shape;7802;p46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803" name="Google Shape;7803;p46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804" name="Google Shape;7804;p46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5" name="Google Shape;7805;p46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806" name="Google Shape;7806;p46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7807" name="Google Shape;7807;p46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808" name="Google Shape;7808;p46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09" name="Google Shape;7809;p46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0" name="Google Shape;7810;p4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1" name="Google Shape;7811;p46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2" name="Google Shape;7812;p46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3" name="Google Shape;7813;p46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4" name="Google Shape;7814;p46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5" name="Google Shape;7815;p46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6" name="Google Shape;7816;p46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7" name="Google Shape;7817;p46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8" name="Google Shape;7818;p46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9" name="Google Shape;7819;p46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0" name="Google Shape;7820;p4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1" name="Google Shape;7821;p46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2" name="Google Shape;7822;p46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3" name="Google Shape;7823;p46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824" name="Google Shape;7824;p46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25" name="Google Shape;7825;p46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 submissions - highly active agency</a:t>
            </a:r>
            <a:endParaRPr/>
          </a:p>
        </p:txBody>
      </p:sp>
      <p:sp>
        <p:nvSpPr>
          <p:cNvPr id="7826" name="Google Shape;7826;p46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27" name="Google Shape;7827;p46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 quotes generated - active in pipeline</a:t>
            </a:r>
            <a:endParaRPr/>
          </a:p>
        </p:txBody>
      </p:sp>
      <p:sp>
        <p:nvSpPr>
          <p:cNvPr id="7828" name="Google Shape;7828;p46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9" name="Google Shape;7829;p46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830" name="Google Shape;7830;p4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31" name="Google Shape;7831;p46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33 submissions</a:t>
            </a:r>
            <a:endParaRPr/>
          </a:p>
        </p:txBody>
      </p:sp>
      <p:sp>
        <p:nvSpPr>
          <p:cNvPr id="7832" name="Google Shape;7832;p4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33" name="Google Shape;7833;p46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 submissions with zero binds - zero conversion</a:t>
            </a:r>
            <a:endParaRPr/>
          </a:p>
        </p:txBody>
      </p:sp>
      <p:sp>
        <p:nvSpPr>
          <p:cNvPr id="7834" name="Google Shape;7834;p4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5" name="Google Shape;7835;p46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836" name="Google Shape;7836;p46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837" name="Google Shape;7837;p46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33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838" name="Google Shape;7838;p46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839" name="Google Shape;7839;p46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20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843" name="Shape 78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4" name="Google Shape;7844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5" name="Google Shape;7845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Em Miranda Agency Inc</a:t>
            </a:r>
            <a:endParaRPr/>
          </a:p>
        </p:txBody>
      </p:sp>
      <p:sp>
        <p:nvSpPr>
          <p:cNvPr id="7846" name="Google Shape;7846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New Rochelle</a:t>
            </a:r>
            <a:endParaRPr/>
          </a:p>
        </p:txBody>
      </p:sp>
      <p:sp>
        <p:nvSpPr>
          <p:cNvPr id="7847" name="Google Shape;7847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848" name="Google Shape;7848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49" name="Google Shape;7849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850" name="Google Shape;7850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851" name="Google Shape;7851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852" name="Google Shape;7852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853" name="Google Shape;7853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854" name="Google Shape;7854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855" name="Google Shape;7855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56" name="Google Shape;7856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857" name="Google Shape;7857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858" name="Google Shape;7858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859" name="Google Shape;7859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860" name="Google Shape;7860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1" name="Google Shape;7861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862" name="Google Shape;7862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863" name="Google Shape;7863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864" name="Google Shape;7864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865" name="Google Shape;7865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866" name="Google Shape;7866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867" name="Google Shape;7867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868" name="Google Shape;7868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9" name="Google Shape;7869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870" name="Google Shape;7870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1" name="Google Shape;7871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2" name="Google Shape;7872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3" name="Google Shape;7873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4" name="Google Shape;7874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5" name="Google Shape;7875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6" name="Google Shape;7876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877" name="Google Shape;7877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8" name="Google Shape;7878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79" name="Google Shape;7879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80" name="Google Shape;7880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81" name="Google Shape;7881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82" name="Google Shape;7882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83" name="Google Shape;7883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884" name="Google Shape;7884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85" name="Google Shape;7885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86" name="Google Shape;7886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87" name="Google Shape;7887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88" name="Google Shape;7888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89" name="Google Shape;7889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0" name="Google Shape;7890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891" name="Google Shape;7891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2" name="Google Shape;7892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3" name="Google Shape;7893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4" name="Google Shape;7894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5" name="Google Shape;7895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6" name="Google Shape;7896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7" name="Google Shape;7897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898" name="Google Shape;7898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99" name="Google Shape;7899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0" name="Google Shape;7900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1" name="Google Shape;7901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2" name="Google Shape;7902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3" name="Google Shape;7903;p47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4" name="Google Shape;7904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905" name="Google Shape;7905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6" name="Google Shape;7906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7" name="Google Shape;7907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8" name="Google Shape;7908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09" name="Google Shape;7909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0" name="Google Shape;7910;p4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1" name="Google Shape;7911;p47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12" name="Google Shape;7912;p47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3" name="Google Shape;7913;p47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4" name="Google Shape;7914;p47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5" name="Google Shape;7915;p47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6" name="Google Shape;7916;p47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917" name="Google Shape;7917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18" name="Google Shape;7918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919" name="Google Shape;7919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920" name="Google Shape;7920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921" name="Google Shape;7921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922" name="Google Shape;7922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923" name="Google Shape;7923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924" name="Google Shape;7924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925" name="Google Shape;7925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6" name="Google Shape;7926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927" name="Google Shape;7927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28" name="Google Shape;7928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29" name="Google Shape;7929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30" name="Google Shape;7930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31" name="Google Shape;7931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32" name="Google Shape;7932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3" name="Google Shape;7933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934" name="Google Shape;7934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35" name="Google Shape;7935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36" name="Google Shape;7936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37" name="Google Shape;7937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38" name="Google Shape;7938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39" name="Google Shape;7939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0" name="Google Shape;7940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941" name="Google Shape;7941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42" name="Google Shape;7942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43" name="Google Shape;7943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44" name="Google Shape;7944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45" name="Google Shape;7945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46" name="Google Shape;7946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47" name="Google Shape;7947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948" name="Google Shape;7948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49" name="Google Shape;7949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0" name="Google Shape;7950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51" name="Google Shape;7951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2" name="Google Shape;7952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53" name="Google Shape;7953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4" name="Google Shape;7954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955" name="Google Shape;7955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6" name="Google Shape;7956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7" name="Google Shape;7957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8" name="Google Shape;7958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59" name="Google Shape;7959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60" name="Google Shape;7960;p4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1" name="Google Shape;7961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7962" name="Google Shape;7962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3" name="Google Shape;7963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4" name="Google Shape;7964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5" name="Google Shape;7965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66" name="Google Shape;7966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67" name="Google Shape;7967;p47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8" name="Google Shape;7968;p47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969" name="Google Shape;7969;p47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970" name="Google Shape;7970;p4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1" name="Google Shape;7971;p47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972" name="Google Shape;7972;p47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73" name="Google Shape;7973;p47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74" name="Google Shape;7974;p47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75" name="Google Shape;7975;p47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7976" name="Google Shape;7976;p47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977" name="Google Shape;7977;p47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978" name="Google Shape;7978;p47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979" name="Google Shape;7979;p47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980" name="Google Shape;7980;p4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981" name="Google Shape;7981;p47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982" name="Google Shape;7982;p47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983" name="Google Shape;7983;p47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984" name="Google Shape;7984;p47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985" name="Google Shape;7985;p47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986" name="Google Shape;7986;p47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987" name="Google Shape;7987;p47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7988" name="Google Shape;7988;p47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7989" name="Google Shape;7989;p47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7990" name="Google Shape;7990;p4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7991" name="Google Shape;7991;p47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992" name="Google Shape;7992;p47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93" name="Google Shape;7993;p47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4" name="Google Shape;7994;p47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95" name="Google Shape;7995;p47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96" name="Google Shape;7996;p47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97" name="Google Shape;7997;p47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998" name="Google Shape;7998;p47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999" name="Google Shape;7999;p47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000" name="Google Shape;8000;p4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01" name="Google Shape;8001;p47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2" name="Google Shape;8002;p47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03" name="Google Shape;8003;p47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004" name="Google Shape;8004;p47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05" name="Google Shape;8005;p47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006" name="Google Shape;8006;p47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007" name="Google Shape;8007;p47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08" name="Google Shape;8008;p47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09" name="Google Shape;8009;p47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0" name="Google Shape;8010;p4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1" name="Google Shape;8011;p47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2" name="Google Shape;8012;p47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3" name="Google Shape;8013;p47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4" name="Google Shape;8014;p47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5" name="Google Shape;8015;p47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6" name="Google Shape;8016;p47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7" name="Google Shape;8017;p47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8" name="Google Shape;8018;p47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19" name="Google Shape;8019;p47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0" name="Google Shape;8020;p4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21" name="Google Shape;8021;p47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2" name="Google Shape;8022;p47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023" name="Google Shape;8023;p47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024" name="Google Shape;8024;p47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quotes generated - active in pipeline</a:t>
            </a:r>
            <a:endParaRPr/>
          </a:p>
        </p:txBody>
      </p:sp>
      <p:sp>
        <p:nvSpPr>
          <p:cNvPr id="8025" name="Google Shape;8025;p47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26" name="Google Shape;8026;p47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027" name="Google Shape;8027;p47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28" name="Google Shape;8028;p4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6 submissions</a:t>
            </a:r>
            <a:endParaRPr/>
          </a:p>
        </p:txBody>
      </p:sp>
      <p:sp>
        <p:nvSpPr>
          <p:cNvPr id="8029" name="Google Shape;8029;p47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030" name="Google Shape;8030;p4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submissions with zero binds - zero conversion</a:t>
            </a:r>
            <a:endParaRPr/>
          </a:p>
        </p:txBody>
      </p:sp>
      <p:sp>
        <p:nvSpPr>
          <p:cNvPr id="8031" name="Google Shape;8031;p47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32" name="Google Shape;8032;p4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033" name="Google Shape;8033;p47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034" name="Google Shape;8034;p47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038" name="Shape 80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9" name="Google Shape;8039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40" name="Google Shape;8040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Fdi Management Group, Inc.</a:t>
            </a:r>
            <a:endParaRPr/>
          </a:p>
        </p:txBody>
      </p:sp>
      <p:sp>
        <p:nvSpPr>
          <p:cNvPr id="8041" name="Google Shape;8041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Mechanicsburg</a:t>
            </a:r>
            <a:endParaRPr/>
          </a:p>
        </p:txBody>
      </p:sp>
      <p:sp>
        <p:nvSpPr>
          <p:cNvPr id="8042" name="Google Shape;8042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043" name="Google Shape;8043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44" name="Google Shape;8044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45" name="Google Shape;8045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46" name="Google Shape;8046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47" name="Google Shape;8047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$111,729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048" name="Google Shape;8048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$31,500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049" name="Google Shape;8049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050" name="Google Shape;8050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051" name="Google Shape;8051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052" name="Google Shape;8052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053" name="Google Shape;8053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054" name="Google Shape;8054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055" name="Google Shape;8055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56" name="Google Shape;8056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057" name="Google Shape;8057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058" name="Google Shape;8058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059" name="Google Shape;8059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060" name="Google Shape;8060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061" name="Google Shape;8061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062" name="Google Shape;8062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063" name="Google Shape;8063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64" name="Google Shape;8064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065" name="Google Shape;8065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66" name="Google Shape;8066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67" name="Google Shape;8067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68" name="Google Shape;8068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69" name="Google Shape;8069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0" name="Google Shape;8070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1" name="Google Shape;8071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072" name="Google Shape;8072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3" name="Google Shape;8073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4" name="Google Shape;8074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5" name="Google Shape;8075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6" name="Google Shape;8076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77" name="Google Shape;8077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8" name="Google Shape;8078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079" name="Google Shape;8079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0" name="Google Shape;8080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1" name="Google Shape;8081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2" name="Google Shape;8082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3" name="Google Shape;8083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4" name="Google Shape;8084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85" name="Google Shape;8085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086" name="Google Shape;8086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7" name="Google Shape;8087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8" name="Google Shape;8088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89" name="Google Shape;8089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0" name="Google Shape;8090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1" name="Google Shape;8091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2" name="Google Shape;8092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093" name="Google Shape;8093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4" name="Google Shape;8094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5" name="Google Shape;8095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6" name="Google Shape;8096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7" name="Google Shape;8097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098" name="Google Shape;8098;p48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99" name="Google Shape;8099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100" name="Google Shape;8100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1" name="Google Shape;8101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2" name="Google Shape;8102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3" name="Google Shape;8103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4" name="Google Shape;8104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5" name="Google Shape;8105;p48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6" name="Google Shape;8106;p4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07" name="Google Shape;8107;p48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8" name="Google Shape;8108;p48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09" name="Google Shape;8109;p48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0" name="Google Shape;8110;p48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1" name="Google Shape;8111;p48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112" name="Google Shape;8112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13" name="Google Shape;8113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114" name="Google Shape;8114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115" name="Google Shape;8115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116" name="Google Shape;8116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117" name="Google Shape;8117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118" name="Google Shape;8118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119" name="Google Shape;8119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120" name="Google Shape;8120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1" name="Google Shape;8121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122" name="Google Shape;8122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123" name="Google Shape;8123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24" name="Google Shape;8124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125" name="Google Shape;8125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26" name="Google Shape;8126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27" name="Google Shape;8127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8" name="Google Shape;8128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129" name="Google Shape;8129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130" name="Google Shape;8130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31" name="Google Shape;8131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132" name="Google Shape;8132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33" name="Google Shape;8133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34" name="Google Shape;8134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5" name="Google Shape;8135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136" name="Google Shape;8136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37" name="Google Shape;8137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38" name="Google Shape;8138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139" name="Google Shape;8139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0" name="Google Shape;8140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41" name="Google Shape;8141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2" name="Google Shape;8142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143" name="Google Shape;8143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144" name="Google Shape;8144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45" name="Google Shape;8145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146" name="Google Shape;8146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47" name="Google Shape;8147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48" name="Google Shape;8148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49" name="Google Shape;8149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150" name="Google Shape;8150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151" name="Google Shape;8151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152" name="Google Shape;8152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153" name="Google Shape;8153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54" name="Google Shape;8154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55" name="Google Shape;8155;p48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6" name="Google Shape;8156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157" name="Google Shape;8157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58" name="Google Shape;8158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59" name="Google Shape;8159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0" name="Google Shape;8160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1" name="Google Shape;8161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62" name="Google Shape;8162;p48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3" name="Google Shape;8163;p48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164" name="Google Shape;8164;p48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8165" name="Google Shape;8165;p48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166" name="Google Shape;8166;p4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8167" name="Google Shape;8167;p48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68" name="Google Shape;8168;p48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169" name="Google Shape;8169;p48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70" name="Google Shape;8170;p48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8171" name="Google Shape;8171;p48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172" name="Google Shape;8172;p48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173" name="Google Shape;8173;p48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174" name="Google Shape;8174;p48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175" name="Google Shape;8175;p48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176" name="Google Shape;8176;p4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177" name="Google Shape;8177;p48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178" name="Google Shape;8178;p48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179" name="Google Shape;8179;p48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180" name="Google Shape;8180;p48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181" name="Google Shape;8181;p48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182" name="Google Shape;8182;p48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8183" name="Google Shape;8183;p48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8184" name="Google Shape;8184;p48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8185" name="Google Shape;8185;p48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8186" name="Google Shape;8186;p4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187" name="Google Shape;8187;p48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188" name="Google Shape;8188;p48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189" name="Google Shape;8189;p48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190" name="Google Shape;8190;p48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191" name="Google Shape;8191;p48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192" name="Google Shape;8192;p48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193" name="Google Shape;8193;p48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194" name="Google Shape;8194;p48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195" name="Google Shape;8195;p48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196" name="Google Shape;8196;p4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197" name="Google Shape;8197;p48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8198" name="Google Shape;8198;p48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199" name="Google Shape;8199;p48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8200" name="Google Shape;8200;p48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8201" name="Google Shape;8201;p48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202" name="Google Shape;8202;p48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8203" name="Google Shape;8203;p48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4" name="Google Shape;8204;p48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5" name="Google Shape;8205;p48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6" name="Google Shape;8206;p4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8207" name="Google Shape;8207;p48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08" name="Google Shape;8208;p48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8209" name="Google Shape;8209;p48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10" name="Google Shape;8210;p48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11" name="Google Shape;8211;p48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12" name="Google Shape;8212;p48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8213" name="Google Shape;8213;p48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14" name="Google Shape;8214;p48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$80K</a:t>
            </a:r>
            <a:endParaRPr/>
          </a:p>
        </p:txBody>
      </p:sp>
      <p:sp>
        <p:nvSpPr>
          <p:cNvPr id="8215" name="Google Shape;8215;p48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16" name="Google Shape;8216;p4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7" name="Google Shape;8217;p48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218" name="Google Shape;8218;p48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19" name="Google Shape;8219;p48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- highly active agency</a:t>
            </a:r>
            <a:endParaRPr/>
          </a:p>
        </p:txBody>
      </p:sp>
      <p:sp>
        <p:nvSpPr>
          <p:cNvPr id="8220" name="Google Shape;8220;p48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221" name="Google Shape;8221;p48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 quotes generated - active in pipeline</a:t>
            </a:r>
            <a:endParaRPr/>
          </a:p>
        </p:txBody>
      </p:sp>
      <p:sp>
        <p:nvSpPr>
          <p:cNvPr id="8222" name="Google Shape;8222;p48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3" name="Google Shape;8223;p48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224" name="Google Shape;8224;p48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25" name="Google Shape;8225;p48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40 submissions</a:t>
            </a:r>
            <a:endParaRPr/>
          </a:p>
        </p:txBody>
      </p:sp>
      <p:sp>
        <p:nvSpPr>
          <p:cNvPr id="8226" name="Google Shape;8226;p4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227" name="Google Shape;8227;p48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 submissions with zero binds - zero conversion</a:t>
            </a:r>
            <a:endParaRPr/>
          </a:p>
        </p:txBody>
      </p:sp>
      <p:sp>
        <p:nvSpPr>
          <p:cNvPr id="8228" name="Google Shape;8228;p4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9" name="Google Shape;8229;p48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230" name="Google Shape;8230;p4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231" name="Google Shape;8231;p48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40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232" name="Google Shape;8232;p48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233" name="Google Shape;8233;p48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25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237" name="Shape 8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8" name="Google Shape;8238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39" name="Google Shape;8239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Gantt Insurance Agency, Inc.</a:t>
            </a:r>
            <a:endParaRPr/>
          </a:p>
        </p:txBody>
      </p:sp>
      <p:sp>
        <p:nvSpPr>
          <p:cNvPr id="8240" name="Google Shape;8240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East  |  State: VA  |  City: Farmville</a:t>
            </a:r>
            <a:endParaRPr/>
          </a:p>
        </p:txBody>
      </p:sp>
      <p:sp>
        <p:nvSpPr>
          <p:cNvPr id="8241" name="Google Shape;8241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242" name="Google Shape;8242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43" name="Google Shape;8243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44" name="Google Shape;8244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45" name="Google Shape;8245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46" name="Google Shape;8246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247" name="Google Shape;8247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248" name="Google Shape;8248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249" name="Google Shape;8249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250" name="Google Shape;8250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251" name="Google Shape;8251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252" name="Google Shape;8252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253" name="Google Shape;8253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254" name="Google Shape;8254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5" name="Google Shape;8255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256" name="Google Shape;8256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257" name="Google Shape;8257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258" name="Google Shape;8258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259" name="Google Shape;8259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260" name="Google Shape;8260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261" name="Google Shape;8261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262" name="Google Shape;8262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3" name="Google Shape;8263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264" name="Google Shape;8264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5" name="Google Shape;8265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6" name="Google Shape;8266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7" name="Google Shape;8267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8" name="Google Shape;8268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69" name="Google Shape;8269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0" name="Google Shape;8270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271" name="Google Shape;8271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2" name="Google Shape;8272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3" name="Google Shape;8273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4" name="Google Shape;8274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5" name="Google Shape;8275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6" name="Google Shape;8276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7" name="Google Shape;8277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278" name="Google Shape;8278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79" name="Google Shape;8279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0" name="Google Shape;8280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1" name="Google Shape;8281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2" name="Google Shape;8282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3" name="Google Shape;8283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84" name="Google Shape;8284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285" name="Google Shape;8285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6" name="Google Shape;8286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7" name="Google Shape;8287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8" name="Google Shape;8288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89" name="Google Shape;8289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0" name="Google Shape;8290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1" name="Google Shape;8291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292" name="Google Shape;8292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3" name="Google Shape;8293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4" name="Google Shape;8294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5" name="Google Shape;8295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6" name="Google Shape;8296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297" name="Google Shape;8297;p49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8" name="Google Shape;8298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299" name="Google Shape;8299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0" name="Google Shape;8300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1" name="Google Shape;8301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2" name="Google Shape;8302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3" name="Google Shape;8303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4" name="Google Shape;8304;p49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5" name="Google Shape;8305;p49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06" name="Google Shape;8306;p4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7" name="Google Shape;8307;p49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8" name="Google Shape;8308;p49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09" name="Google Shape;8309;p49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0" name="Google Shape;8310;p49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311" name="Google Shape;8311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2" name="Google Shape;8312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313" name="Google Shape;8313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314" name="Google Shape;8314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315" name="Google Shape;8315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316" name="Google Shape;8316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317" name="Google Shape;8317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318" name="Google Shape;8318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319" name="Google Shape;8319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0" name="Google Shape;8320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321" name="Google Shape;8321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22" name="Google Shape;8322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23" name="Google Shape;8323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24" name="Google Shape;8324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25" name="Google Shape;8325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26" name="Google Shape;8326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7" name="Google Shape;8327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328" name="Google Shape;8328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329" name="Google Shape;8329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0" name="Google Shape;8330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331" name="Google Shape;8331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2" name="Google Shape;8332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33" name="Google Shape;8333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4" name="Google Shape;8334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335" name="Google Shape;8335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36" name="Google Shape;8336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7" name="Google Shape;8337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38" name="Google Shape;8338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39" name="Google Shape;8339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40" name="Google Shape;8340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1" name="Google Shape;8341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342" name="Google Shape;8342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43" name="Google Shape;8343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44" name="Google Shape;8344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45" name="Google Shape;8345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46" name="Google Shape;8346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47" name="Google Shape;8347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48" name="Google Shape;8348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349" name="Google Shape;8349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50" name="Google Shape;8350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1" name="Google Shape;8351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52" name="Google Shape;8352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3" name="Google Shape;8353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54" name="Google Shape;8354;p49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5" name="Google Shape;8355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356" name="Google Shape;8356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7" name="Google Shape;8357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8" name="Google Shape;8358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59" name="Google Shape;8359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0" name="Google Shape;8360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61" name="Google Shape;8361;p49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2" name="Google Shape;8362;p49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363" name="Google Shape;8363;p49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364" name="Google Shape;8364;p49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65" name="Google Shape;8365;p49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366" name="Google Shape;8366;p4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67" name="Google Shape;8367;p49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368" name="Google Shape;8368;p49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9" name="Google Shape;8369;p49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8370" name="Google Shape;8370;p49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371" name="Google Shape;8371;p49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372" name="Google Shape;8372;p49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373" name="Google Shape;8373;p49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374" name="Google Shape;8374;p49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375" name="Google Shape;8375;p49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376" name="Google Shape;8376;p4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377" name="Google Shape;8377;p49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378" name="Google Shape;8378;p49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379" name="Google Shape;8379;p49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380" name="Google Shape;8380;p49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381" name="Google Shape;8381;p49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8382" name="Google Shape;8382;p49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8383" name="Google Shape;8383;p49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8384" name="Google Shape;8384;p49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8385" name="Google Shape;8385;p49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386" name="Google Shape;8386;p4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87" name="Google Shape;8387;p49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88" name="Google Shape;8388;p49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89" name="Google Shape;8389;p49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390" name="Google Shape;8390;p49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1" name="Google Shape;8391;p49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392" name="Google Shape;8392;p49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3" name="Google Shape;8393;p49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394" name="Google Shape;8394;p49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5" name="Google Shape;8395;p49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396" name="Google Shape;8396;p4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7" name="Google Shape;8397;p49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8" name="Google Shape;8398;p49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399" name="Google Shape;8399;p49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400" name="Google Shape;8400;p49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401" name="Google Shape;8401;p49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2" name="Google Shape;8402;p49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3" name="Google Shape;8403;p49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4" name="Google Shape;8404;p49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5" name="Google Shape;8405;p49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6" name="Google Shape;8406;p4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7" name="Google Shape;8407;p49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8" name="Google Shape;8408;p49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09" name="Google Shape;8409;p49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10" name="Google Shape;8410;p49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11" name="Google Shape;8411;p49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12" name="Google Shape;8412;p49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13" name="Google Shape;8413;p49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14" name="Google Shape;8414;p49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15" name="Google Shape;8415;p49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16" name="Google Shape;8416;p4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417" name="Google Shape;8417;p49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418" name="Google Shape;8418;p49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submissions - highly active agency</a:t>
            </a:r>
            <a:endParaRPr/>
          </a:p>
        </p:txBody>
      </p:sp>
      <p:sp>
        <p:nvSpPr>
          <p:cNvPr id="8419" name="Google Shape;8419;p49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420" name="Google Shape;8420;p49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quotes generated - active in pipeline</a:t>
            </a:r>
            <a:endParaRPr/>
          </a:p>
        </p:txBody>
      </p:sp>
      <p:sp>
        <p:nvSpPr>
          <p:cNvPr id="8421" name="Google Shape;8421;p49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2" name="Google Shape;8422;p49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423" name="Google Shape;8423;p49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24" name="Google Shape;8424;p49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24 submissions</a:t>
            </a:r>
            <a:endParaRPr/>
          </a:p>
        </p:txBody>
      </p:sp>
      <p:sp>
        <p:nvSpPr>
          <p:cNvPr id="8425" name="Google Shape;8425;p49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426" name="Google Shape;8426;p4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 submissions with zero binds - zero conversion</a:t>
            </a:r>
            <a:endParaRPr/>
          </a:p>
        </p:txBody>
      </p:sp>
      <p:sp>
        <p:nvSpPr>
          <p:cNvPr id="8427" name="Google Shape;8427;p49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8" name="Google Shape;8428;p4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429" name="Google Shape;8429;p49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430" name="Google Shape;8430;p4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24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431" name="Google Shape;8431;p49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432" name="Google Shape;8432;p49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10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36" name="Shape 8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7" name="Google Shape;8437;p5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38" name="Google Shape;8438;p5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Gesla Insurance Agency Inc</a:t>
            </a:r>
            <a:endParaRPr/>
          </a:p>
        </p:txBody>
      </p:sp>
      <p:sp>
        <p:nvSpPr>
          <p:cNvPr id="8439" name="Google Shape;8439;p5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Farmingville</a:t>
            </a:r>
            <a:endParaRPr/>
          </a:p>
        </p:txBody>
      </p:sp>
      <p:sp>
        <p:nvSpPr>
          <p:cNvPr id="8440" name="Google Shape;8440;p5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441" name="Google Shape;8441;p5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42" name="Google Shape;8442;p5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43" name="Google Shape;8443;p5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44" name="Google Shape;8444;p5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45" name="Google Shape;8445;p5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$32,123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446" name="Google Shape;8446;p5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447" name="Google Shape;8447;p5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448" name="Google Shape;8448;p5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449" name="Google Shape;8449;p5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450" name="Google Shape;8450;p5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451" name="Google Shape;8451;p5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452" name="Google Shape;8452;p5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453" name="Google Shape;8453;p5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54" name="Google Shape;8454;p5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455" name="Google Shape;8455;p5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456" name="Google Shape;8456;p5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457" name="Google Shape;8457;p5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458" name="Google Shape;8458;p5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459" name="Google Shape;8459;p5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460" name="Google Shape;8460;p5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461" name="Google Shape;8461;p5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2" name="Google Shape;8462;p5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463" name="Google Shape;8463;p5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4" name="Google Shape;8464;p5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5" name="Google Shape;8465;p5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6" name="Google Shape;8466;p5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7" name="Google Shape;8467;p5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68" name="Google Shape;8468;p5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69" name="Google Shape;8469;p5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470" name="Google Shape;8470;p5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1" name="Google Shape;8471;p5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2" name="Google Shape;8472;p5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3" name="Google Shape;8473;p5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4" name="Google Shape;8474;p5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5" name="Google Shape;8475;p5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76" name="Google Shape;8476;p5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477" name="Google Shape;8477;p5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8" name="Google Shape;8478;p5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79" name="Google Shape;8479;p5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0" name="Google Shape;8480;p5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1" name="Google Shape;8481;p5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2" name="Google Shape;8482;p5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83" name="Google Shape;8483;p5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484" name="Google Shape;8484;p5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5" name="Google Shape;8485;p5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6" name="Google Shape;8486;p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7" name="Google Shape;8487;p5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8" name="Google Shape;8488;p5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89" name="Google Shape;8489;p5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0" name="Google Shape;8490;p5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491" name="Google Shape;8491;p5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2" name="Google Shape;8492;p5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3" name="Google Shape;8493;p5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4" name="Google Shape;8494;p5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5" name="Google Shape;8495;p5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6" name="Google Shape;8496;p5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97" name="Google Shape;8497;p5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498" name="Google Shape;8498;p5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499" name="Google Shape;8499;p5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0" name="Google Shape;8500;p5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1" name="Google Shape;8501;p5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2" name="Google Shape;8502;p5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3" name="Google Shape;8503;p50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4" name="Google Shape;8504;p50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05" name="Google Shape;8505;p50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6" name="Google Shape;8506;p5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7" name="Google Shape;8507;p50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8" name="Google Shape;8508;p50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09" name="Google Shape;8509;p50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510" name="Google Shape;8510;p5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1" name="Google Shape;8511;p5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512" name="Google Shape;8512;p5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513" name="Google Shape;8513;p5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514" name="Google Shape;8514;p5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515" name="Google Shape;8515;p5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516" name="Google Shape;8516;p5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517" name="Google Shape;8517;p5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518" name="Google Shape;8518;p5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19" name="Google Shape;8519;p5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520" name="Google Shape;8520;p5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21" name="Google Shape;8521;p5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22" name="Google Shape;8522;p5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3" name="Google Shape;8523;p5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4" name="Google Shape;8524;p5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25" name="Google Shape;8525;p5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6" name="Google Shape;8526;p5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527" name="Google Shape;8527;p5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28" name="Google Shape;8528;p5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29" name="Google Shape;8529;p5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30" name="Google Shape;8530;p5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1" name="Google Shape;8531;p5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32" name="Google Shape;8532;p5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3" name="Google Shape;8533;p5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534" name="Google Shape;8534;p5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535" name="Google Shape;8535;p5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36" name="Google Shape;8536;p5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37" name="Google Shape;8537;p5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38" name="Google Shape;8538;p5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39" name="Google Shape;8539;p5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0" name="Google Shape;8540;p5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541" name="Google Shape;8541;p5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42" name="Google Shape;8542;p5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3" name="Google Shape;8543;p5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44" name="Google Shape;8544;p5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45" name="Google Shape;8545;p5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46" name="Google Shape;8546;p5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47" name="Google Shape;8547;p5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548" name="Google Shape;8548;p5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549" name="Google Shape;8549;p5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50" name="Google Shape;8550;p5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551" name="Google Shape;8551;p5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2" name="Google Shape;8552;p5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53" name="Google Shape;8553;p50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54" name="Google Shape;8554;p5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555" name="Google Shape;8555;p5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6" name="Google Shape;8556;p5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7" name="Google Shape;8557;p5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8" name="Google Shape;8558;p5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59" name="Google Shape;8559;p5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60" name="Google Shape;8560;p50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1" name="Google Shape;8561;p50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562" name="Google Shape;8562;p50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563" name="Google Shape;8563;p50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564" name="Google Shape;8564;p50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8565" name="Google Shape;8565;p50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66" name="Google Shape;8566;p5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567" name="Google Shape;8567;p50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68" name="Google Shape;8568;p50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8569" name="Google Shape;8569;p50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570" name="Google Shape;8570;p50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571" name="Google Shape;8571;p50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572" name="Google Shape;8572;p50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573" name="Google Shape;8573;p50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574" name="Google Shape;8574;p50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575" name="Google Shape;8575;p50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576" name="Google Shape;8576;p5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577" name="Google Shape;8577;p50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578" name="Google Shape;8578;p50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579" name="Google Shape;8579;p50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580" name="Google Shape;8580;p50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8581" name="Google Shape;8581;p50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8582" name="Google Shape;8582;p50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8583" name="Google Shape;8583;p50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8584" name="Google Shape;8584;p50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585" name="Google Shape;8585;p50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586" name="Google Shape;8586;p5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87" name="Google Shape;8587;p50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88" name="Google Shape;8588;p50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89" name="Google Shape;8589;p50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590" name="Google Shape;8590;p50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591" name="Google Shape;8591;p50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592" name="Google Shape;8592;p50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93" name="Google Shape;8593;p50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594" name="Google Shape;8594;p50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8595" name="Google Shape;8595;p50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596" name="Google Shape;8596;p5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597" name="Google Shape;8597;p50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598" name="Google Shape;8598;p50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599" name="Google Shape;8599;p50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600" name="Google Shape;8600;p50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1" name="Google Shape;8601;p50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2" name="Google Shape;8602;p50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8603" name="Google Shape;8603;p50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4" name="Google Shape;8604;p50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5" name="Google Shape;8605;p50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6" name="Google Shape;8606;p5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7" name="Google Shape;8607;p50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8" name="Google Shape;8608;p50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09" name="Google Shape;8609;p50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0" name="Google Shape;8610;p50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1" name="Google Shape;8611;p50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2" name="Google Shape;8612;p50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8613" name="Google Shape;8613;p50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14" name="Google Shape;8614;p50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5" name="Google Shape;8615;p50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616" name="Google Shape;8616;p5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617" name="Google Shape;8617;p50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 quotes generated - active in pipeline</a:t>
            </a:r>
            <a:endParaRPr/>
          </a:p>
        </p:txBody>
      </p:sp>
      <p:sp>
        <p:nvSpPr>
          <p:cNvPr id="8618" name="Google Shape;8618;p50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19" name="Google Shape;8619;p50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620" name="Google Shape;8620;p50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621" name="Google Shape;8621;p50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12 submissions</a:t>
            </a:r>
            <a:endParaRPr/>
          </a:p>
        </p:txBody>
      </p:sp>
      <p:sp>
        <p:nvSpPr>
          <p:cNvPr id="8622" name="Google Shape;8622;p50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623" name="Google Shape;8623;p50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 submissions with zero binds - zero conversion</a:t>
            </a:r>
            <a:endParaRPr/>
          </a:p>
        </p:txBody>
      </p:sp>
      <p:sp>
        <p:nvSpPr>
          <p:cNvPr id="8624" name="Google Shape;8624;p5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25" name="Google Shape;8625;p50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626" name="Google Shape;8626;p5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627" name="Google Shape;8627;p50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12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628" name="Google Shape;8628;p50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629" name="Google Shape;8629;p50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8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33" name="Shape 8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4" name="Google Shape;8634;p5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35" name="Google Shape;8635;p5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Gia Group Llc</a:t>
            </a:r>
            <a:endParaRPr/>
          </a:p>
        </p:txBody>
      </p:sp>
      <p:sp>
        <p:nvSpPr>
          <p:cNvPr id="8636" name="Google Shape;8636;p5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Feasterville</a:t>
            </a:r>
            <a:endParaRPr/>
          </a:p>
        </p:txBody>
      </p:sp>
      <p:sp>
        <p:nvSpPr>
          <p:cNvPr id="8637" name="Google Shape;8637;p5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638" name="Google Shape;8638;p5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39" name="Google Shape;8639;p5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40" name="Google Shape;8640;p5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41" name="Google Shape;8641;p5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42" name="Google Shape;8642;p5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$22,432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643" name="Google Shape;8643;p5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644" name="Google Shape;8644;p5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645" name="Google Shape;8645;p5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646" name="Google Shape;8646;p5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647" name="Google Shape;8647;p5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648" name="Google Shape;8648;p5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649" name="Google Shape;8649;p5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650" name="Google Shape;8650;p5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1" name="Google Shape;8651;p5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652" name="Google Shape;8652;p5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653" name="Google Shape;8653;p5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654" name="Google Shape;8654;p5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655" name="Google Shape;8655;p5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656" name="Google Shape;8656;p5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657" name="Google Shape;8657;p5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658" name="Google Shape;8658;p5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59" name="Google Shape;8659;p5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660" name="Google Shape;8660;p5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1" name="Google Shape;8661;p5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2" name="Google Shape;8662;p5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3" name="Google Shape;8663;p5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4" name="Google Shape;8664;p5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5" name="Google Shape;8665;p5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6" name="Google Shape;8666;p5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667" name="Google Shape;8667;p5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8" name="Google Shape;8668;p5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69" name="Google Shape;8669;p5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0" name="Google Shape;8670;p5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1" name="Google Shape;8671;p5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2" name="Google Shape;8672;p5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3" name="Google Shape;8673;p5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674" name="Google Shape;8674;p5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5" name="Google Shape;8675;p5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6" name="Google Shape;8676;p5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7" name="Google Shape;8677;p5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8" name="Google Shape;8678;p5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79" name="Google Shape;8679;p5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0" name="Google Shape;8680;p5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681" name="Google Shape;8681;p5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2" name="Google Shape;8682;p5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3" name="Google Shape;8683;p5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4" name="Google Shape;8684;p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5" name="Google Shape;8685;p5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6" name="Google Shape;8686;p5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7" name="Google Shape;8687;p5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688" name="Google Shape;8688;p5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89" name="Google Shape;8689;p5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0" name="Google Shape;8690;p5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1" name="Google Shape;8691;p5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2" name="Google Shape;8692;p5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3" name="Google Shape;8693;p51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4" name="Google Shape;8694;p5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695" name="Google Shape;8695;p5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6" name="Google Shape;8696;p5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7" name="Google Shape;8697;p5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8" name="Google Shape;8698;p5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699" name="Google Shape;8699;p5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0" name="Google Shape;8700;p51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1" name="Google Shape;8701;p51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702" name="Google Shape;8702;p51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3" name="Google Shape;8703;p51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4" name="Google Shape;8704;p5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5" name="Google Shape;8705;p51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6" name="Google Shape;8706;p51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07" name="Google Shape;8707;p5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08" name="Google Shape;8708;p5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709" name="Google Shape;8709;p5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710" name="Google Shape;8710;p5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711" name="Google Shape;8711;p5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712" name="Google Shape;8712;p5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713" name="Google Shape;8713;p5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714" name="Google Shape;8714;p5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715" name="Google Shape;8715;p5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16" name="Google Shape;8716;p5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717" name="Google Shape;8717;p5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718" name="Google Shape;8718;p5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719" name="Google Shape;8719;p5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8720" name="Google Shape;8720;p5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1" name="Google Shape;8721;p5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22" name="Google Shape;8722;p5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23" name="Google Shape;8723;p5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724" name="Google Shape;8724;p5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725" name="Google Shape;8725;p5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726" name="Google Shape;8726;p5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727" name="Google Shape;8727;p5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28" name="Google Shape;8728;p5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29" name="Google Shape;8729;p5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0" name="Google Shape;8730;p5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731" name="Google Shape;8731;p5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732" name="Google Shape;8732;p5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733" name="Google Shape;8733;p5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734" name="Google Shape;8734;p5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35" name="Google Shape;8735;p5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36" name="Google Shape;8736;p5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37" name="Google Shape;8737;p5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738" name="Google Shape;8738;p5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739" name="Google Shape;8739;p5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740" name="Google Shape;8740;p5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8741" name="Google Shape;8741;p5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42" name="Google Shape;8742;p5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43" name="Google Shape;8743;p5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44" name="Google Shape;8744;p5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745" name="Google Shape;8745;p5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746" name="Google Shape;8746;p5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747" name="Google Shape;8747;p5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748" name="Google Shape;8748;p5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49" name="Google Shape;8749;p5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50" name="Google Shape;8750;p51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1" name="Google Shape;8751;p5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752" name="Google Shape;8752;p5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53" name="Google Shape;8753;p5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54" name="Google Shape;8754;p5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55" name="Google Shape;8755;p5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56" name="Google Shape;8756;p5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57" name="Google Shape;8757;p51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8" name="Google Shape;8758;p51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759" name="Google Shape;8759;p51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8760" name="Google Shape;8760;p51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761" name="Google Shape;8761;p51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8762" name="Google Shape;8762;p51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63" name="Google Shape;8763;p51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764" name="Google Shape;8764;p5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5" name="Google Shape;8765;p51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8766" name="Google Shape;8766;p51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767" name="Google Shape;8767;p51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768" name="Google Shape;8768;p51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769" name="Google Shape;8769;p51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770" name="Google Shape;8770;p51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771" name="Google Shape;8771;p51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772" name="Google Shape;8772;p51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773" name="Google Shape;8773;p51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774" name="Google Shape;8774;p5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775" name="Google Shape;8775;p51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776" name="Google Shape;8776;p51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777" name="Google Shape;8777;p51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8778" name="Google Shape;8778;p51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8779" name="Google Shape;8779;p51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8780" name="Google Shape;8780;p51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8781" name="Google Shape;8781;p51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782" name="Google Shape;8782;p51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783" name="Google Shape;8783;p51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8784" name="Google Shape;8784;p5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8785" name="Google Shape;8785;p51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786" name="Google Shape;8786;p51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787" name="Google Shape;8787;p51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8788" name="Google Shape;8788;p51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789" name="Google Shape;8789;p51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8790" name="Google Shape;8790;p51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8791" name="Google Shape;8791;p51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8792" name="Google Shape;8792;p51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8793" name="Google Shape;8793;p51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794" name="Google Shape;8794;p5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8795" name="Google Shape;8795;p51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</a:t>
            </a:r>
            <a:endParaRPr/>
          </a:p>
        </p:txBody>
      </p:sp>
      <p:sp>
        <p:nvSpPr>
          <p:cNvPr id="8796" name="Google Shape;8796;p51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797" name="Google Shape;8797;p51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8" name="Google Shape;8798;p51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799" name="Google Shape;8799;p51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0" name="Google Shape;8800;p51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1" name="Google Shape;8801;p51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2" name="Google Shape;8802;p51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3" name="Google Shape;8803;p51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4" name="Google Shape;8804;p5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5" name="Google Shape;8805;p51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8806" name="Google Shape;8806;p51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7" name="Google Shape;8807;p51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8" name="Google Shape;8808;p51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09" name="Google Shape;8809;p51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8810" name="Google Shape;8810;p51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11" name="Google Shape;8811;p51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2" name="Google Shape;8812;p51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8813" name="Google Shape;8813;p51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814" name="Google Shape;8814;p5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 submissions - highly active agency</a:t>
            </a:r>
            <a:endParaRPr/>
          </a:p>
        </p:txBody>
      </p:sp>
      <p:sp>
        <p:nvSpPr>
          <p:cNvPr id="8815" name="Google Shape;8815;p51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8816" name="Google Shape;8816;p51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 quotes generated - active in pipeline</a:t>
            </a:r>
            <a:endParaRPr/>
          </a:p>
        </p:txBody>
      </p:sp>
      <p:sp>
        <p:nvSpPr>
          <p:cNvPr id="8817" name="Google Shape;8817;p51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18" name="Google Shape;8818;p51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8819" name="Google Shape;8819;p51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820" name="Google Shape;8820;p51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89 submissions</a:t>
            </a:r>
            <a:endParaRPr/>
          </a:p>
        </p:txBody>
      </p:sp>
      <p:sp>
        <p:nvSpPr>
          <p:cNvPr id="8821" name="Google Shape;8821;p51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8822" name="Google Shape;8822;p51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89 submissions with zero binds - zero conversion</a:t>
            </a:r>
            <a:endParaRPr/>
          </a:p>
        </p:txBody>
      </p:sp>
      <p:sp>
        <p:nvSpPr>
          <p:cNvPr id="8823" name="Google Shape;8823;p51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24" name="Google Shape;8824;p5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8825" name="Google Shape;8825;p51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8826" name="Google Shape;8826;p5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89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8827" name="Google Shape;8827;p51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8828" name="Google Shape;8828;p5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60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32" name="Shape 88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3" name="Google Shape;8833;p5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34" name="Google Shape;8834;p5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 S Braddock Agency</a:t>
            </a:r>
            <a:endParaRPr/>
          </a:p>
        </p:txBody>
      </p:sp>
      <p:sp>
        <p:nvSpPr>
          <p:cNvPr id="8835" name="Google Shape;8835;p5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Medford</a:t>
            </a:r>
            <a:endParaRPr/>
          </a:p>
        </p:txBody>
      </p:sp>
      <p:sp>
        <p:nvSpPr>
          <p:cNvPr id="8836" name="Google Shape;8836;p5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8837" name="Google Shape;8837;p5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838" name="Google Shape;8838;p5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839" name="Google Shape;8839;p5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840" name="Google Shape;8840;p5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841" name="Google Shape;8841;p5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8842" name="Google Shape;8842;p5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8843" name="Google Shape;8843;p5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8844" name="Google Shape;8844;p5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845" name="Google Shape;8845;p5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846" name="Google Shape;8846;p5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847" name="Google Shape;8847;p5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8848" name="Google Shape;8848;p5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8849" name="Google Shape;8849;p5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0" name="Google Shape;8850;p5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8851" name="Google Shape;8851;p5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852" name="Google Shape;8852;p5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8853" name="Google Shape;8853;p5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8854" name="Google Shape;8854;p5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8855" name="Google Shape;8855;p5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8856" name="Google Shape;8856;p5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8857" name="Google Shape;8857;p5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58" name="Google Shape;8858;p5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859" name="Google Shape;8859;p5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0" name="Google Shape;8860;p5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1" name="Google Shape;8861;p5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2" name="Google Shape;8862;p5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3" name="Google Shape;8863;p5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4" name="Google Shape;8864;p5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65" name="Google Shape;8865;p5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866" name="Google Shape;8866;p5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7" name="Google Shape;8867;p5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8" name="Google Shape;8868;p5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69" name="Google Shape;8869;p5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0" name="Google Shape;8870;p5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1" name="Google Shape;8871;p5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2" name="Google Shape;8872;p5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873" name="Google Shape;8873;p5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4" name="Google Shape;8874;p5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5" name="Google Shape;8875;p5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6" name="Google Shape;8876;p5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7" name="Google Shape;8877;p5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78" name="Google Shape;8878;p5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79" name="Google Shape;8879;p5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880" name="Google Shape;8880;p5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1" name="Google Shape;8881;p5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2" name="Google Shape;8882;p5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3" name="Google Shape;8883;p5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4" name="Google Shape;8884;p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5" name="Google Shape;8885;p5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86" name="Google Shape;8886;p5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887" name="Google Shape;8887;p5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8" name="Google Shape;8888;p5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89" name="Google Shape;8889;p5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0" name="Google Shape;8890;p5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1" name="Google Shape;8891;p5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2" name="Google Shape;8892;p52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93" name="Google Shape;8893;p5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894" name="Google Shape;8894;p5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5" name="Google Shape;8895;p5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6" name="Google Shape;8896;p5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7" name="Google Shape;8897;p5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8" name="Google Shape;8898;p5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899" name="Google Shape;8899;p52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0" name="Google Shape;8900;p52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901" name="Google Shape;8901;p52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2" name="Google Shape;8902;p52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3" name="Google Shape;8903;p52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4" name="Google Shape;8904;p5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5" name="Google Shape;8905;p52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06" name="Google Shape;8906;p5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07" name="Google Shape;8907;p5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8908" name="Google Shape;8908;p5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8909" name="Google Shape;8909;p5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910" name="Google Shape;8910;p5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8911" name="Google Shape;8911;p5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8912" name="Google Shape;8912;p5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8913" name="Google Shape;8913;p5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8914" name="Google Shape;8914;p5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15" name="Google Shape;8915;p5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8916" name="Google Shape;8916;p5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7" name="Google Shape;8917;p5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8" name="Google Shape;8918;p5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19" name="Google Shape;8919;p5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0" name="Google Shape;8920;p5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21" name="Google Shape;8921;p5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2" name="Google Shape;8922;p5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8923" name="Google Shape;8923;p5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4" name="Google Shape;8924;p5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5" name="Google Shape;8925;p5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6" name="Google Shape;8926;p5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27" name="Google Shape;8927;p5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28" name="Google Shape;8928;p5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29" name="Google Shape;8929;p5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8930" name="Google Shape;8930;p5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31" name="Google Shape;8931;p5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32" name="Google Shape;8932;p5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33" name="Google Shape;8933;p5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34" name="Google Shape;8934;p5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35" name="Google Shape;8935;p5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36" name="Google Shape;8936;p5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8937" name="Google Shape;8937;p5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38" name="Google Shape;8938;p5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39" name="Google Shape;8939;p5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40" name="Google Shape;8940;p5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41" name="Google Shape;8941;p5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42" name="Google Shape;8942;p5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43" name="Google Shape;8943;p5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8944" name="Google Shape;8944;p5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45" name="Google Shape;8945;p5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46" name="Google Shape;8946;p5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47" name="Google Shape;8947;p5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48" name="Google Shape;8948;p5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49" name="Google Shape;8949;p52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0" name="Google Shape;8950;p5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8951" name="Google Shape;8951;p5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2" name="Google Shape;8952;p5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3" name="Google Shape;8953;p5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4" name="Google Shape;8954;p5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55" name="Google Shape;8955;p5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56" name="Google Shape;8956;p52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57" name="Google Shape;8957;p52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8958" name="Google Shape;8958;p52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59" name="Google Shape;8959;p52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60" name="Google Shape;8960;p52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961" name="Google Shape;8961;p52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62" name="Google Shape;8962;p52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8963" name="Google Shape;8963;p52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64" name="Google Shape;8964;p5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8965" name="Google Shape;8965;p52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8966" name="Google Shape;8966;p52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8967" name="Google Shape;8967;p52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8968" name="Google Shape;8968;p52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8969" name="Google Shape;8969;p52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8970" name="Google Shape;8970;p52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8971" name="Google Shape;8971;p52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8972" name="Google Shape;8972;p52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8973" name="Google Shape;8973;p52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8974" name="Google Shape;8974;p5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8975" name="Google Shape;8975;p52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8976" name="Google Shape;8976;p52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8977" name="Google Shape;8977;p52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8978" name="Google Shape;8978;p52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8979" name="Google Shape;8979;p52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8980" name="Google Shape;8980;p52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8981" name="Google Shape;8981;p52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82" name="Google Shape;8982;p52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83" name="Google Shape;8983;p52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84" name="Google Shape;8984;p5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85" name="Google Shape;8985;p52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986" name="Google Shape;8986;p52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87" name="Google Shape;8987;p52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88" name="Google Shape;8988;p52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89" name="Google Shape;8989;p52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8990" name="Google Shape;8990;p52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91" name="Google Shape;8991;p52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92" name="Google Shape;8992;p52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93" name="Google Shape;8993;p52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8994" name="Google Shape;8994;p5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8995" name="Google Shape;8995;p52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8996" name="Google Shape;8996;p52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7" name="Google Shape;8997;p52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8998" name="Google Shape;8998;p52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8999" name="Google Shape;8999;p52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0" name="Google Shape;9000;p52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1" name="Google Shape;9001;p52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2" name="Google Shape;9002;p52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3" name="Google Shape;9003;p52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4" name="Google Shape;9004;p5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9005" name="Google Shape;9005;p52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6" name="Google Shape;9006;p52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7" name="Google Shape;9007;p52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08" name="Google Shape;9008;p52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9009" name="Google Shape;9009;p52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10" name="Google Shape;9010;p52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1" name="Google Shape;9011;p52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012" name="Google Shape;9012;p52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013" name="Google Shape;9013;p52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9014" name="Google Shape;9014;p5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5" name="Google Shape;9015;p52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016" name="Google Shape;9016;p52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017" name="Google Shape;9017;p52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9018" name="Google Shape;9018;p52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19" name="Google Shape;9019;p52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020" name="Google Shape;9020;p5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021" name="Google Shape;9021;p52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022" name="Google Shape;9022;p5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023" name="Google Shape;9023;p52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27" name="Shape 90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8" name="Google Shape;9028;p5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29" name="Google Shape;9029;p5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Maximus Insurance Agency Inc</a:t>
            </a:r>
            <a:endParaRPr/>
          </a:p>
        </p:txBody>
      </p:sp>
      <p:sp>
        <p:nvSpPr>
          <p:cNvPr id="9030" name="Google Shape;9030;p5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NY  |  City: Massapequa</a:t>
            </a:r>
            <a:endParaRPr/>
          </a:p>
        </p:txBody>
      </p:sp>
      <p:sp>
        <p:nvSpPr>
          <p:cNvPr id="9031" name="Google Shape;9031;p5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032" name="Google Shape;9032;p5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033" name="Google Shape;9033;p5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034" name="Google Shape;9034;p5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035" name="Google Shape;9035;p5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036" name="Google Shape;9036;p5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$35,510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037" name="Google Shape;9037;p5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$10,937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038" name="Google Shape;9038;p5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039" name="Google Shape;9039;p5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040" name="Google Shape;9040;p5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041" name="Google Shape;9041;p5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042" name="Google Shape;9042;p5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043" name="Google Shape;9043;p5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044" name="Google Shape;9044;p5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45" name="Google Shape;9045;p5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046" name="Google Shape;9046;p5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047" name="Google Shape;9047;p5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048" name="Google Shape;9048;p5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049" name="Google Shape;9049;p5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050" name="Google Shape;9050;p5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051" name="Google Shape;9051;p5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052" name="Google Shape;9052;p5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3" name="Google Shape;9053;p5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054" name="Google Shape;9054;p5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5" name="Google Shape;9055;p5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6" name="Google Shape;9056;p5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7" name="Google Shape;9057;p5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8" name="Google Shape;9058;p5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59" name="Google Shape;9059;p5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0" name="Google Shape;9060;p5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061" name="Google Shape;9061;p5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62" name="Google Shape;9062;p5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63" name="Google Shape;9063;p5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64" name="Google Shape;9064;p5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65" name="Google Shape;9065;p5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66" name="Google Shape;9066;p5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67" name="Google Shape;9067;p5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068" name="Google Shape;9068;p5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69" name="Google Shape;9069;p5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0" name="Google Shape;9070;p5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1" name="Google Shape;9071;p5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2" name="Google Shape;9072;p5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3" name="Google Shape;9073;p5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74" name="Google Shape;9074;p5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075" name="Google Shape;9075;p5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6" name="Google Shape;9076;p5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7" name="Google Shape;9077;p5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8" name="Google Shape;9078;p5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79" name="Google Shape;9079;p5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0" name="Google Shape;9080;p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1" name="Google Shape;9081;p5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082" name="Google Shape;9082;p5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3" name="Google Shape;9083;p5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4" name="Google Shape;9084;p5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5" name="Google Shape;9085;p5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6" name="Google Shape;9086;p5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87" name="Google Shape;9087;p53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88" name="Google Shape;9088;p5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089" name="Google Shape;9089;p5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0" name="Google Shape;9090;p5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1" name="Google Shape;9091;p5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2" name="Google Shape;9092;p5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3" name="Google Shape;9093;p5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4" name="Google Shape;9094;p53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95" name="Google Shape;9095;p53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096" name="Google Shape;9096;p53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7" name="Google Shape;9097;p53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8" name="Google Shape;9098;p53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099" name="Google Shape;9099;p53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00" name="Google Shape;9100;p5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01" name="Google Shape;9101;p5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02" name="Google Shape;9102;p5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103" name="Google Shape;9103;p5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104" name="Google Shape;9104;p5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105" name="Google Shape;9105;p5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106" name="Google Shape;9106;p5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107" name="Google Shape;9107;p5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08" name="Google Shape;9108;p5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109" name="Google Shape;9109;p5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0" name="Google Shape;9110;p5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111" name="Google Shape;9111;p5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12" name="Google Shape;9112;p5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13" name="Google Shape;9113;p5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14" name="Google Shape;9114;p5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15" name="Google Shape;9115;p5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16" name="Google Shape;9116;p5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17" name="Google Shape;9117;p5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118" name="Google Shape;9118;p5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19" name="Google Shape;9119;p5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20" name="Google Shape;9120;p5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21" name="Google Shape;9121;p5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22" name="Google Shape;9122;p5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23" name="Google Shape;9123;p5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24" name="Google Shape;9124;p5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125" name="Google Shape;9125;p5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26" name="Google Shape;9126;p5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27" name="Google Shape;9127;p5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28" name="Google Shape;9128;p5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29" name="Google Shape;9129;p5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30" name="Google Shape;9130;p5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1" name="Google Shape;9131;p5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132" name="Google Shape;9132;p5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33" name="Google Shape;9133;p5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34" name="Google Shape;9134;p5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35" name="Google Shape;9135;p5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36" name="Google Shape;9136;p5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37" name="Google Shape;9137;p5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8" name="Google Shape;9138;p5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139" name="Google Shape;9139;p5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40" name="Google Shape;9140;p5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41" name="Google Shape;9141;p5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42" name="Google Shape;9142;p5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43" name="Google Shape;9143;p5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44" name="Google Shape;9144;p53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5" name="Google Shape;9145;p5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146" name="Google Shape;9146;p5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47" name="Google Shape;9147;p5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48" name="Google Shape;9148;p5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49" name="Google Shape;9149;p5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50" name="Google Shape;9150;p5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51" name="Google Shape;9151;p53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2" name="Google Shape;9152;p53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153" name="Google Shape;9153;p53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154" name="Google Shape;9154;p53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55" name="Google Shape;9155;p53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56" name="Google Shape;9156;p53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57" name="Google Shape;9157;p53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158" name="Google Shape;9158;p53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9" name="Google Shape;9159;p53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9160" name="Google Shape;9160;p5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161" name="Google Shape;9161;p53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162" name="Google Shape;9162;p53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163" name="Google Shape;9163;p53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164" name="Google Shape;9164;p53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165" name="Google Shape;9165;p53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166" name="Google Shape;9166;p53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167" name="Google Shape;9167;p53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168" name="Google Shape;9168;p53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169" name="Google Shape;9169;p53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170" name="Google Shape;9170;p5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171" name="Google Shape;9171;p53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9172" name="Google Shape;9172;p53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9173" name="Google Shape;9173;p53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9174" name="Google Shape;9174;p53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9175" name="Google Shape;9175;p53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176" name="Google Shape;9176;p53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177" name="Google Shape;9177;p53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78" name="Google Shape;9178;p53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79" name="Google Shape;9179;p53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80" name="Google Shape;9180;p5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81" name="Google Shape;9181;p53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82" name="Google Shape;9182;p53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183" name="Google Shape;9183;p53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84" name="Google Shape;9184;p53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185" name="Google Shape;9185;p53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186" name="Google Shape;9186;p53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187" name="Google Shape;9187;p53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188" name="Google Shape;9188;p53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9189" name="Google Shape;9189;p53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190" name="Google Shape;9190;p5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191" name="Google Shape;9191;p53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2" name="Google Shape;9192;p53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3" name="Google Shape;9193;p53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9194" name="Google Shape;9194;p53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5" name="Google Shape;9195;p53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6" name="Google Shape;9196;p53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7" name="Google Shape;9197;p53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8" name="Google Shape;9198;p53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199" name="Google Shape;9199;p53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0" name="Google Shape;9200;p5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1" name="Google Shape;9201;p53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2" name="Google Shape;9202;p53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3" name="Google Shape;9203;p53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9204" name="Google Shape;9204;p53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05" name="Google Shape;9205;p53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06" name="Google Shape;9206;p53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207" name="Google Shape;9207;p53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208" name="Google Shape;9208;p53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9209" name="Google Shape;9209;p53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0" name="Google Shape;9210;p5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211" name="Google Shape;9211;p53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212" name="Google Shape;9212;p53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 submissions</a:t>
            </a:r>
            <a:endParaRPr/>
          </a:p>
        </p:txBody>
      </p:sp>
      <p:sp>
        <p:nvSpPr>
          <p:cNvPr id="9213" name="Google Shape;9213;p53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14" name="Google Shape;9214;p53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215" name="Google Shape;9215;p53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216" name="Google Shape;9216;p5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220" name="Shape 9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1" name="Google Shape;9221;p5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22" name="Google Shape;9222;p5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Onyx Insurance Solutions Llc</a:t>
            </a:r>
            <a:endParaRPr/>
          </a:p>
        </p:txBody>
      </p:sp>
      <p:sp>
        <p:nvSpPr>
          <p:cNvPr id="9223" name="Google Shape;9223;p5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North Bergen</a:t>
            </a:r>
            <a:endParaRPr/>
          </a:p>
        </p:txBody>
      </p:sp>
      <p:sp>
        <p:nvSpPr>
          <p:cNvPr id="9224" name="Google Shape;9224;p5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225" name="Google Shape;9225;p5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226" name="Google Shape;9226;p5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227" name="Google Shape;9227;p5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228" name="Google Shape;9228;p5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229" name="Google Shape;9229;p5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230" name="Google Shape;9230;p5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231" name="Google Shape;9231;p5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232" name="Google Shape;9232;p5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233" name="Google Shape;9233;p5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234" name="Google Shape;9234;p5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235" name="Google Shape;9235;p5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236" name="Google Shape;9236;p5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237" name="Google Shape;9237;p5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38" name="Google Shape;9238;p5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239" name="Google Shape;9239;p5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240" name="Google Shape;9240;p5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241" name="Google Shape;9241;p5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242" name="Google Shape;9242;p5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243" name="Google Shape;9243;p5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244" name="Google Shape;9244;p5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245" name="Google Shape;9245;p5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46" name="Google Shape;9246;p5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247" name="Google Shape;9247;p5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48" name="Google Shape;9248;p5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49" name="Google Shape;9249;p5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0" name="Google Shape;9250;p5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1" name="Google Shape;9251;p5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2" name="Google Shape;9252;p5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53" name="Google Shape;9253;p5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254" name="Google Shape;9254;p5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5" name="Google Shape;9255;p5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6" name="Google Shape;9256;p5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7" name="Google Shape;9257;p5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8" name="Google Shape;9258;p5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59" name="Google Shape;9259;p5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0" name="Google Shape;9260;p5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261" name="Google Shape;9261;p5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2" name="Google Shape;9262;p5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3" name="Google Shape;9263;p5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4" name="Google Shape;9264;p5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5" name="Google Shape;9265;p5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6" name="Google Shape;9266;p5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67" name="Google Shape;9267;p5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268" name="Google Shape;9268;p5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69" name="Google Shape;9269;p5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0" name="Google Shape;9270;p5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1" name="Google Shape;9271;p5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2" name="Google Shape;9272;p5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3" name="Google Shape;9273;p5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4" name="Google Shape;9274;p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275" name="Google Shape;9275;p5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6" name="Google Shape;9276;p5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7" name="Google Shape;9277;p5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8" name="Google Shape;9278;p5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79" name="Google Shape;9279;p5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0" name="Google Shape;9280;p54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1" name="Google Shape;9281;p5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282" name="Google Shape;9282;p5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3" name="Google Shape;9283;p5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4" name="Google Shape;9284;p5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5" name="Google Shape;9285;p5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6" name="Google Shape;9286;p5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87" name="Google Shape;9287;p54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88" name="Google Shape;9288;p54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289" name="Google Shape;9289;p54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0" name="Google Shape;9290;p54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1" name="Google Shape;9291;p54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2" name="Google Shape;9292;p54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3" name="Google Shape;9293;p54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294" name="Google Shape;9294;p5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95" name="Google Shape;9295;p5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296" name="Google Shape;9296;p5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297" name="Google Shape;9297;p5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298" name="Google Shape;9298;p5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299" name="Google Shape;9299;p5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300" name="Google Shape;9300;p5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301" name="Google Shape;9301;p5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302" name="Google Shape;9302;p5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03" name="Google Shape;9303;p5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304" name="Google Shape;9304;p5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05" name="Google Shape;9305;p5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06" name="Google Shape;9306;p5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07" name="Google Shape;9307;p5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08" name="Google Shape;9308;p5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09" name="Google Shape;9309;p5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0" name="Google Shape;9310;p5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311" name="Google Shape;9311;p5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12" name="Google Shape;9312;p5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13" name="Google Shape;9313;p5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14" name="Google Shape;9314;p5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15" name="Google Shape;9315;p5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16" name="Google Shape;9316;p5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17" name="Google Shape;9317;p5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318" name="Google Shape;9318;p5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19" name="Google Shape;9319;p5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20" name="Google Shape;9320;p5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21" name="Google Shape;9321;p5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22" name="Google Shape;9322;p5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23" name="Google Shape;9323;p5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24" name="Google Shape;9324;p5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325" name="Google Shape;9325;p5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26" name="Google Shape;9326;p5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27" name="Google Shape;9327;p5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28" name="Google Shape;9328;p5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29" name="Google Shape;9329;p5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30" name="Google Shape;9330;p5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1" name="Google Shape;9331;p5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332" name="Google Shape;9332;p5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33" name="Google Shape;9333;p5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34" name="Google Shape;9334;p5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35" name="Google Shape;9335;p5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36" name="Google Shape;9336;p5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37" name="Google Shape;9337;p54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38" name="Google Shape;9338;p5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339" name="Google Shape;9339;p5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40" name="Google Shape;9340;p5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41" name="Google Shape;9341;p5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42" name="Google Shape;9342;p5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43" name="Google Shape;9343;p5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44" name="Google Shape;9344;p5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45" name="Google Shape;9345;p54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346" name="Google Shape;9346;p54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47" name="Google Shape;9347;p54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48" name="Google Shape;9348;p54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49" name="Google Shape;9349;p54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50" name="Google Shape;9350;p54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351" name="Google Shape;9351;p54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52" name="Google Shape;9352;p54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9353" name="Google Shape;9353;p54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354" name="Google Shape;9354;p5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355" name="Google Shape;9355;p54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356" name="Google Shape;9356;p54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357" name="Google Shape;9357;p54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358" name="Google Shape;9358;p54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359" name="Google Shape;9359;p54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360" name="Google Shape;9360;p54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361" name="Google Shape;9361;p54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362" name="Google Shape;9362;p54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363" name="Google Shape;9363;p54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364" name="Google Shape;9364;p5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9365" name="Google Shape;9365;p54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9366" name="Google Shape;9366;p54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9367" name="Google Shape;9367;p54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9368" name="Google Shape;9368;p54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369" name="Google Shape;9369;p54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70" name="Google Shape;9370;p54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71" name="Google Shape;9371;p54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72" name="Google Shape;9372;p54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3" name="Google Shape;9373;p54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4" name="Google Shape;9374;p5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5" name="Google Shape;9375;p54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376" name="Google Shape;9376;p54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77" name="Google Shape;9377;p54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78" name="Google Shape;9378;p54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379" name="Google Shape;9379;p54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380" name="Google Shape;9380;p54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381" name="Google Shape;9381;p54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382" name="Google Shape;9382;p54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383" name="Google Shape;9383;p54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384" name="Google Shape;9384;p5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5" name="Google Shape;9385;p54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6" name="Google Shape;9386;p54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7" name="Google Shape;9387;p54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8" name="Google Shape;9388;p54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89" name="Google Shape;9389;p54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0" name="Google Shape;9390;p54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9391" name="Google Shape;9391;p54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2" name="Google Shape;9392;p54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3" name="Google Shape;9393;p54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4" name="Google Shape;9394;p5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5" name="Google Shape;9395;p54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6" name="Google Shape;9396;p54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9397" name="Google Shape;9397;p54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398" name="Google Shape;9398;p54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99" name="Google Shape;9399;p54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400" name="Google Shape;9400;p54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401" name="Google Shape;9401;p54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quotes generated - active in pipeline</a:t>
            </a:r>
            <a:endParaRPr/>
          </a:p>
        </p:txBody>
      </p:sp>
      <p:sp>
        <p:nvSpPr>
          <p:cNvPr id="9402" name="Google Shape;9402;p5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3" name="Google Shape;9403;p54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404" name="Google Shape;9404;p5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405" name="Google Shape;9405;p54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2 submissions</a:t>
            </a:r>
            <a:endParaRPr/>
          </a:p>
        </p:txBody>
      </p:sp>
      <p:sp>
        <p:nvSpPr>
          <p:cNvPr id="9406" name="Google Shape;9406;p54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7" name="Google Shape;9407;p54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408" name="Google Shape;9408;p54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409" name="Google Shape;9409;p54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9410" name="Google Shape;9410;p5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411" name="Google Shape;9411;p54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15" name="Shape 9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16" name="Google Shape;9416;p5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17" name="Google Shape;9417;p5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Penn Summit Insurance Agency LLC</a:t>
            </a:r>
            <a:endParaRPr/>
          </a:p>
        </p:txBody>
      </p:sp>
      <p:sp>
        <p:nvSpPr>
          <p:cNvPr id="9418" name="Google Shape;9418;p5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Chalk Hill</a:t>
            </a:r>
            <a:endParaRPr/>
          </a:p>
        </p:txBody>
      </p:sp>
      <p:sp>
        <p:nvSpPr>
          <p:cNvPr id="9419" name="Google Shape;9419;p5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420" name="Google Shape;9420;p5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421" name="Google Shape;9421;p5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422" name="Google Shape;9422;p5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423" name="Google Shape;9423;p5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424" name="Google Shape;9424;p5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$26,155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425" name="Google Shape;9425;p5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426" name="Google Shape;9426;p5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427" name="Google Shape;9427;p5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428" name="Google Shape;9428;p5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429" name="Google Shape;9429;p5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430" name="Google Shape;9430;p5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431" name="Google Shape;9431;p5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432" name="Google Shape;9432;p5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33" name="Google Shape;9433;p5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434" name="Google Shape;9434;p5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435" name="Google Shape;9435;p5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436" name="Google Shape;9436;p5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437" name="Google Shape;9437;p5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438" name="Google Shape;9438;p5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439" name="Google Shape;9439;p5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440" name="Google Shape;9440;p5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1" name="Google Shape;9441;p5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442" name="Google Shape;9442;p5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3" name="Google Shape;9443;p5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4" name="Google Shape;9444;p5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5" name="Google Shape;9445;p5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6" name="Google Shape;9446;p5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47" name="Google Shape;9447;p5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48" name="Google Shape;9448;p5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449" name="Google Shape;9449;p5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0" name="Google Shape;9450;p5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1" name="Google Shape;9451;p5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2" name="Google Shape;9452;p5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3" name="Google Shape;9453;p5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4" name="Google Shape;9454;p5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55" name="Google Shape;9455;p5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456" name="Google Shape;9456;p5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7" name="Google Shape;9457;p5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8" name="Google Shape;9458;p5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59" name="Google Shape;9459;p5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60" name="Google Shape;9460;p5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61" name="Google Shape;9461;p5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2" name="Google Shape;9462;p5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463" name="Google Shape;9463;p5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64" name="Google Shape;9464;p5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65" name="Google Shape;9465;p5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66" name="Google Shape;9466;p5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67" name="Google Shape;9467;p5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68" name="Google Shape;9468;p5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69" name="Google Shape;9469;p5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470" name="Google Shape;9470;p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1" name="Google Shape;9471;p5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2" name="Google Shape;9472;p5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3" name="Google Shape;9473;p5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4" name="Google Shape;9474;p5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5" name="Google Shape;9475;p55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76" name="Google Shape;9476;p5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477" name="Google Shape;9477;p5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8" name="Google Shape;9478;p5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79" name="Google Shape;9479;p5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0" name="Google Shape;9480;p5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1" name="Google Shape;9481;p5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2" name="Google Shape;9482;p55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83" name="Google Shape;9483;p55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484" name="Google Shape;9484;p55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5" name="Google Shape;9485;p55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6" name="Google Shape;9486;p55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7" name="Google Shape;9487;p55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8" name="Google Shape;9488;p55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489" name="Google Shape;9489;p5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0" name="Google Shape;9490;p5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491" name="Google Shape;9491;p5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492" name="Google Shape;9492;p5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493" name="Google Shape;9493;p5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494" name="Google Shape;9494;p5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495" name="Google Shape;9495;p5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496" name="Google Shape;9496;p5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497" name="Google Shape;9497;p5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98" name="Google Shape;9498;p5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499" name="Google Shape;9499;p5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00" name="Google Shape;9500;p5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01" name="Google Shape;9501;p5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02" name="Google Shape;9502;p5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03" name="Google Shape;9503;p5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04" name="Google Shape;9504;p5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05" name="Google Shape;9505;p5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506" name="Google Shape;9506;p5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07" name="Google Shape;9507;p5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08" name="Google Shape;9508;p5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09" name="Google Shape;9509;p5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10" name="Google Shape;9510;p5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11" name="Google Shape;9511;p5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2" name="Google Shape;9512;p5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513" name="Google Shape;9513;p5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14" name="Google Shape;9514;p5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15" name="Google Shape;9515;p5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16" name="Google Shape;9516;p5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17" name="Google Shape;9517;p5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18" name="Google Shape;9518;p5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19" name="Google Shape;9519;p5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520" name="Google Shape;9520;p5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21" name="Google Shape;9521;p5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22" name="Google Shape;9522;p5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23" name="Google Shape;9523;p5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24" name="Google Shape;9524;p5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25" name="Google Shape;9525;p5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26" name="Google Shape;9526;p5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527" name="Google Shape;9527;p5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28" name="Google Shape;9528;p5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29" name="Google Shape;9529;p5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0" name="Google Shape;9530;p5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1" name="Google Shape;9531;p5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32" name="Google Shape;9532;p55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3" name="Google Shape;9533;p5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534" name="Google Shape;9534;p5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5" name="Google Shape;9535;p5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6" name="Google Shape;9536;p5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7" name="Google Shape;9537;p5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38" name="Google Shape;9538;p5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39" name="Google Shape;9539;p55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0" name="Google Shape;9540;p55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541" name="Google Shape;9541;p55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542" name="Google Shape;9542;p55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43" name="Google Shape;9543;p55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544" name="Google Shape;9544;p55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45" name="Google Shape;9545;p55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46" name="Google Shape;9546;p55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47" name="Google Shape;9547;p55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9548" name="Google Shape;9548;p55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549" name="Google Shape;9549;p55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550" name="Google Shape;9550;p55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551" name="Google Shape;9551;p55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552" name="Google Shape;9552;p55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553" name="Google Shape;9553;p55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554" name="Google Shape;9554;p55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555" name="Google Shape;9555;p55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556" name="Google Shape;9556;p55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557" name="Google Shape;9557;p55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558" name="Google Shape;9558;p55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559" name="Google Shape;9559;p55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9560" name="Google Shape;9560;p55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9561" name="Google Shape;9561;p55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9562" name="Google Shape;9562;p55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9563" name="Google Shape;9563;p55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564" name="Google Shape;9564;p55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9565" name="Google Shape;9565;p55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66" name="Google Shape;9566;p55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67" name="Google Shape;9567;p55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68" name="Google Shape;9568;p55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569" name="Google Shape;9569;p55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570" name="Google Shape;9570;p55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1" name="Google Shape;9571;p55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2" name="Google Shape;9572;p55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3" name="Google Shape;9573;p55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4" name="Google Shape;9574;p55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575" name="Google Shape;9575;p55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76" name="Google Shape;9576;p55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577" name="Google Shape;9577;p55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578" name="Google Shape;9578;p55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579" name="Google Shape;9579;p55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9580" name="Google Shape;9580;p55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1" name="Google Shape;9581;p55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$-458</a:t>
            </a:r>
            <a:endParaRPr/>
          </a:p>
        </p:txBody>
      </p:sp>
      <p:sp>
        <p:nvSpPr>
          <p:cNvPr id="9582" name="Google Shape;9582;p55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3" name="Google Shape;9583;p55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4" name="Google Shape;9584;p55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5" name="Google Shape;9585;p55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6" name="Google Shape;9586;p55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7" name="Google Shape;9587;p55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8" name="Google Shape;9588;p55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89" name="Google Shape;9589;p55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90" name="Google Shape;9590;p55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91" name="Google Shape;9591;p55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9592" name="Google Shape;9592;p55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593" name="Google Shape;9593;p55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4" name="Google Shape;9594;p55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595" name="Google Shape;9595;p55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596" name="Google Shape;9596;p55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 quotes generated - active in pipeline</a:t>
            </a:r>
            <a:endParaRPr/>
          </a:p>
        </p:txBody>
      </p:sp>
      <p:sp>
        <p:nvSpPr>
          <p:cNvPr id="9597" name="Google Shape;9597;p55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98" name="Google Shape;9598;p55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599" name="Google Shape;9599;p55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00" name="Google Shape;9600;p55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5 submissions</a:t>
            </a:r>
            <a:endParaRPr/>
          </a:p>
        </p:txBody>
      </p:sp>
      <p:sp>
        <p:nvSpPr>
          <p:cNvPr id="9601" name="Google Shape;9601;p55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602" name="Google Shape;9602;p55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submissions with zero binds - zero conversion</a:t>
            </a:r>
            <a:endParaRPr/>
          </a:p>
        </p:txBody>
      </p:sp>
      <p:sp>
        <p:nvSpPr>
          <p:cNvPr id="9603" name="Google Shape;9603;p55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04" name="Google Shape;9604;p55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605" name="Google Shape;9605;p55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606" name="Google Shape;9606;p55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610" name="Shape 9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11" name="Google Shape;9611;p5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12" name="Google Shape;9612;p5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 Rose Insurance Llc</a:t>
            </a:r>
            <a:endParaRPr/>
          </a:p>
        </p:txBody>
      </p:sp>
      <p:sp>
        <p:nvSpPr>
          <p:cNvPr id="9613" name="Google Shape;9613;p5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Lancaster</a:t>
            </a:r>
            <a:endParaRPr/>
          </a:p>
        </p:txBody>
      </p:sp>
      <p:sp>
        <p:nvSpPr>
          <p:cNvPr id="9614" name="Google Shape;9614;p5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615" name="Google Shape;9615;p5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16" name="Google Shape;9616;p5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17" name="Google Shape;9617;p5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18" name="Google Shape;9618;p5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19" name="Google Shape;9619;p5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$32,003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620" name="Google Shape;9620;p5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$31,121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621" name="Google Shape;9621;p5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622" name="Google Shape;9622;p5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623" name="Google Shape;9623;p5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624" name="Google Shape;9624;p5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625" name="Google Shape;9625;p5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626" name="Google Shape;9626;p5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627" name="Google Shape;9627;p5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28" name="Google Shape;9628;p5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629" name="Google Shape;9629;p5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630" name="Google Shape;9630;p5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631" name="Google Shape;9631;p5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632" name="Google Shape;9632;p5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633" name="Google Shape;9633;p5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634" name="Google Shape;9634;p5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635" name="Google Shape;9635;p5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36" name="Google Shape;9636;p5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637" name="Google Shape;9637;p5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38" name="Google Shape;9638;p5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39" name="Google Shape;9639;p5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0" name="Google Shape;9640;p5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1" name="Google Shape;9641;p5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2" name="Google Shape;9642;p5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43" name="Google Shape;9643;p5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644" name="Google Shape;9644;p5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5" name="Google Shape;9645;p5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6" name="Google Shape;9646;p5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7" name="Google Shape;9647;p5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8" name="Google Shape;9648;p5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49" name="Google Shape;9649;p5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0" name="Google Shape;9650;p5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651" name="Google Shape;9651;p5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2" name="Google Shape;9652;p5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3" name="Google Shape;9653;p5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4" name="Google Shape;9654;p5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5" name="Google Shape;9655;p5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6" name="Google Shape;9656;p5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57" name="Google Shape;9657;p5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658" name="Google Shape;9658;p5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59" name="Google Shape;9659;p5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0" name="Google Shape;9660;p5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1" name="Google Shape;9661;p5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2" name="Google Shape;9662;p5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3" name="Google Shape;9663;p5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4" name="Google Shape;9664;p5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665" name="Google Shape;9665;p5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6" name="Google Shape;9666;p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7" name="Google Shape;9667;p5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8" name="Google Shape;9668;p5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69" name="Google Shape;9669;p5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0" name="Google Shape;9670;p56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1" name="Google Shape;9671;p5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672" name="Google Shape;9672;p5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3" name="Google Shape;9673;p5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4" name="Google Shape;9674;p5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5" name="Google Shape;9675;p5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6" name="Google Shape;9676;p5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77" name="Google Shape;9677;p56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78" name="Google Shape;9678;p56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679" name="Google Shape;9679;p56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0" name="Google Shape;9680;p56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1" name="Google Shape;9681;p56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2" name="Google Shape;9682;p56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3" name="Google Shape;9683;p56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684" name="Google Shape;9684;p5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85" name="Google Shape;9685;p5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686" name="Google Shape;9686;p5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687" name="Google Shape;9687;p5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688" name="Google Shape;9688;p5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689" name="Google Shape;9689;p5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690" name="Google Shape;9690;p5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691" name="Google Shape;9691;p5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692" name="Google Shape;9692;p5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93" name="Google Shape;9693;p5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694" name="Google Shape;9694;p5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695" name="Google Shape;9695;p5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696" name="Google Shape;9696;p5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697" name="Google Shape;9697;p5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698" name="Google Shape;9698;p5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699" name="Google Shape;9699;p5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0" name="Google Shape;9700;p5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701" name="Google Shape;9701;p5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702" name="Google Shape;9702;p5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03" name="Google Shape;9703;p5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704" name="Google Shape;9704;p5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05" name="Google Shape;9705;p5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06" name="Google Shape;9706;p5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07" name="Google Shape;9707;p5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708" name="Google Shape;9708;p5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709" name="Google Shape;9709;p5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0" name="Google Shape;9710;p5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711" name="Google Shape;9711;p5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2" name="Google Shape;9712;p5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13" name="Google Shape;9713;p5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14" name="Google Shape;9714;p5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715" name="Google Shape;9715;p5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716" name="Google Shape;9716;p5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7" name="Google Shape;9717;p5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718" name="Google Shape;9718;p5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19" name="Google Shape;9719;p5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20" name="Google Shape;9720;p5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1" name="Google Shape;9721;p5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722" name="Google Shape;9722;p5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723" name="Google Shape;9723;p5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24" name="Google Shape;9724;p5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25" name="Google Shape;9725;p5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26" name="Google Shape;9726;p5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27" name="Google Shape;9727;p56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28" name="Google Shape;9728;p5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729" name="Google Shape;9729;p5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0" name="Google Shape;9730;p5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1" name="Google Shape;9731;p5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2" name="Google Shape;9732;p5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33" name="Google Shape;9733;p5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34" name="Google Shape;9734;p56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35" name="Google Shape;9735;p56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736" name="Google Shape;9736;p56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9737" name="Google Shape;9737;p56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738" name="Google Shape;9738;p56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9739" name="Google Shape;9739;p56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40" name="Google Shape;9740;p56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741" name="Google Shape;9741;p56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42" name="Google Shape;9742;p56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9743" name="Google Shape;9743;p56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744" name="Google Shape;9744;p56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745" name="Google Shape;9745;p56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746" name="Google Shape;9746;p56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747" name="Google Shape;9747;p56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748" name="Google Shape;9748;p56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749" name="Google Shape;9749;p56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750" name="Google Shape;9750;p56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751" name="Google Shape;9751;p56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752" name="Google Shape;9752;p56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753" name="Google Shape;9753;p56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754" name="Google Shape;9754;p56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9755" name="Google Shape;9755;p56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9756" name="Google Shape;9756;p56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9757" name="Google Shape;9757;p56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9758" name="Google Shape;9758;p56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759" name="Google Shape;9759;p56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9760" name="Google Shape;9760;p56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9761" name="Google Shape;9761;p56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9762" name="Google Shape;9762;p56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763" name="Google Shape;9763;p56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64" name="Google Shape;9764;p56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765" name="Google Shape;9765;p56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766" name="Google Shape;9766;p56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9767" name="Google Shape;9767;p56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768" name="Google Shape;9768;p56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769" name="Google Shape;9769;p56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770" name="Google Shape;9770;p56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771" name="Google Shape;9771;p56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772" name="Google Shape;9772;p56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9773" name="Google Shape;9773;p56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774" name="Google Shape;9774;p56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75" name="Google Shape;9775;p56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76" name="Google Shape;9776;p56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77" name="Google Shape;9777;p56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78" name="Google Shape;9778;p56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79" name="Google Shape;9779;p56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0" name="Google Shape;9780;p56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$882</a:t>
            </a:r>
            <a:endParaRPr/>
          </a:p>
        </p:txBody>
      </p:sp>
      <p:sp>
        <p:nvSpPr>
          <p:cNvPr id="9781" name="Google Shape;9781;p56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2" name="Google Shape;9782;p56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3" name="Google Shape;9783;p56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4" name="Google Shape;9784;p56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5" name="Google Shape;9785;p56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6" name="Google Shape;9786;p56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$882</a:t>
            </a:r>
            <a:endParaRPr/>
          </a:p>
        </p:txBody>
      </p:sp>
      <p:sp>
        <p:nvSpPr>
          <p:cNvPr id="9787" name="Google Shape;9787;p56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788" name="Google Shape;9788;p56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89" name="Google Shape;9789;p56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790" name="Google Shape;9790;p56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791" name="Google Shape;9791;p56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 submissions - highly active agency</a:t>
            </a:r>
            <a:endParaRPr/>
          </a:p>
        </p:txBody>
      </p:sp>
      <p:sp>
        <p:nvSpPr>
          <p:cNvPr id="9792" name="Google Shape;9792;p56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793" name="Google Shape;9793;p56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 quotes generated - active in pipeline</a:t>
            </a:r>
            <a:endParaRPr/>
          </a:p>
        </p:txBody>
      </p:sp>
      <p:sp>
        <p:nvSpPr>
          <p:cNvPr id="9794" name="Google Shape;9794;p56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5" name="Google Shape;9795;p56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796" name="Google Shape;9796;p56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797" name="Google Shape;9797;p56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39 submissions</a:t>
            </a:r>
            <a:endParaRPr/>
          </a:p>
        </p:txBody>
      </p:sp>
      <p:sp>
        <p:nvSpPr>
          <p:cNvPr id="9798" name="Google Shape;9798;p56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799" name="Google Shape;9799;p56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 submissions with zero binds - zero conversion</a:t>
            </a:r>
            <a:endParaRPr/>
          </a:p>
        </p:txBody>
      </p:sp>
      <p:sp>
        <p:nvSpPr>
          <p:cNvPr id="9800" name="Google Shape;9800;p56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01" name="Google Shape;9801;p56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802" name="Google Shape;9802;p56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9803" name="Google Shape;9803;p56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9804" name="Google Shape;9804;p56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9805" name="Google Shape;9805;p56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29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809" name="Shape 9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0" name="Google Shape;9810;p5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11" name="Google Shape;9811;p5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Redden-wood &amp; Associates, Inc.</a:t>
            </a:r>
            <a:endParaRPr/>
          </a:p>
        </p:txBody>
      </p:sp>
      <p:sp>
        <p:nvSpPr>
          <p:cNvPr id="9812" name="Google Shape;9812;p5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WV  |  City: Mount Hope</a:t>
            </a:r>
            <a:endParaRPr/>
          </a:p>
        </p:txBody>
      </p:sp>
      <p:sp>
        <p:nvSpPr>
          <p:cNvPr id="9813" name="Google Shape;9813;p5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814" name="Google Shape;9814;p5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15" name="Google Shape;9815;p5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16" name="Google Shape;9816;p5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817" name="Google Shape;9817;p5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818" name="Google Shape;9818;p5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$43,004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9819" name="Google Shape;9819;p5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$43,004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9820" name="Google Shape;9820;p5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9821" name="Google Shape;9821;p5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822" name="Google Shape;9822;p5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823" name="Google Shape;9823;p5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824" name="Google Shape;9824;p5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9825" name="Google Shape;9825;p5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9826" name="Google Shape;9826;p5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27" name="Google Shape;9827;p5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9828" name="Google Shape;9828;p5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829" name="Google Shape;9829;p5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9830" name="Google Shape;9830;p5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31" name="Google Shape;9831;p5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832" name="Google Shape;9832;p5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9833" name="Google Shape;9833;p5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9834" name="Google Shape;9834;p5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35" name="Google Shape;9835;p5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836" name="Google Shape;9836;p5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37" name="Google Shape;9837;p5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38" name="Google Shape;9838;p5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39" name="Google Shape;9839;p5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0" name="Google Shape;9840;p5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1" name="Google Shape;9841;p5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2" name="Google Shape;9842;p5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843" name="Google Shape;9843;p5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4" name="Google Shape;9844;p5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5" name="Google Shape;9845;p5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6" name="Google Shape;9846;p5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7" name="Google Shape;9847;p5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48" name="Google Shape;9848;p5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49" name="Google Shape;9849;p5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850" name="Google Shape;9850;p5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1" name="Google Shape;9851;p5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2" name="Google Shape;9852;p5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3" name="Google Shape;9853;p5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4" name="Google Shape;9854;p5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5" name="Google Shape;9855;p5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56" name="Google Shape;9856;p5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857" name="Google Shape;9857;p5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8" name="Google Shape;9858;p5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59" name="Google Shape;9859;p5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0" name="Google Shape;9860;p5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1" name="Google Shape;9861;p5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2" name="Google Shape;9862;p5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63" name="Google Shape;9863;p5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864" name="Google Shape;9864;p5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5" name="Google Shape;9865;p5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6" name="Google Shape;9866;p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7" name="Google Shape;9867;p5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8" name="Google Shape;9868;p5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69" name="Google Shape;9869;p57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0" name="Google Shape;9870;p5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871" name="Google Shape;9871;p5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2" name="Google Shape;9872;p5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3" name="Google Shape;9873;p5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4" name="Google Shape;9874;p5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5" name="Google Shape;9875;p5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6" name="Google Shape;9876;p57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77" name="Google Shape;9877;p57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878" name="Google Shape;9878;p57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79" name="Google Shape;9879;p57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0" name="Google Shape;9880;p57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1" name="Google Shape;9881;p57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2" name="Google Shape;9882;p57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883" name="Google Shape;9883;p5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84" name="Google Shape;9884;p5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9885" name="Google Shape;9885;p5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9886" name="Google Shape;9886;p5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887" name="Google Shape;9887;p5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9888" name="Google Shape;9888;p5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9889" name="Google Shape;9889;p5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890" name="Google Shape;9890;p5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9891" name="Google Shape;9891;p5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2" name="Google Shape;9892;p5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9893" name="Google Shape;9893;p5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94" name="Google Shape;9894;p5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95" name="Google Shape;9895;p5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896" name="Google Shape;9896;p5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897" name="Google Shape;9897;p5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898" name="Google Shape;9898;p5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99" name="Google Shape;9899;p5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9900" name="Google Shape;9900;p5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01" name="Google Shape;9901;p5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02" name="Google Shape;9902;p5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03" name="Google Shape;9903;p5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04" name="Google Shape;9904;p5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05" name="Google Shape;9905;p5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06" name="Google Shape;9906;p5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9907" name="Google Shape;9907;p5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08" name="Google Shape;9908;p5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09" name="Google Shape;9909;p5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0" name="Google Shape;9910;p5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1" name="Google Shape;9911;p5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12" name="Google Shape;9912;p5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13" name="Google Shape;9913;p5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9914" name="Google Shape;9914;p5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5" name="Google Shape;9915;p5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6" name="Google Shape;9916;p5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7" name="Google Shape;9917;p5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18" name="Google Shape;9918;p5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19" name="Google Shape;9919;p5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0" name="Google Shape;9920;p5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9921" name="Google Shape;9921;p5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2" name="Google Shape;9922;p5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3" name="Google Shape;9923;p5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4" name="Google Shape;9924;p5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5" name="Google Shape;9925;p5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26" name="Google Shape;9926;p57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7" name="Google Shape;9927;p5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9928" name="Google Shape;9928;p5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29" name="Google Shape;9929;p5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30" name="Google Shape;9930;p5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31" name="Google Shape;9931;p5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32" name="Google Shape;9932;p5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33" name="Google Shape;9933;p57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34" name="Google Shape;9934;p57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9935" name="Google Shape;9935;p57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36" name="Google Shape;9936;p57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37" name="Google Shape;9937;p57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38" name="Google Shape;9938;p57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39" name="Google Shape;9939;p57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940" name="Google Shape;9940;p57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41" name="Google Shape;9941;p57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9942" name="Google Shape;9942;p57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9943" name="Google Shape;9943;p57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9944" name="Google Shape;9944;p57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9945" name="Google Shape;9945;p57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9946" name="Google Shape;9946;p57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9947" name="Google Shape;9947;p57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9948" name="Google Shape;9948;p57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9949" name="Google Shape;9949;p57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9950" name="Google Shape;9950;p57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9951" name="Google Shape;9951;p57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9952" name="Google Shape;9952;p57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9953" name="Google Shape;9953;p57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9954" name="Google Shape;9954;p57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9955" name="Google Shape;9955;p57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9956" name="Google Shape;9956;p57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9957" name="Google Shape;9957;p57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9958" name="Google Shape;9958;p57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9959" name="Google Shape;9959;p57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9960" name="Google Shape;9960;p57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9961" name="Google Shape;9961;p57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9962" name="Google Shape;9962;p57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9963" name="Google Shape;9963;p57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64" name="Google Shape;9964;p57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9965" name="Google Shape;9965;p57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66" name="Google Shape;9966;p57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9967" name="Google Shape;9967;p57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68" name="Google Shape;9968;p57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9969" name="Google Shape;9969;p57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970" name="Google Shape;9970;p57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9971" name="Google Shape;9971;p57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72" name="Google Shape;9972;p57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9973" name="Google Shape;9973;p57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4" name="Google Shape;9974;p57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5" name="Google Shape;9975;p57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6" name="Google Shape;9976;p57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7" name="Google Shape;9977;p57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8" name="Google Shape;9978;p57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79" name="Google Shape;9979;p57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0" name="Google Shape;9980;p57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1" name="Google Shape;9981;p57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2" name="Google Shape;9982;p57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3" name="Google Shape;9983;p57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4" name="Google Shape;9984;p57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5" name="Google Shape;9985;p57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6" name="Google Shape;9986;p57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9987" name="Google Shape;9987;p57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8" name="Google Shape;9988;p57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9989" name="Google Shape;9989;p57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9990" name="Google Shape;9990;p57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9991" name="Google Shape;9991;p57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2" name="Google Shape;9992;p57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9993" name="Google Shape;9993;p57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994" name="Google Shape;9994;p57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5 submissions</a:t>
            </a:r>
            <a:endParaRPr/>
          </a:p>
        </p:txBody>
      </p:sp>
      <p:sp>
        <p:nvSpPr>
          <p:cNvPr id="9995" name="Google Shape;9995;p57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9996" name="Google Shape;9996;p57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submissions with zero binds - zero conversion</a:t>
            </a:r>
            <a:endParaRPr/>
          </a:p>
        </p:txBody>
      </p:sp>
      <p:sp>
        <p:nvSpPr>
          <p:cNvPr id="9997" name="Google Shape;9997;p57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98" name="Google Shape;9998;p57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9999" name="Google Shape;9999;p57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000" name="Google Shape;10000;p57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004" name="Shape 100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5" name="Google Shape;10005;p5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06" name="Google Shape;10006;p5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Seubert &amp; Associates Inc</a:t>
            </a:r>
            <a:endParaRPr/>
          </a:p>
        </p:txBody>
      </p:sp>
      <p:sp>
        <p:nvSpPr>
          <p:cNvPr id="10007" name="Google Shape;10007;p5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Pittsburgh</a:t>
            </a:r>
            <a:endParaRPr/>
          </a:p>
        </p:txBody>
      </p:sp>
      <p:sp>
        <p:nvSpPr>
          <p:cNvPr id="10008" name="Google Shape;10008;p5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009" name="Google Shape;10009;p5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010" name="Google Shape;10010;p5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011" name="Google Shape;10011;p5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12" name="Google Shape;10012;p5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013" name="Google Shape;10013;p5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014" name="Google Shape;10014;p5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015" name="Google Shape;10015;p5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016" name="Google Shape;10016;p5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017" name="Google Shape;10017;p5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018" name="Google Shape;10018;p5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019" name="Google Shape;10019;p5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020" name="Google Shape;10020;p5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021" name="Google Shape;10021;p5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22" name="Google Shape;10022;p5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023" name="Google Shape;10023;p5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024" name="Google Shape;10024;p5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025" name="Google Shape;10025;p5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026" name="Google Shape;10026;p5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027" name="Google Shape;10027;p5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28" name="Google Shape;10028;p5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029" name="Google Shape;10029;p5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0" name="Google Shape;10030;p5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031" name="Google Shape;10031;p5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2" name="Google Shape;10032;p5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3" name="Google Shape;10033;p5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4" name="Google Shape;10034;p5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5" name="Google Shape;10035;p5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6" name="Google Shape;10036;p5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37" name="Google Shape;10037;p5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038" name="Google Shape;10038;p5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39" name="Google Shape;10039;p5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0" name="Google Shape;10040;p5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1" name="Google Shape;10041;p5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2" name="Google Shape;10042;p5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3" name="Google Shape;10043;p5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44" name="Google Shape;10044;p5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045" name="Google Shape;10045;p5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6" name="Google Shape;10046;p5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7" name="Google Shape;10047;p5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8" name="Google Shape;10048;p5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49" name="Google Shape;10049;p5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0" name="Google Shape;10050;p5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1" name="Google Shape;10051;p5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052" name="Google Shape;10052;p5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3" name="Google Shape;10053;p5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4" name="Google Shape;10054;p5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5" name="Google Shape;10055;p5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6" name="Google Shape;10056;p5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57" name="Google Shape;10057;p5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8" name="Google Shape;10058;p5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059" name="Google Shape;10059;p5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0" name="Google Shape;10060;p5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1" name="Google Shape;10061;p5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2" name="Google Shape;10062;p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3" name="Google Shape;10063;p5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4" name="Google Shape;10064;p58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65" name="Google Shape;10065;p5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066" name="Google Shape;10066;p5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7" name="Google Shape;10067;p5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8" name="Google Shape;10068;p5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69" name="Google Shape;10069;p5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0" name="Google Shape;10070;p5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1" name="Google Shape;10071;p58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2" name="Google Shape;10072;p58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073" name="Google Shape;10073;p58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4" name="Google Shape;10074;p58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5" name="Google Shape;10075;p58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6" name="Google Shape;10076;p58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7" name="Google Shape;10077;p58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078" name="Google Shape;10078;p5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79" name="Google Shape;10079;p5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080" name="Google Shape;10080;p5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081" name="Google Shape;10081;p5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082" name="Google Shape;10082;p5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083" name="Google Shape;10083;p5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084" name="Google Shape;10084;p5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085" name="Google Shape;10085;p5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086" name="Google Shape;10086;p5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87" name="Google Shape;10087;p5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088" name="Google Shape;10088;p5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89" name="Google Shape;10089;p5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90" name="Google Shape;10090;p5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91" name="Google Shape;10091;p5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92" name="Google Shape;10092;p5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093" name="Google Shape;10093;p5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94" name="Google Shape;10094;p5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095" name="Google Shape;10095;p5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096" name="Google Shape;10096;p5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097" name="Google Shape;10097;p5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098" name="Google Shape;10098;p5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099" name="Google Shape;10099;p5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00" name="Google Shape;10100;p5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1" name="Google Shape;10101;p5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102" name="Google Shape;10102;p5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103" name="Google Shape;10103;p5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04" name="Google Shape;10104;p5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05" name="Google Shape;10105;p5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06" name="Google Shape;10106;p5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07" name="Google Shape;10107;p5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08" name="Google Shape;10108;p5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109" name="Google Shape;10109;p5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110" name="Google Shape;10110;p5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111" name="Google Shape;10111;p5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12" name="Google Shape;10112;p5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13" name="Google Shape;10113;p5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14" name="Google Shape;10114;p5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15" name="Google Shape;10115;p5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116" name="Google Shape;10116;p5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117" name="Google Shape;10117;p5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18" name="Google Shape;10118;p5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119" name="Google Shape;10119;p5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20" name="Google Shape;10120;p5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21" name="Google Shape;10121;p58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2" name="Google Shape;10122;p5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123" name="Google Shape;10123;p5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24" name="Google Shape;10124;p5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25" name="Google Shape;10125;p5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26" name="Google Shape;10126;p5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27" name="Google Shape;10127;p5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28" name="Google Shape;10128;p58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29" name="Google Shape;10129;p58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130" name="Google Shape;10130;p58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0131" name="Google Shape;10131;p58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132" name="Google Shape;10132;p58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133" name="Google Shape;10133;p58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34" name="Google Shape;10134;p58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135" name="Google Shape;10135;p58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36" name="Google Shape;10136;p58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0137" name="Google Shape;10137;p58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138" name="Google Shape;10138;p58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139" name="Google Shape;10139;p58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140" name="Google Shape;10140;p58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141" name="Google Shape;10141;p58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142" name="Google Shape;10142;p58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143" name="Google Shape;10143;p58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144" name="Google Shape;10144;p58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145" name="Google Shape;10145;p58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146" name="Google Shape;10146;p58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147" name="Google Shape;10147;p58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148" name="Google Shape;10148;p58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10149" name="Google Shape;10149;p58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10150" name="Google Shape;10150;p58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10151" name="Google Shape;10151;p58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10152" name="Google Shape;10152;p58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153" name="Google Shape;10153;p58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54" name="Google Shape;10154;p58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55" name="Google Shape;10155;p58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56" name="Google Shape;10156;p58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157" name="Google Shape;10157;p58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58" name="Google Shape;10158;p58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159" name="Google Shape;10159;p58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60" name="Google Shape;10160;p58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161" name="Google Shape;10161;p58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62" name="Google Shape;10162;p58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163" name="Google Shape;10163;p58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64" name="Google Shape;10164;p58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65" name="Google Shape;10165;p58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166" name="Google Shape;10166;p58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0167" name="Google Shape;10167;p58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168" name="Google Shape;10168;p58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69" name="Google Shape;10169;p58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0" name="Google Shape;10170;p58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1" name="Google Shape;10171;p58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2" name="Google Shape;10172;p58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3" name="Google Shape;10173;p58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4" name="Google Shape;10174;p58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5" name="Google Shape;10175;p58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6" name="Google Shape;10176;p58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7" name="Google Shape;10177;p58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8" name="Google Shape;10178;p58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79" name="Google Shape;10179;p58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0" name="Google Shape;10180;p58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1" name="Google Shape;10181;p58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182" name="Google Shape;10182;p58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3" name="Google Shape;10183;p58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184" name="Google Shape;10184;p58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185" name="Google Shape;10185;p58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 quotes generated - active in pipeline</a:t>
            </a:r>
            <a:endParaRPr/>
          </a:p>
        </p:txBody>
      </p:sp>
      <p:sp>
        <p:nvSpPr>
          <p:cNvPr id="10186" name="Google Shape;10186;p58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7" name="Google Shape;10187;p58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188" name="Google Shape;10188;p58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189" name="Google Shape;10189;p58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17 submissions</a:t>
            </a:r>
            <a:endParaRPr/>
          </a:p>
        </p:txBody>
      </p:sp>
      <p:sp>
        <p:nvSpPr>
          <p:cNvPr id="10190" name="Google Shape;10190;p58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191" name="Google Shape;10191;p58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 submissions with zero binds - zero conversion</a:t>
            </a:r>
            <a:endParaRPr/>
          </a:p>
        </p:txBody>
      </p:sp>
      <p:sp>
        <p:nvSpPr>
          <p:cNvPr id="10192" name="Google Shape;10192;p58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93" name="Google Shape;10193;p58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194" name="Google Shape;10194;p58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195" name="Google Shape;10195;p58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17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10196" name="Google Shape;10196;p58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197" name="Google Shape;10197;p58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7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201" name="Shape 10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02" name="Google Shape;10202;p5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03" name="Google Shape;10203;p5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Square Brokerage Inc</a:t>
            </a:r>
            <a:endParaRPr/>
          </a:p>
        </p:txBody>
      </p:sp>
      <p:sp>
        <p:nvSpPr>
          <p:cNvPr id="10204" name="Google Shape;10204;p5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N/A  |  Region: Northeast  |  State: N/A  |  City: Hicksville</a:t>
            </a:r>
            <a:endParaRPr/>
          </a:p>
        </p:txBody>
      </p:sp>
      <p:sp>
        <p:nvSpPr>
          <p:cNvPr id="10205" name="Google Shape;10205;p5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206" name="Google Shape;10206;p5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207" name="Google Shape;10207;p5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208" name="Google Shape;10208;p5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209" name="Google Shape;10209;p5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210" name="Google Shape;10210;p5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211" name="Google Shape;10211;p5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212" name="Google Shape;10212;p5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213" name="Google Shape;10213;p5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214" name="Google Shape;10214;p5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15" name="Google Shape;10215;p5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216" name="Google Shape;10216;p5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217" name="Google Shape;10217;p5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218" name="Google Shape;10218;p5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19" name="Google Shape;10219;p5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220" name="Google Shape;10220;p5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221" name="Google Shape;10221;p5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222" name="Google Shape;10222;p5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223" name="Google Shape;10223;p5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224" name="Google Shape;10224;p5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225" name="Google Shape;10225;p5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226" name="Google Shape;10226;p5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27" name="Google Shape;10227;p5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228" name="Google Shape;10228;p5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29" name="Google Shape;10229;p5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0" name="Google Shape;10230;p5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1" name="Google Shape;10231;p5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2" name="Google Shape;10232;p5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3" name="Google Shape;10233;p5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34" name="Google Shape;10234;p5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235" name="Google Shape;10235;p5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6" name="Google Shape;10236;p5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7" name="Google Shape;10237;p5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8" name="Google Shape;10238;p5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39" name="Google Shape;10239;p5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0" name="Google Shape;10240;p5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1" name="Google Shape;10241;p5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242" name="Google Shape;10242;p5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3" name="Google Shape;10243;p5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4" name="Google Shape;10244;p5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5" name="Google Shape;10245;p5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6" name="Google Shape;10246;p5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47" name="Google Shape;10247;p5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48" name="Google Shape;10248;p5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249" name="Google Shape;10249;p5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0" name="Google Shape;10250;p5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1" name="Google Shape;10251;p5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2" name="Google Shape;10252;p5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3" name="Google Shape;10253;p5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4" name="Google Shape;10254;p5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55" name="Google Shape;10255;p5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256" name="Google Shape;10256;p5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7" name="Google Shape;10257;p5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8" name="Google Shape;10258;p5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59" name="Google Shape;10259;p5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0" name="Google Shape;10260;p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1" name="Google Shape;10261;p59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2" name="Google Shape;10262;p5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263" name="Google Shape;10263;p5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4" name="Google Shape;10264;p5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5" name="Google Shape;10265;p5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6" name="Google Shape;10266;p5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7" name="Google Shape;10267;p5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68" name="Google Shape;10268;p59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69" name="Google Shape;10269;p59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270" name="Google Shape;10270;p59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71" name="Google Shape;10271;p59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72" name="Google Shape;10272;p59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73" name="Google Shape;10273;p59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74" name="Google Shape;10274;p59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275" name="Google Shape;10275;p5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76" name="Google Shape;10276;p5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277" name="Google Shape;10277;p5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278" name="Google Shape;10278;p5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279" name="Google Shape;10279;p5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280" name="Google Shape;10280;p5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281" name="Google Shape;10281;p5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282" name="Google Shape;10282;p5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283" name="Google Shape;10283;p5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84" name="Google Shape;10284;p5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285" name="Google Shape;10285;p5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6" name="Google Shape;10286;p5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7" name="Google Shape;10287;p5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8" name="Google Shape;10288;p5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89" name="Google Shape;10289;p5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90" name="Google Shape;10290;p5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1" name="Google Shape;10291;p5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292" name="Google Shape;10292;p5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293" name="Google Shape;10293;p5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94" name="Google Shape;10294;p5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295" name="Google Shape;10295;p5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296" name="Google Shape;10296;p5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297" name="Google Shape;10297;p5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98" name="Google Shape;10298;p5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299" name="Google Shape;10299;p5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300" name="Google Shape;10300;p5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01" name="Google Shape;10301;p5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302" name="Google Shape;10302;p5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03" name="Google Shape;10303;p5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04" name="Google Shape;10304;p5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05" name="Google Shape;10305;p5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306" name="Google Shape;10306;p5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0307" name="Google Shape;10307;p5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308" name="Google Shape;10308;p5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309" name="Google Shape;10309;p5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10" name="Google Shape;10310;p5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11" name="Google Shape;10311;p5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2" name="Google Shape;10312;p5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313" name="Google Shape;10313;p5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314" name="Google Shape;10314;p5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15" name="Google Shape;10315;p5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316" name="Google Shape;10316;p5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17" name="Google Shape;10317;p5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18" name="Google Shape;10318;p59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9" name="Google Shape;10319;p5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320" name="Google Shape;10320;p5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21" name="Google Shape;10321;p5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22" name="Google Shape;10322;p5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23" name="Google Shape;10323;p5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24" name="Google Shape;10324;p5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25" name="Google Shape;10325;p59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26" name="Google Shape;10326;p59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327" name="Google Shape;10327;p59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0328" name="Google Shape;10328;p59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329" name="Google Shape;10329;p59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10330" name="Google Shape;10330;p59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31" name="Google Shape;10331;p59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332" name="Google Shape;10332;p59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33" name="Google Shape;10333;p59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0334" name="Google Shape;10334;p59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335" name="Google Shape;10335;p59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336" name="Google Shape;10336;p59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337" name="Google Shape;10337;p59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338" name="Google Shape;10338;p59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339" name="Google Shape;10339;p59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340" name="Google Shape;10340;p59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341" name="Google Shape;10341;p59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342" name="Google Shape;10342;p59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343" name="Google Shape;10343;p59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344" name="Google Shape;10344;p59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345" name="Google Shape;10345;p59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10346" name="Google Shape;10346;p59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10347" name="Google Shape;10347;p59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10348" name="Google Shape;10348;p59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10349" name="Google Shape;10349;p59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350" name="Google Shape;10350;p59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51" name="Google Shape;10351;p59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52" name="Google Shape;10352;p59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53" name="Google Shape;10353;p59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354" name="Google Shape;10354;p59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55" name="Google Shape;10355;p59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356" name="Google Shape;10356;p59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57" name="Google Shape;10357;p59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0358" name="Google Shape;10358;p59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59" name="Google Shape;10359;p59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0360" name="Google Shape;10360;p59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61" name="Google Shape;10361;p59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62" name="Google Shape;10362;p59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363" name="Google Shape;10363;p59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10364" name="Google Shape;10364;p59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365" name="Google Shape;10365;p59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6" name="Google Shape;10366;p59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7" name="Google Shape;10367;p59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8" name="Google Shape;10368;p59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69" name="Google Shape;10369;p59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0" name="Google Shape;10370;p59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1" name="Google Shape;10371;p59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2" name="Google Shape;10372;p59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3" name="Google Shape;10373;p59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4" name="Google Shape;10374;p59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5" name="Google Shape;10375;p59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6" name="Google Shape;10376;p59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7" name="Google Shape;10377;p59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8" name="Google Shape;10378;p59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379" name="Google Shape;10379;p59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0" name="Google Shape;10380;p59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381" name="Google Shape;10381;p59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382" name="Google Shape;10382;p59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 submissions - highly active agency</a:t>
            </a:r>
            <a:endParaRPr/>
          </a:p>
        </p:txBody>
      </p:sp>
      <p:sp>
        <p:nvSpPr>
          <p:cNvPr id="10383" name="Google Shape;10383;p59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384" name="Google Shape;10384;p59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 quotes generated - active in pipeline</a:t>
            </a:r>
            <a:endParaRPr/>
          </a:p>
        </p:txBody>
      </p:sp>
      <p:sp>
        <p:nvSpPr>
          <p:cNvPr id="10385" name="Google Shape;10385;p59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86" name="Google Shape;10386;p59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387" name="Google Shape;10387;p59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388" name="Google Shape;10388;p59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34 submissions</a:t>
            </a:r>
            <a:endParaRPr/>
          </a:p>
        </p:txBody>
      </p:sp>
      <p:sp>
        <p:nvSpPr>
          <p:cNvPr id="10389" name="Google Shape;10389;p59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390" name="Google Shape;10390;p59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 submissions with zero binds - zero conversion</a:t>
            </a:r>
            <a:endParaRPr/>
          </a:p>
        </p:txBody>
      </p:sp>
      <p:sp>
        <p:nvSpPr>
          <p:cNvPr id="10391" name="Google Shape;10391;p59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2" name="Google Shape;10392;p59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393" name="Google Shape;10393;p59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394" name="Google Shape;10394;p59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34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10395" name="Google Shape;10395;p59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396" name="Google Shape;10396;p59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30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400" name="Shape 10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01" name="Google Shape;10401;p6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2" name="Google Shape;10402;p6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New Rochelle Agencies Corp</a:t>
            </a:r>
            <a:endParaRPr/>
          </a:p>
        </p:txBody>
      </p:sp>
      <p:sp>
        <p:nvSpPr>
          <p:cNvPr id="10403" name="Google Shape;10403;p6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East  |  State: New York  |  City: Larchmont</a:t>
            </a:r>
            <a:endParaRPr/>
          </a:p>
        </p:txBody>
      </p:sp>
      <p:sp>
        <p:nvSpPr>
          <p:cNvPr id="10404" name="Google Shape;10404;p6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405" name="Google Shape;10405;p6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406" name="Google Shape;10406;p6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407" name="Google Shape;10407;p6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408" name="Google Shape;10408;p6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409" name="Google Shape;10409;p6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410" name="Google Shape;10410;p6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411" name="Google Shape;10411;p6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412" name="Google Shape;10412;p6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413" name="Google Shape;10413;p6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414" name="Google Shape;10414;p6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15" name="Google Shape;10415;p6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416" name="Google Shape;10416;p6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417" name="Google Shape;10417;p6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18" name="Google Shape;10418;p6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419" name="Google Shape;10419;p6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420" name="Google Shape;10420;p6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421" name="Google Shape;10421;p6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422" name="Google Shape;10422;p6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423" name="Google Shape;10423;p6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424" name="Google Shape;10424;p6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425" name="Google Shape;10425;p6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26" name="Google Shape;10426;p6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427" name="Google Shape;10427;p6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8" name="Google Shape;10428;p6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29" name="Google Shape;10429;p6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0" name="Google Shape;10430;p6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1" name="Google Shape;10431;p6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2" name="Google Shape;10432;p6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33" name="Google Shape;10433;p6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434" name="Google Shape;10434;p6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5" name="Google Shape;10435;p6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6" name="Google Shape;10436;p6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7" name="Google Shape;10437;p6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8" name="Google Shape;10438;p6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39" name="Google Shape;10439;p6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0" name="Google Shape;10440;p6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441" name="Google Shape;10441;p6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42" name="Google Shape;10442;p6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43" name="Google Shape;10443;p6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44" name="Google Shape;10444;p6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45" name="Google Shape;10445;p6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46" name="Google Shape;10446;p6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47" name="Google Shape;10447;p6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448" name="Google Shape;10448;p6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49" name="Google Shape;10449;p6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0" name="Google Shape;10450;p6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1" name="Google Shape;10451;p6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2" name="Google Shape;10452;p6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3" name="Google Shape;10453;p6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54" name="Google Shape;10454;p6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455" name="Google Shape;10455;p6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6" name="Google Shape;10456;p6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7" name="Google Shape;10457;p6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8" name="Google Shape;10458;p6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59" name="Google Shape;10459;p6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60" name="Google Shape;10460;p60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1" name="Google Shape;10461;p6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462" name="Google Shape;10462;p6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63" name="Google Shape;10463;p6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64" name="Google Shape;10464;p6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65" name="Google Shape;10465;p6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66" name="Google Shape;10466;p6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67" name="Google Shape;10467;p60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68" name="Google Shape;10468;p60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469" name="Google Shape;10469;p60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70" name="Google Shape;10470;p60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71" name="Google Shape;10471;p60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72" name="Google Shape;10472;p60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73" name="Google Shape;10473;p60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474" name="Google Shape;10474;p6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75" name="Google Shape;10475;p6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476" name="Google Shape;10476;p6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477" name="Google Shape;10477;p6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478" name="Google Shape;10478;p6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479" name="Google Shape;10479;p6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480" name="Google Shape;10480;p6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481" name="Google Shape;10481;p6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82" name="Google Shape;10482;p6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83" name="Google Shape;10483;p6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484" name="Google Shape;10484;p6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85" name="Google Shape;10485;p6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86" name="Google Shape;10486;p6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87" name="Google Shape;10487;p6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88" name="Google Shape;10488;p6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89" name="Google Shape;10489;p6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0" name="Google Shape;10490;p6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491" name="Google Shape;10491;p6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92" name="Google Shape;10492;p6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93" name="Google Shape;10493;p6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94" name="Google Shape;10494;p6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495" name="Google Shape;10495;p6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496" name="Google Shape;10496;p6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97" name="Google Shape;10497;p6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498" name="Google Shape;10498;p6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499" name="Google Shape;10499;p6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0" name="Google Shape;10500;p6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501" name="Google Shape;10501;p6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2" name="Google Shape;10502;p6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03" name="Google Shape;10503;p6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04" name="Google Shape;10504;p6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505" name="Google Shape;10505;p6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6" name="Google Shape;10506;p6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7" name="Google Shape;10507;p6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8" name="Google Shape;10508;p6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9" name="Google Shape;10509;p6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10" name="Google Shape;10510;p6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1" name="Google Shape;10511;p6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512" name="Google Shape;10512;p6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13" name="Google Shape;10513;p6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14" name="Google Shape;10514;p6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15" name="Google Shape;10515;p6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16" name="Google Shape;10516;p6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17" name="Google Shape;10517;p60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18" name="Google Shape;10518;p6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519" name="Google Shape;10519;p6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20" name="Google Shape;10520;p6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21" name="Google Shape;10521;p6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22" name="Google Shape;10522;p6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23" name="Google Shape;10523;p6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24" name="Google Shape;10524;p60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25" name="Google Shape;10525;p60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526" name="Google Shape;10526;p60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527" name="Google Shape;10527;p60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28" name="Google Shape;10528;p60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529" name="Google Shape;10529;p60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30" name="Google Shape;10530;p60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31" name="Google Shape;10531;p60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2" name="Google Shape;10532;p60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0533" name="Google Shape;10533;p60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534" name="Google Shape;10534;p60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535" name="Google Shape;10535;p60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536" name="Google Shape;10536;p60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537" name="Google Shape;10537;p60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538" name="Google Shape;10538;p60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539" name="Google Shape;10539;p60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540" name="Google Shape;10540;p60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541" name="Google Shape;10541;p60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542" name="Google Shape;10542;p60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543" name="Google Shape;10543;p60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544" name="Google Shape;10544;p60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10545" name="Google Shape;10545;p60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10546" name="Google Shape;10546;p60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10547" name="Google Shape;10547;p60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10548" name="Google Shape;10548;p60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549" name="Google Shape;10549;p60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50" name="Google Shape;10550;p60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51" name="Google Shape;10551;p60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52" name="Google Shape;10552;p60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53" name="Google Shape;10553;p60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54" name="Google Shape;10554;p60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555" name="Google Shape;10555;p60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56" name="Google Shape;10556;p60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57" name="Google Shape;10557;p60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58" name="Google Shape;10558;p60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559" name="Google Shape;10559;p60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60" name="Google Shape;10560;p60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61" name="Google Shape;10561;p60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62" name="Google Shape;10562;p60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563" name="Google Shape;10563;p60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564" name="Google Shape;10564;p60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65" name="Google Shape;10565;p60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66" name="Google Shape;10566;p60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67" name="Google Shape;10567;p60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68" name="Google Shape;10568;p60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69" name="Google Shape;10569;p60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0" name="Google Shape;10570;p60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1" name="Google Shape;10571;p60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2" name="Google Shape;10572;p60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3" name="Google Shape;10573;p60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4" name="Google Shape;10574;p60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5" name="Google Shape;10575;p60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6" name="Google Shape;10576;p60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7" name="Google Shape;10577;p60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578" name="Google Shape;10578;p60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79" name="Google Shape;10579;p60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580" name="Google Shape;10580;p60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581" name="Google Shape;10581;p60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generated - active in pipeline</a:t>
            </a:r>
            <a:endParaRPr/>
          </a:p>
        </p:txBody>
      </p:sp>
      <p:sp>
        <p:nvSpPr>
          <p:cNvPr id="10582" name="Google Shape;10582;p60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3" name="Google Shape;10583;p60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584" name="Google Shape;10584;p60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585" name="Google Shape;10585;p60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4 submissions</a:t>
            </a:r>
            <a:endParaRPr/>
          </a:p>
        </p:txBody>
      </p:sp>
      <p:sp>
        <p:nvSpPr>
          <p:cNvPr id="10586" name="Google Shape;10586;p60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587" name="Google Shape;10587;p60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 quotes but 0 binds - follow up on pricing/coverage gaps</a:t>
            </a:r>
            <a:endParaRPr/>
          </a:p>
        </p:txBody>
      </p:sp>
      <p:sp>
        <p:nvSpPr>
          <p:cNvPr id="10588" name="Google Shape;10588;p60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89" name="Google Shape;10589;p60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590" name="Google Shape;10590;p60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591" name="Google Shape;10591;p60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4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595" name="Shape 105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6" name="Google Shape;10596;p6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97" name="Google Shape;10597;p6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Transportation Insurance Placement Services Inc</a:t>
            </a:r>
            <a:endParaRPr/>
          </a:p>
        </p:txBody>
      </p:sp>
      <p:sp>
        <p:nvSpPr>
          <p:cNvPr id="10598" name="Google Shape;10598;p6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N/A</a:t>
            </a:r>
            <a:endParaRPr/>
          </a:p>
        </p:txBody>
      </p:sp>
      <p:sp>
        <p:nvSpPr>
          <p:cNvPr id="10599" name="Google Shape;10599;p6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600" name="Google Shape;10600;p6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601" name="Google Shape;10601;p6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602" name="Google Shape;10602;p6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603" name="Google Shape;10603;p6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604" name="Google Shape;10604;p6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605" name="Google Shape;10605;p6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606" name="Google Shape;10606;p6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607" name="Google Shape;10607;p6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608" name="Google Shape;10608;p6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609" name="Google Shape;10609;p6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610" name="Google Shape;10610;p6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611" name="Google Shape;10611;p6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612" name="Google Shape;10612;p6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13" name="Google Shape;10613;p6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614" name="Google Shape;10614;p6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615" name="Google Shape;10615;p6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616" name="Google Shape;10616;p6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617" name="Google Shape;10617;p6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618" name="Google Shape;10618;p6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619" name="Google Shape;10619;p6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620" name="Google Shape;10620;p6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1" name="Google Shape;10621;p6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622" name="Google Shape;10622;p6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23" name="Google Shape;10623;p6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24" name="Google Shape;10624;p6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25" name="Google Shape;10625;p6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26" name="Google Shape;10626;p6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27" name="Google Shape;10627;p6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28" name="Google Shape;10628;p6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629" name="Google Shape;10629;p6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0" name="Google Shape;10630;p6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1" name="Google Shape;10631;p6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2" name="Google Shape;10632;p6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3" name="Google Shape;10633;p6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4" name="Google Shape;10634;p6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35" name="Google Shape;10635;p6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636" name="Google Shape;10636;p6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7" name="Google Shape;10637;p6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8" name="Google Shape;10638;p6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39" name="Google Shape;10639;p6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40" name="Google Shape;10640;p6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41" name="Google Shape;10641;p6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2" name="Google Shape;10642;p6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643" name="Google Shape;10643;p6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44" name="Google Shape;10644;p6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45" name="Google Shape;10645;p6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46" name="Google Shape;10646;p6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47" name="Google Shape;10647;p6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48" name="Google Shape;10648;p6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49" name="Google Shape;10649;p6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650" name="Google Shape;10650;p6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51" name="Google Shape;10651;p6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52" name="Google Shape;10652;p6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53" name="Google Shape;10653;p6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54" name="Google Shape;10654;p6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55" name="Google Shape;10655;p61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56" name="Google Shape;10656;p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657" name="Google Shape;10657;p6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58" name="Google Shape;10658;p6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59" name="Google Shape;10659;p6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60" name="Google Shape;10660;p6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61" name="Google Shape;10661;p6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62" name="Google Shape;10662;p61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3" name="Google Shape;10663;p61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664" name="Google Shape;10664;p61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65" name="Google Shape;10665;p61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66" name="Google Shape;10666;p61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67" name="Google Shape;10667;p61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68" name="Google Shape;10668;p61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669" name="Google Shape;10669;p6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0" name="Google Shape;10670;p6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671" name="Google Shape;10671;p6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672" name="Google Shape;10672;p6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673" name="Google Shape;10673;p6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674" name="Google Shape;10674;p6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675" name="Google Shape;10675;p6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676" name="Google Shape;10676;p6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677" name="Google Shape;10677;p6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78" name="Google Shape;10678;p6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679" name="Google Shape;10679;p6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80" name="Google Shape;10680;p6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81" name="Google Shape;10681;p6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82" name="Google Shape;10682;p6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83" name="Google Shape;10683;p6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84" name="Google Shape;10684;p6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85" name="Google Shape;10685;p6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686" name="Google Shape;10686;p6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687" name="Google Shape;10687;p6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88" name="Google Shape;10688;p6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689" name="Google Shape;10689;p6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90" name="Google Shape;10690;p6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91" name="Google Shape;10691;p6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2" name="Google Shape;10692;p6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693" name="Google Shape;10693;p6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694" name="Google Shape;10694;p6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695" name="Google Shape;10695;p6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696" name="Google Shape;10696;p6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697" name="Google Shape;10697;p6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698" name="Google Shape;10698;p6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99" name="Google Shape;10699;p6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700" name="Google Shape;10700;p6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01" name="Google Shape;10701;p6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02" name="Google Shape;10702;p6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03" name="Google Shape;10703;p6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04" name="Google Shape;10704;p6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05" name="Google Shape;10705;p6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06" name="Google Shape;10706;p6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707" name="Google Shape;10707;p6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08" name="Google Shape;10708;p6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09" name="Google Shape;10709;p6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10" name="Google Shape;10710;p6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11" name="Google Shape;10711;p6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12" name="Google Shape;10712;p61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13" name="Google Shape;10713;p6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714" name="Google Shape;10714;p6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15" name="Google Shape;10715;p6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16" name="Google Shape;10716;p6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17" name="Google Shape;10717;p6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18" name="Google Shape;10718;p6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19" name="Google Shape;10719;p61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20" name="Google Shape;10720;p61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721" name="Google Shape;10721;p61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722" name="Google Shape;10722;p61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23" name="Google Shape;10723;p61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0724" name="Google Shape;10724;p61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25" name="Google Shape;10725;p61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726" name="Google Shape;10726;p61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27" name="Google Shape;10727;p61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0728" name="Google Shape;10728;p61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729" name="Google Shape;10729;p61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730" name="Google Shape;10730;p61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731" name="Google Shape;10731;p61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732" name="Google Shape;10732;p61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733" name="Google Shape;10733;p61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734" name="Google Shape;10734;p61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735" name="Google Shape;10735;p61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736" name="Google Shape;10736;p61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737" name="Google Shape;10737;p61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738" name="Google Shape;10738;p61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739" name="Google Shape;10739;p61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10740" name="Google Shape;10740;p61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10741" name="Google Shape;10741;p61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10742" name="Google Shape;10742;p61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10743" name="Google Shape;10743;p61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744" name="Google Shape;10744;p61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745" name="Google Shape;10745;p61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46" name="Google Shape;10746;p61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47" name="Google Shape;10747;p61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748" name="Google Shape;10748;p61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49" name="Google Shape;10749;p61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750" name="Google Shape;10750;p61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0751" name="Google Shape;10751;p61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52" name="Google Shape;10752;p61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53" name="Google Shape;10753;p61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754" name="Google Shape;10754;p61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755" name="Google Shape;10755;p61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756" name="Google Shape;10756;p61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0757" name="Google Shape;10757;p61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758" name="Google Shape;10758;p61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759" name="Google Shape;10759;p61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0" name="Google Shape;10760;p61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1" name="Google Shape;10761;p61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2" name="Google Shape;10762;p61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3" name="Google Shape;10763;p61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4" name="Google Shape;10764;p61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5" name="Google Shape;10765;p61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10766" name="Google Shape;10766;p61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7" name="Google Shape;10767;p61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8" name="Google Shape;10768;p61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69" name="Google Shape;10769;p61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0" name="Google Shape;10770;p61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1" name="Google Shape;10771;p61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$17K</a:t>
            </a:r>
            <a:endParaRPr/>
          </a:p>
        </p:txBody>
      </p:sp>
      <p:sp>
        <p:nvSpPr>
          <p:cNvPr id="10772" name="Google Shape;10772;p61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773" name="Google Shape;10773;p61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74" name="Google Shape;10774;p61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775" name="Google Shape;10775;p61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776" name="Google Shape;10776;p61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quotes generated - active in pipeline</a:t>
            </a:r>
            <a:endParaRPr/>
          </a:p>
        </p:txBody>
      </p:sp>
      <p:sp>
        <p:nvSpPr>
          <p:cNvPr id="10777" name="Google Shape;10777;p61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78" name="Google Shape;10778;p61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779" name="Google Shape;10779;p61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780" name="Google Shape;10780;p61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10 submissions</a:t>
            </a:r>
            <a:endParaRPr/>
          </a:p>
        </p:txBody>
      </p:sp>
      <p:sp>
        <p:nvSpPr>
          <p:cNvPr id="10781" name="Google Shape;10781;p61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782" name="Google Shape;10782;p61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 submissions with zero binds - zero conversion</a:t>
            </a:r>
            <a:endParaRPr/>
          </a:p>
        </p:txBody>
      </p:sp>
      <p:sp>
        <p:nvSpPr>
          <p:cNvPr id="10783" name="Google Shape;10783;p61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84" name="Google Shape;10784;p61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785" name="Google Shape;10785;p61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786" name="Google Shape;10786;p61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10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10787" name="Google Shape;10787;p61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788" name="Google Shape;10788;p61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6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792" name="Shape 107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3" name="Google Shape;10793;p6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4" name="Google Shape;10794;p6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True Insurance Llc</a:t>
            </a:r>
            <a:endParaRPr/>
          </a:p>
        </p:txBody>
      </p:sp>
      <p:sp>
        <p:nvSpPr>
          <p:cNvPr id="10795" name="Google Shape;10795;p6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PA  |  City: Allentown</a:t>
            </a:r>
            <a:endParaRPr/>
          </a:p>
        </p:txBody>
      </p:sp>
      <p:sp>
        <p:nvSpPr>
          <p:cNvPr id="10796" name="Google Shape;10796;p6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797" name="Google Shape;10797;p6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798" name="Google Shape;10798;p6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799" name="Google Shape;10799;p6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800" name="Google Shape;10800;p6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801" name="Google Shape;10801;p6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802" name="Google Shape;10802;p6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0803" name="Google Shape;10803;p6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0804" name="Google Shape;10804;p6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805" name="Google Shape;10805;p6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806" name="Google Shape;10806;p6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807" name="Google Shape;10807;p6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0808" name="Google Shape;10808;p6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0809" name="Google Shape;10809;p6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0" name="Google Shape;10810;p6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0811" name="Google Shape;10811;p6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812" name="Google Shape;10812;p6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0813" name="Google Shape;10813;p6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814" name="Google Shape;10814;p6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815" name="Google Shape;10815;p6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816" name="Google Shape;10816;p6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817" name="Google Shape;10817;p6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18" name="Google Shape;10818;p6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819" name="Google Shape;10819;p6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20" name="Google Shape;10820;p6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21" name="Google Shape;10821;p6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22" name="Google Shape;10822;p6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23" name="Google Shape;10823;p6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24" name="Google Shape;10824;p6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25" name="Google Shape;10825;p6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826" name="Google Shape;10826;p6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27" name="Google Shape;10827;p6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28" name="Google Shape;10828;p6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29" name="Google Shape;10829;p6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30" name="Google Shape;10830;p6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31" name="Google Shape;10831;p6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2" name="Google Shape;10832;p6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833" name="Google Shape;10833;p6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34" name="Google Shape;10834;p6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35" name="Google Shape;10835;p6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36" name="Google Shape;10836;p6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37" name="Google Shape;10837;p6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38" name="Google Shape;10838;p6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39" name="Google Shape;10839;p6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840" name="Google Shape;10840;p6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41" name="Google Shape;10841;p6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42" name="Google Shape;10842;p6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43" name="Google Shape;10843;p6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44" name="Google Shape;10844;p6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45" name="Google Shape;10845;p6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46" name="Google Shape;10846;p6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847" name="Google Shape;10847;p6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48" name="Google Shape;10848;p6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49" name="Google Shape;10849;p6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50" name="Google Shape;10850;p6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51" name="Google Shape;10851;p6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52" name="Google Shape;10852;p62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53" name="Google Shape;10853;p6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854" name="Google Shape;10854;p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55" name="Google Shape;10855;p6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56" name="Google Shape;10856;p6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57" name="Google Shape;10857;p6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58" name="Google Shape;10858;p6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59" name="Google Shape;10859;p62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0" name="Google Shape;10860;p62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861" name="Google Shape;10861;p62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2" name="Google Shape;10862;p62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3" name="Google Shape;10863;p62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4" name="Google Shape;10864;p62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5" name="Google Shape;10865;p62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866" name="Google Shape;10866;p6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67" name="Google Shape;10867;p6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0868" name="Google Shape;10868;p6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0869" name="Google Shape;10869;p6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870" name="Google Shape;10870;p6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0871" name="Google Shape;10871;p6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0872" name="Google Shape;10872;p6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873" name="Google Shape;10873;p6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874" name="Google Shape;10874;p6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75" name="Google Shape;10875;p6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0876" name="Google Shape;10876;p6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877" name="Google Shape;10877;p6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78" name="Google Shape;10878;p6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879" name="Google Shape;10879;p6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80" name="Google Shape;10880;p6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81" name="Google Shape;10881;p6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2" name="Google Shape;10882;p6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0883" name="Google Shape;10883;p6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884" name="Google Shape;10884;p6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85" name="Google Shape;10885;p6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886" name="Google Shape;10886;p6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87" name="Google Shape;10887;p6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88" name="Google Shape;10888;p6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89" name="Google Shape;10889;p6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0890" name="Google Shape;10890;p6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91" name="Google Shape;10891;p6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92" name="Google Shape;10892;p6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93" name="Google Shape;10893;p6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94" name="Google Shape;10894;p6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895" name="Google Shape;10895;p6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96" name="Google Shape;10896;p6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0897" name="Google Shape;10897;p6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898" name="Google Shape;10898;p6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899" name="Google Shape;10899;p6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00" name="Google Shape;10900;p6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01" name="Google Shape;10901;p6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02" name="Google Shape;10902;p6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03" name="Google Shape;10903;p6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0904" name="Google Shape;10904;p6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905" name="Google Shape;10905;p6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06" name="Google Shape;10906;p6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907" name="Google Shape;10907;p6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08" name="Google Shape;10908;p6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09" name="Google Shape;10909;p62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0" name="Google Shape;10910;p6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0911" name="Google Shape;10911;p6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12" name="Google Shape;10912;p6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13" name="Google Shape;10913;p6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14" name="Google Shape;10914;p6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15" name="Google Shape;10915;p6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16" name="Google Shape;10916;p62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17" name="Google Shape;10917;p62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0918" name="Google Shape;10918;p62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919" name="Google Shape;10919;p62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20" name="Google Shape;10920;p62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921" name="Google Shape;10921;p62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22" name="Google Shape;10922;p62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923" name="Google Shape;10923;p62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4" name="Google Shape;10924;p62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0925" name="Google Shape;10925;p62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0926" name="Google Shape;10926;p62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0927" name="Google Shape;10927;p62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0928" name="Google Shape;10928;p62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0929" name="Google Shape;10929;p62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0930" name="Google Shape;10930;p62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0931" name="Google Shape;10931;p62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0932" name="Google Shape;10932;p62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0933" name="Google Shape;10933;p62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0934" name="Google Shape;10934;p62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0935" name="Google Shape;10935;p62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0936" name="Google Shape;10936;p62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10937" name="Google Shape;10937;p62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10938" name="Google Shape;10938;p62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10939" name="Google Shape;10939;p62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10940" name="Google Shape;10940;p62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0941" name="Google Shape;10941;p62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942" name="Google Shape;10942;p62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943" name="Google Shape;10943;p62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44" name="Google Shape;10944;p62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945" name="Google Shape;10945;p62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946" name="Google Shape;10946;p62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47" name="Google Shape;10947;p62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948" name="Google Shape;10948;p62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949" name="Google Shape;10949;p62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950" name="Google Shape;10950;p62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951" name="Google Shape;10951;p62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952" name="Google Shape;10952;p62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953" name="Google Shape;10953;p62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0954" name="Google Shape;10954;p62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0955" name="Google Shape;10955;p62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0956" name="Google Shape;10956;p62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7" name="Google Shape;10957;p62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8" name="Google Shape;10958;p62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59" name="Google Shape;10959;p62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0" name="Google Shape;10960;p62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1" name="Google Shape;10961;p62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2" name="Google Shape;10962;p62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10963" name="Google Shape;10963;p62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4" name="Google Shape;10964;p62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5" name="Google Shape;10965;p62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6" name="Google Shape;10966;p62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10967" name="Google Shape;10967;p62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68" name="Google Shape;10968;p62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10969" name="Google Shape;10969;p62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0970" name="Google Shape;10970;p62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71" name="Google Shape;10971;p62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0972" name="Google Shape;10972;p62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0973" name="Google Shape;10973;p62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 quotes generated - active in pipeline</a:t>
            </a:r>
            <a:endParaRPr/>
          </a:p>
        </p:txBody>
      </p:sp>
      <p:sp>
        <p:nvSpPr>
          <p:cNvPr id="10974" name="Google Shape;10974;p62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75" name="Google Shape;10975;p62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0976" name="Google Shape;10976;p62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977" name="Google Shape;10977;p62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written premium despite 11 submissions</a:t>
            </a:r>
            <a:endParaRPr/>
          </a:p>
        </p:txBody>
      </p:sp>
      <p:sp>
        <p:nvSpPr>
          <p:cNvPr id="10978" name="Google Shape;10978;p62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0979" name="Google Shape;10979;p62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 submissions with zero binds - zero conversion</a:t>
            </a:r>
            <a:endParaRPr/>
          </a:p>
        </p:txBody>
      </p:sp>
      <p:sp>
        <p:nvSpPr>
          <p:cNvPr id="10980" name="Google Shape;10980;p62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81" name="Google Shape;10981;p62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0982" name="Google Shape;10982;p62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0983" name="Google Shape;10983;p62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11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10984" name="Google Shape;10984;p62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0985" name="Google Shape;10985;p62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9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989" name="Shape 109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0" name="Google Shape;10990;p6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91" name="Google Shape;10991;p6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Jyp Ins Agency LLC</a:t>
            </a:r>
            <a:endParaRPr/>
          </a:p>
        </p:txBody>
      </p:sp>
      <p:sp>
        <p:nvSpPr>
          <p:cNvPr id="10992" name="Google Shape;10992;p6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N/A</a:t>
            </a:r>
            <a:endParaRPr/>
          </a:p>
        </p:txBody>
      </p:sp>
      <p:sp>
        <p:nvSpPr>
          <p:cNvPr id="10993" name="Google Shape;10993;p6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0994" name="Google Shape;10994;p6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0995" name="Google Shape;10995;p6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0996" name="Google Shape;10996;p6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997" name="Google Shape;10997;p6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998" name="Google Shape;10998;p6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$24,653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99" name="Google Shape;10999;p6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00" name="Google Shape;11000;p6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001" name="Google Shape;11001;p6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002" name="Google Shape;11002;p6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1003" name="Google Shape;11003;p6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1004" name="Google Shape;11004;p6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005" name="Google Shape;11005;p6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1006" name="Google Shape;11006;p6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07" name="Google Shape;11007;p6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1008" name="Google Shape;11008;p6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1009" name="Google Shape;11009;p6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1010" name="Google Shape;11010;p6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1011" name="Google Shape;11011;p6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1012" name="Google Shape;11012;p6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1013" name="Google Shape;11013;p6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1014" name="Google Shape;11014;p6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15" name="Google Shape;11015;p6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1016" name="Google Shape;11016;p6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17" name="Google Shape;11017;p6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18" name="Google Shape;11018;p6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19" name="Google Shape;11019;p6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20" name="Google Shape;11020;p6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21" name="Google Shape;11021;p6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2" name="Google Shape;11022;p6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1023" name="Google Shape;11023;p6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24" name="Google Shape;11024;p6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25" name="Google Shape;11025;p6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26" name="Google Shape;11026;p6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27" name="Google Shape;11027;p6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28" name="Google Shape;11028;p6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29" name="Google Shape;11029;p6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1030" name="Google Shape;11030;p6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11031" name="Google Shape;11031;p6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32" name="Google Shape;11032;p6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33" name="Google Shape;11033;p6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11034" name="Google Shape;11034;p6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35" name="Google Shape;11035;p6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36" name="Google Shape;11036;p6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1037" name="Google Shape;11037;p6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38" name="Google Shape;11038;p6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39" name="Google Shape;11039;p6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0" name="Google Shape;11040;p6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1" name="Google Shape;11041;p6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2" name="Google Shape;11042;p6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43" name="Google Shape;11043;p6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044" name="Google Shape;11044;p6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5" name="Google Shape;11045;p6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6" name="Google Shape;11046;p6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7" name="Google Shape;11047;p6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8" name="Google Shape;11048;p6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49" name="Google Shape;11049;p63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0" name="Google Shape;11050;p6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1051" name="Google Shape;11051;p6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2" name="Google Shape;11052;p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3" name="Google Shape;11053;p6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4" name="Google Shape;11054;p6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5" name="Google Shape;11055;p6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56" name="Google Shape;11056;p63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7" name="Google Shape;11057;p63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058" name="Google Shape;11058;p63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11059" name="Google Shape;11059;p63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60" name="Google Shape;11060;p63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61" name="Google Shape;11061;p63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11062" name="Google Shape;11062;p63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063" name="Google Shape;11063;p6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64" name="Google Shape;11064;p6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1065" name="Google Shape;11065;p6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1066" name="Google Shape;11066;p6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1067" name="Google Shape;11067;p6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1068" name="Google Shape;11068;p6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1069" name="Google Shape;11069;p6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1070" name="Google Shape;11070;p6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1071" name="Google Shape;11071;p6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2" name="Google Shape;11072;p6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1073" name="Google Shape;11073;p6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74" name="Google Shape;11074;p6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75" name="Google Shape;11075;p6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76" name="Google Shape;11076;p6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77" name="Google Shape;11077;p6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78" name="Google Shape;11078;p6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79" name="Google Shape;11079;p6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1080" name="Google Shape;11080;p6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81" name="Google Shape;11081;p6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82" name="Google Shape;11082;p6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83" name="Google Shape;11083;p6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84" name="Google Shape;11084;p6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85" name="Google Shape;11085;p6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86" name="Google Shape;11086;p6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1087" name="Google Shape;11087;p6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088" name="Google Shape;11088;p6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89" name="Google Shape;11089;p6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090" name="Google Shape;11090;p6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091" name="Google Shape;11091;p6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11092" name="Google Shape;11092;p6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93" name="Google Shape;11093;p6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1094" name="Google Shape;11094;p6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095" name="Google Shape;11095;p6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96" name="Google Shape;11096;p6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097" name="Google Shape;11097;p6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98" name="Google Shape;11098;p6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99" name="Google Shape;11099;p6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0" name="Google Shape;11100;p6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101" name="Google Shape;11101;p6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02" name="Google Shape;11102;p6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03" name="Google Shape;11103;p6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04" name="Google Shape;11104;p6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05" name="Google Shape;11105;p6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06" name="Google Shape;11106;p63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07" name="Google Shape;11107;p6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1108" name="Google Shape;11108;p6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09" name="Google Shape;11109;p6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10" name="Google Shape;11110;p6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11" name="Google Shape;11111;p6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12" name="Google Shape;11112;p6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113" name="Google Shape;11113;p63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14" name="Google Shape;11114;p63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115" name="Google Shape;11115;p63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1116" name="Google Shape;11116;p63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17" name="Google Shape;11117;p63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1118" name="Google Shape;11118;p63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19" name="Google Shape;11119;p63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11120" name="Google Shape;11120;p63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21" name="Google Shape;11121;p63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1122" name="Google Shape;11122;p63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123" name="Google Shape;11123;p63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1124" name="Google Shape;11124;p63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1125" name="Google Shape;11125;p63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1126" name="Google Shape;11126;p63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1127" name="Google Shape;11127;p63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1128" name="Google Shape;11128;p63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1129" name="Google Shape;11129;p63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1130" name="Google Shape;11130;p63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1131" name="Google Shape;11131;p63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1132" name="Google Shape;11132;p63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1133" name="Google Shape;11133;p63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11134" name="Google Shape;11134;p63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11135" name="Google Shape;11135;p63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11136" name="Google Shape;11136;p63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11137" name="Google Shape;11137;p63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138" name="Google Shape;11138;p63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39" name="Google Shape;11139;p63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40" name="Google Shape;11140;p63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41" name="Google Shape;11141;p63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142" name="Google Shape;11142;p63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43" name="Google Shape;11143;p63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144" name="Google Shape;11144;p63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1145" name="Google Shape;11145;p63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46" name="Google Shape;11146;p63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147" name="Google Shape;11147;p63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48" name="Google Shape;11148;p63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149" name="Google Shape;11149;p63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150" name="Google Shape;11150;p63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1151" name="Google Shape;11151;p63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1152" name="Google Shape;11152;p63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1153" name="Google Shape;11153;p63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54" name="Google Shape;11154;p63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55" name="Google Shape;11155;p63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56" name="Google Shape;11156;p63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57" name="Google Shape;11157;p63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58" name="Google Shape;11158;p63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11159" name="Google Shape;11159;p63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11160" name="Google Shape;11160;p63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61" name="Google Shape;11161;p63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11162" name="Google Shape;11162;p63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63" name="Google Shape;11163;p63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64" name="Google Shape;11164;p63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165" name="Google Shape;11165;p63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11166" name="Google Shape;11166;p63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</a:t>
            </a:r>
            <a:endParaRPr/>
          </a:p>
        </p:txBody>
      </p:sp>
      <p:sp>
        <p:nvSpPr>
          <p:cNvPr id="11167" name="Google Shape;11167;p63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68" name="Google Shape;11168;p63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1169" name="Google Shape;11169;p63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170" name="Google Shape;11170;p63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 hit ratio - above average conversion</a:t>
            </a:r>
            <a:endParaRPr/>
          </a:p>
        </p:txBody>
      </p:sp>
      <p:sp>
        <p:nvSpPr>
          <p:cNvPr id="11171" name="Google Shape;11171;p63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172" name="Google Shape;11172;p63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11173" name="Google Shape;11173;p63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74" name="Google Shape;11174;p63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1175" name="Google Shape;11175;p63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176" name="Google Shape;11176;p63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($-9) - cancellations exceed production</a:t>
            </a:r>
            <a:endParaRPr/>
          </a:p>
        </p:txBody>
      </p:sp>
      <p:sp>
        <p:nvSpPr>
          <p:cNvPr id="11177" name="Google Shape;11177;p63"/>
          <p:cNvSpPr txBox="1"/>
          <p:nvPr/>
        </p:nvSpPr>
        <p:spPr>
          <a:xfrm>
            <a:off x="64008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178" name="Google Shape;11178;p63"/>
          <p:cNvSpPr txBox="1"/>
          <p:nvPr/>
        </p:nvSpPr>
        <p:spPr>
          <a:xfrm>
            <a:off x="6629400" y="6153911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7 to 2 MoM</a:t>
            </a:r>
            <a:endParaRPr/>
          </a:p>
        </p:txBody>
      </p:sp>
      <p:sp>
        <p:nvSpPr>
          <p:cNvPr id="11179" name="Google Shape;11179;p63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0" name="Google Shape;11180;p63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1181" name="Google Shape;11181;p63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1182" name="Google Shape;11182;p63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11183" name="Google Shape;11183;p63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1184" name="Google Shape;11184;p63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188" name="Shape 1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9" name="Google Shape;11189;p6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90" name="Google Shape;11190;p6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Commercial Insurance Connections</a:t>
            </a:r>
            <a:endParaRPr/>
          </a:p>
        </p:txBody>
      </p:sp>
      <p:sp>
        <p:nvSpPr>
          <p:cNvPr id="11191" name="Google Shape;11191;p6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4  |  Region: Northeast  |  State: NJ  |  City: Deptford</a:t>
            </a:r>
            <a:endParaRPr/>
          </a:p>
        </p:txBody>
      </p:sp>
      <p:sp>
        <p:nvSpPr>
          <p:cNvPr id="11192" name="Google Shape;11192;p6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193" name="Google Shape;11193;p6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1194" name="Google Shape;11194;p6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1195" name="Google Shape;11195;p6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1196" name="Google Shape;11196;p6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1197" name="Google Shape;11197;p6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$60,371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1198" name="Google Shape;11198;p6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$52,900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199" name="Google Shape;11199;p6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00" name="Google Shape;11200;p6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201" name="Google Shape;11201;p6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1202" name="Google Shape;11202;p6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1203" name="Google Shape;11203;p6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204" name="Google Shape;11204;p6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$6,121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1205" name="Google Shape;11205;p6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06" name="Google Shape;11206;p6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1207" name="Google Shape;11207;p6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1208" name="Google Shape;11208;p6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1209" name="Google Shape;11209;p6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1210" name="Google Shape;11210;p6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1211" name="Google Shape;11211;p6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1212" name="Google Shape;11212;p6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1213" name="Google Shape;11213;p6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14" name="Google Shape;11214;p6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1215" name="Google Shape;11215;p6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16" name="Google Shape;11216;p6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17" name="Google Shape;11217;p6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18" name="Google Shape;11218;p6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19" name="Google Shape;11219;p6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20" name="Google Shape;11220;p6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21" name="Google Shape;11221;p6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1222" name="Google Shape;11222;p6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11223" name="Google Shape;11223;p6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24" name="Google Shape;11224;p6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25" name="Google Shape;11225;p6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11226" name="Google Shape;11226;p6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27" name="Google Shape;11227;p6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28" name="Google Shape;11228;p6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1229" name="Google Shape;11229;p6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30" name="Google Shape;11230;p6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31" name="Google Shape;11231;p6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32" name="Google Shape;11232;p6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33" name="Google Shape;11233;p6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34" name="Google Shape;11234;p6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35" name="Google Shape;11235;p6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1236" name="Google Shape;11236;p6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37" name="Google Shape;11237;p6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38" name="Google Shape;11238;p6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39" name="Google Shape;11239;p6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40" name="Google Shape;11240;p6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41" name="Google Shape;11241;p6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2" name="Google Shape;11242;p6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243" name="Google Shape;11243;p6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44" name="Google Shape;11244;p6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45" name="Google Shape;11245;p6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46" name="Google Shape;11246;p6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47" name="Google Shape;11247;p6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48" name="Google Shape;11248;p64"/>
          <p:cNvSpPr/>
          <p:nvPr/>
        </p:nvSpPr>
        <p:spPr>
          <a:xfrm>
            <a:off x="365760" y="4123944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49" name="Google Shape;11249;p6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1250" name="Google Shape;11250;p6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51" name="Google Shape;11251;p6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52" name="Google Shape;11252;p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53" name="Google Shape;11253;p6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54" name="Google Shape;11254;p6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55" name="Google Shape;11255;p64"/>
          <p:cNvSpPr/>
          <p:nvPr/>
        </p:nvSpPr>
        <p:spPr>
          <a:xfrm>
            <a:off x="365760" y="4425696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56" name="Google Shape;11256;p64"/>
          <p:cNvSpPr txBox="1"/>
          <p:nvPr/>
        </p:nvSpPr>
        <p:spPr>
          <a:xfrm>
            <a:off x="3657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257" name="Google Shape;11257;p64"/>
          <p:cNvSpPr txBox="1"/>
          <p:nvPr/>
        </p:nvSpPr>
        <p:spPr>
          <a:xfrm>
            <a:off x="1280160" y="446227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11258" name="Google Shape;11258;p64"/>
          <p:cNvSpPr txBox="1"/>
          <p:nvPr/>
        </p:nvSpPr>
        <p:spPr>
          <a:xfrm>
            <a:off x="2377439" y="446227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59" name="Google Shape;11259;p64"/>
          <p:cNvSpPr txBox="1"/>
          <p:nvPr/>
        </p:nvSpPr>
        <p:spPr>
          <a:xfrm>
            <a:off x="33832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60" name="Google Shape;11260;p64"/>
          <p:cNvSpPr txBox="1"/>
          <p:nvPr/>
        </p:nvSpPr>
        <p:spPr>
          <a:xfrm>
            <a:off x="42976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11261" name="Google Shape;11261;p64"/>
          <p:cNvSpPr txBox="1"/>
          <p:nvPr/>
        </p:nvSpPr>
        <p:spPr>
          <a:xfrm>
            <a:off x="5212079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262" name="Google Shape;11262;p6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63" name="Google Shape;11263;p6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1264" name="Google Shape;11264;p6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1265" name="Google Shape;11265;p6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1266" name="Google Shape;11266;p6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1267" name="Google Shape;11267;p6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1268" name="Google Shape;11268;p6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1269" name="Google Shape;11269;p6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1270" name="Google Shape;11270;p6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71" name="Google Shape;11271;p6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1272" name="Google Shape;11272;p6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73" name="Google Shape;11273;p6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74" name="Google Shape;11274;p6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75" name="Google Shape;11275;p6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76" name="Google Shape;11276;p6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77" name="Google Shape;11277;p6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78" name="Google Shape;11278;p6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1279" name="Google Shape;11279;p6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280" name="Google Shape;11280;p6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281" name="Google Shape;11281;p6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82" name="Google Shape;11282;p6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283" name="Google Shape;11283;p6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11284" name="Google Shape;11284;p6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85" name="Google Shape;11285;p6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1286" name="Google Shape;11286;p6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87" name="Google Shape;11287;p6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88" name="Google Shape;11288;p6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89" name="Google Shape;11289;p6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90" name="Google Shape;11290;p6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91" name="Google Shape;11291;p6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2" name="Google Shape;11292;p6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1293" name="Google Shape;11293;p6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94" name="Google Shape;11294;p6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95" name="Google Shape;11295;p6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296" name="Google Shape;11296;p6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297" name="Google Shape;11297;p6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298" name="Google Shape;11298;p6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99" name="Google Shape;11299;p6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1300" name="Google Shape;11300;p6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301" name="Google Shape;11301;p6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02" name="Google Shape;11302;p6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303" name="Google Shape;11303;p6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04" name="Google Shape;11304;p6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05" name="Google Shape;11305;p64"/>
          <p:cNvSpPr/>
          <p:nvPr/>
        </p:nvSpPr>
        <p:spPr>
          <a:xfrm>
            <a:off x="6309360" y="4123944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06" name="Google Shape;11306;p6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June</a:t>
            </a:r>
            <a:endParaRPr/>
          </a:p>
        </p:txBody>
      </p:sp>
      <p:sp>
        <p:nvSpPr>
          <p:cNvPr id="11307" name="Google Shape;11307;p6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08" name="Google Shape;11308;p6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09" name="Google Shape;11309;p6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10" name="Google Shape;11310;p6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11" name="Google Shape;11311;p6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312" name="Google Shape;11312;p64"/>
          <p:cNvSpPr/>
          <p:nvPr/>
        </p:nvSpPr>
        <p:spPr>
          <a:xfrm>
            <a:off x="6309360" y="4425696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3" name="Google Shape;11313;p64"/>
          <p:cNvSpPr txBox="1"/>
          <p:nvPr/>
        </p:nvSpPr>
        <p:spPr>
          <a:xfrm>
            <a:off x="630936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1314" name="Google Shape;11314;p64"/>
          <p:cNvSpPr txBox="1"/>
          <p:nvPr/>
        </p:nvSpPr>
        <p:spPr>
          <a:xfrm>
            <a:off x="722376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1315" name="Google Shape;11315;p64"/>
          <p:cNvSpPr txBox="1"/>
          <p:nvPr/>
        </p:nvSpPr>
        <p:spPr>
          <a:xfrm>
            <a:off x="804672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316" name="Google Shape;11316;p64"/>
          <p:cNvSpPr txBox="1"/>
          <p:nvPr/>
        </p:nvSpPr>
        <p:spPr>
          <a:xfrm>
            <a:off x="886968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1317" name="Google Shape;11317;p64"/>
          <p:cNvSpPr txBox="1"/>
          <p:nvPr/>
        </p:nvSpPr>
        <p:spPr>
          <a:xfrm>
            <a:off x="9784080" y="446227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318" name="Google Shape;11318;p64"/>
          <p:cNvSpPr txBox="1"/>
          <p:nvPr/>
        </p:nvSpPr>
        <p:spPr>
          <a:xfrm>
            <a:off x="10607040" y="446227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11319" name="Google Shape;11319;p64"/>
          <p:cNvSpPr/>
          <p:nvPr/>
        </p:nvSpPr>
        <p:spPr>
          <a:xfrm>
            <a:off x="365760" y="4782312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20" name="Google Shape;11320;p64"/>
          <p:cNvSpPr txBox="1"/>
          <p:nvPr/>
        </p:nvSpPr>
        <p:spPr>
          <a:xfrm>
            <a:off x="457200" y="48005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Jan–Jun 2025 vs Jan–Jun 2026</a:t>
            </a:r>
            <a:endParaRPr/>
          </a:p>
        </p:txBody>
      </p:sp>
      <p:sp>
        <p:nvSpPr>
          <p:cNvPr id="11321" name="Google Shape;11321;p64"/>
          <p:cNvSpPr txBox="1"/>
          <p:nvPr/>
        </p:nvSpPr>
        <p:spPr>
          <a:xfrm>
            <a:off x="365760" y="5056631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1322" name="Google Shape;11322;p64"/>
          <p:cNvSpPr txBox="1"/>
          <p:nvPr/>
        </p:nvSpPr>
        <p:spPr>
          <a:xfrm>
            <a:off x="1463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1323" name="Google Shape;11323;p64"/>
          <p:cNvSpPr txBox="1"/>
          <p:nvPr/>
        </p:nvSpPr>
        <p:spPr>
          <a:xfrm>
            <a:off x="2148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1324" name="Google Shape;11324;p64"/>
          <p:cNvSpPr txBox="1"/>
          <p:nvPr/>
        </p:nvSpPr>
        <p:spPr>
          <a:xfrm>
            <a:off x="2834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1325" name="Google Shape;11325;p64"/>
          <p:cNvSpPr txBox="1"/>
          <p:nvPr/>
        </p:nvSpPr>
        <p:spPr>
          <a:xfrm>
            <a:off x="3520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1326" name="Google Shape;11326;p64"/>
          <p:cNvSpPr txBox="1"/>
          <p:nvPr/>
        </p:nvSpPr>
        <p:spPr>
          <a:xfrm>
            <a:off x="4206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1327" name="Google Shape;11327;p64"/>
          <p:cNvSpPr txBox="1"/>
          <p:nvPr/>
        </p:nvSpPr>
        <p:spPr>
          <a:xfrm>
            <a:off x="4892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1328" name="Google Shape;11328;p64"/>
          <p:cNvSpPr txBox="1"/>
          <p:nvPr/>
        </p:nvSpPr>
        <p:spPr>
          <a:xfrm>
            <a:off x="5577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1329" name="Google Shape;11329;p64"/>
          <p:cNvSpPr txBox="1"/>
          <p:nvPr/>
        </p:nvSpPr>
        <p:spPr>
          <a:xfrm>
            <a:off x="62636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1330" name="Google Shape;11330;p64"/>
          <p:cNvSpPr txBox="1"/>
          <p:nvPr/>
        </p:nvSpPr>
        <p:spPr>
          <a:xfrm>
            <a:off x="69494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1331" name="Google Shape;11331;p64"/>
          <p:cNvSpPr txBox="1"/>
          <p:nvPr/>
        </p:nvSpPr>
        <p:spPr>
          <a:xfrm>
            <a:off x="76352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1332" name="Google Shape;11332;p64"/>
          <p:cNvSpPr txBox="1"/>
          <p:nvPr/>
        </p:nvSpPr>
        <p:spPr>
          <a:xfrm>
            <a:off x="83210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'25</a:t>
            </a:r>
            <a:endParaRPr/>
          </a:p>
        </p:txBody>
      </p:sp>
      <p:sp>
        <p:nvSpPr>
          <p:cNvPr id="11333" name="Google Shape;11333;p64"/>
          <p:cNvSpPr txBox="1"/>
          <p:nvPr/>
        </p:nvSpPr>
        <p:spPr>
          <a:xfrm>
            <a:off x="9006840" y="5056631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Jun '26</a:t>
            </a:r>
            <a:endParaRPr/>
          </a:p>
        </p:txBody>
      </p:sp>
      <p:sp>
        <p:nvSpPr>
          <p:cNvPr id="11334" name="Google Shape;11334;p64"/>
          <p:cNvSpPr txBox="1"/>
          <p:nvPr/>
        </p:nvSpPr>
        <p:spPr>
          <a:xfrm>
            <a:off x="969264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'25 Tot</a:t>
            </a:r>
            <a:endParaRPr/>
          </a:p>
        </p:txBody>
      </p:sp>
      <p:sp>
        <p:nvSpPr>
          <p:cNvPr id="11335" name="Google Shape;11335;p64"/>
          <p:cNvSpPr txBox="1"/>
          <p:nvPr/>
        </p:nvSpPr>
        <p:spPr>
          <a:xfrm>
            <a:off x="10881360" y="5056631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Jan–Ju '26 Tot</a:t>
            </a:r>
            <a:endParaRPr/>
          </a:p>
        </p:txBody>
      </p:sp>
      <p:sp>
        <p:nvSpPr>
          <p:cNvPr id="11336" name="Google Shape;11336;p64"/>
          <p:cNvSpPr txBox="1"/>
          <p:nvPr/>
        </p:nvSpPr>
        <p:spPr>
          <a:xfrm>
            <a:off x="365760" y="523951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1337" name="Google Shape;11337;p64"/>
          <p:cNvSpPr txBox="1"/>
          <p:nvPr/>
        </p:nvSpPr>
        <p:spPr>
          <a:xfrm>
            <a:off x="1463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338" name="Google Shape;11338;p64"/>
          <p:cNvSpPr txBox="1"/>
          <p:nvPr/>
        </p:nvSpPr>
        <p:spPr>
          <a:xfrm>
            <a:off x="2148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339" name="Google Shape;11339;p64"/>
          <p:cNvSpPr txBox="1"/>
          <p:nvPr/>
        </p:nvSpPr>
        <p:spPr>
          <a:xfrm>
            <a:off x="2834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1340" name="Google Shape;11340;p64"/>
          <p:cNvSpPr txBox="1"/>
          <p:nvPr/>
        </p:nvSpPr>
        <p:spPr>
          <a:xfrm>
            <a:off x="3520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341" name="Google Shape;11341;p64"/>
          <p:cNvSpPr txBox="1"/>
          <p:nvPr/>
        </p:nvSpPr>
        <p:spPr>
          <a:xfrm>
            <a:off x="4206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342" name="Google Shape;11342;p64"/>
          <p:cNvSpPr txBox="1"/>
          <p:nvPr/>
        </p:nvSpPr>
        <p:spPr>
          <a:xfrm>
            <a:off x="4892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343" name="Google Shape;11343;p64"/>
          <p:cNvSpPr txBox="1"/>
          <p:nvPr/>
        </p:nvSpPr>
        <p:spPr>
          <a:xfrm>
            <a:off x="5577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1344" name="Google Shape;11344;p64"/>
          <p:cNvSpPr txBox="1"/>
          <p:nvPr/>
        </p:nvSpPr>
        <p:spPr>
          <a:xfrm>
            <a:off x="62636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345" name="Google Shape;11345;p64"/>
          <p:cNvSpPr txBox="1"/>
          <p:nvPr/>
        </p:nvSpPr>
        <p:spPr>
          <a:xfrm>
            <a:off x="69494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346" name="Google Shape;11346;p64"/>
          <p:cNvSpPr txBox="1"/>
          <p:nvPr/>
        </p:nvSpPr>
        <p:spPr>
          <a:xfrm>
            <a:off x="76352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1347" name="Google Shape;11347;p64"/>
          <p:cNvSpPr txBox="1"/>
          <p:nvPr/>
        </p:nvSpPr>
        <p:spPr>
          <a:xfrm>
            <a:off x="83210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348" name="Google Shape;11348;p64"/>
          <p:cNvSpPr txBox="1"/>
          <p:nvPr/>
        </p:nvSpPr>
        <p:spPr>
          <a:xfrm>
            <a:off x="9006840" y="523951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349" name="Google Shape;11349;p64"/>
          <p:cNvSpPr txBox="1"/>
          <p:nvPr/>
        </p:nvSpPr>
        <p:spPr>
          <a:xfrm>
            <a:off x="969264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1350" name="Google Shape;11350;p64"/>
          <p:cNvSpPr txBox="1"/>
          <p:nvPr/>
        </p:nvSpPr>
        <p:spPr>
          <a:xfrm>
            <a:off x="10881360" y="523951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1351" name="Google Shape;11351;p64"/>
          <p:cNvSpPr txBox="1"/>
          <p:nvPr/>
        </p:nvSpPr>
        <p:spPr>
          <a:xfrm>
            <a:off x="365760" y="5422392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1352" name="Google Shape;11352;p64"/>
          <p:cNvSpPr txBox="1"/>
          <p:nvPr/>
        </p:nvSpPr>
        <p:spPr>
          <a:xfrm>
            <a:off x="1463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$750</a:t>
            </a:r>
            <a:endParaRPr/>
          </a:p>
        </p:txBody>
      </p:sp>
      <p:sp>
        <p:nvSpPr>
          <p:cNvPr id="11353" name="Google Shape;11353;p64"/>
          <p:cNvSpPr txBox="1"/>
          <p:nvPr/>
        </p:nvSpPr>
        <p:spPr>
          <a:xfrm>
            <a:off x="2148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354" name="Google Shape;11354;p64"/>
          <p:cNvSpPr txBox="1"/>
          <p:nvPr/>
        </p:nvSpPr>
        <p:spPr>
          <a:xfrm>
            <a:off x="2834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11355" name="Google Shape;11355;p64"/>
          <p:cNvSpPr txBox="1"/>
          <p:nvPr/>
        </p:nvSpPr>
        <p:spPr>
          <a:xfrm>
            <a:off x="3520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11356" name="Google Shape;11356;p64"/>
          <p:cNvSpPr txBox="1"/>
          <p:nvPr/>
        </p:nvSpPr>
        <p:spPr>
          <a:xfrm>
            <a:off x="4206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357" name="Google Shape;11357;p64"/>
          <p:cNvSpPr txBox="1"/>
          <p:nvPr/>
        </p:nvSpPr>
        <p:spPr>
          <a:xfrm>
            <a:off x="4892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358" name="Google Shape;11358;p64"/>
          <p:cNvSpPr txBox="1"/>
          <p:nvPr/>
        </p:nvSpPr>
        <p:spPr>
          <a:xfrm>
            <a:off x="5577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359" name="Google Shape;11359;p64"/>
          <p:cNvSpPr txBox="1"/>
          <p:nvPr/>
        </p:nvSpPr>
        <p:spPr>
          <a:xfrm>
            <a:off x="62636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360" name="Google Shape;11360;p64"/>
          <p:cNvSpPr txBox="1"/>
          <p:nvPr/>
        </p:nvSpPr>
        <p:spPr>
          <a:xfrm>
            <a:off x="69494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$411</a:t>
            </a:r>
            <a:endParaRPr/>
          </a:p>
        </p:txBody>
      </p:sp>
      <p:sp>
        <p:nvSpPr>
          <p:cNvPr id="11361" name="Google Shape;11361;p64"/>
          <p:cNvSpPr txBox="1"/>
          <p:nvPr/>
        </p:nvSpPr>
        <p:spPr>
          <a:xfrm>
            <a:off x="76352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362" name="Google Shape;11362;p64"/>
          <p:cNvSpPr txBox="1"/>
          <p:nvPr/>
        </p:nvSpPr>
        <p:spPr>
          <a:xfrm>
            <a:off x="83210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11363" name="Google Shape;11363;p64"/>
          <p:cNvSpPr txBox="1"/>
          <p:nvPr/>
        </p:nvSpPr>
        <p:spPr>
          <a:xfrm>
            <a:off x="9006840" y="5422392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1364" name="Google Shape;11364;p64"/>
          <p:cNvSpPr txBox="1"/>
          <p:nvPr/>
        </p:nvSpPr>
        <p:spPr>
          <a:xfrm>
            <a:off x="969264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11365" name="Google Shape;11365;p64"/>
          <p:cNvSpPr txBox="1"/>
          <p:nvPr/>
        </p:nvSpPr>
        <p:spPr>
          <a:xfrm>
            <a:off x="10881360" y="5422392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$-2,142</a:t>
            </a:r>
            <a:endParaRPr/>
          </a:p>
        </p:txBody>
      </p:sp>
      <p:sp>
        <p:nvSpPr>
          <p:cNvPr id="11366" name="Google Shape;11366;p64"/>
          <p:cNvSpPr/>
          <p:nvPr/>
        </p:nvSpPr>
        <p:spPr>
          <a:xfrm>
            <a:off x="365760" y="5678423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67" name="Google Shape;11367;p64"/>
          <p:cNvSpPr txBox="1"/>
          <p:nvPr/>
        </p:nvSpPr>
        <p:spPr>
          <a:xfrm>
            <a:off x="4572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1368" name="Google Shape;11368;p64"/>
          <p:cNvSpPr txBox="1"/>
          <p:nvPr/>
        </p:nvSpPr>
        <p:spPr>
          <a:xfrm>
            <a:off x="4572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369" name="Google Shape;11369;p64"/>
          <p:cNvSpPr txBox="1"/>
          <p:nvPr/>
        </p:nvSpPr>
        <p:spPr>
          <a:xfrm>
            <a:off x="685800" y="595274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 hit ratio - above average conversion</a:t>
            </a:r>
            <a:endParaRPr/>
          </a:p>
        </p:txBody>
      </p:sp>
      <p:sp>
        <p:nvSpPr>
          <p:cNvPr id="11370" name="Google Shape;11370;p64"/>
          <p:cNvSpPr txBox="1"/>
          <p:nvPr/>
        </p:nvSpPr>
        <p:spPr>
          <a:xfrm>
            <a:off x="457200" y="6153911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1371" name="Google Shape;11371;p64"/>
          <p:cNvSpPr txBox="1"/>
          <p:nvPr/>
        </p:nvSpPr>
        <p:spPr>
          <a:xfrm>
            <a:off x="685800" y="6153911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bind(s) - converting submissions to business</a:t>
            </a:r>
            <a:endParaRPr/>
          </a:p>
        </p:txBody>
      </p:sp>
      <p:sp>
        <p:nvSpPr>
          <p:cNvPr id="11372" name="Google Shape;11372;p64"/>
          <p:cNvSpPr/>
          <p:nvPr/>
        </p:nvSpPr>
        <p:spPr>
          <a:xfrm>
            <a:off x="6309360" y="5678423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73" name="Google Shape;11373;p64"/>
          <p:cNvSpPr txBox="1"/>
          <p:nvPr/>
        </p:nvSpPr>
        <p:spPr>
          <a:xfrm>
            <a:off x="6400800" y="5696711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1374" name="Google Shape;11374;p64"/>
          <p:cNvSpPr txBox="1"/>
          <p:nvPr/>
        </p:nvSpPr>
        <p:spPr>
          <a:xfrm>
            <a:off x="6400800" y="595274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1375" name="Google Shape;11375;p64"/>
          <p:cNvSpPr txBox="1"/>
          <p:nvPr/>
        </p:nvSpPr>
        <p:spPr>
          <a:xfrm>
            <a:off x="6629400" y="595274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($-2,142) - cancellations exceed production</a:t>
            </a:r>
            <a:endParaRPr/>
          </a:p>
        </p:txBody>
      </p:sp>
      <p:sp>
        <p:nvSpPr>
          <p:cNvPr id="11376" name="Google Shape;11376;p64"/>
          <p:cNvSpPr/>
          <p:nvPr/>
        </p:nvSpPr>
        <p:spPr>
          <a:xfrm>
            <a:off x="365760" y="6455663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77" name="Google Shape;11377;p64"/>
          <p:cNvSpPr txBox="1"/>
          <p:nvPr/>
        </p:nvSpPr>
        <p:spPr>
          <a:xfrm>
            <a:off x="457200" y="6464807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1378" name="Google Shape;11378;p64"/>
          <p:cNvSpPr txBox="1"/>
          <p:nvPr/>
        </p:nvSpPr>
        <p:spPr>
          <a:xfrm>
            <a:off x="457200" y="6711695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1379" name="Google Shape;11379;p64"/>
          <p:cNvSpPr txBox="1"/>
          <p:nvPr/>
        </p:nvSpPr>
        <p:spPr>
          <a:xfrm>
            <a:off x="777240" y="6711695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11380" name="Google Shape;11380;p64"/>
          <p:cNvSpPr txBox="1"/>
          <p:nvPr/>
        </p:nvSpPr>
        <p:spPr>
          <a:xfrm>
            <a:off x="457200" y="6949439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1381" name="Google Shape;11381;p64"/>
          <p:cNvSpPr txBox="1"/>
          <p:nvPr/>
        </p:nvSpPr>
        <p:spPr>
          <a:xfrm>
            <a:off x="777240" y="6949439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