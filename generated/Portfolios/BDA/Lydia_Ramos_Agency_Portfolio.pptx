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</p:sldIdLst>
  <p:sldSz cy="6858000" cx="12191675"/>
  <p:notesSz cx="6858000" cy="9144000"/>
  <p:embeddedFontLst>
    <p:embeddedFont>
      <p:font typeface="Quattrocento Sans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8" roundtripDataSignature="AMtx7mhQpHUd9BxS35yieFRQg5tNAC8J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font" Target="fonts/QuattrocentoSans-bold.fntdata"/><Relationship Id="rId30" Type="http://schemas.openxmlformats.org/officeDocument/2006/relationships/slide" Target="slides/slide25.xml"/><Relationship Id="rId74" Type="http://schemas.openxmlformats.org/officeDocument/2006/relationships/font" Target="fonts/QuattrocentoSans-regular.fntdata"/><Relationship Id="rId33" Type="http://schemas.openxmlformats.org/officeDocument/2006/relationships/slide" Target="slides/slide28.xml"/><Relationship Id="rId77" Type="http://schemas.openxmlformats.org/officeDocument/2006/relationships/font" Target="fonts/QuattrocentoSans-boldItalic.fntdata"/><Relationship Id="rId32" Type="http://schemas.openxmlformats.org/officeDocument/2006/relationships/slide" Target="slides/slide27.xml"/><Relationship Id="rId76" Type="http://schemas.openxmlformats.org/officeDocument/2006/relationships/font" Target="fonts/QuattrocentoSans-italic.fntdata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8" Type="http://customschemas.google.com/relationships/presentationmetadata" Target="metadata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" name="Google Shape;80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8" name="Google Shape;88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3" name="Google Shape;115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4" name="Google Shape;120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6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8" name="Google Shape;122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0" name="Google Shape;12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3" name="Shape 1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Google Shape;147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5" name="Google Shape;147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7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9" name="Google Shape;160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0" name="Shape 1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Google Shape;166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9" name="Shape 1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0" name="Google Shape;184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1" name="Google Shape;184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8" name="Shape 2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9" name="Google Shape;201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0" name="Google Shape;202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5" name="Shape 2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6" name="Google Shape;219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7" name="Google Shape;219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2" name="Shape 2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3" name="Google Shape;237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4" name="Google Shape;2374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9" name="Shape 2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0" name="Google Shape;255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1" name="Google Shape;255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8" name="Shape 2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9" name="Google Shape;2729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0" name="Google Shape;2730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7" name="Shape 2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" name="Google Shape;2908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6" name="Shape 3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7" name="Google Shape;308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8" name="Google Shape;3088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5" name="Shape 3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" name="Google Shape;326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7" name="Google Shape;326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4" name="Shape 3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5" name="Google Shape;3445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6" name="Google Shape;3446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3" name="Shape 3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4" name="Google Shape;3624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5" name="Google Shape;3625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2" name="Shape 3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3" name="Google Shape;380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4" name="Google Shape;3804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1" name="Shape 3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2" name="Google Shape;3982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3" name="Google Shape;3983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8" name="Shape 4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9" name="Google Shape;415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0" name="Google Shape;4160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7" name="Shape 4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8" name="Google Shape;4338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9" name="Google Shape;4339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6" name="Shape 4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7" name="Google Shape;4517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8" name="Google Shape;4518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3" name="Shape 4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4" name="Google Shape;4694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5" name="Google Shape;4695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2" name="Shape 4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3" name="Google Shape;487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4" name="Google Shape;4874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9" name="Shape 5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0" name="Google Shape;5050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1" name="Google Shape;5051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6" name="Shape 5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7" name="Google Shape;5227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8" name="Google Shape;5228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5" name="Shape 5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6" name="Google Shape;5406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7" name="Google Shape;5407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4" name="Shape 5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Google Shape;5585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6" name="Google Shape;5586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3" name="Shape 5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4" name="Google Shape;5764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5" name="Google Shape;5765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0" name="Shape 5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1" name="Google Shape;5941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2" name="Google Shape;5942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7" name="Shape 6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8" name="Google Shape;6118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9" name="Google Shape;6119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4" name="Shape 6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5" name="Google Shape;6295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6" name="Google Shape;6296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1" name="Shape 6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2" name="Google Shape;6472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3" name="Google Shape;6473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8" name="Shape 6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9" name="Google Shape;6649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0" name="Google Shape;6650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27" name="Shape 6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8" name="Google Shape;6828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9" name="Google Shape;6829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06" name="Shape 7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7" name="Google Shape;7007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08" name="Google Shape;7008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3" name="Shape 7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4" name="Google Shape;7184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5" name="Google Shape;7185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60" name="Shape 7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1" name="Google Shape;7361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2" name="Google Shape;7362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39" name="Shape 7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0" name="Google Shape;7540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41" name="Google Shape;7541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16" name="Shape 7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7" name="Google Shape;7717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8" name="Google Shape;7718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93" name="Shape 7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4" name="Google Shape;7894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5" name="Google Shape;7895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72" name="Shape 8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3" name="Google Shape;8073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74" name="Google Shape;8074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49" name="Shape 8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0" name="Google Shape;8250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51" name="Google Shape;8251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6" name="Shape 8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7" name="Google Shape;8427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8" name="Google Shape;8428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05" name="Shape 8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6" name="Google Shape;8606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07" name="Google Shape;8607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84" name="Shape 8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5" name="Google Shape;8785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6" name="Google Shape;8786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63" name="Shape 8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4" name="Google Shape;8964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65" name="Google Shape;8965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40" name="Shape 9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1" name="Google Shape;9141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2" name="Google Shape;9142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17" name="Shape 9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" name="Google Shape;9318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19" name="Google Shape;9319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94" name="Shape 9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5" name="Google Shape;9495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6" name="Google Shape;9496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71" name="Shape 9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2" name="Google Shape;9672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73" name="Google Shape;9673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46" name="Shape 9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7" name="Google Shape;9847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48" name="Google Shape;9848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19" name="Shape 10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0" name="Google Shape;10020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21" name="Google Shape;10021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94" name="Shape 10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5" name="Google Shape;10195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6" name="Google Shape;10196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67" name="Shape 10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8" name="Google Shape;10368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9" name="Google Shape;10369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42" name="Shape 10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3" name="Google Shape;10543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44" name="Google Shape;10544;p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17" name="Shape 10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8" name="Google Shape;10718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9" name="Google Shape;10719;p6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2" name="Shape 10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3" name="Google Shape;10893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94" name="Google Shape;10894;p6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7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8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8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8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28, 2026  |  53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53 Total Agencies  |  53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$3,878,093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$2,720,773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$454,274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$703,047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$-1,489,570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$9,426,845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$8,624,421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$11,312,214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$719,911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$2,375,747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$469,248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$266,625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$11,540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411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$440,300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$334,344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$16,102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1052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781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Inc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$275,554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$265,938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$20,828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429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279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 Inc.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$229,188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$227,748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Service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$190,192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$178,295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$188,315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$172,366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$156,031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$127,632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$24,538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Guru Commercial &amp; Crop Insurance Br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$151,317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$66,958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$146,832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$110,034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Lubemer International Insurance Age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$141,976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$155,918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Denis A. Salazar Dba Westins Insura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$118,227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$106,318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Christian Charles Insurance Service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$107,472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$109,097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$1,387,324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$453,219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942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$746,386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$193,798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918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$1,299,976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$709,188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1024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$1,437,727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$656,530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1060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$1,014,532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$708,037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798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$3,878,093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$2,720,773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4549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Lydia Ramos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67.4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+53%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 of 53 agencies  |  Goal 75%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Lydia Ramos</a:t>
            </a:r>
            <a:endParaRPr/>
          </a:p>
        </p:txBody>
      </p:sp>
      <p:sp>
        <p:nvSpPr>
          <p:cNvPr id="310" name="Google Shape;310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1" name="Google Shape;311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2" name="Google Shape;312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3" name="Google Shape;313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14" name="Google Shape;314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15" name="Google Shape;315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16" name="Google Shape;316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18" name="Google Shape;318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19" name="Google Shape;319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0" name="Google Shape;320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1" name="Google Shape;321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2" name="Google Shape;322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3" name="Google Shape;323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24" name="Google Shape;324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0" name="Google Shape;330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1" name="Google Shape;331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3" name="Google Shape;333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" name="Google Shape;339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1" name="Google Shape;341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" name="Google Shape;347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9" name="Google Shape;349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7" name="Google Shape;357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5" name="Google Shape;365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3" name="Google Shape;373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" name="Google Shape;379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1" name="Google Shape;381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" name="Google Shape;387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9" name="Google Shape;389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" name="Google Shape;395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7" name="Google Shape;397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" name="Google Shape;403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5" name="Google Shape;405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3" name="Google Shape;413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12–21  (Mar–May)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9" name="Google Shape;419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0" name="Google Shape;420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1" name="Google Shape;421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8" name="Google Shape;428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0" name="Google Shape;430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" name="Google Shape;436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8" name="Google Shape;438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" name="Google Shape;444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6" name="Google Shape;446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" name="Google Shape;452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4" name="Google Shape;454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" name="Google Shape;460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2" name="Google Shape;462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8" name="Google Shape;468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0" name="Google Shape;470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6" name="Google Shape;476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8" name="Google Shape;478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4" name="Google Shape;484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86" name="Google Shape;486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2" name="Google Shape;492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12%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94" name="Google Shape;494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5/25–5/28*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72%</a:t>
            </a:r>
            <a:endParaRPr/>
          </a:p>
        </p:txBody>
      </p:sp>
      <p:sp>
        <p:nvSpPr>
          <p:cNvPr id="501" name="Google Shape;501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2" name="Google Shape;502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Lydia Ramos</a:t>
            </a:r>
            <a:endParaRPr/>
          </a:p>
        </p:txBody>
      </p:sp>
      <p:sp>
        <p:nvSpPr>
          <p:cNvPr id="509" name="Google Shape;509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0" name="Google Shape;510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1800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1" name="Google Shape;511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2" name="Google Shape;512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3" name="Google Shape;513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14" name="Google Shape;514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5" name="Google Shape;515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8" name="Google Shape;518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19" name="Google Shape;519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0" name="Google Shape;520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1" name="Google Shape;521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2" name="Google Shape;522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3" name="Google Shape;523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1,098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1,012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7" name="Google Shape;537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1,007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1,019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966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+5%</a:t>
            </a:r>
            <a:endParaRPr/>
          </a:p>
        </p:txBody>
      </p:sp>
      <p:sp>
        <p:nvSpPr>
          <p:cNvPr id="550" name="Google Shape;550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781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878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-11%</a:t>
            </a:r>
            <a:endParaRPr/>
          </a:p>
        </p:txBody>
      </p:sp>
      <p:sp>
        <p:nvSpPr>
          <p:cNvPr id="557" name="Google Shape;557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1,800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4,961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-64%</a:t>
            </a:r>
            <a:endParaRPr/>
          </a:p>
        </p:txBody>
      </p:sp>
      <p:sp>
        <p:nvSpPr>
          <p:cNvPr id="564" name="Google Shape;564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1" name="Google Shape;571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1,052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-422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579" name="Google Shape;579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-288</a:t>
            </a:r>
            <a:endParaRPr/>
          </a:p>
        </p:txBody>
      </p:sp>
      <p:sp>
        <p:nvSpPr>
          <p:cNvPr id="583" name="Google Shape;583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Inc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429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-150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Inc.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+141</a:t>
            </a:r>
            <a:endParaRPr/>
          </a:p>
        </p:txBody>
      </p:sp>
      <p:sp>
        <p:nvSpPr>
          <p:cNvPr id="594" name="Google Shape;594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Services L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+45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Alliance Insurance Group Llc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205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+205</a:t>
            </a:r>
            <a:endParaRPr/>
          </a:p>
        </p:txBody>
      </p:sp>
      <p:sp>
        <p:nvSpPr>
          <p:cNvPr id="605" name="Google Shape;605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+19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+145</a:t>
            </a:r>
            <a:endParaRPr/>
          </a:p>
        </p:txBody>
      </p:sp>
      <p:sp>
        <p:nvSpPr>
          <p:cNvPr id="616" name="Google Shape;616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 Inc.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+63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Harmony Insurance Agency, Inc.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+19</a:t>
            </a:r>
            <a:endParaRPr/>
          </a:p>
        </p:txBody>
      </p:sp>
      <p:sp>
        <p:nvSpPr>
          <p:cNvPr id="627" name="Google Shape;627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Monarca Trucking Insurance Services In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+75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Insurance Store Of Texas Llc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+74</a:t>
            </a:r>
            <a:endParaRPr/>
          </a:p>
        </p:txBody>
      </p:sp>
      <p:sp>
        <p:nvSpPr>
          <p:cNvPr id="638" name="Google Shape;638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Rnk Insurance Services Inc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-7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Guru Commercial &amp; Crop Insurance Broke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+43</a:t>
            </a:r>
            <a:endParaRPr/>
          </a:p>
        </p:txBody>
      </p:sp>
      <p:sp>
        <p:nvSpPr>
          <p:cNvPr id="649" name="Google Shape;649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Mm&amp;j Insurance Services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DELUXE INSURANCE AGENCY GROUP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+65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7" name="Google Shape;667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 |  53 Total Agencies  |  Jan–May 2026</a:t>
            </a:r>
            <a:endParaRPr/>
          </a:p>
        </p:txBody>
      </p:sp>
      <p:sp>
        <p:nvSpPr>
          <p:cNvPr id="668" name="Google Shape;668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0" name="Google Shape;670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$1,387,324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$453,219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$82,148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$-284,660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942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679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687" name="Google Shape;687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$746,386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$193,798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$229,200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$-309,173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918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653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$1,299,976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$709,188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$56,561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$-362,699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1,024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706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706" name="Google Shape;706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$1,437,727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$656,530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$36,674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$-329,086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1,060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775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$1,014,532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$708,037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$49,691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$-203,950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798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595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725" name="Google Shape;725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$5,885,946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$2,720,773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$454,274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$-1,489,570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4,742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3,408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210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Lydia Ramos</a:t>
            </a:r>
            <a:endParaRPr/>
          </a:p>
        </p:txBody>
      </p:sp>
      <p:sp>
        <p:nvSpPr>
          <p:cNvPr id="741" name="Google Shape;741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42" name="Google Shape;742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3" name="Google Shape;743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44" name="Google Shape;744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$149,936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5" name="Google Shape;745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6" name="Google Shape;746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8" name="Google Shape;748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0" name="Google Shape;750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1" name="Google Shape;751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2" name="Google Shape;752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3" name="Google Shape;753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54" name="Google Shape;754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161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$40,983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Inc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67" name="Google Shape;767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Services LLC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0" name="Google Shape;780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 Inc.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$58,550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Inc.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3" name="Google Shape;793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Harmony Insurance Agency, Inc.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Insurance Store Of Texas LLC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$2,575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GA, OK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Lydia Ramos</a:t>
            </a:r>
            <a:endParaRPr/>
          </a:p>
        </p:txBody>
      </p:sp>
      <p:sp>
        <p:nvSpPr>
          <p:cNvPr id="812" name="Google Shape;812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13" name="Google Shape;813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14" name="Google Shape;814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5" name="Google Shape;815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$2,191,556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6" name="Google Shape;816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7" name="Google Shape;817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19" name="Google Shape;819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0" name="Google Shape;820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1" name="Google Shape;821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2" name="Google Shape;822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3" name="Google Shape;823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24" name="Google Shape;824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Inc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$1,004,576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831" name="Google Shape;831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$317,653</a:t>
            </a:r>
            <a:endParaRPr/>
          </a:p>
        </p:txBody>
      </p:sp>
      <p:sp>
        <p:nvSpPr>
          <p:cNvPr id="835" name="Google Shape;835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Services LLC</a:t>
            </a:r>
            <a:endParaRPr/>
          </a:p>
        </p:txBody>
      </p:sp>
      <p:sp>
        <p:nvSpPr>
          <p:cNvPr id="842" name="Google Shape;842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$223,061</a:t>
            </a:r>
            <a:endParaRPr/>
          </a:p>
        </p:txBody>
      </p:sp>
      <p:sp>
        <p:nvSpPr>
          <p:cNvPr id="846" name="Google Shape;846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Harmony Insurance Agency, Inc.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Alliance Insurance Group LLC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7" name="Google Shape;857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Rnk Insurance Services Inc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 Inc.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$117,100</a:t>
            </a:r>
            <a:endParaRPr/>
          </a:p>
        </p:txBody>
      </p:sp>
      <p:sp>
        <p:nvSpPr>
          <p:cNvPr id="868" name="Google Shape;868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(53%)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(39%)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(8%)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4.8%  ·  Declined: 155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Lydia Ramos</a:t>
            </a:r>
            <a:endParaRPr/>
          </a:p>
        </p:txBody>
      </p:sp>
      <p:sp>
        <p:nvSpPr>
          <p:cNvPr id="892" name="Google Shape;892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3" name="Google Shape;893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94" name="Google Shape;894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5" name="Google Shape;895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6" name="Google Shape;896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7" name="Google Shape;897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8" name="Google Shape;898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1" name="Google Shape;901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2" name="Google Shape;902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3" name="Google Shape;903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4" name="Google Shape;904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5" name="Google Shape;905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6" name="Google Shape;906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Rhett Jessop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531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Rasiah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0" name="Google Shape;920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Tanner Anderson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284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Ezer Rodriguez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3" name="Google Shape;933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Alexis Larrazola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Alliance Insurance Group Llc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205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6" name="Google Shape;946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Chrisann Richards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Joe Santos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9" name="Google Shape;959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Rosa Gomez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Monarca Trucking Insurance Ser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Aman Sangha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72" name="Google Shape;972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Sheri Berthel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Harmony Insurance Agency, Inc.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RASHAD KHALILOV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Rnk Insurance Services Inc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5" name="Google Shape;985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Elias Noble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Russell Rogers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12.3%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98" name="Google Shape;998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Gurt (Tirath) Nijjer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Guru Commercial &amp; Crop Insuran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Janet Martinez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Mm&amp;j Insurance Services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1" name="Google Shape;1011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Lindsay Bowman-Santos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Cody Byrd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24" name="Google Shape;1024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0" name="Google Shape;1030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2" name="Google Shape;1032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Cesar Cetino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DELUXE INSURANCE AGENCY GROUP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Craig Johnson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6" name="Google Shape;1046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Douglas Samson Jr.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Andrew Ward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59" name="Google Shape;1059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Kristina Insley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Angelica Lopez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2" name="Google Shape;1072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" name="Google Shape;1073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Michelle Pippin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Rebecca Pounds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Crossroads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5" name="Google Shape;1085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Denis Salazar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Denis A. Salazar Dba Westins I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Jenny Ramirez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8" name="Google Shape;1098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" name="Google Shape;1099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Jenna Glora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Sindia Aragon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1" name="Google Shape;1111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" name="Google Shape;1112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Samantha Yu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Hoya Insurance Agency Inc.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GAGANDEEP SINGH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4" name="Google Shape;1124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Yannick Khan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Risa Lyn Anderson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7" name="Google Shape;1137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8" name="Google Shape;1138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Denise Jimenez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Jason Eric Holmes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Premiere Solutions Insurance A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13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4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6" name="Google Shape;1156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7" name="Google Shape;1157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8" name="Google Shape;1158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0" name="Google Shape;1160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1" name="Google Shape;1161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2" name="Google Shape;1162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164" name="Google Shape;1164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$440,300  |  Subs 1052  |  Binds 22  |  HR 2.1%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$440,300 YTD GWP  |  22 binds in Q1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7" name="Google Shape;1167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168" name="Google Shape;1168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$469,248  |  Subs 535  |  Binds 12  |  HR 2.2%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$469,248 YTD GWP  |  12 binds in Q1</a:t>
            </a:r>
            <a:endParaRPr/>
          </a:p>
        </p:txBody>
      </p:sp>
      <p:sp>
        <p:nvSpPr>
          <p:cNvPr id="1170" name="Google Shape;1170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Auto Solutions Insurance Services LLC</a:t>
            </a:r>
            <a:endParaRPr/>
          </a:p>
        </p:txBody>
      </p:sp>
      <p:sp>
        <p:nvSpPr>
          <p:cNvPr id="1172" name="Google Shape;1172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$22,820  |  Subs 13  |  Binds 0  |  HR 0.0%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 in new business  |  Submission volume up 700% MoM</a:t>
            </a:r>
            <a:endParaRPr/>
          </a:p>
        </p:txBody>
      </p:sp>
      <p:sp>
        <p:nvSpPr>
          <p:cNvPr id="1174" name="Google Shape;1174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IronPoint Insurance Services, LLC</a:t>
            </a:r>
            <a:endParaRPr/>
          </a:p>
        </p:txBody>
      </p:sp>
      <p:sp>
        <p:nvSpPr>
          <p:cNvPr id="1176" name="Google Shape;1176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$53,103  |  Subs 20  |  Binds 2  |  HR 10.0%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10.0% (portfolio avg: 2.8%)  |  Submission volume up 500% MoM</a:t>
            </a:r>
            <a:endParaRPr/>
          </a:p>
        </p:txBody>
      </p:sp>
      <p:sp>
        <p:nvSpPr>
          <p:cNvPr id="1178" name="Google Shape;1178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1180" name="Google Shape;1180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$188,315  |  Subs 187  |  Binds 13  |  HR 7.0%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7.0% (portfolio avg: 2.8%)  |  $188,315 YTD GWP</a:t>
            </a:r>
            <a:endParaRPr/>
          </a:p>
        </p:txBody>
      </p:sp>
      <p:sp>
        <p:nvSpPr>
          <p:cNvPr id="1182" name="Google Shape;1182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Monarca Trucking Insurance Services Inc</a:t>
            </a:r>
            <a:endParaRPr/>
          </a:p>
        </p:txBody>
      </p:sp>
      <p:sp>
        <p:nvSpPr>
          <p:cNvPr id="1184" name="Google Shape;1184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$27,152  |  Subs 124  |  Binds 1  |  HR 0.8%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0.8% on 124 subs  |  Cancellations are 339% of new business ($40,292 vs $11,870)</a:t>
            </a:r>
            <a:endParaRPr/>
          </a:p>
        </p:txBody>
      </p:sp>
      <p:sp>
        <p:nvSpPr>
          <p:cNvPr id="1186" name="Google Shape;1186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Hoya Insurance Agency Inc.</a:t>
            </a:r>
            <a:endParaRPr/>
          </a:p>
        </p:txBody>
      </p:sp>
      <p:sp>
        <p:nvSpPr>
          <p:cNvPr id="1188" name="Google Shape;1188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$57,366  |  Subs 44  |  Binds 1  |  HR 2.3%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2.3% on 44 subs  |  Cancellations are 405% of new business ($71,003 vs $17,529)</a:t>
            </a:r>
            <a:endParaRPr/>
          </a:p>
        </p:txBody>
      </p:sp>
      <p:sp>
        <p:nvSpPr>
          <p:cNvPr id="1190" name="Google Shape;1190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Divine Insurance Agency Inc</a:t>
            </a:r>
            <a:endParaRPr/>
          </a:p>
        </p:txBody>
      </p:sp>
      <p:sp>
        <p:nvSpPr>
          <p:cNvPr id="1192" name="Google Shape;1192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$19,341  |  Subs 21  |  Binds 0  |  HR 0.0%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with 0 binds - zero conversion  |  Cancellations are 100% of new business ($19,341 vs $19,341)</a:t>
            </a:r>
            <a:endParaRPr/>
          </a:p>
        </p:txBody>
      </p:sp>
      <p:sp>
        <p:nvSpPr>
          <p:cNvPr id="1194" name="Google Shape;1194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Alliance Insurance Group Llc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$104,477  |  Subs 205  |  Binds 2  |  HR 1.0%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1.0% on 205 subs  |  Cancellations are 183% of new business ($63,861 vs $34,923)</a:t>
            </a:r>
            <a:endParaRPr/>
          </a:p>
        </p:txBody>
      </p:sp>
      <p:sp>
        <p:nvSpPr>
          <p:cNvPr id="1198" name="Google Shape;1198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Garcia and Associates Insurance Agency, In</a:t>
            </a:r>
            <a:endParaRPr/>
          </a:p>
        </p:txBody>
      </p:sp>
      <p:sp>
        <p:nvSpPr>
          <p:cNvPr id="1200" name="Google Shape;1200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$54,958  |  Subs 22  |  Binds 0  |  HR 0.0%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submissions with 0 binds - zero conversion  |  Submissions dropped 71% MoM (7 -&gt; 2)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Lydia Ramos</a:t>
            </a:r>
            <a:endParaRPr/>
          </a:p>
        </p:txBody>
      </p:sp>
      <p:sp>
        <p:nvSpPr>
          <p:cNvPr id="1208" name="Google Shape;1208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09" name="Google Shape;1209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0" name="Google Shape;1210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11" name="Google Shape;1211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2" name="Google Shape;1212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3" name="Google Shape;1213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0/0 appointed agencies have submitted (0%)  •  0/0 have bound (0%)  •  Total bound: 0  •  Total GWP: $0</a:t>
            </a:r>
            <a:endParaRPr/>
          </a:p>
        </p:txBody>
      </p:sp>
      <p:sp>
        <p:nvSpPr>
          <p:cNvPr id="1215" name="Google Shape;1215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7" name="Google Shape;1217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19" name="Google Shape;1219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1" name="Google Shape;1221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Activated Won appointments in this book year-to-date.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9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32" name="Google Shape;1232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Portfolio  |  Jan–May 2026  |  Strengths, gaps, and ranked action items</a:t>
            </a:r>
            <a:endParaRPr/>
          </a:p>
        </p:txBody>
      </p:sp>
      <p:sp>
        <p:nvSpPr>
          <p:cNvPr id="1233" name="Google Shape;1233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4" name="Google Shape;1234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35" name="Google Shape;1235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36" name="Google Shape;1236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(Tailored Insurance Group, Storrs Insurance Group, I, Insurancehub Leavitt Agen) drive $1,185,102 (31%) of portfolio YTD GWP</a:t>
            </a:r>
            <a:endParaRPr/>
          </a:p>
        </p:txBody>
      </p:sp>
      <p:sp>
        <p:nvSpPr>
          <p:cNvPr id="1237" name="Google Shape;1237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38" name="Google Shape;1238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Embedded Insurance A (27.3%), Alamar Insurance &amp; R (25.0%), Roger Calvillo Insur (16.7%)</a:t>
            </a:r>
            <a:endParaRPr/>
          </a:p>
        </p:txBody>
      </p:sp>
      <p:sp>
        <p:nvSpPr>
          <p:cNvPr id="1239" name="Google Shape;1239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40" name="Google Shape;1240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 agencies converting submissions to bound business in Jan–May 2026</a:t>
            </a:r>
            <a:endParaRPr/>
          </a:p>
        </p:txBody>
      </p:sp>
      <p:sp>
        <p:nvSpPr>
          <p:cNvPr id="1241" name="Google Shape;1241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42" name="Google Shape;1242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4,549 total submissions across 53 active agencies</a:t>
            </a:r>
            <a:endParaRPr/>
          </a:p>
        </p:txBody>
      </p:sp>
      <p:sp>
        <p:nvSpPr>
          <p:cNvPr id="1243" name="Google Shape;1243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4" name="Google Shape;1244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45" name="Google Shape;1245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46" name="Google Shape;1246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agencies submitting but 0 binds (115 subs): Garcia and Associate (22), Divine Insurance Age (21)</a:t>
            </a:r>
            <a:endParaRPr/>
          </a:p>
        </p:txBody>
      </p:sp>
      <p:sp>
        <p:nvSpPr>
          <p:cNvPr id="1247" name="Google Shape;1247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48" name="Google Shape;1248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Harmony Insurance Ag (0.7%), Monarca Trucking Ins (0.8%), Alliance Insurance G (1.0%)</a:t>
            </a:r>
            <a:endParaRPr/>
          </a:p>
        </p:txBody>
      </p:sp>
      <p:sp>
        <p:nvSpPr>
          <p:cNvPr id="1249" name="Google Shape;1249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50" name="Google Shape;1250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2.8% — below 5-8% target</a:t>
            </a:r>
            <a:endParaRPr/>
          </a:p>
        </p:txBody>
      </p:sp>
      <p:sp>
        <p:nvSpPr>
          <p:cNvPr id="1251" name="Google Shape;1251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53" name="Google Shape;1253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54" name="Google Shape;1254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55" name="Google Shape;1255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with 20+ subs but &lt;3% HR: Harmony Insurance Ag (0.7%), Monarca Trucking Ins (0.8%), Alliance Insurance G (1.0%). Conduct submission quality training to lift conversion 2-3 points.</a:t>
            </a:r>
            <a:endParaRPr/>
          </a:p>
        </p:txBody>
      </p:sp>
      <p:sp>
        <p:nvSpPr>
          <p:cNvPr id="1256" name="Google Shape;1256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57" name="Google Shape;1257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58" name="Google Shape;1258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2.8% (129 binds / 4,549 subs). Need 98 more binds. Focus on submission quality and appetite education.</a:t>
            </a:r>
            <a:endParaRPr/>
          </a:p>
        </p:txBody>
      </p:sp>
      <p:sp>
        <p:nvSpPr>
          <p:cNvPr id="1259" name="Google Shape;1259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60" name="Google Shape;1260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261" name="Google Shape;1261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agencies with 30+ subs and some binds but &lt;5% HR: Storrs Insurance Gro (1052s/22b), Tailored Insurance G (535s/12b), Insurancehub Leavitt (429s/5b). Small HR improvements on large volume = significant premium lift.</a:t>
            </a:r>
            <a:endParaRPr/>
          </a:p>
        </p:txBody>
      </p:sp>
      <p:sp>
        <p:nvSpPr>
          <p:cNvPr id="1262" name="Google Shape;1262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64" name="Google Shape;1264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agencies with cancellations &gt;40% of new biz: Storrs Insurance Group, I, Tailored Insurance Group, Guru Commercial &amp; Crop In. $1,097,146 total cancellations - investigate retention.</a:t>
            </a:r>
            <a:endParaRPr/>
          </a:p>
        </p:txBody>
      </p:sp>
      <p:sp>
        <p:nvSpPr>
          <p:cNvPr id="1265" name="Google Shape;1265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66" name="Google Shape;1266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67" name="Google Shape;1267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agencies have 86 quotes but 0 binds: Divine Insurance Agency I (17q), Garcia and Associates Ins (14q), Top Line Truck Insurance  (11q). Follow up on pricing, coverage, response time gaps.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3" name="Google Shape;1273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274" name="Google Shape;1274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 |  Last 25 Bound Submissions  |  129 Total Bound in Portfolio</a:t>
            </a:r>
            <a:endParaRPr/>
          </a:p>
        </p:txBody>
      </p:sp>
      <p:sp>
        <p:nvSpPr>
          <p:cNvPr id="1275" name="Google Shape;1275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276" name="Google Shape;1276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277" name="Google Shape;1277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78" name="Google Shape;1278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279" name="Google Shape;1279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280" name="Google Shape;1280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281" name="Google Shape;1281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282" name="Google Shape;1282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3" name="Google Shape;1283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284" name="Google Shape;1284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263780512370</a:t>
            </a:r>
            <a:endParaRPr/>
          </a:p>
        </p:txBody>
      </p:sp>
      <p:sp>
        <p:nvSpPr>
          <p:cNvPr id="1285" name="Google Shape;1285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286" name="Google Shape;1286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VISA TRUCKS</a:t>
            </a:r>
            <a:endParaRPr/>
          </a:p>
        </p:txBody>
      </p:sp>
      <p:sp>
        <p:nvSpPr>
          <p:cNvPr id="1287" name="Google Shape;1287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Lindsay Bowman-Santos</a:t>
            </a:r>
            <a:endParaRPr/>
          </a:p>
        </p:txBody>
      </p:sp>
      <p:sp>
        <p:nvSpPr>
          <p:cNvPr id="1288" name="Google Shape;1288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$15,560</a:t>
            </a:r>
            <a:endParaRPr/>
          </a:p>
        </p:txBody>
      </p:sp>
      <p:sp>
        <p:nvSpPr>
          <p:cNvPr id="1289" name="Google Shape;1289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290" name="Google Shape;1290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292" name="Google Shape;1292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260617461825</a:t>
            </a:r>
            <a:endParaRPr/>
          </a:p>
        </p:txBody>
      </p:sp>
      <p:sp>
        <p:nvSpPr>
          <p:cNvPr id="1293" name="Google Shape;1293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1294" name="Google Shape;1294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TIM LLC</a:t>
            </a:r>
            <a:endParaRPr/>
          </a:p>
        </p:txBody>
      </p:sp>
      <p:sp>
        <p:nvSpPr>
          <p:cNvPr id="1295" name="Google Shape;1295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</a:t>
            </a:r>
            <a:endParaRPr/>
          </a:p>
        </p:txBody>
      </p:sp>
      <p:sp>
        <p:nvSpPr>
          <p:cNvPr id="1296" name="Google Shape;1296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$19,987</a:t>
            </a:r>
            <a:endParaRPr/>
          </a:p>
        </p:txBody>
      </p:sp>
      <p:sp>
        <p:nvSpPr>
          <p:cNvPr id="1297" name="Google Shape;1297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298" name="Google Shape;1298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299" name="Google Shape;1299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263140977517</a:t>
            </a:r>
            <a:endParaRPr/>
          </a:p>
        </p:txBody>
      </p:sp>
      <p:sp>
        <p:nvSpPr>
          <p:cNvPr id="1300" name="Google Shape;1300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Crossroads</a:t>
            </a:r>
            <a:endParaRPr/>
          </a:p>
        </p:txBody>
      </p:sp>
      <p:sp>
        <p:nvSpPr>
          <p:cNvPr id="1301" name="Google Shape;1301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Spotter Leasing LLC</a:t>
            </a:r>
            <a:endParaRPr/>
          </a:p>
        </p:txBody>
      </p:sp>
      <p:sp>
        <p:nvSpPr>
          <p:cNvPr id="1302" name="Google Shape;1302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Rebecca Pounds</a:t>
            </a:r>
            <a:endParaRPr/>
          </a:p>
        </p:txBody>
      </p:sp>
      <p:sp>
        <p:nvSpPr>
          <p:cNvPr id="1303" name="Google Shape;1303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$33,703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05" name="Google Shape;1305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6" name="Google Shape;1306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268126792244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309" name="Google Shape;1309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SHIVAJI TRANSPORT INC</a:t>
            </a:r>
            <a:endParaRPr/>
          </a:p>
        </p:txBody>
      </p:sp>
      <p:sp>
        <p:nvSpPr>
          <p:cNvPr id="1310" name="Google Shape;1310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Aman Sangha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$18,618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264631153577</a:t>
            </a:r>
            <a:endParaRPr/>
          </a:p>
        </p:txBody>
      </p:sp>
      <p:sp>
        <p:nvSpPr>
          <p:cNvPr id="1315" name="Google Shape;1315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STONES JOURNEY LLC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Russell Rogers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$21,094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320" name="Google Shape;1320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267516791055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Insurance Store Of Texas Llc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HADDEN LOGISTICS LLC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Jason Fifield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$2,050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20, 2026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253934149871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Servic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BELMARES TRANSPORT LLC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Ezer Rodriguez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$46,550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35" name="Google Shape;1335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257982830982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SOLENE FREIGHT SOLUTIONS LLC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Elias Noble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$19,745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256170160572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BANDIDO EXPRESS TRUCKING LLC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Martin Cueto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$23,269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50" name="Google Shape;1350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261962025565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SEA TRUCKING LLC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$15,499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262248049295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RAY BOY'S HAULING LLC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Rasiah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$17,448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65" name="Google Shape;1365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261451366757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 Inc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5FIVESOLUTIONS LLC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Socorro Jurado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$23,680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265523629398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ECL TRUCKING LLC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Lindsay Bowman-Santos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$21,496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80" name="Google Shape;1380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1" name="Google Shape;1381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266729711473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Lubemer International Insurance Ag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PAYLESS LOGISTIC SERVICES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Luz Bersaida Mejia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$17,686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251594164025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GENO TRUCKING LLC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Rhett Jessop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95" name="Google Shape;1395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6" name="Google Shape;1396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267606868365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Coast Insurance Services I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JOSE D DE LA CRUZ INC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Matthew Shenouda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$26,481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264930435144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LINK USA INC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Aman Sangha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$22,041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10" name="Google Shape;1410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1" name="Google Shape;1411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268971650845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COASTLINE COMMITMENT LLC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Rasiah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$19,790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250889039736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DAMATAL AUTOS LLC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Rhett Jessop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$145,392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25" name="Google Shape;1425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269090008267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Tajalli Co.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ANT HAMILTON ENTERPRISES LLC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Amir Tajalli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$18,794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263746341049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J&amp; J Expedited Serives Llc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 BROWN EQUIP LLC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JESSICA R TRICE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$27,299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40" name="Google Shape;1440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1" name="Google Shape;1441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264490578522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GREAT STATE HAULING INC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Rhett Jessop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$19,141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267480267351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HINES VIP TRUCKING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Rasiah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$19,290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455" name="Google Shape;1455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6" name="Google Shape;1456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260269580888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BLOODLINE LOGISTICS LLC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Rhett Jessop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$20,999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269563556131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Z TRANSPORT LLC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Russell Rogers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470" name="Google Shape;1470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1" name="Google Shape;1471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$659,064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6" name="Shape 1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8" name="Google Shape;1478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479" name="Google Shape;1479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 |  Active in-force policies expiring through Aug 26, 2026</a:t>
            </a:r>
            <a:endParaRPr/>
          </a:p>
        </p:txBody>
      </p:sp>
      <p:sp>
        <p:nvSpPr>
          <p:cNvPr id="1480" name="Google Shape;1480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481" name="Google Shape;1481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$285,488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482" name="Google Shape;1482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483" name="Google Shape;1483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484" name="Google Shape;1484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485" name="Google Shape;1485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6" name="Google Shape;1486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487" name="Google Shape;1487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488" name="Google Shape;1488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489" name="Google Shape;1489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490" name="Google Shape;1490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491" name="Google Shape;1491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492" name="Google Shape;1492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493" name="Google Shape;1493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494" name="Google Shape;1494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495" name="Google Shape;1495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6" name="Google Shape;1496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1497" name="Google Shape;1497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259961228323</a:t>
            </a:r>
            <a:endParaRPr/>
          </a:p>
        </p:txBody>
      </p:sp>
      <p:sp>
        <p:nvSpPr>
          <p:cNvPr id="1498" name="Google Shape;1498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HM HILL TRUCKING LLC</a:t>
            </a:r>
            <a:endParaRPr/>
          </a:p>
        </p:txBody>
      </p:sp>
      <p:sp>
        <p:nvSpPr>
          <p:cNvPr id="1499" name="Google Shape;1499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500" name="Google Shape;1500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01" name="Google Shape;1501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02" name="Google Shape;1502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$1,012</a:t>
            </a:r>
            <a:endParaRPr/>
          </a:p>
        </p:txBody>
      </p:sp>
      <p:sp>
        <p:nvSpPr>
          <p:cNvPr id="1503" name="Google Shape;1503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</a:t>
            </a:r>
            <a:endParaRPr/>
          </a:p>
        </p:txBody>
      </p:sp>
      <p:sp>
        <p:nvSpPr>
          <p:cNvPr id="1504" name="Google Shape;1504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</a:t>
            </a:r>
            <a:endParaRPr/>
          </a:p>
        </p:txBody>
      </p:sp>
      <p:sp>
        <p:nvSpPr>
          <p:cNvPr id="1505" name="Google Shape;1505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252344447531</a:t>
            </a:r>
            <a:endParaRPr/>
          </a:p>
        </p:txBody>
      </p:sp>
      <p:sp>
        <p:nvSpPr>
          <p:cNvPr id="1506" name="Google Shape;1506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 ELSTON TRUCKING AND HAY</a:t>
            </a:r>
            <a:endParaRPr/>
          </a:p>
        </p:txBody>
      </p:sp>
      <p:sp>
        <p:nvSpPr>
          <p:cNvPr id="1507" name="Google Shape;1507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508" name="Google Shape;1508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4d</a:t>
            </a:r>
            <a:endParaRPr/>
          </a:p>
        </p:txBody>
      </p:sp>
      <p:sp>
        <p:nvSpPr>
          <p:cNvPr id="1509" name="Google Shape;1509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10" name="Google Shape;1510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</a:t>
            </a:r>
            <a:endParaRPr/>
          </a:p>
        </p:txBody>
      </p:sp>
      <p:sp>
        <p:nvSpPr>
          <p:cNvPr id="1511" name="Google Shape;1511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12" name="Google Shape;1512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3" name="Google Shape;1513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Embedded Insurance Agency, LLC</a:t>
            </a:r>
            <a:endParaRPr/>
          </a:p>
        </p:txBody>
      </p:sp>
      <p:sp>
        <p:nvSpPr>
          <p:cNvPr id="1514" name="Google Shape;1514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252999199119</a:t>
            </a:r>
            <a:endParaRPr/>
          </a:p>
        </p:txBody>
      </p:sp>
      <p:sp>
        <p:nvSpPr>
          <p:cNvPr id="1515" name="Google Shape;1515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CUTU LLC</a:t>
            </a:r>
            <a:endParaRPr/>
          </a:p>
        </p:txBody>
      </p:sp>
      <p:sp>
        <p:nvSpPr>
          <p:cNvPr id="1516" name="Google Shape;1516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2026-06-05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8d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Paladin Business Services Inc.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256784736603</a:t>
            </a:r>
            <a:endParaRPr/>
          </a:p>
        </p:txBody>
      </p:sp>
      <p:sp>
        <p:nvSpPr>
          <p:cNvPr id="1523" name="Google Shape;1523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KEOSHI DELIVERY LLC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25" name="Google Shape;1525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26" name="Google Shape;1526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$16,428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NV</a:t>
            </a:r>
            <a:endParaRPr/>
          </a:p>
        </p:txBody>
      </p:sp>
      <p:sp>
        <p:nvSpPr>
          <p:cNvPr id="1529" name="Google Shape;1529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0" name="Google Shape;1530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255466928174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RAZO TRUCKING LLC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2026-06-19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22d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250471857713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AAR TRANSPORT L L C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2026-06-25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28d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$16,809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MN</a:t>
            </a:r>
            <a:endParaRPr/>
          </a:p>
        </p:txBody>
      </p:sp>
      <p:sp>
        <p:nvSpPr>
          <p:cNvPr id="1546" name="Google Shape;1546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7" name="Google Shape;1547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250772194249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FEARS LLC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2026-06-25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28d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$16,355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251333340424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BUCKYS TRANSPORTATION LLC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2026-06-28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31d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63" name="Google Shape;1563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4" name="Google Shape;1564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253406099755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FAAME TRANSPORT LLC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2026-07-01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34d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$1,826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250504587841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DUBGEE LOGISTICS LLC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2026-07-03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36d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$2,512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</a:t>
            </a:r>
            <a:endParaRPr/>
          </a:p>
        </p:txBody>
      </p:sp>
      <p:sp>
        <p:nvSpPr>
          <p:cNvPr id="1580" name="Google Shape;1580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1" name="Google Shape;1581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254742582359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 F HUDSON AND SON LLC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2026-07-08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41d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$19,608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255589525405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GITTA'S TRANSPORTATION SERVICES LLC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2026-07-10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43d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$9,910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</a:t>
            </a:r>
            <a:endParaRPr/>
          </a:p>
        </p:txBody>
      </p:sp>
      <p:sp>
        <p:nvSpPr>
          <p:cNvPr id="1597" name="Google Shape;1597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Lex Insurance Agency Llc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259884083198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FIRST EXPRESS TRANSPORTATION LLC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2026-07-16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49d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$27,141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30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0" name="Shape 1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Google Shape;1611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13" name="Google Shape;1613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Lydia Ramos  |  Policies with cancellation_date on or before Aug 26, 2026  |  Sorted by urgency — call these agencies first</a:t>
            </a:r>
            <a:endParaRPr/>
          </a:p>
        </p:txBody>
      </p:sp>
      <p:sp>
        <p:nvSpPr>
          <p:cNvPr id="1614" name="Google Shape;1614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15" name="Google Shape;1615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16" name="Google Shape;1616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17" name="Google Shape;1617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18" name="Google Shape;1618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19" name="Google Shape;1619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21" name="Google Shape;1621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22" name="Google Shape;1622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23" name="Google Shape;1623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24" name="Google Shape;1624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25" name="Google Shape;1625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26" name="Google Shape;1626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27" name="Google Shape;1627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28" name="Google Shape;1628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29" name="Google Shape;1629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30" name="Google Shape;1630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1" name="Google Shape;1631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32" name="Google Shape;1632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33" name="Google Shape;1633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266042474421</a:t>
            </a:r>
            <a:endParaRPr/>
          </a:p>
        </p:txBody>
      </p:sp>
      <p:sp>
        <p:nvSpPr>
          <p:cNvPr id="1634" name="Google Shape;1634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 &amp; AV TRANSPORT LLC</a:t>
            </a:r>
            <a:endParaRPr/>
          </a:p>
        </p:txBody>
      </p:sp>
      <p:sp>
        <p:nvSpPr>
          <p:cNvPr id="1635" name="Google Shape;1635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Lubemer International Insur</a:t>
            </a:r>
            <a:endParaRPr/>
          </a:p>
        </p:txBody>
      </p:sp>
      <p:sp>
        <p:nvSpPr>
          <p:cNvPr id="1636" name="Google Shape;1636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37" name="Google Shape;1637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38" name="Google Shape;1638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$3,895</a:t>
            </a:r>
            <a:endParaRPr/>
          </a:p>
        </p:txBody>
      </p:sp>
      <p:sp>
        <p:nvSpPr>
          <p:cNvPr id="1639" name="Google Shape;1639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40" name="Google Shape;1640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41" name="Google Shape;1641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42" name="Google Shape;1642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266042474421</a:t>
            </a:r>
            <a:endParaRPr/>
          </a:p>
        </p:txBody>
      </p:sp>
      <p:sp>
        <p:nvSpPr>
          <p:cNvPr id="1643" name="Google Shape;1643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 &amp; AV TRANSPORT LLC</a:t>
            </a:r>
            <a:endParaRPr/>
          </a:p>
        </p:txBody>
      </p:sp>
      <p:sp>
        <p:nvSpPr>
          <p:cNvPr id="1644" name="Google Shape;1644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Lubemer International Insur</a:t>
            </a:r>
            <a:endParaRPr/>
          </a:p>
        </p:txBody>
      </p:sp>
      <p:sp>
        <p:nvSpPr>
          <p:cNvPr id="1645" name="Google Shape;1645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46" name="Google Shape;1646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47" name="Google Shape;1647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</a:t>
            </a:r>
            <a:endParaRPr/>
          </a:p>
        </p:txBody>
      </p:sp>
      <p:sp>
        <p:nvSpPr>
          <p:cNvPr id="1648" name="Google Shape;1648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49" name="Google Shape;1649;p15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0" name="Google Shape;1650;p15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51" name="Google Shape;1651;p15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52" name="Google Shape;1652;p15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266042474421</a:t>
            </a:r>
            <a:endParaRPr/>
          </a:p>
        </p:txBody>
      </p:sp>
      <p:sp>
        <p:nvSpPr>
          <p:cNvPr id="1653" name="Google Shape;1653;p15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JS &amp; AV TRANSPORT LLC</a:t>
            </a:r>
            <a:endParaRPr/>
          </a:p>
        </p:txBody>
      </p:sp>
      <p:sp>
        <p:nvSpPr>
          <p:cNvPr id="1654" name="Google Shape;1654;p15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Lubemer International Insur</a:t>
            </a:r>
            <a:endParaRPr/>
          </a:p>
        </p:txBody>
      </p:sp>
      <p:sp>
        <p:nvSpPr>
          <p:cNvPr id="1655" name="Google Shape;1655;p1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56" name="Google Shape;1656;p15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57" name="Google Shape;1657;p15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$483</a:t>
            </a:r>
            <a:endParaRPr/>
          </a:p>
        </p:txBody>
      </p:sp>
      <p:sp>
        <p:nvSpPr>
          <p:cNvPr id="1658" name="Google Shape;1658;p15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659" name="Google Shape;1659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3" name="Shape 1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Google Shape;1664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5" name="Google Shape;1665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Tailored Insurance Group</a:t>
            </a:r>
            <a:endParaRPr/>
          </a:p>
        </p:txBody>
      </p:sp>
      <p:sp>
        <p:nvSpPr>
          <p:cNvPr id="1666" name="Google Shape;1666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UT  |  City: Lehi</a:t>
            </a:r>
            <a:endParaRPr/>
          </a:p>
        </p:txBody>
      </p:sp>
      <p:sp>
        <p:nvSpPr>
          <p:cNvPr id="1667" name="Google Shape;1667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$469,248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68" name="Google Shape;1668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$266,625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69" name="Google Shape;1669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70" name="Google Shape;1670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$191,084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71" name="Google Shape;1671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$-194,240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72" name="Google Shape;1672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$904,714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73" name="Google Shape;1673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$937,998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74" name="Google Shape;1674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75" name="Google Shape;1675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76" name="Google Shape;1676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77" name="Google Shape;1677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78" name="Google Shape;1678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$188,292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79" name="Google Shape;1679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$229,275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80" name="Google Shape;1680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1" name="Google Shape;1681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84" name="Google Shape;1684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85" name="Google Shape;1685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86" name="Google Shape;1686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87" name="Google Shape;1687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88" name="Google Shape;1688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9" name="Google Shape;1689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$120,992</a:t>
            </a:r>
            <a:endParaRPr/>
          </a:p>
        </p:txBody>
      </p:sp>
      <p:sp>
        <p:nvSpPr>
          <p:cNvPr id="1691" name="Google Shape;1691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2" name="Google Shape;1692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3" name="Google Shape;1693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$120,992</a:t>
            </a:r>
            <a:endParaRPr/>
          </a:p>
        </p:txBody>
      </p:sp>
      <p:sp>
        <p:nvSpPr>
          <p:cNvPr id="1694" name="Google Shape;1694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$-54,880</a:t>
            </a:r>
            <a:endParaRPr/>
          </a:p>
        </p:txBody>
      </p:sp>
      <p:sp>
        <p:nvSpPr>
          <p:cNvPr id="1695" name="Google Shape;1695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6" name="Google Shape;1696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$33,637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$33,532</a:t>
            </a:r>
            <a:endParaRPr/>
          </a:p>
        </p:txBody>
      </p:sp>
      <p:sp>
        <p:nvSpPr>
          <p:cNvPr id="1699" name="Google Shape;1699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00" name="Google Shape;1700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</a:t>
            </a:r>
            <a:endParaRPr/>
          </a:p>
        </p:txBody>
      </p:sp>
      <p:sp>
        <p:nvSpPr>
          <p:cNvPr id="1701" name="Google Shape;1701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$-5,751</a:t>
            </a:r>
            <a:endParaRPr/>
          </a:p>
        </p:txBody>
      </p:sp>
      <p:sp>
        <p:nvSpPr>
          <p:cNvPr id="1702" name="Google Shape;1702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$117,415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$78,931</a:t>
            </a:r>
            <a:endParaRPr/>
          </a:p>
        </p:txBody>
      </p:sp>
      <p:sp>
        <p:nvSpPr>
          <p:cNvPr id="1706" name="Google Shape;1706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07" name="Google Shape;1707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$38,484</a:t>
            </a:r>
            <a:endParaRPr/>
          </a:p>
        </p:txBody>
      </p:sp>
      <p:sp>
        <p:nvSpPr>
          <p:cNvPr id="1708" name="Google Shape;1708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$-67,699</a:t>
            </a:r>
            <a:endParaRPr/>
          </a:p>
        </p:txBody>
      </p:sp>
      <p:sp>
        <p:nvSpPr>
          <p:cNvPr id="1709" name="Google Shape;1709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0" name="Google Shape;1710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$104,277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$82,525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14" name="Google Shape;1714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$21,753</a:t>
            </a:r>
            <a:endParaRPr/>
          </a:p>
        </p:txBody>
      </p:sp>
      <p:sp>
        <p:nvSpPr>
          <p:cNvPr id="1715" name="Google Shape;1715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$-27,073</a:t>
            </a:r>
            <a:endParaRPr/>
          </a:p>
        </p:txBody>
      </p:sp>
      <p:sp>
        <p:nvSpPr>
          <p:cNvPr id="1716" name="Google Shape;1716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7" name="Google Shape;1717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$92,926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$71,637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$11,540</a:t>
            </a:r>
            <a:endParaRPr/>
          </a:p>
        </p:txBody>
      </p:sp>
      <p:sp>
        <p:nvSpPr>
          <p:cNvPr id="1721" name="Google Shape;1721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$9,750</a:t>
            </a:r>
            <a:endParaRPr/>
          </a:p>
        </p:txBody>
      </p:sp>
      <p:sp>
        <p:nvSpPr>
          <p:cNvPr id="1722" name="Google Shape;1722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$-38,837</a:t>
            </a:r>
            <a:endParaRPr/>
          </a:p>
        </p:txBody>
      </p:sp>
      <p:sp>
        <p:nvSpPr>
          <p:cNvPr id="1723" name="Google Shape;1723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4" name="Google Shape;1724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$469,248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$266,625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$11,540</a:t>
            </a:r>
            <a:endParaRPr/>
          </a:p>
        </p:txBody>
      </p:sp>
      <p:sp>
        <p:nvSpPr>
          <p:cNvPr id="1728" name="Google Shape;1728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$191,084</a:t>
            </a:r>
            <a:endParaRPr/>
          </a:p>
        </p:txBody>
      </p:sp>
      <p:sp>
        <p:nvSpPr>
          <p:cNvPr id="1729" name="Google Shape;1729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$-194,240</a:t>
            </a:r>
            <a:endParaRPr/>
          </a:p>
        </p:txBody>
      </p:sp>
      <p:sp>
        <p:nvSpPr>
          <p:cNvPr id="1730" name="Google Shape;1730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36" name="Google Shape;1736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38" name="Google Shape;1738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9" name="Google Shape;1739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745" name="Google Shape;1745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6" name="Google Shape;1746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1752" name="Google Shape;1752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759" name="Google Shape;1759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0" name="Google Shape;1760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1766" name="Google Shape;1766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7" name="Google Shape;1767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1773" name="Google Shape;1773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4" name="Google Shape;1774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535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478</a:t>
            </a:r>
            <a:endParaRPr/>
          </a:p>
        </p:txBody>
      </p:sp>
      <p:sp>
        <p:nvSpPr>
          <p:cNvPr id="1778" name="Google Shape;1778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780" name="Google Shape;1780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83" name="Google Shape;1783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795" name="Google Shape;1795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115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823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560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$185K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1813" name="Google Shape;1813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$145K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$117K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$104K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1818" name="Google Shape;1818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$436K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$469K</a:t>
            </a:r>
            <a:endParaRPr/>
          </a:p>
        </p:txBody>
      </p:sp>
      <p:sp>
        <p:nvSpPr>
          <p:cNvPr id="1821" name="Google Shape;1821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2" name="Google Shape;1822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$469,248 YTD gross written premium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$266,625 in new business production</a:t>
            </a:r>
            <a:endParaRPr/>
          </a:p>
        </p:txBody>
      </p:sp>
      <p:sp>
        <p:nvSpPr>
          <p:cNvPr id="1827" name="Google Shape;1827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2.2% hit ratio on 535 subs - needs coaching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73% of new business ($194,240)</a:t>
            </a:r>
            <a:endParaRPr/>
          </a:p>
        </p:txBody>
      </p:sp>
      <p:sp>
        <p:nvSpPr>
          <p:cNvPr id="1833" name="Google Shape;1833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4" name="Google Shape;1834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(535 subs, only 12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$266,625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2" name="Shape 1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1843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4" name="Google Shape;1844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Storrs Insurance Group, Inc.</a:t>
            </a:r>
            <a:endParaRPr/>
          </a:p>
        </p:txBody>
      </p:sp>
      <p:sp>
        <p:nvSpPr>
          <p:cNvPr id="1845" name="Google Shape;1845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San Diego</a:t>
            </a:r>
            <a:endParaRPr/>
          </a:p>
        </p:txBody>
      </p:sp>
      <p:sp>
        <p:nvSpPr>
          <p:cNvPr id="1846" name="Google Shape;1846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$440,300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47" name="Google Shape;1847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$334,344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48" name="Google Shape;1848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49" name="Google Shape;1849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$89,854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50" name="Google Shape;1850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$-209,734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51" name="Google Shape;1851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$1,744,214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52" name="Google Shape;1852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$1,302,119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53" name="Google Shape;1853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54" name="Google Shape;1854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55" name="Google Shape;1855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56" name="Google Shape;1856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57" name="Google Shape;1857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58" name="Google Shape;1858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$381,077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59" name="Google Shape;1859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0" name="Google Shape;1860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61" name="Google Shape;1861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62" name="Google Shape;1862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63" name="Google Shape;1863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64" name="Google Shape;1864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65" name="Google Shape;1865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66" name="Google Shape;1866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67" name="Google Shape;1867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8" name="Google Shape;1868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69" name="Google Shape;1869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$85,326</a:t>
            </a:r>
            <a:endParaRPr/>
          </a:p>
        </p:txBody>
      </p:sp>
      <p:sp>
        <p:nvSpPr>
          <p:cNvPr id="1870" name="Google Shape;1870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$64,956</a:t>
            </a:r>
            <a:endParaRPr/>
          </a:p>
        </p:txBody>
      </p:sp>
      <p:sp>
        <p:nvSpPr>
          <p:cNvPr id="1871" name="Google Shape;1871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2" name="Google Shape;1872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$20,371</a:t>
            </a:r>
            <a:endParaRPr/>
          </a:p>
        </p:txBody>
      </p:sp>
      <p:sp>
        <p:nvSpPr>
          <p:cNvPr id="1873" name="Google Shape;1873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$-28,644</a:t>
            </a:r>
            <a:endParaRPr/>
          </a:p>
        </p:txBody>
      </p:sp>
      <p:sp>
        <p:nvSpPr>
          <p:cNvPr id="1874" name="Google Shape;1874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5" name="Google Shape;1875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$31,150</a:t>
            </a:r>
            <a:endParaRPr/>
          </a:p>
        </p:txBody>
      </p:sp>
      <p:sp>
        <p:nvSpPr>
          <p:cNvPr id="1877" name="Google Shape;1877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$14,037</a:t>
            </a:r>
            <a:endParaRPr/>
          </a:p>
        </p:txBody>
      </p:sp>
      <p:sp>
        <p:nvSpPr>
          <p:cNvPr id="1878" name="Google Shape;1878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$17,113</a:t>
            </a:r>
            <a:endParaRPr/>
          </a:p>
        </p:txBody>
      </p:sp>
      <p:sp>
        <p:nvSpPr>
          <p:cNvPr id="1880" name="Google Shape;1880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$-78,148</a:t>
            </a:r>
            <a:endParaRPr/>
          </a:p>
        </p:txBody>
      </p:sp>
      <p:sp>
        <p:nvSpPr>
          <p:cNvPr id="1881" name="Google Shape;1881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$114,444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$84,225</a:t>
            </a:r>
            <a:endParaRPr/>
          </a:p>
        </p:txBody>
      </p:sp>
      <p:sp>
        <p:nvSpPr>
          <p:cNvPr id="1885" name="Google Shape;1885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$10,377</a:t>
            </a:r>
            <a:endParaRPr/>
          </a:p>
        </p:txBody>
      </p:sp>
      <p:sp>
        <p:nvSpPr>
          <p:cNvPr id="1886" name="Google Shape;1886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$19,842</a:t>
            </a:r>
            <a:endParaRPr/>
          </a:p>
        </p:txBody>
      </p:sp>
      <p:sp>
        <p:nvSpPr>
          <p:cNvPr id="1887" name="Google Shape;1887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$-42,280</a:t>
            </a:r>
            <a:endParaRPr/>
          </a:p>
        </p:txBody>
      </p:sp>
      <p:sp>
        <p:nvSpPr>
          <p:cNvPr id="1888" name="Google Shape;1888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9" name="Google Shape;1889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$121,027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$88,733</a:t>
            </a:r>
            <a:endParaRPr/>
          </a:p>
        </p:txBody>
      </p:sp>
      <p:sp>
        <p:nvSpPr>
          <p:cNvPr id="1892" name="Google Shape;1892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3" name="Google Shape;1893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$32,294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$-40,810</a:t>
            </a:r>
            <a:endParaRPr/>
          </a:p>
        </p:txBody>
      </p:sp>
      <p:sp>
        <p:nvSpPr>
          <p:cNvPr id="1895" name="Google Shape;1895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6" name="Google Shape;1896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$88,353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$82,394</a:t>
            </a:r>
            <a:endParaRPr/>
          </a:p>
        </p:txBody>
      </p:sp>
      <p:sp>
        <p:nvSpPr>
          <p:cNvPr id="1899" name="Google Shape;1899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$5,725</a:t>
            </a:r>
            <a:endParaRPr/>
          </a:p>
        </p:txBody>
      </p:sp>
      <p:sp>
        <p:nvSpPr>
          <p:cNvPr id="1900" name="Google Shape;1900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$-19,852</a:t>
            </a:r>
            <a:endParaRPr/>
          </a:p>
        </p:txBody>
      </p:sp>
      <p:sp>
        <p:nvSpPr>
          <p:cNvPr id="1902" name="Google Shape;1902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3" name="Google Shape;1903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$440,300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$334,344</a:t>
            </a:r>
            <a:endParaRPr/>
          </a:p>
        </p:txBody>
      </p:sp>
      <p:sp>
        <p:nvSpPr>
          <p:cNvPr id="1906" name="Google Shape;1906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$16,102</a:t>
            </a:r>
            <a:endParaRPr/>
          </a:p>
        </p:txBody>
      </p:sp>
      <p:sp>
        <p:nvSpPr>
          <p:cNvPr id="1907" name="Google Shape;1907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$89,854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$-209,734</a:t>
            </a:r>
            <a:endParaRPr/>
          </a:p>
        </p:txBody>
      </p:sp>
      <p:sp>
        <p:nvSpPr>
          <p:cNvPr id="1909" name="Google Shape;1909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0" name="Google Shape;1910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14" name="Google Shape;1914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17" name="Google Shape;1917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8" name="Google Shape;1918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921" name="Google Shape;1921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924" name="Google Shape;1924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5" name="Google Shape;1925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209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1931" name="Google Shape;1931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2" name="Google Shape;1932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1938" name="Google Shape;1938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1945" name="Google Shape;1945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6" name="Google Shape;1946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1952" name="Google Shape;1952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3" name="Google Shape;1953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1052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1956" name="Google Shape;1956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993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959" name="Google Shape;1959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62" name="Google Shape;1962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69" name="Google Shape;1969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325</a:t>
            </a:r>
            <a:endParaRPr/>
          </a:p>
        </p:txBody>
      </p:sp>
      <p:sp>
        <p:nvSpPr>
          <p:cNvPr id="1976" name="Google Shape;1976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209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298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288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247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190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1474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1085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1989" name="Google Shape;1989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1990" name="Google Shape;1990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$218K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1992" name="Google Shape;1992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$215K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$295K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$882K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$440K</a:t>
            </a:r>
            <a:endParaRPr/>
          </a:p>
        </p:txBody>
      </p:sp>
      <p:sp>
        <p:nvSpPr>
          <p:cNvPr id="2000" name="Google Shape;2000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Google Shape;2001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$440,300 YTD gross written premium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$334,344 in new business production</a:t>
            </a:r>
            <a:endParaRPr/>
          </a:p>
        </p:txBody>
      </p:sp>
      <p:sp>
        <p:nvSpPr>
          <p:cNvPr id="2006" name="Google Shape;2006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007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2.1% hit ratio on 1052 subs - needs coaching</a:t>
            </a:r>
            <a:endParaRPr/>
          </a:p>
        </p:txBody>
      </p:sp>
      <p:sp>
        <p:nvSpPr>
          <p:cNvPr id="2010" name="Google Shape;2010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63% of new business ($209,734)</a:t>
            </a:r>
            <a:endParaRPr/>
          </a:p>
        </p:txBody>
      </p:sp>
      <p:sp>
        <p:nvSpPr>
          <p:cNvPr id="2012" name="Google Shape;2012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15" name="Google Shape;2015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(1052 subs, only 22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$334,344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1" name="Shape 2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2" name="Google Shape;2022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3" name="Google Shape;2023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Insurancehub Leavitt Agency, Inc</a:t>
            </a:r>
            <a:endParaRPr/>
          </a:p>
        </p:txBody>
      </p:sp>
      <p:sp>
        <p:nvSpPr>
          <p:cNvPr id="2024" name="Google Shape;2024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GA  |  City: Lawrenceville</a:t>
            </a:r>
            <a:endParaRPr/>
          </a:p>
        </p:txBody>
      </p:sp>
      <p:sp>
        <p:nvSpPr>
          <p:cNvPr id="2025" name="Google Shape;2025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$275,554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26" name="Google Shape;2026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27" name="Google Shape;2027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28" name="Google Shape;2028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$-11,211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29" name="Google Shape;2029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$-56,475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30" name="Google Shape;2030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$951,417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31" name="Google Shape;2031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$575,416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32" name="Google Shape;2032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33" name="Google Shape;2033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34" name="Google Shape;2034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35" name="Google Shape;2035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36" name="Google Shape;2036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$198,161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37" name="Google Shape;2037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$114,813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38" name="Google Shape;2038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9" name="Google Shape;2039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40" name="Google Shape;2040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41" name="Google Shape;2041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42" name="Google Shape;2042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43" name="Google Shape;2043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44" name="Google Shape;2044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45" name="Google Shape;2045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46" name="Google Shape;2046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48" name="Google Shape;2048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$70,393</a:t>
            </a:r>
            <a:endParaRPr/>
          </a:p>
        </p:txBody>
      </p:sp>
      <p:sp>
        <p:nvSpPr>
          <p:cNvPr id="2049" name="Google Shape;2049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$55,248</a:t>
            </a:r>
            <a:endParaRPr/>
          </a:p>
        </p:txBody>
      </p:sp>
      <p:sp>
        <p:nvSpPr>
          <p:cNvPr id="2050" name="Google Shape;2050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$20,828</a:t>
            </a:r>
            <a:endParaRPr/>
          </a:p>
        </p:txBody>
      </p:sp>
      <p:sp>
        <p:nvSpPr>
          <p:cNvPr id="2051" name="Google Shape;2051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$-5,683</a:t>
            </a:r>
            <a:endParaRPr/>
          </a:p>
        </p:txBody>
      </p:sp>
      <p:sp>
        <p:nvSpPr>
          <p:cNvPr id="2052" name="Google Shape;2052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$-22,500</a:t>
            </a:r>
            <a:endParaRPr/>
          </a:p>
        </p:txBody>
      </p:sp>
      <p:sp>
        <p:nvSpPr>
          <p:cNvPr id="2053" name="Google Shape;2053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55" name="Google Shape;2055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$7,110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7" name="Google Shape;2057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8" name="Google Shape;2058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$7,110</a:t>
            </a:r>
            <a:endParaRPr/>
          </a:p>
        </p:txBody>
      </p:sp>
      <p:sp>
        <p:nvSpPr>
          <p:cNvPr id="2059" name="Google Shape;2059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$-10,808</a:t>
            </a:r>
            <a:endParaRPr/>
          </a:p>
        </p:txBody>
      </p:sp>
      <p:sp>
        <p:nvSpPr>
          <p:cNvPr id="2060" name="Google Shape;2060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62" name="Google Shape;2062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$198,817</a:t>
            </a:r>
            <a:endParaRPr/>
          </a:p>
        </p:txBody>
      </p:sp>
      <p:sp>
        <p:nvSpPr>
          <p:cNvPr id="2063" name="Google Shape;2063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$210,690</a:t>
            </a:r>
            <a:endParaRPr/>
          </a:p>
        </p:txBody>
      </p:sp>
      <p:sp>
        <p:nvSpPr>
          <p:cNvPr id="2064" name="Google Shape;2064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5" name="Google Shape;2065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$-11,872</a:t>
            </a:r>
            <a:endParaRPr/>
          </a:p>
        </p:txBody>
      </p:sp>
      <p:sp>
        <p:nvSpPr>
          <p:cNvPr id="2066" name="Google Shape;2066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$-23,167</a:t>
            </a:r>
            <a:endParaRPr/>
          </a:p>
        </p:txBody>
      </p:sp>
      <p:sp>
        <p:nvSpPr>
          <p:cNvPr id="2067" name="Google Shape;2067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8" name="Google Shape;2068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69" name="Google Shape;2069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$-1,263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$-1,263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4" name="Google Shape;2074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5" name="Google Shape;2075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76" name="Google Shape;2076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1" name="Google Shape;2081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83" name="Google Shape;2083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$275,554</a:t>
            </a:r>
            <a:endParaRPr/>
          </a:p>
        </p:txBody>
      </p:sp>
      <p:sp>
        <p:nvSpPr>
          <p:cNvPr id="2084" name="Google Shape;2084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$265,938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$20,828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$-11,211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$-56,475</a:t>
            </a:r>
            <a:endParaRPr/>
          </a:p>
        </p:txBody>
      </p:sp>
      <p:sp>
        <p:nvSpPr>
          <p:cNvPr id="2088" name="Google Shape;2088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9" name="Google Shape;2089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90" name="Google Shape;2090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95" name="Google Shape;2095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96" name="Google Shape;2096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7" name="Google Shape;2097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103" name="Google Shape;2103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4" name="Google Shape;2104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2110" name="Google Shape;2110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2117" name="Google Shape;2117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8" name="Google Shape;2118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2124" name="Google Shape;2124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5" name="Google Shape;2125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2131" name="Google Shape;2131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429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366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2138" name="Google Shape;2138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9" name="Google Shape;2139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41" name="Google Shape;2141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53" name="Google Shape;2153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579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441</a:t>
            </a:r>
            <a:endParaRPr/>
          </a:p>
        </p:txBody>
      </p:sp>
      <p:sp>
        <p:nvSpPr>
          <p:cNvPr id="2166" name="Google Shape;2166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67" name="Google Shape;2167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$216K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2173" name="Google Shape;2173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$147K</a:t>
            </a:r>
            <a:endParaRPr/>
          </a:p>
        </p:txBody>
      </p:sp>
      <p:sp>
        <p:nvSpPr>
          <p:cNvPr id="2174" name="Google Shape;2174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$-1,263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$119K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$496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$652K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$276K</a:t>
            </a:r>
            <a:endParaRPr/>
          </a:p>
        </p:txBody>
      </p:sp>
      <p:sp>
        <p:nvSpPr>
          <p:cNvPr id="2179" name="Google Shape;2179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0" name="Google Shape;2180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$275,554 YTD gross written premium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$265,938 in new business production</a:t>
            </a:r>
            <a:endParaRPr/>
          </a:p>
        </p:txBody>
      </p:sp>
      <p:sp>
        <p:nvSpPr>
          <p:cNvPr id="2185" name="Google Shape;2185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6" name="Google Shape;2186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1.2% hit ratio on 429 subs - needs coaching</a:t>
            </a:r>
            <a:endParaRPr/>
          </a:p>
        </p:txBody>
      </p:sp>
      <p:sp>
        <p:nvSpPr>
          <p:cNvPr id="2189" name="Google Shape;2189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0" name="Google Shape;2190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(429 subs, only 5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93" name="Google Shape;2193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94" name="Google Shape;2194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$265,938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98" name="Shape 2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9" name="Google Shape;2199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Cal-Valley Insurance Services, Inc.</a:t>
            </a:r>
            <a:endParaRPr/>
          </a:p>
        </p:txBody>
      </p:sp>
      <p:sp>
        <p:nvSpPr>
          <p:cNvPr id="2201" name="Google Shape;2201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Fresno</a:t>
            </a:r>
            <a:endParaRPr/>
          </a:p>
        </p:txBody>
      </p:sp>
      <p:sp>
        <p:nvSpPr>
          <p:cNvPr id="2202" name="Google Shape;2202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$229,188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203" name="Google Shape;2203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$227,748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04" name="Google Shape;2204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05" name="Google Shape;2205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06" name="Google Shape;2206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$-53,417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07" name="Google Shape;2207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$402,593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208" name="Google Shape;2208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$553,760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209" name="Google Shape;2209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210" name="Google Shape;2210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11" name="Google Shape;2211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12" name="Google Shape;2212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13" name="Google Shape;2213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14" name="Google Shape;2214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15" name="Google Shape;2215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6" name="Google Shape;2216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17" name="Google Shape;2217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18" name="Google Shape;2218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19" name="Google Shape;2219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20" name="Google Shape;2220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21" name="Google Shape;2221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22" name="Google Shape;2222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23" name="Google Shape;2223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25" name="Google Shape;2225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6" name="Google Shape;2226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7" name="Google Shape;2227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8" name="Google Shape;2228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9" name="Google Shape;2229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0" name="Google Shape;2230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1" name="Google Shape;2231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32" name="Google Shape;2232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4" name="Google Shape;2234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5" name="Google Shape;2235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7" name="Google Shape;2237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8" name="Google Shape;2238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39" name="Google Shape;2239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$34,630</a:t>
            </a:r>
            <a:endParaRPr/>
          </a:p>
        </p:txBody>
      </p:sp>
      <p:sp>
        <p:nvSpPr>
          <p:cNvPr id="2240" name="Google Shape;2240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$24,155</a:t>
            </a:r>
            <a:endParaRPr/>
          </a:p>
        </p:txBody>
      </p:sp>
      <p:sp>
        <p:nvSpPr>
          <p:cNvPr id="2241" name="Google Shape;2241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2" name="Google Shape;2242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$10,475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4" name="Google Shape;2244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5" name="Google Shape;2245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46" name="Google Shape;2246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$126,990</a:t>
            </a:r>
            <a:endParaRPr/>
          </a:p>
        </p:txBody>
      </p:sp>
      <p:sp>
        <p:nvSpPr>
          <p:cNvPr id="2247" name="Google Shape;2247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$136,494</a:t>
            </a:r>
            <a:endParaRPr/>
          </a:p>
        </p:txBody>
      </p:sp>
      <p:sp>
        <p:nvSpPr>
          <p:cNvPr id="2248" name="Google Shape;2248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$-9,504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1" name="Google Shape;2251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2" name="Google Shape;2252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53" name="Google Shape;2253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$67,568</a:t>
            </a:r>
            <a:endParaRPr/>
          </a:p>
        </p:txBody>
      </p:sp>
      <p:sp>
        <p:nvSpPr>
          <p:cNvPr id="2254" name="Google Shape;2254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$67,099</a:t>
            </a:r>
            <a:endParaRPr/>
          </a:p>
        </p:txBody>
      </p:sp>
      <p:sp>
        <p:nvSpPr>
          <p:cNvPr id="2255" name="Google Shape;2255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6" name="Google Shape;2256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$469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$-53,417</a:t>
            </a:r>
            <a:endParaRPr/>
          </a:p>
        </p:txBody>
      </p:sp>
      <p:sp>
        <p:nvSpPr>
          <p:cNvPr id="2258" name="Google Shape;2258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9" name="Google Shape;2259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60" name="Google Shape;2260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$229,188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$227,748</a:t>
            </a:r>
            <a:endParaRPr/>
          </a:p>
        </p:txBody>
      </p:sp>
      <p:sp>
        <p:nvSpPr>
          <p:cNvPr id="2262" name="Google Shape;2262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63" name="Google Shape;2263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$1,440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$-53,417</a:t>
            </a:r>
            <a:endParaRPr/>
          </a:p>
        </p:txBody>
      </p:sp>
      <p:sp>
        <p:nvSpPr>
          <p:cNvPr id="2265" name="Google Shape;2265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6" name="Google Shape;2266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67" name="Google Shape;2267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70" name="Google Shape;2270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73" name="Google Shape;2273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276" name="Google Shape;2276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80" name="Google Shape;2280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1" name="Google Shape;2281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84" name="Google Shape;2284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87" name="Google Shape;2287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8" name="Google Shape;2288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294" name="Google Shape;2294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5" name="Google Shape;2295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12.1%</a:t>
            </a:r>
            <a:endParaRPr/>
          </a:p>
        </p:txBody>
      </p:sp>
      <p:sp>
        <p:nvSpPr>
          <p:cNvPr id="2301" name="Google Shape;2301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2" name="Google Shape;2302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2308" name="Google Shape;2308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9" name="Google Shape;2309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2315" name="Google Shape;2315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6" name="Google Shape;2316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18" name="Google Shape;2318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30" name="Google Shape;2330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153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5" name="Google Shape;2345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$386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$505</a:t>
            </a:r>
            <a:endParaRPr/>
          </a:p>
        </p:txBody>
      </p:sp>
      <p:sp>
        <p:nvSpPr>
          <p:cNvPr id="2351" name="Google Shape;2351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$127K</a:t>
            </a:r>
            <a:endParaRPr/>
          </a:p>
        </p:txBody>
      </p:sp>
      <p:sp>
        <p:nvSpPr>
          <p:cNvPr id="2352" name="Google Shape;2352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$229K</a:t>
            </a:r>
            <a:endParaRPr/>
          </a:p>
        </p:txBody>
      </p:sp>
      <p:sp>
        <p:nvSpPr>
          <p:cNvPr id="2356" name="Google Shape;2356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7" name="Google Shape;2357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59" name="Google Shape;2359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$229,188 YTD gross written premium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$227,748 in new business production</a:t>
            </a:r>
            <a:endParaRPr/>
          </a:p>
        </p:txBody>
      </p:sp>
      <p:sp>
        <p:nvSpPr>
          <p:cNvPr id="2362" name="Google Shape;2362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3" name="Google Shape;2363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146 subs - needs coaching</a:t>
            </a:r>
            <a:endParaRPr/>
          </a:p>
        </p:txBody>
      </p:sp>
      <p:sp>
        <p:nvSpPr>
          <p:cNvPr id="2366" name="Google Shape;2366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7" name="Google Shape;2367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(146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71" name="Google Shape;2371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$227,748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5" name="Shape 2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6" name="Google Shape;2376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7" name="Google Shape;2377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Insurance &amp; Financial Services LLC</a:t>
            </a:r>
            <a:endParaRPr/>
          </a:p>
        </p:txBody>
      </p:sp>
      <p:sp>
        <p:nvSpPr>
          <p:cNvPr id="2378" name="Google Shape;2378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AZ  |  City: Phoenix</a:t>
            </a:r>
            <a:endParaRPr/>
          </a:p>
        </p:txBody>
      </p:sp>
      <p:sp>
        <p:nvSpPr>
          <p:cNvPr id="2379" name="Google Shape;2379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$190,192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80" name="Google Shape;2380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$178,295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81" name="Google Shape;2381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82" name="Google Shape;2382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83" name="Google Shape;2383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$-20,797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84" name="Google Shape;2384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$329,489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85" name="Google Shape;2385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$414,173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86" name="Google Shape;2386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87" name="Google Shape;2387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88" name="Google Shape;2388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89" name="Google Shape;2389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90" name="Google Shape;2390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91" name="Google Shape;2391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$100,681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92" name="Google Shape;2392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3" name="Google Shape;2393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94" name="Google Shape;2394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95" name="Google Shape;2395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96" name="Google Shape;2396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97" name="Google Shape;2397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98" name="Google Shape;2398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99" name="Google Shape;2399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00" name="Google Shape;2400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1" name="Google Shape;2401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02" name="Google Shape;2402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$66,689</a:t>
            </a:r>
            <a:endParaRPr/>
          </a:p>
        </p:txBody>
      </p:sp>
      <p:sp>
        <p:nvSpPr>
          <p:cNvPr id="2403" name="Google Shape;2403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$82,791</a:t>
            </a:r>
            <a:endParaRPr/>
          </a:p>
        </p:txBody>
      </p:sp>
      <p:sp>
        <p:nvSpPr>
          <p:cNvPr id="2404" name="Google Shape;2404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5" name="Google Shape;2405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$-16,101</a:t>
            </a:r>
            <a:endParaRPr/>
          </a:p>
        </p:txBody>
      </p:sp>
      <p:sp>
        <p:nvSpPr>
          <p:cNvPr id="2406" name="Google Shape;2406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7" name="Google Shape;2407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8" name="Google Shape;2408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09" name="Google Shape;2409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$-202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1" name="Google Shape;2411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2" name="Google Shape;2412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$-202</a:t>
            </a:r>
            <a:endParaRPr/>
          </a:p>
        </p:txBody>
      </p:sp>
      <p:sp>
        <p:nvSpPr>
          <p:cNvPr id="2413" name="Google Shape;2413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4" name="Google Shape;2414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5" name="Google Shape;2415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16" name="Google Shape;2416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$48,297</a:t>
            </a:r>
            <a:endParaRPr/>
          </a:p>
        </p:txBody>
      </p:sp>
      <p:sp>
        <p:nvSpPr>
          <p:cNvPr id="2417" name="Google Shape;2417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$35,322</a:t>
            </a:r>
            <a:endParaRPr/>
          </a:p>
        </p:txBody>
      </p:sp>
      <p:sp>
        <p:nvSpPr>
          <p:cNvPr id="2418" name="Google Shape;2418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9" name="Google Shape;2419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$12,975</a:t>
            </a:r>
            <a:endParaRPr/>
          </a:p>
        </p:txBody>
      </p:sp>
      <p:sp>
        <p:nvSpPr>
          <p:cNvPr id="2420" name="Google Shape;2420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$-20,797</a:t>
            </a:r>
            <a:endParaRPr/>
          </a:p>
        </p:txBody>
      </p:sp>
      <p:sp>
        <p:nvSpPr>
          <p:cNvPr id="2421" name="Google Shape;2421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2" name="Google Shape;2422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23" name="Google Shape;2423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$15,524</a:t>
            </a:r>
            <a:endParaRPr/>
          </a:p>
        </p:txBody>
      </p:sp>
      <p:sp>
        <p:nvSpPr>
          <p:cNvPr id="2424" name="Google Shape;2424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5" name="Google Shape;2425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6" name="Google Shape;2426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$15,524</a:t>
            </a:r>
            <a:endParaRPr/>
          </a:p>
        </p:txBody>
      </p:sp>
      <p:sp>
        <p:nvSpPr>
          <p:cNvPr id="2427" name="Google Shape;2427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8" name="Google Shape;2428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9" name="Google Shape;2429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30" name="Google Shape;2430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$59,884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$60,182</a:t>
            </a:r>
            <a:endParaRPr/>
          </a:p>
        </p:txBody>
      </p:sp>
      <p:sp>
        <p:nvSpPr>
          <p:cNvPr id="2432" name="Google Shape;2432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3" name="Google Shape;2433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$-298</a:t>
            </a:r>
            <a:endParaRPr/>
          </a:p>
        </p:txBody>
      </p:sp>
      <p:sp>
        <p:nvSpPr>
          <p:cNvPr id="2434" name="Google Shape;2434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5" name="Google Shape;2435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6" name="Google Shape;2436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37" name="Google Shape;2437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$190,192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$178,295</a:t>
            </a:r>
            <a:endParaRPr/>
          </a:p>
        </p:txBody>
      </p:sp>
      <p:sp>
        <p:nvSpPr>
          <p:cNvPr id="2439" name="Google Shape;2439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0" name="Google Shape;2440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$11,898</a:t>
            </a:r>
            <a:endParaRPr/>
          </a:p>
        </p:txBody>
      </p:sp>
      <p:sp>
        <p:nvSpPr>
          <p:cNvPr id="2441" name="Google Shape;2441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$-20,797</a:t>
            </a:r>
            <a:endParaRPr/>
          </a:p>
        </p:txBody>
      </p:sp>
      <p:sp>
        <p:nvSpPr>
          <p:cNvPr id="2442" name="Google Shape;2442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3" name="Google Shape;2443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44" name="Google Shape;2444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50" name="Google Shape;2450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1" name="Google Shape;2451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453" name="Google Shape;2453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2457" name="Google Shape;2457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8" name="Google Shape;2458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63" name="Google Shape;2463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2464" name="Google Shape;2464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5" name="Google Shape;2465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471" name="Google Shape;2471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2" name="Google Shape;2472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478" name="Google Shape;2478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9" name="Google Shape;2479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485" name="Google Shape;2485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6" name="Google Shape;2486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2492" name="Google Shape;2492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3" name="Google Shape;2493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95" name="Google Shape;2495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511" name="Google Shape;2511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$-202</a:t>
            </a:r>
            <a:endParaRPr/>
          </a:p>
        </p:txBody>
      </p:sp>
      <p:sp>
        <p:nvSpPr>
          <p:cNvPr id="2525" name="Google Shape;2525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2527" name="Google Shape;2527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$106K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$190K</a:t>
            </a:r>
            <a:endParaRPr/>
          </a:p>
        </p:txBody>
      </p:sp>
      <p:sp>
        <p:nvSpPr>
          <p:cNvPr id="2533" name="Google Shape;2533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4" name="Google Shape;2534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$190,192 YTD gross written premium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$178,295 in new business production</a:t>
            </a:r>
            <a:endParaRPr/>
          </a:p>
        </p:txBody>
      </p:sp>
      <p:sp>
        <p:nvSpPr>
          <p:cNvPr id="2539" name="Google Shape;2539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0" name="Google Shape;2540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1.8% hit ratio on 223 subs - needs coaching</a:t>
            </a:r>
            <a:endParaRPr/>
          </a:p>
        </p:txBody>
      </p:sp>
      <p:sp>
        <p:nvSpPr>
          <p:cNvPr id="2543" name="Google Shape;2543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4" name="Google Shape;2544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46" name="Google Shape;2546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(223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48" name="Google Shape;2548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$178,295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52" name="Shape 2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3" name="Google Shape;2553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4" name="Google Shape;2554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Byrd Insurance Inc</a:t>
            </a:r>
            <a:endParaRPr/>
          </a:p>
        </p:txBody>
      </p:sp>
      <p:sp>
        <p:nvSpPr>
          <p:cNvPr id="2555" name="Google Shape;2555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NV  |  City: Las Vegas</a:t>
            </a:r>
            <a:endParaRPr/>
          </a:p>
        </p:txBody>
      </p:sp>
      <p:sp>
        <p:nvSpPr>
          <p:cNvPr id="2556" name="Google Shape;2556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$188,315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57" name="Google Shape;2557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$172,366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58" name="Google Shape;2558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59" name="Google Shape;2559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60" name="Google Shape;2560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61" name="Google Shape;2561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$123,885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62" name="Google Shape;2562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$238,068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63" name="Google Shape;2563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64" name="Google Shape;2564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65" name="Google Shape;2565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66" name="Google Shape;2566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67" name="Google Shape;2567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68" name="Google Shape;2568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$188,664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69" name="Google Shape;2569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0" name="Google Shape;2570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71" name="Google Shape;2571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72" name="Google Shape;2572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73" name="Google Shape;2573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74" name="Google Shape;2574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75" name="Google Shape;2575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76" name="Google Shape;2576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77" name="Google Shape;2577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8" name="Google Shape;2578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79" name="Google Shape;2579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$48,046</a:t>
            </a:r>
            <a:endParaRPr/>
          </a:p>
        </p:txBody>
      </p:sp>
      <p:sp>
        <p:nvSpPr>
          <p:cNvPr id="2580" name="Google Shape;2580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$47,774</a:t>
            </a:r>
            <a:endParaRPr/>
          </a:p>
        </p:txBody>
      </p:sp>
      <p:sp>
        <p:nvSpPr>
          <p:cNvPr id="2581" name="Google Shape;2581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2" name="Google Shape;2582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$271</a:t>
            </a:r>
            <a:endParaRPr/>
          </a:p>
        </p:txBody>
      </p:sp>
      <p:sp>
        <p:nvSpPr>
          <p:cNvPr id="2583" name="Google Shape;2583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4" name="Google Shape;2584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5" name="Google Shape;2585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86" name="Google Shape;2586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7" name="Google Shape;2587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8" name="Google Shape;2588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9" name="Google Shape;2589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0" name="Google Shape;2590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1" name="Google Shape;2591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2" name="Google Shape;2592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$90,546</a:t>
            </a:r>
            <a:endParaRPr/>
          </a:p>
        </p:txBody>
      </p:sp>
      <p:sp>
        <p:nvSpPr>
          <p:cNvPr id="2594" name="Google Shape;2594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$74,869</a:t>
            </a:r>
            <a:endParaRPr/>
          </a:p>
        </p:txBody>
      </p:sp>
      <p:sp>
        <p:nvSpPr>
          <p:cNvPr id="2595" name="Google Shape;2595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6" name="Google Shape;2596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$15,678</a:t>
            </a:r>
            <a:endParaRPr/>
          </a:p>
        </p:txBody>
      </p:sp>
      <p:sp>
        <p:nvSpPr>
          <p:cNvPr id="2597" name="Google Shape;2597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$-458</a:t>
            </a:r>
            <a:endParaRPr/>
          </a:p>
        </p:txBody>
      </p:sp>
      <p:sp>
        <p:nvSpPr>
          <p:cNvPr id="2598" name="Google Shape;2598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9" name="Google Shape;2599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$6,018</a:t>
            </a:r>
            <a:endParaRPr/>
          </a:p>
        </p:txBody>
      </p:sp>
      <p:sp>
        <p:nvSpPr>
          <p:cNvPr id="2601" name="Google Shape;2601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$6,018</a:t>
            </a:r>
            <a:endParaRPr/>
          </a:p>
        </p:txBody>
      </p:sp>
      <p:sp>
        <p:nvSpPr>
          <p:cNvPr id="2602" name="Google Shape;2602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3" name="Google Shape;2603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4" name="Google Shape;2604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5" name="Google Shape;2605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6" name="Google Shape;2606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$43,705</a:t>
            </a:r>
            <a:endParaRPr/>
          </a:p>
        </p:txBody>
      </p:sp>
      <p:sp>
        <p:nvSpPr>
          <p:cNvPr id="2608" name="Google Shape;2608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$43,705</a:t>
            </a:r>
            <a:endParaRPr/>
          </a:p>
        </p:txBody>
      </p:sp>
      <p:sp>
        <p:nvSpPr>
          <p:cNvPr id="2609" name="Google Shape;2609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0" name="Google Shape;2610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1" name="Google Shape;2611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2" name="Google Shape;2612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3" name="Google Shape;2613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$188,315</a:t>
            </a:r>
            <a:endParaRPr/>
          </a:p>
        </p:txBody>
      </p:sp>
      <p:sp>
        <p:nvSpPr>
          <p:cNvPr id="2615" name="Google Shape;2615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$172,366</a:t>
            </a:r>
            <a:endParaRPr/>
          </a:p>
        </p:txBody>
      </p:sp>
      <p:sp>
        <p:nvSpPr>
          <p:cNvPr id="2616" name="Google Shape;2616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7" name="Google Shape;2617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$15,949</a:t>
            </a:r>
            <a:endParaRPr/>
          </a:p>
        </p:txBody>
      </p:sp>
      <p:sp>
        <p:nvSpPr>
          <p:cNvPr id="2618" name="Google Shape;2618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$-458</a:t>
            </a:r>
            <a:endParaRPr/>
          </a:p>
        </p:txBody>
      </p:sp>
      <p:sp>
        <p:nvSpPr>
          <p:cNvPr id="2619" name="Google Shape;2619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0" name="Google Shape;2620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23" name="Google Shape;2623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24" name="Google Shape;2624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25" name="Google Shape;2625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27" name="Google Shape;2627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8" name="Google Shape;2628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29" name="Google Shape;2629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630" name="Google Shape;2630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31" name="Google Shape;2631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632" name="Google Shape;2632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2634" name="Google Shape;2634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5" name="Google Shape;2635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38" name="Google Shape;2638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639" name="Google Shape;2639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2641" name="Google Shape;2641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2" name="Google Shape;2642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645" name="Google Shape;2645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646" name="Google Shape;2646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2648" name="Google Shape;2648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9" name="Google Shape;2649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2655" name="Google Shape;2655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6" name="Google Shape;2656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59" name="Google Shape;2659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660" name="Google Shape;2660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2662" name="Google Shape;2662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3" name="Google Shape;2663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666" name="Google Shape;2666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2667" name="Google Shape;2667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2669" name="Google Shape;2669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0" name="Google Shape;2670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72" name="Google Shape;2672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80" name="Google Shape;2680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81" name="Google Shape;2681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687" name="Google Shape;2687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688" name="Google Shape;2688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690" name="Google Shape;2690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2696" name="Google Shape;2696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701" name="Google Shape;2701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2" name="Google Shape;2702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2703" name="Google Shape;2703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$-677</a:t>
            </a:r>
            <a:endParaRPr/>
          </a:p>
        </p:txBody>
      </p:sp>
      <p:sp>
        <p:nvSpPr>
          <p:cNvPr id="2707" name="Google Shape;2707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2708" name="Google Shape;2708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$188K</a:t>
            </a:r>
            <a:endParaRPr/>
          </a:p>
        </p:txBody>
      </p:sp>
      <p:sp>
        <p:nvSpPr>
          <p:cNvPr id="2710" name="Google Shape;2710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1" name="Google Shape;2711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$188,315 YTD gross written premium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$172,366 in new business production</a:t>
            </a:r>
            <a:endParaRPr/>
          </a:p>
        </p:txBody>
      </p:sp>
      <p:sp>
        <p:nvSpPr>
          <p:cNvPr id="2716" name="Google Shape;2716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7" name="Google Shape;2717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18" name="Google Shape;2718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722" name="Google Shape;2722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3" name="Google Shape;2723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24" name="Google Shape;2724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25" name="Google Shape;2725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$172,366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1" name="Shape 2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Google Shape;2732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3" name="Google Shape;2733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Peltz Llc</a:t>
            </a:r>
            <a:endParaRPr/>
          </a:p>
        </p:txBody>
      </p:sp>
      <p:sp>
        <p:nvSpPr>
          <p:cNvPr id="2734" name="Google Shape;2734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NV  |  City: N/A</a:t>
            </a:r>
            <a:endParaRPr/>
          </a:p>
        </p:txBody>
      </p:sp>
      <p:sp>
        <p:nvSpPr>
          <p:cNvPr id="2735" name="Google Shape;2735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$156,031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36" name="Google Shape;2736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$127,632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37" name="Google Shape;2737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38" name="Google Shape;2738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39" name="Google Shape;2739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$-31,661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40" name="Google Shape;2740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$208,145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41" name="Google Shape;2741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$314,069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42" name="Google Shape;2742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43" name="Google Shape;2743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44" name="Google Shape;2744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45" name="Google Shape;2745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46" name="Google Shape;2746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47" name="Google Shape;2747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$104,790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48" name="Google Shape;2748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9" name="Google Shape;2749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50" name="Google Shape;2750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51" name="Google Shape;2751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52" name="Google Shape;2752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53" name="Google Shape;2753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54" name="Google Shape;2754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55" name="Google Shape;2755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56" name="Google Shape;2756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7" name="Google Shape;2757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58" name="Google Shape;2758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$45,286</a:t>
            </a:r>
            <a:endParaRPr/>
          </a:p>
        </p:txBody>
      </p:sp>
      <p:sp>
        <p:nvSpPr>
          <p:cNvPr id="2759" name="Google Shape;2759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$20,748</a:t>
            </a:r>
            <a:endParaRPr/>
          </a:p>
        </p:txBody>
      </p:sp>
      <p:sp>
        <p:nvSpPr>
          <p:cNvPr id="2760" name="Google Shape;2760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$24,538</a:t>
            </a:r>
            <a:endParaRPr/>
          </a:p>
        </p:txBody>
      </p:sp>
      <p:sp>
        <p:nvSpPr>
          <p:cNvPr id="2761" name="Google Shape;2761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2" name="Google Shape;2762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3" name="Google Shape;2763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4" name="Google Shape;2764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65" name="Google Shape;2765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$15,665</a:t>
            </a:r>
            <a:endParaRPr/>
          </a:p>
        </p:txBody>
      </p:sp>
      <p:sp>
        <p:nvSpPr>
          <p:cNvPr id="2766" name="Google Shape;2766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$15,665</a:t>
            </a:r>
            <a:endParaRPr/>
          </a:p>
        </p:txBody>
      </p:sp>
      <p:sp>
        <p:nvSpPr>
          <p:cNvPr id="2767" name="Google Shape;2767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$-18,076</a:t>
            </a:r>
            <a:endParaRPr/>
          </a:p>
        </p:txBody>
      </p:sp>
      <p:sp>
        <p:nvSpPr>
          <p:cNvPr id="2770" name="Google Shape;2770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1" name="Google Shape;2771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72" name="Google Shape;2772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$32,317</a:t>
            </a:r>
            <a:endParaRPr/>
          </a:p>
        </p:txBody>
      </p:sp>
      <p:sp>
        <p:nvSpPr>
          <p:cNvPr id="2773" name="Google Shape;2773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$24,747</a:t>
            </a:r>
            <a:endParaRPr/>
          </a:p>
        </p:txBody>
      </p:sp>
      <p:sp>
        <p:nvSpPr>
          <p:cNvPr id="2774" name="Google Shape;2774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5" name="Google Shape;2775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$7,570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7" name="Google Shape;2777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8" name="Google Shape;2778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79" name="Google Shape;2779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$27,276</a:t>
            </a:r>
            <a:endParaRPr/>
          </a:p>
        </p:txBody>
      </p:sp>
      <p:sp>
        <p:nvSpPr>
          <p:cNvPr id="2780" name="Google Shape;2780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$30,985</a:t>
            </a:r>
            <a:endParaRPr/>
          </a:p>
        </p:txBody>
      </p:sp>
      <p:sp>
        <p:nvSpPr>
          <p:cNvPr id="2781" name="Google Shape;2781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$-3,710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$-13,584</a:t>
            </a:r>
            <a:endParaRPr/>
          </a:p>
        </p:txBody>
      </p:sp>
      <p:sp>
        <p:nvSpPr>
          <p:cNvPr id="2784" name="Google Shape;2784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5" name="Google Shape;2785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86" name="Google Shape;2786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$35,487</a:t>
            </a:r>
            <a:endParaRPr/>
          </a:p>
        </p:txBody>
      </p:sp>
      <p:sp>
        <p:nvSpPr>
          <p:cNvPr id="2787" name="Google Shape;2787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$35,487</a:t>
            </a:r>
            <a:endParaRPr/>
          </a:p>
        </p:txBody>
      </p:sp>
      <p:sp>
        <p:nvSpPr>
          <p:cNvPr id="2788" name="Google Shape;2788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9" name="Google Shape;2789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91" name="Google Shape;2791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2" name="Google Shape;2792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93" name="Google Shape;2793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$156,031</a:t>
            </a:r>
            <a:endParaRPr/>
          </a:p>
        </p:txBody>
      </p:sp>
      <p:sp>
        <p:nvSpPr>
          <p:cNvPr id="2794" name="Google Shape;2794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$127,632</a:t>
            </a:r>
            <a:endParaRPr/>
          </a:p>
        </p:txBody>
      </p:sp>
      <p:sp>
        <p:nvSpPr>
          <p:cNvPr id="2795" name="Google Shape;2795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$24,538</a:t>
            </a:r>
            <a:endParaRPr/>
          </a:p>
        </p:txBody>
      </p:sp>
      <p:sp>
        <p:nvSpPr>
          <p:cNvPr id="2796" name="Google Shape;2796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$3,860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$-31,661</a:t>
            </a:r>
            <a:endParaRPr/>
          </a:p>
        </p:txBody>
      </p:sp>
      <p:sp>
        <p:nvSpPr>
          <p:cNvPr id="2798" name="Google Shape;2798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9" name="Google Shape;2799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800" name="Google Shape;2800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802" name="Google Shape;2802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803" name="Google Shape;2803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06" name="Google Shape;2806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7" name="Google Shape;2807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809" name="Google Shape;2809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10" name="Google Shape;2810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2813" name="Google Shape;2813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4" name="Google Shape;2814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816" name="Google Shape;2816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17" name="Google Shape;2817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</a:t>
            </a:r>
            <a:endParaRPr/>
          </a:p>
        </p:txBody>
      </p:sp>
      <p:sp>
        <p:nvSpPr>
          <p:cNvPr id="2820" name="Google Shape;2820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1" name="Google Shape;2821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823" name="Google Shape;2823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2827" name="Google Shape;2827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8" name="Google Shape;2828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830" name="Google Shape;2830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834" name="Google Shape;2834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5" name="Google Shape;2835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837" name="Google Shape;2837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2841" name="Google Shape;2841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2" name="Google Shape;2842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848" name="Google Shape;2848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9" name="Google Shape;2849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51" name="Google Shape;2851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53" name="Google Shape;2853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57" name="Google Shape;2857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58" name="Google Shape;2858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63" name="Google Shape;2863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64" name="Google Shape;2864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7" name="Google Shape;2867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196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2879" name="Google Shape;2879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80" name="Google Shape;2880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881" name="Google Shape;2881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2883" name="Google Shape;2883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884" name="Google Shape;2884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2885" name="Google Shape;2885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$156K</a:t>
            </a:r>
            <a:endParaRPr/>
          </a:p>
        </p:txBody>
      </p:sp>
      <p:sp>
        <p:nvSpPr>
          <p:cNvPr id="2889" name="Google Shape;2889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0" name="Google Shape;2890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91" name="Google Shape;2891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$156,031 YTD gross written premium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94" name="Google Shape;2894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$127,632 in new business production</a:t>
            </a:r>
            <a:endParaRPr/>
          </a:p>
        </p:txBody>
      </p:sp>
      <p:sp>
        <p:nvSpPr>
          <p:cNvPr id="2895" name="Google Shape;2895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6" name="Google Shape;2896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97" name="Google Shape;2897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900" name="Google Shape;2900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901" name="Google Shape;2901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2" name="Google Shape;2902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903" name="Google Shape;2903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904" name="Google Shape;2904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$127,632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905" name="Google Shape;2905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906" name="Google Shape;2906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10" name="Shape 2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1" name="Google Shape;2911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2" name="Google Shape;2912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Guru Commercial &amp; Crop Insurance Brokers</a:t>
            </a:r>
            <a:endParaRPr/>
          </a:p>
        </p:txBody>
      </p:sp>
      <p:sp>
        <p:nvSpPr>
          <p:cNvPr id="2913" name="Google Shape;2913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Fresno</a:t>
            </a:r>
            <a:endParaRPr/>
          </a:p>
        </p:txBody>
      </p:sp>
      <p:sp>
        <p:nvSpPr>
          <p:cNvPr id="2914" name="Google Shape;2914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$151,317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15" name="Google Shape;2915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$66,958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16" name="Google Shape;2916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17" name="Google Shape;2917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$84,359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18" name="Google Shape;2918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$-148,742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19" name="Google Shape;2919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20" name="Google Shape;2920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$292,258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21" name="Google Shape;2921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22" name="Google Shape;2922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23" name="Google Shape;2923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24" name="Google Shape;2924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25" name="Google Shape;2925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26" name="Google Shape;2926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$66,008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27" name="Google Shape;2927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8" name="Google Shape;2928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29" name="Google Shape;2929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30" name="Google Shape;2930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31" name="Google Shape;2931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32" name="Google Shape;2932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33" name="Google Shape;2933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34" name="Google Shape;2934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35" name="Google Shape;2935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6" name="Google Shape;2936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37" name="Google Shape;2937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$22,204</a:t>
            </a:r>
            <a:endParaRPr/>
          </a:p>
        </p:txBody>
      </p:sp>
      <p:sp>
        <p:nvSpPr>
          <p:cNvPr id="2938" name="Google Shape;2938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$22,204</a:t>
            </a:r>
            <a:endParaRPr/>
          </a:p>
        </p:txBody>
      </p:sp>
      <p:sp>
        <p:nvSpPr>
          <p:cNvPr id="2939" name="Google Shape;2939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0" name="Google Shape;2940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1" name="Google Shape;2941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$-22,204</a:t>
            </a:r>
            <a:endParaRPr/>
          </a:p>
        </p:txBody>
      </p:sp>
      <p:sp>
        <p:nvSpPr>
          <p:cNvPr id="2942" name="Google Shape;2942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3" name="Google Shape;2943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44" name="Google Shape;2944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5" name="Google Shape;2945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6" name="Google Shape;2946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7" name="Google Shape;2947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9" name="Google Shape;2949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0" name="Google Shape;2950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51" name="Google Shape;2951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$44,754</a:t>
            </a:r>
            <a:endParaRPr/>
          </a:p>
        </p:txBody>
      </p:sp>
      <p:sp>
        <p:nvSpPr>
          <p:cNvPr id="2952" name="Google Shape;2952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$44,754</a:t>
            </a:r>
            <a:endParaRPr/>
          </a:p>
        </p:txBody>
      </p:sp>
      <p:sp>
        <p:nvSpPr>
          <p:cNvPr id="2953" name="Google Shape;2953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4" name="Google Shape;2954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6" name="Google Shape;2956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7" name="Google Shape;2957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58" name="Google Shape;2958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$84,359</a:t>
            </a:r>
            <a:endParaRPr/>
          </a:p>
        </p:txBody>
      </p:sp>
      <p:sp>
        <p:nvSpPr>
          <p:cNvPr id="2959" name="Google Shape;2959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0" name="Google Shape;2960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1" name="Google Shape;2961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$84,359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$-126,538</a:t>
            </a:r>
            <a:endParaRPr/>
          </a:p>
        </p:txBody>
      </p:sp>
      <p:sp>
        <p:nvSpPr>
          <p:cNvPr id="2963" name="Google Shape;2963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4" name="Google Shape;2964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65" name="Google Shape;2965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6" name="Google Shape;2966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7" name="Google Shape;2967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8" name="Google Shape;2968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0" name="Google Shape;2970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1" name="Google Shape;2971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72" name="Google Shape;2972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$151,317</a:t>
            </a:r>
            <a:endParaRPr/>
          </a:p>
        </p:txBody>
      </p:sp>
      <p:sp>
        <p:nvSpPr>
          <p:cNvPr id="2973" name="Google Shape;2973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$66,958</a:t>
            </a:r>
            <a:endParaRPr/>
          </a:p>
        </p:txBody>
      </p:sp>
      <p:sp>
        <p:nvSpPr>
          <p:cNvPr id="2974" name="Google Shape;2974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5" name="Google Shape;2975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$84,359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$-148,742</a:t>
            </a:r>
            <a:endParaRPr/>
          </a:p>
        </p:txBody>
      </p:sp>
      <p:sp>
        <p:nvSpPr>
          <p:cNvPr id="2977" name="Google Shape;2977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8" name="Google Shape;2978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80" name="Google Shape;2980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81" name="Google Shape;2981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82" name="Google Shape;2982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84" name="Google Shape;2984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85" name="Google Shape;2985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6" name="Google Shape;2986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87" name="Google Shape;2987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988" name="Google Shape;2988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992" name="Google Shape;2992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3" name="Google Shape;2993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94" name="Google Shape;2994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95" name="Google Shape;2995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99" name="Google Shape;2999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0" name="Google Shape;3000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01" name="Google Shape;3001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002" name="Google Shape;3002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3006" name="Google Shape;3006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7" name="Google Shape;3007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09" name="Google Shape;3009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13" name="Google Shape;3013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4" name="Google Shape;3014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15" name="Google Shape;3015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20" name="Google Shape;3020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1" name="Google Shape;3021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22" name="Google Shape;3022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023" name="Google Shape;3023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3027" name="Google Shape;3027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8" name="Google Shape;3028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30" name="Google Shape;3030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38" name="Google Shape;3038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42" name="Google Shape;3042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43" name="Google Shape;3043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44" name="Google Shape;3044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045" name="Google Shape;3045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46" name="Google Shape;3046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48" name="Google Shape;3048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52" name="Google Shape;3052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3055" name="Google Shape;3055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56" name="Google Shape;3056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058" name="Google Shape;3058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9" name="Google Shape;3059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0" name="Google Shape;3060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1" name="Google Shape;3061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3062" name="Google Shape;3062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3" name="Google Shape;3063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3064" name="Google Shape;3064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5" name="Google Shape;3065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6" name="Google Shape;3066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$151K</a:t>
            </a:r>
            <a:endParaRPr/>
          </a:p>
        </p:txBody>
      </p:sp>
      <p:sp>
        <p:nvSpPr>
          <p:cNvPr id="3068" name="Google Shape;3068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9" name="Google Shape;3069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$151,317 YTD gross written premium</a:t>
            </a:r>
            <a:endParaRPr/>
          </a:p>
        </p:txBody>
      </p:sp>
      <p:sp>
        <p:nvSpPr>
          <p:cNvPr id="3072" name="Google Shape;3072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73" name="Google Shape;3073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$66,958 in new business production</a:t>
            </a:r>
            <a:endParaRPr/>
          </a:p>
        </p:txBody>
      </p:sp>
      <p:sp>
        <p:nvSpPr>
          <p:cNvPr id="3074" name="Google Shape;3074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5" name="Google Shape;3075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76" name="Google Shape;3076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2.8% hit ratio on 72 subs - needs coaching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79" name="Google Shape;3079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222% of new business ($148,742)</a:t>
            </a:r>
            <a:endParaRPr/>
          </a:p>
        </p:txBody>
      </p:sp>
      <p:sp>
        <p:nvSpPr>
          <p:cNvPr id="3080" name="Google Shape;3080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1" name="Google Shape;3081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(72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084" name="Google Shape;3084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85" name="Google Shape;3085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$66,958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9" name="Shape 3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0" name="Google Shape;3090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1" name="Google Shape;3091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Givesurance Insurance Services, Inc.</a:t>
            </a:r>
            <a:endParaRPr/>
          </a:p>
        </p:txBody>
      </p:sp>
      <p:sp>
        <p:nvSpPr>
          <p:cNvPr id="3092" name="Google Shape;3092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Woodland Hills</a:t>
            </a:r>
            <a:endParaRPr/>
          </a:p>
        </p:txBody>
      </p:sp>
      <p:sp>
        <p:nvSpPr>
          <p:cNvPr id="3093" name="Google Shape;3093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$146,832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94" name="Google Shape;3094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95" name="Google Shape;3095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96" name="Google Shape;3096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97" name="Google Shape;3097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$-48,165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98" name="Google Shape;3098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$229,870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99" name="Google Shape;3099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$266,241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100" name="Google Shape;3100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101" name="Google Shape;3101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02" name="Google Shape;3102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03" name="Google Shape;3103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04" name="Google Shape;3104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05" name="Google Shape;3105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$102,718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06" name="Google Shape;3106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7" name="Google Shape;3107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108" name="Google Shape;3108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09" name="Google Shape;3109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110" name="Google Shape;3110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11" name="Google Shape;3111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12" name="Google Shape;3112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13" name="Google Shape;3113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14" name="Google Shape;3114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5" name="Google Shape;3115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16" name="Google Shape;3116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$18,438</a:t>
            </a:r>
            <a:endParaRPr/>
          </a:p>
        </p:txBody>
      </p:sp>
      <p:sp>
        <p:nvSpPr>
          <p:cNvPr id="3117" name="Google Shape;3117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8" name="Google Shape;3118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9" name="Google Shape;3119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$18,438</a:t>
            </a:r>
            <a:endParaRPr/>
          </a:p>
        </p:txBody>
      </p:sp>
      <p:sp>
        <p:nvSpPr>
          <p:cNvPr id="3120" name="Google Shape;3120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$-18,438</a:t>
            </a:r>
            <a:endParaRPr/>
          </a:p>
        </p:txBody>
      </p:sp>
      <p:sp>
        <p:nvSpPr>
          <p:cNvPr id="3121" name="Google Shape;3121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2" name="Google Shape;3122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23" name="Google Shape;3123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$12,230</a:t>
            </a:r>
            <a:endParaRPr/>
          </a:p>
        </p:txBody>
      </p:sp>
      <p:sp>
        <p:nvSpPr>
          <p:cNvPr id="3124" name="Google Shape;3124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5" name="Google Shape;3125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$12,230</a:t>
            </a:r>
            <a:endParaRPr/>
          </a:p>
        </p:txBody>
      </p:sp>
      <p:sp>
        <p:nvSpPr>
          <p:cNvPr id="3127" name="Google Shape;3127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$-12,230</a:t>
            </a:r>
            <a:endParaRPr/>
          </a:p>
        </p:txBody>
      </p:sp>
      <p:sp>
        <p:nvSpPr>
          <p:cNvPr id="3128" name="Google Shape;3128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9" name="Google Shape;3129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30" name="Google Shape;3130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$18,198</a:t>
            </a:r>
            <a:endParaRPr/>
          </a:p>
        </p:txBody>
      </p:sp>
      <p:sp>
        <p:nvSpPr>
          <p:cNvPr id="3131" name="Google Shape;3131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$18,198</a:t>
            </a:r>
            <a:endParaRPr/>
          </a:p>
        </p:txBody>
      </p:sp>
      <p:sp>
        <p:nvSpPr>
          <p:cNvPr id="3132" name="Google Shape;3132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3" name="Google Shape;3133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4" name="Google Shape;3134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$-10,020</a:t>
            </a:r>
            <a:endParaRPr/>
          </a:p>
        </p:txBody>
      </p:sp>
      <p:sp>
        <p:nvSpPr>
          <p:cNvPr id="3135" name="Google Shape;3135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6" name="Google Shape;3136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37" name="Google Shape;3137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$40,210</a:t>
            </a:r>
            <a:endParaRPr/>
          </a:p>
        </p:txBody>
      </p:sp>
      <p:sp>
        <p:nvSpPr>
          <p:cNvPr id="3138" name="Google Shape;3138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$35,309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$4,901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$-4,405</a:t>
            </a:r>
            <a:endParaRPr/>
          </a:p>
        </p:txBody>
      </p:sp>
      <p:sp>
        <p:nvSpPr>
          <p:cNvPr id="3142" name="Google Shape;3142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3" name="Google Shape;3143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44" name="Google Shape;3144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$57,756</a:t>
            </a:r>
            <a:endParaRPr/>
          </a:p>
        </p:txBody>
      </p:sp>
      <p:sp>
        <p:nvSpPr>
          <p:cNvPr id="3145" name="Google Shape;3145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$56,528</a:t>
            </a:r>
            <a:endParaRPr/>
          </a:p>
        </p:txBody>
      </p:sp>
      <p:sp>
        <p:nvSpPr>
          <p:cNvPr id="3146" name="Google Shape;3146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7" name="Google Shape;3147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$1,228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$-3,071</a:t>
            </a:r>
            <a:endParaRPr/>
          </a:p>
        </p:txBody>
      </p:sp>
      <p:sp>
        <p:nvSpPr>
          <p:cNvPr id="3149" name="Google Shape;3149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0" name="Google Shape;3150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51" name="Google Shape;3151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$146,832</a:t>
            </a:r>
            <a:endParaRPr/>
          </a:p>
        </p:txBody>
      </p:sp>
      <p:sp>
        <p:nvSpPr>
          <p:cNvPr id="3152" name="Google Shape;3152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$110,034</a:t>
            </a:r>
            <a:endParaRPr/>
          </a:p>
        </p:txBody>
      </p:sp>
      <p:sp>
        <p:nvSpPr>
          <p:cNvPr id="3153" name="Google Shape;3153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4" name="Google Shape;3154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$36,798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$-48,165</a:t>
            </a:r>
            <a:endParaRPr/>
          </a:p>
        </p:txBody>
      </p:sp>
      <p:sp>
        <p:nvSpPr>
          <p:cNvPr id="3156" name="Google Shape;3156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7" name="Google Shape;3157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58" name="Google Shape;3158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59" name="Google Shape;3159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60" name="Google Shape;3160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61" name="Google Shape;3161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64" name="Google Shape;3164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5" name="Google Shape;3165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167" name="Google Shape;3167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68" name="Google Shape;3168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3171" name="Google Shape;3171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2" name="Google Shape;3172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174" name="Google Shape;3174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175" name="Google Shape;3175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3178" name="Google Shape;3178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9" name="Google Shape;3179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181" name="Google Shape;3181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3185" name="Google Shape;3185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6" name="Google Shape;3186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188" name="Google Shape;3188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3192" name="Google Shape;3192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3" name="Google Shape;3193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94" name="Google Shape;3194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3199" name="Google Shape;3199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0" name="Google Shape;3200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312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3206" name="Google Shape;3206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7" name="Google Shape;3207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09" name="Google Shape;3209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211" name="Google Shape;3211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18" name="Google Shape;3218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21" name="Google Shape;3221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22" name="Google Shape;3222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225" name="Google Shape;3225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226" name="Google Shape;3226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3231" name="Google Shape;3231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232" name="Google Shape;3232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3233" name="Google Shape;3233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35" name="Google Shape;3235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3236" name="Google Shape;3236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8" name="Google Shape;3238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3239" name="Google Shape;3239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40" name="Google Shape;3240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241" name="Google Shape;3241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3242" name="Google Shape;3242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3243" name="Google Shape;3243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3245" name="Google Shape;3245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$110K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$147K</a:t>
            </a:r>
            <a:endParaRPr/>
          </a:p>
        </p:txBody>
      </p:sp>
      <p:sp>
        <p:nvSpPr>
          <p:cNvPr id="3247" name="Google Shape;3247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8" name="Google Shape;3248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49" name="Google Shape;3249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50" name="Google Shape;3250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$146,832 YTD gross written premium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52" name="Google Shape;3252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$110,034 in new business production</a:t>
            </a:r>
            <a:endParaRPr/>
          </a:p>
        </p:txBody>
      </p:sp>
      <p:sp>
        <p:nvSpPr>
          <p:cNvPr id="3253" name="Google Shape;3253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4" name="Google Shape;3254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56" name="Google Shape;3256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1.9% hit ratio on 312 subs - needs coaching</a:t>
            </a:r>
            <a:endParaRPr/>
          </a:p>
        </p:txBody>
      </p:sp>
      <p:sp>
        <p:nvSpPr>
          <p:cNvPr id="3257" name="Google Shape;3257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58" name="Google Shape;3258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44% of new business ($48,165)</a:t>
            </a:r>
            <a:endParaRPr/>
          </a:p>
        </p:txBody>
      </p:sp>
      <p:sp>
        <p:nvSpPr>
          <p:cNvPr id="3259" name="Google Shape;3259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0" name="Google Shape;3260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(312 subs, only 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263" name="Google Shape;3263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64" name="Google Shape;3264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$110,034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68" name="Shape 3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9" name="Google Shape;3269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0" name="Google Shape;3270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Lubemer International Insurance Agency Inc.</a:t>
            </a:r>
            <a:endParaRPr/>
          </a:p>
        </p:txBody>
      </p:sp>
      <p:sp>
        <p:nvSpPr>
          <p:cNvPr id="3271" name="Google Shape;3271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Hawthorne</a:t>
            </a:r>
            <a:endParaRPr/>
          </a:p>
        </p:txBody>
      </p:sp>
      <p:sp>
        <p:nvSpPr>
          <p:cNvPr id="3272" name="Google Shape;3272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$141,976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73" name="Google Shape;3273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$155,918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74" name="Google Shape;3274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75" name="Google Shape;3275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$-13,942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76" name="Google Shape;3276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77" name="Google Shape;3277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78" name="Google Shape;3278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$141,976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79" name="Google Shape;3279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80" name="Google Shape;3280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81" name="Google Shape;3281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82" name="Google Shape;3282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83" name="Google Shape;3283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84" name="Google Shape;3284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85" name="Google Shape;3285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6" name="Google Shape;3286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87" name="Google Shape;3287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88" name="Google Shape;3288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89" name="Google Shape;3289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90" name="Google Shape;3290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91" name="Google Shape;3291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92" name="Google Shape;3292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93" name="Google Shape;3293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4" name="Google Shape;3294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95" name="Google Shape;3295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6" name="Google Shape;3296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7" name="Google Shape;3297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8" name="Google Shape;3298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9" name="Google Shape;3299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0" name="Google Shape;3300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1" name="Google Shape;3301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02" name="Google Shape;3302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3" name="Google Shape;3303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6" name="Google Shape;3306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7" name="Google Shape;3307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09" name="Google Shape;3309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$55,799</a:t>
            </a:r>
            <a:endParaRPr/>
          </a:p>
        </p:txBody>
      </p:sp>
      <p:sp>
        <p:nvSpPr>
          <p:cNvPr id="3310" name="Google Shape;3310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$55,799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3" name="Google Shape;3313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4" name="Google Shape;3314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5" name="Google Shape;3315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16" name="Google Shape;3316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$100,119</a:t>
            </a:r>
            <a:endParaRPr/>
          </a:p>
        </p:txBody>
      </p:sp>
      <p:sp>
        <p:nvSpPr>
          <p:cNvPr id="3317" name="Google Shape;3317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$100,119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1" name="Google Shape;3321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2" name="Google Shape;3322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23" name="Google Shape;3323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$-13,942</a:t>
            </a:r>
            <a:endParaRPr/>
          </a:p>
        </p:txBody>
      </p:sp>
      <p:sp>
        <p:nvSpPr>
          <p:cNvPr id="3324" name="Google Shape;3324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$-13,942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$-17,364</a:t>
            </a:r>
            <a:endParaRPr/>
          </a:p>
        </p:txBody>
      </p:sp>
      <p:sp>
        <p:nvSpPr>
          <p:cNvPr id="3328" name="Google Shape;3328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9" name="Google Shape;3329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30" name="Google Shape;3330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$141,976</a:t>
            </a:r>
            <a:endParaRPr/>
          </a:p>
        </p:txBody>
      </p:sp>
      <p:sp>
        <p:nvSpPr>
          <p:cNvPr id="3331" name="Google Shape;3331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$155,918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$-13,942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$-17,364</a:t>
            </a:r>
            <a:endParaRPr/>
          </a:p>
        </p:txBody>
      </p:sp>
      <p:sp>
        <p:nvSpPr>
          <p:cNvPr id="3335" name="Google Shape;3335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6" name="Google Shape;3336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37" name="Google Shape;3337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38" name="Google Shape;3338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40" name="Google Shape;3340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43" name="Google Shape;3343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4" name="Google Shape;3344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50" name="Google Shape;3350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1" name="Google Shape;3351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57" name="Google Shape;3357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8" name="Google Shape;3358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364" name="Google Shape;3364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5" name="Google Shape;3365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3371" name="Google Shape;3371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2" name="Google Shape;3372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378" name="Google Shape;3378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3385" name="Google Shape;3385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6" name="Google Shape;3386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88" name="Google Shape;3388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96" name="Google Shape;3396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99" name="Google Shape;3399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400" name="Google Shape;3400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02" name="Google Shape;3402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03" name="Google Shape;3403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04" name="Google Shape;3404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10" name="Google Shape;3410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11" name="Google Shape;3411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412" name="Google Shape;3412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14" name="Google Shape;3414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5" name="Google Shape;3415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6" name="Google Shape;3416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7" name="Google Shape;3417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8" name="Google Shape;3418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9" name="Google Shape;3419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3420" name="Google Shape;3420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1" name="Google Shape;3421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$100K</a:t>
            </a:r>
            <a:endParaRPr/>
          </a:p>
        </p:txBody>
      </p:sp>
      <p:sp>
        <p:nvSpPr>
          <p:cNvPr id="3422" name="Google Shape;3422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3" name="Google Shape;3423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$-13,942</a:t>
            </a:r>
            <a:endParaRPr/>
          </a:p>
        </p:txBody>
      </p:sp>
      <p:sp>
        <p:nvSpPr>
          <p:cNvPr id="3424" name="Google Shape;3424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$142K</a:t>
            </a:r>
            <a:endParaRPr/>
          </a:p>
        </p:txBody>
      </p:sp>
      <p:sp>
        <p:nvSpPr>
          <p:cNvPr id="3426" name="Google Shape;3426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7" name="Google Shape;3427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28" name="Google Shape;3428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29" name="Google Shape;3429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$141,976 YTD gross written premium</a:t>
            </a:r>
            <a:endParaRPr/>
          </a:p>
        </p:txBody>
      </p:sp>
      <p:sp>
        <p:nvSpPr>
          <p:cNvPr id="3430" name="Google Shape;3430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31" name="Google Shape;3431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$155,918 in new business production</a:t>
            </a:r>
            <a:endParaRPr/>
          </a:p>
        </p:txBody>
      </p:sp>
      <p:sp>
        <p:nvSpPr>
          <p:cNvPr id="3432" name="Google Shape;3432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3" name="Google Shape;3433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114% month-over-month</a:t>
            </a:r>
            <a:endParaRPr/>
          </a:p>
        </p:txBody>
      </p:sp>
      <p:sp>
        <p:nvSpPr>
          <p:cNvPr id="3436" name="Google Shape;3436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37" name="Google Shape;3437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14 to 5 MoM</a:t>
            </a:r>
            <a:endParaRPr/>
          </a:p>
        </p:txBody>
      </p:sp>
      <p:sp>
        <p:nvSpPr>
          <p:cNvPr id="3438" name="Google Shape;3438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9" name="Google Shape;3439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40" name="Google Shape;3440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41" name="Google Shape;3441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$155,918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442" name="Google Shape;3442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43" name="Google Shape;3443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47" name="Shape 3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8" name="Google Shape;3448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9" name="Google Shape;3449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Denis A. Salazar Dba Westins Insurance Brokerage</a:t>
            </a:r>
            <a:endParaRPr/>
          </a:p>
        </p:txBody>
      </p:sp>
      <p:sp>
        <p:nvSpPr>
          <p:cNvPr id="3450" name="Google Shape;3450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Downey</a:t>
            </a:r>
            <a:endParaRPr/>
          </a:p>
        </p:txBody>
      </p:sp>
      <p:sp>
        <p:nvSpPr>
          <p:cNvPr id="3451" name="Google Shape;3451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52" name="Google Shape;3452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53" name="Google Shape;3453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54" name="Google Shape;3454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55" name="Google Shape;3455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$-35,627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56" name="Google Shape;3456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$112,483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57" name="Google Shape;3457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$230,710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58" name="Google Shape;3458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59" name="Google Shape;3459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60" name="Google Shape;3460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61" name="Google Shape;3461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62" name="Google Shape;3462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63" name="Google Shape;3463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$74,348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64" name="Google Shape;3464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5" name="Google Shape;3465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66" name="Google Shape;3466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67" name="Google Shape;3467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68" name="Google Shape;3468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69" name="Google Shape;3469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70" name="Google Shape;3470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71" name="Google Shape;3471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72" name="Google Shape;3472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3" name="Google Shape;3473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74" name="Google Shape;3474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$11,909</a:t>
            </a:r>
            <a:endParaRPr/>
          </a:p>
        </p:txBody>
      </p:sp>
      <p:sp>
        <p:nvSpPr>
          <p:cNvPr id="3475" name="Google Shape;3475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6" name="Google Shape;3476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7" name="Google Shape;3477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$11,909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$-11,909</a:t>
            </a:r>
            <a:endParaRPr/>
          </a:p>
        </p:txBody>
      </p:sp>
      <p:sp>
        <p:nvSpPr>
          <p:cNvPr id="3479" name="Google Shape;3479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0" name="Google Shape;3480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81" name="Google Shape;3481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2" name="Google Shape;3482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3" name="Google Shape;3483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4" name="Google Shape;3484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5" name="Google Shape;3485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6" name="Google Shape;3486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7" name="Google Shape;3487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88" name="Google Shape;3488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9" name="Google Shape;3489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0" name="Google Shape;3490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1" name="Google Shape;3491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2" name="Google Shape;3492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$-18,276</a:t>
            </a:r>
            <a:endParaRPr/>
          </a:p>
        </p:txBody>
      </p:sp>
      <p:sp>
        <p:nvSpPr>
          <p:cNvPr id="3493" name="Google Shape;3493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4" name="Google Shape;3494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95" name="Google Shape;3495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6" name="Google Shape;3496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8" name="Google Shape;3498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0" name="Google Shape;3500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1" name="Google Shape;3501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02" name="Google Shape;3502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$106,318</a:t>
            </a:r>
            <a:endParaRPr/>
          </a:p>
        </p:txBody>
      </p:sp>
      <p:sp>
        <p:nvSpPr>
          <p:cNvPr id="3503" name="Google Shape;3503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$106,318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5" name="Google Shape;3505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6" name="Google Shape;3506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$-5,442</a:t>
            </a:r>
            <a:endParaRPr/>
          </a:p>
        </p:txBody>
      </p:sp>
      <p:sp>
        <p:nvSpPr>
          <p:cNvPr id="3507" name="Google Shape;3507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8" name="Google Shape;3508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09" name="Google Shape;3509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$118,227</a:t>
            </a:r>
            <a:endParaRPr/>
          </a:p>
        </p:txBody>
      </p:sp>
      <p:sp>
        <p:nvSpPr>
          <p:cNvPr id="3510" name="Google Shape;3510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$106,318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$11,909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$-35,627</a:t>
            </a:r>
            <a:endParaRPr/>
          </a:p>
        </p:txBody>
      </p:sp>
      <p:sp>
        <p:nvSpPr>
          <p:cNvPr id="3514" name="Google Shape;3514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5" name="Google Shape;3515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16" name="Google Shape;3516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17" name="Google Shape;3517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19" name="Google Shape;3519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22" name="Google Shape;3522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3" name="Google Shape;3523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24" name="Google Shape;3524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29" name="Google Shape;3529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0" name="Google Shape;3530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31" name="Google Shape;3531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536" name="Google Shape;3536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7" name="Google Shape;3537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43" name="Google Shape;3543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4" name="Google Shape;3544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3550" name="Google Shape;3550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1" name="Google Shape;3551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57" name="Google Shape;3557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8" name="Google Shape;3558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63" name="Google Shape;3563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3564" name="Google Shape;3564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5" name="Google Shape;3565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67" name="Google Shape;3567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70" name="Google Shape;3570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74" name="Google Shape;3574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77" name="Google Shape;3577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78" name="Google Shape;3578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581" name="Google Shape;3581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582" name="Google Shape;3582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87" name="Google Shape;3587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88" name="Google Shape;3588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589" name="Google Shape;3589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591" name="Google Shape;3591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592" name="Google Shape;3592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4" name="Google Shape;3594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3595" name="Google Shape;3595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6" name="Google Shape;3596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7" name="Google Shape;3597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8" name="Google Shape;3598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9" name="Google Shape;3599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$106K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4" name="Google Shape;3604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3605" name="Google Shape;3605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6" name="Google Shape;3606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07" name="Google Shape;3607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$118,227 YTD gross written premium</a:t>
            </a:r>
            <a:endParaRPr/>
          </a:p>
        </p:txBody>
      </p:sp>
      <p:sp>
        <p:nvSpPr>
          <p:cNvPr id="3609" name="Google Shape;3609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10" name="Google Shape;3610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$106,318 in new business production</a:t>
            </a:r>
            <a:endParaRPr/>
          </a:p>
        </p:txBody>
      </p:sp>
      <p:sp>
        <p:nvSpPr>
          <p:cNvPr id="3611" name="Google Shape;3611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2" name="Google Shape;3612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13" name="Google Shape;3613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14" name="Google Shape;3614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16" name="Google Shape;3616;p2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617" name="Google Shape;3617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8" name="Google Shape;3618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19" name="Google Shape;3619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20" name="Google Shape;3620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$106,318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621" name="Google Shape;3621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22" name="Google Shape;3622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$35,627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26" name="Shape 3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7" name="Google Shape;3627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8" name="Google Shape;3628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Christian Charles Insurance Services, Inc</a:t>
            </a:r>
            <a:endParaRPr/>
          </a:p>
        </p:txBody>
      </p:sp>
      <p:sp>
        <p:nvSpPr>
          <p:cNvPr id="3629" name="Google Shape;3629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California  |  City: Signal Hill</a:t>
            </a:r>
            <a:endParaRPr/>
          </a:p>
        </p:txBody>
      </p:sp>
      <p:sp>
        <p:nvSpPr>
          <p:cNvPr id="3630" name="Google Shape;3630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$107,472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31" name="Google Shape;3631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32" name="Google Shape;3632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$109,097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33" name="Google Shape;3633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34" name="Google Shape;3634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35" name="Google Shape;3635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$101,075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36" name="Google Shape;3636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$110,172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37" name="Google Shape;3637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38" name="Google Shape;3638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39" name="Google Shape;3639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40" name="Google Shape;3640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41" name="Google Shape;3641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$107,165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42" name="Google Shape;3642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43" name="Google Shape;3643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4" name="Google Shape;3644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45" name="Google Shape;3645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46" name="Google Shape;3646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47" name="Google Shape;3647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48" name="Google Shape;3648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49" name="Google Shape;3649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50" name="Google Shape;3650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51" name="Google Shape;3651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2" name="Google Shape;3652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53" name="Google Shape;3653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4" name="Google Shape;3654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6" name="Google Shape;3656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7" name="Google Shape;3657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8" name="Google Shape;3658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9" name="Google Shape;3659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60" name="Google Shape;3660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$109,097</a:t>
            </a:r>
            <a:endParaRPr/>
          </a:p>
        </p:txBody>
      </p:sp>
      <p:sp>
        <p:nvSpPr>
          <p:cNvPr id="3661" name="Google Shape;3661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$109,097</a:t>
            </a:r>
            <a:endParaRPr/>
          </a:p>
        </p:txBody>
      </p:sp>
      <p:sp>
        <p:nvSpPr>
          <p:cNvPr id="3663" name="Google Shape;3663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4" name="Google Shape;3664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5" name="Google Shape;3665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6" name="Google Shape;3666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67" name="Google Shape;3667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8" name="Google Shape;3668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0" name="Google Shape;3670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2" name="Google Shape;3672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$-1,625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7" name="Google Shape;3677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$-1,625</a:t>
            </a:r>
            <a:endParaRPr/>
          </a:p>
        </p:txBody>
      </p:sp>
      <p:sp>
        <p:nvSpPr>
          <p:cNvPr id="3678" name="Google Shape;3678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9" name="Google Shape;3679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0" name="Google Shape;3680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4" name="Google Shape;3684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5" name="Google Shape;3685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6" name="Google Shape;3686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7" name="Google Shape;3687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$107,472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$109,097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$-1,625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3" name="Google Shape;3693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4" name="Google Shape;3694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96" name="Google Shape;3696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01" name="Google Shape;3701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2" name="Google Shape;3702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08" name="Google Shape;3708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9" name="Google Shape;3709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10" name="Google Shape;3710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15" name="Google Shape;3715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6" name="Google Shape;3716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22" name="Google Shape;3722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3" name="Google Shape;3723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727" name="Google Shape;3727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729" name="Google Shape;3729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0" name="Google Shape;3730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4" name="Google Shape;3734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5" name="Google Shape;3735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36" name="Google Shape;3736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7" name="Google Shape;3737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38" name="Google Shape;3738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739" name="Google Shape;3739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3743" name="Google Shape;3743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4" name="Google Shape;3744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46" name="Google Shape;3746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48" name="Google Shape;3748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49" name="Google Shape;3749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53" name="Google Shape;3753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54" name="Google Shape;3754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55" name="Google Shape;3755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56" name="Google Shape;3756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58" name="Google Shape;3758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59" name="Google Shape;3759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760" name="Google Shape;3760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65" name="Google Shape;3765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66" name="Google Shape;3766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67" name="Google Shape;3767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68" name="Google Shape;3768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69" name="Google Shape;3769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770" name="Google Shape;3770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771" name="Google Shape;3771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72" name="Google Shape;3772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3" name="Google Shape;3773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4" name="Google Shape;3774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$101K</a:t>
            </a:r>
            <a:endParaRPr/>
          </a:p>
        </p:txBody>
      </p:sp>
      <p:sp>
        <p:nvSpPr>
          <p:cNvPr id="3775" name="Google Shape;3775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$-2,617</a:t>
            </a:r>
            <a:endParaRPr/>
          </a:p>
        </p:txBody>
      </p:sp>
      <p:sp>
        <p:nvSpPr>
          <p:cNvPr id="3777" name="Google Shape;3777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8" name="Google Shape;3778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$-1,625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1" name="Google Shape;3781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$98K</a:t>
            </a:r>
            <a:endParaRPr/>
          </a:p>
        </p:txBody>
      </p:sp>
      <p:sp>
        <p:nvSpPr>
          <p:cNvPr id="3783" name="Google Shape;3783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$107K</a:t>
            </a:r>
            <a:endParaRPr/>
          </a:p>
        </p:txBody>
      </p:sp>
      <p:sp>
        <p:nvSpPr>
          <p:cNvPr id="3784" name="Google Shape;3784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5" name="Google Shape;3785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$107,472 YTD gross written premium</a:t>
            </a:r>
            <a:endParaRPr/>
          </a:p>
        </p:txBody>
      </p:sp>
      <p:sp>
        <p:nvSpPr>
          <p:cNvPr id="3788" name="Google Shape;3788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89" name="Google Shape;3789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$109,097 in renewals - strong retention</a:t>
            </a:r>
            <a:endParaRPr/>
          </a:p>
        </p:txBody>
      </p:sp>
      <p:sp>
        <p:nvSpPr>
          <p:cNvPr id="3790" name="Google Shape;3790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1" name="Google Shape;3791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95" name="Google Shape;3795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7 to 1 MoM</a:t>
            </a:r>
            <a:endParaRPr/>
          </a:p>
        </p:txBody>
      </p:sp>
      <p:sp>
        <p:nvSpPr>
          <p:cNvPr id="3796" name="Google Shape;3796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7" name="Google Shape;3797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98" name="Google Shape;3798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$109,097 in renewals shows they trust our product. Ask: "What's holding back new submissions?" They may need updated appetite info or a refresher on our quoting process.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05" name="Shape 3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6" name="Google Shape;3806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7" name="Google Shape;3807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Alliance Insurance Group Llc</a:t>
            </a:r>
            <a:endParaRPr/>
          </a:p>
        </p:txBody>
      </p:sp>
      <p:sp>
        <p:nvSpPr>
          <p:cNvPr id="3808" name="Google Shape;3808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N/A</a:t>
            </a:r>
            <a:endParaRPr/>
          </a:p>
        </p:txBody>
      </p:sp>
      <p:sp>
        <p:nvSpPr>
          <p:cNvPr id="3809" name="Google Shape;3809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$104,477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10" name="Google Shape;3810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11" name="Google Shape;3811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12" name="Google Shape;3812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$69,555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13" name="Google Shape;3813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$-63,861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14" name="Google Shape;3814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815" name="Google Shape;3815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$238,228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816" name="Google Shape;3816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817" name="Google Shape;3817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18" name="Google Shape;3818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19" name="Google Shape;3819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20" name="Google Shape;3820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21" name="Google Shape;3821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22" name="Google Shape;3822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3" name="Google Shape;3823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24" name="Google Shape;3824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25" name="Google Shape;3825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26" name="Google Shape;3826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27" name="Google Shape;3827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28" name="Google Shape;3828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29" name="Google Shape;3829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30" name="Google Shape;3830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1" name="Google Shape;3831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32" name="Google Shape;3832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$-2,111</a:t>
            </a:r>
            <a:endParaRPr/>
          </a:p>
        </p:txBody>
      </p:sp>
      <p:sp>
        <p:nvSpPr>
          <p:cNvPr id="3833" name="Google Shape;3833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4" name="Google Shape;3834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5" name="Google Shape;3835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$-2,111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7" name="Google Shape;3837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8" name="Google Shape;3838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39" name="Google Shape;3839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$70,519</a:t>
            </a:r>
            <a:endParaRPr/>
          </a:p>
        </p:txBody>
      </p:sp>
      <p:sp>
        <p:nvSpPr>
          <p:cNvPr id="3840" name="Google Shape;3840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$34,923</a:t>
            </a:r>
            <a:endParaRPr/>
          </a:p>
        </p:txBody>
      </p:sp>
      <p:sp>
        <p:nvSpPr>
          <p:cNvPr id="3841" name="Google Shape;3841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2" name="Google Shape;3842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$35,596</a:t>
            </a:r>
            <a:endParaRPr/>
          </a:p>
        </p:txBody>
      </p:sp>
      <p:sp>
        <p:nvSpPr>
          <p:cNvPr id="3843" name="Google Shape;3843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$-35,596</a:t>
            </a:r>
            <a:endParaRPr/>
          </a:p>
        </p:txBody>
      </p:sp>
      <p:sp>
        <p:nvSpPr>
          <p:cNvPr id="3844" name="Google Shape;3844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5" name="Google Shape;3845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46" name="Google Shape;3846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$2,917</a:t>
            </a:r>
            <a:endParaRPr/>
          </a:p>
        </p:txBody>
      </p:sp>
      <p:sp>
        <p:nvSpPr>
          <p:cNvPr id="3847" name="Google Shape;3847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8" name="Google Shape;3848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9" name="Google Shape;3849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$2,917</a:t>
            </a:r>
            <a:endParaRPr/>
          </a:p>
        </p:txBody>
      </p:sp>
      <p:sp>
        <p:nvSpPr>
          <p:cNvPr id="3850" name="Google Shape;3850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1" name="Google Shape;3851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2" name="Google Shape;3852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$33,152</a:t>
            </a:r>
            <a:endParaRPr/>
          </a:p>
        </p:txBody>
      </p:sp>
      <p:sp>
        <p:nvSpPr>
          <p:cNvPr id="3854" name="Google Shape;3854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5" name="Google Shape;3855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6" name="Google Shape;3856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$33,152</a:t>
            </a:r>
            <a:endParaRPr/>
          </a:p>
        </p:txBody>
      </p:sp>
      <p:sp>
        <p:nvSpPr>
          <p:cNvPr id="3857" name="Google Shape;3857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$-22,101</a:t>
            </a:r>
            <a:endParaRPr/>
          </a:p>
        </p:txBody>
      </p:sp>
      <p:sp>
        <p:nvSpPr>
          <p:cNvPr id="3858" name="Google Shape;3858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9" name="Google Shape;3859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1" name="Google Shape;3861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2" name="Google Shape;3862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3" name="Google Shape;3863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4" name="Google Shape;3864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$-6,163</a:t>
            </a:r>
            <a:endParaRPr/>
          </a:p>
        </p:txBody>
      </p:sp>
      <p:sp>
        <p:nvSpPr>
          <p:cNvPr id="3865" name="Google Shape;3865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6" name="Google Shape;3866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$104,477</a:t>
            </a:r>
            <a:endParaRPr/>
          </a:p>
        </p:txBody>
      </p:sp>
      <p:sp>
        <p:nvSpPr>
          <p:cNvPr id="3868" name="Google Shape;3868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$34,923</a:t>
            </a:r>
            <a:endParaRPr/>
          </a:p>
        </p:txBody>
      </p:sp>
      <p:sp>
        <p:nvSpPr>
          <p:cNvPr id="3869" name="Google Shape;3869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0" name="Google Shape;3870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$69,555</a:t>
            </a:r>
            <a:endParaRPr/>
          </a:p>
        </p:txBody>
      </p:sp>
      <p:sp>
        <p:nvSpPr>
          <p:cNvPr id="3871" name="Google Shape;3871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$-63,861</a:t>
            </a:r>
            <a:endParaRPr/>
          </a:p>
        </p:txBody>
      </p:sp>
      <p:sp>
        <p:nvSpPr>
          <p:cNvPr id="3872" name="Google Shape;3872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3" name="Google Shape;3873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77" name="Google Shape;3877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78" name="Google Shape;3878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80" name="Google Shape;3880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1" name="Google Shape;3881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84" name="Google Shape;3884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3885" name="Google Shape;3885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3887" name="Google Shape;3887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8" name="Google Shape;3888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3894" name="Google Shape;3894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5" name="Google Shape;3895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3901" name="Google Shape;3901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2" name="Google Shape;3902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906" name="Google Shape;3906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3908" name="Google Shape;3908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9" name="Google Shape;3909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10" name="Google Shape;3910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15" name="Google Shape;3915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6" name="Google Shape;3916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205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21" name="Google Shape;3921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3922" name="Google Shape;3922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3" name="Google Shape;3923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25" name="Google Shape;3925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27" name="Google Shape;3927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28" name="Google Shape;3928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31" name="Google Shape;3931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32" name="Google Shape;3932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34" name="Google Shape;3934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35" name="Google Shape;3935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37" name="Google Shape;3937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9" name="Google Shape;3939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944" name="Google Shape;3944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5" name="Google Shape;3945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946" name="Google Shape;3946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7" name="Google Shape;3947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948" name="Google Shape;3948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9" name="Google Shape;3949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3950" name="Google Shape;3950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51" name="Google Shape;3951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2" name="Google Shape;3952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$-2,111</a:t>
            </a:r>
            <a:endParaRPr/>
          </a:p>
        </p:txBody>
      </p:sp>
      <p:sp>
        <p:nvSpPr>
          <p:cNvPr id="3953" name="Google Shape;3953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4" name="Google Shape;3954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0" name="Google Shape;3960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1" name="Google Shape;3961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$104K</a:t>
            </a:r>
            <a:endParaRPr/>
          </a:p>
        </p:txBody>
      </p:sp>
      <p:sp>
        <p:nvSpPr>
          <p:cNvPr id="3963" name="Google Shape;3963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4" name="Google Shape;3964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$104,477 YTD gross written premium</a:t>
            </a:r>
            <a:endParaRPr/>
          </a:p>
        </p:txBody>
      </p:sp>
      <p:sp>
        <p:nvSpPr>
          <p:cNvPr id="3967" name="Google Shape;3967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68" name="Google Shape;3968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$34,923 in new business production</a:t>
            </a:r>
            <a:endParaRPr/>
          </a:p>
        </p:txBody>
      </p:sp>
      <p:sp>
        <p:nvSpPr>
          <p:cNvPr id="3969" name="Google Shape;3969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0" name="Google Shape;3970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1.0% hit ratio on 205 subs - needs coaching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74" name="Google Shape;3974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183% of new business ($63,861)</a:t>
            </a:r>
            <a:endParaRPr/>
          </a:p>
        </p:txBody>
      </p:sp>
      <p:sp>
        <p:nvSpPr>
          <p:cNvPr id="3975" name="Google Shape;3975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6" name="Google Shape;3976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77" name="Google Shape;3977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(205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$34,923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4" name="Shape 3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5" name="Google Shape;3985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6" name="Google Shape;3986;p29"/>
          <p:cNvSpPr txBox="1"/>
          <p:nvPr/>
        </p:nvSpPr>
        <p:spPr>
          <a:xfrm>
            <a:off x="365760" y="73152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J&amp; J Expedited </a:t>
            </a:r>
            <a:r>
              <a:rPr b="1" lang="en-US" sz="1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Services</a:t>
            </a: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Llc</a:t>
            </a:r>
            <a:endParaRPr/>
          </a:p>
        </p:txBody>
      </p:sp>
      <p:sp>
        <p:nvSpPr>
          <p:cNvPr id="3987" name="Google Shape;3987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JURUPA CVALLEY ​</a:t>
            </a:r>
            <a:endParaRPr/>
          </a:p>
        </p:txBody>
      </p:sp>
      <p:sp>
        <p:nvSpPr>
          <p:cNvPr id="3988" name="Google Shape;3988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$92,298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89" name="Google Shape;3989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$49,237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90" name="Google Shape;3990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91" name="Google Shape;3991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92" name="Google Shape;3992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$-20,251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93" name="Google Shape;3993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$125,869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94" name="Google Shape;3994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95" name="Google Shape;3995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96" name="Google Shape;3996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97" name="Google Shape;3997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98" name="Google Shape;3998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99" name="Google Shape;3999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000" name="Google Shape;4000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001" name="Google Shape;4001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2" name="Google Shape;4002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003" name="Google Shape;4003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04" name="Google Shape;4004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005" name="Google Shape;4005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06" name="Google Shape;4006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07" name="Google Shape;4007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08" name="Google Shape;4008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09" name="Google Shape;4009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0" name="Google Shape;4010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11" name="Google Shape;4011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2" name="Google Shape;4012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3" name="Google Shape;4013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4" name="Google Shape;4014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6" name="Google Shape;4016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7" name="Google Shape;4017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$43,061</a:t>
            </a:r>
            <a:endParaRPr/>
          </a:p>
        </p:txBody>
      </p:sp>
      <p:sp>
        <p:nvSpPr>
          <p:cNvPr id="4019" name="Google Shape;4019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0" name="Google Shape;4020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$43,061</a:t>
            </a:r>
            <a:endParaRPr/>
          </a:p>
        </p:txBody>
      </p:sp>
      <p:sp>
        <p:nvSpPr>
          <p:cNvPr id="4021" name="Google Shape;4021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2" name="Google Shape;4022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3" name="Google Shape;4023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4" name="Google Shape;4024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6" name="Google Shape;4026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7" name="Google Shape;4027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8" name="Google Shape;4028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9" name="Google Shape;4029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0" name="Google Shape;4030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1" name="Google Shape;4031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$21,613</a:t>
            </a:r>
            <a:endParaRPr/>
          </a:p>
        </p:txBody>
      </p:sp>
      <p:sp>
        <p:nvSpPr>
          <p:cNvPr id="4033" name="Google Shape;4033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$21,613</a:t>
            </a:r>
            <a:endParaRPr/>
          </a:p>
        </p:txBody>
      </p:sp>
      <p:sp>
        <p:nvSpPr>
          <p:cNvPr id="4034" name="Google Shape;4034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5" name="Google Shape;4035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6" name="Google Shape;4036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7" name="Google Shape;4037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8" name="Google Shape;4038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$27,624</a:t>
            </a:r>
            <a:endParaRPr/>
          </a:p>
        </p:txBody>
      </p:sp>
      <p:sp>
        <p:nvSpPr>
          <p:cNvPr id="4040" name="Google Shape;4040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$27,624</a:t>
            </a:r>
            <a:endParaRPr/>
          </a:p>
        </p:txBody>
      </p:sp>
      <p:sp>
        <p:nvSpPr>
          <p:cNvPr id="4041" name="Google Shape;4041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2" name="Google Shape;4042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3" name="Google Shape;4043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$-20,251</a:t>
            </a:r>
            <a:endParaRPr/>
          </a:p>
        </p:txBody>
      </p:sp>
      <p:sp>
        <p:nvSpPr>
          <p:cNvPr id="4044" name="Google Shape;4044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5" name="Google Shape;4045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$92,298</a:t>
            </a:r>
            <a:endParaRPr/>
          </a:p>
        </p:txBody>
      </p:sp>
      <p:sp>
        <p:nvSpPr>
          <p:cNvPr id="4047" name="Google Shape;4047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$49,237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$43,061</a:t>
            </a:r>
            <a:endParaRPr/>
          </a:p>
        </p:txBody>
      </p:sp>
      <p:sp>
        <p:nvSpPr>
          <p:cNvPr id="4049" name="Google Shape;4049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0" name="Google Shape;4050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$-20,251</a:t>
            </a:r>
            <a:endParaRPr/>
          </a:p>
        </p:txBody>
      </p:sp>
      <p:sp>
        <p:nvSpPr>
          <p:cNvPr id="4051" name="Google Shape;4051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2" name="Google Shape;4052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56" name="Google Shape;4056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57" name="Google Shape;4057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59" name="Google Shape;4059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0" name="Google Shape;4060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3" name="Google Shape;4063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64" name="Google Shape;4064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66" name="Google Shape;4066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7" name="Google Shape;4067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73" name="Google Shape;4073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4" name="Google Shape;4074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80" name="Google Shape;4080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1" name="Google Shape;4081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087" name="Google Shape;4087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8" name="Google Shape;4088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92" name="Google Shape;4092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93" name="Google Shape;4093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094" name="Google Shape;4094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5" name="Google Shape;4095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099" name="Google Shape;4099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4101" name="Google Shape;4101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2" name="Google Shape;4102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04" name="Google Shape;4104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105" name="Google Shape;4105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106" name="Google Shape;4106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07" name="Google Shape;4107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11" name="Google Shape;4111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13" name="Google Shape;4113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14" name="Google Shape;4114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116" name="Google Shape;4116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21" name="Google Shape;4121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22" name="Google Shape;4122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23" name="Google Shape;4123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25" name="Google Shape;4125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126" name="Google Shape;4126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27" name="Google Shape;4127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128" name="Google Shape;4128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129" name="Google Shape;4129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30" name="Google Shape;4130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2" name="Google Shape;4132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3" name="Google Shape;4133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6" name="Google Shape;4136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4139" name="Google Shape;4139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4140" name="Google Shape;4140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4141" name="Google Shape;4141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$92K</a:t>
            </a:r>
            <a:endParaRPr/>
          </a:p>
        </p:txBody>
      </p:sp>
      <p:sp>
        <p:nvSpPr>
          <p:cNvPr id="4142" name="Google Shape;4142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3" name="Google Shape;4143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44" name="Google Shape;4144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45" name="Google Shape;4145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$92,298 YTD gross written premium</a:t>
            </a:r>
            <a:endParaRPr/>
          </a:p>
        </p:txBody>
      </p:sp>
      <p:sp>
        <p:nvSpPr>
          <p:cNvPr id="4146" name="Google Shape;4146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47" name="Google Shape;4147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$49,237 in new business production</a:t>
            </a:r>
            <a:endParaRPr/>
          </a:p>
        </p:txBody>
      </p:sp>
      <p:sp>
        <p:nvSpPr>
          <p:cNvPr id="4148" name="Google Shape;4148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9" name="Google Shape;4149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51" name="Google Shape;4151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41% of new business ($20,251)</a:t>
            </a:r>
            <a:endParaRPr/>
          </a:p>
        </p:txBody>
      </p:sp>
      <p:sp>
        <p:nvSpPr>
          <p:cNvPr id="4152" name="Google Shape;4152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3" name="Google Shape;4153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54" name="Google Shape;4154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55" name="Google Shape;4155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$49,237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$20,251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1" name="Shape 4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2" name="Google Shape;4162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3" name="Google Shape;4163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Robust Financial Inc</a:t>
            </a:r>
            <a:endParaRPr/>
          </a:p>
        </p:txBody>
      </p:sp>
      <p:sp>
        <p:nvSpPr>
          <p:cNvPr id="4164" name="Google Shape;4164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AZ  |  City: Boerne</a:t>
            </a:r>
            <a:endParaRPr/>
          </a:p>
        </p:txBody>
      </p:sp>
      <p:sp>
        <p:nvSpPr>
          <p:cNvPr id="4165" name="Google Shape;4165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$85,255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66" name="Google Shape;4166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67" name="Google Shape;4167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68" name="Google Shape;4168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69" name="Google Shape;4169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$-64,813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70" name="Google Shape;4170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$14,980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71" name="Google Shape;4171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$100,236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72" name="Google Shape;4172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73" name="Google Shape;4173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74" name="Google Shape;4174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75" name="Google Shape;4175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76" name="Google Shape;4176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77" name="Google Shape;4177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$75,992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78" name="Google Shape;4178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9" name="Google Shape;4179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80" name="Google Shape;4180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81" name="Google Shape;4181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82" name="Google Shape;4182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83" name="Google Shape;4183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84" name="Google Shape;4184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85" name="Google Shape;4185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86" name="Google Shape;4186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7" name="Google Shape;4187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88" name="Google Shape;4188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$13,766</a:t>
            </a:r>
            <a:endParaRPr/>
          </a:p>
        </p:txBody>
      </p:sp>
      <p:sp>
        <p:nvSpPr>
          <p:cNvPr id="4189" name="Google Shape;4189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$13,418</a:t>
            </a:r>
            <a:endParaRPr/>
          </a:p>
        </p:txBody>
      </p:sp>
      <p:sp>
        <p:nvSpPr>
          <p:cNvPr id="4190" name="Google Shape;4190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1" name="Google Shape;4191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$348</a:t>
            </a:r>
            <a:endParaRPr/>
          </a:p>
        </p:txBody>
      </p:sp>
      <p:sp>
        <p:nvSpPr>
          <p:cNvPr id="4192" name="Google Shape;4192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3" name="Google Shape;4193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4" name="Google Shape;4194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95" name="Google Shape;4195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$35,280</a:t>
            </a:r>
            <a:endParaRPr/>
          </a:p>
        </p:txBody>
      </p:sp>
      <p:sp>
        <p:nvSpPr>
          <p:cNvPr id="4196" name="Google Shape;4196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$24,153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$11,127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$-35,123</a:t>
            </a:r>
            <a:endParaRPr/>
          </a:p>
        </p:txBody>
      </p:sp>
      <p:sp>
        <p:nvSpPr>
          <p:cNvPr id="4200" name="Google Shape;4200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1" name="Google Shape;4201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02" name="Google Shape;4202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$9,766</a:t>
            </a:r>
            <a:endParaRPr/>
          </a:p>
        </p:txBody>
      </p:sp>
      <p:sp>
        <p:nvSpPr>
          <p:cNvPr id="4203" name="Google Shape;4203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$9,766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$-19,359</a:t>
            </a:r>
            <a:endParaRPr/>
          </a:p>
        </p:txBody>
      </p:sp>
      <p:sp>
        <p:nvSpPr>
          <p:cNvPr id="4207" name="Google Shape;4207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8" name="Google Shape;4208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09" name="Google Shape;4209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0" name="Google Shape;4210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$-10,330</a:t>
            </a:r>
            <a:endParaRPr/>
          </a:p>
        </p:txBody>
      </p:sp>
      <p:sp>
        <p:nvSpPr>
          <p:cNvPr id="4214" name="Google Shape;4214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5" name="Google Shape;4215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16" name="Google Shape;4216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$26,443</a:t>
            </a:r>
            <a:endParaRPr/>
          </a:p>
        </p:txBody>
      </p:sp>
      <p:sp>
        <p:nvSpPr>
          <p:cNvPr id="4217" name="Google Shape;4217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$26,443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1" name="Google Shape;4221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2" name="Google Shape;4222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23" name="Google Shape;4223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$85,255</a:t>
            </a:r>
            <a:endParaRPr/>
          </a:p>
        </p:txBody>
      </p:sp>
      <p:sp>
        <p:nvSpPr>
          <p:cNvPr id="4224" name="Google Shape;4224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$64,015</a:t>
            </a:r>
            <a:endParaRPr/>
          </a:p>
        </p:txBody>
      </p:sp>
      <p:sp>
        <p:nvSpPr>
          <p:cNvPr id="4225" name="Google Shape;4225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$21,241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$-64,813</a:t>
            </a:r>
            <a:endParaRPr/>
          </a:p>
        </p:txBody>
      </p:sp>
      <p:sp>
        <p:nvSpPr>
          <p:cNvPr id="4228" name="Google Shape;4228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9" name="Google Shape;4229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35" name="Google Shape;4235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36" name="Google Shape;4236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7" name="Google Shape;4237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42" name="Google Shape;4242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75.0%</a:t>
            </a:r>
            <a:endParaRPr/>
          </a:p>
        </p:txBody>
      </p:sp>
      <p:sp>
        <p:nvSpPr>
          <p:cNvPr id="4243" name="Google Shape;4243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4" name="Google Shape;4244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45" name="Google Shape;4245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250" name="Google Shape;4250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1" name="Google Shape;4251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57" name="Google Shape;4257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8" name="Google Shape;4258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264" name="Google Shape;4264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5" name="Google Shape;4265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71" name="Google Shape;4271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2" name="Google Shape;4272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76" name="Google Shape;4276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12.9%</a:t>
            </a:r>
            <a:endParaRPr/>
          </a:p>
        </p:txBody>
      </p:sp>
      <p:sp>
        <p:nvSpPr>
          <p:cNvPr id="4278" name="Google Shape;4278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9" name="Google Shape;4279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81" name="Google Shape;4281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83" name="Google Shape;4283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84" name="Google Shape;4284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85" name="Google Shape;4285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86" name="Google Shape;4286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90" name="Google Shape;4290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93" name="Google Shape;4293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5" name="Google Shape;4295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300" name="Google Shape;4300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1" name="Google Shape;4301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302" name="Google Shape;4302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04" name="Google Shape;4304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05" name="Google Shape;4305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306" name="Google Shape;4306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07" name="Google Shape;4307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4309" name="Google Shape;4309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2" name="Google Shape;4312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4" name="Google Shape;4314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5" name="Google Shape;4315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8" name="Google Shape;4318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4319" name="Google Shape;4319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0" name="Google Shape;4320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321" name="Google Shape;4321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22" name="Google Shape;4322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$85,255 YTD gross written premium</a:t>
            </a:r>
            <a:endParaRPr/>
          </a:p>
        </p:txBody>
      </p:sp>
      <p:sp>
        <p:nvSpPr>
          <p:cNvPr id="4323" name="Google Shape;4323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24" name="Google Shape;4324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$64,015 in new business production</a:t>
            </a:r>
            <a:endParaRPr/>
          </a:p>
        </p:txBody>
      </p:sp>
      <p:sp>
        <p:nvSpPr>
          <p:cNvPr id="4325" name="Google Shape;4325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6" name="Google Shape;4326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27" name="Google Shape;4327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28" name="Google Shape;4328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101% of new business ($64,813)</a:t>
            </a:r>
            <a:endParaRPr/>
          </a:p>
        </p:txBody>
      </p:sp>
      <p:sp>
        <p:nvSpPr>
          <p:cNvPr id="4329" name="Google Shape;4329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30" name="Google Shape;4330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1 MoM</a:t>
            </a:r>
            <a:endParaRPr/>
          </a:p>
        </p:txBody>
      </p:sp>
      <p:sp>
        <p:nvSpPr>
          <p:cNvPr id="4331" name="Google Shape;4331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2" name="Google Shape;4332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33" name="Google Shape;4333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34" name="Google Shape;4334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$64,015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335" name="Google Shape;4335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36" name="Google Shape;4336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$64,813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40" name="Shape 4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1" name="Google Shape;4341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2" name="Google Shape;4342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Saberlines, Inc.</a:t>
            </a:r>
            <a:endParaRPr/>
          </a:p>
        </p:txBody>
      </p:sp>
      <p:sp>
        <p:nvSpPr>
          <p:cNvPr id="4343" name="Google Shape;4343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Upland</a:t>
            </a:r>
            <a:endParaRPr/>
          </a:p>
        </p:txBody>
      </p:sp>
      <p:sp>
        <p:nvSpPr>
          <p:cNvPr id="4344" name="Google Shape;4344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$73,968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45" name="Google Shape;4345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46" name="Google Shape;4346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47" name="Google Shape;4347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48" name="Google Shape;4348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$-44,760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49" name="Google Shape;4349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$45,006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50" name="Google Shape;4350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51" name="Google Shape;4351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52" name="Google Shape;4352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53" name="Google Shape;4353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54" name="Google Shape;4354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55" name="Google Shape;4355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56" name="Google Shape;4356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57" name="Google Shape;4357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8" name="Google Shape;4358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59" name="Google Shape;4359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60" name="Google Shape;4360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61" name="Google Shape;4361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62" name="Google Shape;4362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63" name="Google Shape;4363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64" name="Google Shape;4364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65" name="Google Shape;4365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6" name="Google Shape;4366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67" name="Google Shape;4367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8" name="Google Shape;4368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9" name="Google Shape;4369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0" name="Google Shape;4370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2" name="Google Shape;4372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3" name="Google Shape;4373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74" name="Google Shape;4374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5" name="Google Shape;4375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7" name="Google Shape;4377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8" name="Google Shape;4378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9" name="Google Shape;4379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0" name="Google Shape;4380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81" name="Google Shape;4381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$58,185</a:t>
            </a:r>
            <a:endParaRPr/>
          </a:p>
        </p:txBody>
      </p:sp>
      <p:sp>
        <p:nvSpPr>
          <p:cNvPr id="4382" name="Google Shape;4382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$19,157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$21,519</a:t>
            </a:r>
            <a:endParaRPr/>
          </a:p>
        </p:txBody>
      </p:sp>
      <p:sp>
        <p:nvSpPr>
          <p:cNvPr id="4384" name="Google Shape;4384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$17,509</a:t>
            </a:r>
            <a:endParaRPr/>
          </a:p>
        </p:txBody>
      </p:sp>
      <p:sp>
        <p:nvSpPr>
          <p:cNvPr id="4385" name="Google Shape;4385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$-17,509</a:t>
            </a:r>
            <a:endParaRPr/>
          </a:p>
        </p:txBody>
      </p:sp>
      <p:sp>
        <p:nvSpPr>
          <p:cNvPr id="4386" name="Google Shape;4386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7" name="Google Shape;4387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88" name="Google Shape;4388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$15,783</a:t>
            </a:r>
            <a:endParaRPr/>
          </a:p>
        </p:txBody>
      </p:sp>
      <p:sp>
        <p:nvSpPr>
          <p:cNvPr id="4389" name="Google Shape;4389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$15,783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$-15,783</a:t>
            </a:r>
            <a:endParaRPr/>
          </a:p>
        </p:txBody>
      </p:sp>
      <p:sp>
        <p:nvSpPr>
          <p:cNvPr id="4393" name="Google Shape;4393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4" name="Google Shape;4394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95" name="Google Shape;4395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6" name="Google Shape;4396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$-11,467</a:t>
            </a:r>
            <a:endParaRPr/>
          </a:p>
        </p:txBody>
      </p:sp>
      <p:sp>
        <p:nvSpPr>
          <p:cNvPr id="4400" name="Google Shape;4400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1" name="Google Shape;4401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02" name="Google Shape;4402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$73,968</a:t>
            </a:r>
            <a:endParaRPr/>
          </a:p>
        </p:txBody>
      </p:sp>
      <p:sp>
        <p:nvSpPr>
          <p:cNvPr id="4403" name="Google Shape;4403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$19,157</a:t>
            </a:r>
            <a:endParaRPr/>
          </a:p>
        </p:txBody>
      </p:sp>
      <p:sp>
        <p:nvSpPr>
          <p:cNvPr id="4404" name="Google Shape;4404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$21,519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$33,292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$-44,760</a:t>
            </a:r>
            <a:endParaRPr/>
          </a:p>
        </p:txBody>
      </p:sp>
      <p:sp>
        <p:nvSpPr>
          <p:cNvPr id="4407" name="Google Shape;4407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8" name="Google Shape;4408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15" name="Google Shape;4415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6" name="Google Shape;4416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422" name="Google Shape;4422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3" name="Google Shape;4423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24" name="Google Shape;4424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29" name="Google Shape;4429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0" name="Google Shape;4430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436" name="Google Shape;4436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7" name="Google Shape;4437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441" name="Google Shape;4441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42" name="Google Shape;4442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4443" name="Google Shape;4443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4" name="Google Shape;4444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46" name="Google Shape;4446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50" name="Google Shape;4450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1" name="Google Shape;4451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52" name="Google Shape;4452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453" name="Google Shape;4453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4457" name="Google Shape;4457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8" name="Google Shape;4458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60" name="Google Shape;4460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62" name="Google Shape;4462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63" name="Google Shape;4463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69" name="Google Shape;4469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70" name="Google Shape;4470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72" name="Google Shape;4472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73" name="Google Shape;4473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78" name="Google Shape;4478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79" name="Google Shape;4479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480" name="Google Shape;4480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481" name="Google Shape;4481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483" name="Google Shape;4483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484" name="Google Shape;4484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485" name="Google Shape;4485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86" name="Google Shape;4486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8" name="Google Shape;4488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1" name="Google Shape;4491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4492" name="Google Shape;4492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494" name="Google Shape;4494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7" name="Google Shape;4497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4498" name="Google Shape;4498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9" name="Google Shape;4499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500" name="Google Shape;4500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$73,968 YTD gross written premium</a:t>
            </a:r>
            <a:endParaRPr/>
          </a:p>
        </p:txBody>
      </p:sp>
      <p:sp>
        <p:nvSpPr>
          <p:cNvPr id="4502" name="Google Shape;4502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503" name="Google Shape;4503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$19,157 in new business production</a:t>
            </a:r>
            <a:endParaRPr/>
          </a:p>
        </p:txBody>
      </p:sp>
      <p:sp>
        <p:nvSpPr>
          <p:cNvPr id="4504" name="Google Shape;4504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5" name="Google Shape;4505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506" name="Google Shape;4506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07" name="Google Shape;4507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234% of new business ($44,760)</a:t>
            </a:r>
            <a:endParaRPr/>
          </a:p>
        </p:txBody>
      </p:sp>
      <p:sp>
        <p:nvSpPr>
          <p:cNvPr id="4508" name="Google Shape;4508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09" name="Google Shape;4509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4510" name="Google Shape;4510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1" name="Google Shape;4511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512" name="Google Shape;4512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513" name="Google Shape;4513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$19,157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$44,760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19" name="Shape 4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0" name="Google Shape;4520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1" name="Google Shape;4521;p32"/>
          <p:cNvSpPr txBox="1"/>
          <p:nvPr/>
        </p:nvSpPr>
        <p:spPr>
          <a:xfrm>
            <a:off x="365760" y="73152"/>
            <a:ext cx="822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Crossroads Equip</a:t>
            </a:r>
            <a:r>
              <a:rPr b="1" lang="en-US" sz="1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ment Lease &amp; Finance</a:t>
            </a:r>
            <a:endParaRPr b="1" sz="1800">
              <a:solidFill>
                <a:srgbClr val="FFFF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22" name="Google Shape;4522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Rancho Cucamonga</a:t>
            </a:r>
            <a:endParaRPr/>
          </a:p>
        </p:txBody>
      </p:sp>
      <p:sp>
        <p:nvSpPr>
          <p:cNvPr id="4523" name="Google Shape;4523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$73,322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524" name="Google Shape;4524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$72,057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25" name="Google Shape;4525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26" name="Google Shape;4526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27" name="Google Shape;4527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28" name="Google Shape;4528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$196,921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29" name="Google Shape;4529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$168,064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30" name="Google Shape;4530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31" name="Google Shape;4531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32" name="Google Shape;4532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33" name="Google Shape;4533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34" name="Google Shape;4534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$34,253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35" name="Google Shape;4535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36" name="Google Shape;4536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7" name="Google Shape;4537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38" name="Google Shape;4538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39" name="Google Shape;4539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40" name="Google Shape;4540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41" name="Google Shape;4541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42" name="Google Shape;4542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43" name="Google Shape;4543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44" name="Google Shape;4544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5" name="Google Shape;4545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46" name="Google Shape;4546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$2,270</a:t>
            </a:r>
            <a:endParaRPr/>
          </a:p>
        </p:txBody>
      </p:sp>
      <p:sp>
        <p:nvSpPr>
          <p:cNvPr id="4547" name="Google Shape;4547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4549" name="Google Shape;4549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0" name="Google Shape;4550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1" name="Google Shape;4551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2" name="Google Shape;4552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53" name="Google Shape;4553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4" name="Google Shape;4554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5" name="Google Shape;4555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6" name="Google Shape;4556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7" name="Google Shape;4557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$-178</a:t>
            </a:r>
            <a:endParaRPr/>
          </a:p>
        </p:txBody>
      </p:sp>
      <p:sp>
        <p:nvSpPr>
          <p:cNvPr id="4558" name="Google Shape;4558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9" name="Google Shape;4559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60" name="Google Shape;4560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1" name="Google Shape;4561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2" name="Google Shape;4562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3" name="Google Shape;4563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4" name="Google Shape;4564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$-769</a:t>
            </a:r>
            <a:endParaRPr/>
          </a:p>
        </p:txBody>
      </p:sp>
      <p:sp>
        <p:nvSpPr>
          <p:cNvPr id="4565" name="Google Shape;4565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6" name="Google Shape;4566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$36,224</a:t>
            </a:r>
            <a:endParaRPr/>
          </a:p>
        </p:txBody>
      </p:sp>
      <p:sp>
        <p:nvSpPr>
          <p:cNvPr id="4568" name="Google Shape;4568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$36,129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0" name="Google Shape;4570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</a:t>
            </a:r>
            <a:endParaRPr/>
          </a:p>
        </p:txBody>
      </p:sp>
      <p:sp>
        <p:nvSpPr>
          <p:cNvPr id="4571" name="Google Shape;4571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$-1,662</a:t>
            </a:r>
            <a:endParaRPr/>
          </a:p>
        </p:txBody>
      </p:sp>
      <p:sp>
        <p:nvSpPr>
          <p:cNvPr id="4572" name="Google Shape;4572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3" name="Google Shape;4573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$34,828</a:t>
            </a:r>
            <a:endParaRPr/>
          </a:p>
        </p:txBody>
      </p:sp>
      <p:sp>
        <p:nvSpPr>
          <p:cNvPr id="4575" name="Google Shape;4575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$34,828</a:t>
            </a:r>
            <a:endParaRPr/>
          </a:p>
        </p:txBody>
      </p:sp>
      <p:sp>
        <p:nvSpPr>
          <p:cNvPr id="4576" name="Google Shape;4576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7" name="Google Shape;4577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8" name="Google Shape;4578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9" name="Google Shape;4579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0" name="Google Shape;4580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81" name="Google Shape;4581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$73,322</a:t>
            </a:r>
            <a:endParaRPr/>
          </a:p>
        </p:txBody>
      </p:sp>
      <p:sp>
        <p:nvSpPr>
          <p:cNvPr id="4582" name="Google Shape;4582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$72,057</a:t>
            </a:r>
            <a:endParaRPr/>
          </a:p>
        </p:txBody>
      </p:sp>
      <p:sp>
        <p:nvSpPr>
          <p:cNvPr id="4583" name="Google Shape;4583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4584" name="Google Shape;4584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</a:t>
            </a:r>
            <a:endParaRPr/>
          </a:p>
        </p:txBody>
      </p:sp>
      <p:sp>
        <p:nvSpPr>
          <p:cNvPr id="4585" name="Google Shape;4585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$-2,610</a:t>
            </a:r>
            <a:endParaRPr/>
          </a:p>
        </p:txBody>
      </p:sp>
      <p:sp>
        <p:nvSpPr>
          <p:cNvPr id="4586" name="Google Shape;4586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7" name="Google Shape;4587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91" name="Google Shape;4591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92" name="Google Shape;4592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94" name="Google Shape;4594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5" name="Google Shape;4595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98" name="Google Shape;4598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599" name="Google Shape;4599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601" name="Google Shape;4601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2" name="Google Shape;4602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5" name="Google Shape;4605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06" name="Google Shape;4606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08" name="Google Shape;4608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9" name="Google Shape;4609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12" name="Google Shape;4612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613" name="Google Shape;4613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4615" name="Google Shape;4615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6" name="Google Shape;4616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19" name="Google Shape;4619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20" name="Google Shape;4620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21.4%</a:t>
            </a:r>
            <a:endParaRPr/>
          </a:p>
        </p:txBody>
      </p:sp>
      <p:sp>
        <p:nvSpPr>
          <p:cNvPr id="4622" name="Google Shape;4622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3" name="Google Shape;4623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26" name="Google Shape;4626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629" name="Google Shape;4629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0" name="Google Shape;4630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632" name="Google Shape;4632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11.6%</a:t>
            </a:r>
            <a:endParaRPr/>
          </a:p>
        </p:txBody>
      </p:sp>
      <p:sp>
        <p:nvSpPr>
          <p:cNvPr id="4636" name="Google Shape;4636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7" name="Google Shape;4637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39" name="Google Shape;4639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40" name="Google Shape;4640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41" name="Google Shape;4641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42" name="Google Shape;4642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45" name="Google Shape;4645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46" name="Google Shape;4646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49" name="Google Shape;4649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52" name="Google Shape;4652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655" name="Google Shape;4655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56" name="Google Shape;4656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58" name="Google Shape;4658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659" name="Google Shape;4659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660" name="Google Shape;4660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662" name="Google Shape;4662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663" name="Google Shape;4663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65" name="Google Shape;4665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9" name="Google Shape;4669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$98K</a:t>
            </a:r>
            <a:endParaRPr/>
          </a:p>
        </p:txBody>
      </p:sp>
      <p:sp>
        <p:nvSpPr>
          <p:cNvPr id="4670" name="Google Shape;4670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1" name="Google Shape;4671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4" name="Google Shape;4674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4675" name="Google Shape;4675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$102K</a:t>
            </a:r>
            <a:endParaRPr/>
          </a:p>
        </p:txBody>
      </p:sp>
      <p:sp>
        <p:nvSpPr>
          <p:cNvPr id="4676" name="Google Shape;4676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4677" name="Google Shape;4677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8" name="Google Shape;4678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80" name="Google Shape;4680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$73,322 YTD gross written premium</a:t>
            </a:r>
            <a:endParaRPr/>
          </a:p>
        </p:txBody>
      </p:sp>
      <p:sp>
        <p:nvSpPr>
          <p:cNvPr id="4681" name="Google Shape;4681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82" name="Google Shape;4682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$72,057 in new business production</a:t>
            </a:r>
            <a:endParaRPr/>
          </a:p>
        </p:txBody>
      </p:sp>
      <p:sp>
        <p:nvSpPr>
          <p:cNvPr id="4683" name="Google Shape;4683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4" name="Google Shape;4684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85" name="Google Shape;4685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86" name="Google Shape;4686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4687" name="Google Shape;4687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88" name="Google Shape;4688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4689" name="Google Shape;4689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0" name="Google Shape;4690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91" name="Google Shape;4691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92" name="Google Shape;4692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$72,057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96" name="Shape 4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7" name="Google Shape;4697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8" name="Google Shape;4698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Insurance Store Of Texas Llc</a:t>
            </a:r>
            <a:endParaRPr/>
          </a:p>
        </p:txBody>
      </p:sp>
      <p:sp>
        <p:nvSpPr>
          <p:cNvPr id="4699" name="Google Shape;4699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California  |  City: Murrieta</a:t>
            </a:r>
            <a:endParaRPr/>
          </a:p>
        </p:txBody>
      </p:sp>
      <p:sp>
        <p:nvSpPr>
          <p:cNvPr id="4700" name="Google Shape;4700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701" name="Google Shape;4701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02" name="Google Shape;4702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03" name="Google Shape;4703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04" name="Google Shape;4704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$-26,997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05" name="Google Shape;4705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706" name="Google Shape;4706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707" name="Google Shape;4707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708" name="Google Shape;4708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09" name="Google Shape;4709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10" name="Google Shape;4710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11" name="Google Shape;4711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712" name="Google Shape;4712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$66,682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713" name="Google Shape;4713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4" name="Google Shape;4714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715" name="Google Shape;4715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16" name="Google Shape;4716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717" name="Google Shape;4717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18" name="Google Shape;4718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19" name="Google Shape;4719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20" name="Google Shape;4720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21" name="Google Shape;4721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2" name="Google Shape;4722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23" name="Google Shape;4723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4" name="Google Shape;4724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5" name="Google Shape;4725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6" name="Google Shape;4726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8" name="Google Shape;4728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9" name="Google Shape;4729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30" name="Google Shape;4730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$19,266</a:t>
            </a:r>
            <a:endParaRPr/>
          </a:p>
        </p:txBody>
      </p:sp>
      <p:sp>
        <p:nvSpPr>
          <p:cNvPr id="4731" name="Google Shape;4731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$19,266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3" name="Google Shape;4733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4" name="Google Shape;4734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5" name="Google Shape;4735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6" name="Google Shape;4736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37" name="Google Shape;4737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8" name="Google Shape;4738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0" name="Google Shape;4740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1" name="Google Shape;4741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$-11,954</a:t>
            </a:r>
            <a:endParaRPr/>
          </a:p>
        </p:txBody>
      </p:sp>
      <p:sp>
        <p:nvSpPr>
          <p:cNvPr id="4742" name="Google Shape;4742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3" name="Google Shape;4743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44" name="Google Shape;4744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$45,365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$45,365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9" name="Google Shape;4749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0" name="Google Shape;4750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51" name="Google Shape;4751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$2,575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$2,575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$-15,044</a:t>
            </a:r>
            <a:endParaRPr/>
          </a:p>
        </p:txBody>
      </p:sp>
      <p:sp>
        <p:nvSpPr>
          <p:cNvPr id="4756" name="Google Shape;4756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7" name="Google Shape;4757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8" name="Google Shape;4758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$67,207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$67,207</a:t>
            </a:r>
            <a:endParaRPr/>
          </a:p>
        </p:txBody>
      </p:sp>
      <p:sp>
        <p:nvSpPr>
          <p:cNvPr id="4760" name="Google Shape;4760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$-26,997</a:t>
            </a:r>
            <a:endParaRPr/>
          </a:p>
        </p:txBody>
      </p:sp>
      <p:sp>
        <p:nvSpPr>
          <p:cNvPr id="4763" name="Google Shape;4763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4" name="Google Shape;4764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71" name="Google Shape;4771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2" name="Google Shape;4772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4778" name="Google Shape;4778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9" name="Google Shape;4779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85" name="Google Shape;4785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6" name="Google Shape;4786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4792" name="Google Shape;4792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3" name="Google Shape;4793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797" name="Google Shape;4797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8" name="Google Shape;4798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99" name="Google Shape;4799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0" name="Google Shape;4800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03" name="Google Shape;4803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4806" name="Google Shape;4806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7" name="Google Shape;4807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4809" name="Google Shape;4809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4813" name="Google Shape;4813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4" name="Google Shape;4814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16" name="Google Shape;4816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818" name="Google Shape;4818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19" name="Google Shape;4819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24" name="Google Shape;4824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25" name="Google Shape;4825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26" name="Google Shape;4826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28" name="Google Shape;4828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831" name="Google Shape;4831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2" name="Google Shape;4832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35" name="Google Shape;4835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36" name="Google Shape;4836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838" name="Google Shape;4838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839" name="Google Shape;4839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840" name="Google Shape;4840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4841" name="Google Shape;4841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42" name="Google Shape;4842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4846" name="Google Shape;4846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7" name="Google Shape;4847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8" name="Google Shape;4848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3" name="Google Shape;4853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4854" name="Google Shape;4854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5" name="Google Shape;4855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57" name="Google Shape;4857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$67,207 YTD gross written premium</a:t>
            </a:r>
            <a:endParaRPr/>
          </a:p>
        </p:txBody>
      </p:sp>
      <p:sp>
        <p:nvSpPr>
          <p:cNvPr id="4858" name="Google Shape;4858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$67,207 in new business production</a:t>
            </a:r>
            <a:endParaRPr/>
          </a:p>
        </p:txBody>
      </p:sp>
      <p:sp>
        <p:nvSpPr>
          <p:cNvPr id="4860" name="Google Shape;4860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1" name="Google Shape;4861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62" name="Google Shape;4862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63" name="Google Shape;4863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40% of new business ($26,997)</a:t>
            </a:r>
            <a:endParaRPr/>
          </a:p>
        </p:txBody>
      </p:sp>
      <p:sp>
        <p:nvSpPr>
          <p:cNvPr id="4864" name="Google Shape;4864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65" name="Google Shape;4865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94% month-over-month</a:t>
            </a:r>
            <a:endParaRPr/>
          </a:p>
        </p:txBody>
      </p:sp>
      <p:sp>
        <p:nvSpPr>
          <p:cNvPr id="4866" name="Google Shape;4866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68" name="Google Shape;4868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69" name="Google Shape;4869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$67,207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$26,997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75" name="Shape 4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6" name="Google Shape;4876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7" name="Google Shape;4877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Harmony Insurance Agency, Inc.</a:t>
            </a:r>
            <a:endParaRPr/>
          </a:p>
        </p:txBody>
      </p:sp>
      <p:sp>
        <p:nvSpPr>
          <p:cNvPr id="4878" name="Google Shape;4878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Thousand Oaks</a:t>
            </a:r>
            <a:endParaRPr/>
          </a:p>
        </p:txBody>
      </p:sp>
      <p:sp>
        <p:nvSpPr>
          <p:cNvPr id="4879" name="Google Shape;4879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$64,344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80" name="Google Shape;4880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81" name="Google Shape;4881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82" name="Google Shape;4882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83" name="Google Shape;4883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84" name="Google Shape;4884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$257,712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85" name="Google Shape;4885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$186,121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86" name="Google Shape;4886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87" name="Google Shape;4887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88" name="Google Shape;4888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89" name="Google Shape;4889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90" name="Google Shape;4890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91" name="Google Shape;4891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92" name="Google Shape;4892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3" name="Google Shape;4893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94" name="Google Shape;4894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95" name="Google Shape;4895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96" name="Google Shape;4896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97" name="Google Shape;4897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98" name="Google Shape;4898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99" name="Google Shape;4899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00" name="Google Shape;4900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1" name="Google Shape;4901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02" name="Google Shape;4902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4903" name="Google Shape;4903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4" name="Google Shape;4904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5" name="Google Shape;4905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4906" name="Google Shape;4906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7" name="Google Shape;4907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8" name="Google Shape;4908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09" name="Google Shape;4909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0" name="Google Shape;4910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1" name="Google Shape;4911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2" name="Google Shape;4912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3" name="Google Shape;4913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4" name="Google Shape;4914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5" name="Google Shape;4915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16" name="Google Shape;4916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7" name="Google Shape;4917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8" name="Google Shape;4918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9" name="Google Shape;4919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0" name="Google Shape;4920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1" name="Google Shape;4921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2" name="Google Shape;4922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</a:t>
            </a:r>
            <a:endParaRPr/>
          </a:p>
        </p:txBody>
      </p:sp>
      <p:sp>
        <p:nvSpPr>
          <p:cNvPr id="4924" name="Google Shape;4924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</a:t>
            </a:r>
            <a:endParaRPr/>
          </a:p>
        </p:txBody>
      </p:sp>
      <p:sp>
        <p:nvSpPr>
          <p:cNvPr id="4925" name="Google Shape;4925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6" name="Google Shape;4926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8" name="Google Shape;4928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9" name="Google Shape;4929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$28,502</a:t>
            </a:r>
            <a:endParaRPr/>
          </a:p>
        </p:txBody>
      </p:sp>
      <p:sp>
        <p:nvSpPr>
          <p:cNvPr id="4931" name="Google Shape;4931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2" name="Google Shape;4932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$28,502</a:t>
            </a:r>
            <a:endParaRPr/>
          </a:p>
        </p:txBody>
      </p:sp>
      <p:sp>
        <p:nvSpPr>
          <p:cNvPr id="4933" name="Google Shape;4933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5" name="Google Shape;4935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6" name="Google Shape;4936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$64,344</a:t>
            </a:r>
            <a:endParaRPr/>
          </a:p>
        </p:txBody>
      </p:sp>
      <p:sp>
        <p:nvSpPr>
          <p:cNvPr id="4938" name="Google Shape;4938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</a:t>
            </a:r>
            <a:endParaRPr/>
          </a:p>
        </p:txBody>
      </p:sp>
      <p:sp>
        <p:nvSpPr>
          <p:cNvPr id="4939" name="Google Shape;4939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$28,502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2" name="Google Shape;4942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3" name="Google Shape;4943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49" name="Google Shape;4949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50" name="Google Shape;4950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1" name="Google Shape;4951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56" name="Google Shape;4956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4957" name="Google Shape;4957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8" name="Google Shape;4958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4964" name="Google Shape;4964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5" name="Google Shape;4965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71" name="Google Shape;4971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2" name="Google Shape;4972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73" name="Google Shape;4973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974" name="Google Shape;4974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976" name="Google Shape;4976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7" name="Google Shape;4977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4978" name="Google Shape;4978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9" name="Google Shape;4979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983" name="Google Shape;4983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4" name="Google Shape;4984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85" name="Google Shape;4985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6" name="Google Shape;4986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989" name="Google Shape;4989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</a:t>
            </a:r>
            <a:endParaRPr/>
          </a:p>
        </p:txBody>
      </p:sp>
      <p:sp>
        <p:nvSpPr>
          <p:cNvPr id="4990" name="Google Shape;4990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4992" name="Google Shape;4992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3" name="Google Shape;4993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95" name="Google Shape;4995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96" name="Google Shape;4996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97" name="Google Shape;4997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98" name="Google Shape;4998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003" name="Google Shape;5003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004" name="Google Shape;5004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005" name="Google Shape;5005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010" name="Google Shape;5010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011" name="Google Shape;5011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014" name="Google Shape;5014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015" name="Google Shape;5015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017" name="Google Shape;5017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018" name="Google Shape;5018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</a:t>
            </a:r>
            <a:endParaRPr/>
          </a:p>
        </p:txBody>
      </p:sp>
      <p:sp>
        <p:nvSpPr>
          <p:cNvPr id="5019" name="Google Shape;5019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</a:t>
            </a:r>
            <a:endParaRPr/>
          </a:p>
        </p:txBody>
      </p:sp>
      <p:sp>
        <p:nvSpPr>
          <p:cNvPr id="5020" name="Google Shape;5020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21" name="Google Shape;5021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4" name="Google Shape;5024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5" name="Google Shape;5025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5026" name="Google Shape;5026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7" name="Google Shape;5027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5031" name="Google Shape;5031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5032" name="Google Shape;5032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5033" name="Google Shape;5033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4" name="Google Shape;5034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36" name="Google Shape;5036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$64,344 YTD gross written premium</a:t>
            </a:r>
            <a:endParaRPr/>
          </a:p>
        </p:txBody>
      </p:sp>
      <p:sp>
        <p:nvSpPr>
          <p:cNvPr id="5037" name="Google Shape;5037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$35,958 in new business production</a:t>
            </a:r>
            <a:endParaRPr/>
          </a:p>
        </p:txBody>
      </p:sp>
      <p:sp>
        <p:nvSpPr>
          <p:cNvPr id="5039" name="Google Shape;5039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0" name="Google Shape;5040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41" name="Google Shape;5041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42" name="Google Shape;5042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0.7% hit ratio on 137 subs - needs coaching</a:t>
            </a:r>
            <a:endParaRPr/>
          </a:p>
        </p:txBody>
      </p:sp>
      <p:sp>
        <p:nvSpPr>
          <p:cNvPr id="5043" name="Google Shape;5043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4" name="Google Shape;5044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45" name="Google Shape;5045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46" name="Google Shape;5046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(137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047" name="Google Shape;5047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48" name="Google Shape;5048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$35,958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52" name="Shape 5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3" name="Google Shape;5053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4" name="Google Shape;5054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DELUXE INSURANCE AGENCY GROUP</a:t>
            </a:r>
            <a:endParaRPr/>
          </a:p>
        </p:txBody>
      </p:sp>
      <p:sp>
        <p:nvSpPr>
          <p:cNvPr id="5055" name="Google Shape;5055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Los Angeles</a:t>
            </a:r>
            <a:endParaRPr/>
          </a:p>
        </p:txBody>
      </p:sp>
      <p:sp>
        <p:nvSpPr>
          <p:cNvPr id="5056" name="Google Shape;5056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57" name="Google Shape;5057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$41,194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58" name="Google Shape;5058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59" name="Google Shape;5059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60" name="Google Shape;5060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$-41,227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61" name="Google Shape;5061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$58,357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62" name="Google Shape;5062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$120,603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63" name="Google Shape;5063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64" name="Google Shape;5064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65" name="Google Shape;5065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66" name="Google Shape;5066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67" name="Google Shape;5067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68" name="Google Shape;5068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$54,714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69" name="Google Shape;5069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0" name="Google Shape;5070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71" name="Google Shape;5071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72" name="Google Shape;5072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73" name="Google Shape;5073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74" name="Google Shape;5074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75" name="Google Shape;5075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76" name="Google Shape;5076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77" name="Google Shape;5077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8" name="Google Shape;5078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79" name="Google Shape;5079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$41,194</a:t>
            </a:r>
            <a:endParaRPr/>
          </a:p>
        </p:txBody>
      </p:sp>
      <p:sp>
        <p:nvSpPr>
          <p:cNvPr id="5080" name="Google Shape;5080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$41,194</a:t>
            </a:r>
            <a:endParaRPr/>
          </a:p>
        </p:txBody>
      </p:sp>
      <p:sp>
        <p:nvSpPr>
          <p:cNvPr id="5081" name="Google Shape;5081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2" name="Google Shape;5082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3" name="Google Shape;5083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4" name="Google Shape;5084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5" name="Google Shape;5085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86" name="Google Shape;5086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8" name="Google Shape;5088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9" name="Google Shape;5089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0" name="Google Shape;5090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$-20,175</a:t>
            </a:r>
            <a:endParaRPr/>
          </a:p>
        </p:txBody>
      </p:sp>
      <p:sp>
        <p:nvSpPr>
          <p:cNvPr id="5091" name="Google Shape;5091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2" name="Google Shape;5092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93" name="Google Shape;5093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$6,306</a:t>
            </a:r>
            <a:endParaRPr/>
          </a:p>
        </p:txBody>
      </p:sp>
      <p:sp>
        <p:nvSpPr>
          <p:cNvPr id="5094" name="Google Shape;5094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5" name="Google Shape;5095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6" name="Google Shape;5096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$6,306</a:t>
            </a:r>
            <a:endParaRPr/>
          </a:p>
        </p:txBody>
      </p:sp>
      <p:sp>
        <p:nvSpPr>
          <p:cNvPr id="5097" name="Google Shape;5097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$-6,306</a:t>
            </a:r>
            <a:endParaRPr/>
          </a:p>
        </p:txBody>
      </p:sp>
      <p:sp>
        <p:nvSpPr>
          <p:cNvPr id="5098" name="Google Shape;5098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9" name="Google Shape;5099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00" name="Google Shape;5100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$14,746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2" name="Google Shape;5102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3" name="Google Shape;5103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$14,746</a:t>
            </a:r>
            <a:endParaRPr/>
          </a:p>
        </p:txBody>
      </p:sp>
      <p:sp>
        <p:nvSpPr>
          <p:cNvPr id="5104" name="Google Shape;5104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$-14,746</a:t>
            </a:r>
            <a:endParaRPr/>
          </a:p>
        </p:txBody>
      </p:sp>
      <p:sp>
        <p:nvSpPr>
          <p:cNvPr id="5105" name="Google Shape;5105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6" name="Google Shape;5106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07" name="Google Shape;5107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8" name="Google Shape;5108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9" name="Google Shape;5109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0" name="Google Shape;5110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1" name="Google Shape;5111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2" name="Google Shape;5112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3" name="Google Shape;5113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14" name="Google Shape;5114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$62,247</a:t>
            </a:r>
            <a:endParaRPr/>
          </a:p>
        </p:txBody>
      </p:sp>
      <p:sp>
        <p:nvSpPr>
          <p:cNvPr id="5115" name="Google Shape;5115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$41,194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7" name="Google Shape;5117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$21,052</a:t>
            </a:r>
            <a:endParaRPr/>
          </a:p>
        </p:txBody>
      </p:sp>
      <p:sp>
        <p:nvSpPr>
          <p:cNvPr id="5118" name="Google Shape;5118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$-41,227</a:t>
            </a:r>
            <a:endParaRPr/>
          </a:p>
        </p:txBody>
      </p:sp>
      <p:sp>
        <p:nvSpPr>
          <p:cNvPr id="5119" name="Google Shape;5119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0" name="Google Shape;5120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24" name="Google Shape;5124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25" name="Google Shape;5125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27" name="Google Shape;5127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8" name="Google Shape;5128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1" name="Google Shape;5131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32" name="Google Shape;5132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134" name="Google Shape;5134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5" name="Google Shape;5135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8" name="Google Shape;5138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39" name="Google Shape;5139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41" name="Google Shape;5141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2" name="Google Shape;5142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146" name="Google Shape;5146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48" name="Google Shape;5148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9" name="Google Shape;5149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50" name="Google Shape;5150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153" name="Google Shape;5153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5155" name="Google Shape;5155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6" name="Google Shape;5156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57" name="Google Shape;5157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160" name="Google Shape;5160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62" name="Google Shape;5162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3" name="Google Shape;5163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68" name="Google Shape;5168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5169" name="Google Shape;5169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0" name="Google Shape;5170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72" name="Google Shape;5172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74" name="Google Shape;5174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75" name="Google Shape;5175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76" name="Google Shape;5176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82" name="Google Shape;5182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83" name="Google Shape;5183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8" name="Google Shape;5188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189" name="Google Shape;5189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93" name="Google Shape;5193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4" name="Google Shape;5194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95" name="Google Shape;5195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6" name="Google Shape;5196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9" name="Google Shape;5199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5200" name="Google Shape;5200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2" name="Google Shape;5202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3" name="Google Shape;5203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204" name="Google Shape;5204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9" name="Google Shape;5209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5210" name="Google Shape;5210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1" name="Google Shape;5211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13" name="Google Shape;5213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$62,247 YTD gross written premium</a:t>
            </a:r>
            <a:endParaRPr/>
          </a:p>
        </p:txBody>
      </p:sp>
      <p:sp>
        <p:nvSpPr>
          <p:cNvPr id="5214" name="Google Shape;5214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$41,194 in new business production</a:t>
            </a:r>
            <a:endParaRPr/>
          </a:p>
        </p:txBody>
      </p:sp>
      <p:sp>
        <p:nvSpPr>
          <p:cNvPr id="5216" name="Google Shape;5216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7" name="Google Shape;5217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18" name="Google Shape;5218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19" name="Google Shape;5219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($41,227)</a:t>
            </a:r>
            <a:endParaRPr/>
          </a:p>
        </p:txBody>
      </p:sp>
      <p:sp>
        <p:nvSpPr>
          <p:cNvPr id="5220" name="Google Shape;5220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1" name="Google Shape;5221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22" name="Google Shape;5222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23" name="Google Shape;5223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$41,194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224" name="Google Shape;5224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25" name="Google Shape;5225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$41,227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29" name="Shape 5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0" name="Google Shape;5230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1" name="Google Shape;5231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Hoya Insurance Agency Inc.</a:t>
            </a:r>
            <a:endParaRPr/>
          </a:p>
        </p:txBody>
      </p:sp>
      <p:sp>
        <p:nvSpPr>
          <p:cNvPr id="5232" name="Google Shape;5232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San Gabriel</a:t>
            </a:r>
            <a:endParaRPr/>
          </a:p>
        </p:txBody>
      </p:sp>
      <p:sp>
        <p:nvSpPr>
          <p:cNvPr id="5233" name="Google Shape;5233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$57,366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34" name="Google Shape;5234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35" name="Google Shape;5235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36" name="Google Shape;5236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$39,837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37" name="Google Shape;5237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$-71,003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38" name="Google Shape;5238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$147,611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39" name="Google Shape;5239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$157,098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40" name="Google Shape;5240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41" name="Google Shape;5241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42" name="Google Shape;5242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43" name="Google Shape;5243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44" name="Google Shape;5244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45" name="Google Shape;5245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46" name="Google Shape;5246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7" name="Google Shape;5247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48" name="Google Shape;5248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9" name="Google Shape;5249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50" name="Google Shape;5250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51" name="Google Shape;5251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52" name="Google Shape;5252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53" name="Google Shape;5253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54" name="Google Shape;5254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5" name="Google Shape;5255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56" name="Google Shape;5256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$-1,021</a:t>
            </a:r>
            <a:endParaRPr/>
          </a:p>
        </p:txBody>
      </p:sp>
      <p:sp>
        <p:nvSpPr>
          <p:cNvPr id="5257" name="Google Shape;5257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8" name="Google Shape;5258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9" name="Google Shape;5259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$-1,021</a:t>
            </a:r>
            <a:endParaRPr/>
          </a:p>
        </p:txBody>
      </p:sp>
      <p:sp>
        <p:nvSpPr>
          <p:cNvPr id="5260" name="Google Shape;5260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1" name="Google Shape;5261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2" name="Google Shape;5262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$55,863</a:t>
            </a:r>
            <a:endParaRPr/>
          </a:p>
        </p:txBody>
      </p:sp>
      <p:sp>
        <p:nvSpPr>
          <p:cNvPr id="5264" name="Google Shape;5264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$17,529</a:t>
            </a:r>
            <a:endParaRPr/>
          </a:p>
        </p:txBody>
      </p:sp>
      <p:sp>
        <p:nvSpPr>
          <p:cNvPr id="5265" name="Google Shape;5265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6" name="Google Shape;5266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$38,334</a:t>
            </a:r>
            <a:endParaRPr/>
          </a:p>
        </p:txBody>
      </p:sp>
      <p:sp>
        <p:nvSpPr>
          <p:cNvPr id="5267" name="Google Shape;5267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$-38,334</a:t>
            </a:r>
            <a:endParaRPr/>
          </a:p>
        </p:txBody>
      </p:sp>
      <p:sp>
        <p:nvSpPr>
          <p:cNvPr id="5268" name="Google Shape;5268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9" name="Google Shape;5269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$2,524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2" name="Google Shape;5272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3" name="Google Shape;5273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$2,524</a:t>
            </a:r>
            <a:endParaRPr/>
          </a:p>
        </p:txBody>
      </p:sp>
      <p:sp>
        <p:nvSpPr>
          <p:cNvPr id="5274" name="Google Shape;5274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$-32,670</a:t>
            </a:r>
            <a:endParaRPr/>
          </a:p>
        </p:txBody>
      </p:sp>
      <p:sp>
        <p:nvSpPr>
          <p:cNvPr id="5275" name="Google Shape;5275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6" name="Google Shape;5276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9" name="Google Shape;5279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0" name="Google Shape;5280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1" name="Google Shape;5281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2" name="Google Shape;5282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3" name="Google Shape;5283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7" name="Google Shape;5287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8" name="Google Shape;5288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9" name="Google Shape;5289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0" name="Google Shape;5290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91" name="Google Shape;5291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$57,366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$17,529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4" name="Google Shape;5294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$39,837</a:t>
            </a:r>
            <a:endParaRPr/>
          </a:p>
        </p:txBody>
      </p:sp>
      <p:sp>
        <p:nvSpPr>
          <p:cNvPr id="5295" name="Google Shape;5295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$-71,003</a:t>
            </a:r>
            <a:endParaRPr/>
          </a:p>
        </p:txBody>
      </p:sp>
      <p:sp>
        <p:nvSpPr>
          <p:cNvPr id="5296" name="Google Shape;5296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7" name="Google Shape;5297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03" name="Google Shape;5303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04" name="Google Shape;5304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5" name="Google Shape;5305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10" name="Google Shape;5310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5311" name="Google Shape;5311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2" name="Google Shape;5312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17" name="Google Shape;5317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5318" name="Google Shape;5318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9" name="Google Shape;5319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325" name="Google Shape;5325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6" name="Google Shape;5326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9" name="Google Shape;5329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30" name="Google Shape;5330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32" name="Google Shape;5332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3" name="Google Shape;5333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34" name="Google Shape;5334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39" name="Google Shape;5339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0" name="Google Shape;5340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346" name="Google Shape;5346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7" name="Google Shape;5347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48" name="Google Shape;5348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49" name="Google Shape;5349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53" name="Google Shape;5353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54" name="Google Shape;5354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55" name="Google Shape;5355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56" name="Google Shape;5356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61" name="Google Shape;5361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62" name="Google Shape;5362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63" name="Google Shape;5363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67" name="Google Shape;5367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68" name="Google Shape;5368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69" name="Google Shape;5369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70" name="Google Shape;5370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5374" name="Google Shape;5374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75" name="Google Shape;5375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$502</a:t>
            </a:r>
            <a:endParaRPr/>
          </a:p>
        </p:txBody>
      </p:sp>
      <p:sp>
        <p:nvSpPr>
          <p:cNvPr id="5376" name="Google Shape;5376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$-1,021</a:t>
            </a:r>
            <a:endParaRPr/>
          </a:p>
        </p:txBody>
      </p:sp>
      <p:sp>
        <p:nvSpPr>
          <p:cNvPr id="5377" name="Google Shape;5377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5379" name="Google Shape;5379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382" name="Google Shape;5382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3" name="Google Shape;5383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5387" name="Google Shape;5387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8" name="Google Shape;5388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89" name="Google Shape;5389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90" name="Google Shape;5390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$57,366 YTD gross written premium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$17,529 in new business production</a:t>
            </a:r>
            <a:endParaRPr/>
          </a:p>
        </p:txBody>
      </p:sp>
      <p:sp>
        <p:nvSpPr>
          <p:cNvPr id="5393" name="Google Shape;5393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4" name="Google Shape;5394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95" name="Google Shape;5395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96" name="Google Shape;5396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44 subs - needs coaching</a:t>
            </a:r>
            <a:endParaRPr/>
          </a:p>
        </p:txBody>
      </p:sp>
      <p:sp>
        <p:nvSpPr>
          <p:cNvPr id="5397" name="Google Shape;5397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98" name="Google Shape;5398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405% of new business ($71,003)</a:t>
            </a:r>
            <a:endParaRPr/>
          </a:p>
        </p:txBody>
      </p:sp>
      <p:sp>
        <p:nvSpPr>
          <p:cNvPr id="5399" name="Google Shape;5399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0" name="Google Shape;5400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01" name="Google Shape;5401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02" name="Google Shape;5402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(44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403" name="Google Shape;5403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404" name="Google Shape;5404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$17,529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08" name="Shape 5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9" name="Google Shape;5409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0" name="Google Shape;5410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Garcia and Associates Insurance Agency, Inc.</a:t>
            </a:r>
            <a:endParaRPr/>
          </a:p>
        </p:txBody>
      </p:sp>
      <p:sp>
        <p:nvSpPr>
          <p:cNvPr id="5411" name="Google Shape;5411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Bakersfield</a:t>
            </a:r>
            <a:endParaRPr/>
          </a:p>
        </p:txBody>
      </p:sp>
      <p:sp>
        <p:nvSpPr>
          <p:cNvPr id="5412" name="Google Shape;5412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13" name="Google Shape;5413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14" name="Google Shape;5414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15" name="Google Shape;5415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16" name="Google Shape;5416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$-15,553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17" name="Google Shape;5417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18" name="Google Shape;5418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$88,526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19" name="Google Shape;5419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20" name="Google Shape;5420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21" name="Google Shape;5421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22" name="Google Shape;5422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23" name="Google Shape;5423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24" name="Google Shape;5424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25" name="Google Shape;5425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6" name="Google Shape;5426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27" name="Google Shape;5427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28" name="Google Shape;5428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29" name="Google Shape;5429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30" name="Google Shape;5430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31" name="Google Shape;5431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32" name="Google Shape;5432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33" name="Google Shape;5433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4" name="Google Shape;5434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35" name="Google Shape;5435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6" name="Google Shape;5436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7" name="Google Shape;5437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8" name="Google Shape;5438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$-15,553</a:t>
            </a:r>
            <a:endParaRPr/>
          </a:p>
        </p:txBody>
      </p:sp>
      <p:sp>
        <p:nvSpPr>
          <p:cNvPr id="5440" name="Google Shape;5440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1" name="Google Shape;5441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</a:t>
            </a:r>
            <a:endParaRPr/>
          </a:p>
        </p:txBody>
      </p:sp>
      <p:sp>
        <p:nvSpPr>
          <p:cNvPr id="5443" name="Google Shape;5443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4" name="Google Shape;5444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</a:t>
            </a:r>
            <a:endParaRPr/>
          </a:p>
        </p:txBody>
      </p:sp>
      <p:sp>
        <p:nvSpPr>
          <p:cNvPr id="5445" name="Google Shape;5445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7" name="Google Shape;5447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8" name="Google Shape;5448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0" name="Google Shape;5450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1" name="Google Shape;5451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2" name="Google Shape;5452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4" name="Google Shape;5454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5" name="Google Shape;5455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8" name="Google Shape;5458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9" name="Google Shape;5459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1" name="Google Shape;5461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2" name="Google Shape;5462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5" name="Google Shape;5465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6" name="Google Shape;5466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8" name="Google Shape;5468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9" name="Google Shape;5469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2" name="Google Shape;5472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</a:t>
            </a:r>
            <a:endParaRPr/>
          </a:p>
        </p:txBody>
      </p:sp>
      <p:sp>
        <p:nvSpPr>
          <p:cNvPr id="5473" name="Google Shape;5473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$-15,553</a:t>
            </a:r>
            <a:endParaRPr/>
          </a:p>
        </p:txBody>
      </p:sp>
      <p:sp>
        <p:nvSpPr>
          <p:cNvPr id="5475" name="Google Shape;5475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6" name="Google Shape;5476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80" name="Google Shape;5480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83" name="Google Shape;5483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4" name="Google Shape;5484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7" name="Google Shape;5487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90" name="Google Shape;5490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1" name="Google Shape;5491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4" name="Google Shape;5494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97" name="Google Shape;5497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8" name="Google Shape;5498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01" name="Google Shape;5501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4" name="Google Shape;5504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5" name="Google Shape;5505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507" name="Google Shape;5507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08" name="Google Shape;5508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11" name="Google Shape;5511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2" name="Google Shape;5512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14" name="Google Shape;5514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5" name="Google Shape;5515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18" name="Google Shape;5518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9" name="Google Shape;5519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25" name="Google Shape;5525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6" name="Google Shape;5526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28" name="Google Shape;5528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31" name="Google Shape;5531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32" name="Google Shape;5532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33" name="Google Shape;5533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38" name="Google Shape;5538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39" name="Google Shape;5539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40" name="Google Shape;5540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44" name="Google Shape;5544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45" name="Google Shape;5545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46" name="Google Shape;5546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550" name="Google Shape;5550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51" name="Google Shape;5551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552" name="Google Shape;5552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53" name="Google Shape;5553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5" name="Google Shape;5555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6" name="Google Shape;5556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9" name="Google Shape;5559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0" name="Google Shape;5560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1" name="Google Shape;5561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2" name="Google Shape;5562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5566" name="Google Shape;5566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7" name="Google Shape;5567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68" name="Google Shape;5568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 YTD gross written premium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$54,958 in renewals - strong retention</a:t>
            </a:r>
            <a:endParaRPr/>
          </a:p>
        </p:txBody>
      </p:sp>
      <p:sp>
        <p:nvSpPr>
          <p:cNvPr id="5572" name="Google Shape;5572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3" name="Google Shape;5573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74" name="Google Shape;5574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75" name="Google Shape;5575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 submissions with zero binds - zero conversion</a:t>
            </a:r>
            <a:endParaRPr/>
          </a:p>
        </p:txBody>
      </p:sp>
      <p:sp>
        <p:nvSpPr>
          <p:cNvPr id="5576" name="Google Shape;5576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77" name="Google Shape;5577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7 to 2 MoM</a:t>
            </a:r>
            <a:endParaRPr/>
          </a:p>
        </p:txBody>
      </p:sp>
      <p:sp>
        <p:nvSpPr>
          <p:cNvPr id="5578" name="Google Shape;5578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9" name="Google Shape;5579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80" name="Google Shape;5580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81" name="Google Shape;5581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582" name="Google Shape;5582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87" name="Shape 5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8" name="Google Shape;5588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9" name="Google Shape;5589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Professionals Of Arizona Llc</a:t>
            </a:r>
            <a:endParaRPr/>
          </a:p>
        </p:txBody>
      </p:sp>
      <p:sp>
        <p:nvSpPr>
          <p:cNvPr id="5590" name="Google Shape;5590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AZ  |  City: Mesa</a:t>
            </a:r>
            <a:endParaRPr/>
          </a:p>
        </p:txBody>
      </p:sp>
      <p:sp>
        <p:nvSpPr>
          <p:cNvPr id="5591" name="Google Shape;5591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92" name="Google Shape;5592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93" name="Google Shape;5593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94" name="Google Shape;5594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95" name="Google Shape;5595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$-52,952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96" name="Google Shape;5596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97" name="Google Shape;5597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98" name="Google Shape;5598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99" name="Google Shape;5599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00" name="Google Shape;5600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01" name="Google Shape;5601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02" name="Google Shape;5602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03" name="Google Shape;5603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04" name="Google Shape;5604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5" name="Google Shape;5605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06" name="Google Shape;5606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07" name="Google Shape;5607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08" name="Google Shape;5608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09" name="Google Shape;5609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10" name="Google Shape;5610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11" name="Google Shape;5611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12" name="Google Shape;5612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3" name="Google Shape;5613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14" name="Google Shape;5614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$30,807</a:t>
            </a:r>
            <a:endParaRPr/>
          </a:p>
        </p:txBody>
      </p:sp>
      <p:sp>
        <p:nvSpPr>
          <p:cNvPr id="5615" name="Google Shape;5615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$30,807</a:t>
            </a:r>
            <a:endParaRPr/>
          </a:p>
        </p:txBody>
      </p:sp>
      <p:sp>
        <p:nvSpPr>
          <p:cNvPr id="5616" name="Google Shape;5616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7" name="Google Shape;5617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8" name="Google Shape;5618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$-30,807</a:t>
            </a:r>
            <a:endParaRPr/>
          </a:p>
        </p:txBody>
      </p:sp>
      <p:sp>
        <p:nvSpPr>
          <p:cNvPr id="5619" name="Google Shape;5619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0" name="Google Shape;5620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21" name="Google Shape;5621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2" name="Google Shape;5622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3" name="Google Shape;5623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4" name="Google Shape;5624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5" name="Google Shape;5625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6" name="Google Shape;5626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7" name="Google Shape;5627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28" name="Google Shape;5628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$22,713</a:t>
            </a:r>
            <a:endParaRPr/>
          </a:p>
        </p:txBody>
      </p:sp>
      <p:sp>
        <p:nvSpPr>
          <p:cNvPr id="5629" name="Google Shape;5629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$22,713</a:t>
            </a:r>
            <a:endParaRPr/>
          </a:p>
        </p:txBody>
      </p:sp>
      <p:sp>
        <p:nvSpPr>
          <p:cNvPr id="5630" name="Google Shape;5630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1" name="Google Shape;5631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2" name="Google Shape;5632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$-7,888</a:t>
            </a:r>
            <a:endParaRPr/>
          </a:p>
        </p:txBody>
      </p:sp>
      <p:sp>
        <p:nvSpPr>
          <p:cNvPr id="5633" name="Google Shape;5633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4" name="Google Shape;5634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6" name="Google Shape;5636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7" name="Google Shape;5637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8" name="Google Shape;5638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$-14,256</a:t>
            </a:r>
            <a:endParaRPr/>
          </a:p>
        </p:txBody>
      </p:sp>
      <p:sp>
        <p:nvSpPr>
          <p:cNvPr id="5640" name="Google Shape;5640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1" name="Google Shape;5641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3" name="Google Shape;5643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4" name="Google Shape;5644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5" name="Google Shape;5645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6" name="Google Shape;5646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7" name="Google Shape;5647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8" name="Google Shape;5648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2" name="Google Shape;5652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$-52,952</a:t>
            </a:r>
            <a:endParaRPr/>
          </a:p>
        </p:txBody>
      </p:sp>
      <p:sp>
        <p:nvSpPr>
          <p:cNvPr id="5654" name="Google Shape;5654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5" name="Google Shape;5655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58" name="Google Shape;5658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59" name="Google Shape;5659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61" name="Google Shape;5661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62" name="Google Shape;5662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3" name="Google Shape;5663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665" name="Google Shape;5665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66" name="Google Shape;5666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68" name="Google Shape;5668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5669" name="Google Shape;5669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0" name="Google Shape;5670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72" name="Google Shape;5672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3" name="Google Shape;5673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76" name="Google Shape;5676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7" name="Google Shape;5677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0" name="Google Shape;5680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81" name="Google Shape;5681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82" name="Google Shape;5682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683" name="Google Shape;5683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4" name="Google Shape;5684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85" name="Google Shape;5685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86" name="Google Shape;5686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7" name="Google Shape;5687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90" name="Google Shape;5690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1" name="Google Shape;5691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92" name="Google Shape;5692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693" name="Google Shape;5693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96" name="Google Shape;5696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97" name="Google Shape;5697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8" name="Google Shape;5698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99" name="Google Shape;5699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700" name="Google Shape;5700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701" name="Google Shape;5701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5702" name="Google Shape;5702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5704" name="Google Shape;5704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5" name="Google Shape;5705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07" name="Google Shape;5707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708" name="Google Shape;5708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709" name="Google Shape;5709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711" name="Google Shape;5711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712" name="Google Shape;5712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714" name="Google Shape;5714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715" name="Google Shape;5715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718" name="Google Shape;5718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719" name="Google Shape;5719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1" name="Google Shape;5721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722" name="Google Shape;5722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3" name="Google Shape;5723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5" name="Google Shape;5725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26" name="Google Shape;5726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28" name="Google Shape;5728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9" name="Google Shape;5729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730" name="Google Shape;5730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4" name="Google Shape;5734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5735" name="Google Shape;5735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6" name="Google Shape;5736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0" name="Google Shape;5740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1" name="Google Shape;5741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3" name="Google Shape;5743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4" name="Google Shape;5744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5745" name="Google Shape;5745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6" name="Google Shape;5746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 YTD gross written premium</a:t>
            </a:r>
            <a:endParaRPr/>
          </a:p>
        </p:txBody>
      </p:sp>
      <p:sp>
        <p:nvSpPr>
          <p:cNvPr id="5749" name="Google Shape;5749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50" name="Google Shape;5750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$53,521 in new business production</a:t>
            </a:r>
            <a:endParaRPr/>
          </a:p>
        </p:txBody>
      </p:sp>
      <p:sp>
        <p:nvSpPr>
          <p:cNvPr id="5751" name="Google Shape;5751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2" name="Google Shape;5752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53" name="Google Shape;5753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54" name="Google Shape;5754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99% of new business ($52,952)</a:t>
            </a:r>
            <a:endParaRPr/>
          </a:p>
        </p:txBody>
      </p:sp>
      <p:sp>
        <p:nvSpPr>
          <p:cNvPr id="5755" name="Google Shape;5755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56" name="Google Shape;5756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5757" name="Google Shape;5757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8" name="Google Shape;5758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59" name="Google Shape;5759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60" name="Google Shape;5760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$53,521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$52,952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66" name="Shape 5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7" name="Google Shape;5767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8" name="Google Shape;5768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IronPoint Insurance Services, LLC</a:t>
            </a:r>
            <a:endParaRPr/>
          </a:p>
        </p:txBody>
      </p:sp>
      <p:sp>
        <p:nvSpPr>
          <p:cNvPr id="5769" name="Google Shape;5769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Irvine</a:t>
            </a:r>
            <a:endParaRPr/>
          </a:p>
        </p:txBody>
      </p:sp>
      <p:sp>
        <p:nvSpPr>
          <p:cNvPr id="5770" name="Google Shape;5770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$53,103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71" name="Google Shape;5771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72" name="Google Shape;5772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73" name="Google Shape;5773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74" name="Google Shape;5774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75" name="Google Shape;5775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76" name="Google Shape;5776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$67,177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77" name="Google Shape;5777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78" name="Google Shape;5778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79" name="Google Shape;5779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80" name="Google Shape;5780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81" name="Google Shape;5781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82" name="Google Shape;5782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83" name="Google Shape;5783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4" name="Google Shape;5784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85" name="Google Shape;5785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86" name="Google Shape;5786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87" name="Google Shape;5787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88" name="Google Shape;5788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89" name="Google Shape;5789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90" name="Google Shape;5790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91" name="Google Shape;5791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2" name="Google Shape;5792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93" name="Google Shape;5793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4" name="Google Shape;5794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5" name="Google Shape;5795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6" name="Google Shape;5796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7" name="Google Shape;5797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8" name="Google Shape;5798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9" name="Google Shape;5799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00" name="Google Shape;5800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1" name="Google Shape;5801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2" name="Google Shape;5802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3" name="Google Shape;5803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4" name="Google Shape;5804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5" name="Google Shape;5805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6" name="Google Shape;5806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07" name="Google Shape;5807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8" name="Google Shape;5808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9" name="Google Shape;5809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0" name="Google Shape;5810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1" name="Google Shape;5811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2" name="Google Shape;5812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3" name="Google Shape;5813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14" name="Google Shape;5814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$36,124</a:t>
            </a:r>
            <a:endParaRPr/>
          </a:p>
        </p:txBody>
      </p:sp>
      <p:sp>
        <p:nvSpPr>
          <p:cNvPr id="5815" name="Google Shape;5815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6" name="Google Shape;5816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$36,124</a:t>
            </a:r>
            <a:endParaRPr/>
          </a:p>
        </p:txBody>
      </p:sp>
      <p:sp>
        <p:nvSpPr>
          <p:cNvPr id="5817" name="Google Shape;5817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8" name="Google Shape;5818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9" name="Google Shape;5819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0" name="Google Shape;5820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21" name="Google Shape;5821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$16,980</a:t>
            </a:r>
            <a:endParaRPr/>
          </a:p>
        </p:txBody>
      </p:sp>
      <p:sp>
        <p:nvSpPr>
          <p:cNvPr id="5822" name="Google Shape;5822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$16,980</a:t>
            </a:r>
            <a:endParaRPr/>
          </a:p>
        </p:txBody>
      </p:sp>
      <p:sp>
        <p:nvSpPr>
          <p:cNvPr id="5823" name="Google Shape;5823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4" name="Google Shape;5824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5" name="Google Shape;5825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6" name="Google Shape;5826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7" name="Google Shape;5827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28" name="Google Shape;5828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$53,103</a:t>
            </a:r>
            <a:endParaRPr/>
          </a:p>
        </p:txBody>
      </p:sp>
      <p:sp>
        <p:nvSpPr>
          <p:cNvPr id="5829" name="Google Shape;5829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$16,980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$36,124</a:t>
            </a:r>
            <a:endParaRPr/>
          </a:p>
        </p:txBody>
      </p:sp>
      <p:sp>
        <p:nvSpPr>
          <p:cNvPr id="5831" name="Google Shape;5831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2" name="Google Shape;5832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33" name="Google Shape;5833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4" name="Google Shape;5834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36" name="Google Shape;5836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37" name="Google Shape;5837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38" name="Google Shape;5838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39" name="Google Shape;5839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41" name="Google Shape;5841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2" name="Google Shape;5842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43" name="Google Shape;5843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844" name="Google Shape;5844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45" name="Google Shape;5845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846" name="Google Shape;5846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848" name="Google Shape;5848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9" name="Google Shape;5849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50" name="Google Shape;5850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51" name="Google Shape;5851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53" name="Google Shape;5853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55" name="Google Shape;5855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6" name="Google Shape;5856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57" name="Google Shape;5857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0" name="Google Shape;5860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1" name="Google Shape;5861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62" name="Google Shape;5862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3" name="Google Shape;5863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64" name="Google Shape;5864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65" name="Google Shape;5865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67" name="Google Shape;5867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8" name="Google Shape;5868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69" name="Google Shape;5869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0" name="Google Shape;5870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71" name="Google Shape;5871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72" name="Google Shape;5872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73" name="Google Shape;5873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74" name="Google Shape;5874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75" name="Google Shape;5875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76" name="Google Shape;5876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7" name="Google Shape;5877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78" name="Google Shape;5878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879" name="Google Shape;5879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80" name="Google Shape;5880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881" name="Google Shape;5881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82" name="Google Shape;5882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5883" name="Google Shape;5883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4" name="Google Shape;5884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86" name="Google Shape;5886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87" name="Google Shape;5887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88" name="Google Shape;5888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89" name="Google Shape;5889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93" name="Google Shape;5893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94" name="Google Shape;5894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95" name="Google Shape;5895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96" name="Google Shape;5896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98" name="Google Shape;5898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00" name="Google Shape;5900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901" name="Google Shape;5901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902" name="Google Shape;5902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03" name="Google Shape;5903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5" name="Google Shape;5905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906" name="Google Shape;5906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07" name="Google Shape;5907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08" name="Google Shape;5908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09" name="Google Shape;5909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5910" name="Google Shape;5910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911" name="Google Shape;5911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912" name="Google Shape;5912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915" name="Google Shape;5915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917" name="Google Shape;5917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8" name="Google Shape;5918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921" name="Google Shape;5921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922" name="Google Shape;5922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$96K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$53K</a:t>
            </a:r>
            <a:endParaRPr/>
          </a:p>
        </p:txBody>
      </p:sp>
      <p:sp>
        <p:nvSpPr>
          <p:cNvPr id="5924" name="Google Shape;5924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5" name="Google Shape;5925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27" name="Google Shape;5927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$53,103 YTD gross written premium</a:t>
            </a:r>
            <a:endParaRPr/>
          </a:p>
        </p:txBody>
      </p:sp>
      <p:sp>
        <p:nvSpPr>
          <p:cNvPr id="5928" name="Google Shape;5928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29" name="Google Shape;5929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$16,980 in new business production</a:t>
            </a:r>
            <a:endParaRPr/>
          </a:p>
        </p:txBody>
      </p:sp>
      <p:sp>
        <p:nvSpPr>
          <p:cNvPr id="5930" name="Google Shape;5930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1" name="Google Shape;5931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32" name="Google Shape;5932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33" name="Google Shape;5933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53% month-over-month</a:t>
            </a:r>
            <a:endParaRPr/>
          </a:p>
        </p:txBody>
      </p:sp>
      <p:sp>
        <p:nvSpPr>
          <p:cNvPr id="5934" name="Google Shape;5934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5" name="Google Shape;5935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36" name="Google Shape;5936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37" name="Google Shape;5937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$16,980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938" name="Google Shape;5938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39" name="Google Shape;5939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43" name="Shape 5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4" name="Google Shape;5944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5" name="Google Shape;5945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Calvillo Insurance Agency, Inc.</a:t>
            </a:r>
            <a:endParaRPr/>
          </a:p>
        </p:txBody>
      </p:sp>
      <p:sp>
        <p:nvSpPr>
          <p:cNvPr id="5946" name="Google Shape;5946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California  |  City: Corona</a:t>
            </a:r>
            <a:endParaRPr/>
          </a:p>
        </p:txBody>
      </p:sp>
      <p:sp>
        <p:nvSpPr>
          <p:cNvPr id="5947" name="Google Shape;5947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48" name="Google Shape;5948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49" name="Google Shape;5949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50" name="Google Shape;5950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51" name="Google Shape;5951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52" name="Google Shape;5952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$17,276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53" name="Google Shape;5953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$62,442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54" name="Google Shape;5954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55" name="Google Shape;5955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56" name="Google Shape;5956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57" name="Google Shape;5957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58" name="Google Shape;5958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59" name="Google Shape;5959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$44,965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60" name="Google Shape;5960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1" name="Google Shape;5961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62" name="Google Shape;5962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63" name="Google Shape;5963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64" name="Google Shape;5964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65" name="Google Shape;5965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66" name="Google Shape;5966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67" name="Google Shape;5967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68" name="Google Shape;5968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9" name="Google Shape;5969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70" name="Google Shape;5970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$23,797</a:t>
            </a:r>
            <a:endParaRPr/>
          </a:p>
        </p:txBody>
      </p:sp>
      <p:sp>
        <p:nvSpPr>
          <p:cNvPr id="5971" name="Google Shape;5971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$23,797</a:t>
            </a:r>
            <a:endParaRPr/>
          </a:p>
        </p:txBody>
      </p:sp>
      <p:sp>
        <p:nvSpPr>
          <p:cNvPr id="5972" name="Google Shape;5972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3" name="Google Shape;5973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$-0</a:t>
            </a:r>
            <a:endParaRPr/>
          </a:p>
        </p:txBody>
      </p:sp>
      <p:sp>
        <p:nvSpPr>
          <p:cNvPr id="5974" name="Google Shape;5974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5" name="Google Shape;5975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6" name="Google Shape;5976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77" name="Google Shape;5977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8" name="Google Shape;5978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9" name="Google Shape;5979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0" name="Google Shape;5980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1" name="Google Shape;5981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2" name="Google Shape;5982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3" name="Google Shape;5983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84" name="Google Shape;5984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5" name="Google Shape;5985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6" name="Google Shape;5986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7" name="Google Shape;5987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8" name="Google Shape;5988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9" name="Google Shape;5989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0" name="Google Shape;5990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91" name="Google Shape;5991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$21,368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$21,368</a:t>
            </a:r>
            <a:endParaRPr/>
          </a:p>
        </p:txBody>
      </p:sp>
      <p:sp>
        <p:nvSpPr>
          <p:cNvPr id="5993" name="Google Shape;5993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4" name="Google Shape;5994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6" name="Google Shape;5996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7" name="Google Shape;5997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98" name="Google Shape;5998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1" name="Google Shape;6001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2" name="Google Shape;6002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3" name="Google Shape;6003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4" name="Google Shape;6004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05" name="Google Shape;6005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$45,165</a:t>
            </a:r>
            <a:endParaRPr/>
          </a:p>
        </p:txBody>
      </p:sp>
      <p:sp>
        <p:nvSpPr>
          <p:cNvPr id="6006" name="Google Shape;6006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$45,165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08" name="Google Shape;6008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$-0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10" name="Google Shape;6010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1" name="Google Shape;6011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015" name="Google Shape;6015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016" name="Google Shape;6016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17" name="Google Shape;6017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18" name="Google Shape;6018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9" name="Google Shape;6019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22" name="Google Shape;6022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3" name="Google Shape;6023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24" name="Google Shape;6024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025" name="Google Shape;6025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6" name="Google Shape;6026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29" name="Google Shape;6029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30" name="Google Shape;6030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1" name="Google Shape;6031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32" name="Google Shape;6032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3" name="Google Shape;6033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35" name="Google Shape;6035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6" name="Google Shape;6036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039" name="Google Shape;6039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0" name="Google Shape;6040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41" name="Google Shape;6041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2" name="Google Shape;6042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43" name="Google Shape;6043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4" name="Google Shape;6044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45" name="Google Shape;6045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46" name="Google Shape;6046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7" name="Google Shape;6047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48" name="Google Shape;6048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49" name="Google Shape;6049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0" name="Google Shape;6050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51" name="Google Shape;6051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2" name="Google Shape;6052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53" name="Google Shape;6053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4" name="Google Shape;6054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7" name="Google Shape;6057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058" name="Google Shape;6058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59" name="Google Shape;6059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060" name="Google Shape;6060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1" name="Google Shape;6061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63" name="Google Shape;6063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65" name="Google Shape;6065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66" name="Google Shape;6066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67" name="Google Shape;6067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68" name="Google Shape;6068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73" name="Google Shape;6073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74" name="Google Shape;6074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75" name="Google Shape;6075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77" name="Google Shape;6077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79" name="Google Shape;6079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80" name="Google Shape;6080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81" name="Google Shape;6081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82" name="Google Shape;6082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84" name="Google Shape;6084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85" name="Google Shape;6085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86" name="Google Shape;6086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087" name="Google Shape;6087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088" name="Google Shape;6088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89" name="Google Shape;6089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6091" name="Google Shape;6091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4" name="Google Shape;6094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5" name="Google Shape;6095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0" name="Google Shape;6100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6101" name="Google Shape;6101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2" name="Google Shape;6102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$45,165 YTD gross written premium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06" name="Google Shape;6106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$45,165 in new business production</a:t>
            </a:r>
            <a:endParaRPr/>
          </a:p>
        </p:txBody>
      </p:sp>
      <p:sp>
        <p:nvSpPr>
          <p:cNvPr id="6107" name="Google Shape;6107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8" name="Google Shape;6108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109" name="Google Shape;6109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110" name="Google Shape;6110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111" name="Google Shape;6111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112" name="Google Shape;6112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113" name="Google Shape;6113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4" name="Google Shape;6114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115" name="Google Shape;6115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116" name="Google Shape;6116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$45,165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20" name="Shape 6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1" name="Google Shape;6121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2" name="Google Shape;6122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Rnk Insurance Services Inc</a:t>
            </a:r>
            <a:endParaRPr/>
          </a:p>
        </p:txBody>
      </p:sp>
      <p:sp>
        <p:nvSpPr>
          <p:cNvPr id="6123" name="Google Shape;6123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Los Angeles</a:t>
            </a:r>
            <a:endParaRPr/>
          </a:p>
        </p:txBody>
      </p:sp>
      <p:sp>
        <p:nvSpPr>
          <p:cNvPr id="6124" name="Google Shape;6124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$39,467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25" name="Google Shape;6125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26" name="Google Shape;6126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27" name="Google Shape;6127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$8,929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28" name="Google Shape;6128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29" name="Google Shape;6129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30" name="Google Shape;6130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$119,183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31" name="Google Shape;6131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32" name="Google Shape;6132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33" name="Google Shape;6133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34" name="Google Shape;6134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35" name="Google Shape;6135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36" name="Google Shape;6136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37" name="Google Shape;6137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8" name="Google Shape;6138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39" name="Google Shape;6139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40" name="Google Shape;6140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41" name="Google Shape;6141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42" name="Google Shape;6142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43" name="Google Shape;6143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44" name="Google Shape;6144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45" name="Google Shape;6145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6" name="Google Shape;6146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47" name="Google Shape;6147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8" name="Google Shape;6148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9" name="Google Shape;6149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0" name="Google Shape;6150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1" name="Google Shape;6151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$-15,303</a:t>
            </a:r>
            <a:endParaRPr/>
          </a:p>
        </p:txBody>
      </p:sp>
      <p:sp>
        <p:nvSpPr>
          <p:cNvPr id="6152" name="Google Shape;6152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3" name="Google Shape;6153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54" name="Google Shape;6154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5" name="Google Shape;6155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6" name="Google Shape;6156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7" name="Google Shape;6157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8" name="Google Shape;6158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9" name="Google Shape;6159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0" name="Google Shape;6160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61" name="Google Shape;6161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$8,929</a:t>
            </a:r>
            <a:endParaRPr/>
          </a:p>
        </p:txBody>
      </p:sp>
      <p:sp>
        <p:nvSpPr>
          <p:cNvPr id="6162" name="Google Shape;6162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3" name="Google Shape;6163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4" name="Google Shape;6164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$8,929</a:t>
            </a:r>
            <a:endParaRPr/>
          </a:p>
        </p:txBody>
      </p:sp>
      <p:sp>
        <p:nvSpPr>
          <p:cNvPr id="6165" name="Google Shape;6165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6" name="Google Shape;6166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7" name="Google Shape;6167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68" name="Google Shape;6168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9" name="Google Shape;6169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0" name="Google Shape;6170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1" name="Google Shape;6171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3" name="Google Shape;6173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4" name="Google Shape;6174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$30,538</a:t>
            </a:r>
            <a:endParaRPr/>
          </a:p>
        </p:txBody>
      </p:sp>
      <p:sp>
        <p:nvSpPr>
          <p:cNvPr id="6176" name="Google Shape;6176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$30,538</a:t>
            </a:r>
            <a:endParaRPr/>
          </a:p>
        </p:txBody>
      </p:sp>
      <p:sp>
        <p:nvSpPr>
          <p:cNvPr id="6177" name="Google Shape;6177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8" name="Google Shape;6178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9" name="Google Shape;6179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0" name="Google Shape;6180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1" name="Google Shape;6181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$39,467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$30,538</a:t>
            </a:r>
            <a:endParaRPr/>
          </a:p>
        </p:txBody>
      </p:sp>
      <p:sp>
        <p:nvSpPr>
          <p:cNvPr id="6184" name="Google Shape;6184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5" name="Google Shape;6185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$8,929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$-15,303</a:t>
            </a:r>
            <a:endParaRPr/>
          </a:p>
        </p:txBody>
      </p:sp>
      <p:sp>
        <p:nvSpPr>
          <p:cNvPr id="6187" name="Google Shape;6187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8" name="Google Shape;6188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92" name="Google Shape;6192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93" name="Google Shape;6193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94" name="Google Shape;6194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95" name="Google Shape;6195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6" name="Google Shape;6196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99" name="Google Shape;6199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200" name="Google Shape;6200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1" name="Google Shape;6201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02" name="Google Shape;6202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3" name="Google Shape;6203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06" name="Google Shape;6206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07" name="Google Shape;6207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09" name="Google Shape;6209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0" name="Google Shape;6210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12" name="Google Shape;6212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13" name="Google Shape;6213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14" name="Google Shape;6214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6216" name="Google Shape;6216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7" name="Google Shape;6217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18" name="Google Shape;6218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219" name="Google Shape;6219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20" name="Google Shape;6220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221" name="Google Shape;6221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223" name="Google Shape;6223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4" name="Google Shape;6224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25" name="Google Shape;6225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226" name="Google Shape;6226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27" name="Google Shape;6227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228" name="Google Shape;6228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9" name="Google Shape;6229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30" name="Google Shape;6230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1" name="Google Shape;6231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234" name="Google Shape;6234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6235" name="Google Shape;6235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6237" name="Google Shape;6237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8" name="Google Shape;6238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39" name="Google Shape;6239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40" name="Google Shape;6240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42" name="Google Shape;6242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43" name="Google Shape;6243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44" name="Google Shape;6244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45" name="Google Shape;6245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46" name="Google Shape;6246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49" name="Google Shape;6249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50" name="Google Shape;6250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51" name="Google Shape;6251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52" name="Google Shape;6252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53" name="Google Shape;6253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54" name="Google Shape;6254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56" name="Google Shape;6256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57" name="Google Shape;6257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258" name="Google Shape;6258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259" name="Google Shape;6259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260" name="Google Shape;6260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261" name="Google Shape;6261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62" name="Google Shape;6262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263" name="Google Shape;6263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6264" name="Google Shape;6264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6265" name="Google Shape;6265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66" name="Google Shape;6266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6267" name="Google Shape;6267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8" name="Google Shape;6268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$-2,380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6273" name="Google Shape;6273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4" name="Google Shape;6274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$246K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6278" name="Google Shape;6278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9" name="Google Shape;6279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80" name="Google Shape;6280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81" name="Google Shape;6281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$39,467 YTD gross written premium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$30,538 in new business production</a:t>
            </a:r>
            <a:endParaRPr/>
          </a:p>
        </p:txBody>
      </p:sp>
      <p:sp>
        <p:nvSpPr>
          <p:cNvPr id="6284" name="Google Shape;6284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5" name="Google Shape;6285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86" name="Google Shape;6286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87" name="Google Shape;6287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50% of new business ($15,303)</a:t>
            </a:r>
            <a:endParaRPr/>
          </a:p>
        </p:txBody>
      </p:sp>
      <p:sp>
        <p:nvSpPr>
          <p:cNvPr id="6288" name="Google Shape;6288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9" name="Google Shape;6289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90" name="Google Shape;6290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91" name="Google Shape;6291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$30,538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6292" name="Google Shape;6292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93" name="Google Shape;6293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$15,303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97" name="Shape 6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8" name="Google Shape;6298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9" name="Google Shape;6299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Embedded Insurance Agency, LLC,</a:t>
            </a:r>
            <a:endParaRPr/>
          </a:p>
        </p:txBody>
      </p:sp>
      <p:sp>
        <p:nvSpPr>
          <p:cNvPr id="6300" name="Google Shape;6300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UT  |  City: Park City</a:t>
            </a:r>
            <a:endParaRPr/>
          </a:p>
        </p:txBody>
      </p:sp>
      <p:sp>
        <p:nvSpPr>
          <p:cNvPr id="6301" name="Google Shape;6301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302" name="Google Shape;6302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03" name="Google Shape;6303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04" name="Google Shape;6304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05" name="Google Shape;6305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$-57,702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06" name="Google Shape;6306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$207,560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307" name="Google Shape;6307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$125,412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308" name="Google Shape;6308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309" name="Google Shape;6309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10" name="Google Shape;6310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11" name="Google Shape;6311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12" name="Google Shape;6312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313" name="Google Shape;6313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314" name="Google Shape;6314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5" name="Google Shape;6315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316" name="Google Shape;6316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17" name="Google Shape;6317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318" name="Google Shape;6318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19" name="Google Shape;6319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20" name="Google Shape;6320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21" name="Google Shape;6321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22" name="Google Shape;6322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3" name="Google Shape;6323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24" name="Google Shape;6324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</a:t>
            </a:r>
            <a:endParaRPr/>
          </a:p>
        </p:txBody>
      </p:sp>
      <p:sp>
        <p:nvSpPr>
          <p:cNvPr id="6325" name="Google Shape;6325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6" name="Google Shape;6326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</a:t>
            </a:r>
            <a:endParaRPr/>
          </a:p>
        </p:txBody>
      </p:sp>
      <p:sp>
        <p:nvSpPr>
          <p:cNvPr id="6327" name="Google Shape;6327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8" name="Google Shape;6328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$-21,938</a:t>
            </a:r>
            <a:endParaRPr/>
          </a:p>
        </p:txBody>
      </p:sp>
      <p:sp>
        <p:nvSpPr>
          <p:cNvPr id="6329" name="Google Shape;6329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0" name="Google Shape;6330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31" name="Google Shape;6331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2" name="Google Shape;6332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3" name="Google Shape;6333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4" name="Google Shape;6334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5" name="Google Shape;6335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$-34,618</a:t>
            </a:r>
            <a:endParaRPr/>
          </a:p>
        </p:txBody>
      </p:sp>
      <p:sp>
        <p:nvSpPr>
          <p:cNvPr id="6336" name="Google Shape;6336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7" name="Google Shape;6337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38" name="Google Shape;6338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9" name="Google Shape;6339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0" name="Google Shape;6340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1" name="Google Shape;6341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2" name="Google Shape;6342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3" name="Google Shape;6343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4" name="Google Shape;6344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45" name="Google Shape;6345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6" name="Google Shape;6346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7" name="Google Shape;6347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8" name="Google Shape;6348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9" name="Google Shape;6349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0" name="Google Shape;6350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1" name="Google Shape;6351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52" name="Google Shape;6352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3" name="Google Shape;6353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4" name="Google Shape;6354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5" name="Google Shape;6355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6" name="Google Shape;6356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$-1,146</a:t>
            </a:r>
            <a:endParaRPr/>
          </a:p>
        </p:txBody>
      </p:sp>
      <p:sp>
        <p:nvSpPr>
          <p:cNvPr id="6357" name="Google Shape;6357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8" name="Google Shape;6358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59" name="Google Shape;6359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</a:t>
            </a:r>
            <a:endParaRPr/>
          </a:p>
        </p:txBody>
      </p:sp>
      <p:sp>
        <p:nvSpPr>
          <p:cNvPr id="6360" name="Google Shape;6360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1" name="Google Shape;6361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</a:t>
            </a:r>
            <a:endParaRPr/>
          </a:p>
        </p:txBody>
      </p:sp>
      <p:sp>
        <p:nvSpPr>
          <p:cNvPr id="6362" name="Google Shape;6362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3" name="Google Shape;6363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$-57,702</a:t>
            </a:r>
            <a:endParaRPr/>
          </a:p>
        </p:txBody>
      </p:sp>
      <p:sp>
        <p:nvSpPr>
          <p:cNvPr id="6364" name="Google Shape;6364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5" name="Google Shape;6365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66" name="Google Shape;6366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67" name="Google Shape;6367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68" name="Google Shape;6368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69" name="Google Shape;6369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70" name="Google Shape;6370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71" name="Google Shape;6371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72" name="Google Shape;6372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3" name="Google Shape;6373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74" name="Google Shape;6374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75" name="Google Shape;6375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6" name="Google Shape;6376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77" name="Google Shape;6377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78" name="Google Shape;6378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379" name="Google Shape;6379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0" name="Google Shape;6380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81" name="Google Shape;6381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2" name="Google Shape;6382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3" name="Google Shape;6383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4" name="Google Shape;6384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5" name="Google Shape;6385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86" name="Google Shape;6386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7" name="Google Shape;6387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88" name="Google Shape;6388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89" name="Google Shape;6389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0" name="Google Shape;6390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91" name="Google Shape;6391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2" name="Google Shape;6392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93" name="Google Shape;6393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4" name="Google Shape;6394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95" name="Google Shape;6395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96" name="Google Shape;6396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7" name="Google Shape;6397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98" name="Google Shape;6398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9" name="Google Shape;6399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00" name="Google Shape;6400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1" name="Google Shape;6401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02" name="Google Shape;6402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03" name="Google Shape;6403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04" name="Google Shape;6404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05" name="Google Shape;6405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06" name="Google Shape;6406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07" name="Google Shape;6407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8" name="Google Shape;6408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09" name="Google Shape;6409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410" name="Google Shape;6410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11" name="Google Shape;6411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412" name="Google Shape;6412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6414" name="Google Shape;6414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5" name="Google Shape;6415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416" name="Google Shape;6416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17" name="Google Shape;6417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19" name="Google Shape;6419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20" name="Google Shape;6420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22" name="Google Shape;6422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23" name="Google Shape;6423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24" name="Google Shape;6424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26" name="Google Shape;6426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27" name="Google Shape;6427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29" name="Google Shape;6429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30" name="Google Shape;6430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6431" name="Google Shape;6431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433" name="Google Shape;6433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34" name="Google Shape;6434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36" name="Google Shape;6436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37" name="Google Shape;6437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38" name="Google Shape;6438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40" name="Google Shape;6440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6441" name="Google Shape;6441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43" name="Google Shape;6443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6444" name="Google Shape;6444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446" name="Google Shape;6446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7" name="Google Shape;6447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450" name="Google Shape;6450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1" name="Google Shape;6451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6455" name="Google Shape;6455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6" name="Google Shape;6456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57" name="Google Shape;6457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58" name="Google Shape;6458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 YTD gross written premium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60" name="Google Shape;6460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$35,613 in renewals - strong retention</a:t>
            </a:r>
            <a:endParaRPr/>
          </a:p>
        </p:txBody>
      </p:sp>
      <p:sp>
        <p:nvSpPr>
          <p:cNvPr id="6461" name="Google Shape;6461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2" name="Google Shape;6462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63" name="Google Shape;6463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64" name="Google Shape;6464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465" name="Google Shape;6465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6" name="Google Shape;6466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67" name="Google Shape;6467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68" name="Google Shape;6468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469" name="Google Shape;6469;p4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470" name="Google Shape;6470;p4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74" name="Shape 6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5" name="Google Shape;6475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6" name="Google Shape;6476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Premiere Solutions Insurance Agency, Inc</a:t>
            </a:r>
            <a:endParaRPr/>
          </a:p>
        </p:txBody>
      </p:sp>
      <p:sp>
        <p:nvSpPr>
          <p:cNvPr id="6477" name="Google Shape;6477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Yucaipa</a:t>
            </a:r>
            <a:endParaRPr/>
          </a:p>
        </p:txBody>
      </p:sp>
      <p:sp>
        <p:nvSpPr>
          <p:cNvPr id="6478" name="Google Shape;6478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$34,766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79" name="Google Shape;6479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80" name="Google Shape;6480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81" name="Google Shape;6481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82" name="Google Shape;6482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$-35,464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83" name="Google Shape;6483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84" name="Google Shape;6484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$83,642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85" name="Google Shape;6485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86" name="Google Shape;6486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87" name="Google Shape;6487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88" name="Google Shape;6488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89" name="Google Shape;6489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90" name="Google Shape;6490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91" name="Google Shape;6491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2" name="Google Shape;6492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93" name="Google Shape;6493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94" name="Google Shape;6494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95" name="Google Shape;6495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96" name="Google Shape;6496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97" name="Google Shape;6497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98" name="Google Shape;6498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99" name="Google Shape;6499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0" name="Google Shape;6500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01" name="Google Shape;6501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$30,823</a:t>
            </a:r>
            <a:endParaRPr/>
          </a:p>
        </p:txBody>
      </p:sp>
      <p:sp>
        <p:nvSpPr>
          <p:cNvPr id="6502" name="Google Shape;6502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$29,840</a:t>
            </a:r>
            <a:endParaRPr/>
          </a:p>
        </p:txBody>
      </p:sp>
      <p:sp>
        <p:nvSpPr>
          <p:cNvPr id="6503" name="Google Shape;6503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4" name="Google Shape;6504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$983</a:t>
            </a:r>
            <a:endParaRPr/>
          </a:p>
        </p:txBody>
      </p:sp>
      <p:sp>
        <p:nvSpPr>
          <p:cNvPr id="6505" name="Google Shape;6505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6" name="Google Shape;6506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7" name="Google Shape;6507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08" name="Google Shape;6508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9" name="Google Shape;6509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0" name="Google Shape;6510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1" name="Google Shape;6511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2" name="Google Shape;6512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$-2,344</a:t>
            </a:r>
            <a:endParaRPr/>
          </a:p>
        </p:txBody>
      </p:sp>
      <p:sp>
        <p:nvSpPr>
          <p:cNvPr id="6513" name="Google Shape;6513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4" name="Google Shape;6514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15" name="Google Shape;6515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</a:t>
            </a:r>
            <a:endParaRPr/>
          </a:p>
        </p:txBody>
      </p:sp>
      <p:sp>
        <p:nvSpPr>
          <p:cNvPr id="6516" name="Google Shape;6516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7" name="Google Shape;6517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8" name="Google Shape;6518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</a:t>
            </a:r>
            <a:endParaRPr/>
          </a:p>
        </p:txBody>
      </p:sp>
      <p:sp>
        <p:nvSpPr>
          <p:cNvPr id="6519" name="Google Shape;6519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$-11,291</a:t>
            </a:r>
            <a:endParaRPr/>
          </a:p>
        </p:txBody>
      </p:sp>
      <p:sp>
        <p:nvSpPr>
          <p:cNvPr id="6520" name="Google Shape;6520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1" name="Google Shape;6521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22" name="Google Shape;6522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3" name="Google Shape;6523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4" name="Google Shape;6524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5" name="Google Shape;6525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6" name="Google Shape;6526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$-21,829</a:t>
            </a:r>
            <a:endParaRPr/>
          </a:p>
        </p:txBody>
      </p:sp>
      <p:sp>
        <p:nvSpPr>
          <p:cNvPr id="6527" name="Google Shape;6527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8" name="Google Shape;6528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29" name="Google Shape;6529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$3,924</a:t>
            </a:r>
            <a:endParaRPr/>
          </a:p>
        </p:txBody>
      </p:sp>
      <p:sp>
        <p:nvSpPr>
          <p:cNvPr id="6530" name="Google Shape;6530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1" name="Google Shape;6531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$3,924</a:t>
            </a:r>
            <a:endParaRPr/>
          </a:p>
        </p:txBody>
      </p:sp>
      <p:sp>
        <p:nvSpPr>
          <p:cNvPr id="6532" name="Google Shape;6532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3" name="Google Shape;6533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4" name="Google Shape;6534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5" name="Google Shape;6535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36" name="Google Shape;6536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$34,766</a:t>
            </a:r>
            <a:endParaRPr/>
          </a:p>
        </p:txBody>
      </p:sp>
      <p:sp>
        <p:nvSpPr>
          <p:cNvPr id="6537" name="Google Shape;6537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$29,840</a:t>
            </a:r>
            <a:endParaRPr/>
          </a:p>
        </p:txBody>
      </p:sp>
      <p:sp>
        <p:nvSpPr>
          <p:cNvPr id="6538" name="Google Shape;6538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$3,924</a:t>
            </a:r>
            <a:endParaRPr/>
          </a:p>
        </p:txBody>
      </p:sp>
      <p:sp>
        <p:nvSpPr>
          <p:cNvPr id="6539" name="Google Shape;6539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$1,001</a:t>
            </a:r>
            <a:endParaRPr/>
          </a:p>
        </p:txBody>
      </p:sp>
      <p:sp>
        <p:nvSpPr>
          <p:cNvPr id="6540" name="Google Shape;6540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$-35,464</a:t>
            </a:r>
            <a:endParaRPr/>
          </a:p>
        </p:txBody>
      </p:sp>
      <p:sp>
        <p:nvSpPr>
          <p:cNvPr id="6541" name="Google Shape;6541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2" name="Google Shape;6542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43" name="Google Shape;6543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44" name="Google Shape;6544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45" name="Google Shape;6545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46" name="Google Shape;6546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47" name="Google Shape;6547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48" name="Google Shape;6548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49" name="Google Shape;6549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0" name="Google Shape;6550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51" name="Google Shape;6551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552" name="Google Shape;6552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3" name="Google Shape;6553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554" name="Google Shape;6554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55" name="Google Shape;6555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6556" name="Google Shape;6556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7" name="Google Shape;6557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58" name="Google Shape;6558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59" name="Google Shape;6559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0" name="Google Shape;6560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61" name="Google Shape;6561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62" name="Google Shape;6562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563" name="Google Shape;6563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4" name="Google Shape;6564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65" name="Google Shape;6565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566" name="Google Shape;6566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7" name="Google Shape;6567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568" name="Google Shape;6568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69" name="Google Shape;6569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6570" name="Google Shape;6570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1" name="Google Shape;6571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72" name="Google Shape;6572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573" name="Google Shape;6573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4" name="Google Shape;6574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575" name="Google Shape;6575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76" name="Google Shape;6576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577" name="Google Shape;6577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8" name="Google Shape;6578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79" name="Google Shape;6579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580" name="Google Shape;6580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81" name="Google Shape;6581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82" name="Google Shape;6582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3" name="Google Shape;6583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84" name="Google Shape;6584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5" name="Google Shape;6585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86" name="Google Shape;6586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6587" name="Google Shape;6587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88" name="Google Shape;6588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589" name="Google Shape;6589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90" name="Google Shape;6590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6591" name="Google Shape;6591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2" name="Google Shape;6592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593" name="Google Shape;6593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94" name="Google Shape;6594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95" name="Google Shape;6595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96" name="Google Shape;6596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98" name="Google Shape;6598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99" name="Google Shape;6599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600" name="Google Shape;6600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601" name="Google Shape;6601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602" name="Google Shape;6602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603" name="Google Shape;6603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605" name="Google Shape;6605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606" name="Google Shape;6606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07" name="Google Shape;6607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08" name="Google Shape;6608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09" name="Google Shape;6609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10" name="Google Shape;6610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12" name="Google Shape;6612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613" name="Google Shape;6613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14" name="Google Shape;6614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16" name="Google Shape;6616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17" name="Google Shape;6617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618" name="Google Shape;6618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619" name="Google Shape;6619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20" name="Google Shape;6620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621" name="Google Shape;6621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6622" name="Google Shape;6622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3" name="Google Shape;6623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4" name="Google Shape;6624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</a:t>
            </a:r>
            <a:endParaRPr/>
          </a:p>
        </p:txBody>
      </p:sp>
      <p:sp>
        <p:nvSpPr>
          <p:cNvPr id="6626" name="Google Shape;6626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7" name="Google Shape;6627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8" name="Google Shape;6628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6631" name="Google Shape;6631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6632" name="Google Shape;6632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3" name="Google Shape;6633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34" name="Google Shape;6634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$34,766 YTD gross written premium</a:t>
            </a:r>
            <a:endParaRPr/>
          </a:p>
        </p:txBody>
      </p:sp>
      <p:sp>
        <p:nvSpPr>
          <p:cNvPr id="6636" name="Google Shape;6636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37" name="Google Shape;6637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$29,840 in new business production</a:t>
            </a:r>
            <a:endParaRPr/>
          </a:p>
        </p:txBody>
      </p:sp>
      <p:sp>
        <p:nvSpPr>
          <p:cNvPr id="6638" name="Google Shape;6638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9" name="Google Shape;6639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40" name="Google Shape;6640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41" name="Google Shape;6641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119% of new business ($35,464)</a:t>
            </a:r>
            <a:endParaRPr/>
          </a:p>
        </p:txBody>
      </p:sp>
      <p:sp>
        <p:nvSpPr>
          <p:cNvPr id="6642" name="Google Shape;6642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3" name="Google Shape;6643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44" name="Google Shape;6644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45" name="Google Shape;6645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$29,840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6646" name="Google Shape;6646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47" name="Google Shape;6647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$35,464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51" name="Shape 6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2" name="Google Shape;6652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3" name="Google Shape;6653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Monarca Trucking Insurance Services Inc</a:t>
            </a:r>
            <a:endParaRPr/>
          </a:p>
        </p:txBody>
      </p:sp>
      <p:sp>
        <p:nvSpPr>
          <p:cNvPr id="6654" name="Google Shape;6654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West Covina</a:t>
            </a:r>
            <a:endParaRPr/>
          </a:p>
        </p:txBody>
      </p:sp>
      <p:sp>
        <p:nvSpPr>
          <p:cNvPr id="6655" name="Google Shape;6655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56" name="Google Shape;6656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57" name="Google Shape;6657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58" name="Google Shape;6658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59" name="Google Shape;6659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$-40,292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60" name="Google Shape;6660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61" name="Google Shape;6661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$123,688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62" name="Google Shape;6662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63" name="Google Shape;6663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64" name="Google Shape;6664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65" name="Google Shape;6665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66" name="Google Shape;6666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67" name="Google Shape;6667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68" name="Google Shape;6668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9" name="Google Shape;6669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70" name="Google Shape;6670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71" name="Google Shape;6671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72" name="Google Shape;6672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73" name="Google Shape;6673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74" name="Google Shape;6674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75" name="Google Shape;6675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76" name="Google Shape;6676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7" name="Google Shape;6677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78" name="Google Shape;6678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9" name="Google Shape;6679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0" name="Google Shape;6680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1" name="Google Shape;6681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2" name="Google Shape;6682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3" name="Google Shape;6683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4" name="Google Shape;6684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85" name="Google Shape;6685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$27,152</a:t>
            </a:r>
            <a:endParaRPr/>
          </a:p>
        </p:txBody>
      </p:sp>
      <p:sp>
        <p:nvSpPr>
          <p:cNvPr id="6686" name="Google Shape;6686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$11,870</a:t>
            </a:r>
            <a:endParaRPr/>
          </a:p>
        </p:txBody>
      </p:sp>
      <p:sp>
        <p:nvSpPr>
          <p:cNvPr id="6687" name="Google Shape;6687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8" name="Google Shape;6688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$15,281</a:t>
            </a:r>
            <a:endParaRPr/>
          </a:p>
        </p:txBody>
      </p:sp>
      <p:sp>
        <p:nvSpPr>
          <p:cNvPr id="6689" name="Google Shape;6689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$-15,281</a:t>
            </a:r>
            <a:endParaRPr/>
          </a:p>
        </p:txBody>
      </p:sp>
      <p:sp>
        <p:nvSpPr>
          <p:cNvPr id="6690" name="Google Shape;6690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1" name="Google Shape;6691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92" name="Google Shape;6692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3" name="Google Shape;6693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4" name="Google Shape;6694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5" name="Google Shape;6695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6" name="Google Shape;6696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$-13,115</a:t>
            </a:r>
            <a:endParaRPr/>
          </a:p>
        </p:txBody>
      </p:sp>
      <p:sp>
        <p:nvSpPr>
          <p:cNvPr id="6697" name="Google Shape;6697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8" name="Google Shape;6698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99" name="Google Shape;6699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0" name="Google Shape;6700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1" name="Google Shape;6701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2" name="Google Shape;6702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3" name="Google Shape;6703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4" name="Google Shape;6704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5" name="Google Shape;6705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06" name="Google Shape;6706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7" name="Google Shape;6707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8" name="Google Shape;6708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9" name="Google Shape;6709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0" name="Google Shape;6710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$-11,896</a:t>
            </a:r>
            <a:endParaRPr/>
          </a:p>
        </p:txBody>
      </p:sp>
      <p:sp>
        <p:nvSpPr>
          <p:cNvPr id="6711" name="Google Shape;6711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2" name="Google Shape;6712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13" name="Google Shape;6713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$27,152</a:t>
            </a:r>
            <a:endParaRPr/>
          </a:p>
        </p:txBody>
      </p:sp>
      <p:sp>
        <p:nvSpPr>
          <p:cNvPr id="6714" name="Google Shape;6714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$11,870</a:t>
            </a:r>
            <a:endParaRPr/>
          </a:p>
        </p:txBody>
      </p:sp>
      <p:sp>
        <p:nvSpPr>
          <p:cNvPr id="6715" name="Google Shape;6715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6" name="Google Shape;6716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$15,281</a:t>
            </a:r>
            <a:endParaRPr/>
          </a:p>
        </p:txBody>
      </p:sp>
      <p:sp>
        <p:nvSpPr>
          <p:cNvPr id="6717" name="Google Shape;6717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$-40,292</a:t>
            </a:r>
            <a:endParaRPr/>
          </a:p>
        </p:txBody>
      </p:sp>
      <p:sp>
        <p:nvSpPr>
          <p:cNvPr id="6718" name="Google Shape;6718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9" name="Google Shape;6719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20" name="Google Shape;6720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21" name="Google Shape;6721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22" name="Google Shape;6722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23" name="Google Shape;6723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24" name="Google Shape;6724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25" name="Google Shape;6725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26" name="Google Shape;6726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7" name="Google Shape;6727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28" name="Google Shape;6728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729" name="Google Shape;6729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30" name="Google Shape;6730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731" name="Google Shape;6731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32" name="Google Shape;6732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33" name="Google Shape;6733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4" name="Google Shape;6734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35" name="Google Shape;6735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736" name="Google Shape;6736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37" name="Google Shape;6737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738" name="Google Shape;6738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39" name="Google Shape;6739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6740" name="Google Shape;6740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1" name="Google Shape;6741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42" name="Google Shape;6742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743" name="Google Shape;6743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44" name="Google Shape;6744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745" name="Google Shape;6745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6" name="Google Shape;6746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47" name="Google Shape;6747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8" name="Google Shape;6748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49" name="Google Shape;6749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750" name="Google Shape;6750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1" name="Google Shape;6751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752" name="Google Shape;6752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3" name="Google Shape;6753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54" name="Google Shape;6754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5" name="Google Shape;6755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56" name="Google Shape;6756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757" name="Google Shape;6757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8" name="Google Shape;6758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759" name="Google Shape;6759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0" name="Google Shape;6760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61" name="Google Shape;6761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2" name="Google Shape;6762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63" name="Google Shape;6763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6764" name="Google Shape;6764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65" name="Google Shape;6765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6766" name="Google Shape;6766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67" name="Google Shape;6767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6768" name="Google Shape;6768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9" name="Google Shape;6769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770" name="Google Shape;6770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71" name="Google Shape;6771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72" name="Google Shape;6772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73" name="Google Shape;6773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74" name="Google Shape;6774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75" name="Google Shape;6775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77" name="Google Shape;6777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78" name="Google Shape;6778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79" name="Google Shape;6779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80" name="Google Shape;6780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81" name="Google Shape;6781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782" name="Google Shape;6782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84" name="Google Shape;6784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5" name="Google Shape;6785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786" name="Google Shape;6786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87" name="Google Shape;6787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788" name="Google Shape;6788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789" name="Google Shape;6789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791" name="Google Shape;6791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792" name="Google Shape;6792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793" name="Google Shape;6793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795" name="Google Shape;6795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125</a:t>
            </a:r>
            <a:endParaRPr/>
          </a:p>
        </p:txBody>
      </p:sp>
      <p:sp>
        <p:nvSpPr>
          <p:cNvPr id="6796" name="Google Shape;6796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97" name="Google Shape;6797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8" name="Google Shape;6798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9" name="Google Shape;6799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0" name="Google Shape;6800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6801" name="Google Shape;6801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2" name="Google Shape;6802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3" name="Google Shape;6803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5" name="Google Shape;6805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6" name="Google Shape;6806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7" name="Google Shape;6807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08" name="Google Shape;6808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6809" name="Google Shape;6809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0" name="Google Shape;6810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12" name="Google Shape;6812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$27,152 YTD gross written premium</a:t>
            </a:r>
            <a:endParaRPr/>
          </a:p>
        </p:txBody>
      </p:sp>
      <p:sp>
        <p:nvSpPr>
          <p:cNvPr id="6813" name="Google Shape;6813;p4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14" name="Google Shape;6814;p4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$11,870 in new business production</a:t>
            </a:r>
            <a:endParaRPr/>
          </a:p>
        </p:txBody>
      </p:sp>
      <p:sp>
        <p:nvSpPr>
          <p:cNvPr id="6815" name="Google Shape;6815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6" name="Google Shape;6816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817" name="Google Shape;6817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18" name="Google Shape;6818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0.8% hit ratio on 124 subs - needs coaching</a:t>
            </a:r>
            <a:endParaRPr/>
          </a:p>
        </p:txBody>
      </p:sp>
      <p:sp>
        <p:nvSpPr>
          <p:cNvPr id="6819" name="Google Shape;6819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20" name="Google Shape;6820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339% of new business ($40,292)</a:t>
            </a:r>
            <a:endParaRPr/>
          </a:p>
        </p:txBody>
      </p:sp>
      <p:sp>
        <p:nvSpPr>
          <p:cNvPr id="6821" name="Google Shape;6821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2" name="Google Shape;6822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23" name="Google Shape;6823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24" name="Google Shape;6824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(124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6825" name="Google Shape;6825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26" name="Google Shape;6826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$11,870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30" name="Shape 6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1" name="Google Shape;6831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2" name="Google Shape;6832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Success Insurance Agency Inc</a:t>
            </a:r>
            <a:endParaRPr/>
          </a:p>
        </p:txBody>
      </p:sp>
      <p:sp>
        <p:nvSpPr>
          <p:cNvPr id="6833" name="Google Shape;6833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California  |  City: City of Industry</a:t>
            </a:r>
            <a:endParaRPr/>
          </a:p>
        </p:txBody>
      </p:sp>
      <p:sp>
        <p:nvSpPr>
          <p:cNvPr id="6834" name="Google Shape;6834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35" name="Google Shape;6835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36" name="Google Shape;6836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37" name="Google Shape;6837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38" name="Google Shape;6838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$-28,650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39" name="Google Shape;6839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$117,090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40" name="Google Shape;6840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41" name="Google Shape;6841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42" name="Google Shape;6842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43" name="Google Shape;6843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44" name="Google Shape;6844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45" name="Google Shape;6845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46" name="Google Shape;6846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47" name="Google Shape;6847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8" name="Google Shape;6848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49" name="Google Shape;6849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50" name="Google Shape;6850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51" name="Google Shape;6851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52" name="Google Shape;6852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53" name="Google Shape;6853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54" name="Google Shape;6854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55" name="Google Shape;6855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6" name="Google Shape;6856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57" name="Google Shape;6857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</a:t>
            </a:r>
            <a:endParaRPr/>
          </a:p>
        </p:txBody>
      </p:sp>
      <p:sp>
        <p:nvSpPr>
          <p:cNvPr id="6858" name="Google Shape;6858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9" name="Google Shape;6859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0" name="Google Shape;6860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</a:t>
            </a:r>
            <a:endParaRPr/>
          </a:p>
        </p:txBody>
      </p:sp>
      <p:sp>
        <p:nvSpPr>
          <p:cNvPr id="6861" name="Google Shape;6861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2" name="Google Shape;6862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3" name="Google Shape;6863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64" name="Google Shape;6864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5" name="Google Shape;6865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6" name="Google Shape;6866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7" name="Google Shape;6867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8" name="Google Shape;6868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9" name="Google Shape;6869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0" name="Google Shape;6870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71" name="Google Shape;6871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2" name="Google Shape;6872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3" name="Google Shape;6873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4" name="Google Shape;6874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5" name="Google Shape;6875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$-28,650</a:t>
            </a:r>
            <a:endParaRPr/>
          </a:p>
        </p:txBody>
      </p:sp>
      <p:sp>
        <p:nvSpPr>
          <p:cNvPr id="6876" name="Google Shape;6876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7" name="Google Shape;6877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78" name="Google Shape;6878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9" name="Google Shape;6879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0" name="Google Shape;6880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1" name="Google Shape;6881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2" name="Google Shape;6882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3" name="Google Shape;6883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4" name="Google Shape;6884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85" name="Google Shape;6885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6" name="Google Shape;6886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7" name="Google Shape;6887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8" name="Google Shape;6888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9" name="Google Shape;6889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0" name="Google Shape;6890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1" name="Google Shape;6891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92" name="Google Shape;6892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</a:t>
            </a:r>
            <a:endParaRPr/>
          </a:p>
        </p:txBody>
      </p:sp>
      <p:sp>
        <p:nvSpPr>
          <p:cNvPr id="6893" name="Google Shape;6893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4" name="Google Shape;6894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5" name="Google Shape;6895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</a:t>
            </a:r>
            <a:endParaRPr/>
          </a:p>
        </p:txBody>
      </p:sp>
      <p:sp>
        <p:nvSpPr>
          <p:cNvPr id="6896" name="Google Shape;6896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$-28,650</a:t>
            </a:r>
            <a:endParaRPr/>
          </a:p>
        </p:txBody>
      </p:sp>
      <p:sp>
        <p:nvSpPr>
          <p:cNvPr id="6897" name="Google Shape;6897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8" name="Google Shape;6898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99" name="Google Shape;6899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00" name="Google Shape;6900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01" name="Google Shape;6901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902" name="Google Shape;6902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903" name="Google Shape;6903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04" name="Google Shape;6904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05" name="Google Shape;6905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6" name="Google Shape;6906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07" name="Google Shape;6907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08" name="Google Shape;6908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9" name="Google Shape;6909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10" name="Google Shape;6910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11" name="Google Shape;6911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6912" name="Google Shape;6912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3" name="Google Shape;6913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14" name="Google Shape;6914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15" name="Google Shape;6915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6" name="Google Shape;6916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17" name="Google Shape;6917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8" name="Google Shape;6918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19" name="Google Shape;6919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0" name="Google Shape;6920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21" name="Google Shape;6921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22" name="Google Shape;6922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3" name="Google Shape;6923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24" name="Google Shape;6924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5" name="Google Shape;6925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26" name="Google Shape;6926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7" name="Google Shape;6927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29" name="Google Shape;6929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0" name="Google Shape;6930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31" name="Google Shape;6931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2" name="Google Shape;6932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33" name="Google Shape;6933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4" name="Google Shape;6934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35" name="Google Shape;6935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6" name="Google Shape;6936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7" name="Google Shape;6937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8" name="Google Shape;6938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9" name="Google Shape;6939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40" name="Google Shape;6940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1" name="Google Shape;6941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42" name="Google Shape;6942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943" name="Google Shape;6943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4" name="Google Shape;6944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945" name="Google Shape;6945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47" name="Google Shape;6947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8" name="Google Shape;6948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50" name="Google Shape;6950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51" name="Google Shape;6951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52" name="Google Shape;6952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53" name="Google Shape;6953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57" name="Google Shape;6957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58" name="Google Shape;6958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59" name="Google Shape;6959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60" name="Google Shape;6960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64" name="Google Shape;6964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65" name="Google Shape;6965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66" name="Google Shape;6966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67" name="Google Shape;6967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68" name="Google Shape;6968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71" name="Google Shape;6971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972" name="Google Shape;6972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3" name="Google Shape;6973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974" name="Google Shape;6974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6977" name="Google Shape;6977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6978" name="Google Shape;6978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979" name="Google Shape;6979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0" name="Google Shape;6980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$512</a:t>
            </a:r>
            <a:endParaRPr/>
          </a:p>
        </p:txBody>
      </p:sp>
      <p:sp>
        <p:nvSpPr>
          <p:cNvPr id="6981" name="Google Shape;6981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2" name="Google Shape;6982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</a:t>
            </a:r>
            <a:endParaRPr/>
          </a:p>
        </p:txBody>
      </p:sp>
      <p:sp>
        <p:nvSpPr>
          <p:cNvPr id="6985" name="Google Shape;6985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6" name="Google Shape;6986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$90K</a:t>
            </a:r>
            <a:endParaRPr/>
          </a:p>
        </p:txBody>
      </p:sp>
      <p:sp>
        <p:nvSpPr>
          <p:cNvPr id="6987" name="Google Shape;6987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6988" name="Google Shape;6988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9" name="Google Shape;6989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90" name="Google Shape;6990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91" name="Google Shape;6991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$25,506 YTD gross written premium</a:t>
            </a:r>
            <a:endParaRPr/>
          </a:p>
        </p:txBody>
      </p:sp>
      <p:sp>
        <p:nvSpPr>
          <p:cNvPr id="6992" name="Google Shape;6992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93" name="Google Shape;6993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6994" name="Google Shape;6994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5" name="Google Shape;6995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96" name="Google Shape;6996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97" name="Google Shape;6997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submissions with zero binds - zero conversion</a:t>
            </a:r>
            <a:endParaRPr/>
          </a:p>
        </p:txBody>
      </p:sp>
      <p:sp>
        <p:nvSpPr>
          <p:cNvPr id="6998" name="Google Shape;6998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99" name="Google Shape;6999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000" name="Google Shape;7000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1" name="Google Shape;7001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002" name="Google Shape;7002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003" name="Google Shape;7003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004" name="Google Shape;7004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005" name="Google Shape;7005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09" name="Shape 7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0" name="Google Shape;7010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1" name="Google Shape;7011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iTech Insurance Agency LLC</a:t>
            </a:r>
            <a:endParaRPr/>
          </a:p>
        </p:txBody>
      </p:sp>
      <p:sp>
        <p:nvSpPr>
          <p:cNvPr id="7012" name="Google Shape;7012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Fontana</a:t>
            </a:r>
            <a:endParaRPr/>
          </a:p>
        </p:txBody>
      </p:sp>
      <p:sp>
        <p:nvSpPr>
          <p:cNvPr id="7013" name="Google Shape;7013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014" name="Google Shape;7014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15" name="Google Shape;7015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16" name="Google Shape;7016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17" name="Google Shape;7017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18" name="Google Shape;7018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$55,287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19" name="Google Shape;7019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20" name="Google Shape;7020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21" name="Google Shape;7021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22" name="Google Shape;7022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23" name="Google Shape;7023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24" name="Google Shape;7024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25" name="Google Shape;7025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26" name="Google Shape;7026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7" name="Google Shape;7027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28" name="Google Shape;7028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29" name="Google Shape;7029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30" name="Google Shape;7030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31" name="Google Shape;7031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32" name="Google Shape;7032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33" name="Google Shape;7033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34" name="Google Shape;7034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5" name="Google Shape;7035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36" name="Google Shape;7036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7" name="Google Shape;7037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8" name="Google Shape;7038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9" name="Google Shape;7039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0" name="Google Shape;7040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1" name="Google Shape;7041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2" name="Google Shape;7042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43" name="Google Shape;7043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4" name="Google Shape;7044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5" name="Google Shape;7045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6" name="Google Shape;7046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7" name="Google Shape;7047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8" name="Google Shape;7048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9" name="Google Shape;7049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50" name="Google Shape;7050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</a:t>
            </a:r>
            <a:endParaRPr/>
          </a:p>
        </p:txBody>
      </p:sp>
      <p:sp>
        <p:nvSpPr>
          <p:cNvPr id="7051" name="Google Shape;7051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2" name="Google Shape;7052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</a:t>
            </a:r>
            <a:endParaRPr/>
          </a:p>
        </p:txBody>
      </p:sp>
      <p:sp>
        <p:nvSpPr>
          <p:cNvPr id="7053" name="Google Shape;7053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4" name="Google Shape;7054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5" name="Google Shape;7055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6" name="Google Shape;7056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57" name="Google Shape;7057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8" name="Google Shape;7058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9" name="Google Shape;7059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0" name="Google Shape;7060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1" name="Google Shape;7061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2" name="Google Shape;7062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3" name="Google Shape;7063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64" name="Google Shape;7064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5" name="Google Shape;7065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6" name="Google Shape;7066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7" name="Google Shape;7067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8" name="Google Shape;7068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69" name="Google Shape;7069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0" name="Google Shape;7070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71" name="Google Shape;7071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</a:t>
            </a:r>
            <a:endParaRPr/>
          </a:p>
        </p:txBody>
      </p:sp>
      <p:sp>
        <p:nvSpPr>
          <p:cNvPr id="7072" name="Google Shape;7072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3" name="Google Shape;7073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</a:t>
            </a:r>
            <a:endParaRPr/>
          </a:p>
        </p:txBody>
      </p:sp>
      <p:sp>
        <p:nvSpPr>
          <p:cNvPr id="7074" name="Google Shape;7074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5" name="Google Shape;7075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76" name="Google Shape;7076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7" name="Google Shape;7077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078" name="Google Shape;7078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79" name="Google Shape;7079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080" name="Google Shape;7080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081" name="Google Shape;7081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082" name="Google Shape;7082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83" name="Google Shape;7083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84" name="Google Shape;7084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5" name="Google Shape;7085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86" name="Google Shape;7086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87" name="Google Shape;7087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8" name="Google Shape;7088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89" name="Google Shape;7089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0" name="Google Shape;7090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91" name="Google Shape;7091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2" name="Google Shape;7092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93" name="Google Shape;7093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94" name="Google Shape;7094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95" name="Google Shape;7095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96" name="Google Shape;7096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7" name="Google Shape;7097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98" name="Google Shape;7098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9" name="Google Shape;7099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00" name="Google Shape;7100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1" name="Google Shape;7101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2" name="Google Shape;7102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3" name="Google Shape;7103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4" name="Google Shape;7104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05" name="Google Shape;7105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6" name="Google Shape;7106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07" name="Google Shape;7107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08" name="Google Shape;7108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9" name="Google Shape;7109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10" name="Google Shape;7110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11" name="Google Shape;7111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12" name="Google Shape;7112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3" name="Google Shape;7113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14" name="Google Shape;7114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15" name="Google Shape;7115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16" name="Google Shape;7116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17" name="Google Shape;7117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18" name="Google Shape;7118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19" name="Google Shape;7119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0" name="Google Shape;7120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21" name="Google Shape;7121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122" name="Google Shape;7122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3" name="Google Shape;7123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124" name="Google Shape;7124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26" name="Google Shape;7126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7" name="Google Shape;7127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28" name="Google Shape;7128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29" name="Google Shape;7129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30" name="Google Shape;7130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31" name="Google Shape;7131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34" name="Google Shape;7134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35" name="Google Shape;7135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36" name="Google Shape;7136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37" name="Google Shape;7137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38" name="Google Shape;7138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41" name="Google Shape;7141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42" name="Google Shape;7142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43" name="Google Shape;7143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44" name="Google Shape;7144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5" name="Google Shape;7145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46" name="Google Shape;7146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47" name="Google Shape;7147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8" name="Google Shape;7148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49" name="Google Shape;7149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50" name="Google Shape;7150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1" name="Google Shape;7151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52" name="Google Shape;7152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53" name="Google Shape;7153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55" name="Google Shape;7155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6" name="Google Shape;7156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7" name="Google Shape;7157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7158" name="Google Shape;7158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9" name="Google Shape;7159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2" name="Google Shape;7162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3" name="Google Shape;7163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4" name="Google Shape;7164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5" name="Google Shape;7165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7166" name="Google Shape;7166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7167" name="Google Shape;7167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8" name="Google Shape;7168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69" name="Google Shape;7169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70" name="Google Shape;7170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 YTD gross written premium</a:t>
            </a:r>
            <a:endParaRPr/>
          </a:p>
        </p:txBody>
      </p:sp>
      <p:sp>
        <p:nvSpPr>
          <p:cNvPr id="7171" name="Google Shape;7171;p4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72" name="Google Shape;7172;p4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$24,665 in renewals - strong retention</a:t>
            </a:r>
            <a:endParaRPr/>
          </a:p>
        </p:txBody>
      </p:sp>
      <p:sp>
        <p:nvSpPr>
          <p:cNvPr id="7173" name="Google Shape;7173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4" name="Google Shape;7174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175" name="Google Shape;7175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76" name="Google Shape;7176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7177" name="Google Shape;7177;p4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78" name="Google Shape;7178;p4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but 0 binds - follow up on pricing/coverage gaps</a:t>
            </a:r>
            <a:endParaRPr/>
          </a:p>
        </p:txBody>
      </p:sp>
      <p:sp>
        <p:nvSpPr>
          <p:cNvPr id="7179" name="Google Shape;7179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0" name="Google Shape;7180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181" name="Google Shape;7181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182" name="Google Shape;7182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86" name="Shape 7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7" name="Google Shape;7187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8" name="Google Shape;7188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Truckers Only Insurance Services, LLC</a:t>
            </a:r>
            <a:endParaRPr/>
          </a:p>
        </p:txBody>
      </p:sp>
      <p:sp>
        <p:nvSpPr>
          <p:cNvPr id="7189" name="Google Shape;7189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Downey</a:t>
            </a:r>
            <a:endParaRPr/>
          </a:p>
        </p:txBody>
      </p:sp>
      <p:sp>
        <p:nvSpPr>
          <p:cNvPr id="7190" name="Google Shape;7190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$24,428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191" name="Google Shape;7191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92" name="Google Shape;7192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93" name="Google Shape;7193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94" name="Google Shape;7194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95" name="Google Shape;7195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$59,338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196" name="Google Shape;7196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$83,766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197" name="Google Shape;7197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198" name="Google Shape;7198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99" name="Google Shape;7199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00" name="Google Shape;7200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01" name="Google Shape;7201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$73,308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202" name="Google Shape;7202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203" name="Google Shape;7203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4" name="Google Shape;7204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205" name="Google Shape;7205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06" name="Google Shape;7206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207" name="Google Shape;7207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08" name="Google Shape;7208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09" name="Google Shape;7209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10" name="Google Shape;7210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11" name="Google Shape;7211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2" name="Google Shape;7212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13" name="Google Shape;7213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4" name="Google Shape;7214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5" name="Google Shape;7215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6" name="Google Shape;7216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7" name="Google Shape;7217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8" name="Google Shape;7218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9" name="Google Shape;7219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20" name="Google Shape;7220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1" name="Google Shape;7221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2" name="Google Shape;7222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3" name="Google Shape;7223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4" name="Google Shape;7224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5" name="Google Shape;7225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6" name="Google Shape;7226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27" name="Google Shape;7227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$24,952</a:t>
            </a:r>
            <a:endParaRPr/>
          </a:p>
        </p:txBody>
      </p:sp>
      <p:sp>
        <p:nvSpPr>
          <p:cNvPr id="7228" name="Google Shape;7228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$15,629</a:t>
            </a:r>
            <a:endParaRPr/>
          </a:p>
        </p:txBody>
      </p:sp>
      <p:sp>
        <p:nvSpPr>
          <p:cNvPr id="7229" name="Google Shape;7229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0" name="Google Shape;7230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$9,323</a:t>
            </a:r>
            <a:endParaRPr/>
          </a:p>
        </p:txBody>
      </p:sp>
      <p:sp>
        <p:nvSpPr>
          <p:cNvPr id="7231" name="Google Shape;7231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2" name="Google Shape;7232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3" name="Google Shape;7233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34" name="Google Shape;7234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$-525</a:t>
            </a:r>
            <a:endParaRPr/>
          </a:p>
        </p:txBody>
      </p:sp>
      <p:sp>
        <p:nvSpPr>
          <p:cNvPr id="7235" name="Google Shape;7235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6" name="Google Shape;7236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7" name="Google Shape;7237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$-525</a:t>
            </a:r>
            <a:endParaRPr/>
          </a:p>
        </p:txBody>
      </p:sp>
      <p:sp>
        <p:nvSpPr>
          <p:cNvPr id="7238" name="Google Shape;7238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9" name="Google Shape;7239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0" name="Google Shape;7240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41" name="Google Shape;7241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2" name="Google Shape;7242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3" name="Google Shape;7243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4" name="Google Shape;7244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5" name="Google Shape;7245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46" name="Google Shape;7246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7" name="Google Shape;7247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48" name="Google Shape;7248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$24,428</a:t>
            </a:r>
            <a:endParaRPr/>
          </a:p>
        </p:txBody>
      </p:sp>
      <p:sp>
        <p:nvSpPr>
          <p:cNvPr id="7249" name="Google Shape;7249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$15,629</a:t>
            </a:r>
            <a:endParaRPr/>
          </a:p>
        </p:txBody>
      </p:sp>
      <p:sp>
        <p:nvSpPr>
          <p:cNvPr id="7250" name="Google Shape;7250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1" name="Google Shape;7251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$8,798</a:t>
            </a:r>
            <a:endParaRPr/>
          </a:p>
        </p:txBody>
      </p:sp>
      <p:sp>
        <p:nvSpPr>
          <p:cNvPr id="7252" name="Google Shape;7252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53" name="Google Shape;7253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4" name="Google Shape;7254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55" name="Google Shape;7255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56" name="Google Shape;7256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57" name="Google Shape;7257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58" name="Google Shape;7258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59" name="Google Shape;7259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60" name="Google Shape;7260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61" name="Google Shape;7261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2" name="Google Shape;7262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63" name="Google Shape;7263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64" name="Google Shape;7264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5" name="Google Shape;7265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66" name="Google Shape;7266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7" name="Google Shape;7267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68" name="Google Shape;7268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9" name="Google Shape;7269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70" name="Google Shape;7270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71" name="Google Shape;7271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72" name="Google Shape;7272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73" name="Google Shape;7273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74" name="Google Shape;7274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7275" name="Google Shape;7275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6" name="Google Shape;7276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77" name="Google Shape;7277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78" name="Google Shape;7278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9" name="Google Shape;7279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80" name="Google Shape;7280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81" name="Google Shape;7281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7282" name="Google Shape;7282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3" name="Google Shape;7283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84" name="Google Shape;7284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285" name="Google Shape;7285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86" name="Google Shape;7286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287" name="Google Shape;7287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88" name="Google Shape;7288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7289" name="Google Shape;7289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0" name="Google Shape;7290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91" name="Google Shape;7291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92" name="Google Shape;7292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93" name="Google Shape;7293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294" name="Google Shape;7294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95" name="Google Shape;7295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96" name="Google Shape;7296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7" name="Google Shape;7297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300" name="Google Shape;7300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301" name="Google Shape;7301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02" name="Google Shape;7302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7303" name="Google Shape;7303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4" name="Google Shape;7304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305" name="Google Shape;7305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306" name="Google Shape;7306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307" name="Google Shape;7307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308" name="Google Shape;7308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309" name="Google Shape;7309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310" name="Google Shape;7310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311" name="Google Shape;7311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312" name="Google Shape;7312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314" name="Google Shape;7314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315" name="Google Shape;7315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316" name="Google Shape;7316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317" name="Google Shape;7317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318" name="Google Shape;7318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21" name="Google Shape;7321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2" name="Google Shape;7322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323" name="Google Shape;7323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4" name="Google Shape;7324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325" name="Google Shape;7325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6" name="Google Shape;7326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327" name="Google Shape;7327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28" name="Google Shape;7328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329" name="Google Shape;7329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30" name="Google Shape;7330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7331" name="Google Shape;7331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32" name="Google Shape;7332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3" name="Google Shape;7333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4" name="Google Shape;7334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39" name="Google Shape;7339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$-525</a:t>
            </a:r>
            <a:endParaRPr/>
          </a:p>
        </p:txBody>
      </p:sp>
      <p:sp>
        <p:nvSpPr>
          <p:cNvPr id="7340" name="Google Shape;7340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1" name="Google Shape;7341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2" name="Google Shape;7342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3" name="Google Shape;7343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7344" name="Google Shape;7344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5" name="Google Shape;7345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46" name="Google Shape;7346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47" name="Google Shape;7347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$24,428 YTD gross written premium</a:t>
            </a:r>
            <a:endParaRPr/>
          </a:p>
        </p:txBody>
      </p:sp>
      <p:sp>
        <p:nvSpPr>
          <p:cNvPr id="7348" name="Google Shape;7348;p4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49" name="Google Shape;7349;p4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$15,629 in new business production</a:t>
            </a:r>
            <a:endParaRPr/>
          </a:p>
        </p:txBody>
      </p:sp>
      <p:sp>
        <p:nvSpPr>
          <p:cNvPr id="7350" name="Google Shape;7350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1" name="Google Shape;7351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52" name="Google Shape;7352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53" name="Google Shape;7353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102% month-over-month</a:t>
            </a:r>
            <a:endParaRPr/>
          </a:p>
        </p:txBody>
      </p:sp>
      <p:sp>
        <p:nvSpPr>
          <p:cNvPr id="7354" name="Google Shape;7354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5" name="Google Shape;7355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56" name="Google Shape;7356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57" name="Google Shape;7357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$15,629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7358" name="Google Shape;7358;p4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359" name="Google Shape;7359;p4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63" name="Shape 7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4" name="Google Shape;7364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5" name="Google Shape;7365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Auto Solutions Insurance Services LLC</a:t>
            </a:r>
            <a:endParaRPr/>
          </a:p>
        </p:txBody>
      </p:sp>
      <p:sp>
        <p:nvSpPr>
          <p:cNvPr id="7366" name="Google Shape;7366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Pomona</a:t>
            </a:r>
            <a:endParaRPr/>
          </a:p>
        </p:txBody>
      </p:sp>
      <p:sp>
        <p:nvSpPr>
          <p:cNvPr id="7367" name="Google Shape;7367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68" name="Google Shape;7368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69" name="Google Shape;7369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70" name="Google Shape;7370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71" name="Google Shape;7371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72" name="Google Shape;7372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$63,607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73" name="Google Shape;7373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74" name="Google Shape;7374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75" name="Google Shape;7375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76" name="Google Shape;7376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77" name="Google Shape;7377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78" name="Google Shape;7378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379" name="Google Shape;7379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380" name="Google Shape;7380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1" name="Google Shape;7381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382" name="Google Shape;7382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83" name="Google Shape;7383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384" name="Google Shape;7384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85" name="Google Shape;7385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86" name="Google Shape;7386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87" name="Google Shape;7387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88" name="Google Shape;7388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9" name="Google Shape;7389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90" name="Google Shape;7390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1" name="Google Shape;7391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2" name="Google Shape;7392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3" name="Google Shape;7393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4" name="Google Shape;7394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5" name="Google Shape;7395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6" name="Google Shape;7396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97" name="Google Shape;7397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</a:t>
            </a:r>
            <a:endParaRPr/>
          </a:p>
        </p:txBody>
      </p:sp>
      <p:sp>
        <p:nvSpPr>
          <p:cNvPr id="7398" name="Google Shape;7398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</a:t>
            </a:r>
            <a:endParaRPr/>
          </a:p>
        </p:txBody>
      </p:sp>
      <p:sp>
        <p:nvSpPr>
          <p:cNvPr id="7399" name="Google Shape;7399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0" name="Google Shape;7400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1" name="Google Shape;7401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2" name="Google Shape;7402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3" name="Google Shape;7403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04" name="Google Shape;7404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5" name="Google Shape;7405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6" name="Google Shape;7406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7" name="Google Shape;7407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8" name="Google Shape;7408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9" name="Google Shape;7409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0" name="Google Shape;7410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11" name="Google Shape;7411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2" name="Google Shape;7412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3" name="Google Shape;7413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4" name="Google Shape;7414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5" name="Google Shape;7415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6" name="Google Shape;7416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7" name="Google Shape;7417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18" name="Google Shape;7418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9" name="Google Shape;7419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0" name="Google Shape;7420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1" name="Google Shape;7421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2" name="Google Shape;7422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3" name="Google Shape;7423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4" name="Google Shape;7424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25" name="Google Shape;7425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</a:t>
            </a:r>
            <a:endParaRPr/>
          </a:p>
        </p:txBody>
      </p:sp>
      <p:sp>
        <p:nvSpPr>
          <p:cNvPr id="7426" name="Google Shape;7426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</a:t>
            </a:r>
            <a:endParaRPr/>
          </a:p>
        </p:txBody>
      </p:sp>
      <p:sp>
        <p:nvSpPr>
          <p:cNvPr id="7427" name="Google Shape;7427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8" name="Google Shape;7428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9" name="Google Shape;7429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0" name="Google Shape;7430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1" name="Google Shape;7431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32" name="Google Shape;7432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33" name="Google Shape;7433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34" name="Google Shape;7434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35" name="Google Shape;7435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36" name="Google Shape;7436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37" name="Google Shape;7437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38" name="Google Shape;7438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9" name="Google Shape;7439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40" name="Google Shape;7440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41" name="Google Shape;7441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2" name="Google Shape;7442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43" name="Google Shape;7443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4" name="Google Shape;7444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45" name="Google Shape;7445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6" name="Google Shape;7446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47" name="Google Shape;7447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48" name="Google Shape;7448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9" name="Google Shape;7449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50" name="Google Shape;7450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1" name="Google Shape;7451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52" name="Google Shape;7452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3" name="Google Shape;7453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54" name="Google Shape;7454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55" name="Google Shape;7455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6" name="Google Shape;7456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57" name="Google Shape;7457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8" name="Google Shape;7458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59" name="Google Shape;7459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0" name="Google Shape;7460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61" name="Google Shape;7461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62" name="Google Shape;7462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63" name="Google Shape;7463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64" name="Google Shape;7464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65" name="Google Shape;7465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66" name="Google Shape;7466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7" name="Google Shape;7467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68" name="Google Shape;7468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69" name="Google Shape;7469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70" name="Google Shape;7470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471" name="Google Shape;7471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2" name="Google Shape;7472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73" name="Google Shape;7473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4" name="Google Shape;7474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76" name="Google Shape;7476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77" name="Google Shape;7477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478" name="Google Shape;7478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9" name="Google Shape;7479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80" name="Google Shape;7480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1" name="Google Shape;7481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483" name="Google Shape;7483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484" name="Google Shape;7484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485" name="Google Shape;7485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486" name="Google Shape;7486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487" name="Google Shape;7487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490" name="Google Shape;7490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491" name="Google Shape;7491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492" name="Google Shape;7492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493" name="Google Shape;7493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494" name="Google Shape;7494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497" name="Google Shape;7497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98" name="Google Shape;7498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499" name="Google Shape;7499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00" name="Google Shape;7500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501" name="Google Shape;7501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04" name="Google Shape;7504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505" name="Google Shape;7505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507" name="Google Shape;7507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08" name="Google Shape;7508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509" name="Google Shape;7509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510" name="Google Shape;7510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1" name="Google Shape;7511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4" name="Google Shape;7514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5" name="Google Shape;7515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6" name="Google Shape;7516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7" name="Google Shape;7517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7518" name="Google Shape;7518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9" name="Google Shape;7519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7520" name="Google Shape;7520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521" name="Google Shape;7521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2" name="Google Shape;7522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23" name="Google Shape;7523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24" name="Google Shape;7524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 YTD gross written premium</a:t>
            </a:r>
            <a:endParaRPr/>
          </a:p>
        </p:txBody>
      </p:sp>
      <p:sp>
        <p:nvSpPr>
          <p:cNvPr id="7525" name="Google Shape;7525;p4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26" name="Google Shape;7526;p4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$22,820 in new business production</a:t>
            </a:r>
            <a:endParaRPr/>
          </a:p>
        </p:txBody>
      </p:sp>
      <p:sp>
        <p:nvSpPr>
          <p:cNvPr id="7527" name="Google Shape;7527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8" name="Google Shape;7528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29" name="Google Shape;7529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30" name="Google Shape;7530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submissions with zero binds - zero conversion</a:t>
            </a:r>
            <a:endParaRPr/>
          </a:p>
        </p:txBody>
      </p:sp>
      <p:sp>
        <p:nvSpPr>
          <p:cNvPr id="7531" name="Google Shape;7531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32" name="Google Shape;7532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quotes but 0 binds - follow up on pricing/coverage gaps</a:t>
            </a:r>
            <a:endParaRPr/>
          </a:p>
        </p:txBody>
      </p:sp>
      <p:sp>
        <p:nvSpPr>
          <p:cNvPr id="7533" name="Google Shape;7533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4" name="Google Shape;7534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35" name="Google Shape;7535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36" name="Google Shape;7536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13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537" name="Google Shape;7537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$22,820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42" name="Shape 7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3" name="Google Shape;7543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4" name="Google Shape;7544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Eway Insurance Services</a:t>
            </a:r>
            <a:endParaRPr/>
          </a:p>
        </p:txBody>
      </p:sp>
      <p:sp>
        <p:nvSpPr>
          <p:cNvPr id="7545" name="Google Shape;7545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California  |  City: Los Angeles</a:t>
            </a:r>
            <a:endParaRPr/>
          </a:p>
        </p:txBody>
      </p:sp>
      <p:sp>
        <p:nvSpPr>
          <p:cNvPr id="7546" name="Google Shape;7546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47" name="Google Shape;7547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48" name="Google Shape;7548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49" name="Google Shape;7549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50" name="Google Shape;7550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$-22,568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51" name="Google Shape;7551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$61,330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52" name="Google Shape;7552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$53,139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53" name="Google Shape;7553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54" name="Google Shape;7554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55" name="Google Shape;7555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56" name="Google Shape;7556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57" name="Google Shape;7557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58" name="Google Shape;7558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59" name="Google Shape;7559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0" name="Google Shape;7560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61" name="Google Shape;7561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62" name="Google Shape;7562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63" name="Google Shape;7563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64" name="Google Shape;7564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65" name="Google Shape;7565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66" name="Google Shape;7566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67" name="Google Shape;7567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8" name="Google Shape;7568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69" name="Google Shape;7569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</a:t>
            </a:r>
            <a:endParaRPr/>
          </a:p>
        </p:txBody>
      </p:sp>
      <p:sp>
        <p:nvSpPr>
          <p:cNvPr id="7570" name="Google Shape;7570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1" name="Google Shape;7571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2" name="Google Shape;7572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</a:t>
            </a:r>
            <a:endParaRPr/>
          </a:p>
        </p:txBody>
      </p:sp>
      <p:sp>
        <p:nvSpPr>
          <p:cNvPr id="7573" name="Google Shape;7573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$-22,568</a:t>
            </a:r>
            <a:endParaRPr/>
          </a:p>
        </p:txBody>
      </p:sp>
      <p:sp>
        <p:nvSpPr>
          <p:cNvPr id="7574" name="Google Shape;7574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5" name="Google Shape;7575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76" name="Google Shape;7576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7" name="Google Shape;7577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8" name="Google Shape;7578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9" name="Google Shape;7579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0" name="Google Shape;7580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1" name="Google Shape;7581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2" name="Google Shape;7582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83" name="Google Shape;7583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4" name="Google Shape;7584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5" name="Google Shape;7585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6" name="Google Shape;7586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7" name="Google Shape;7587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8" name="Google Shape;7588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9" name="Google Shape;7589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90" name="Google Shape;7590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1" name="Google Shape;7591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2" name="Google Shape;7592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3" name="Google Shape;7593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4" name="Google Shape;7594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5" name="Google Shape;7595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6" name="Google Shape;7596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97" name="Google Shape;7597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8" name="Google Shape;7598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99" name="Google Shape;7599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0" name="Google Shape;7600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1" name="Google Shape;7601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2" name="Google Shape;7602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3" name="Google Shape;7603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04" name="Google Shape;7604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</a:t>
            </a:r>
            <a:endParaRPr/>
          </a:p>
        </p:txBody>
      </p:sp>
      <p:sp>
        <p:nvSpPr>
          <p:cNvPr id="7605" name="Google Shape;7605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6" name="Google Shape;7606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07" name="Google Shape;7607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</a:t>
            </a:r>
            <a:endParaRPr/>
          </a:p>
        </p:txBody>
      </p:sp>
      <p:sp>
        <p:nvSpPr>
          <p:cNvPr id="7608" name="Google Shape;7608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$-22,568</a:t>
            </a:r>
            <a:endParaRPr/>
          </a:p>
        </p:txBody>
      </p:sp>
      <p:sp>
        <p:nvSpPr>
          <p:cNvPr id="7609" name="Google Shape;7609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0" name="Google Shape;7610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611" name="Google Shape;7611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12" name="Google Shape;7612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613" name="Google Shape;7613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614" name="Google Shape;7614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615" name="Google Shape;7615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16" name="Google Shape;7616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17" name="Google Shape;7617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8" name="Google Shape;7618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19" name="Google Shape;7619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0" name="Google Shape;7620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1" name="Google Shape;7621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2" name="Google Shape;7622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3" name="Google Shape;7623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4" name="Google Shape;7624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5" name="Google Shape;7625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26" name="Google Shape;7626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27" name="Google Shape;7627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8" name="Google Shape;7628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29" name="Google Shape;7629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30" name="Google Shape;7630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31" name="Google Shape;7631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2" name="Google Shape;7632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33" name="Google Shape;7633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4" name="Google Shape;7634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35" name="Google Shape;7635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6" name="Google Shape;7636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37" name="Google Shape;7637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38" name="Google Shape;7638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9" name="Google Shape;7639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40" name="Google Shape;7640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41" name="Google Shape;7641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42" name="Google Shape;7642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43" name="Google Shape;7643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44" name="Google Shape;7644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45" name="Google Shape;7645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6" name="Google Shape;7646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47" name="Google Shape;7647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48" name="Google Shape;7648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49" name="Google Shape;7649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0" name="Google Shape;7650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1" name="Google Shape;7651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52" name="Google Shape;7652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3" name="Google Shape;7653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54" name="Google Shape;7654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56" name="Google Shape;7656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657" name="Google Shape;7657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8" name="Google Shape;7658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59" name="Google Shape;7659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0" name="Google Shape;7660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61" name="Google Shape;7661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62" name="Google Shape;7662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63" name="Google Shape;7663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64" name="Google Shape;7664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65" name="Google Shape;7665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66" name="Google Shape;7666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67" name="Google Shape;7667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68" name="Google Shape;7668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70" name="Google Shape;7670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72" name="Google Shape;7672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73" name="Google Shape;7673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74" name="Google Shape;7674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75" name="Google Shape;7675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76" name="Google Shape;7676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77" name="Google Shape;7677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78" name="Google Shape;7678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79" name="Google Shape;7679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80" name="Google Shape;7680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81" name="Google Shape;7681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2" name="Google Shape;7682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83" name="Google Shape;7683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84" name="Google Shape;7684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85" name="Google Shape;7685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686" name="Google Shape;7686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7689" name="Google Shape;7689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690" name="Google Shape;7690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1" name="Google Shape;7691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2" name="Google Shape;7692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3" name="Google Shape;7693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4" name="Google Shape;7694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5" name="Google Shape;7695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6" name="Google Shape;7696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7" name="Google Shape;7697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8" name="Google Shape;7698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7699" name="Google Shape;7699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7700" name="Google Shape;7700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1" name="Google Shape;7701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702" name="Google Shape;7702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03" name="Google Shape;7703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$22,568 YTD gross written premium</a:t>
            </a:r>
            <a:endParaRPr/>
          </a:p>
        </p:txBody>
      </p:sp>
      <p:sp>
        <p:nvSpPr>
          <p:cNvPr id="7704" name="Google Shape;7704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705" name="Google Shape;7705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7706" name="Google Shape;7706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7" name="Google Shape;7707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708" name="Google Shape;7708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09" name="Google Shape;7709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submissions with zero binds - zero conversion</a:t>
            </a:r>
            <a:endParaRPr/>
          </a:p>
        </p:txBody>
      </p:sp>
      <p:sp>
        <p:nvSpPr>
          <p:cNvPr id="7710" name="Google Shape;7710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711" name="Google Shape;7711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but 0 binds - follow up on pricing/coverage gaps</a:t>
            </a:r>
            <a:endParaRPr/>
          </a:p>
        </p:txBody>
      </p:sp>
      <p:sp>
        <p:nvSpPr>
          <p:cNvPr id="7712" name="Google Shape;7712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3" name="Google Shape;7713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714" name="Google Shape;7714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715" name="Google Shape;7715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19" name="Shape 7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0" name="Google Shape;7720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1" name="Google Shape;7721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America Insurance Inc.</a:t>
            </a:r>
            <a:endParaRPr/>
          </a:p>
        </p:txBody>
      </p:sp>
      <p:sp>
        <p:nvSpPr>
          <p:cNvPr id="7722" name="Google Shape;7722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  |  City: Yucca Valley</a:t>
            </a:r>
            <a:endParaRPr/>
          </a:p>
        </p:txBody>
      </p:sp>
      <p:sp>
        <p:nvSpPr>
          <p:cNvPr id="7723" name="Google Shape;7723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724" name="Google Shape;7724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25" name="Google Shape;7725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26" name="Google Shape;7726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27" name="Google Shape;7727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28" name="Google Shape;7728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$243,794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729" name="Google Shape;7729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$90,623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730" name="Google Shape;7730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731" name="Google Shape;7731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32" name="Google Shape;7732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33" name="Google Shape;7733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34" name="Google Shape;7734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735" name="Google Shape;7735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$38,496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736" name="Google Shape;7736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7" name="Google Shape;7737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738" name="Google Shape;7738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39" name="Google Shape;7739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740" name="Google Shape;7740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41" name="Google Shape;7741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42" name="Google Shape;7742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43" name="Google Shape;7743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44" name="Google Shape;7744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5" name="Google Shape;7745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46" name="Google Shape;7746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7" name="Google Shape;7747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8" name="Google Shape;7748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9" name="Google Shape;7749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0" name="Google Shape;7750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1" name="Google Shape;7751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2" name="Google Shape;7752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53" name="Google Shape;7753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$19,518</a:t>
            </a:r>
            <a:endParaRPr/>
          </a:p>
        </p:txBody>
      </p:sp>
      <p:sp>
        <p:nvSpPr>
          <p:cNvPr id="7754" name="Google Shape;7754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5" name="Google Shape;7755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$19,576</a:t>
            </a:r>
            <a:endParaRPr/>
          </a:p>
        </p:txBody>
      </p:sp>
      <p:sp>
        <p:nvSpPr>
          <p:cNvPr id="7756" name="Google Shape;7756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</a:t>
            </a:r>
            <a:endParaRPr/>
          </a:p>
        </p:txBody>
      </p:sp>
      <p:sp>
        <p:nvSpPr>
          <p:cNvPr id="7757" name="Google Shape;7757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8" name="Google Shape;7758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9" name="Google Shape;7759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60" name="Google Shape;7760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1" name="Google Shape;7761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2" name="Google Shape;7762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3" name="Google Shape;7763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4" name="Google Shape;7764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5" name="Google Shape;7765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6" name="Google Shape;7766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67" name="Google Shape;7767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8" name="Google Shape;7768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69" name="Google Shape;7769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0" name="Google Shape;7770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1" name="Google Shape;7771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2" name="Google Shape;7772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3" name="Google Shape;7773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74" name="Google Shape;7774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5" name="Google Shape;7775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6" name="Google Shape;7776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7" name="Google Shape;7777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8" name="Google Shape;7778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79" name="Google Shape;7779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0" name="Google Shape;7780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81" name="Google Shape;7781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$19,518</a:t>
            </a:r>
            <a:endParaRPr/>
          </a:p>
        </p:txBody>
      </p:sp>
      <p:sp>
        <p:nvSpPr>
          <p:cNvPr id="7782" name="Google Shape;7782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3" name="Google Shape;7783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$19,576</a:t>
            </a:r>
            <a:endParaRPr/>
          </a:p>
        </p:txBody>
      </p:sp>
      <p:sp>
        <p:nvSpPr>
          <p:cNvPr id="7784" name="Google Shape;7784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</a:t>
            </a:r>
            <a:endParaRPr/>
          </a:p>
        </p:txBody>
      </p:sp>
      <p:sp>
        <p:nvSpPr>
          <p:cNvPr id="7785" name="Google Shape;7785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86" name="Google Shape;7786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7" name="Google Shape;7787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88" name="Google Shape;7788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89" name="Google Shape;7789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90" name="Google Shape;7790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91" name="Google Shape;7791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92" name="Google Shape;7792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93" name="Google Shape;7793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94" name="Google Shape;7794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5" name="Google Shape;7795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96" name="Google Shape;7796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97" name="Google Shape;7797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98" name="Google Shape;7798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99" name="Google Shape;7799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0" name="Google Shape;7800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1" name="Google Shape;7801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2" name="Google Shape;7802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803" name="Google Shape;7803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04" name="Google Shape;7804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5" name="Google Shape;7805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06" name="Google Shape;7806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7" name="Google Shape;7807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7808" name="Google Shape;7808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9" name="Google Shape;7809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810" name="Google Shape;7810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11" name="Google Shape;7811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12" name="Google Shape;7812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13" name="Google Shape;7813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14" name="Google Shape;7814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15" name="Google Shape;7815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6" name="Google Shape;7816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817" name="Google Shape;7817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18" name="Google Shape;7818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19" name="Google Shape;7819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20" name="Google Shape;7820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1" name="Google Shape;7821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22" name="Google Shape;7822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3" name="Google Shape;7823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24" name="Google Shape;7824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5" name="Google Shape;7825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6" name="Google Shape;7826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7" name="Google Shape;7827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8" name="Google Shape;7828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29" name="Google Shape;7829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0" name="Google Shape;7830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31" name="Google Shape;7831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832" name="Google Shape;7832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33" name="Google Shape;7833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834" name="Google Shape;7834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35" name="Google Shape;7835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7836" name="Google Shape;7836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7" name="Google Shape;7837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838" name="Google Shape;7838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839" name="Google Shape;7839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840" name="Google Shape;7840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841" name="Google Shape;7841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842" name="Google Shape;7842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843" name="Google Shape;7843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844" name="Google Shape;7844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845" name="Google Shape;7845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846" name="Google Shape;7846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847" name="Google Shape;7847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848" name="Google Shape;7848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849" name="Google Shape;7849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850" name="Google Shape;7850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51" name="Google Shape;7851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52" name="Google Shape;7852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853" name="Google Shape;7853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54" name="Google Shape;7854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855" name="Google Shape;7855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56" name="Google Shape;7856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857" name="Google Shape;7857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8" name="Google Shape;7858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59" name="Google Shape;7859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60" name="Google Shape;7860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61" name="Google Shape;7861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62" name="Google Shape;7862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863" name="Google Shape;7863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864" name="Google Shape;7864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65" name="Google Shape;7865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66" name="Google Shape;7866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67" name="Google Shape;7867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7868" name="Google Shape;7868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7869" name="Google Shape;7869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7870" name="Google Shape;7870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1" name="Google Shape;7871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2" name="Google Shape;7872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3" name="Google Shape;7873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7874" name="Google Shape;7874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5" name="Google Shape;7875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$173K</a:t>
            </a:r>
            <a:endParaRPr/>
          </a:p>
        </p:txBody>
      </p:sp>
      <p:sp>
        <p:nvSpPr>
          <p:cNvPr id="7876" name="Google Shape;7876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7877" name="Google Shape;7877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8" name="Google Shape;7878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879" name="Google Shape;7879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80" name="Google Shape;7880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$19,518 YTD gross written premium</a:t>
            </a:r>
            <a:endParaRPr/>
          </a:p>
        </p:txBody>
      </p:sp>
      <p:sp>
        <p:nvSpPr>
          <p:cNvPr id="7881" name="Google Shape;7881;p5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82" name="Google Shape;7882;p5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$19,576 in renewals - strong retention</a:t>
            </a:r>
            <a:endParaRPr/>
          </a:p>
        </p:txBody>
      </p:sp>
      <p:sp>
        <p:nvSpPr>
          <p:cNvPr id="7883" name="Google Shape;7883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4" name="Google Shape;7884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885" name="Google Shape;7885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86" name="Google Shape;7886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887" name="Google Shape;7887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8" name="Google Shape;7888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89" name="Google Shape;7889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90" name="Google Shape;7890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891" name="Google Shape;7891;p5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892" name="Google Shape;7892;p5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96" name="Shape 7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7" name="Google Shape;7897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8" name="Google Shape;7898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Divine Insurance Agency Inc</a:t>
            </a:r>
            <a:endParaRPr/>
          </a:p>
        </p:txBody>
      </p:sp>
      <p:sp>
        <p:nvSpPr>
          <p:cNvPr id="7899" name="Google Shape;7899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Southwest  |  State: California  |  City: Fresno</a:t>
            </a:r>
            <a:endParaRPr/>
          </a:p>
        </p:txBody>
      </p:sp>
      <p:sp>
        <p:nvSpPr>
          <p:cNvPr id="7900" name="Google Shape;7900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901" name="Google Shape;7901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02" name="Google Shape;7902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03" name="Google Shape;7903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04" name="Google Shape;7904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$-19,341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05" name="Google Shape;7905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906" name="Google Shape;7906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$153,078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907" name="Google Shape;7907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908" name="Google Shape;7908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909" name="Google Shape;7909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10" name="Google Shape;7910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11" name="Google Shape;7911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912" name="Google Shape;7912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913" name="Google Shape;7913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4" name="Google Shape;7914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915" name="Google Shape;7915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16" name="Google Shape;7916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917" name="Google Shape;7917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918" name="Google Shape;7918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919" name="Google Shape;7919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920" name="Google Shape;7920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921" name="Google Shape;7921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2" name="Google Shape;7922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23" name="Google Shape;7923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</a:t>
            </a:r>
            <a:endParaRPr/>
          </a:p>
        </p:txBody>
      </p:sp>
      <p:sp>
        <p:nvSpPr>
          <p:cNvPr id="7924" name="Google Shape;7924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</a:t>
            </a:r>
            <a:endParaRPr/>
          </a:p>
        </p:txBody>
      </p:sp>
      <p:sp>
        <p:nvSpPr>
          <p:cNvPr id="7925" name="Google Shape;7925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6" name="Google Shape;7926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7" name="Google Shape;7927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$-19,341</a:t>
            </a:r>
            <a:endParaRPr/>
          </a:p>
        </p:txBody>
      </p:sp>
      <p:sp>
        <p:nvSpPr>
          <p:cNvPr id="7928" name="Google Shape;7928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9" name="Google Shape;7929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30" name="Google Shape;7930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1" name="Google Shape;7931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2" name="Google Shape;7932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3" name="Google Shape;7933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4" name="Google Shape;7934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5" name="Google Shape;7935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6" name="Google Shape;7936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37" name="Google Shape;7937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8" name="Google Shape;7938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9" name="Google Shape;7939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0" name="Google Shape;7940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1" name="Google Shape;7941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2" name="Google Shape;7942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3" name="Google Shape;7943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44" name="Google Shape;7944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5" name="Google Shape;7945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6" name="Google Shape;7946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7" name="Google Shape;7947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8" name="Google Shape;7948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49" name="Google Shape;7949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0" name="Google Shape;7950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51" name="Google Shape;7951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2" name="Google Shape;7952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3" name="Google Shape;7953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4" name="Google Shape;7954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5" name="Google Shape;7955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56" name="Google Shape;7956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7" name="Google Shape;7957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58" name="Google Shape;7958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</a:t>
            </a:r>
            <a:endParaRPr/>
          </a:p>
        </p:txBody>
      </p:sp>
      <p:sp>
        <p:nvSpPr>
          <p:cNvPr id="7959" name="Google Shape;7959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</a:t>
            </a:r>
            <a:endParaRPr/>
          </a:p>
        </p:txBody>
      </p:sp>
      <p:sp>
        <p:nvSpPr>
          <p:cNvPr id="7960" name="Google Shape;7960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1" name="Google Shape;7961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62" name="Google Shape;7962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$-19,341</a:t>
            </a:r>
            <a:endParaRPr/>
          </a:p>
        </p:txBody>
      </p:sp>
      <p:sp>
        <p:nvSpPr>
          <p:cNvPr id="7963" name="Google Shape;7963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4" name="Google Shape;7964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965" name="Google Shape;7965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66" name="Google Shape;7966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967" name="Google Shape;7967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968" name="Google Shape;7968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969" name="Google Shape;7969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70" name="Google Shape;7970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71" name="Google Shape;7971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2" name="Google Shape;7972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73" name="Google Shape;7973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974" name="Google Shape;7974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75" name="Google Shape;7975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76" name="Google Shape;7976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7" name="Google Shape;7977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7978" name="Google Shape;7978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9" name="Google Shape;7979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80" name="Google Shape;7980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981" name="Google Shape;7981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82" name="Google Shape;7982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983" name="Google Shape;7983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84" name="Google Shape;7984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7985" name="Google Shape;7985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6" name="Google Shape;7986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87" name="Google Shape;7987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88" name="Google Shape;7988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9" name="Google Shape;7989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0" name="Google Shape;7990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1" name="Google Shape;7991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92" name="Google Shape;7992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3" name="Google Shape;7993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94" name="Google Shape;7994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5" name="Google Shape;7995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6" name="Google Shape;7996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7" name="Google Shape;7997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8" name="Google Shape;7998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99" name="Google Shape;7999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0" name="Google Shape;8000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001" name="Google Shape;8001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2" name="Google Shape;8002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3" name="Google Shape;8003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4" name="Google Shape;8004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5" name="Google Shape;8005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06" name="Google Shape;8006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7" name="Google Shape;8007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008" name="Google Shape;8008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009" name="Google Shape;8009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10" name="Google Shape;8010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011" name="Google Shape;8011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2" name="Google Shape;8012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13" name="Google Shape;8013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4" name="Google Shape;8014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015" name="Google Shape;8015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016" name="Google Shape;8016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017" name="Google Shape;8017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018" name="Google Shape;8018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019" name="Google Shape;8019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020" name="Google Shape;8020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021" name="Google Shape;8021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022" name="Google Shape;8022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023" name="Google Shape;8023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024" name="Google Shape;8024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025" name="Google Shape;8025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026" name="Google Shape;8026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027" name="Google Shape;8027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028" name="Google Shape;8028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29" name="Google Shape;8029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030" name="Google Shape;8030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031" name="Google Shape;8031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32" name="Google Shape;8032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033" name="Google Shape;8033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34" name="Google Shape;8034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35" name="Google Shape;8035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6" name="Google Shape;8036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37" name="Google Shape;8037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8" name="Google Shape;8038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39" name="Google Shape;8039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040" name="Google Shape;8040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041" name="Google Shape;8041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42" name="Google Shape;8042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8043" name="Google Shape;8043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8044" name="Google Shape;8044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$307</a:t>
            </a:r>
            <a:endParaRPr/>
          </a:p>
        </p:txBody>
      </p:sp>
      <p:sp>
        <p:nvSpPr>
          <p:cNvPr id="8045" name="Google Shape;8045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6" name="Google Shape;8046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7" name="Google Shape;8047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8" name="Google Shape;8048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49" name="Google Shape;8049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50" name="Google Shape;8050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51" name="Google Shape;8051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52" name="Google Shape;8052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8053" name="Google Shape;8053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8054" name="Google Shape;8054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5" name="Google Shape;8055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56" name="Google Shape;8056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57" name="Google Shape;8057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 YTD gross written premium</a:t>
            </a:r>
            <a:endParaRPr/>
          </a:p>
        </p:txBody>
      </p:sp>
      <p:sp>
        <p:nvSpPr>
          <p:cNvPr id="8058" name="Google Shape;8058;p5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59" name="Google Shape;8059;p5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$19,341 in new business production</a:t>
            </a:r>
            <a:endParaRPr/>
          </a:p>
        </p:txBody>
      </p:sp>
      <p:sp>
        <p:nvSpPr>
          <p:cNvPr id="8060" name="Google Shape;8060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1" name="Google Shape;8061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62" name="Google Shape;8062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63" name="Google Shape;8063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with zero binds - zero conversion</a:t>
            </a:r>
            <a:endParaRPr/>
          </a:p>
        </p:txBody>
      </p:sp>
      <p:sp>
        <p:nvSpPr>
          <p:cNvPr id="8064" name="Google Shape;8064;p5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65" name="Google Shape;8065;p5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($19,341)</a:t>
            </a:r>
            <a:endParaRPr/>
          </a:p>
        </p:txBody>
      </p:sp>
      <p:sp>
        <p:nvSpPr>
          <p:cNvPr id="8066" name="Google Shape;8066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7" name="Google Shape;8067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068" name="Google Shape;8068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069" name="Google Shape;8069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21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070" name="Google Shape;8070;p5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071" name="Google Shape;8071;p5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$19,341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75" name="Shape 8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6" name="Google Shape;8076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7" name="Google Shape;8077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Pacific Coast Insurance Services Inc</a:t>
            </a:r>
            <a:endParaRPr/>
          </a:p>
        </p:txBody>
      </p:sp>
      <p:sp>
        <p:nvSpPr>
          <p:cNvPr id="8078" name="Google Shape;8078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South Gate</a:t>
            </a:r>
            <a:endParaRPr/>
          </a:p>
        </p:txBody>
      </p:sp>
      <p:sp>
        <p:nvSpPr>
          <p:cNvPr id="8079" name="Google Shape;8079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080" name="Google Shape;8080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81" name="Google Shape;8081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82" name="Google Shape;8082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83" name="Google Shape;8083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$-3,687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84" name="Google Shape;8084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$124,092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085" name="Google Shape;8085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086" name="Google Shape;8086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087" name="Google Shape;8087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88" name="Google Shape;8088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89" name="Google Shape;8089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90" name="Google Shape;8090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091" name="Google Shape;8091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092" name="Google Shape;8092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3" name="Google Shape;8093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094" name="Google Shape;8094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95" name="Google Shape;8095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096" name="Google Shape;8096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97" name="Google Shape;8097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98" name="Google Shape;8098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99" name="Google Shape;8099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100" name="Google Shape;8100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1" name="Google Shape;8101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02" name="Google Shape;8102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</a:t>
            </a:r>
            <a:endParaRPr/>
          </a:p>
        </p:txBody>
      </p:sp>
      <p:sp>
        <p:nvSpPr>
          <p:cNvPr id="8103" name="Google Shape;8103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4" name="Google Shape;8104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5" name="Google Shape;8105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</a:t>
            </a:r>
            <a:endParaRPr/>
          </a:p>
        </p:txBody>
      </p:sp>
      <p:sp>
        <p:nvSpPr>
          <p:cNvPr id="8106" name="Google Shape;8106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7" name="Google Shape;8107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8" name="Google Shape;8108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09" name="Google Shape;8109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0" name="Google Shape;8110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1" name="Google Shape;8111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2" name="Google Shape;8112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3" name="Google Shape;8113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4" name="Google Shape;8114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5" name="Google Shape;8115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16" name="Google Shape;8116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7" name="Google Shape;8117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8" name="Google Shape;8118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9" name="Google Shape;8119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0" name="Google Shape;8120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1" name="Google Shape;8121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2" name="Google Shape;8122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23" name="Google Shape;8123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4" name="Google Shape;8124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5" name="Google Shape;8125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6" name="Google Shape;8126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27" name="Google Shape;8127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$-3,687</a:t>
            </a:r>
            <a:endParaRPr/>
          </a:p>
        </p:txBody>
      </p:sp>
      <p:sp>
        <p:nvSpPr>
          <p:cNvPr id="8128" name="Google Shape;8128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9" name="Google Shape;8129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30" name="Google Shape;8130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$26,806</a:t>
            </a:r>
            <a:endParaRPr/>
          </a:p>
        </p:txBody>
      </p:sp>
      <p:sp>
        <p:nvSpPr>
          <p:cNvPr id="8131" name="Google Shape;8131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$26,806</a:t>
            </a:r>
            <a:endParaRPr/>
          </a:p>
        </p:txBody>
      </p:sp>
      <p:sp>
        <p:nvSpPr>
          <p:cNvPr id="8132" name="Google Shape;8132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3" name="Google Shape;8133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4" name="Google Shape;8134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35" name="Google Shape;8135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6" name="Google Shape;8136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37" name="Google Shape;8137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$19,168</a:t>
            </a:r>
            <a:endParaRPr/>
          </a:p>
        </p:txBody>
      </p:sp>
      <p:sp>
        <p:nvSpPr>
          <p:cNvPr id="8138" name="Google Shape;8138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$26,806</a:t>
            </a:r>
            <a:endParaRPr/>
          </a:p>
        </p:txBody>
      </p:sp>
      <p:sp>
        <p:nvSpPr>
          <p:cNvPr id="8139" name="Google Shape;8139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40" name="Google Shape;8140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</a:t>
            </a:r>
            <a:endParaRPr/>
          </a:p>
        </p:txBody>
      </p:sp>
      <p:sp>
        <p:nvSpPr>
          <p:cNvPr id="8141" name="Google Shape;8141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$-3,687</a:t>
            </a:r>
            <a:endParaRPr/>
          </a:p>
        </p:txBody>
      </p:sp>
      <p:sp>
        <p:nvSpPr>
          <p:cNvPr id="8142" name="Google Shape;8142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3" name="Google Shape;8143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44" name="Google Shape;8144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45" name="Google Shape;8145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46" name="Google Shape;8146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47" name="Google Shape;8147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48" name="Google Shape;8148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49" name="Google Shape;8149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50" name="Google Shape;8150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1" name="Google Shape;8151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52" name="Google Shape;8152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153" name="Google Shape;8153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4" name="Google Shape;8154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155" name="Google Shape;8155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56" name="Google Shape;8156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8157" name="Google Shape;8157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8" name="Google Shape;8158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59" name="Google Shape;8159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60" name="Google Shape;8160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1" name="Google Shape;8161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62" name="Google Shape;8162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3" name="Google Shape;8163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64" name="Google Shape;8164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5" name="Google Shape;8165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66" name="Google Shape;8166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67" name="Google Shape;8167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8" name="Google Shape;8168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69" name="Google Shape;8169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70" name="Google Shape;8170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71" name="Google Shape;8171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2" name="Google Shape;8172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73" name="Google Shape;8173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174" name="Google Shape;8174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75" name="Google Shape;8175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176" name="Google Shape;8176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77" name="Google Shape;8177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78" name="Google Shape;8178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9" name="Google Shape;8179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80" name="Google Shape;8180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181" name="Google Shape;8181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82" name="Google Shape;8182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83" name="Google Shape;8183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84" name="Google Shape;8184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8185" name="Google Shape;8185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6" name="Google Shape;8186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87" name="Google Shape;8187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8188" name="Google Shape;8188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189" name="Google Shape;8189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8190" name="Google Shape;8190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91" name="Google Shape;8191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8192" name="Google Shape;8192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3" name="Google Shape;8193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194" name="Google Shape;8194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195" name="Google Shape;8195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196" name="Google Shape;8196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197" name="Google Shape;8197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198" name="Google Shape;8198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199" name="Google Shape;8199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200" name="Google Shape;8200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201" name="Google Shape;8201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202" name="Google Shape;8202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203" name="Google Shape;8203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204" name="Google Shape;8204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205" name="Google Shape;8205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206" name="Google Shape;8206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207" name="Google Shape;8207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08" name="Google Shape;8208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209" name="Google Shape;8209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210" name="Google Shape;8210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211" name="Google Shape;8211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212" name="Google Shape;8212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213" name="Google Shape;8213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14" name="Google Shape;8214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215" name="Google Shape;8215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216" name="Google Shape;8216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217" name="Google Shape;8217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218" name="Google Shape;8218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8219" name="Google Shape;8219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8220" name="Google Shape;8220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221" name="Google Shape;8221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2" name="Google Shape;8222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$-7,638</a:t>
            </a:r>
            <a:endParaRPr/>
          </a:p>
        </p:txBody>
      </p:sp>
      <p:sp>
        <p:nvSpPr>
          <p:cNvPr id="8223" name="Google Shape;8223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8224" name="Google Shape;8224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5" name="Google Shape;8225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8226" name="Google Shape;8226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7" name="Google Shape;8227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8228" name="Google Shape;8228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29" name="Google Shape;8229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$338</a:t>
            </a:r>
            <a:endParaRPr/>
          </a:p>
        </p:txBody>
      </p:sp>
      <p:sp>
        <p:nvSpPr>
          <p:cNvPr id="8230" name="Google Shape;8230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8231" name="Google Shape;8231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8232" name="Google Shape;8232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8233" name="Google Shape;8233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4" name="Google Shape;8234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35" name="Google Shape;8235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36" name="Google Shape;8236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$19,168 YTD gross written premium</a:t>
            </a:r>
            <a:endParaRPr/>
          </a:p>
        </p:txBody>
      </p:sp>
      <p:sp>
        <p:nvSpPr>
          <p:cNvPr id="8237" name="Google Shape;8237;p5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38" name="Google Shape;8238;p5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$26,806 in new business production</a:t>
            </a:r>
            <a:endParaRPr/>
          </a:p>
        </p:txBody>
      </p:sp>
      <p:sp>
        <p:nvSpPr>
          <p:cNvPr id="8239" name="Google Shape;8239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0" name="Google Shape;8240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41" name="Google Shape;8241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42" name="Google Shape;8242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8243" name="Google Shape;8243;p5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44" name="Google Shape;8244;p5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8245" name="Google Shape;8245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6" name="Google Shape;8246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47" name="Google Shape;8247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48" name="Google Shape;8248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$26,806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52" name="Shape 8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3" name="Google Shape;8253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4" name="Google Shape;8254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Tajalli Co.</a:t>
            </a:r>
            <a:endParaRPr/>
          </a:p>
        </p:txBody>
      </p:sp>
      <p:sp>
        <p:nvSpPr>
          <p:cNvPr id="8255" name="Google Shape;8255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Newport Beach</a:t>
            </a:r>
            <a:endParaRPr/>
          </a:p>
        </p:txBody>
      </p:sp>
      <p:sp>
        <p:nvSpPr>
          <p:cNvPr id="8256" name="Google Shape;8256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57" name="Google Shape;8257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58" name="Google Shape;8258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59" name="Google Shape;8259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60" name="Google Shape;8260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61" name="Google Shape;8261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$19,799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62" name="Google Shape;8262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63" name="Google Shape;8263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64" name="Google Shape;8264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65" name="Google Shape;8265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66" name="Google Shape;8266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67" name="Google Shape;8267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68" name="Google Shape;8268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269" name="Google Shape;8269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0" name="Google Shape;8270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271" name="Google Shape;8271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72" name="Google Shape;8272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273" name="Google Shape;8273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74" name="Google Shape;8274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75" name="Google Shape;8275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76" name="Google Shape;8276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77" name="Google Shape;8277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8" name="Google Shape;8278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79" name="Google Shape;8279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0" name="Google Shape;8280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1" name="Google Shape;8281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2" name="Google Shape;8282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3" name="Google Shape;8283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4" name="Google Shape;8284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5" name="Google Shape;8285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86" name="Google Shape;8286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7" name="Google Shape;8287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8" name="Google Shape;8288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9" name="Google Shape;8289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0" name="Google Shape;8290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1" name="Google Shape;8291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2" name="Google Shape;8292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93" name="Google Shape;8293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4" name="Google Shape;8294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5" name="Google Shape;8295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6" name="Google Shape;8296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7" name="Google Shape;8297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8" name="Google Shape;8298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9" name="Google Shape;8299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00" name="Google Shape;8300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1" name="Google Shape;8301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2" name="Google Shape;8302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3" name="Google Shape;8303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4" name="Google Shape;8304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5" name="Google Shape;8305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6" name="Google Shape;8306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07" name="Google Shape;8307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</a:t>
            </a:r>
            <a:endParaRPr/>
          </a:p>
        </p:txBody>
      </p:sp>
      <p:sp>
        <p:nvSpPr>
          <p:cNvPr id="8308" name="Google Shape;8308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</a:t>
            </a:r>
            <a:endParaRPr/>
          </a:p>
        </p:txBody>
      </p:sp>
      <p:sp>
        <p:nvSpPr>
          <p:cNvPr id="8309" name="Google Shape;8309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0" name="Google Shape;8310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1" name="Google Shape;8311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2" name="Google Shape;8312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3" name="Google Shape;8313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14" name="Google Shape;8314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</a:t>
            </a:r>
            <a:endParaRPr/>
          </a:p>
        </p:txBody>
      </p:sp>
      <p:sp>
        <p:nvSpPr>
          <p:cNvPr id="8315" name="Google Shape;8315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</a:t>
            </a:r>
            <a:endParaRPr/>
          </a:p>
        </p:txBody>
      </p:sp>
      <p:sp>
        <p:nvSpPr>
          <p:cNvPr id="8316" name="Google Shape;8316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7" name="Google Shape;8317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8" name="Google Shape;8318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9" name="Google Shape;8319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0" name="Google Shape;8320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321" name="Google Shape;8321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22" name="Google Shape;8322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323" name="Google Shape;8323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324" name="Google Shape;8324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325" name="Google Shape;8325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326" name="Google Shape;8326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27" name="Google Shape;8327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8" name="Google Shape;8328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29" name="Google Shape;8329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30" name="Google Shape;8330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1" name="Google Shape;8331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32" name="Google Shape;8332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3" name="Google Shape;8333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34" name="Google Shape;8334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5" name="Google Shape;8335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36" name="Google Shape;8336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37" name="Google Shape;8337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8" name="Google Shape;8338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39" name="Google Shape;8339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0" name="Google Shape;8340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41" name="Google Shape;8341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2" name="Google Shape;8342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43" name="Google Shape;8343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44" name="Google Shape;8344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5" name="Google Shape;8345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46" name="Google Shape;8346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7" name="Google Shape;8347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48" name="Google Shape;8348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9" name="Google Shape;8349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50" name="Google Shape;8350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51" name="Google Shape;8351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2" name="Google Shape;8352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53" name="Google Shape;8353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4" name="Google Shape;8354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55" name="Google Shape;8355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6" name="Google Shape;8356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57" name="Google Shape;8357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58" name="Google Shape;8358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9" name="Google Shape;8359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60" name="Google Shape;8360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61" name="Google Shape;8361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8362" name="Google Shape;8362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3" name="Google Shape;8363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64" name="Google Shape;8364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365" name="Google Shape;8365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6" name="Google Shape;8366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367" name="Google Shape;8367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68" name="Google Shape;8368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8369" name="Google Shape;8369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0" name="Google Shape;8370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371" name="Google Shape;8371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372" name="Google Shape;8372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373" name="Google Shape;8373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374" name="Google Shape;8374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375" name="Google Shape;8375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376" name="Google Shape;8376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377" name="Google Shape;8377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378" name="Google Shape;8378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379" name="Google Shape;8379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380" name="Google Shape;8380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381" name="Google Shape;8381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382" name="Google Shape;8382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383" name="Google Shape;8383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384" name="Google Shape;8384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85" name="Google Shape;8385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86" name="Google Shape;8386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87" name="Google Shape;8387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88" name="Google Shape;8388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89" name="Google Shape;8389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90" name="Google Shape;8390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91" name="Google Shape;8391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92" name="Google Shape;8392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93" name="Google Shape;8393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94" name="Google Shape;8394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395" name="Google Shape;8395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396" name="Google Shape;8396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397" name="Google Shape;8397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398" name="Google Shape;8398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99" name="Google Shape;8399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0" name="Google Shape;8400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1" name="Google Shape;8401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2" name="Google Shape;8402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3" name="Google Shape;8403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4" name="Google Shape;8404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5" name="Google Shape;8405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6" name="Google Shape;8406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7" name="Google Shape;8407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8408" name="Google Shape;8408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9" name="Google Shape;8409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8410" name="Google Shape;8410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1" name="Google Shape;8411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412" name="Google Shape;8412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13" name="Google Shape;8413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 YTD gross written premium</a:t>
            </a:r>
            <a:endParaRPr/>
          </a:p>
        </p:txBody>
      </p:sp>
      <p:sp>
        <p:nvSpPr>
          <p:cNvPr id="8414" name="Google Shape;8414;p5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15" name="Google Shape;8415;p5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$18,894 in new business production</a:t>
            </a:r>
            <a:endParaRPr/>
          </a:p>
        </p:txBody>
      </p:sp>
      <p:sp>
        <p:nvSpPr>
          <p:cNvPr id="8416" name="Google Shape;8416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7" name="Google Shape;8417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418" name="Google Shape;8418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19" name="Google Shape;8419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8420" name="Google Shape;8420;p5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21" name="Google Shape;8421;p5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8422" name="Google Shape;8422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3" name="Google Shape;8423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424" name="Google Shape;8424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425" name="Google Shape;8425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$18,894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29" name="Shape 8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0" name="Google Shape;8430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1" name="Google Shape;8431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Best California Financial Llc</a:t>
            </a:r>
            <a:endParaRPr/>
          </a:p>
        </p:txBody>
      </p:sp>
      <p:sp>
        <p:nvSpPr>
          <p:cNvPr id="8432" name="Google Shape;8432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Orange</a:t>
            </a:r>
            <a:endParaRPr/>
          </a:p>
        </p:txBody>
      </p:sp>
      <p:sp>
        <p:nvSpPr>
          <p:cNvPr id="8433" name="Google Shape;8433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34" name="Google Shape;8434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35" name="Google Shape;8435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36" name="Google Shape;8436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37" name="Google Shape;8437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38" name="Google Shape;8438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39" name="Google Shape;8439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40" name="Google Shape;8440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41" name="Google Shape;8441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42" name="Google Shape;8442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43" name="Google Shape;8443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44" name="Google Shape;8444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45" name="Google Shape;8445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46" name="Google Shape;8446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7" name="Google Shape;8447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48" name="Google Shape;8448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49" name="Google Shape;8449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50" name="Google Shape;8450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51" name="Google Shape;8451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52" name="Google Shape;8452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53" name="Google Shape;8453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54" name="Google Shape;8454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5" name="Google Shape;8455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56" name="Google Shape;8456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</a:t>
            </a:r>
            <a:endParaRPr/>
          </a:p>
        </p:txBody>
      </p:sp>
      <p:sp>
        <p:nvSpPr>
          <p:cNvPr id="8457" name="Google Shape;8457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8" name="Google Shape;8458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9" name="Google Shape;8459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</a:t>
            </a:r>
            <a:endParaRPr/>
          </a:p>
        </p:txBody>
      </p:sp>
      <p:sp>
        <p:nvSpPr>
          <p:cNvPr id="8460" name="Google Shape;8460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$-576</a:t>
            </a:r>
            <a:endParaRPr/>
          </a:p>
        </p:txBody>
      </p:sp>
      <p:sp>
        <p:nvSpPr>
          <p:cNvPr id="8461" name="Google Shape;8461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2" name="Google Shape;8462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63" name="Google Shape;8463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4" name="Google Shape;8464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5" name="Google Shape;8465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6" name="Google Shape;8466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7" name="Google Shape;8467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8" name="Google Shape;8468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9" name="Google Shape;8469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70" name="Google Shape;8470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1" name="Google Shape;8471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2" name="Google Shape;8472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3" name="Google Shape;8473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4" name="Google Shape;8474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5" name="Google Shape;8475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6" name="Google Shape;8476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77" name="Google Shape;8477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$16,465</a:t>
            </a:r>
            <a:endParaRPr/>
          </a:p>
        </p:txBody>
      </p:sp>
      <p:sp>
        <p:nvSpPr>
          <p:cNvPr id="8478" name="Google Shape;8478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$15,915</a:t>
            </a:r>
            <a:endParaRPr/>
          </a:p>
        </p:txBody>
      </p:sp>
      <p:sp>
        <p:nvSpPr>
          <p:cNvPr id="8479" name="Google Shape;8479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8480" name="Google Shape;8480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1" name="Google Shape;8481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2" name="Google Shape;8482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3" name="Google Shape;8483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84" name="Google Shape;8484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5" name="Google Shape;8485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6" name="Google Shape;8486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7" name="Google Shape;8487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8" name="Google Shape;8488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9" name="Google Shape;8489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0" name="Google Shape;8490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491" name="Google Shape;8491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$16,753</a:t>
            </a:r>
            <a:endParaRPr/>
          </a:p>
        </p:txBody>
      </p:sp>
      <p:sp>
        <p:nvSpPr>
          <p:cNvPr id="8492" name="Google Shape;8492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$15,915</a:t>
            </a:r>
            <a:endParaRPr/>
          </a:p>
        </p:txBody>
      </p:sp>
      <p:sp>
        <p:nvSpPr>
          <p:cNvPr id="8493" name="Google Shape;8493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8494" name="Google Shape;8494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</a:t>
            </a:r>
            <a:endParaRPr/>
          </a:p>
        </p:txBody>
      </p:sp>
      <p:sp>
        <p:nvSpPr>
          <p:cNvPr id="8495" name="Google Shape;8495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$-576</a:t>
            </a:r>
            <a:endParaRPr/>
          </a:p>
        </p:txBody>
      </p:sp>
      <p:sp>
        <p:nvSpPr>
          <p:cNvPr id="8496" name="Google Shape;8496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7" name="Google Shape;8497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498" name="Google Shape;8498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99" name="Google Shape;8499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500" name="Google Shape;8500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501" name="Google Shape;8501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502" name="Google Shape;8502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03" name="Google Shape;8503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04" name="Google Shape;8504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5" name="Google Shape;8505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506" name="Google Shape;8506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07" name="Google Shape;8507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08" name="Google Shape;8508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09" name="Google Shape;8509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10" name="Google Shape;8510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511" name="Google Shape;8511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2" name="Google Shape;8512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513" name="Google Shape;8513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514" name="Google Shape;8514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5" name="Google Shape;8515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516" name="Google Shape;8516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7" name="Google Shape;8517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18" name="Google Shape;8518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9" name="Google Shape;8519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20" name="Google Shape;8520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21" name="Google Shape;8521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2" name="Google Shape;8522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23" name="Google Shape;8523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4" name="Google Shape;8524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25" name="Google Shape;8525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6" name="Google Shape;8526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27" name="Google Shape;8527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28" name="Google Shape;8528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9" name="Google Shape;8529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30" name="Google Shape;8530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1" name="Google Shape;8531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8532" name="Google Shape;8532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3" name="Google Shape;8533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34" name="Google Shape;8534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35" name="Google Shape;8535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6" name="Google Shape;8536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37" name="Google Shape;8537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8" name="Google Shape;8538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39" name="Google Shape;8539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0" name="Google Shape;8540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41" name="Google Shape;8541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542" name="Google Shape;8542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3" name="Google Shape;8543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544" name="Google Shape;8544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45" name="Google Shape;8545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8546" name="Google Shape;8546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7" name="Google Shape;8547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548" name="Google Shape;8548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49" name="Google Shape;8549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50" name="Google Shape;8550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51" name="Google Shape;8551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52" name="Google Shape;8552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53" name="Google Shape;8553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54" name="Google Shape;8554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55" name="Google Shape;8555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56" name="Google Shape;8556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57" name="Google Shape;8557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58" name="Google Shape;8558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59" name="Google Shape;8559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560" name="Google Shape;8560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561" name="Google Shape;8561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62" name="Google Shape;8562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63" name="Google Shape;8563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64" name="Google Shape;8564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65" name="Google Shape;8565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566" name="Google Shape;8566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67" name="Google Shape;8567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68" name="Google Shape;8568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69" name="Google Shape;8569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70" name="Google Shape;8570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71" name="Google Shape;8571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72" name="Google Shape;8572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573" name="Google Shape;8573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574" name="Google Shape;8574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575" name="Google Shape;8575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6" name="Google Shape;8576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</a:t>
            </a:r>
            <a:endParaRPr/>
          </a:p>
        </p:txBody>
      </p:sp>
      <p:sp>
        <p:nvSpPr>
          <p:cNvPr id="8577" name="Google Shape;8577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8578" name="Google Shape;8578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79" name="Google Shape;8579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0" name="Google Shape;8580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1" name="Google Shape;8581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8582" name="Google Shape;8582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583" name="Google Shape;8583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4" name="Google Shape;8584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85" name="Google Shape;8585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8586" name="Google Shape;8586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8587" name="Google Shape;8587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8" name="Google Shape;8588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589" name="Google Shape;8589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90" name="Google Shape;8590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$16,753 YTD gross written premium</a:t>
            </a:r>
            <a:endParaRPr/>
          </a:p>
        </p:txBody>
      </p:sp>
      <p:sp>
        <p:nvSpPr>
          <p:cNvPr id="8591" name="Google Shape;8591;p5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92" name="Google Shape;8592;p5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$15,915 in new business production</a:t>
            </a:r>
            <a:endParaRPr/>
          </a:p>
        </p:txBody>
      </p:sp>
      <p:sp>
        <p:nvSpPr>
          <p:cNvPr id="8593" name="Google Shape;8593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4" name="Google Shape;8594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595" name="Google Shape;8595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96" name="Google Shape;8596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8597" name="Google Shape;8597;p5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98" name="Google Shape;8598;p5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8599" name="Google Shape;8599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0" name="Google Shape;8600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601" name="Google Shape;8601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602" name="Google Shape;8602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$15,915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8603" name="Google Shape;8603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604" name="Google Shape;8604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08" name="Shape 8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9" name="Google Shape;8609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0" name="Google Shape;8610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Nevada Insurance Inc</a:t>
            </a:r>
            <a:endParaRPr/>
          </a:p>
        </p:txBody>
      </p:sp>
      <p:sp>
        <p:nvSpPr>
          <p:cNvPr id="8611" name="Google Shape;8611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NV  |  City: Las Vegas</a:t>
            </a:r>
            <a:endParaRPr/>
          </a:p>
        </p:txBody>
      </p:sp>
      <p:sp>
        <p:nvSpPr>
          <p:cNvPr id="8612" name="Google Shape;8612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613" name="Google Shape;8613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14" name="Google Shape;8614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15" name="Google Shape;8615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16" name="Google Shape;8616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17" name="Google Shape;8617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$99,535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618" name="Google Shape;8618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619" name="Google Shape;8619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620" name="Google Shape;8620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621" name="Google Shape;8621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22" name="Google Shape;8622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23" name="Google Shape;8623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624" name="Google Shape;8624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625" name="Google Shape;8625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6" name="Google Shape;8626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627" name="Google Shape;8627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28" name="Google Shape;8628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629" name="Google Shape;8629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30" name="Google Shape;8630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31" name="Google Shape;8631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32" name="Google Shape;8632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33" name="Google Shape;8633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4" name="Google Shape;8634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35" name="Google Shape;8635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6" name="Google Shape;8636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7" name="Google Shape;8637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8" name="Google Shape;8638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9" name="Google Shape;8639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0" name="Google Shape;8640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1" name="Google Shape;8641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42" name="Google Shape;8642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$5,612</a:t>
            </a:r>
            <a:endParaRPr/>
          </a:p>
        </p:txBody>
      </p:sp>
      <p:sp>
        <p:nvSpPr>
          <p:cNvPr id="8643" name="Google Shape;8643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4" name="Google Shape;8644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5" name="Google Shape;8645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$5,612</a:t>
            </a:r>
            <a:endParaRPr/>
          </a:p>
        </p:txBody>
      </p:sp>
      <p:sp>
        <p:nvSpPr>
          <p:cNvPr id="8646" name="Google Shape;8646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7" name="Google Shape;8647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8" name="Google Shape;8648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49" name="Google Shape;8649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$9,991</a:t>
            </a:r>
            <a:endParaRPr/>
          </a:p>
        </p:txBody>
      </p:sp>
      <p:sp>
        <p:nvSpPr>
          <p:cNvPr id="8650" name="Google Shape;8650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1" name="Google Shape;8651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2" name="Google Shape;8652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$9,991</a:t>
            </a:r>
            <a:endParaRPr/>
          </a:p>
        </p:txBody>
      </p:sp>
      <p:sp>
        <p:nvSpPr>
          <p:cNvPr id="8653" name="Google Shape;8653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$-9,991</a:t>
            </a:r>
            <a:endParaRPr/>
          </a:p>
        </p:txBody>
      </p:sp>
      <p:sp>
        <p:nvSpPr>
          <p:cNvPr id="8654" name="Google Shape;8654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5" name="Google Shape;8655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56" name="Google Shape;8656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7" name="Google Shape;8657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8" name="Google Shape;8658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59" name="Google Shape;8659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0" name="Google Shape;8660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$-8,147</a:t>
            </a:r>
            <a:endParaRPr/>
          </a:p>
        </p:txBody>
      </p:sp>
      <p:sp>
        <p:nvSpPr>
          <p:cNvPr id="8661" name="Google Shape;8661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2" name="Google Shape;8662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63" name="Google Shape;8663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4" name="Google Shape;8664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5" name="Google Shape;8665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6" name="Google Shape;8666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7" name="Google Shape;8667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8" name="Google Shape;8668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9" name="Google Shape;8669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70" name="Google Shape;8670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$15,602</a:t>
            </a:r>
            <a:endParaRPr/>
          </a:p>
        </p:txBody>
      </p:sp>
      <p:sp>
        <p:nvSpPr>
          <p:cNvPr id="8671" name="Google Shape;8671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2" name="Google Shape;8672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3" name="Google Shape;8673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$15,602</a:t>
            </a:r>
            <a:endParaRPr/>
          </a:p>
        </p:txBody>
      </p:sp>
      <p:sp>
        <p:nvSpPr>
          <p:cNvPr id="8674" name="Google Shape;8674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$-18,138</a:t>
            </a:r>
            <a:endParaRPr/>
          </a:p>
        </p:txBody>
      </p:sp>
      <p:sp>
        <p:nvSpPr>
          <p:cNvPr id="8675" name="Google Shape;8675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6" name="Google Shape;8676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677" name="Google Shape;8677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78" name="Google Shape;8678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679" name="Google Shape;8679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680" name="Google Shape;8680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681" name="Google Shape;8681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82" name="Google Shape;8682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83" name="Google Shape;8683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4" name="Google Shape;8684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85" name="Google Shape;8685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86" name="Google Shape;8686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7" name="Google Shape;8687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88" name="Google Shape;8688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89" name="Google Shape;8689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8690" name="Google Shape;8690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1" name="Google Shape;8691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92" name="Google Shape;8692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93" name="Google Shape;8693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4" name="Google Shape;8694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95" name="Google Shape;8695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6" name="Google Shape;8696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97" name="Google Shape;8697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8" name="Google Shape;8698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99" name="Google Shape;8699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00" name="Google Shape;8700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01" name="Google Shape;8701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02" name="Google Shape;8702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03" name="Google Shape;8703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8704" name="Google Shape;8704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5" name="Google Shape;8705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06" name="Google Shape;8706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07" name="Google Shape;8707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08" name="Google Shape;8708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09" name="Google Shape;8709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0" name="Google Shape;8710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11" name="Google Shape;8711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2" name="Google Shape;8712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713" name="Google Shape;8713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14" name="Google Shape;8714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5" name="Google Shape;8715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16" name="Google Shape;8716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7" name="Google Shape;8717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18" name="Google Shape;8718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9" name="Google Shape;8719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20" name="Google Shape;8720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721" name="Google Shape;8721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2" name="Google Shape;8722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723" name="Google Shape;8723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4" name="Google Shape;8724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25" name="Google Shape;8725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6" name="Google Shape;8726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727" name="Google Shape;8727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728" name="Google Shape;8728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729" name="Google Shape;8729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730" name="Google Shape;8730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731" name="Google Shape;8731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732" name="Google Shape;8732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33" name="Google Shape;8733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34" name="Google Shape;8734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35" name="Google Shape;8735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36" name="Google Shape;8736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37" name="Google Shape;8737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38" name="Google Shape;8738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739" name="Google Shape;8739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740" name="Google Shape;8740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41" name="Google Shape;8741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8742" name="Google Shape;8742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43" name="Google Shape;8743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744" name="Google Shape;8744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45" name="Google Shape;8745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46" name="Google Shape;8746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747" name="Google Shape;8747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48" name="Google Shape;8748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49" name="Google Shape;8749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750" name="Google Shape;8750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51" name="Google Shape;8751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8752" name="Google Shape;8752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753" name="Google Shape;8753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54" name="Google Shape;8754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8755" name="Google Shape;8755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56" name="Google Shape;8756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$-10,786</a:t>
            </a:r>
            <a:endParaRPr/>
          </a:p>
        </p:txBody>
      </p:sp>
      <p:sp>
        <p:nvSpPr>
          <p:cNvPr id="8757" name="Google Shape;8757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8758" name="Google Shape;8758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8759" name="Google Shape;8759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8760" name="Google Shape;8760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</a:t>
            </a:r>
            <a:endParaRPr/>
          </a:p>
        </p:txBody>
      </p:sp>
      <p:sp>
        <p:nvSpPr>
          <p:cNvPr id="8761" name="Google Shape;8761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2" name="Google Shape;8762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8763" name="Google Shape;8763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64" name="Google Shape;8764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8765" name="Google Shape;8765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766" name="Google Shape;8766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7" name="Google Shape;8767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768" name="Google Shape;8768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69" name="Google Shape;8769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$15,602 YTD gross written premium</a:t>
            </a:r>
            <a:endParaRPr/>
          </a:p>
        </p:txBody>
      </p:sp>
      <p:sp>
        <p:nvSpPr>
          <p:cNvPr id="8770" name="Google Shape;8770;p5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71" name="Google Shape;8771;p5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8772" name="Google Shape;8772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3" name="Google Shape;8773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774" name="Google Shape;8774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75" name="Google Shape;8775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submissions with zero binds - zero conversion</a:t>
            </a:r>
            <a:endParaRPr/>
          </a:p>
        </p:txBody>
      </p:sp>
      <p:sp>
        <p:nvSpPr>
          <p:cNvPr id="8776" name="Google Shape;8776;p5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77" name="Google Shape;8777;p5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8778" name="Google Shape;8778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9" name="Google Shape;8779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780" name="Google Shape;8780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781" name="Google Shape;8781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782" name="Google Shape;8782;p5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783" name="Google Shape;8783;p5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87" name="Shape 8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8" name="Google Shape;8788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9" name="Google Shape;8789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Mm&amp;j Insurance Services</a:t>
            </a:r>
            <a:endParaRPr/>
          </a:p>
        </p:txBody>
      </p:sp>
      <p:sp>
        <p:nvSpPr>
          <p:cNvPr id="8790" name="Google Shape;8790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Palmdale</a:t>
            </a:r>
            <a:endParaRPr/>
          </a:p>
        </p:txBody>
      </p:sp>
      <p:sp>
        <p:nvSpPr>
          <p:cNvPr id="8791" name="Google Shape;8791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792" name="Google Shape;8792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93" name="Google Shape;8793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94" name="Google Shape;8794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95" name="Google Shape;8795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96" name="Google Shape;8796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$115,873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797" name="Google Shape;8797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798" name="Google Shape;8798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799" name="Google Shape;8799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00" name="Google Shape;8800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01" name="Google Shape;8801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02" name="Google Shape;8802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803" name="Google Shape;8803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804" name="Google Shape;8804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5" name="Google Shape;8805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806" name="Google Shape;8806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07" name="Google Shape;8807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808" name="Google Shape;8808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09" name="Google Shape;8809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10" name="Google Shape;8810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11" name="Google Shape;8811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12" name="Google Shape;8812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3" name="Google Shape;8813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14" name="Google Shape;8814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5" name="Google Shape;8815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6" name="Google Shape;8816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7" name="Google Shape;8817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8" name="Google Shape;8818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9" name="Google Shape;8819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0" name="Google Shape;8820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21" name="Google Shape;8821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2" name="Google Shape;8822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3" name="Google Shape;8823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4" name="Google Shape;8824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5" name="Google Shape;8825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6" name="Google Shape;8826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7" name="Google Shape;8827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28" name="Google Shape;8828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$2,985</a:t>
            </a:r>
            <a:endParaRPr/>
          </a:p>
        </p:txBody>
      </p:sp>
      <p:sp>
        <p:nvSpPr>
          <p:cNvPr id="8829" name="Google Shape;8829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0" name="Google Shape;8830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1" name="Google Shape;8831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$2,985</a:t>
            </a:r>
            <a:endParaRPr/>
          </a:p>
        </p:txBody>
      </p:sp>
      <p:sp>
        <p:nvSpPr>
          <p:cNvPr id="8832" name="Google Shape;8832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$-2,273</a:t>
            </a:r>
            <a:endParaRPr/>
          </a:p>
        </p:txBody>
      </p:sp>
      <p:sp>
        <p:nvSpPr>
          <p:cNvPr id="8833" name="Google Shape;8833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4" name="Google Shape;8834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35" name="Google Shape;8835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$4,135</a:t>
            </a:r>
            <a:endParaRPr/>
          </a:p>
        </p:txBody>
      </p:sp>
      <p:sp>
        <p:nvSpPr>
          <p:cNvPr id="8836" name="Google Shape;8836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7" name="Google Shape;8837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38" name="Google Shape;8838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$4,135</a:t>
            </a:r>
            <a:endParaRPr/>
          </a:p>
        </p:txBody>
      </p:sp>
      <p:sp>
        <p:nvSpPr>
          <p:cNvPr id="8839" name="Google Shape;8839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$-4,135</a:t>
            </a:r>
            <a:endParaRPr/>
          </a:p>
        </p:txBody>
      </p:sp>
      <p:sp>
        <p:nvSpPr>
          <p:cNvPr id="8840" name="Google Shape;8840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1" name="Google Shape;8841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42" name="Google Shape;8842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3" name="Google Shape;8843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4" name="Google Shape;8844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5" name="Google Shape;8845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6" name="Google Shape;8846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47" name="Google Shape;8847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8" name="Google Shape;8848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49" name="Google Shape;8849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$7,120</a:t>
            </a:r>
            <a:endParaRPr/>
          </a:p>
        </p:txBody>
      </p:sp>
      <p:sp>
        <p:nvSpPr>
          <p:cNvPr id="8850" name="Google Shape;8850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1" name="Google Shape;8851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52" name="Google Shape;8852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$7,120</a:t>
            </a:r>
            <a:endParaRPr/>
          </a:p>
        </p:txBody>
      </p:sp>
      <p:sp>
        <p:nvSpPr>
          <p:cNvPr id="8853" name="Google Shape;8853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$-6,408</a:t>
            </a:r>
            <a:endParaRPr/>
          </a:p>
        </p:txBody>
      </p:sp>
      <p:sp>
        <p:nvSpPr>
          <p:cNvPr id="8854" name="Google Shape;8854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5" name="Google Shape;8855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856" name="Google Shape;8856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57" name="Google Shape;8857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858" name="Google Shape;8858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859" name="Google Shape;8859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860" name="Google Shape;8860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61" name="Google Shape;8861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62" name="Google Shape;8862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3" name="Google Shape;8863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64" name="Google Shape;8864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865" name="Google Shape;8865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66" name="Google Shape;8866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867" name="Google Shape;8867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68" name="Google Shape;8868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8869" name="Google Shape;8869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0" name="Google Shape;8870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71" name="Google Shape;8871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872" name="Google Shape;8872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3" name="Google Shape;8873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874" name="Google Shape;8874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75" name="Google Shape;8875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876" name="Google Shape;8876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7" name="Google Shape;8877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78" name="Google Shape;8878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879" name="Google Shape;8879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80" name="Google Shape;8880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881" name="Google Shape;8881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82" name="Google Shape;8882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8883" name="Google Shape;8883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4" name="Google Shape;8884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85" name="Google Shape;8885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8886" name="Google Shape;8886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887" name="Google Shape;8887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888" name="Google Shape;8888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889" name="Google Shape;8889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8890" name="Google Shape;8890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1" name="Google Shape;8891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92" name="Google Shape;8892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893" name="Google Shape;8893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4" name="Google Shape;8894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895" name="Google Shape;8895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6" name="Google Shape;8896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97" name="Google Shape;8897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8" name="Google Shape;8898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99" name="Google Shape;8899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8900" name="Google Shape;8900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901" name="Google Shape;8901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8902" name="Google Shape;8902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03" name="Google Shape;8903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8904" name="Google Shape;8904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5" name="Google Shape;8905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906" name="Google Shape;8906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07" name="Google Shape;8907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908" name="Google Shape;8908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909" name="Google Shape;8909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910" name="Google Shape;8910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911" name="Google Shape;8911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912" name="Google Shape;8912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913" name="Google Shape;8913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914" name="Google Shape;8914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915" name="Google Shape;8915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916" name="Google Shape;8916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917" name="Google Shape;8917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918" name="Google Shape;8918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919" name="Google Shape;8919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20" name="Google Shape;8920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921" name="Google Shape;8921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922" name="Google Shape;8922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923" name="Google Shape;8923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924" name="Google Shape;8924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925" name="Google Shape;8925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926" name="Google Shape;8926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927" name="Google Shape;8927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8928" name="Google Shape;8928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929" name="Google Shape;8929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930" name="Google Shape;8930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931" name="Google Shape;8931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8932" name="Google Shape;8932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933" name="Google Shape;8933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4" name="Google Shape;8934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5" name="Google Shape;8935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6" name="Google Shape;8936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7" name="Google Shape;8937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38" name="Google Shape;8938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8939" name="Google Shape;8939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8940" name="Google Shape;8940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8941" name="Google Shape;8941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8942" name="Google Shape;8942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43" name="Google Shape;8943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8944" name="Google Shape;8944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8945" name="Google Shape;8945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6" name="Google Shape;8946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947" name="Google Shape;8947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48" name="Google Shape;8948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$7,120 YTD gross written premium</a:t>
            </a:r>
            <a:endParaRPr/>
          </a:p>
        </p:txBody>
      </p:sp>
      <p:sp>
        <p:nvSpPr>
          <p:cNvPr id="8949" name="Google Shape;8949;p5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50" name="Google Shape;8950;p5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 submissions - highly active agency</a:t>
            </a:r>
            <a:endParaRPr/>
          </a:p>
        </p:txBody>
      </p:sp>
      <p:sp>
        <p:nvSpPr>
          <p:cNvPr id="8951" name="Google Shape;8951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2" name="Google Shape;8952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953" name="Google Shape;8953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54" name="Google Shape;8954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2.8% hit ratio on 71 subs - needs coaching</a:t>
            </a:r>
            <a:endParaRPr/>
          </a:p>
        </p:txBody>
      </p:sp>
      <p:sp>
        <p:nvSpPr>
          <p:cNvPr id="8955" name="Google Shape;8955;p5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56" name="Google Shape;8956;p5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8957" name="Google Shape;8957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8" name="Google Shape;8958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959" name="Google Shape;8959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960" name="Google Shape;8960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(71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8961" name="Google Shape;8961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962" name="Google Shape;8962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66" name="Shape 8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7" name="Google Shape;8967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8" name="Google Shape;8968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Paladin Business Services Inc.</a:t>
            </a:r>
            <a:endParaRPr/>
          </a:p>
        </p:txBody>
      </p:sp>
      <p:sp>
        <p:nvSpPr>
          <p:cNvPr id="8969" name="Google Shape;8969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Ventura</a:t>
            </a:r>
            <a:endParaRPr/>
          </a:p>
        </p:txBody>
      </p:sp>
      <p:sp>
        <p:nvSpPr>
          <p:cNvPr id="8970" name="Google Shape;8970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971" name="Google Shape;8971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72" name="Google Shape;8972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73" name="Google Shape;8973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74" name="Google Shape;8974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75" name="Google Shape;8975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$47,336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976" name="Google Shape;8976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977" name="Google Shape;8977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978" name="Google Shape;8978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79" name="Google Shape;8979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80" name="Google Shape;8980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81" name="Google Shape;8981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982" name="Google Shape;8982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983" name="Google Shape;8983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4" name="Google Shape;8984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985" name="Google Shape;8985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86" name="Google Shape;8986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987" name="Google Shape;8987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88" name="Google Shape;8988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89" name="Google Shape;8989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90" name="Google Shape;8990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91" name="Google Shape;8991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2" name="Google Shape;8992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93" name="Google Shape;8993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4" name="Google Shape;8994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5" name="Google Shape;8995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6" name="Google Shape;8996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7" name="Google Shape;8997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8" name="Google Shape;8998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9" name="Google Shape;8999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00" name="Google Shape;9000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</a:t>
            </a:r>
            <a:endParaRPr/>
          </a:p>
        </p:txBody>
      </p:sp>
      <p:sp>
        <p:nvSpPr>
          <p:cNvPr id="9001" name="Google Shape;9001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2" name="Google Shape;9002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</a:t>
            </a:r>
            <a:endParaRPr/>
          </a:p>
        </p:txBody>
      </p:sp>
      <p:sp>
        <p:nvSpPr>
          <p:cNvPr id="9003" name="Google Shape;9003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4" name="Google Shape;9004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$-2,508</a:t>
            </a:r>
            <a:endParaRPr/>
          </a:p>
        </p:txBody>
      </p:sp>
      <p:sp>
        <p:nvSpPr>
          <p:cNvPr id="9005" name="Google Shape;9005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6" name="Google Shape;9006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07" name="Google Shape;9007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8" name="Google Shape;9008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9" name="Google Shape;9009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0" name="Google Shape;9010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1" name="Google Shape;9011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9012" name="Google Shape;9012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3" name="Google Shape;9013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14" name="Google Shape;9014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5" name="Google Shape;9015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6" name="Google Shape;9016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7" name="Google Shape;9017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8" name="Google Shape;9018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9" name="Google Shape;9019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0" name="Google Shape;9020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21" name="Google Shape;9021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2" name="Google Shape;9022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3" name="Google Shape;9023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4" name="Google Shape;9024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5" name="Google Shape;9025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26" name="Google Shape;9026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7" name="Google Shape;9027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28" name="Google Shape;9028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</a:t>
            </a:r>
            <a:endParaRPr/>
          </a:p>
        </p:txBody>
      </p:sp>
      <p:sp>
        <p:nvSpPr>
          <p:cNvPr id="9029" name="Google Shape;9029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0" name="Google Shape;9030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</a:t>
            </a:r>
            <a:endParaRPr/>
          </a:p>
        </p:txBody>
      </p:sp>
      <p:sp>
        <p:nvSpPr>
          <p:cNvPr id="9031" name="Google Shape;9031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32" name="Google Shape;9032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$-2,539</a:t>
            </a:r>
            <a:endParaRPr/>
          </a:p>
        </p:txBody>
      </p:sp>
      <p:sp>
        <p:nvSpPr>
          <p:cNvPr id="9033" name="Google Shape;9033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4" name="Google Shape;9034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035" name="Google Shape;9035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36" name="Google Shape;9036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37" name="Google Shape;9037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038" name="Google Shape;9038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039" name="Google Shape;9039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40" name="Google Shape;9040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41" name="Google Shape;9041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2" name="Google Shape;9042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43" name="Google Shape;9043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44" name="Google Shape;9044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5" name="Google Shape;9045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46" name="Google Shape;9046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7" name="Google Shape;9047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48" name="Google Shape;9048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9" name="Google Shape;9049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50" name="Google Shape;9050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51" name="Google Shape;9051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52" name="Google Shape;9052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53" name="Google Shape;9053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54" name="Google Shape;9054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55" name="Google Shape;9055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6" name="Google Shape;9056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57" name="Google Shape;9057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58" name="Google Shape;9058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59" name="Google Shape;9059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60" name="Google Shape;9060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1" name="Google Shape;9061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62" name="Google Shape;9062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3" name="Google Shape;9063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64" name="Google Shape;9064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5" name="Google Shape;9065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6" name="Google Shape;9066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7" name="Google Shape;9067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68" name="Google Shape;9068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69" name="Google Shape;9069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0" name="Google Shape;9070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71" name="Google Shape;9071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72" name="Google Shape;9072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3" name="Google Shape;9073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74" name="Google Shape;9074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5" name="Google Shape;9075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76" name="Google Shape;9076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7" name="Google Shape;9077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78" name="Google Shape;9078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79" name="Google Shape;9079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0" name="Google Shape;9080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81" name="Google Shape;9081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82" name="Google Shape;9082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83" name="Google Shape;9083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4" name="Google Shape;9084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085" name="Google Shape;9085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086" name="Google Shape;9086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087" name="Google Shape;9087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088" name="Google Shape;9088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089" name="Google Shape;9089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090" name="Google Shape;9090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091" name="Google Shape;9091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092" name="Google Shape;9092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093" name="Google Shape;9093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094" name="Google Shape;9094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095" name="Google Shape;9095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096" name="Google Shape;9096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097" name="Google Shape;9097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098" name="Google Shape;9098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99" name="Google Shape;9099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100" name="Google Shape;9100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01" name="Google Shape;9101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102" name="Google Shape;9102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03" name="Google Shape;9103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04" name="Google Shape;9104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05" name="Google Shape;9105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06" name="Google Shape;9106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07" name="Google Shape;9107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108" name="Google Shape;9108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09" name="Google Shape;9109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9110" name="Google Shape;9110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111" name="Google Shape;9111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112" name="Google Shape;9112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3" name="Google Shape;9113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4" name="Google Shape;9114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9115" name="Google Shape;9115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9116" name="Google Shape;9116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7" name="Google Shape;9117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18" name="Google Shape;9118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9119" name="Google Shape;9119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0" name="Google Shape;9120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1" name="Google Shape;9121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22" name="Google Shape;9122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9123" name="Google Shape;9123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9124" name="Google Shape;9124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5" name="Google Shape;9125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126" name="Google Shape;9126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27" name="Google Shape;9127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 YTD gross written premium</a:t>
            </a:r>
            <a:endParaRPr/>
          </a:p>
        </p:txBody>
      </p:sp>
      <p:sp>
        <p:nvSpPr>
          <p:cNvPr id="9128" name="Google Shape;9128;p5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129" name="Google Shape;9129;p5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$2,508 in renewals - strong retention</a:t>
            </a:r>
            <a:endParaRPr/>
          </a:p>
        </p:txBody>
      </p:sp>
      <p:sp>
        <p:nvSpPr>
          <p:cNvPr id="9130" name="Google Shape;9130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1" name="Google Shape;9131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132" name="Google Shape;9132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133" name="Google Shape;9133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9134" name="Google Shape;9134;p5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135" name="Google Shape;9135;p5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9136" name="Google Shape;9136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7" name="Google Shape;9137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138" name="Google Shape;9138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139" name="Google Shape;9139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43" name="Shape 9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4" name="Google Shape;9144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5" name="Google Shape;9145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 Group Dba Produ Insurance Services</a:t>
            </a:r>
            <a:endParaRPr/>
          </a:p>
        </p:txBody>
      </p:sp>
      <p:sp>
        <p:nvSpPr>
          <p:cNvPr id="9146" name="Google Shape;9146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Fullerton</a:t>
            </a:r>
            <a:endParaRPr/>
          </a:p>
        </p:txBody>
      </p:sp>
      <p:sp>
        <p:nvSpPr>
          <p:cNvPr id="9147" name="Google Shape;9147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148" name="Google Shape;9148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49" name="Google Shape;9149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50" name="Google Shape;9150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51" name="Google Shape;9151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52" name="Google Shape;9152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$461,686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153" name="Google Shape;9153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$81,837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154" name="Google Shape;9154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155" name="Google Shape;9155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56" name="Google Shape;9156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57" name="Google Shape;9157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58" name="Google Shape;9158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159" name="Google Shape;9159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$16,716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160" name="Google Shape;9160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1" name="Google Shape;9161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162" name="Google Shape;9162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63" name="Google Shape;9163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164" name="Google Shape;9164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65" name="Google Shape;9165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66" name="Google Shape;9166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67" name="Google Shape;9167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68" name="Google Shape;9168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9" name="Google Shape;9169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70" name="Google Shape;9170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1" name="Google Shape;9171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2" name="Google Shape;9172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3" name="Google Shape;9173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4" name="Google Shape;9174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5" name="Google Shape;9175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6" name="Google Shape;9176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77" name="Google Shape;9177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</p:txBody>
      </p:sp>
      <p:sp>
        <p:nvSpPr>
          <p:cNvPr id="9178" name="Google Shape;9178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9" name="Google Shape;9179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0" name="Google Shape;9180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</p:txBody>
      </p:sp>
      <p:sp>
        <p:nvSpPr>
          <p:cNvPr id="9181" name="Google Shape;9181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2" name="Google Shape;9182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3" name="Google Shape;9183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84" name="Google Shape;9184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5" name="Google Shape;9185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6" name="Google Shape;9186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7" name="Google Shape;9187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8" name="Google Shape;9188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89" name="Google Shape;9189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0" name="Google Shape;9190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91" name="Google Shape;9191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2" name="Google Shape;9192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3" name="Google Shape;9193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4" name="Google Shape;9194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5" name="Google Shape;9195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6" name="Google Shape;9196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7" name="Google Shape;9197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98" name="Google Shape;9198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9" name="Google Shape;9199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0" name="Google Shape;9200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1" name="Google Shape;9201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2" name="Google Shape;9202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3" name="Google Shape;9203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4" name="Google Shape;9204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05" name="Google Shape;9205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</p:txBody>
      </p:sp>
      <p:sp>
        <p:nvSpPr>
          <p:cNvPr id="9206" name="Google Shape;9206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7" name="Google Shape;9207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8" name="Google Shape;9208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</p:txBody>
      </p:sp>
      <p:sp>
        <p:nvSpPr>
          <p:cNvPr id="9209" name="Google Shape;9209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10" name="Google Shape;9210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1" name="Google Shape;9211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212" name="Google Shape;9212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13" name="Google Shape;9213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214" name="Google Shape;9214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215" name="Google Shape;9215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216" name="Google Shape;9216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217" name="Google Shape;9217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218" name="Google Shape;9218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9" name="Google Shape;9219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220" name="Google Shape;9220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21" name="Google Shape;9221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2" name="Google Shape;9222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23" name="Google Shape;9223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4" name="Google Shape;9224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25" name="Google Shape;9225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6" name="Google Shape;9226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27" name="Google Shape;9227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28" name="Google Shape;9228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9" name="Google Shape;9229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30" name="Google Shape;9230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31" name="Google Shape;9231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232" name="Google Shape;9232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3" name="Google Shape;9233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34" name="Google Shape;9234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35" name="Google Shape;9235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6" name="Google Shape;9236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37" name="Google Shape;9237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38" name="Google Shape;9238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39" name="Google Shape;9239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0" name="Google Shape;9240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41" name="Google Shape;9241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42" name="Google Shape;9242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3" name="Google Shape;9243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44" name="Google Shape;9244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5" name="Google Shape;9245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46" name="Google Shape;9246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7" name="Google Shape;9247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48" name="Google Shape;9248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9" name="Google Shape;9249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0" name="Google Shape;9250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1" name="Google Shape;9251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2" name="Google Shape;9252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53" name="Google Shape;9253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4" name="Google Shape;9254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55" name="Google Shape;9255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256" name="Google Shape;9256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7" name="Google Shape;9257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258" name="Google Shape;9258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9" name="Google Shape;9259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9260" name="Google Shape;9260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1" name="Google Shape;9261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262" name="Google Shape;9262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63" name="Google Shape;9263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264" name="Google Shape;9264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265" name="Google Shape;9265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266" name="Google Shape;9266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267" name="Google Shape;9267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268" name="Google Shape;9268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269" name="Google Shape;9269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270" name="Google Shape;9270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271" name="Google Shape;9271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272" name="Google Shape;9272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273" name="Google Shape;9273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274" name="Google Shape;9274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275" name="Google Shape;9275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76" name="Google Shape;9276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9277" name="Google Shape;9277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78" name="Google Shape;9278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9279" name="Google Shape;9279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80" name="Google Shape;9280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9281" name="Google Shape;9281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82" name="Google Shape;9282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9283" name="Google Shape;9283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84" name="Google Shape;9284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9285" name="Google Shape;9285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86" name="Google Shape;9286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</p:txBody>
      </p:sp>
      <p:sp>
        <p:nvSpPr>
          <p:cNvPr id="9287" name="Google Shape;9287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288" name="Google Shape;9288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289" name="Google Shape;9289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9290" name="Google Shape;9290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1" name="Google Shape;9291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9292" name="Google Shape;9292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</p:txBody>
      </p:sp>
      <p:sp>
        <p:nvSpPr>
          <p:cNvPr id="9293" name="Google Shape;9293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$209K</a:t>
            </a:r>
            <a:endParaRPr/>
          </a:p>
        </p:txBody>
      </p:sp>
      <p:sp>
        <p:nvSpPr>
          <p:cNvPr id="9294" name="Google Shape;9294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5" name="Google Shape;9295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9296" name="Google Shape;9296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7" name="Google Shape;9297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9298" name="Google Shape;9298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9" name="Google Shape;9299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$380K</a:t>
            </a:r>
            <a:endParaRPr/>
          </a:p>
        </p:txBody>
      </p:sp>
      <p:sp>
        <p:nvSpPr>
          <p:cNvPr id="9300" name="Google Shape;9300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</a:t>
            </a:r>
            <a:endParaRPr/>
          </a:p>
        </p:txBody>
      </p:sp>
      <p:sp>
        <p:nvSpPr>
          <p:cNvPr id="9301" name="Google Shape;9301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2" name="Google Shape;9302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303" name="Google Shape;9303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04" name="Google Shape;9304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 YTD gross written premium</a:t>
            </a:r>
            <a:endParaRPr/>
          </a:p>
        </p:txBody>
      </p:sp>
      <p:sp>
        <p:nvSpPr>
          <p:cNvPr id="9305" name="Google Shape;9305;p5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306" name="Google Shape;9306;p5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 hit ratio - above average conversion</a:t>
            </a:r>
            <a:endParaRPr/>
          </a:p>
        </p:txBody>
      </p:sp>
      <p:sp>
        <p:nvSpPr>
          <p:cNvPr id="9307" name="Google Shape;9307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8" name="Google Shape;9308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309" name="Google Shape;9309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310" name="Google Shape;9310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9311" name="Google Shape;9311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2" name="Google Shape;9312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313" name="Google Shape;9313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314" name="Google Shape;9314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315" name="Google Shape;9315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316" name="Google Shape;9316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20" name="Shape 9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1" name="Google Shape;9321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2" name="Google Shape;9322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Royalty Insurance Services, Inc., A Division Of World Insurance</a:t>
            </a:r>
            <a:endParaRPr/>
          </a:p>
        </p:txBody>
      </p:sp>
      <p:sp>
        <p:nvSpPr>
          <p:cNvPr id="9323" name="Google Shape;9323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North Carolina  |  City: Van Nuys</a:t>
            </a:r>
            <a:endParaRPr/>
          </a:p>
        </p:txBody>
      </p:sp>
      <p:sp>
        <p:nvSpPr>
          <p:cNvPr id="9324" name="Google Shape;9324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325" name="Google Shape;9325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26" name="Google Shape;9326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27" name="Google Shape;9327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28" name="Google Shape;9328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29" name="Google Shape;9329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$26,575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330" name="Google Shape;9330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$32,993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331" name="Google Shape;9331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332" name="Google Shape;9332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33" name="Google Shape;9333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34" name="Google Shape;9334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35" name="Google Shape;9335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336" name="Google Shape;9336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337" name="Google Shape;9337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8" name="Google Shape;9338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339" name="Google Shape;9339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40" name="Google Shape;9340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341" name="Google Shape;9341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42" name="Google Shape;9342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43" name="Google Shape;9343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44" name="Google Shape;9344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45" name="Google Shape;9345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6" name="Google Shape;9346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47" name="Google Shape;9347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8" name="Google Shape;9348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9" name="Google Shape;9349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0" name="Google Shape;9350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1" name="Google Shape;9351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2" name="Google Shape;9352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3" name="Google Shape;9353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54" name="Google Shape;9354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</a:t>
            </a:r>
            <a:endParaRPr/>
          </a:p>
        </p:txBody>
      </p:sp>
      <p:sp>
        <p:nvSpPr>
          <p:cNvPr id="9355" name="Google Shape;9355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6" name="Google Shape;9356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7" name="Google Shape;9357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</a:t>
            </a:r>
            <a:endParaRPr/>
          </a:p>
        </p:txBody>
      </p:sp>
      <p:sp>
        <p:nvSpPr>
          <p:cNvPr id="9358" name="Google Shape;9358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9" name="Google Shape;9359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0" name="Google Shape;9360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61" name="Google Shape;9361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2" name="Google Shape;9362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3" name="Google Shape;9363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4" name="Google Shape;9364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5" name="Google Shape;9365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6" name="Google Shape;9366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7" name="Google Shape;9367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68" name="Google Shape;9368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69" name="Google Shape;9369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0" name="Google Shape;9370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1" name="Google Shape;9371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2" name="Google Shape;9372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3" name="Google Shape;9373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4" name="Google Shape;9374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75" name="Google Shape;9375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</a:t>
            </a:r>
            <a:endParaRPr/>
          </a:p>
        </p:txBody>
      </p:sp>
      <p:sp>
        <p:nvSpPr>
          <p:cNvPr id="9376" name="Google Shape;9376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7" name="Google Shape;9377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78" name="Google Shape;9378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</a:t>
            </a:r>
            <a:endParaRPr/>
          </a:p>
        </p:txBody>
      </p:sp>
      <p:sp>
        <p:nvSpPr>
          <p:cNvPr id="9379" name="Google Shape;9379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0" name="Google Shape;9380;p5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1" name="Google Shape;9381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82" name="Google Shape;9382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</a:t>
            </a:r>
            <a:endParaRPr/>
          </a:p>
        </p:txBody>
      </p:sp>
      <p:sp>
        <p:nvSpPr>
          <p:cNvPr id="9383" name="Google Shape;9383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4" name="Google Shape;9384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5" name="Google Shape;9385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</a:t>
            </a:r>
            <a:endParaRPr/>
          </a:p>
        </p:txBody>
      </p:sp>
      <p:sp>
        <p:nvSpPr>
          <p:cNvPr id="9386" name="Google Shape;9386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7" name="Google Shape;9387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8" name="Google Shape;9388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389" name="Google Shape;9389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90" name="Google Shape;9390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391" name="Google Shape;9391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392" name="Google Shape;9392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393" name="Google Shape;9393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94" name="Google Shape;9394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95" name="Google Shape;9395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6" name="Google Shape;9396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97" name="Google Shape;9397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398" name="Google Shape;9398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99" name="Google Shape;9399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400" name="Google Shape;9400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01" name="Google Shape;9401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02" name="Google Shape;9402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3" name="Google Shape;9403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04" name="Google Shape;9404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05" name="Google Shape;9405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06" name="Google Shape;9406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07" name="Google Shape;9407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08" name="Google Shape;9408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9409" name="Google Shape;9409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0" name="Google Shape;9410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411" name="Google Shape;9411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12" name="Google Shape;9412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13" name="Google Shape;9413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14" name="Google Shape;9414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15" name="Google Shape;9415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16" name="Google Shape;9416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7" name="Google Shape;9417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418" name="Google Shape;9418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19" name="Google Shape;9419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0" name="Google Shape;9420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1" name="Google Shape;9421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2" name="Google Shape;9422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23" name="Google Shape;9423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4" name="Google Shape;9424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425" name="Google Shape;9425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6" name="Google Shape;9426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7" name="Google Shape;9427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8" name="Google Shape;9428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9" name="Google Shape;9429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9430" name="Google Shape;9430;p5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1" name="Google Shape;9431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432" name="Google Shape;9432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33" name="Google Shape;9433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34" name="Google Shape;9434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35" name="Google Shape;9435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36" name="Google Shape;9436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9437" name="Google Shape;9437;p5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8" name="Google Shape;9438;p5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439" name="Google Shape;9439;p5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440" name="Google Shape;9440;p5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441" name="Google Shape;9441;p5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442" name="Google Shape;9442;p5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443" name="Google Shape;9443;p5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444" name="Google Shape;9444;p5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445" name="Google Shape;9445;p5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446" name="Google Shape;9446;p5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447" name="Google Shape;9447;p5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448" name="Google Shape;9448;p5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449" name="Google Shape;9449;p5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450" name="Google Shape;9450;p5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451" name="Google Shape;9451;p5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452" name="Google Shape;9452;p5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53" name="Google Shape;9453;p5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54" name="Google Shape;9454;p5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455" name="Google Shape;9455;p5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456" name="Google Shape;9456;p5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57" name="Google Shape;9457;p5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458" name="Google Shape;9458;p5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59" name="Google Shape;9459;p5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460" name="Google Shape;9460;p5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61" name="Google Shape;9461;p5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62" name="Google Shape;9462;p5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63" name="Google Shape;9463;p5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464" name="Google Shape;9464;p5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465" name="Google Shape;9465;p5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466" name="Google Shape;9466;p5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$-498</a:t>
            </a:r>
            <a:endParaRPr/>
          </a:p>
        </p:txBody>
      </p:sp>
      <p:sp>
        <p:nvSpPr>
          <p:cNvPr id="9467" name="Google Shape;9467;p5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8" name="Google Shape;9468;p5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$733</a:t>
            </a:r>
            <a:endParaRPr/>
          </a:p>
        </p:txBody>
      </p:sp>
      <p:sp>
        <p:nvSpPr>
          <p:cNvPr id="9469" name="Google Shape;9469;p5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</a:t>
            </a:r>
            <a:endParaRPr/>
          </a:p>
        </p:txBody>
      </p:sp>
      <p:sp>
        <p:nvSpPr>
          <p:cNvPr id="9470" name="Google Shape;9470;p5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$-6,548</a:t>
            </a:r>
            <a:endParaRPr/>
          </a:p>
        </p:txBody>
      </p:sp>
      <p:sp>
        <p:nvSpPr>
          <p:cNvPr id="9471" name="Google Shape;9471;p5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2" name="Google Shape;9472;p5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3" name="Google Shape;9473;p5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4" name="Google Shape;9474;p5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5" name="Google Shape;9475;p5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</a:t>
            </a:r>
            <a:endParaRPr/>
          </a:p>
        </p:txBody>
      </p:sp>
      <p:sp>
        <p:nvSpPr>
          <p:cNvPr id="9476" name="Google Shape;9476;p5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$-6,312</a:t>
            </a:r>
            <a:endParaRPr/>
          </a:p>
        </p:txBody>
      </p:sp>
      <p:sp>
        <p:nvSpPr>
          <p:cNvPr id="9477" name="Google Shape;9477;p5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</a:t>
            </a:r>
            <a:endParaRPr/>
          </a:p>
        </p:txBody>
      </p:sp>
      <p:sp>
        <p:nvSpPr>
          <p:cNvPr id="9478" name="Google Shape;9478;p5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9" name="Google Shape;9479;p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480" name="Google Shape;9480;p5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81" name="Google Shape;9481;p5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 YTD gross written premium</a:t>
            </a:r>
            <a:endParaRPr/>
          </a:p>
        </p:txBody>
      </p:sp>
      <p:sp>
        <p:nvSpPr>
          <p:cNvPr id="9482" name="Google Shape;9482;p5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83" name="Google Shape;9483;p5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 hit ratio - above average conversion</a:t>
            </a:r>
            <a:endParaRPr/>
          </a:p>
        </p:txBody>
      </p:sp>
      <p:sp>
        <p:nvSpPr>
          <p:cNvPr id="9484" name="Google Shape;9484;p5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5" name="Google Shape;9485;p5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486" name="Google Shape;9486;p5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87" name="Google Shape;9487;p5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114% month-over-month</a:t>
            </a:r>
            <a:endParaRPr/>
          </a:p>
        </p:txBody>
      </p:sp>
      <p:sp>
        <p:nvSpPr>
          <p:cNvPr id="9488" name="Google Shape;9488;p5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89" name="Google Shape;9489;p5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9490" name="Google Shape;9490;p5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1" name="Google Shape;9491;p5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492" name="Google Shape;9492;p5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493" name="Google Shape;9493;p5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97" name="Shape 9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8" name="Google Shape;9498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9" name="Google Shape;9499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Alamar Insurance &amp; Registration Solutions.</a:t>
            </a:r>
            <a:endParaRPr/>
          </a:p>
        </p:txBody>
      </p:sp>
      <p:sp>
        <p:nvSpPr>
          <p:cNvPr id="9500" name="Google Shape;9500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Ontario</a:t>
            </a:r>
            <a:endParaRPr/>
          </a:p>
        </p:txBody>
      </p:sp>
      <p:sp>
        <p:nvSpPr>
          <p:cNvPr id="9501" name="Google Shape;9501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502" name="Google Shape;9502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503" name="Google Shape;9503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504" name="Google Shape;9504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505" name="Google Shape;9505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506" name="Google Shape;9506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507" name="Google Shape;9507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508" name="Google Shape;9508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509" name="Google Shape;9509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510" name="Google Shape;9510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11" name="Google Shape;9511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12" name="Google Shape;9512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513" name="Google Shape;9513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514" name="Google Shape;9514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5" name="Google Shape;9515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516" name="Google Shape;9516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17" name="Google Shape;9517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518" name="Google Shape;9518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519" name="Google Shape;9519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520" name="Google Shape;9520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521" name="Google Shape;9521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522" name="Google Shape;9522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3" name="Google Shape;9523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24" name="Google Shape;9524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5" name="Google Shape;9525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6" name="Google Shape;9526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7" name="Google Shape;9527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8" name="Google Shape;9528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9" name="Google Shape;9529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0" name="Google Shape;9530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31" name="Google Shape;9531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2" name="Google Shape;9532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3" name="Google Shape;9533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4" name="Google Shape;9534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5" name="Google Shape;9535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6" name="Google Shape;9536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7" name="Google Shape;9537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38" name="Google Shape;9538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9" name="Google Shape;9539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0" name="Google Shape;9540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1" name="Google Shape;9541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2" name="Google Shape;9542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3" name="Google Shape;9543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4" name="Google Shape;9544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45" name="Google Shape;9545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6" name="Google Shape;9546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7" name="Google Shape;9547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8" name="Google Shape;9548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49" name="Google Shape;9549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0" name="Google Shape;9550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1" name="Google Shape;9551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52" name="Google Shape;9552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3" name="Google Shape;9553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4" name="Google Shape;9554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5" name="Google Shape;9555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6" name="Google Shape;9556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57" name="Google Shape;9557;p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8" name="Google Shape;9558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59" name="Google Shape;9559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0" name="Google Shape;9560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1" name="Google Shape;9561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2" name="Google Shape;9562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3" name="Google Shape;9563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64" name="Google Shape;9564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5" name="Google Shape;9565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566" name="Google Shape;9566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67" name="Google Shape;9567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568" name="Google Shape;9568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569" name="Google Shape;9569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570" name="Google Shape;9570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71" name="Google Shape;9571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72" name="Google Shape;9572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3" name="Google Shape;9573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74" name="Google Shape;9574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5" name="Google Shape;9575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6" name="Google Shape;9576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7" name="Google Shape;9577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8" name="Google Shape;9578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79" name="Google Shape;9579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0" name="Google Shape;9580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81" name="Google Shape;9581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82" name="Google Shape;9582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83" name="Google Shape;9583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84" name="Google Shape;9584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85" name="Google Shape;9585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86" name="Google Shape;9586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7" name="Google Shape;9587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88" name="Google Shape;9588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89" name="Google Shape;9589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0" name="Google Shape;9590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91" name="Google Shape;9591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92" name="Google Shape;9592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9593" name="Google Shape;9593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4" name="Google Shape;9594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95" name="Google Shape;9595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6" name="Google Shape;9596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7" name="Google Shape;9597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8" name="Google Shape;9598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9" name="Google Shape;9599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00" name="Google Shape;9600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1" name="Google Shape;9601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02" name="Google Shape;9602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03" name="Google Shape;9603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4" name="Google Shape;9604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05" name="Google Shape;9605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6" name="Google Shape;9606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07" name="Google Shape;9607;p6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8" name="Google Shape;9608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609" name="Google Shape;9609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610" name="Google Shape;9610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11" name="Google Shape;9611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612" name="Google Shape;9612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13" name="Google Shape;9613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9614" name="Google Shape;9614;p6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5" name="Google Shape;9615;p6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616" name="Google Shape;9616;p6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617" name="Google Shape;9617;p6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618" name="Google Shape;9618;p6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619" name="Google Shape;9619;p6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620" name="Google Shape;9620;p6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621" name="Google Shape;9621;p6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622" name="Google Shape;9622;p6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623" name="Google Shape;9623;p6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624" name="Google Shape;9624;p6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625" name="Google Shape;9625;p6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626" name="Google Shape;9626;p6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627" name="Google Shape;9627;p6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628" name="Google Shape;9628;p6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629" name="Google Shape;9629;p6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30" name="Google Shape;9630;p6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631" name="Google Shape;9631;p6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32" name="Google Shape;9632;p6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33" name="Google Shape;9633;p6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34" name="Google Shape;9634;p6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35" name="Google Shape;9635;p6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36" name="Google Shape;9636;p6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37" name="Google Shape;9637;p6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38" name="Google Shape;9638;p6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39" name="Google Shape;9639;p6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40" name="Google Shape;9640;p6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641" name="Google Shape;9641;p6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642" name="Google Shape;9642;p6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643" name="Google Shape;9643;p6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4" name="Google Shape;9644;p6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5" name="Google Shape;9645;p6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6" name="Google Shape;9646;p6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7" name="Google Shape;9647;p6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8" name="Google Shape;9648;p6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9" name="Google Shape;9649;p6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0" name="Google Shape;9650;p6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1" name="Google Shape;9651;p6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2" name="Google Shape;9652;p6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3" name="Google Shape;9653;p6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4" name="Google Shape;9654;p6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5" name="Google Shape;9655;p6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6" name="Google Shape;9656;p6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657" name="Google Shape;9657;p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58" name="Google Shape;9658;p6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9659" name="Google Shape;9659;p6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60" name="Google Shape;9660;p6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9661" name="Google Shape;9661;p6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2" name="Google Shape;9662;p6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663" name="Google Shape;9663;p6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64" name="Google Shape;9664;p6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9665" name="Google Shape;9665;p6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6" name="Google Shape;9666;p6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667" name="Google Shape;9667;p6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668" name="Google Shape;9668;p6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669" name="Google Shape;9669;p6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670" name="Google Shape;9670;p6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74" name="Shape 9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5" name="Google Shape;9675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6" name="Google Shape;9676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Capital Insurance Services, Llc</a:t>
            </a:r>
            <a:endParaRPr/>
          </a:p>
        </p:txBody>
      </p:sp>
      <p:sp>
        <p:nvSpPr>
          <p:cNvPr id="9677" name="Google Shape;9677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AZ  |  City: Prescott Valley</a:t>
            </a:r>
            <a:endParaRPr/>
          </a:p>
        </p:txBody>
      </p:sp>
      <p:sp>
        <p:nvSpPr>
          <p:cNvPr id="9678" name="Google Shape;9678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679" name="Google Shape;9679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80" name="Google Shape;9680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81" name="Google Shape;9681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82" name="Google Shape;9682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83" name="Google Shape;9683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684" name="Google Shape;9684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685" name="Google Shape;9685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686" name="Google Shape;9686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87" name="Google Shape;9687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88" name="Google Shape;9688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89" name="Google Shape;9689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690" name="Google Shape;9690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691" name="Google Shape;9691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2" name="Google Shape;9692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693" name="Google Shape;9693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94" name="Google Shape;9694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695" name="Google Shape;9695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96" name="Google Shape;9696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97" name="Google Shape;9697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98" name="Google Shape;9698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99" name="Google Shape;9699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0" name="Google Shape;9700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01" name="Google Shape;9701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2" name="Google Shape;9702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3" name="Google Shape;9703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4" name="Google Shape;9704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5" name="Google Shape;9705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6" name="Google Shape;9706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7" name="Google Shape;9707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08" name="Google Shape;9708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9" name="Google Shape;9709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0" name="Google Shape;9710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1" name="Google Shape;9711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2" name="Google Shape;9712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3" name="Google Shape;9713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4" name="Google Shape;9714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15" name="Google Shape;9715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6" name="Google Shape;9716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7" name="Google Shape;9717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8" name="Google Shape;9718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19" name="Google Shape;9719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0" name="Google Shape;9720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1" name="Google Shape;9721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22" name="Google Shape;9722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3" name="Google Shape;9723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4" name="Google Shape;9724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5" name="Google Shape;9725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6" name="Google Shape;9726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27" name="Google Shape;9727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8" name="Google Shape;9728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29" name="Google Shape;9729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0" name="Google Shape;9730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1" name="Google Shape;9731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2" name="Google Shape;9732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3" name="Google Shape;9733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4" name="Google Shape;9734;p6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5" name="Google Shape;9735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36" name="Google Shape;9736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7" name="Google Shape;9737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8" name="Google Shape;9738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39" name="Google Shape;9739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0" name="Google Shape;9740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41" name="Google Shape;9741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2" name="Google Shape;9742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743" name="Google Shape;9743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44" name="Google Shape;9744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745" name="Google Shape;9745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746" name="Google Shape;9746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747" name="Google Shape;9747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48" name="Google Shape;9748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49" name="Google Shape;9749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0" name="Google Shape;9750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51" name="Google Shape;9751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52" name="Google Shape;9752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53" name="Google Shape;9753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4" name="Google Shape;9754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5" name="Google Shape;9755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56" name="Google Shape;9756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7" name="Google Shape;9757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58" name="Google Shape;9758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9" name="Google Shape;9759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0" name="Google Shape;9760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1" name="Google Shape;9761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2" name="Google Shape;9762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63" name="Google Shape;9763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4" name="Google Shape;9764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65" name="Google Shape;9765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6" name="Google Shape;9766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7" name="Google Shape;9767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8" name="Google Shape;9768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69" name="Google Shape;9769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70" name="Google Shape;9770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1" name="Google Shape;9771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72" name="Google Shape;9772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3" name="Google Shape;9773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4" name="Google Shape;9774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5" name="Google Shape;9775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6" name="Google Shape;9776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77" name="Google Shape;9777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8" name="Google Shape;9778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79" name="Google Shape;9779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0" name="Google Shape;9780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1" name="Google Shape;9781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2" name="Google Shape;9782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3" name="Google Shape;9783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84" name="Google Shape;9784;p6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5" name="Google Shape;9785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86" name="Google Shape;9786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7" name="Google Shape;9787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8" name="Google Shape;9788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9" name="Google Shape;9789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90" name="Google Shape;9790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91" name="Google Shape;9791;p6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2" name="Google Shape;9792;p6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793" name="Google Shape;9793;p6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794" name="Google Shape;9794;p6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795" name="Google Shape;9795;p6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796" name="Google Shape;9796;p6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797" name="Google Shape;9797;p6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798" name="Google Shape;9798;p6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799" name="Google Shape;9799;p6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800" name="Google Shape;9800;p6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801" name="Google Shape;9801;p6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802" name="Google Shape;9802;p6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803" name="Google Shape;9803;p6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804" name="Google Shape;9804;p6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805" name="Google Shape;9805;p6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806" name="Google Shape;9806;p6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07" name="Google Shape;9807;p6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08" name="Google Shape;9808;p6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09" name="Google Shape;9809;p6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0" name="Google Shape;9810;p6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1" name="Google Shape;9811;p6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12" name="Google Shape;9812;p6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3" name="Google Shape;9813;p6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14" name="Google Shape;9814;p6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5" name="Google Shape;9815;p6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6" name="Google Shape;9816;p6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17" name="Google Shape;9817;p6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18" name="Google Shape;9818;p6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819" name="Google Shape;9819;p6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820" name="Google Shape;9820;p6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1" name="Google Shape;9821;p6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2" name="Google Shape;9822;p6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3" name="Google Shape;9823;p6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4" name="Google Shape;9824;p6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5" name="Google Shape;9825;p6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6" name="Google Shape;9826;p6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9827" name="Google Shape;9827;p6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8" name="Google Shape;9828;p6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29" name="Google Shape;9829;p6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0" name="Google Shape;9830;p6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9831" name="Google Shape;9831;p6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2" name="Google Shape;9832;p6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3" name="Google Shape;9833;p6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834" name="Google Shape;9834;p6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835" name="Google Shape;9835;p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9836" name="Google Shape;9836;p6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7" name="Google Shape;9837;p6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838" name="Google Shape;9838;p6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839" name="Google Shape;9839;p6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9840" name="Google Shape;9840;p6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1" name="Google Shape;9841;p6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842" name="Google Shape;9842;p6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843" name="Google Shape;9843;p6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844" name="Google Shape;9844;p6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845" name="Google Shape;9845;p6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49" name="Shape 9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0" name="Google Shape;9850;p6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1" name="Google Shape;9851;p6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Covertoday Insurance Agency Llc</a:t>
            </a:r>
            <a:endParaRPr/>
          </a:p>
        </p:txBody>
      </p:sp>
      <p:sp>
        <p:nvSpPr>
          <p:cNvPr id="9852" name="Google Shape;9852;p6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Los Angeles</a:t>
            </a:r>
            <a:endParaRPr/>
          </a:p>
        </p:txBody>
      </p:sp>
      <p:sp>
        <p:nvSpPr>
          <p:cNvPr id="9853" name="Google Shape;9853;p6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854" name="Google Shape;9854;p6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55" name="Google Shape;9855;p6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56" name="Google Shape;9856;p6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57" name="Google Shape;9857;p6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58" name="Google Shape;9858;p6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$146,681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859" name="Google Shape;9859;p6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$146,681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860" name="Google Shape;9860;p6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861" name="Google Shape;9861;p6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62" name="Google Shape;9862;p6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63" name="Google Shape;9863;p6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64" name="Google Shape;9864;p6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865" name="Google Shape;9865;p6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866" name="Google Shape;9866;p6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7" name="Google Shape;9867;p6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868" name="Google Shape;9868;p6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69" name="Google Shape;9869;p6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870" name="Google Shape;9870;p6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71" name="Google Shape;9871;p6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72" name="Google Shape;9872;p6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73" name="Google Shape;9873;p6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74" name="Google Shape;9874;p6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5" name="Google Shape;9875;p6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76" name="Google Shape;9876;p6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7" name="Google Shape;9877;p6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8" name="Google Shape;9878;p6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9" name="Google Shape;9879;p6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0" name="Google Shape;9880;p6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1" name="Google Shape;9881;p6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2" name="Google Shape;9882;p6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83" name="Google Shape;9883;p6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4" name="Google Shape;9884;p6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5" name="Google Shape;9885;p6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6" name="Google Shape;9886;p6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7" name="Google Shape;9887;p6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8" name="Google Shape;9888;p6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9" name="Google Shape;9889;p6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890" name="Google Shape;9890;p6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1" name="Google Shape;9891;p6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2" name="Google Shape;9892;p6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3" name="Google Shape;9893;p6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4" name="Google Shape;9894;p6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5" name="Google Shape;9895;p6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6" name="Google Shape;9896;p6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897" name="Google Shape;9897;p6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8" name="Google Shape;9898;p6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99" name="Google Shape;9899;p6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0" name="Google Shape;9900;p6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1" name="Google Shape;9901;p6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2" name="Google Shape;9902;p6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3" name="Google Shape;9903;p6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04" name="Google Shape;9904;p6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5" name="Google Shape;9905;p6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6" name="Google Shape;9906;p6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7" name="Google Shape;9907;p6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8" name="Google Shape;9908;p6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09" name="Google Shape;9909;p6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0" name="Google Shape;9910;p6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11" name="Google Shape;9911;p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2" name="Google Shape;9912;p6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3" name="Google Shape;9913;p6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4" name="Google Shape;9914;p6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5" name="Google Shape;9915;p6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16" name="Google Shape;9916;p6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7" name="Google Shape;9917;p6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918" name="Google Shape;9918;p6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919" name="Google Shape;9919;p6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920" name="Google Shape;9920;p6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921" name="Google Shape;9921;p6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922" name="Google Shape;9922;p6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923" name="Google Shape;9923;p6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924" name="Google Shape;9924;p6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5" name="Google Shape;9925;p6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926" name="Google Shape;9926;p6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7" name="Google Shape;9927;p6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8" name="Google Shape;9928;p6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9" name="Google Shape;9929;p6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0" name="Google Shape;9930;p6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31" name="Google Shape;9931;p6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2" name="Google Shape;9932;p6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933" name="Google Shape;9933;p6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34" name="Google Shape;9934;p6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5" name="Google Shape;9935;p6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36" name="Google Shape;9936;p6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7" name="Google Shape;9937;p6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38" name="Google Shape;9938;p6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9" name="Google Shape;9939;p6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40" name="Google Shape;9940;p6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41" name="Google Shape;9941;p6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42" name="Google Shape;9942;p6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43" name="Google Shape;9943;p6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44" name="Google Shape;9944;p6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45" name="Google Shape;9945;p6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6" name="Google Shape;9946;p6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47" name="Google Shape;9947;p6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48" name="Google Shape;9948;p6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49" name="Google Shape;9949;p6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0" name="Google Shape;9950;p6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1" name="Google Shape;9951;p6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52" name="Google Shape;9952;p6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3" name="Google Shape;9953;p6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54" name="Google Shape;9954;p6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55" name="Google Shape;9955;p6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6" name="Google Shape;9956;p6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57" name="Google Shape;9957;p6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58" name="Google Shape;9958;p6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59" name="Google Shape;9959;p6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0" name="Google Shape;9960;p6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61" name="Google Shape;9961;p6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62" name="Google Shape;9962;p6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3" name="Google Shape;9963;p6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64" name="Google Shape;9964;p6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5" name="Google Shape;9965;p6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66" name="Google Shape;9966;p6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7" name="Google Shape;9967;p6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968" name="Google Shape;9968;p6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969" name="Google Shape;9969;p6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970" name="Google Shape;9970;p6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971" name="Google Shape;9971;p6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972" name="Google Shape;9972;p6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973" name="Google Shape;9973;p6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974" name="Google Shape;9974;p6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975" name="Google Shape;9975;p6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976" name="Google Shape;9976;p6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977" name="Google Shape;9977;p6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978" name="Google Shape;9978;p6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979" name="Google Shape;9979;p6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980" name="Google Shape;9980;p6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981" name="Google Shape;9981;p6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982" name="Google Shape;9982;p6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83" name="Google Shape;9983;p6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84" name="Google Shape;9984;p6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85" name="Google Shape;9985;p6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86" name="Google Shape;9986;p6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87" name="Google Shape;9987;p6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88" name="Google Shape;9988;p6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89" name="Google Shape;9989;p6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90" name="Google Shape;9990;p6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91" name="Google Shape;9991;p6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92" name="Google Shape;9992;p6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93" name="Google Shape;9993;p6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94" name="Google Shape;9994;p6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995" name="Google Shape;9995;p6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6" name="Google Shape;9996;p6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7" name="Google Shape;9997;p6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8" name="Google Shape;9998;p6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99" name="Google Shape;9999;p6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0" name="Google Shape;10000;p6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1" name="Google Shape;10001;p6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2" name="Google Shape;10002;p6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3" name="Google Shape;10003;p6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4" name="Google Shape;10004;p6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5" name="Google Shape;10005;p6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6" name="Google Shape;10006;p6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07" name="Google Shape;10007;p6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8" name="Google Shape;10008;p6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009" name="Google Shape;10009;p6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010" name="Google Shape;10010;p6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10011" name="Google Shape;10011;p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2" name="Google Shape;10012;p6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013" name="Google Shape;10013;p6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014" name="Google Shape;10014;p6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10015" name="Google Shape;10015;p6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6" name="Google Shape;10016;p6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017" name="Google Shape;10017;p6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018" name="Google Shape;10018;p6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22" name="Shape 10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3" name="Google Shape;10023;p6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4" name="Google Shape;10024;p6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E2 Insurance &amp; Financial Services Inc.</a:t>
            </a:r>
            <a:endParaRPr/>
          </a:p>
        </p:txBody>
      </p:sp>
      <p:sp>
        <p:nvSpPr>
          <p:cNvPr id="10025" name="Google Shape;10025;p6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Los Angeles</a:t>
            </a:r>
            <a:endParaRPr/>
          </a:p>
        </p:txBody>
      </p:sp>
      <p:sp>
        <p:nvSpPr>
          <p:cNvPr id="10026" name="Google Shape;10026;p6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027" name="Google Shape;10027;p6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028" name="Google Shape;10028;p6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029" name="Google Shape;10029;p6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30" name="Google Shape;10030;p6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031" name="Google Shape;10031;p6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$89,863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032" name="Google Shape;10032;p6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$69,050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033" name="Google Shape;10033;p6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034" name="Google Shape;10034;p6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035" name="Google Shape;10035;p6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36" name="Google Shape;10036;p6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37" name="Google Shape;10037;p6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038" name="Google Shape;10038;p6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039" name="Google Shape;10039;p6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0" name="Google Shape;10040;p6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041" name="Google Shape;10041;p6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42" name="Google Shape;10042;p6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043" name="Google Shape;10043;p6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044" name="Google Shape;10044;p6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045" name="Google Shape;10045;p6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46" name="Google Shape;10046;p6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047" name="Google Shape;10047;p6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8" name="Google Shape;10048;p6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49" name="Google Shape;10049;p6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0" name="Google Shape;10050;p6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1" name="Google Shape;10051;p6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2" name="Google Shape;10052;p6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3" name="Google Shape;10053;p6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4" name="Google Shape;10054;p6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5" name="Google Shape;10055;p6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056" name="Google Shape;10056;p6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7" name="Google Shape;10057;p6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8" name="Google Shape;10058;p6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9" name="Google Shape;10059;p6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0" name="Google Shape;10060;p6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1" name="Google Shape;10061;p6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2" name="Google Shape;10062;p6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063" name="Google Shape;10063;p6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4" name="Google Shape;10064;p6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5" name="Google Shape;10065;p6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6" name="Google Shape;10066;p6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7" name="Google Shape;10067;p6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$-18,195</a:t>
            </a:r>
            <a:endParaRPr/>
          </a:p>
        </p:txBody>
      </p:sp>
      <p:sp>
        <p:nvSpPr>
          <p:cNvPr id="10068" name="Google Shape;10068;p6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9" name="Google Shape;10069;p6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070" name="Google Shape;10070;p6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1" name="Google Shape;10071;p6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2" name="Google Shape;10072;p6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3" name="Google Shape;10073;p6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4" name="Google Shape;10074;p6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5" name="Google Shape;10075;p6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6" name="Google Shape;10076;p6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077" name="Google Shape;10077;p6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8" name="Google Shape;10078;p6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9" name="Google Shape;10079;p6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0" name="Google Shape;10080;p6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1" name="Google Shape;10081;p6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2" name="Google Shape;10082;p6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3" name="Google Shape;10083;p6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084" name="Google Shape;10084;p6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5" name="Google Shape;10085;p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6" name="Google Shape;10086;p6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7" name="Google Shape;10087;p6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88" name="Google Shape;10088;p6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$-18,195</a:t>
            </a:r>
            <a:endParaRPr/>
          </a:p>
        </p:txBody>
      </p:sp>
      <p:sp>
        <p:nvSpPr>
          <p:cNvPr id="10089" name="Google Shape;10089;p6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0" name="Google Shape;10090;p6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091" name="Google Shape;10091;p6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92" name="Google Shape;10092;p6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093" name="Google Shape;10093;p6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094" name="Google Shape;10094;p6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095" name="Google Shape;10095;p6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96" name="Google Shape;10096;p6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97" name="Google Shape;10097;p6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8" name="Google Shape;10098;p6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99" name="Google Shape;10099;p6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00" name="Google Shape;10100;p6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01" name="Google Shape;10101;p6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02" name="Google Shape;10102;p6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03" name="Google Shape;10103;p6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04" name="Google Shape;10104;p6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5" name="Google Shape;10105;p6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106" name="Google Shape;10106;p6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07" name="Google Shape;10107;p6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08" name="Google Shape;10108;p6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09" name="Google Shape;10109;p6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0" name="Google Shape;10110;p6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11" name="Google Shape;10111;p6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2" name="Google Shape;10112;p6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113" name="Google Shape;10113;p6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4" name="Google Shape;10114;p6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5" name="Google Shape;10115;p6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6" name="Google Shape;10116;p6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7" name="Google Shape;10117;p6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18" name="Google Shape;10118;p6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9" name="Google Shape;10119;p6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120" name="Google Shape;10120;p6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21" name="Google Shape;10121;p6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2" name="Google Shape;10122;p6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23" name="Google Shape;10123;p6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4" name="Google Shape;10124;p6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25" name="Google Shape;10125;p6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6" name="Google Shape;10126;p6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127" name="Google Shape;10127;p6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8" name="Google Shape;10128;p6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9" name="Google Shape;10129;p6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30" name="Google Shape;10130;p6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31" name="Google Shape;10131;p6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32" name="Google Shape;10132;p6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3" name="Google Shape;10133;p6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134" name="Google Shape;10134;p6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135" name="Google Shape;10135;p6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36" name="Google Shape;10136;p6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137" name="Google Shape;10137;p6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38" name="Google Shape;10138;p6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39" name="Google Shape;10139;p6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0" name="Google Shape;10140;p6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141" name="Google Shape;10141;p6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142" name="Google Shape;10142;p6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143" name="Google Shape;10143;p6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144" name="Google Shape;10144;p6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145" name="Google Shape;10145;p6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146" name="Google Shape;10146;p6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147" name="Google Shape;10147;p6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148" name="Google Shape;10148;p6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149" name="Google Shape;10149;p6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150" name="Google Shape;10150;p6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151" name="Google Shape;10151;p6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152" name="Google Shape;10152;p6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153" name="Google Shape;10153;p6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154" name="Google Shape;10154;p6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155" name="Google Shape;10155;p6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156" name="Google Shape;10156;p6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57" name="Google Shape;10157;p6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158" name="Google Shape;10158;p6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59" name="Google Shape;10159;p6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60" name="Google Shape;10160;p6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1" name="Google Shape;10161;p6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162" name="Google Shape;10162;p6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63" name="Google Shape;10163;p6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64" name="Google Shape;10164;p6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5" name="Google Shape;10165;p6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166" name="Google Shape;10166;p6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167" name="Google Shape;10167;p6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168" name="Google Shape;10168;p6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</a:t>
            </a:r>
            <a:endParaRPr/>
          </a:p>
        </p:txBody>
      </p:sp>
      <p:sp>
        <p:nvSpPr>
          <p:cNvPr id="10169" name="Google Shape;10169;p6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0" name="Google Shape;10170;p6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10171" name="Google Shape;10171;p6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2" name="Google Shape;10172;p6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3" name="Google Shape;10173;p6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4" name="Google Shape;10174;p6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10175" name="Google Shape;10175;p6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6" name="Google Shape;10176;p6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7" name="Google Shape;10177;p6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8" name="Google Shape;10178;p6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10179" name="Google Shape;10179;p6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0" name="Google Shape;10180;p6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1" name="Google Shape;10181;p6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182" name="Google Shape;10182;p6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183" name="Google Shape;10183;p6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10184" name="Google Shape;10184;p6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5" name="Google Shape;10185;p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186" name="Google Shape;10186;p6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187" name="Google Shape;10187;p6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10188" name="Google Shape;10188;p6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189" name="Google Shape;10189;p6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10190" name="Google Shape;10190;p6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1" name="Google Shape;10191;p6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192" name="Google Shape;10192;p6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193" name="Google Shape;10193;p6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97" name="Shape 10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8" name="Google Shape;10198;p6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9" name="Google Shape;10199;p6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Gls Insurance Group, Pllc</a:t>
            </a:r>
            <a:endParaRPr/>
          </a:p>
        </p:txBody>
      </p:sp>
      <p:sp>
        <p:nvSpPr>
          <p:cNvPr id="10200" name="Google Shape;10200;p6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AZ  |  City: Nogales</a:t>
            </a:r>
            <a:endParaRPr/>
          </a:p>
        </p:txBody>
      </p:sp>
      <p:sp>
        <p:nvSpPr>
          <p:cNvPr id="10201" name="Google Shape;10201;p6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202" name="Google Shape;10202;p6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203" name="Google Shape;10203;p6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204" name="Google Shape;10204;p6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205" name="Google Shape;10205;p6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206" name="Google Shape;10206;p6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207" name="Google Shape;10207;p6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208" name="Google Shape;10208;p6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209" name="Google Shape;10209;p6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210" name="Google Shape;10210;p6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11" name="Google Shape;10211;p6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12" name="Google Shape;10212;p6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213" name="Google Shape;10213;p6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214" name="Google Shape;10214;p6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5" name="Google Shape;10215;p6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216" name="Google Shape;10216;p6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217" name="Google Shape;10217;p6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218" name="Google Shape;10218;p6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219" name="Google Shape;10219;p6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220" name="Google Shape;10220;p6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221" name="Google Shape;10221;p6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222" name="Google Shape;10222;p6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3" name="Google Shape;10223;p6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24" name="Google Shape;10224;p6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5" name="Google Shape;10225;p6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6" name="Google Shape;10226;p6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7" name="Google Shape;10227;p6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8" name="Google Shape;10228;p6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9" name="Google Shape;10229;p6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0" name="Google Shape;10230;p6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31" name="Google Shape;10231;p6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2" name="Google Shape;10232;p6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3" name="Google Shape;10233;p6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4" name="Google Shape;10234;p6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5" name="Google Shape;10235;p6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6" name="Google Shape;10236;p6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7" name="Google Shape;10237;p6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38" name="Google Shape;10238;p6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9" name="Google Shape;10239;p6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0" name="Google Shape;10240;p6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1" name="Google Shape;10241;p6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2" name="Google Shape;10242;p6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3" name="Google Shape;10243;p6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4" name="Google Shape;10244;p6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245" name="Google Shape;10245;p6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6" name="Google Shape;10246;p6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7" name="Google Shape;10247;p6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8" name="Google Shape;10248;p6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9" name="Google Shape;10249;p6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0" name="Google Shape;10250;p6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1" name="Google Shape;10251;p6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252" name="Google Shape;10252;p6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3" name="Google Shape;10253;p6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4" name="Google Shape;10254;p6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5" name="Google Shape;10255;p6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6" name="Google Shape;10256;p6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7" name="Google Shape;10257;p6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8" name="Google Shape;10258;p6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259" name="Google Shape;10259;p6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0" name="Google Shape;10260;p6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1" name="Google Shape;10261;p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2" name="Google Shape;10262;p6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3" name="Google Shape;10263;p6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4" name="Google Shape;10264;p6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5" name="Google Shape;10265;p6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266" name="Google Shape;10266;p6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267" name="Google Shape;10267;p6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68" name="Google Shape;10268;p6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269" name="Google Shape;10269;p6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270" name="Google Shape;10270;p6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71" name="Google Shape;10271;p6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72" name="Google Shape;10272;p6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3" name="Google Shape;10273;p6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74" name="Google Shape;10274;p6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75" name="Google Shape;10275;p6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76" name="Google Shape;10276;p6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277" name="Google Shape;10277;p6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78" name="Google Shape;10278;p6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79" name="Google Shape;10279;p6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0" name="Google Shape;10280;p6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81" name="Google Shape;10281;p6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2" name="Google Shape;10282;p6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3" name="Google Shape;10283;p6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4" name="Google Shape;10284;p6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5" name="Google Shape;10285;p6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86" name="Google Shape;10286;p6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7" name="Google Shape;10287;p6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88" name="Google Shape;10288;p6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9" name="Google Shape;10289;p6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0" name="Google Shape;10290;p6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1" name="Google Shape;10291;p6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2" name="Google Shape;10292;p6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93" name="Google Shape;10293;p6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4" name="Google Shape;10294;p6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295" name="Google Shape;10295;p6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96" name="Google Shape;10296;p6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7" name="Google Shape;10297;p6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98" name="Google Shape;10298;p6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9" name="Google Shape;10299;p6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00" name="Google Shape;10300;p6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1" name="Google Shape;10301;p6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302" name="Google Shape;10302;p6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3" name="Google Shape;10303;p6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4" name="Google Shape;10304;p6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5" name="Google Shape;10305;p6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6" name="Google Shape;10306;p6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07" name="Google Shape;10307;p6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8" name="Google Shape;10308;p6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309" name="Google Shape;10309;p6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10" name="Google Shape;10310;p6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11" name="Google Shape;10311;p6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12" name="Google Shape;10312;p6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13" name="Google Shape;10313;p6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14" name="Google Shape;10314;p6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5" name="Google Shape;10315;p6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316" name="Google Shape;10316;p6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317" name="Google Shape;10317;p6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318" name="Google Shape;10318;p6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319" name="Google Shape;10319;p6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320" name="Google Shape;10320;p6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321" name="Google Shape;10321;p6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322" name="Google Shape;10322;p6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323" name="Google Shape;10323;p6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324" name="Google Shape;10324;p6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325" name="Google Shape;10325;p6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326" name="Google Shape;10326;p6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327" name="Google Shape;10327;p6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328" name="Google Shape;10328;p6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329" name="Google Shape;10329;p6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330" name="Google Shape;10330;p6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31" name="Google Shape;10331;p6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32" name="Google Shape;10332;p6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33" name="Google Shape;10333;p6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34" name="Google Shape;10334;p6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35" name="Google Shape;10335;p6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36" name="Google Shape;10336;p6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37" name="Google Shape;10337;p6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38" name="Google Shape;10338;p6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39" name="Google Shape;10339;p6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40" name="Google Shape;10340;p6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341" name="Google Shape;10341;p6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342" name="Google Shape;10342;p6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343" name="Google Shape;10343;p6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4" name="Google Shape;10344;p6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5" name="Google Shape;10345;p6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6" name="Google Shape;10346;p6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7" name="Google Shape;10347;p6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8" name="Google Shape;10348;p6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49" name="Google Shape;10349;p6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0" name="Google Shape;10350;p6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1" name="Google Shape;10351;p6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10352" name="Google Shape;10352;p6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3" name="Google Shape;10353;p6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10354" name="Google Shape;10354;p6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55" name="Google Shape;10355;p6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6" name="Google Shape;10356;p6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357" name="Google Shape;10357;p6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358" name="Google Shape;10358;p6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10359" name="Google Shape;10359;p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0" name="Google Shape;10360;p6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361" name="Google Shape;10361;p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362" name="Google Shape;10362;p6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10363" name="Google Shape;10363;p6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4" name="Google Shape;10364;p6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365" name="Google Shape;10365;p6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366" name="Google Shape;10366;p6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70" name="Shape 10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1" name="Google Shape;10371;p6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2" name="Google Shape;10372;p6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Commercial Insurance And Services Inc</a:t>
            </a:r>
            <a:endParaRPr/>
          </a:p>
        </p:txBody>
      </p:sp>
      <p:sp>
        <p:nvSpPr>
          <p:cNvPr id="10373" name="Google Shape;10373;p6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Montclair</a:t>
            </a:r>
            <a:endParaRPr/>
          </a:p>
        </p:txBody>
      </p:sp>
      <p:sp>
        <p:nvSpPr>
          <p:cNvPr id="10374" name="Google Shape;10374;p6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375" name="Google Shape;10375;p6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376" name="Google Shape;10376;p6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377" name="Google Shape;10377;p6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378" name="Google Shape;10378;p6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379" name="Google Shape;10379;p6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380" name="Google Shape;10380;p6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381" name="Google Shape;10381;p6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382" name="Google Shape;10382;p6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383" name="Google Shape;10383;p6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84" name="Google Shape;10384;p6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385" name="Google Shape;10385;p6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386" name="Google Shape;10386;p6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387" name="Google Shape;10387;p6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8" name="Google Shape;10388;p6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389" name="Google Shape;10389;p6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390" name="Google Shape;10390;p6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391" name="Google Shape;10391;p6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392" name="Google Shape;10392;p6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393" name="Google Shape;10393;p6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394" name="Google Shape;10394;p6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395" name="Google Shape;10395;p6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6" name="Google Shape;10396;p6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397" name="Google Shape;10397;p6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98" name="Google Shape;10398;p6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99" name="Google Shape;10399;p6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0" name="Google Shape;10400;p6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1" name="Google Shape;10401;p6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2" name="Google Shape;10402;p6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3" name="Google Shape;10403;p6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404" name="Google Shape;10404;p6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5" name="Google Shape;10405;p6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6" name="Google Shape;10406;p6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7" name="Google Shape;10407;p6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8" name="Google Shape;10408;p6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09" name="Google Shape;10409;p6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0" name="Google Shape;10410;p6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411" name="Google Shape;10411;p6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2" name="Google Shape;10412;p6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3" name="Google Shape;10413;p6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4" name="Google Shape;10414;p6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5" name="Google Shape;10415;p6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6" name="Google Shape;10416;p6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7" name="Google Shape;10417;p6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418" name="Google Shape;10418;p6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19" name="Google Shape;10419;p6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0" name="Google Shape;10420;p6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1" name="Google Shape;10421;p6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2" name="Google Shape;10422;p6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3" name="Google Shape;10423;p6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4" name="Google Shape;10424;p6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425" name="Google Shape;10425;p6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6" name="Google Shape;10426;p6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7" name="Google Shape;10427;p6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8" name="Google Shape;10428;p6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9" name="Google Shape;10429;p6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0" name="Google Shape;10430;p6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1" name="Google Shape;10431;p6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432" name="Google Shape;10432;p6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3" name="Google Shape;10433;p6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4" name="Google Shape;10434;p6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5" name="Google Shape;10435;p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6" name="Google Shape;10436;p6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7" name="Google Shape;10437;p6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8" name="Google Shape;10438;p6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439" name="Google Shape;10439;p6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440" name="Google Shape;10440;p6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441" name="Google Shape;10441;p6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442" name="Google Shape;10442;p6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443" name="Google Shape;10443;p6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444" name="Google Shape;10444;p6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45" name="Google Shape;10445;p6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6" name="Google Shape;10446;p6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447" name="Google Shape;10447;p6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48" name="Google Shape;10448;p6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49" name="Google Shape;10449;p6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0" name="Google Shape;10450;p6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1" name="Google Shape;10451;p6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52" name="Google Shape;10452;p6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3" name="Google Shape;10453;p6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454" name="Google Shape;10454;p6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5" name="Google Shape;10455;p6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6" name="Google Shape;10456;p6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7" name="Google Shape;10457;p6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8" name="Google Shape;10458;p6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59" name="Google Shape;10459;p6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0" name="Google Shape;10460;p6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461" name="Google Shape;10461;p6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62" name="Google Shape;10462;p6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63" name="Google Shape;10463;p6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64" name="Google Shape;10464;p6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65" name="Google Shape;10465;p6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66" name="Google Shape;10466;p6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7" name="Google Shape;10467;p6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468" name="Google Shape;10468;p6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69" name="Google Shape;10469;p6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0" name="Google Shape;10470;p6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1" name="Google Shape;10471;p6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2" name="Google Shape;10472;p6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73" name="Google Shape;10473;p6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4" name="Google Shape;10474;p6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475" name="Google Shape;10475;p6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6" name="Google Shape;10476;p6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7" name="Google Shape;10477;p6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8" name="Google Shape;10478;p6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79" name="Google Shape;10479;p6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80" name="Google Shape;10480;p6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1" name="Google Shape;10481;p6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482" name="Google Shape;10482;p6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83" name="Google Shape;10483;p6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484" name="Google Shape;10484;p6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85" name="Google Shape;10485;p6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86" name="Google Shape;10486;p6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87" name="Google Shape;10487;p6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8" name="Google Shape;10488;p6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489" name="Google Shape;10489;p6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490" name="Google Shape;10490;p6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491" name="Google Shape;10491;p6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492" name="Google Shape;10492;p6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493" name="Google Shape;10493;p6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494" name="Google Shape;10494;p6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495" name="Google Shape;10495;p6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496" name="Google Shape;10496;p6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497" name="Google Shape;10497;p6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498" name="Google Shape;10498;p6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499" name="Google Shape;10499;p6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500" name="Google Shape;10500;p6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501" name="Google Shape;10501;p6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502" name="Google Shape;10502;p6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503" name="Google Shape;10503;p6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4" name="Google Shape;10504;p6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5" name="Google Shape;10505;p6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06" name="Google Shape;10506;p6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7" name="Google Shape;10507;p6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8" name="Google Shape;10508;p6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09" name="Google Shape;10509;p6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0" name="Google Shape;10510;p6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1" name="Google Shape;10511;p6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2" name="Google Shape;10512;p6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3" name="Google Shape;10513;p6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14" name="Google Shape;10514;p6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15" name="Google Shape;10515;p6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516" name="Google Shape;10516;p6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7" name="Google Shape;10517;p6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8" name="Google Shape;10518;p6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19" name="Google Shape;10519;p6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0" name="Google Shape;10520;p6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1" name="Google Shape;10521;p6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2" name="Google Shape;10522;p6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3" name="Google Shape;10523;p6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4" name="Google Shape;10524;p6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5" name="Google Shape;10525;p6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6" name="Google Shape;10526;p6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7" name="Google Shape;10527;p6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28" name="Google Shape;10528;p6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9" name="Google Shape;10529;p6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530" name="Google Shape;10530;p6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531" name="Google Shape;10531;p6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10532" name="Google Shape;10532;p6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3" name="Google Shape;10533;p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534" name="Google Shape;10534;p6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535" name="Google Shape;10535;p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10536" name="Google Shape;10536;p6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7" name="Google Shape;10537;p6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538" name="Google Shape;10538;p6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539" name="Google Shape;10539;p6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10540" name="Google Shape;10540;p6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541" name="Google Shape;10541;p6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45" name="Shape 10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6" name="Google Shape;10546;p6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7" name="Google Shape;10547;p6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Lex Insurance Agency Llc</a:t>
            </a:r>
            <a:endParaRPr/>
          </a:p>
        </p:txBody>
      </p:sp>
      <p:sp>
        <p:nvSpPr>
          <p:cNvPr id="10548" name="Google Shape;10548;p6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AZ  |  City: Houston</a:t>
            </a:r>
            <a:endParaRPr/>
          </a:p>
        </p:txBody>
      </p:sp>
      <p:sp>
        <p:nvSpPr>
          <p:cNvPr id="10549" name="Google Shape;10549;p6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550" name="Google Shape;10550;p6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551" name="Google Shape;10551;p6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552" name="Google Shape;10552;p6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553" name="Google Shape;10553;p6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554" name="Google Shape;10554;p6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$138,775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555" name="Google Shape;10555;p6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556" name="Google Shape;10556;p6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557" name="Google Shape;10557;p6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558" name="Google Shape;10558;p6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559" name="Google Shape;10559;p6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560" name="Google Shape;10560;p6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561" name="Google Shape;10561;p6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562" name="Google Shape;10562;p6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3" name="Google Shape;10563;p6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564" name="Google Shape;10564;p6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565" name="Google Shape;10565;p6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566" name="Google Shape;10566;p6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567" name="Google Shape;10567;p6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568" name="Google Shape;10568;p6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569" name="Google Shape;10569;p6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570" name="Google Shape;10570;p6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1" name="Google Shape;10571;p6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572" name="Google Shape;10572;p6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3" name="Google Shape;10573;p6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4" name="Google Shape;10574;p6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5" name="Google Shape;10575;p6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6" name="Google Shape;10576;p6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7" name="Google Shape;10577;p6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8" name="Google Shape;10578;p6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579" name="Google Shape;10579;p6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0" name="Google Shape;10580;p6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1" name="Google Shape;10581;p6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2" name="Google Shape;10582;p6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3" name="Google Shape;10583;p6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4" name="Google Shape;10584;p6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5" name="Google Shape;10585;p6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586" name="Google Shape;10586;p6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7" name="Google Shape;10587;p6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8" name="Google Shape;10588;p6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89" name="Google Shape;10589;p6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0" name="Google Shape;10590;p6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1" name="Google Shape;10591;p6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2" name="Google Shape;10592;p6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593" name="Google Shape;10593;p6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4" name="Google Shape;10594;p6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5" name="Google Shape;10595;p6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6" name="Google Shape;10596;p6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7" name="Google Shape;10597;p6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98" name="Google Shape;10598;p6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9" name="Google Shape;10599;p6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600" name="Google Shape;10600;p6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1" name="Google Shape;10601;p6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2" name="Google Shape;10602;p6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3" name="Google Shape;10603;p6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4" name="Google Shape;10604;p6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5" name="Google Shape;10605;p6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6" name="Google Shape;10606;p6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607" name="Google Shape;10607;p6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8" name="Google Shape;10608;p6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09" name="Google Shape;10609;p6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10" name="Google Shape;10610;p6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11" name="Google Shape;10611;p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12" name="Google Shape;10612;p6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3" name="Google Shape;10613;p6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614" name="Google Shape;10614;p6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615" name="Google Shape;10615;p6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616" name="Google Shape;10616;p6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617" name="Google Shape;10617;p6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618" name="Google Shape;10618;p6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619" name="Google Shape;10619;p6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620" name="Google Shape;10620;p6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1" name="Google Shape;10621;p6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622" name="Google Shape;10622;p6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3" name="Google Shape;10623;p6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4" name="Google Shape;10624;p6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5" name="Google Shape;10625;p6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26" name="Google Shape;10626;p6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27" name="Google Shape;10627;p6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8" name="Google Shape;10628;p6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629" name="Google Shape;10629;p6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0" name="Google Shape;10630;p6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1" name="Google Shape;10631;p6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32" name="Google Shape;10632;p6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3" name="Google Shape;10633;p6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34" name="Google Shape;10634;p6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5" name="Google Shape;10635;p6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636" name="Google Shape;10636;p6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7" name="Google Shape;10637;p6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8" name="Google Shape;10638;p6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39" name="Google Shape;10639;p6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0" name="Google Shape;10640;p6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41" name="Google Shape;10641;p6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2" name="Google Shape;10642;p6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643" name="Google Shape;10643;p6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44" name="Google Shape;10644;p6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5" name="Google Shape;10645;p6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46" name="Google Shape;10646;p6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47" name="Google Shape;10647;p6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48" name="Google Shape;10648;p6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9" name="Google Shape;10649;p6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650" name="Google Shape;10650;p6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1" name="Google Shape;10651;p6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2" name="Google Shape;10652;p6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3" name="Google Shape;10653;p6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4" name="Google Shape;10654;p6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55" name="Google Shape;10655;p6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6" name="Google Shape;10656;p6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657" name="Google Shape;10657;p6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58" name="Google Shape;10658;p6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9" name="Google Shape;10659;p6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60" name="Google Shape;10660;p6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61" name="Google Shape;10661;p6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62" name="Google Shape;10662;p6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3" name="Google Shape;10663;p6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664" name="Google Shape;10664;p6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665" name="Google Shape;10665;p6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666" name="Google Shape;10666;p6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667" name="Google Shape;10667;p6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668" name="Google Shape;10668;p6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669" name="Google Shape;10669;p6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670" name="Google Shape;10670;p6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671" name="Google Shape;10671;p6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672" name="Google Shape;10672;p6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673" name="Google Shape;10673;p6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674" name="Google Shape;10674;p6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675" name="Google Shape;10675;p6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676" name="Google Shape;10676;p6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677" name="Google Shape;10677;p6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678" name="Google Shape;10678;p6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79" name="Google Shape;10679;p6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0" name="Google Shape;10680;p6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681" name="Google Shape;10681;p6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82" name="Google Shape;10682;p6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83" name="Google Shape;10683;p6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4" name="Google Shape;10684;p6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85" name="Google Shape;10685;p6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86" name="Google Shape;10686;p6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87" name="Google Shape;10687;p6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8" name="Google Shape;10688;p6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689" name="Google Shape;10689;p6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90" name="Google Shape;10690;p6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691" name="Google Shape;10691;p6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2" name="Google Shape;10692;p6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3" name="Google Shape;10693;p6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10694" name="Google Shape;10694;p6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5" name="Google Shape;10695;p6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6" name="Google Shape;10696;p6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7" name="Google Shape;10697;p6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10698" name="Google Shape;10698;p6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99" name="Google Shape;10699;p6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10700" name="Google Shape;10700;p6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1" name="Google Shape;10701;p6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$92K</a:t>
            </a:r>
            <a:endParaRPr/>
          </a:p>
        </p:txBody>
      </p:sp>
      <p:sp>
        <p:nvSpPr>
          <p:cNvPr id="10702" name="Google Shape;10702;p6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03" name="Google Shape;10703;p6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4" name="Google Shape;10704;p6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705" name="Google Shape;10705;p6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706" name="Google Shape;10706;p6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10707" name="Google Shape;10707;p6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8" name="Google Shape;10708;p6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709" name="Google Shape;10709;p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710" name="Google Shape;10710;p6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10711" name="Google Shape;10711;p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2" name="Google Shape;10712;p6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713" name="Google Shape;10713;p6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714" name="Google Shape;10714;p6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10715" name="Google Shape;10715;p6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716" name="Google Shape;10716;p6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20" name="Shape 10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1" name="Google Shape;10721;p6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2" name="Google Shape;10722;p6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PLS PRO Insurance Services, Inc.</a:t>
            </a:r>
            <a:endParaRPr/>
          </a:p>
        </p:txBody>
      </p:sp>
      <p:sp>
        <p:nvSpPr>
          <p:cNvPr id="10723" name="Google Shape;10723;p6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Southwest  |  State: CA  |  City: San Diego</a:t>
            </a:r>
            <a:endParaRPr/>
          </a:p>
        </p:txBody>
      </p:sp>
      <p:sp>
        <p:nvSpPr>
          <p:cNvPr id="10724" name="Google Shape;10724;p6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725" name="Google Shape;10725;p6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726" name="Google Shape;10726;p6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727" name="Google Shape;10727;p6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728" name="Google Shape;10728;p6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729" name="Google Shape;10729;p6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$86,599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730" name="Google Shape;10730;p6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731" name="Google Shape;10731;p6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732" name="Google Shape;10732;p6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733" name="Google Shape;10733;p6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734" name="Google Shape;10734;p6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735" name="Google Shape;10735;p6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736" name="Google Shape;10736;p6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737" name="Google Shape;10737;p6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8" name="Google Shape;10738;p6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739" name="Google Shape;10739;p6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740" name="Google Shape;10740;p6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741" name="Google Shape;10741;p6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742" name="Google Shape;10742;p6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743" name="Google Shape;10743;p6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744" name="Google Shape;10744;p6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745" name="Google Shape;10745;p6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6" name="Google Shape;10746;p6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747" name="Google Shape;10747;p6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48" name="Google Shape;10748;p6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49" name="Google Shape;10749;p6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0" name="Google Shape;10750;p6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1" name="Google Shape;10751;p6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2" name="Google Shape;10752;p6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3" name="Google Shape;10753;p6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754" name="Google Shape;10754;p6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5" name="Google Shape;10755;p6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6" name="Google Shape;10756;p6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7" name="Google Shape;10757;p6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8" name="Google Shape;10758;p6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59" name="Google Shape;10759;p6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0" name="Google Shape;10760;p6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761" name="Google Shape;10761;p6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2" name="Google Shape;10762;p6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3" name="Google Shape;10763;p6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4" name="Google Shape;10764;p6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5" name="Google Shape;10765;p6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6" name="Google Shape;10766;p6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7" name="Google Shape;10767;p6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768" name="Google Shape;10768;p6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9" name="Google Shape;10769;p6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0" name="Google Shape;10770;p6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1" name="Google Shape;10771;p6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2" name="Google Shape;10772;p6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3" name="Google Shape;10773;p6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4" name="Google Shape;10774;p6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775" name="Google Shape;10775;p6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6" name="Google Shape;10776;p6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7" name="Google Shape;10777;p6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8" name="Google Shape;10778;p6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9" name="Google Shape;10779;p6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0" name="Google Shape;10780;p6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1" name="Google Shape;10781;p6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782" name="Google Shape;10782;p6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3" name="Google Shape;10783;p6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4" name="Google Shape;10784;p6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5" name="Google Shape;10785;p6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6" name="Google Shape;10786;p6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87" name="Google Shape;10787;p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8" name="Google Shape;10788;p6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789" name="Google Shape;10789;p6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790" name="Google Shape;10790;p6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791" name="Google Shape;10791;p6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792" name="Google Shape;10792;p6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793" name="Google Shape;10793;p6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794" name="Google Shape;10794;p6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795" name="Google Shape;10795;p6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6" name="Google Shape;10796;p6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797" name="Google Shape;10797;p6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98" name="Google Shape;10798;p6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99" name="Google Shape;10799;p6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00" name="Google Shape;10800;p6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01" name="Google Shape;10801;p6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02" name="Google Shape;10802;p6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3" name="Google Shape;10803;p6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804" name="Google Shape;10804;p6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05" name="Google Shape;10805;p6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06" name="Google Shape;10806;p6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07" name="Google Shape;10807;p6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08" name="Google Shape;10808;p6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09" name="Google Shape;10809;p6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0" name="Google Shape;10810;p6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811" name="Google Shape;10811;p6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12" name="Google Shape;10812;p6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13" name="Google Shape;10813;p6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14" name="Google Shape;10814;p6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15" name="Google Shape;10815;p6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16" name="Google Shape;10816;p6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7" name="Google Shape;10817;p6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818" name="Google Shape;10818;p6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19" name="Google Shape;10819;p6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0" name="Google Shape;10820;p6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1" name="Google Shape;10821;p6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2" name="Google Shape;10822;p6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23" name="Google Shape;10823;p6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4" name="Google Shape;10824;p6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825" name="Google Shape;10825;p6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6" name="Google Shape;10826;p6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7" name="Google Shape;10827;p6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8" name="Google Shape;10828;p6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29" name="Google Shape;10829;p6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30" name="Google Shape;10830;p6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1" name="Google Shape;10831;p6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832" name="Google Shape;10832;p6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33" name="Google Shape;10833;p6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34" name="Google Shape;10834;p6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35" name="Google Shape;10835;p6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36" name="Google Shape;10836;p6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37" name="Google Shape;10837;p6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8" name="Google Shape;10838;p6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0839" name="Google Shape;10839;p6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840" name="Google Shape;10840;p6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841" name="Google Shape;10841;p6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842" name="Google Shape;10842;p6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843" name="Google Shape;10843;p6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844" name="Google Shape;10844;p6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845" name="Google Shape;10845;p6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846" name="Google Shape;10846;p6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847" name="Google Shape;10847;p6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848" name="Google Shape;10848;p6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849" name="Google Shape;10849;p6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850" name="Google Shape;10850;p6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0851" name="Google Shape;10851;p6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0852" name="Google Shape;10852;p6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853" name="Google Shape;10853;p6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854" name="Google Shape;10854;p6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55" name="Google Shape;10855;p6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56" name="Google Shape;10856;p6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57" name="Google Shape;10857;p6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858" name="Google Shape;10858;p6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59" name="Google Shape;10859;p6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860" name="Google Shape;10860;p6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61" name="Google Shape;10861;p6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862" name="Google Shape;10862;p6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63" name="Google Shape;10863;p6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864" name="Google Shape;10864;p6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65" name="Google Shape;10865;p6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866" name="Google Shape;10866;p6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$906</a:t>
            </a:r>
            <a:endParaRPr/>
          </a:p>
        </p:txBody>
      </p:sp>
      <p:sp>
        <p:nvSpPr>
          <p:cNvPr id="10867" name="Google Shape;10867;p6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8" name="Google Shape;10868;p6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10869" name="Google Shape;10869;p6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0" name="Google Shape;10870;p6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10871" name="Google Shape;10871;p6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2" name="Google Shape;10872;p6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10873" name="Google Shape;10873;p6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4" name="Google Shape;10874;p6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10875" name="Google Shape;10875;p6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6" name="Google Shape;10876;p6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10877" name="Google Shape;10877;p6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78" name="Google Shape;10878;p6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9" name="Google Shape;10879;p6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880" name="Google Shape;10880;p6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881" name="Google Shape;10881;p6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10882" name="Google Shape;10882;p6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3" name="Google Shape;10883;p6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884" name="Google Shape;10884;p6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885" name="Google Shape;10885;p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10886" name="Google Shape;10886;p6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887" name="Google Shape;10887;p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but 0 binds - follow up on pricing/coverage gaps</a:t>
            </a:r>
            <a:endParaRPr/>
          </a:p>
        </p:txBody>
      </p:sp>
      <p:sp>
        <p:nvSpPr>
          <p:cNvPr id="10888" name="Google Shape;10888;p6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9" name="Google Shape;10889;p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890" name="Google Shape;10890;p6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891" name="Google Shape;10891;p6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95" name="Shape 10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6" name="Google Shape;10896;p6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7" name="Google Shape;10897;p6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Line Truck Insurance Services Inc.</a:t>
            </a:r>
            <a:endParaRPr/>
          </a:p>
        </p:txBody>
      </p:sp>
      <p:sp>
        <p:nvSpPr>
          <p:cNvPr id="10898" name="Google Shape;10898;p6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Utah  |  City: Draper</a:t>
            </a:r>
            <a:endParaRPr/>
          </a:p>
        </p:txBody>
      </p:sp>
      <p:sp>
        <p:nvSpPr>
          <p:cNvPr id="10899" name="Google Shape;10899;p6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900" name="Google Shape;10900;p6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901" name="Google Shape;10901;p6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902" name="Google Shape;10902;p6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903" name="Google Shape;10903;p6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904" name="Google Shape;10904;p6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05" name="Google Shape;10905;p6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906" name="Google Shape;10906;p6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907" name="Google Shape;10907;p6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908" name="Google Shape;10908;p6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909" name="Google Shape;10909;p6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910" name="Google Shape;10910;p6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911" name="Google Shape;10911;p6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912" name="Google Shape;10912;p6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3" name="Google Shape;10913;p6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914" name="Google Shape;10914;p6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915" name="Google Shape;10915;p6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916" name="Google Shape;10916;p6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917" name="Google Shape;10917;p6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918" name="Google Shape;10918;p6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919" name="Google Shape;10919;p6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920" name="Google Shape;10920;p6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1" name="Google Shape;10921;p6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922" name="Google Shape;10922;p6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3" name="Google Shape;10923;p6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4" name="Google Shape;10924;p6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5" name="Google Shape;10925;p6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6" name="Google Shape;10926;p6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27" name="Google Shape;10927;p6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8" name="Google Shape;10928;p6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929" name="Google Shape;10929;p6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0" name="Google Shape;10930;p6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1" name="Google Shape;10931;p6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2" name="Google Shape;10932;p6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3" name="Google Shape;10933;p6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4" name="Google Shape;10934;p6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5" name="Google Shape;10935;p6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936" name="Google Shape;10936;p6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7" name="Google Shape;10937;p6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8" name="Google Shape;10938;p6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39" name="Google Shape;10939;p6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0" name="Google Shape;10940;p6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1" name="Google Shape;10941;p6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2" name="Google Shape;10942;p6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943" name="Google Shape;10943;p6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4" name="Google Shape;10944;p6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5" name="Google Shape;10945;p6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6" name="Google Shape;10946;p6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7" name="Google Shape;10947;p6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48" name="Google Shape;10948;p6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49" name="Google Shape;10949;p6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950" name="Google Shape;10950;p6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1" name="Google Shape;10951;p6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2" name="Google Shape;10952;p6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3" name="Google Shape;10953;p6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4" name="Google Shape;10954;p6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5" name="Google Shape;10955;p6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6" name="Google Shape;10956;p6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957" name="Google Shape;10957;p6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8" name="Google Shape;10958;p6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9" name="Google Shape;10959;p6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0" name="Google Shape;10960;p6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1" name="Google Shape;10961;p6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2" name="Google Shape;10962;p6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3" name="Google Shape;10963;p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964" name="Google Shape;10964;p6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965" name="Google Shape;10965;p6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966" name="Google Shape;10966;p6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967" name="Google Shape;10967;p6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968" name="Google Shape;10968;p6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969" name="Google Shape;10969;p6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970" name="Google Shape;10970;p6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1" name="Google Shape;10971;p6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972" name="Google Shape;10972;p6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3" name="Google Shape;10973;p6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4" name="Google Shape;10974;p6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5" name="Google Shape;10975;p6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6" name="Google Shape;10976;p6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77" name="Google Shape;10977;p6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8" name="Google Shape;10978;p6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979" name="Google Shape;10979;p6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80" name="Google Shape;10980;p6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81" name="Google Shape;10981;p6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82" name="Google Shape;10982;p6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83" name="Google Shape;10983;p6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84" name="Google Shape;10984;p6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5" name="Google Shape;10985;p6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986" name="Google Shape;10986;p6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987" name="Google Shape;10987;p6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88" name="Google Shape;10988;p6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989" name="Google Shape;10989;p6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0" name="Google Shape;10990;p6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91" name="Google Shape;10991;p6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2" name="Google Shape;10992;p6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993" name="Google Shape;10993;p6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94" name="Google Shape;10994;p6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5" name="Google Shape;10995;p6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96" name="Google Shape;10996;p6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7" name="Google Shape;10997;p6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98" name="Google Shape;10998;p6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9" name="Google Shape;10999;p6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000" name="Google Shape;11000;p6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01" name="Google Shape;11001;p6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02" name="Google Shape;11002;p6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03" name="Google Shape;11003;p6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04" name="Google Shape;11004;p6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05" name="Google Shape;11005;p6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6" name="Google Shape;11006;p6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007" name="Google Shape;11007;p6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008" name="Google Shape;11008;p6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09" name="Google Shape;11009;p6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1010" name="Google Shape;11010;p6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11" name="Google Shape;11011;p6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12" name="Google Shape;11012;p6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3" name="Google Shape;11013;p6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1014" name="Google Shape;11014;p6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015" name="Google Shape;11015;p6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1016" name="Google Shape;11016;p6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1017" name="Google Shape;11017;p6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1018" name="Google Shape;11018;p6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1019" name="Google Shape;11019;p6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1020" name="Google Shape;11020;p6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1021" name="Google Shape;11021;p6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1022" name="Google Shape;11022;p6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1023" name="Google Shape;11023;p6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1024" name="Google Shape;11024;p6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1025" name="Google Shape;11025;p6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1026" name="Google Shape;11026;p6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1027" name="Google Shape;11027;p6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028" name="Google Shape;11028;p6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29" name="Google Shape;11029;p6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30" name="Google Shape;11030;p6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31" name="Google Shape;11031;p6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32" name="Google Shape;11032;p6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33" name="Google Shape;11033;p6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034" name="Google Shape;11034;p6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35" name="Google Shape;11035;p6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36" name="Google Shape;11036;p6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37" name="Google Shape;11037;p6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38" name="Google Shape;11038;p6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39" name="Google Shape;11039;p6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040" name="Google Shape;11040;p6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1041" name="Google Shape;11041;p6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2" name="Google Shape;11042;p6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3" name="Google Shape;11043;p6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4" name="Google Shape;11044;p6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5" name="Google Shape;11045;p6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6" name="Google Shape;11046;p6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7" name="Google Shape;11047;p6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8" name="Google Shape;11048;p6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9" name="Google Shape;11049;p6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0" name="Google Shape;11050;p6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1" name="Google Shape;11051;p6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2" name="Google Shape;11052;p6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3" name="Google Shape;11053;p6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4" name="Google Shape;11054;p6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1055" name="Google Shape;11055;p6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056" name="Google Shape;11056;p6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quotes generated - active in pipeline</a:t>
            </a:r>
            <a:endParaRPr/>
          </a:p>
        </p:txBody>
      </p:sp>
      <p:sp>
        <p:nvSpPr>
          <p:cNvPr id="11057" name="Google Shape;11057;p6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8" name="Google Shape;11058;p6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1059" name="Google Shape;11059;p6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060" name="Google Shape;11060;p6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12 submissions</a:t>
            </a:r>
            <a:endParaRPr/>
          </a:p>
        </p:txBody>
      </p:sp>
      <p:sp>
        <p:nvSpPr>
          <p:cNvPr id="11061" name="Google Shape;11061;p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062" name="Google Shape;11062;p6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11063" name="Google Shape;11063;p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4" name="Google Shape;11064;p6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065" name="Google Shape;11065;p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066" name="Google Shape;11066;p6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1067" name="Google Shape;11067;p6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068" name="Google Shape;11068;p6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